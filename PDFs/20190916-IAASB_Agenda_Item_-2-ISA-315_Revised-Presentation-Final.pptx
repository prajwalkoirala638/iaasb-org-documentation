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56" r:id="rId3"/>
    <p:sldId id="428" r:id="rId4"/>
    <p:sldId id="448" r:id="rId5"/>
    <p:sldId id="449" r:id="rId6"/>
    <p:sldId id="443" r:id="rId7"/>
    <p:sldId id="442" r:id="rId8"/>
    <p:sldId id="429" r:id="rId9"/>
    <p:sldId id="441" r:id="rId10"/>
    <p:sldId id="430" r:id="rId11"/>
    <p:sldId id="431" r:id="rId12"/>
    <p:sldId id="453" r:id="rId13"/>
    <p:sldId id="434" r:id="rId14"/>
    <p:sldId id="435" r:id="rId15"/>
    <p:sldId id="436" r:id="rId16"/>
    <p:sldId id="438" r:id="rId17"/>
    <p:sldId id="452" r:id="rId18"/>
    <p:sldId id="450" r:id="rId19"/>
    <p:sldId id="439" r:id="rId20"/>
    <p:sldId id="259" r:id="rId21"/>
    <p:sldId id="455" r:id="rId22"/>
    <p:sldId id="258" r:id="rId23"/>
    <p:sldId id="257" r:id="rId24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Megan Zietsman" initials="MZ" lastIdx="6" clrIdx="2">
    <p:extLst>
      <p:ext uri="{19B8F6BF-5375-455C-9EA6-DF929625EA0E}">
        <p15:presenceInfo xmlns:p15="http://schemas.microsoft.com/office/powerpoint/2012/main" userId="Megan Zietsman" providerId="None"/>
      </p:ext>
    </p:extLst>
  </p:cmAuthor>
  <p:cmAuthor id="4" name="Beverley Bahlmann" initials="BB" lastIdx="1" clrIdx="3">
    <p:extLst>
      <p:ext uri="{19B8F6BF-5375-455C-9EA6-DF929625EA0E}">
        <p15:presenceInfo xmlns:p15="http://schemas.microsoft.com/office/powerpoint/2012/main" userId="S-1-5-21-1801674531-1972579041-839522115-42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00CC66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16" autoAdjust="0"/>
    <p:restoredTop sz="75333" autoAdjust="0"/>
  </p:normalViewPr>
  <p:slideViewPr>
    <p:cSldViewPr snapToGrid="0" snapToObjects="1">
      <p:cViewPr varScale="1">
        <p:scale>
          <a:sx n="113" d="100"/>
          <a:sy n="113" d="100"/>
        </p:scale>
        <p:origin x="1620" y="102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have had a Face to Face TF meeting (plus and extra “staff day”), </a:t>
            </a:r>
          </a:p>
          <a:p>
            <a:r>
              <a:rPr lang="en-AU" dirty="0"/>
              <a:t>3 days of Denise, Bev and I working together in Cleveland</a:t>
            </a:r>
          </a:p>
          <a:p>
            <a:r>
              <a:rPr lang="en-AU" dirty="0"/>
              <a:t>And then three (quite long) video conferences using the “</a:t>
            </a:r>
            <a:r>
              <a:rPr lang="en-AU" dirty="0" err="1"/>
              <a:t>GoTo</a:t>
            </a:r>
            <a:r>
              <a:rPr lang="en-AU" dirty="0"/>
              <a:t> Meeting” technology – and it worked very well (although it did look a bit like the ‘brady bunch’ opening credits – feel free to google the brady bunch if you’re not sure what that is – but it was a TV show </a:t>
            </a:r>
            <a:r>
              <a:rPr lang="en-AU"/>
              <a:t>in the 70’s and early 80’s).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3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not be discussing re-exposure today.  That will be on Friday after the decision is made on whether the standard is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303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Had a really good CAG meeting – using a new format for CAG papers and presentation to drive the CAG discussion (which a number of us used this time) which I think worked really well to get the CAG feedback on the key issues without them having to wade through hundreds of pages of documents. </a:t>
            </a:r>
          </a:p>
          <a:p>
            <a:endParaRPr lang="en-AU" dirty="0"/>
          </a:p>
          <a:p>
            <a:r>
              <a:rPr lang="en-AU" dirty="0"/>
              <a:t>Jim, once I’ve been through this slide, perhaps you can add your comments/observations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433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will be stepping through the definitions and requirements of the std at the same time as the AM.</a:t>
            </a: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any feedback on the Appendices will be received.</a:t>
            </a: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we will discuss effective date.</a:t>
            </a: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we will discuss the conforming amendments.</a:t>
            </a: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not be discussing the NAG (1</a:t>
            </a:r>
            <a:r>
              <a:rPr lang="en-US" sz="900" b="1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</a:t>
            </a:r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Time Guide) – not shared with you yet but doesn’t require Board approval (but will be issued hot on the heels of the standard).</a:t>
            </a:r>
          </a:p>
          <a:p>
            <a:endParaRPr lang="en-US" sz="9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9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Aspects for Further Consideration – What we Have Heard</a:t>
            </a: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9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 of Relevant Assertions</a:t>
            </a: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Clarification of whether all assertions or only relevant assertions relating to a COTABD needs o be identified</a:t>
            </a: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Inadvertently changed definition - revert to “before consideration of controls” – plan to test operating effectiveness seems to suggest something else than what is intended here</a:t>
            </a:r>
          </a:p>
          <a:p>
            <a:r>
              <a:rPr lang="en-US" sz="9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Hanging paragraph – para 17</a:t>
            </a: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is this demonstrated in practice – difficult to do</a:t>
            </a: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Problems with the way articulated (particularly in relation to corroboration and contradictory evidence) – suggestions received</a:t>
            </a:r>
          </a:p>
          <a:p>
            <a:r>
              <a:rPr lang="en-US" sz="9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Inherent Risk Factors – para 23 (c)</a:t>
            </a: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Wording change may suggest that there is an expectation that all IRFs need to be considered and documented</a:t>
            </a: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Inconsistency with ISA 540</a:t>
            </a: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“How they do so” seems problematic</a:t>
            </a:r>
          </a:p>
          <a:p>
            <a:r>
              <a:rPr lang="en-US" sz="9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Paragraph 39(a)(ii)</a:t>
            </a: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Confusing</a:t>
            </a: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Seems to be introducing a new concept and goes beyond what the intention is</a:t>
            </a:r>
          </a:p>
          <a:p>
            <a:r>
              <a:rPr lang="en-US" sz="9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 for identifying ROMM</a:t>
            </a: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 not clear in amendment what the threshold is</a:t>
            </a:r>
          </a:p>
          <a:p>
            <a:pPr lvl="0"/>
            <a:r>
              <a:rPr lang="en-US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 does not help as its confusing that there are two ‘thresholds’ which many think are the same</a:t>
            </a:r>
          </a:p>
          <a:p>
            <a:r>
              <a:rPr lang="en-US" sz="90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627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666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an oversight – effective date will be discussed at the end of these questions on the requirements and AM.  Objective hasn’t changed from ED (and there was no call to change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48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7472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071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22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630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2414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862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5462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109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101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58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91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43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1185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2428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sure if Fiona will want to make this much change but my suggestion (to show how little we are changing and where the changes are occurring) is a “before” and an “after” picture (the sequential slides move from before to after) showing:</a:t>
            </a:r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risk model (with no change)</a:t>
            </a:r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interpretation of “could” in the definition of </a:t>
            </a:r>
            <a:r>
              <a:rPr lang="en-GB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RoMM</a:t>
            </a:r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(moves from “have the possibility to” to “have a reasonable possibility to”, which moves the threshold for identifying </a:t>
            </a:r>
            <a:r>
              <a:rPr lang="en-GB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RoMMs</a:t>
            </a:r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up from zero to nearer the acceptably low level)</a:t>
            </a:r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introduction of the term “Spectrum” of IR/</a:t>
            </a:r>
            <a:r>
              <a:rPr lang="en-GB" sz="9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RoMM</a:t>
            </a:r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</a:t>
            </a:r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effect of the change in definition of Significant Risks, which places them near the upper end of the Spectrum.</a:t>
            </a:r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9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4307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84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r>
              <a:rPr lang="en-US" dirty="0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89E18CF-C690-4C5C-8392-CD967FC1C437}" type="datetime1">
              <a:rPr lang="en-US" smtClean="0"/>
              <a:t>9/16/2019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81534"/>
            <a:ext cx="7893383" cy="1280960"/>
          </a:xfrm>
        </p:spPr>
        <p:txBody>
          <a:bodyPr>
            <a:normAutofit/>
          </a:bodyPr>
          <a:lstStyle/>
          <a:p>
            <a:r>
              <a:rPr lang="en-US" dirty="0"/>
              <a:t>ISA 315 (Revised) </a:t>
            </a:r>
            <a:br>
              <a:rPr lang="en-US" dirty="0"/>
            </a:br>
            <a:r>
              <a:rPr lang="en-US" dirty="0"/>
              <a:t>Identifying and Assessing the Risks of Material Misstatement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603009"/>
            <a:ext cx="5880099" cy="103756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1200" dirty="0"/>
              <a:t>Fiona Campbell, ISA 315 Task Force Chair &amp; Deputy Chair of the IAASB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IAASB Meeting – New York, USA  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Agenda Item 2</a:t>
            </a:r>
          </a:p>
          <a:p>
            <a:pPr>
              <a:spcBef>
                <a:spcPts val="300"/>
              </a:spcBef>
            </a:pPr>
            <a:r>
              <a:rPr lang="en-US" sz="1200" dirty="0"/>
              <a:t>September 16, 2019</a:t>
            </a:r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E78CD1-29D7-47D6-84A7-070BA79D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43B9D-A4AB-4F9C-BD97-2CFB565E4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79" y="676275"/>
            <a:ext cx="6733442" cy="397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67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(Revised)‒NEW in September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3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1035050"/>
            <a:ext cx="8457003" cy="3795047"/>
          </a:xfrm>
        </p:spPr>
        <p:txBody>
          <a:bodyPr/>
          <a:lstStyle/>
          <a:p>
            <a:pPr marL="1397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7472" indent="-347472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2000" dirty="0"/>
              <a:t>Introductory paragraphs</a:t>
            </a:r>
          </a:p>
          <a:p>
            <a:pPr marL="347472" indent="-347472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2000" dirty="0"/>
              <a:t>Public sector</a:t>
            </a:r>
          </a:p>
          <a:p>
            <a:pPr marL="347472" indent="-347472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2000" dirty="0"/>
              <a:t>Automated tools and techniques</a:t>
            </a:r>
          </a:p>
          <a:p>
            <a:pPr marL="694944" lvl="1" indent="-347472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‒"/>
              <a:tabLst>
                <a:tab pos="625445" algn="l"/>
              </a:tabLst>
            </a:pPr>
            <a:r>
              <a:rPr lang="en-US" sz="1800" dirty="0"/>
              <a:t>Supported by Technology Working Group Q&amp;A</a:t>
            </a:r>
          </a:p>
          <a:p>
            <a:pPr marL="347472" indent="-347472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2000" dirty="0"/>
              <a:t>Translations</a:t>
            </a:r>
          </a:p>
          <a:p>
            <a:pPr marL="347472" indent="-347472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2000" dirty="0"/>
              <a:t>Effective date </a:t>
            </a: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26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4C43-E519-450C-863D-DD8792121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of CAG Representatives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BBC07-A7E8-427F-A42F-4F2ADFCA6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958167"/>
            <a:ext cx="8229600" cy="4039282"/>
          </a:xfrm>
        </p:spPr>
        <p:txBody>
          <a:bodyPr/>
          <a:lstStyle/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Broadly supported the changes to address understandability and length; a few concerns about use of tables</a:t>
            </a: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Significant risk definition</a:t>
            </a:r>
          </a:p>
          <a:p>
            <a:pPr lvl="1">
              <a:lnSpc>
                <a:spcPts val="1800"/>
              </a:lnSpc>
              <a:spcBef>
                <a:spcPts val="300"/>
              </a:spcBef>
            </a:pPr>
            <a:r>
              <a:rPr lang="en-US" dirty="0"/>
              <a:t>“Combination” of likelihood and magnitude – should it rather be the ‘intersection’ </a:t>
            </a:r>
          </a:p>
          <a:p>
            <a:pPr lvl="1">
              <a:lnSpc>
                <a:spcPts val="1800"/>
              </a:lnSpc>
              <a:spcBef>
                <a:spcPts val="300"/>
              </a:spcBef>
            </a:pPr>
            <a:r>
              <a:rPr lang="en-US" dirty="0"/>
              <a:t>Clarify ‘in rare circumstances’ where may not be a significant risk</a:t>
            </a: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Inherent risk factors – supportive of changes to use fraud risk factors</a:t>
            </a: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Paragraph 39(a)(ii) is confusing, and may go further than intended in particular in relation to documentation</a:t>
            </a: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Threshold for identifying risks of material misstatement – description in revised ISA 200 conforming amendments clearer</a:t>
            </a: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SMP Committee Representative thanked the IAASB for the opportunity to input to the revisions; encouraged that the standard is finalized but had the view that a longer implementation period is needed</a:t>
            </a:r>
          </a:p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Majority CAG Representatives would like standard finalized (i.e., no re-exposure)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31A6B-3746-4F88-8E71-D9625ED4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r>
              <a:rPr lang="en-US" dirty="0">
                <a:latin typeface="Arial" panose="020B0604020202020204" pitchFamily="34" charset="0"/>
                <a:cs typeface="MS PGothic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41457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EBA5-FEBC-461A-B222-7EE27F98A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Offline Comments – Significant Aspects for Further Consideration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0C715-8BF6-43D7-9261-737CE1D8A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of relevant assertions</a:t>
            </a:r>
          </a:p>
          <a:p>
            <a:r>
              <a:rPr lang="en-US" dirty="0"/>
              <a:t>Hanging paragraph – Para 17</a:t>
            </a:r>
          </a:p>
          <a:p>
            <a:r>
              <a:rPr lang="en-US" dirty="0"/>
              <a:t>Inherent risk factors and the way we describe consideration of the inherent risk factors in paragraph 23(c)</a:t>
            </a:r>
          </a:p>
          <a:p>
            <a:r>
              <a:rPr lang="en-US" dirty="0"/>
              <a:t>Paragraph 39(a)(ii)</a:t>
            </a:r>
          </a:p>
          <a:p>
            <a:r>
              <a:rPr lang="en-US" dirty="0"/>
              <a:t>Threshold for identifying risks of material misstatement (ISA 200 CA)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A61BA-09AC-4364-AC33-19EBAD46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74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 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6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800" y="764946"/>
            <a:ext cx="7823632" cy="4065151"/>
          </a:xfrm>
        </p:spPr>
        <p:txBody>
          <a:bodyPr/>
          <a:lstStyle/>
          <a:p>
            <a:pPr marL="1397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397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60597" indent="-260597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What are the Board’s views about: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/>
          </a:p>
          <a:p>
            <a:pPr marL="0" lvl="1" indent="-274320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1800" dirty="0"/>
              <a:t>Definitions</a:t>
            </a:r>
          </a:p>
          <a:p>
            <a:pPr marL="0" lvl="1" indent="-274320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1800" dirty="0"/>
              <a:t>Requirements </a:t>
            </a:r>
          </a:p>
          <a:p>
            <a:pPr marL="0" lvl="1" indent="-274320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1800" dirty="0"/>
              <a:t>Application material</a:t>
            </a:r>
          </a:p>
          <a:p>
            <a:pPr marL="0" lvl="1" indent="-274320" algn="just">
              <a:lnSpc>
                <a:spcPts val="24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r>
              <a:rPr lang="en-US" sz="1800" dirty="0"/>
              <a:t>Appendices</a:t>
            </a:r>
          </a:p>
          <a:p>
            <a:pPr marL="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/>
          </a:p>
          <a:p>
            <a:pPr marL="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Full standard presented in clean – Agenda Item 2-E </a:t>
            </a:r>
          </a:p>
          <a:p>
            <a:pPr marL="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(The Task Force Chair will walk through the standard – relevant paragraph numbers to follow)</a:t>
            </a:r>
          </a:p>
          <a:p>
            <a:pPr marL="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2421" y="1000664"/>
            <a:ext cx="8464380" cy="4038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884"/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 </a:t>
            </a:r>
          </a:p>
        </p:txBody>
      </p:sp>
    </p:spTree>
    <p:extLst>
      <p:ext uri="{BB962C8B-B14F-4D97-AF65-F5344CB8AC3E}">
        <p14:creationId xmlns:p14="http://schemas.microsoft.com/office/powerpoint/2010/main" val="3260437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(Revised)‒Introductory Paragraphs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7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800" y="831314"/>
            <a:ext cx="7823632" cy="3998783"/>
          </a:xfrm>
        </p:spPr>
        <p:txBody>
          <a:bodyPr/>
          <a:lstStyle/>
          <a:p>
            <a:pPr marL="0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/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Effective Date &amp; Objective to be added back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964753"/>
              </p:ext>
            </p:extLst>
          </p:nvPr>
        </p:nvGraphicFramePr>
        <p:xfrm>
          <a:off x="229800" y="1421954"/>
          <a:ext cx="7286291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189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3974121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2422981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3877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Paragraph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Relevant Application Material: 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2-10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Introductory paragraphs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098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(Revised)‒Definitions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8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800" y="831314"/>
            <a:ext cx="7823632" cy="3998783"/>
          </a:xfrm>
        </p:spPr>
        <p:txBody>
          <a:bodyPr/>
          <a:lstStyle/>
          <a:p>
            <a:pPr marL="0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412222"/>
              </p:ext>
            </p:extLst>
          </p:nvPr>
        </p:nvGraphicFramePr>
        <p:xfrm>
          <a:off x="535416" y="1424404"/>
          <a:ext cx="7212400" cy="1644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764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4519950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1737686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3877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16(b) –   16 (g)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Assertions</a:t>
                      </a: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to </a:t>
                      </a:r>
                      <a:r>
                        <a:rPr lang="en-US" sz="120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environment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 – A6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16(h) –   16(l)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Relevant Assertions </a:t>
                      </a: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</a:t>
                      </a:r>
                      <a:r>
                        <a:rPr lang="en-US" sz="1200" b="0" i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System of Internal Control </a:t>
                      </a:r>
                      <a:endParaRPr 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A9 – A10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87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984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(Revised)‒Risk Assessment Procedures and Related Activities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9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2926" y="1163268"/>
            <a:ext cx="8373875" cy="3552794"/>
          </a:xfrm>
        </p:spPr>
        <p:txBody>
          <a:bodyPr/>
          <a:lstStyle/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D63B89-E9C4-42E0-8397-9B7F491C9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40" y="1393365"/>
            <a:ext cx="8238667" cy="18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404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" y="427439"/>
            <a:ext cx="9144000" cy="403875"/>
          </a:xfrm>
        </p:spPr>
        <p:txBody>
          <a:bodyPr/>
          <a:lstStyle/>
          <a:p>
            <a:r>
              <a:rPr lang="en-GB" sz="1400" b="1" dirty="0"/>
              <a:t>ISA 315 (Revised)‒Understanding the Entity &amp; Its Environment / Applicable Financial Reporting Framework</a:t>
            </a:r>
            <a:endParaRPr lang="en-US" sz="1400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10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64384" y="998669"/>
            <a:ext cx="7689048" cy="3490830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547022"/>
              </p:ext>
            </p:extLst>
          </p:nvPr>
        </p:nvGraphicFramePr>
        <p:xfrm>
          <a:off x="459634" y="1302027"/>
          <a:ext cx="7439766" cy="226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025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4840059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1719682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Material: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 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the Entity and Its Environment and the Applicable Financial Reporting Framework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A46a – A78 (Entity &amp; its Environment)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A79 ‒ A82 (Financial Reporting Framework)</a:t>
                      </a:r>
                    </a:p>
                    <a:p>
                      <a:pPr algn="ctr">
                        <a:lnSpc>
                          <a:spcPts val="21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A88a ‒ A88d (IRFs)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Evaluating the Entity’s Accounting Policies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00"/>
                        </a:lnSpc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972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485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(Revised)‒Understanding the Components of the Entity’s System of IC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11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898314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610071"/>
              </p:ext>
            </p:extLst>
          </p:nvPr>
        </p:nvGraphicFramePr>
        <p:xfrm>
          <a:off x="229798" y="845930"/>
          <a:ext cx="8596700" cy="2274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79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5921223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1803398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483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the Components of the Entity’s System of Internal Control</a:t>
                      </a:r>
                      <a:endParaRPr lang="en-US" sz="1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A89 – A104a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Environment, Risk Assessment Process &amp; Entity’s Monitoring of System of IC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A104a – A104d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40600"/>
                  </a:ext>
                </a:extLst>
              </a:tr>
              <a:tr h="344882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the Entity’s Control Environment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A106 – A114b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08649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 ‒ 31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Entity’s Risk Assessment Process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A117 – A120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540021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Entity’s Process for Monitoring the System of Internal Control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A123 – A135c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2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05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(Revised)‒Understanding the Components of the Entity’s System of IC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12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898314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500949"/>
              </p:ext>
            </p:extLst>
          </p:nvPr>
        </p:nvGraphicFramePr>
        <p:xfrm>
          <a:off x="229798" y="845930"/>
          <a:ext cx="8596700" cy="2397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79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5921223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1803398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483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 System and Control Activities Components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A135d – A135m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4137668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the Entity’s Information System and Communication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A135n – A159a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899684"/>
                  </a:ext>
                </a:extLst>
              </a:tr>
              <a:tr h="79344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Activities Component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A160 – A177 </a:t>
                      </a:r>
                    </a:p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A179a – A189 (IT)</a:t>
                      </a:r>
                    </a:p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A194 – A200 (D&amp;I)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214332"/>
                  </a:ext>
                </a:extLst>
              </a:tr>
              <a:tr h="356796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Deficiencies in the Entity’s System of Internal Control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A200a – A200c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05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8803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(Revised)‒Identifying &amp; Assessing the Risks of Material Misstatement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13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79464" y="968914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927003"/>
              </p:ext>
            </p:extLst>
          </p:nvPr>
        </p:nvGraphicFramePr>
        <p:xfrm>
          <a:off x="179464" y="949864"/>
          <a:ext cx="8293414" cy="285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601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5121099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2487714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32508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Identifying and Assessing the Risks of Material Misstatement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A201 – A206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6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45, 47, 48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 and Assessing Risks of Material Misstatement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A206a – A207e (financial statement level)</a:t>
                      </a:r>
                    </a:p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A208 – A221 (except A211 – A214) &amp; A226 – A228  (assertion level) </a:t>
                      </a:r>
                    </a:p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A221a – A225 (spectrum of risk)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46.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Determine Relevant Assertions and Significant Classes of Transactions, Account Balances and Disclosures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A211 – A214</a:t>
                      </a:r>
                    </a:p>
                    <a:p>
                      <a:pPr algn="ctr">
                        <a:lnSpc>
                          <a:spcPts val="2000"/>
                        </a:lnSpc>
                      </a:pPr>
                      <a:endParaRPr lang="en-US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40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2662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(Revised)‒Assessing the Risks of Material Misstatement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14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799" y="998668"/>
            <a:ext cx="8394083" cy="3998783"/>
          </a:xfrm>
        </p:spPr>
        <p:txBody>
          <a:bodyPr/>
          <a:lstStyle/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208313"/>
              </p:ext>
            </p:extLst>
          </p:nvPr>
        </p:nvGraphicFramePr>
        <p:xfrm>
          <a:off x="166879" y="1268948"/>
          <a:ext cx="7821421" cy="1815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601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5784212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1352608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Requirements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Determining Significant Risks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A228a – A229b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01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b="0" i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Determining Whether Substantive Procedures Alone Cannot Provide Sufficient Appropriate Audit Evidence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A231a – A231e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512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Assessing Control Risk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A232 – A235a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441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794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15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229800" y="1152566"/>
            <a:ext cx="8394083" cy="3998783"/>
          </a:xfrm>
        </p:spPr>
        <p:txBody>
          <a:bodyPr/>
          <a:lstStyle/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Evaluating Audit Evidence from Risk Assessment Procedures</a:t>
            </a: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Stand-back</a:t>
            </a: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AA2D4-F2A1-42F3-A696-6A6EE3B42A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3247236"/>
              </p:ext>
            </p:extLst>
          </p:nvPr>
        </p:nvGraphicFramePr>
        <p:xfrm>
          <a:off x="229800" y="1483029"/>
          <a:ext cx="8037900" cy="87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601">
                  <a:extLst>
                    <a:ext uri="{9D8B030D-6E8A-4147-A177-3AD203B41FA5}">
                      <a16:colId xmlns:a16="http://schemas.microsoft.com/office/drawing/2014/main" val="1015978263"/>
                    </a:ext>
                  </a:extLst>
                </a:gridCol>
                <a:gridCol w="5784212">
                  <a:extLst>
                    <a:ext uri="{9D8B030D-6E8A-4147-A177-3AD203B41FA5}">
                      <a16:colId xmlns:a16="http://schemas.microsoft.com/office/drawing/2014/main" val="2565273671"/>
                    </a:ext>
                  </a:extLst>
                </a:gridCol>
                <a:gridCol w="1569087">
                  <a:extLst>
                    <a:ext uri="{9D8B030D-6E8A-4147-A177-3AD203B41FA5}">
                      <a16:colId xmlns:a16="http://schemas.microsoft.com/office/drawing/2014/main" val="2823826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281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51A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Evaluating the Audit Evidence from Risk Assessment Procedures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A239a – A239c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70390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4E15B4-1179-42C5-89AC-82925DB5C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70083"/>
              </p:ext>
            </p:extLst>
          </p:nvPr>
        </p:nvGraphicFramePr>
        <p:xfrm>
          <a:off x="229800" y="2938341"/>
          <a:ext cx="8018850" cy="1327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90">
                  <a:extLst>
                    <a:ext uri="{9D8B030D-6E8A-4147-A177-3AD203B41FA5}">
                      <a16:colId xmlns:a16="http://schemas.microsoft.com/office/drawing/2014/main" val="2767351598"/>
                    </a:ext>
                  </a:extLst>
                </a:gridCol>
                <a:gridCol w="5763237">
                  <a:extLst>
                    <a:ext uri="{9D8B030D-6E8A-4147-A177-3AD203B41FA5}">
                      <a16:colId xmlns:a16="http://schemas.microsoft.com/office/drawing/2014/main" val="3082498037"/>
                    </a:ext>
                  </a:extLst>
                </a:gridCol>
                <a:gridCol w="1562623">
                  <a:extLst>
                    <a:ext uri="{9D8B030D-6E8A-4147-A177-3AD203B41FA5}">
                      <a16:colId xmlns:a16="http://schemas.microsoft.com/office/drawing/2014/main" val="78569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1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52.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Stand-back – Material Classes of Transactions, Account Balances or Disclosures that have Not Been Identified as Significant Classes of Transactions, Account Balances or Disclosures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A240 – A242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75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8579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27439"/>
            <a:ext cx="9144000" cy="403875"/>
          </a:xfrm>
        </p:spPr>
        <p:txBody>
          <a:bodyPr/>
          <a:lstStyle/>
          <a:p>
            <a:pPr marL="260597"/>
            <a:r>
              <a:rPr lang="en-GB" b="1" dirty="0"/>
              <a:t>ISA 315 (Revised)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11" y="4883297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16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79461" y="1014640"/>
            <a:ext cx="8394083" cy="3998783"/>
          </a:xfrm>
        </p:spPr>
        <p:txBody>
          <a:bodyPr/>
          <a:lstStyle/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Revision of Risk Assessment</a:t>
            </a:r>
          </a:p>
          <a:p>
            <a:pPr marL="0" indent="0" algn="just">
              <a:lnSpc>
                <a:spcPts val="2200"/>
              </a:lnSpc>
              <a:spcBef>
                <a:spcPts val="0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0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0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1200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2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1800" dirty="0"/>
              <a:t>Documentation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1" indent="-27432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7145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None/>
              <a:tabLst>
                <a:tab pos="625445" algn="l"/>
              </a:tabLst>
            </a:pPr>
            <a:endParaRPr lang="en-US" sz="14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─"/>
              <a:tabLst>
                <a:tab pos="625445" algn="l"/>
              </a:tabLst>
            </a:pPr>
            <a:endParaRPr lang="en-US" sz="14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4E15B4-1179-42C5-89AC-82925DB5C3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289931"/>
              </p:ext>
            </p:extLst>
          </p:nvPr>
        </p:nvGraphicFramePr>
        <p:xfrm>
          <a:off x="179461" y="3158149"/>
          <a:ext cx="7973940" cy="970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90">
                  <a:extLst>
                    <a:ext uri="{9D8B030D-6E8A-4147-A177-3AD203B41FA5}">
                      <a16:colId xmlns:a16="http://schemas.microsoft.com/office/drawing/2014/main" val="2767351598"/>
                    </a:ext>
                  </a:extLst>
                </a:gridCol>
                <a:gridCol w="5763237">
                  <a:extLst>
                    <a:ext uri="{9D8B030D-6E8A-4147-A177-3AD203B41FA5}">
                      <a16:colId xmlns:a16="http://schemas.microsoft.com/office/drawing/2014/main" val="3082498037"/>
                    </a:ext>
                  </a:extLst>
                </a:gridCol>
                <a:gridCol w="1517713">
                  <a:extLst>
                    <a:ext uri="{9D8B030D-6E8A-4147-A177-3AD203B41FA5}">
                      <a16:colId xmlns:a16="http://schemas.microsoft.com/office/drawing/2014/main" val="78569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415478"/>
                  </a:ext>
                </a:extLst>
              </a:tr>
              <a:tr h="467791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Documentation 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A244 – A248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7574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DFC44B-1AFF-4176-AA15-6580085B42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34297"/>
              </p:ext>
            </p:extLst>
          </p:nvPr>
        </p:nvGraphicFramePr>
        <p:xfrm>
          <a:off x="166758" y="1421235"/>
          <a:ext cx="7986641" cy="101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91">
                  <a:extLst>
                    <a:ext uri="{9D8B030D-6E8A-4147-A177-3AD203B41FA5}">
                      <a16:colId xmlns:a16="http://schemas.microsoft.com/office/drawing/2014/main" val="1693050041"/>
                    </a:ext>
                  </a:extLst>
                </a:gridCol>
                <a:gridCol w="5729681">
                  <a:extLst>
                    <a:ext uri="{9D8B030D-6E8A-4147-A177-3AD203B41FA5}">
                      <a16:colId xmlns:a16="http://schemas.microsoft.com/office/drawing/2014/main" val="4000220704"/>
                    </a:ext>
                  </a:extLst>
                </a:gridCol>
                <a:gridCol w="1563969">
                  <a:extLst>
                    <a:ext uri="{9D8B030D-6E8A-4147-A177-3AD203B41FA5}">
                      <a16:colId xmlns:a16="http://schemas.microsoft.com/office/drawing/2014/main" val="584944352"/>
                    </a:ext>
                  </a:extLst>
                </a:gridCol>
              </a:tblGrid>
              <a:tr h="4173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 #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571022"/>
                  </a:ext>
                </a:extLst>
              </a:tr>
              <a:tr h="514481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New Inconsistent Information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en-US" sz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A243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01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798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50AF-BCB7-414F-A18E-60A6E4CC8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ISA 315 (Revised)‒Appendices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E9AD2D-32FA-4230-8480-A249DB4970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52525" y="1615116"/>
            <a:ext cx="7638950" cy="23593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AA6FE-CF05-40D9-9295-51BDB0C07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01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4F12F-4ABC-41CB-8F46-62333B83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Effective 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F2971-48E8-440F-847D-BA4CA4ED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r>
              <a:rPr lang="en-US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A69B58-D5DB-460B-8E5F-10BABFF3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946150"/>
            <a:ext cx="8229600" cy="635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342884">
              <a:buNone/>
            </a:pP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CD49F73-8988-4CDA-8F49-05353DFCE636}"/>
              </a:ext>
            </a:extLst>
          </p:cNvPr>
          <p:cNvSpPr txBox="1">
            <a:spLocks/>
          </p:cNvSpPr>
          <p:nvPr/>
        </p:nvSpPr>
        <p:spPr>
          <a:xfrm>
            <a:off x="387134" y="1285647"/>
            <a:ext cx="7823632" cy="16290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29779" indent="-129779" algn="l" defTabSz="342900" rtl="0" eaLnBrk="1" latinLnBrk="0" hangingPunct="1">
              <a:spcBef>
                <a:spcPts val="900"/>
              </a:spcBef>
              <a:buFont typeface="Arial"/>
              <a:buChar char="•"/>
              <a:defRPr sz="15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-171450" algn="l" defTabSz="342900" rtl="0" eaLnBrk="1" latinLnBrk="0" hangingPunct="1">
              <a:spcBef>
                <a:spcPts val="450"/>
              </a:spcBef>
              <a:spcAft>
                <a:spcPts val="300"/>
              </a:spcAft>
              <a:buFont typeface="Arial"/>
              <a:buChar char="–"/>
              <a:defRPr sz="13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72679" indent="-128588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20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642938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0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13197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050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/>
              <a:buNone/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1397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/>
              <a:buNone/>
            </a:pPr>
            <a:endParaRPr lang="en-US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60597" indent="-260597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 panose="020B0604020202020204" pitchFamily="34" charset="0"/>
              <a:buChar char="•"/>
              <a:tabLst>
                <a:tab pos="625445" algn="l"/>
              </a:tabLst>
            </a:pP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Font typeface="Arial"/>
              <a:buNone/>
              <a:tabLst>
                <a:tab pos="625445" algn="l"/>
              </a:tabLst>
            </a:pPr>
            <a:r>
              <a:rPr lang="en-US" sz="1800" dirty="0"/>
              <a:t>What are the Board’s views about the proposed implementation date?</a:t>
            </a:r>
          </a:p>
          <a:p>
            <a:pPr marL="0" indent="0" algn="just">
              <a:lnSpc>
                <a:spcPts val="2000"/>
              </a:lnSpc>
              <a:spcBef>
                <a:spcPts val="225"/>
              </a:spcBef>
              <a:spcAft>
                <a:spcPts val="225"/>
              </a:spcAft>
              <a:buFont typeface="Arial"/>
              <a:buNone/>
              <a:tabLst>
                <a:tab pos="625445" algn="l"/>
              </a:tabLst>
            </a:pPr>
            <a:endParaRPr lang="en-US" sz="1800" dirty="0"/>
          </a:p>
          <a:p>
            <a:pPr marL="0" lvl="1" indent="0" algn="just">
              <a:lnSpc>
                <a:spcPts val="1800"/>
              </a:lnSpc>
              <a:spcBef>
                <a:spcPts val="225"/>
              </a:spcBef>
              <a:spcAft>
                <a:spcPts val="225"/>
              </a:spcAft>
              <a:buFont typeface="Arial"/>
              <a:buNone/>
              <a:tabLst>
                <a:tab pos="625445" algn="l"/>
              </a:tabLst>
            </a:pPr>
            <a:endParaRPr lang="en-US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74320" lvl="2" indent="0">
              <a:buFont typeface="Arial"/>
              <a:buNone/>
            </a:pP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912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625" y="396103"/>
            <a:ext cx="8325602" cy="403875"/>
          </a:xfrm>
        </p:spPr>
        <p:txBody>
          <a:bodyPr/>
          <a:lstStyle/>
          <a:p>
            <a:r>
              <a:rPr lang="en-GB" b="1" dirty="0"/>
              <a:t>ISA 315 (Revised) ‒ Conforming Amendments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21277" y="914133"/>
            <a:ext cx="6862306" cy="4083316"/>
          </a:xfrm>
        </p:spPr>
        <p:txBody>
          <a:bodyPr/>
          <a:lstStyle/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0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0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4488" indent="-344488">
              <a:lnSpc>
                <a:spcPts val="2600"/>
              </a:lnSpc>
              <a:spcBef>
                <a:spcPts val="0"/>
              </a:spcBef>
              <a:buNone/>
            </a:pP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16105" lvl="1" indent="0">
              <a:spcBef>
                <a:spcPts val="500"/>
              </a:spcBef>
              <a:buNone/>
              <a:tabLst>
                <a:tab pos="1082675" algn="l"/>
              </a:tabLst>
            </a:pPr>
            <a:endParaRPr lang="en-US" dirty="0"/>
          </a:p>
          <a:p>
            <a:pPr marL="688975" lvl="0" indent="-342900">
              <a:spcBef>
                <a:spcPts val="600"/>
              </a:spcBef>
              <a:buFont typeface="+mj-lt"/>
              <a:buAutoNum type="alphaLcPeriod"/>
            </a:pPr>
            <a:endParaRPr lang="en-US" sz="1600" dirty="0"/>
          </a:p>
          <a:p>
            <a:pPr marL="0" indent="0">
              <a:buNone/>
            </a:pPr>
            <a:endParaRPr lang="en-US" sz="1800" dirty="0"/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D42F74-35E8-40FE-9596-89CA24986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467662"/>
              </p:ext>
            </p:extLst>
          </p:nvPr>
        </p:nvGraphicFramePr>
        <p:xfrm>
          <a:off x="321276" y="1283747"/>
          <a:ext cx="7597174" cy="25916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498">
                  <a:extLst>
                    <a:ext uri="{9D8B030D-6E8A-4147-A177-3AD203B41FA5}">
                      <a16:colId xmlns:a16="http://schemas.microsoft.com/office/drawing/2014/main" val="3298383932"/>
                    </a:ext>
                  </a:extLst>
                </a:gridCol>
                <a:gridCol w="6609676">
                  <a:extLst>
                    <a:ext uri="{9D8B030D-6E8A-4147-A177-3AD203B41FA5}">
                      <a16:colId xmlns:a16="http://schemas.microsoft.com/office/drawing/2014/main" val="2024397594"/>
                    </a:ext>
                  </a:extLst>
                </a:gridCol>
              </a:tblGrid>
              <a:tr h="35612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ISA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sz="16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Conforming Amendments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673746"/>
                  </a:ext>
                </a:extLst>
              </a:tr>
              <a:tr h="324884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Objectives of the Independent Auditor and the Conduct of an Audit in Accordance with International Standards on Auditing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484561"/>
                  </a:ext>
                </a:extLst>
              </a:tr>
              <a:tr h="299870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Auditor’s Responsibilities Relating to Fraud in an Audit of Financial Statements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755728"/>
                  </a:ext>
                </a:extLst>
              </a:tr>
              <a:tr h="313198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Auditor’s Responses to Assessed Risks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14865"/>
                  </a:ext>
                </a:extLst>
              </a:tr>
              <a:tr h="313198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540 (Revised)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Auditing Accounting Estimates and Related Disclosures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586769"/>
                  </a:ext>
                </a:extLst>
              </a:tr>
              <a:tr h="326525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Other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ts val="1800"/>
                        </a:lnSpc>
                        <a:spcBef>
                          <a:spcPts val="2400"/>
                        </a:spcBef>
                        <a:spcAft>
                          <a:spcPts val="2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Various – Supplement to Agenda Item 2-I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349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336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59E0-6812-4D16-B7A3-6DA87B255D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Changing the interpretation of “could” in Definition of </a:t>
            </a:r>
            <a:r>
              <a:rPr lang="en-GB" dirty="0" err="1"/>
              <a:t>RoMM</a:t>
            </a:r>
            <a:r>
              <a:rPr lang="en-GB" dirty="0"/>
              <a:t> and re-defining Significant Risks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E7397B-73BF-46BC-AEB5-169638093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632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C86DE4A-ED39-4578-8A08-892966AA6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7936" y="482600"/>
            <a:ext cx="6988128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41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6FC15E-CBB7-4EBC-A8D4-A194EE07F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7936" y="482600"/>
            <a:ext cx="6988128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4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3383</TotalTime>
  <Words>1528</Words>
  <Application>Microsoft Office PowerPoint</Application>
  <PresentationFormat>On-screen Show (16:9)</PresentationFormat>
  <Paragraphs>443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Narrow</vt:lpstr>
      <vt:lpstr>Calibri</vt:lpstr>
      <vt:lpstr>Office Theme</vt:lpstr>
      <vt:lpstr>ISA 315 (Revised)  Identifying and Assessing the Risks of Material Misstatement</vt:lpstr>
      <vt:lpstr>PowerPoint Presentation</vt:lpstr>
      <vt:lpstr>ISA 315 (Revised)‒NEW in September</vt:lpstr>
      <vt:lpstr>Summary of CAG Representatives Comments</vt:lpstr>
      <vt:lpstr>Offline Comments – Significant Aspects for Further Consideration</vt:lpstr>
      <vt:lpstr>ISA 315 (Revised) </vt:lpstr>
      <vt:lpstr>ISA 315 (Revised)‒Introductory Paragraphs</vt:lpstr>
      <vt:lpstr>ISA 315 (Revised)‒Definitions</vt:lpstr>
      <vt:lpstr>ISA 315 (Revised)‒Risk Assessment Procedures and Related Activities</vt:lpstr>
      <vt:lpstr>ISA 315 (Revised)‒Understanding the Entity &amp; Its Environment / Applicable Financial Reporting Framework</vt:lpstr>
      <vt:lpstr>ISA 315 (Revised)‒Understanding the Components of the Entity’s System of IC</vt:lpstr>
      <vt:lpstr>ISA 315 (Revised)‒Understanding the Components of the Entity’s System of IC</vt:lpstr>
      <vt:lpstr>ISA 315 (Revised)‒Identifying &amp; Assessing the Risks of Material Misstatement</vt:lpstr>
      <vt:lpstr>ISA 315 (Revised)‒Assessing the Risks of Material Misstatement</vt:lpstr>
      <vt:lpstr>ISA 315 (Revised)</vt:lpstr>
      <vt:lpstr>ISA 315 (Revised)</vt:lpstr>
      <vt:lpstr>ISA 315 (Revised)‒Appendices</vt:lpstr>
      <vt:lpstr>Effective Date</vt:lpstr>
      <vt:lpstr>ISA 315 (Revised) ‒ Conforming Amendments</vt:lpstr>
      <vt:lpstr>PowerPoint Presentation</vt:lpstr>
      <vt:lpstr>Changing the interpretation of “could” in Definition of RoMM and re-defining Significant Risks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Beverley Bahlmann</cp:lastModifiedBy>
  <cp:revision>286</cp:revision>
  <cp:lastPrinted>2019-09-16T10:54:52Z</cp:lastPrinted>
  <dcterms:created xsi:type="dcterms:W3CDTF">2016-11-09T14:56:20Z</dcterms:created>
  <dcterms:modified xsi:type="dcterms:W3CDTF">2019-09-16T10:58:13Z</dcterms:modified>
</cp:coreProperties>
</file>