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73" r:id="rId2"/>
  </p:sldMasterIdLst>
  <p:notesMasterIdLst>
    <p:notesMasterId r:id="rId10"/>
  </p:notesMasterIdLst>
  <p:handoutMasterIdLst>
    <p:handoutMasterId r:id="rId11"/>
  </p:handoutMasterIdLst>
  <p:sldIdLst>
    <p:sldId id="301" r:id="rId3"/>
    <p:sldId id="317" r:id="rId4"/>
    <p:sldId id="313" r:id="rId5"/>
    <p:sldId id="315" r:id="rId6"/>
    <p:sldId id="307" r:id="rId7"/>
    <p:sldId id="318" r:id="rId8"/>
    <p:sldId id="319" r:id="rId9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BJ - Post TF Meeting" initials="BJ" lastIdx="3" clrIdx="6">
    <p:extLst>
      <p:ext uri="{19B8F6BF-5375-455C-9EA6-DF929625EA0E}">
        <p15:presenceInfo xmlns:p15="http://schemas.microsoft.com/office/powerpoint/2012/main" userId="BJ - Post TF Meeting" providerId="None"/>
      </p:ext>
    </p:extLst>
  </p:cmAuthor>
  <p:cmAuthor id="1" name="Zietsman, Megan" initials="MZ" lastIdx="8" clrIdx="0">
    <p:extLst/>
  </p:cmAuthor>
  <p:cmAuthor id="2" name="Kathleen Healy" initials="KH" lastIdx="13" clrIdx="1">
    <p:extLst/>
  </p:cmAuthor>
  <p:cmAuthor id="3" name="Prof. Dr. Annette G. Köhler" initials="PDAGK" lastIdx="13" clrIdx="2">
    <p:extLst/>
  </p:cmAuthor>
  <p:cmAuthor id="4" name="Schuyler Simms" initials="SS" lastIdx="15" clrIdx="3">
    <p:extLst/>
  </p:cmAuthor>
  <p:cmAuthor id="5" name="Boehm" initials="WB" lastIdx="8" clrIdx="4"/>
  <p:cmAuthor id="6" name="Schuyler Simms" initials="SSS" lastIdx="1" clrIdx="5">
    <p:extLst>
      <p:ext uri="{19B8F6BF-5375-455C-9EA6-DF929625EA0E}">
        <p15:presenceInfo xmlns:p15="http://schemas.microsoft.com/office/powerpoint/2012/main" userId="Schuyler Simm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2D9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8250" autoAdjust="0"/>
  </p:normalViewPr>
  <p:slideViewPr>
    <p:cSldViewPr snapToGrid="0" snapToObjects="1">
      <p:cViewPr varScale="1">
        <p:scale>
          <a:sx n="106" d="100"/>
          <a:sy n="106" d="100"/>
        </p:scale>
        <p:origin x="110" y="77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68" d="100"/>
          <a:sy n="68" d="100"/>
        </p:scale>
        <p:origin x="3005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9/18/2018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6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3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52317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01493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37109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067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thicsboard.org/" TargetMode="External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19854" y="1735350"/>
            <a:ext cx="2304293" cy="38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29" y="2886709"/>
            <a:ext cx="800102" cy="2674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743" y="2886709"/>
            <a:ext cx="605792" cy="267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947" y="2886709"/>
            <a:ext cx="800102" cy="2674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461" y="2858134"/>
            <a:ext cx="800102" cy="32461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975" y="2886709"/>
            <a:ext cx="800102" cy="2674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491" y="2886709"/>
            <a:ext cx="800102" cy="26746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0" y="1198961"/>
            <a:ext cx="9144000" cy="3950208"/>
          </a:xfrm>
          <a:prstGeom prst="rect">
            <a:avLst/>
          </a:prstGeom>
          <a:gradFill rotWithShape="0">
            <a:gsLst>
              <a:gs pos="0">
                <a:srgbClr val="18276E"/>
              </a:gs>
              <a:gs pos="100000">
                <a:srgbClr val="0092D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11" name="Picture 6" descr="Ribbon_green_1.25in_width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98961"/>
            <a:ext cx="6629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1398986"/>
            <a:ext cx="4648200" cy="74295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267200" y="2484835"/>
            <a:ext cx="3060700" cy="131445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85" y="384188"/>
            <a:ext cx="2056917" cy="60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3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776"/>
              </a:spcBef>
              <a:defRPr/>
            </a:lvl2pPr>
            <a:lvl3pPr>
              <a:spcBef>
                <a:spcPts val="776"/>
              </a:spcBef>
              <a:defRPr/>
            </a:lvl3pPr>
            <a:lvl4pPr>
              <a:spcBef>
                <a:spcPts val="776"/>
              </a:spcBef>
              <a:defRPr/>
            </a:lvl4pPr>
            <a:lvl5pPr>
              <a:spcBef>
                <a:spcPts val="776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0"/>
          </p:nvPr>
        </p:nvSpPr>
        <p:spPr>
          <a:xfrm>
            <a:off x="381000" y="57150"/>
            <a:ext cx="2667000" cy="17145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461930"/>
            <a:ext cx="754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99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929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078"/>
            <a:ext cx="5791200" cy="481012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49374"/>
            <a:ext cx="5111750" cy="3070225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6" y="1349377"/>
            <a:ext cx="3084513" cy="30702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4812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6" y="3305177"/>
            <a:ext cx="8113713" cy="1021557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6" y="2180035"/>
            <a:ext cx="8113713" cy="1125140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531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49375"/>
            <a:ext cx="4114800" cy="3070225"/>
          </a:xfrm>
        </p:spPr>
        <p:txBody>
          <a:bodyPr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49375"/>
            <a:ext cx="4114800" cy="3070225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543800" cy="400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0"/>
          </p:nvPr>
        </p:nvSpPr>
        <p:spPr>
          <a:xfrm>
            <a:off x="381000" y="137160"/>
            <a:ext cx="2667000" cy="17145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04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543800" cy="400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0"/>
          </p:nvPr>
        </p:nvSpPr>
        <p:spPr>
          <a:xfrm>
            <a:off x="381000" y="137160"/>
            <a:ext cx="2667000" cy="17145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620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38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000" y="1349375"/>
            <a:ext cx="8458200" cy="30702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038061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357" y="1662424"/>
            <a:ext cx="2627286" cy="767091"/>
          </a:xfrm>
          <a:prstGeom prst="rect">
            <a:avLst/>
          </a:prstGeom>
        </p:spPr>
      </p:pic>
      <p:sp>
        <p:nvSpPr>
          <p:cNvPr id="7" name="Rectangle 5"/>
          <p:cNvSpPr>
            <a:spLocks noChangeArrowheads="1"/>
          </p:cNvSpPr>
          <p:nvPr userDrawn="1"/>
        </p:nvSpPr>
        <p:spPr bwMode="auto">
          <a:xfrm flipH="1">
            <a:off x="384175" y="4572000"/>
            <a:ext cx="8759825" cy="46038"/>
          </a:xfrm>
          <a:prstGeom prst="rect">
            <a:avLst/>
          </a:prstGeom>
          <a:gradFill rotWithShape="1">
            <a:gsLst>
              <a:gs pos="0">
                <a:srgbClr val="168136"/>
              </a:gs>
              <a:gs pos="999">
                <a:srgbClr val="168136"/>
              </a:gs>
              <a:gs pos="100000">
                <a:srgbClr val="68B1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2215068" y="2744562"/>
            <a:ext cx="4713863" cy="7694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ctr" defTabSz="914400"/>
            <a:r>
              <a:rPr lang="en-US" sz="4400" kern="300" dirty="0">
                <a:solidFill>
                  <a:srgbClr val="005BAA"/>
                </a:solidFill>
                <a:latin typeface="Bauer Bodoni Std" pitchFamily="18" charset="0"/>
              </a:rPr>
              <a:t>The Ethics Board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3408828" y="3829050"/>
            <a:ext cx="232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>
                    <a:lumMod val="65000"/>
                    <a:lumOff val="35000"/>
                  </a:srgbClr>
                </a:solidFill>
                <a:hlinkClick r:id="rId3"/>
              </a:rPr>
              <a:t>www.ethicsboard.org</a:t>
            </a:r>
            <a:endParaRPr lang="en-US" sz="180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45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9" y="2"/>
            <a:ext cx="9140971" cy="1258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 flipH="1">
            <a:off x="384175" y="4572000"/>
            <a:ext cx="8759825" cy="46038"/>
          </a:xfrm>
          <a:prstGeom prst="rect">
            <a:avLst/>
          </a:prstGeom>
          <a:gradFill rotWithShape="1">
            <a:gsLst>
              <a:gs pos="0">
                <a:srgbClr val="168136"/>
              </a:gs>
              <a:gs pos="999">
                <a:srgbClr val="168136"/>
              </a:gs>
              <a:gs pos="100000">
                <a:srgbClr val="68B1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461930"/>
            <a:ext cx="754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45876"/>
            <a:ext cx="8458200" cy="306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3"/>
          <p:cNvSpPr txBox="1">
            <a:spLocks noGrp="1"/>
          </p:cNvSpPr>
          <p:nvPr/>
        </p:nvSpPr>
        <p:spPr bwMode="auto">
          <a:xfrm>
            <a:off x="6424616" y="4824412"/>
            <a:ext cx="2414587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37931725" indent="-37474525" defTabSz="4572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dirty="0">
                <a:solidFill>
                  <a:srgbClr val="808080"/>
                </a:solidFill>
                <a:cs typeface="MS PGothic" charset="0"/>
              </a:rPr>
              <a:t>Page </a:t>
            </a:r>
            <a:fld id="{95158037-59F0-9C4B-B231-1C776117AADA}" type="slidenum">
              <a:rPr lang="en-US" sz="800" smtClean="0">
                <a:solidFill>
                  <a:srgbClr val="80808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sz="800" dirty="0">
                <a:solidFill>
                  <a:srgbClr val="808080"/>
                </a:solidFill>
                <a:cs typeface="MS PGothic" charset="0"/>
              </a:rPr>
              <a:t> | Proprietary and Copyrighted Information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93" y="4739925"/>
            <a:ext cx="1028458" cy="30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7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ヒラギノ角ゴ Pro W3" charset="-128"/>
          <a:cs typeface="ヒラギノ角ゴ Pro W3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ヒラギノ角ゴ Pro W3" charset="-128"/>
          <a:cs typeface="ヒラギノ角ゴ Pro W3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ヒラギノ角ゴ Pro W3" charset="-128"/>
          <a:cs typeface="ヒラギノ角ゴ Pro W3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1" fontAlgn="base" hangingPunct="1">
        <a:spcBef>
          <a:spcPts val="776"/>
        </a:spcBef>
        <a:spcAft>
          <a:spcPct val="0"/>
        </a:spcAft>
        <a:buChar char="•"/>
        <a:defRPr sz="2400">
          <a:solidFill>
            <a:schemeClr val="tx2">
              <a:lumMod val="65000"/>
              <a:lumOff val="35000"/>
            </a:schemeClr>
          </a:solidFill>
          <a:latin typeface="+mn-lt"/>
          <a:ea typeface="ＭＳ Ｐゴシック" charset="0"/>
          <a:cs typeface="ＭＳ Ｐゴシック" charset="0"/>
        </a:defRPr>
      </a:lvl1pPr>
      <a:lvl2pPr marL="694944" indent="-347472" algn="l" rtl="0" eaLnBrk="1" fontAlgn="base" hangingPunct="1">
        <a:spcBef>
          <a:spcPts val="776"/>
        </a:spcBef>
        <a:spcAft>
          <a:spcPct val="0"/>
        </a:spcAft>
        <a:buChar char="–"/>
        <a:defRPr sz="2000">
          <a:solidFill>
            <a:schemeClr val="tx2">
              <a:lumMod val="65000"/>
              <a:lumOff val="35000"/>
            </a:schemeClr>
          </a:solidFill>
          <a:latin typeface="+mn-lt"/>
          <a:ea typeface="ＭＳ Ｐゴシック" charset="0"/>
          <a:cs typeface="+mn-cs"/>
        </a:defRPr>
      </a:lvl2pPr>
      <a:lvl3pPr marL="1042416" indent="-347472" algn="l" rtl="0" eaLnBrk="1" fontAlgn="base" hangingPunct="1">
        <a:spcBef>
          <a:spcPts val="776"/>
        </a:spcBef>
        <a:spcAft>
          <a:spcPct val="0"/>
        </a:spcAft>
        <a:buChar char="•"/>
        <a:defRPr sz="1800">
          <a:solidFill>
            <a:schemeClr val="tx2">
              <a:lumMod val="65000"/>
              <a:lumOff val="35000"/>
            </a:schemeClr>
          </a:solidFill>
          <a:latin typeface="+mn-lt"/>
          <a:ea typeface="ＭＳ Ｐゴシック" charset="0"/>
          <a:cs typeface="+mn-cs"/>
        </a:defRPr>
      </a:lvl3pPr>
      <a:lvl4pPr marL="1389888" indent="-347472" algn="l" rtl="0" eaLnBrk="1" fontAlgn="base" hangingPunct="1">
        <a:spcBef>
          <a:spcPts val="776"/>
        </a:spcBef>
        <a:spcAft>
          <a:spcPct val="0"/>
        </a:spcAft>
        <a:buChar char="–"/>
        <a:defRPr sz="1600">
          <a:solidFill>
            <a:schemeClr val="tx2">
              <a:lumMod val="65000"/>
              <a:lumOff val="35000"/>
            </a:schemeClr>
          </a:solidFill>
          <a:latin typeface="+mn-lt"/>
          <a:ea typeface="ＭＳ Ｐゴシック" charset="0"/>
          <a:cs typeface="+mn-cs"/>
        </a:defRPr>
      </a:lvl4pPr>
      <a:lvl5pPr marL="1737360" indent="-347472" algn="l" rtl="0" eaLnBrk="1" fontAlgn="base" hangingPunct="1">
        <a:spcBef>
          <a:spcPts val="776"/>
        </a:spcBef>
        <a:spcAft>
          <a:spcPct val="0"/>
        </a:spcAft>
        <a:buChar char="»"/>
        <a:defRPr sz="1400">
          <a:solidFill>
            <a:schemeClr val="tx2">
              <a:lumMod val="65000"/>
              <a:lumOff val="35000"/>
            </a:schemeClr>
          </a:solidFill>
          <a:latin typeface="+mn-lt"/>
          <a:ea typeface="ＭＳ Ｐゴシック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Professional Skepticism 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/>
              <a:t>Lyn Provost, Professional Skepticism IAASB Subgroup Chair </a:t>
            </a:r>
          </a:p>
          <a:p>
            <a:r>
              <a:rPr lang="en-US" sz="1600" dirty="0"/>
              <a:t>IAASB </a:t>
            </a:r>
            <a:r>
              <a:rPr lang="en-US" sz="1600" dirty="0" smtClean="0"/>
              <a:t>Meeting, New York, USA</a:t>
            </a:r>
            <a:endParaRPr lang="en-US" sz="1600" dirty="0"/>
          </a:p>
          <a:p>
            <a:r>
              <a:rPr lang="en-US" sz="1600" dirty="0"/>
              <a:t>Agenda Item 9</a:t>
            </a:r>
          </a:p>
          <a:p>
            <a:r>
              <a:rPr lang="en-US" sz="1600" dirty="0" smtClean="0"/>
              <a:t>September 21, </a:t>
            </a:r>
            <a:r>
              <a:rPr lang="en-US" sz="1600" dirty="0"/>
              <a:t>2018</a:t>
            </a:r>
          </a:p>
        </p:txBody>
      </p:sp>
    </p:spTree>
    <p:extLst>
      <p:ext uri="{BB962C8B-B14F-4D97-AF65-F5344CB8AC3E}">
        <p14:creationId xmlns:p14="http://schemas.microsoft.com/office/powerpoint/2010/main" val="3218022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IAASB Professional </a:t>
            </a:r>
            <a:r>
              <a:rPr lang="en-US" dirty="0"/>
              <a:t>Skepticism</a:t>
            </a:r>
            <a:r>
              <a:rPr lang="en-GB" dirty="0"/>
              <a:t> Way Forward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94567"/>
            <a:ext cx="8601075" cy="3888728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Provide advice on key projects</a:t>
            </a:r>
          </a:p>
          <a:p>
            <a:pPr lvl="0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Distribute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regular communication on professional skepticism</a:t>
            </a:r>
          </a:p>
          <a:p>
            <a:pPr lvl="0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Provide input into the IAASB’s Strategy for 2020–2023 through the Consultation Paper </a:t>
            </a:r>
          </a:p>
          <a:p>
            <a:pPr lvl="0"/>
            <a:r>
              <a:rPr lang="en-GB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Foster 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good relationships with IESBA and IAESB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72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Provide advice on key projects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43516"/>
            <a:ext cx="8601075" cy="3837284"/>
          </a:xfrm>
        </p:spPr>
        <p:txBody>
          <a:bodyPr/>
          <a:lstStyle/>
          <a:p>
            <a:pPr lvl="0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Quality projects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(ISQC 1, ISQC 2, ISA 220)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EER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(Next year)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ISA 315 (Revised) Responses to Exposure Draft</a:t>
            </a:r>
          </a:p>
          <a:p>
            <a:pPr lvl="0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ISA 540 (Revised)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Implementation</a:t>
            </a:r>
          </a:p>
          <a:p>
            <a:pPr lvl="0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ISA 600 (Next year)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23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08000"/>
            <a:ext cx="8229600" cy="3830699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Communiqué #1 (see handout)</a:t>
            </a:r>
          </a:p>
          <a:p>
            <a:pPr lvl="0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Proposed content and timing of communiqué #2</a:t>
            </a:r>
          </a:p>
          <a:p>
            <a:pPr marL="342900" lvl="0" indent="-342900">
              <a:buFont typeface="+mj-lt"/>
              <a:buAutoNum type="arabicPeriod"/>
            </a:pPr>
            <a:endParaRPr lang="en-US" sz="15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endParaRPr lang="en-US" sz="15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Distribute regular communication on professional skepticism</a:t>
            </a:r>
          </a:p>
        </p:txBody>
      </p:sp>
    </p:spTree>
    <p:extLst>
      <p:ext uri="{BB962C8B-B14F-4D97-AF65-F5344CB8AC3E}">
        <p14:creationId xmlns:p14="http://schemas.microsoft.com/office/powerpoint/2010/main" val="54048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8400" y="427437"/>
            <a:ext cx="8733600" cy="403875"/>
          </a:xfrm>
        </p:spPr>
        <p:txBody>
          <a:bodyPr/>
          <a:lstStyle/>
          <a:p>
            <a:pPr lvl="0"/>
            <a:r>
              <a:rPr lang="en-US" dirty="0"/>
              <a:t>Provide input into the IAASB’s Strategy for </a:t>
            </a:r>
            <a:r>
              <a:rPr lang="en-US" dirty="0" smtClean="0"/>
              <a:t>2020–2023 through the </a:t>
            </a:r>
            <a:r>
              <a:rPr lang="en-US" dirty="0"/>
              <a:t>Consultation </a:t>
            </a:r>
            <a:r>
              <a:rPr lang="en-US" dirty="0" smtClean="0"/>
              <a:t>Paper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29599"/>
            <a:ext cx="8229600" cy="3285089"/>
          </a:xfrm>
        </p:spPr>
        <p:txBody>
          <a:bodyPr/>
          <a:lstStyle/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Reflection on discussion of Strategy consultation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paper</a:t>
            </a: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Audit evidence</a:t>
            </a: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18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14800" cy="403875"/>
          </a:xfrm>
        </p:spPr>
        <p:txBody>
          <a:bodyPr/>
          <a:lstStyle/>
          <a:p>
            <a:pPr lvl="0"/>
            <a:r>
              <a:rPr lang="en-GB" dirty="0"/>
              <a:t>Foster good relationships with IESBA and IAESB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29599"/>
            <a:ext cx="8229600" cy="3285089"/>
          </a:xfrm>
        </p:spPr>
        <p:txBody>
          <a:bodyPr/>
          <a:lstStyle/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Regular Chairs calls</a:t>
            </a: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IESBA Consultation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Paper / Project 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Structured changes to IAESB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14800" cy="403875"/>
          </a:xfrm>
        </p:spPr>
        <p:txBody>
          <a:bodyPr/>
          <a:lstStyle/>
          <a:p>
            <a:pPr lvl="0"/>
            <a:r>
              <a:rPr lang="en-GB" dirty="0" smtClean="0"/>
              <a:t>IAASB Input 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29599"/>
            <a:ext cx="8229600" cy="3285089"/>
          </a:xfrm>
        </p:spPr>
        <p:txBody>
          <a:bodyPr/>
          <a:lstStyle/>
          <a:p>
            <a:pPr marL="0" lvl="1" indent="0">
              <a:buNone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>
              <a:buNone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 algn="ctr">
              <a:buNone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Any comments or requests?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8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IESBA_Powerpoint_template_GREEN RIBBON_WIDESCREEN">
  <a:themeElements>
    <a:clrScheme name="IFAC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5BAA"/>
      </a:accent1>
      <a:accent2>
        <a:srgbClr val="00C0F3"/>
      </a:accent2>
      <a:accent3>
        <a:srgbClr val="F15A22"/>
      </a:accent3>
      <a:accent4>
        <a:srgbClr val="FAA61A"/>
      </a:accent4>
      <a:accent5>
        <a:srgbClr val="0D9C4A"/>
      </a:accent5>
      <a:accent6>
        <a:srgbClr val="8DC63F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50423 Forum of Firms IESBA Peter Hughes" id="{855BE383-8B6C-4EB1-8557-672D5CCEBC22}" vid="{F4A2DCA7-B248-4570-8002-E7D7FAD854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564</TotalTime>
  <Words>188</Words>
  <Application>Microsoft Office PowerPoint</Application>
  <PresentationFormat>On-screen Show (16:9)</PresentationFormat>
  <Paragraphs>42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MS PGothic</vt:lpstr>
      <vt:lpstr>MS PGothic</vt:lpstr>
      <vt:lpstr>Arial</vt:lpstr>
      <vt:lpstr>Arial Narrow</vt:lpstr>
      <vt:lpstr>Bauer Bodoni Std</vt:lpstr>
      <vt:lpstr>Calibri</vt:lpstr>
      <vt:lpstr>Times New Roman</vt:lpstr>
      <vt:lpstr>ヒラギノ角ゴ Pro W3</vt:lpstr>
      <vt:lpstr>Office Theme</vt:lpstr>
      <vt:lpstr>IESBA_Powerpoint_template_GREEN RIBBON_WIDESCREEN</vt:lpstr>
      <vt:lpstr>Professional Skepticism </vt:lpstr>
      <vt:lpstr>IAASB Professional Skepticism Way Forward </vt:lpstr>
      <vt:lpstr>Provide advice on key projects</vt:lpstr>
      <vt:lpstr>Distribute regular communication on professional skepticism</vt:lpstr>
      <vt:lpstr>Provide input into the IAASB’s Strategy for 2020–2023 through the Consultation Paper</vt:lpstr>
      <vt:lpstr>Foster good relationships with IESBA and IAESB</vt:lpstr>
      <vt:lpstr>IAASB Input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Skepticism</dc:title>
  <dc:creator>Schuyler Simms</dc:creator>
  <cp:lastModifiedBy>Schuyler Simms</cp:lastModifiedBy>
  <cp:revision>166</cp:revision>
  <cp:lastPrinted>2016-11-30T17:17:01Z</cp:lastPrinted>
  <dcterms:created xsi:type="dcterms:W3CDTF">2016-11-07T17:57:32Z</dcterms:created>
  <dcterms:modified xsi:type="dcterms:W3CDTF">2018-09-18T19:14:32Z</dcterms:modified>
</cp:coreProperties>
</file>