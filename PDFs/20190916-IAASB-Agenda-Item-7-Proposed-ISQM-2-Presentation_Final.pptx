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handoutMasterIdLst>
    <p:handoutMasterId r:id="rId29"/>
  </p:handoutMasterIdLst>
  <p:sldIdLst>
    <p:sldId id="271" r:id="rId2"/>
    <p:sldId id="273" r:id="rId3"/>
    <p:sldId id="518" r:id="rId4"/>
    <p:sldId id="277" r:id="rId5"/>
    <p:sldId id="536" r:id="rId6"/>
    <p:sldId id="539" r:id="rId7"/>
    <p:sldId id="542" r:id="rId8"/>
    <p:sldId id="544" r:id="rId9"/>
    <p:sldId id="557" r:id="rId10"/>
    <p:sldId id="550" r:id="rId11"/>
    <p:sldId id="553" r:id="rId12"/>
    <p:sldId id="556" r:id="rId13"/>
    <p:sldId id="346" r:id="rId14"/>
    <p:sldId id="562" r:id="rId15"/>
    <p:sldId id="522" r:id="rId16"/>
    <p:sldId id="529" r:id="rId17"/>
    <p:sldId id="281" r:id="rId18"/>
    <p:sldId id="524" r:id="rId19"/>
    <p:sldId id="519" r:id="rId20"/>
    <p:sldId id="526" r:id="rId21"/>
    <p:sldId id="532" r:id="rId22"/>
    <p:sldId id="559" r:id="rId23"/>
    <p:sldId id="527" r:id="rId24"/>
    <p:sldId id="528" r:id="rId25"/>
    <p:sldId id="491" r:id="rId26"/>
    <p:sldId id="294" r:id="rId27"/>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Dan Montgomery" initials="DM" lastIdx="34" clrIdx="2">
    <p:extLst>
      <p:ext uri="{19B8F6BF-5375-455C-9EA6-DF929625EA0E}">
        <p15:presenceInfo xmlns:p15="http://schemas.microsoft.com/office/powerpoint/2012/main" userId="8ba5e3d143c5e0b2" providerId="Windows Live"/>
      </p:ext>
    </p:extLst>
  </p:cmAuthor>
  <p:cmAuthor id="4" name="Jane Talatala" initials="JT" lastIdx="3" clrIdx="3">
    <p:extLst>
      <p:ext uri="{19B8F6BF-5375-455C-9EA6-DF929625EA0E}">
        <p15:presenceInfo xmlns:p15="http://schemas.microsoft.com/office/powerpoint/2012/main" userId="S::JaneTalatala@iaasb.org::0b75c357-2d7f-4a9b-be6b-0a67c58966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AA"/>
    <a:srgbClr val="808080"/>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54693" autoAdjust="0"/>
  </p:normalViewPr>
  <p:slideViewPr>
    <p:cSldViewPr snapToGrid="0" snapToObjects="1">
      <p:cViewPr varScale="1">
        <p:scale>
          <a:sx n="62" d="100"/>
          <a:sy n="62" d="100"/>
        </p:scale>
        <p:origin x="1320" y="53"/>
      </p:cViewPr>
      <p:guideLst>
        <p:guide orient="horz" pos="1620"/>
        <p:guide pos="2880"/>
      </p:guideLst>
    </p:cSldViewPr>
  </p:slideViewPr>
  <p:outlineViewPr>
    <p:cViewPr>
      <p:scale>
        <a:sx n="66" d="100"/>
        <a:sy n="66" d="100"/>
      </p:scale>
      <p:origin x="0" y="-1692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varScale="1">
        <p:scale>
          <a:sx n="65" d="100"/>
          <a:sy n="65" d="100"/>
        </p:scale>
        <p:origin x="313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Stakeholder Groups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Respondents by Stakeholder Groups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Individuals and Others</c:v>
                </c:pt>
                <c:pt idx="1">
                  <c:v>Academics</c:v>
                </c:pt>
                <c:pt idx="2">
                  <c:v>Member Bodies and Other Professional Organizations</c:v>
                </c:pt>
                <c:pt idx="3">
                  <c:v>Public Sector Organizations</c:v>
                </c:pt>
                <c:pt idx="4">
                  <c:v>Accounting Firms</c:v>
                </c:pt>
                <c:pt idx="5">
                  <c:v>National Auditing Standard Setters</c:v>
                </c:pt>
                <c:pt idx="6">
                  <c:v>Regulators and Audit Oversight Authorities</c:v>
                </c:pt>
                <c:pt idx="7">
                  <c:v>Investors and Analysts</c:v>
                </c:pt>
                <c:pt idx="8">
                  <c:v>Monitoring Group Members</c:v>
                </c:pt>
              </c:strCache>
            </c:strRef>
          </c:cat>
          <c:val>
            <c:numRef>
              <c:f>Sheet1!$B$2:$B$10</c:f>
              <c:numCache>
                <c:formatCode>General</c:formatCode>
                <c:ptCount val="9"/>
                <c:pt idx="0">
                  <c:v>2</c:v>
                </c:pt>
                <c:pt idx="1">
                  <c:v>1</c:v>
                </c:pt>
                <c:pt idx="2">
                  <c:v>36</c:v>
                </c:pt>
                <c:pt idx="3">
                  <c:v>10</c:v>
                </c:pt>
                <c:pt idx="4">
                  <c:v>25</c:v>
                </c:pt>
                <c:pt idx="5">
                  <c:v>14</c:v>
                </c:pt>
                <c:pt idx="6">
                  <c:v>5</c:v>
                </c:pt>
                <c:pt idx="7">
                  <c:v>2</c:v>
                </c:pt>
                <c:pt idx="8">
                  <c:v>4</c:v>
                </c:pt>
              </c:numCache>
            </c:numRef>
          </c:val>
          <c:extLst>
            <c:ext xmlns:c16="http://schemas.microsoft.com/office/drawing/2014/chart" uri="{C3380CC4-5D6E-409C-BE32-E72D297353CC}">
              <c16:uniqueId val="{00000000-2498-407B-AC48-1A4AA6ABA5FC}"/>
            </c:ext>
          </c:extLst>
        </c:ser>
        <c:dLbls>
          <c:dLblPos val="outEnd"/>
          <c:showLegendKey val="0"/>
          <c:showVal val="1"/>
          <c:showCatName val="0"/>
          <c:showSerName val="0"/>
          <c:showPercent val="0"/>
          <c:showBubbleSize val="0"/>
        </c:dLbls>
        <c:gapWidth val="182"/>
        <c:axId val="442194912"/>
        <c:axId val="387777296"/>
      </c:barChart>
      <c:catAx>
        <c:axId val="44219491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387777296"/>
        <c:crosses val="autoZero"/>
        <c:auto val="0"/>
        <c:lblAlgn val="ctr"/>
        <c:lblOffset val="100"/>
        <c:noMultiLvlLbl val="0"/>
      </c:catAx>
      <c:valAx>
        <c:axId val="38777729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2194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Stakeholder Groups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Respondents by Stakeholder Groups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Individuals and Others</c:v>
                </c:pt>
                <c:pt idx="1">
                  <c:v>Academics</c:v>
                </c:pt>
                <c:pt idx="2">
                  <c:v>Member Bodies and Other Professional Organizations</c:v>
                </c:pt>
                <c:pt idx="3">
                  <c:v>Public Sector Organizations</c:v>
                </c:pt>
                <c:pt idx="4">
                  <c:v>Accounting Firms</c:v>
                </c:pt>
                <c:pt idx="5">
                  <c:v>National Auditing Standard Setters</c:v>
                </c:pt>
                <c:pt idx="6">
                  <c:v>Regulators and Audit Oversight Authorities</c:v>
                </c:pt>
                <c:pt idx="7">
                  <c:v>Investors and Analysts</c:v>
                </c:pt>
                <c:pt idx="8">
                  <c:v>Monitoring Group Members</c:v>
                </c:pt>
              </c:strCache>
            </c:strRef>
          </c:cat>
          <c:val>
            <c:numRef>
              <c:f>Sheet1!$B$2:$B$10</c:f>
              <c:numCache>
                <c:formatCode>General</c:formatCode>
                <c:ptCount val="9"/>
                <c:pt idx="0">
                  <c:v>2</c:v>
                </c:pt>
                <c:pt idx="1">
                  <c:v>0</c:v>
                </c:pt>
                <c:pt idx="2">
                  <c:v>33</c:v>
                </c:pt>
                <c:pt idx="3">
                  <c:v>10</c:v>
                </c:pt>
                <c:pt idx="4">
                  <c:v>23</c:v>
                </c:pt>
                <c:pt idx="5">
                  <c:v>13</c:v>
                </c:pt>
                <c:pt idx="6">
                  <c:v>5</c:v>
                </c:pt>
                <c:pt idx="7">
                  <c:v>1</c:v>
                </c:pt>
                <c:pt idx="8">
                  <c:v>4</c:v>
                </c:pt>
              </c:numCache>
            </c:numRef>
          </c:val>
          <c:extLst>
            <c:ext xmlns:c16="http://schemas.microsoft.com/office/drawing/2014/chart" uri="{C3380CC4-5D6E-409C-BE32-E72D297353CC}">
              <c16:uniqueId val="{00000000-2498-407B-AC48-1A4AA6ABA5FC}"/>
            </c:ext>
          </c:extLst>
        </c:ser>
        <c:dLbls>
          <c:dLblPos val="outEnd"/>
          <c:showLegendKey val="0"/>
          <c:showVal val="1"/>
          <c:showCatName val="0"/>
          <c:showSerName val="0"/>
          <c:showPercent val="0"/>
          <c:showBubbleSize val="0"/>
        </c:dLbls>
        <c:gapWidth val="182"/>
        <c:axId val="442194912"/>
        <c:axId val="387777296"/>
      </c:barChart>
      <c:catAx>
        <c:axId val="44219491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387777296"/>
        <c:crosses val="autoZero"/>
        <c:auto val="0"/>
        <c:lblAlgn val="ctr"/>
        <c:lblOffset val="100"/>
        <c:noMultiLvlLbl val="0"/>
      </c:catAx>
      <c:valAx>
        <c:axId val="38777729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2194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6-84A3-4476-8F6D-F9800B3B737B}"/>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but with further comments</c:v>
                </c:pt>
                <c:pt idx="2">
                  <c:v>Disagree</c:v>
                </c:pt>
                <c:pt idx="3">
                  <c:v>Unclear or no specific response</c:v>
                </c:pt>
              </c:strCache>
            </c:strRef>
          </c:cat>
          <c:val>
            <c:numRef>
              <c:f>Sheet1!$B$2:$B$5</c:f>
              <c:numCache>
                <c:formatCode>General</c:formatCode>
                <c:ptCount val="4"/>
                <c:pt idx="0">
                  <c:v>23</c:v>
                </c:pt>
                <c:pt idx="1">
                  <c:v>55</c:v>
                </c:pt>
                <c:pt idx="2">
                  <c:v>7</c:v>
                </c:pt>
                <c:pt idx="3">
                  <c:v>14</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6-84A3-4476-8F6D-F9800B3B737B}"/>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but with further comments</c:v>
                </c:pt>
                <c:pt idx="2">
                  <c:v>Disagree</c:v>
                </c:pt>
                <c:pt idx="3">
                  <c:v>Unclear or no specific response</c:v>
                </c:pt>
              </c:strCache>
            </c:strRef>
          </c:cat>
          <c:val>
            <c:numRef>
              <c:f>Sheet1!$B$2:$B$5</c:f>
              <c:numCache>
                <c:formatCode>General</c:formatCode>
                <c:ptCount val="4"/>
                <c:pt idx="0">
                  <c:v>16</c:v>
                </c:pt>
                <c:pt idx="1">
                  <c:v>54</c:v>
                </c:pt>
                <c:pt idx="2">
                  <c:v>12</c:v>
                </c:pt>
                <c:pt idx="3">
                  <c:v>9</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6-84A3-4476-8F6D-F9800B3B737B}"/>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but with further comments</c:v>
                </c:pt>
                <c:pt idx="2">
                  <c:v>Disagree</c:v>
                </c:pt>
                <c:pt idx="3">
                  <c:v>Unclear or no specific response</c:v>
                </c:pt>
              </c:strCache>
            </c:strRef>
          </c:cat>
          <c:val>
            <c:numRef>
              <c:f>Sheet1!$B$2:$B$5</c:f>
              <c:numCache>
                <c:formatCode>General</c:formatCode>
                <c:ptCount val="4"/>
                <c:pt idx="0">
                  <c:v>16</c:v>
                </c:pt>
                <c:pt idx="1">
                  <c:v>35</c:v>
                </c:pt>
                <c:pt idx="2">
                  <c:v>26</c:v>
                </c:pt>
                <c:pt idx="3">
                  <c:v>14</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8C749C1-C883-4DFB-9C5B-4E3228FCEF81}">
      <dgm:prSet phldrT="[Text]" custT="1"/>
      <dgm:spPr>
        <a:solidFill>
          <a:srgbClr val="005BAA"/>
        </a:solidFill>
      </dgm:spPr>
      <dgm:t>
        <a:bodyPr/>
        <a:lstStyle/>
        <a:p>
          <a:pPr algn="ctr"/>
          <a:r>
            <a:rPr lang="en-US" sz="2000" b="1" dirty="0">
              <a:latin typeface="Arial" panose="020B0604020202020204" pitchFamily="34" charset="0"/>
              <a:cs typeface="Arial" panose="020B0604020202020204" pitchFamily="34" charset="0"/>
            </a:rPr>
            <a:t>1. Scope of Engagements Subject to EQ Review</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4E57C338-51D3-4B1F-B4F8-9C66609F5D9E}">
      <dgm:prSet phldrT="[Text]" custT="1"/>
      <dgm:spPr>
        <a:solidFill>
          <a:schemeClr val="bg1">
            <a:lumMod val="50000"/>
          </a:schemeClr>
        </a:solidFill>
      </dgm:spPr>
      <dgm:t>
        <a:bodyPr/>
        <a:lstStyle/>
        <a:p>
          <a:r>
            <a:rPr lang="en-US" sz="2000" b="1" dirty="0">
              <a:latin typeface="Arial" panose="020B0604020202020204" pitchFamily="34" charset="0"/>
              <a:cs typeface="Arial" panose="020B0604020202020204" pitchFamily="34" charset="0"/>
            </a:rPr>
            <a:t>2. Objectivity and Cooling-off Period</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F2318C3E-10F9-4BC8-99F4-A3AF8D1D7150}" type="pres">
      <dgm:prSet presAssocID="{62E99C36-7D1C-4387-AF44-E7FCB3F4E37E}" presName="diagram" presStyleCnt="0">
        <dgm:presLayoutVars>
          <dgm:dir/>
          <dgm:resizeHandles val="exact"/>
        </dgm:presLayoutVars>
      </dgm:prSet>
      <dgm:spPr/>
    </dgm:pt>
    <dgm:pt modelId="{B1BD8CE7-C8A6-4C7C-8241-DCD3520C3BAF}" type="pres">
      <dgm:prSet presAssocID="{78C749C1-C883-4DFB-9C5B-4E3228FCEF81}" presName="node" presStyleLbl="node1" presStyleIdx="0" presStyleCnt="2">
        <dgm:presLayoutVars>
          <dgm:bulletEnabled val="1"/>
        </dgm:presLayoutVars>
      </dgm:prSet>
      <dgm:spPr/>
    </dgm:pt>
    <dgm:pt modelId="{41EEBF90-6B61-4922-A150-77C658C44CA0}" type="pres">
      <dgm:prSet presAssocID="{DC6BC910-A94E-4716-881B-63FEF61AA658}" presName="sibTrans" presStyleCnt="0"/>
      <dgm:spPr/>
    </dgm:pt>
    <dgm:pt modelId="{E630A20F-770E-4E25-A30C-BB5415705EC8}" type="pres">
      <dgm:prSet presAssocID="{4E57C338-51D3-4B1F-B4F8-9C66609F5D9E}" presName="node" presStyleLbl="node1" presStyleIdx="1" presStyleCnt="2">
        <dgm:presLayoutVars>
          <dgm:bulletEnabled val="1"/>
        </dgm:presLayoutVars>
      </dgm:prSet>
      <dgm:spPr/>
    </dgm:pt>
  </dgm:ptLst>
  <dgm:cxnLst>
    <dgm:cxn modelId="{75622C04-480A-44DC-AF71-FE07A2C6FED9}" type="presOf" srcId="{4E57C338-51D3-4B1F-B4F8-9C66609F5D9E}" destId="{E630A20F-770E-4E25-A30C-BB5415705EC8}" srcOrd="0" destOrd="0" presId="urn:microsoft.com/office/officeart/2005/8/layout/default"/>
    <dgm:cxn modelId="{51B4E00C-0A62-46FC-8341-59DC5FCEE371}" type="presOf" srcId="{78C749C1-C883-4DFB-9C5B-4E3228FCEF81}" destId="{B1BD8CE7-C8A6-4C7C-8241-DCD3520C3BAF}" srcOrd="0" destOrd="0" presId="urn:microsoft.com/office/officeart/2005/8/layout/default"/>
    <dgm:cxn modelId="{BB8F9127-6199-4C01-BC50-348447405C04}" srcId="{62E99C36-7D1C-4387-AF44-E7FCB3F4E37E}" destId="{4E57C338-51D3-4B1F-B4F8-9C66609F5D9E}" srcOrd="1" destOrd="0" parTransId="{ADC42DB5-B686-4B81-9DDE-65AA6D8D786E}" sibTransId="{41425E7F-A94C-4EE9-8688-3D40A29C50CF}"/>
    <dgm:cxn modelId="{C1EA6960-D01B-4872-AF8D-E46506D1E362}" srcId="{62E99C36-7D1C-4387-AF44-E7FCB3F4E37E}" destId="{78C749C1-C883-4DFB-9C5B-4E3228FCEF81}" srcOrd="0" destOrd="0" parTransId="{C652904B-26BE-45F0-9E8B-D5236E1D1B4C}" sibTransId="{DC6BC910-A94E-4716-881B-63FEF61AA658}"/>
    <dgm:cxn modelId="{DEDD5951-B788-49F7-93C3-CD69455561CB}" type="presOf" srcId="{62E99C36-7D1C-4387-AF44-E7FCB3F4E37E}" destId="{F2318C3E-10F9-4BC8-99F4-A3AF8D1D7150}" srcOrd="0" destOrd="0" presId="urn:microsoft.com/office/officeart/2005/8/layout/default"/>
    <dgm:cxn modelId="{6754DF4E-E6DA-44B4-88B2-483D8A58B923}" type="presParOf" srcId="{F2318C3E-10F9-4BC8-99F4-A3AF8D1D7150}" destId="{B1BD8CE7-C8A6-4C7C-8241-DCD3520C3BAF}" srcOrd="0" destOrd="0" presId="urn:microsoft.com/office/officeart/2005/8/layout/default"/>
    <dgm:cxn modelId="{8B99F33E-E7F1-4754-AB57-B36184988CD5}" type="presParOf" srcId="{F2318C3E-10F9-4BC8-99F4-A3AF8D1D7150}" destId="{41EEBF90-6B61-4922-A150-77C658C44CA0}" srcOrd="1" destOrd="0" presId="urn:microsoft.com/office/officeart/2005/8/layout/default"/>
    <dgm:cxn modelId="{F5CD138D-0EDD-4E67-AF9E-C638B2DADC56}" type="presParOf" srcId="{F2318C3E-10F9-4BC8-99F4-A3AF8D1D7150}" destId="{E630A20F-770E-4E25-A30C-BB5415705EC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D8CE7-C8A6-4C7C-8241-DCD3520C3BAF}">
      <dsp:nvSpPr>
        <dsp:cNvPr id="0" name=""/>
        <dsp:cNvSpPr/>
      </dsp:nvSpPr>
      <dsp:spPr>
        <a:xfrm>
          <a:off x="1018" y="689691"/>
          <a:ext cx="3972315" cy="2383389"/>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1. Scope of Engagements Subject to EQ Review</a:t>
          </a:r>
        </a:p>
      </dsp:txBody>
      <dsp:txXfrm>
        <a:off x="1018" y="689691"/>
        <a:ext cx="3972315" cy="2383389"/>
      </dsp:txXfrm>
    </dsp:sp>
    <dsp:sp modelId="{E630A20F-770E-4E25-A30C-BB5415705EC8}">
      <dsp:nvSpPr>
        <dsp:cNvPr id="0" name=""/>
        <dsp:cNvSpPr/>
      </dsp:nvSpPr>
      <dsp:spPr>
        <a:xfrm>
          <a:off x="4370565" y="689691"/>
          <a:ext cx="3972315" cy="2383389"/>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2. Objectivity and Cooling-off Period</a:t>
          </a:r>
        </a:p>
      </dsp:txBody>
      <dsp:txXfrm>
        <a:off x="4370565" y="689691"/>
        <a:ext cx="3972315" cy="23833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9/17/2019</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9/17/2019</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ifac.org/publications-resources/iaasb-quality-management-webcast-serie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just">
              <a:lnSpc>
                <a:spcPts val="1400"/>
              </a:lnSpc>
              <a:spcBef>
                <a:spcPts val="600"/>
              </a:spcBef>
              <a:spcAft>
                <a:spcPts val="0"/>
              </a:spcAft>
            </a:pPr>
            <a:r>
              <a:rPr lang="en-US" sz="1000" b="1" i="1" baseline="0" dirty="0">
                <a:latin typeface="Arial" panose="020B0604020202020204" pitchFamily="34" charset="0"/>
                <a:cs typeface="Arial" panose="020B0604020202020204" pitchFamily="34" charset="0"/>
              </a:rPr>
              <a:t>Introduce TF members and Staff support.</a:t>
            </a:r>
          </a:p>
          <a:p>
            <a:pPr marL="0" indent="-347472" algn="just">
              <a:lnSpc>
                <a:spcPts val="1400"/>
              </a:lnSpc>
              <a:spcBef>
                <a:spcPts val="600"/>
              </a:spcBef>
              <a:spcAft>
                <a:spcPts val="0"/>
              </a:spcAft>
            </a:pPr>
            <a:r>
              <a:rPr lang="en-US" sz="1000" b="1" baseline="0" dirty="0">
                <a:latin typeface="Arial" panose="020B0604020202020204" pitchFamily="34" charset="0"/>
                <a:cs typeface="Arial" panose="020B0604020202020204" pitchFamily="34" charset="0"/>
              </a:rPr>
              <a:t>Task Force Members</a:t>
            </a:r>
          </a:p>
          <a:p>
            <a:pPr marL="347472" lvl="0" indent="-347472" algn="jus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Imran Vanker, Chair</a:t>
            </a:r>
          </a:p>
          <a:p>
            <a:pPr marL="347472" lvl="0" indent="-347472" algn="just" fontAlgn="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Fernando Ruiz Monroy</a:t>
            </a:r>
          </a:p>
          <a:p>
            <a:pPr marL="347472" lvl="0" indent="-347472" algn="just" fontAlgn="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Sara Ashton</a:t>
            </a:r>
          </a:p>
          <a:p>
            <a:pPr marL="352044" lvl="0" indent="-347472" algn="just" fontAlgn="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Jamie Shannon</a:t>
            </a:r>
          </a:p>
          <a:p>
            <a:pPr marL="0" indent="-347472" algn="just">
              <a:lnSpc>
                <a:spcPts val="1400"/>
              </a:lnSpc>
              <a:spcBef>
                <a:spcPts val="600"/>
              </a:spcBef>
              <a:spcAft>
                <a:spcPts val="0"/>
              </a:spcAft>
            </a:pPr>
            <a:r>
              <a:rPr lang="en-US" sz="1000" b="1" baseline="0" dirty="0">
                <a:latin typeface="Arial" panose="020B0604020202020204" pitchFamily="34" charset="0"/>
                <a:cs typeface="Arial" panose="020B0604020202020204" pitchFamily="34" charset="0"/>
              </a:rPr>
              <a:t>Staff</a:t>
            </a:r>
          </a:p>
          <a:p>
            <a:pPr marL="352044" lvl="0" indent="-347472" algn="just" fontAlgn="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Dan Montgomery</a:t>
            </a:r>
          </a:p>
          <a:p>
            <a:pPr marL="352044" lvl="0" indent="-347472" algn="just" fontAlgn="t">
              <a:lnSpc>
                <a:spcPts val="1400"/>
              </a:lnSpc>
              <a:spcBef>
                <a:spcPts val="600"/>
              </a:spcBef>
              <a:spcAft>
                <a:spcPts val="0"/>
              </a:spcAft>
              <a:buFont typeface="Arial" panose="020B0604020202020204" pitchFamily="34" charset="0"/>
              <a:buChar char="•"/>
            </a:pPr>
            <a:r>
              <a:rPr lang="en-US" sz="1000" baseline="0" dirty="0">
                <a:latin typeface="Arial" panose="020B0604020202020204" pitchFamily="34" charset="0"/>
                <a:cs typeface="Arial" panose="020B0604020202020204" pitchFamily="34" charset="0"/>
              </a:rPr>
              <a:t>Hankenson Jane Talatala</a:t>
            </a:r>
          </a:p>
          <a:p>
            <a:pPr algn="just">
              <a:lnSpc>
                <a:spcPts val="1400"/>
              </a:lnSpc>
              <a:spcBef>
                <a:spcPts val="600"/>
              </a:spcBef>
              <a:spcAft>
                <a:spcPts val="0"/>
              </a:spcAft>
            </a:pPr>
            <a:r>
              <a:rPr lang="en-US" sz="1000" b="1" i="1" baseline="0" dirty="0">
                <a:latin typeface="Arial" panose="020B0604020202020204" pitchFamily="34" charset="0"/>
                <a:cs typeface="Arial" panose="020B0604020202020204" pitchFamily="34" charset="0"/>
              </a:rPr>
              <a:t>A story about…</a:t>
            </a:r>
          </a:p>
          <a:p>
            <a:pPr algn="just">
              <a:lnSpc>
                <a:spcPts val="1400"/>
              </a:lnSpc>
              <a:spcBef>
                <a:spcPts val="600"/>
              </a:spcBef>
              <a:spcAft>
                <a:spcPts val="0"/>
              </a:spcAft>
            </a:pPr>
            <a:r>
              <a:rPr lang="en-US" sz="1000" b="1" i="1" baseline="0" dirty="0">
                <a:latin typeface="Arial" panose="020B0604020202020204" pitchFamily="34" charset="0"/>
                <a:cs typeface="Arial" panose="020B0604020202020204" pitchFamily="34" charset="0"/>
              </a:rPr>
              <a:t>Mention coordination and outreach.</a:t>
            </a:r>
          </a:p>
          <a:p>
            <a:pPr algn="just">
              <a:lnSpc>
                <a:spcPts val="1400"/>
              </a:lnSpc>
              <a:spcBef>
                <a:spcPts val="600"/>
              </a:spcBef>
              <a:spcAft>
                <a:spcPts val="0"/>
              </a:spcAft>
            </a:pPr>
            <a:r>
              <a:rPr lang="en-US" sz="1000" b="1" kern="1200" baseline="0" dirty="0">
                <a:solidFill>
                  <a:schemeClr val="tx1"/>
                </a:solidFill>
                <a:effectLst/>
                <a:latin typeface="Arial" panose="020B0604020202020204" pitchFamily="34" charset="0"/>
                <a:ea typeface="+mn-ea"/>
                <a:cs typeface="Arial" panose="020B0604020202020204" pitchFamily="34" charset="0"/>
              </a:rPr>
              <a:t>Task Force Activities in the Second Quarter of 2019</a:t>
            </a:r>
            <a:endParaRPr lang="en-US" sz="1000" kern="1200" baseline="0" dirty="0">
              <a:solidFill>
                <a:schemeClr val="tx1"/>
              </a:solidFill>
              <a:effectLst/>
              <a:latin typeface="Arial" panose="020B0604020202020204" pitchFamily="34" charset="0"/>
              <a:ea typeface="+mn-ea"/>
              <a:cs typeface="Arial" panose="020B0604020202020204" pitchFamily="34" charset="0"/>
            </a:endParaRPr>
          </a:p>
          <a:p>
            <a:pPr marL="347472" lvl="0" indent="-347472" algn="just">
              <a:lnSpc>
                <a:spcPts val="1400"/>
              </a:lnSpc>
              <a:spcBef>
                <a:spcPts val="600"/>
              </a:spcBef>
              <a:spcAft>
                <a:spcPts val="0"/>
              </a:spcAft>
              <a:buFont typeface="Arial" panose="020B0604020202020204" pitchFamily="34" charset="0"/>
              <a:buChar char="•"/>
            </a:pPr>
            <a:r>
              <a:rPr lang="en-US" sz="1000" kern="1200" baseline="0" dirty="0">
                <a:solidFill>
                  <a:schemeClr val="tx1"/>
                </a:solidFill>
                <a:effectLst/>
                <a:latin typeface="Arial" panose="020B0604020202020204" pitchFamily="34" charset="0"/>
                <a:ea typeface="+mn-ea"/>
                <a:cs typeface="Arial" panose="020B0604020202020204" pitchFamily="34" charset="0"/>
              </a:rPr>
              <a:t>In Q2, the TF Chair presented, jointly with the ISA 220 TF Chair, a </a:t>
            </a:r>
            <a:r>
              <a:rPr lang="en-US" sz="1000" u="sng" kern="1200" baseline="0" dirty="0">
                <a:solidFill>
                  <a:schemeClr val="tx1"/>
                </a:solidFill>
                <a:effectLst/>
                <a:latin typeface="Arial" panose="020B0604020202020204" pitchFamily="34" charset="0"/>
                <a:ea typeface="+mn-ea"/>
                <a:cs typeface="Arial" panose="020B0604020202020204" pitchFamily="34" charset="0"/>
                <a:hlinkClick r:id="rId3"/>
              </a:rPr>
              <a:t>webcast</a:t>
            </a:r>
            <a:r>
              <a:rPr lang="en-US" sz="1000" kern="1200" baseline="0" dirty="0">
                <a:solidFill>
                  <a:schemeClr val="tx1"/>
                </a:solidFill>
                <a:effectLst/>
                <a:latin typeface="Arial" panose="020B0604020202020204" pitchFamily="34" charset="0"/>
                <a:ea typeface="+mn-ea"/>
                <a:cs typeface="Arial" panose="020B0604020202020204" pitchFamily="34" charset="0"/>
              </a:rPr>
              <a:t> providing an </a:t>
            </a:r>
            <a:r>
              <a:rPr lang="en-US" sz="1000" b="1" kern="1200" baseline="0" dirty="0">
                <a:solidFill>
                  <a:schemeClr val="tx1"/>
                </a:solidFill>
                <a:effectLst/>
                <a:latin typeface="Arial" panose="020B0604020202020204" pitchFamily="34" charset="0"/>
                <a:ea typeface="+mn-ea"/>
                <a:cs typeface="Arial" panose="020B0604020202020204" pitchFamily="34" charset="0"/>
              </a:rPr>
              <a:t>overview of quality management for audit engagements and EQ reviews.</a:t>
            </a:r>
            <a:endParaRPr lang="en-US" sz="1000" kern="1200" baseline="0" dirty="0">
              <a:solidFill>
                <a:schemeClr val="tx1"/>
              </a:solidFill>
              <a:effectLst/>
              <a:latin typeface="Arial" panose="020B0604020202020204" pitchFamily="34" charset="0"/>
              <a:ea typeface="+mn-ea"/>
              <a:cs typeface="Arial" panose="020B0604020202020204" pitchFamily="34" charset="0"/>
            </a:endParaRPr>
          </a:p>
          <a:p>
            <a:pPr algn="just">
              <a:lnSpc>
                <a:spcPts val="1400"/>
              </a:lnSpc>
              <a:spcBef>
                <a:spcPts val="600"/>
              </a:spcBef>
              <a:spcAft>
                <a:spcPts val="0"/>
              </a:spcAft>
            </a:pPr>
            <a:r>
              <a:rPr lang="en-US" sz="1000" b="1" kern="1200" baseline="0" dirty="0">
                <a:solidFill>
                  <a:schemeClr val="tx1"/>
                </a:solidFill>
                <a:effectLst/>
                <a:latin typeface="Arial" panose="020B0604020202020204" pitchFamily="34" charset="0"/>
                <a:ea typeface="+mn-ea"/>
                <a:cs typeface="Arial" panose="020B0604020202020204" pitchFamily="34" charset="0"/>
              </a:rPr>
              <a:t>Task Force Activities in the Third Quarter of 2019</a:t>
            </a:r>
            <a:endParaRPr lang="en-US" sz="1000" kern="1200" baseline="0" dirty="0">
              <a:solidFill>
                <a:schemeClr val="tx1"/>
              </a:solidFill>
              <a:effectLst/>
              <a:latin typeface="Arial" panose="020B0604020202020204" pitchFamily="34" charset="0"/>
              <a:ea typeface="+mn-ea"/>
              <a:cs typeface="Arial" panose="020B0604020202020204" pitchFamily="34" charset="0"/>
            </a:endParaRPr>
          </a:p>
          <a:p>
            <a:pPr marL="347472" lvl="0" indent="-347472" algn="just">
              <a:lnSpc>
                <a:spcPts val="1400"/>
              </a:lnSpc>
              <a:spcBef>
                <a:spcPts val="600"/>
              </a:spcBef>
              <a:spcAft>
                <a:spcPts val="0"/>
              </a:spcAft>
              <a:buFont typeface="Arial" panose="020B0604020202020204" pitchFamily="34" charset="0"/>
              <a:buChar char="•"/>
            </a:pPr>
            <a:r>
              <a:rPr lang="en-US" sz="1000" kern="1200" baseline="0" dirty="0">
                <a:solidFill>
                  <a:schemeClr val="tx1"/>
                </a:solidFill>
                <a:effectLst/>
                <a:latin typeface="Arial" panose="020B0604020202020204" pitchFamily="34" charset="0"/>
                <a:ea typeface="+mn-ea"/>
                <a:cs typeface="Arial" panose="020B0604020202020204" pitchFamily="34" charset="0"/>
              </a:rPr>
              <a:t>In Q3, the TF held one teleconference and met once in person to identify and discuss in depth the key issues and other concerns arising from the comment letters and develop the TF’s initial thoughts and recommendations for the IAASB’s consideration.</a:t>
            </a:r>
          </a:p>
          <a:p>
            <a:pPr algn="just">
              <a:lnSpc>
                <a:spcPts val="1400"/>
              </a:lnSpc>
              <a:spcBef>
                <a:spcPts val="600"/>
              </a:spcBef>
              <a:spcAft>
                <a:spcPts val="0"/>
              </a:spcAft>
            </a:pPr>
            <a:r>
              <a:rPr lang="en-US" sz="1000" b="1" kern="1200" baseline="0" dirty="0">
                <a:solidFill>
                  <a:schemeClr val="tx1"/>
                </a:solidFill>
                <a:effectLst/>
                <a:latin typeface="Arial" panose="020B0604020202020204" pitchFamily="34" charset="0"/>
                <a:ea typeface="+mn-ea"/>
                <a:cs typeface="Arial" panose="020B0604020202020204" pitchFamily="34" charset="0"/>
              </a:rPr>
              <a:t>Coordination with Other IAASB Task Forces and Working Groups</a:t>
            </a:r>
            <a:r>
              <a:rPr lang="en-US" sz="1000" kern="1200" baseline="0" dirty="0">
                <a:solidFill>
                  <a:schemeClr val="tx1"/>
                </a:solidFill>
                <a:effectLst/>
                <a:latin typeface="Arial" panose="020B0604020202020204" pitchFamily="34" charset="0"/>
                <a:ea typeface="+mn-ea"/>
                <a:cs typeface="Arial" panose="020B0604020202020204" pitchFamily="34" charset="0"/>
              </a:rPr>
              <a:t> </a:t>
            </a:r>
            <a:r>
              <a:rPr lang="en-US" sz="1000" b="1" kern="1200" baseline="0" dirty="0">
                <a:solidFill>
                  <a:schemeClr val="tx1"/>
                </a:solidFill>
                <a:effectLst/>
                <a:latin typeface="Arial" panose="020B0604020202020204" pitchFamily="34" charset="0"/>
                <a:ea typeface="+mn-ea"/>
                <a:cs typeface="Arial" panose="020B0604020202020204" pitchFamily="34" charset="0"/>
              </a:rPr>
              <a:t>and Other Standard Setting Boards</a:t>
            </a:r>
            <a:endParaRPr lang="en-US" sz="1000" kern="1200" baseline="0" dirty="0">
              <a:solidFill>
                <a:schemeClr val="tx1"/>
              </a:solidFill>
              <a:effectLst/>
              <a:latin typeface="Arial" panose="020B0604020202020204" pitchFamily="34" charset="0"/>
              <a:ea typeface="+mn-ea"/>
              <a:cs typeface="Arial" panose="020B0604020202020204" pitchFamily="34" charset="0"/>
            </a:endParaRPr>
          </a:p>
          <a:p>
            <a:pPr algn="just">
              <a:lnSpc>
                <a:spcPts val="1400"/>
              </a:lnSpc>
              <a:spcBef>
                <a:spcPts val="600"/>
              </a:spcBef>
              <a:spcAft>
                <a:spcPts val="0"/>
              </a:spcAft>
            </a:pPr>
            <a:r>
              <a:rPr lang="en-US" sz="1000" i="1" kern="1200" baseline="0" dirty="0">
                <a:solidFill>
                  <a:schemeClr val="tx1"/>
                </a:solidFill>
                <a:effectLst/>
                <a:latin typeface="Arial" panose="020B0604020202020204" pitchFamily="34" charset="0"/>
                <a:ea typeface="+mn-ea"/>
                <a:cs typeface="Arial" panose="020B0604020202020204" pitchFamily="34" charset="0"/>
              </a:rPr>
              <a:t>IAASB Task Forces – ISQM 1 TF, ISA 220 TF and ISA 600 TF</a:t>
            </a:r>
            <a:endParaRPr lang="en-US" sz="1000" kern="1200" baseline="0" dirty="0">
              <a:solidFill>
                <a:schemeClr val="tx1"/>
              </a:solidFill>
              <a:effectLst/>
              <a:latin typeface="Arial" panose="020B0604020202020204" pitchFamily="34" charset="0"/>
              <a:ea typeface="+mn-ea"/>
              <a:cs typeface="Arial" panose="020B0604020202020204" pitchFamily="34" charset="0"/>
            </a:endParaRPr>
          </a:p>
          <a:p>
            <a:pPr marL="347472" lvl="0" indent="-347472" algn="just">
              <a:lnSpc>
                <a:spcPts val="1400"/>
              </a:lnSpc>
              <a:spcBef>
                <a:spcPts val="600"/>
              </a:spcBef>
              <a:spcAft>
                <a:spcPts val="0"/>
              </a:spcAft>
              <a:buFont typeface="Arial" panose="020B0604020202020204" pitchFamily="34" charset="0"/>
              <a:buChar char="•"/>
            </a:pPr>
            <a:r>
              <a:rPr lang="en-US" sz="1000" kern="1200" baseline="0" dirty="0">
                <a:solidFill>
                  <a:schemeClr val="tx1"/>
                </a:solidFill>
                <a:effectLst/>
                <a:latin typeface="Arial" panose="020B0604020202020204" pitchFamily="34" charset="0"/>
                <a:ea typeface="+mn-ea"/>
                <a:cs typeface="Arial" panose="020B0604020202020204" pitchFamily="34" charset="0"/>
              </a:rPr>
              <a:t>In light of the interaction between ISA 600 and the three quality management projects, the ISA 600 TF Chair has joined the QM Chairs coordination group.</a:t>
            </a:r>
          </a:p>
          <a:p>
            <a:pPr marL="347472" lvl="0" indent="-347472" algn="just">
              <a:lnSpc>
                <a:spcPts val="1400"/>
              </a:lnSpc>
              <a:spcBef>
                <a:spcPts val="600"/>
              </a:spcBef>
              <a:spcAft>
                <a:spcPts val="0"/>
              </a:spcAft>
              <a:buFont typeface="Arial" panose="020B0604020202020204" pitchFamily="34" charset="0"/>
              <a:buChar char="•"/>
            </a:pPr>
            <a:r>
              <a:rPr lang="en-US" sz="1000" kern="1200" baseline="0" dirty="0">
                <a:solidFill>
                  <a:schemeClr val="tx1"/>
                </a:solidFill>
                <a:effectLst/>
                <a:latin typeface="Arial" panose="020B0604020202020204" pitchFamily="34" charset="0"/>
                <a:ea typeface="+mn-ea"/>
                <a:cs typeface="Arial" panose="020B0604020202020204" pitchFamily="34" charset="0"/>
              </a:rPr>
              <a:t>In Q3, the Chairs of the four TFs and Staff held two teleconferences. Further coordination has also been facilitated through Staff liaison on specific matters.</a:t>
            </a:r>
          </a:p>
          <a:p>
            <a:pPr marL="347472" lvl="0" indent="-347472" algn="just">
              <a:lnSpc>
                <a:spcPts val="1400"/>
              </a:lnSpc>
              <a:spcBef>
                <a:spcPts val="600"/>
              </a:spcBef>
              <a:spcAft>
                <a:spcPts val="0"/>
              </a:spcAft>
              <a:buFont typeface="Arial" panose="020B0604020202020204" pitchFamily="34" charset="0"/>
              <a:buChar char="•"/>
            </a:pPr>
            <a:r>
              <a:rPr lang="en-US" sz="1000" kern="1200" baseline="0" dirty="0">
                <a:solidFill>
                  <a:schemeClr val="tx1"/>
                </a:solidFill>
                <a:effectLst/>
                <a:latin typeface="Arial" panose="020B0604020202020204" pitchFamily="34" charset="0"/>
                <a:ea typeface="+mn-ea"/>
                <a:cs typeface="Arial" panose="020B0604020202020204" pitchFamily="34" charset="0"/>
              </a:rPr>
              <a:t>The four TF Chairs also met during at this September 2019 IAASB meeting.</a:t>
            </a:r>
            <a:endParaRPr lang="en-US" sz="1000" baseline="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just">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First part, 12 slides of respondents’ feedback and 1 slide of CAG representatives’ feedback.</a:t>
            </a:r>
          </a:p>
          <a:p>
            <a:pPr marL="347472" indent="-347472" algn="just">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Second part, 4 slides re:</a:t>
            </a:r>
            <a:r>
              <a:rPr lang="en-US" sz="1000" baseline="0" dirty="0">
                <a:latin typeface="Arial" panose="020B0604020202020204" pitchFamily="34" charset="0"/>
                <a:cs typeface="Arial" panose="020B0604020202020204" pitchFamily="34" charset="0"/>
              </a:rPr>
              <a:t> scope of engagements subject to an EQ review.</a:t>
            </a:r>
          </a:p>
          <a:p>
            <a:pPr marL="347472" indent="-347472" algn="just">
              <a:lnSpc>
                <a:spcPts val="1400"/>
              </a:lnSpc>
              <a:spcBef>
                <a:spcPts val="600"/>
              </a:spcBef>
              <a:buFont typeface="Arial" panose="020B0604020202020204" pitchFamily="34" charset="0"/>
              <a:buChar char="•"/>
            </a:pPr>
            <a:r>
              <a:rPr lang="en-US" sz="1000" baseline="0" dirty="0">
                <a:latin typeface="Arial" panose="020B0604020202020204" pitchFamily="34" charset="0"/>
                <a:cs typeface="Arial" panose="020B0604020202020204" pitchFamily="34" charset="0"/>
              </a:rPr>
              <a:t>Third part, 6 slides re: Objectivity and cooling-off period.</a:t>
            </a: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27530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pPr>
            <a:r>
              <a:rPr lang="en-US" sz="1000" dirty="0">
                <a:latin typeface="Arial" panose="020B0604020202020204" pitchFamily="34" charset="0"/>
                <a:cs typeface="Arial" panose="020B0604020202020204" pitchFamily="34" charset="0"/>
              </a:rPr>
              <a:t>Very similar range and distribution of responses compared to ED-ISQM</a:t>
            </a:r>
            <a:r>
              <a:rPr lang="en-US" sz="1000" baseline="0" dirty="0">
                <a:latin typeface="Arial" panose="020B0604020202020204" pitchFamily="34" charset="0"/>
                <a:cs typeface="Arial" panose="020B0604020202020204" pitchFamily="34" charset="0"/>
              </a:rPr>
              <a:t> 2 and ED-ISA 220.</a:t>
            </a: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1006543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pPr>
            <a:r>
              <a:rPr lang="en-US" sz="1000" dirty="0">
                <a:latin typeface="Arial" panose="020B0604020202020204" pitchFamily="34" charset="0"/>
                <a:cs typeface="Arial" panose="020B0604020202020204" pitchFamily="34" charset="0"/>
              </a:rPr>
              <a:t>Very similar range and distribution of responses compared to ED-ISQM</a:t>
            </a:r>
            <a:r>
              <a:rPr lang="en-US" sz="1000" baseline="0" dirty="0">
                <a:latin typeface="Arial" panose="020B0604020202020204" pitchFamily="34" charset="0"/>
                <a:cs typeface="Arial" panose="020B0604020202020204" pitchFamily="34" charset="0"/>
              </a:rPr>
              <a:t> 1 and ED-ISA 220.</a:t>
            </a: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1350307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latin typeface="Arial" panose="020B0604020202020204" pitchFamily="34" charset="0"/>
                <a:cs typeface="Arial" panose="020B0604020202020204" pitchFamily="34" charset="0"/>
              </a:rPr>
              <a:t>ED-ISQM 2 Q1:</a:t>
            </a:r>
            <a:r>
              <a:rPr lang="en-US" sz="1000" i="1" baseline="0" dirty="0">
                <a:latin typeface="Arial" panose="020B0604020202020204" pitchFamily="34" charset="0"/>
                <a:cs typeface="Arial" panose="020B0604020202020204" pitchFamily="34" charset="0"/>
              </a:rPr>
              <a:t> </a:t>
            </a:r>
            <a:r>
              <a:rPr lang="en-US" sz="1000" i="1" dirty="0">
                <a:latin typeface="Arial" panose="020B0604020202020204" pitchFamily="34" charset="0"/>
                <a:cs typeface="Arial" panose="020B0604020202020204" pitchFamily="34" charset="0"/>
              </a:rPr>
              <a:t>Do you support a separate standard for engagement quality reviews? In particular, do you agree that ED-ISQM 1 should deal with the engagements for which an engagement quality review is to be performed, and ED-ISQM 2 should deal with the remaining aspects of engagement quality reviews?</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dirty="0">
                <a:solidFill>
                  <a:schemeClr val="tx1">
                    <a:lumMod val="65000"/>
                    <a:lumOff val="35000"/>
                  </a:schemeClr>
                </a:solidFill>
                <a:latin typeface="Arial" panose="020B0604020202020204" pitchFamily="34" charset="0"/>
                <a:cs typeface="Arial" panose="020B0604020202020204" pitchFamily="34" charset="0"/>
              </a:rPr>
              <a:t>Support for a separate standard for an EQ review</a:t>
            </a:r>
            <a:endParaRPr lang="en-US" sz="1000" b="0"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000" b="0" i="0" dirty="0">
                <a:solidFill>
                  <a:schemeClr val="tx1">
                    <a:lumMod val="65000"/>
                    <a:lumOff val="35000"/>
                  </a:schemeClr>
                </a:solidFill>
                <a:latin typeface="Arial" panose="020B0604020202020204" pitchFamily="34" charset="0"/>
                <a:cs typeface="Arial" panose="020B0604020202020204" pitchFamily="34" charset="0"/>
              </a:rPr>
              <a:t>Separate standard for EQ review increases the focus on an EQ review as a firm-level response to assessed quality risks.</a:t>
            </a:r>
          </a:p>
          <a:p>
            <a:pPr marL="694944" indent="-342900" algn="just">
              <a:lnSpc>
                <a:spcPts val="2400"/>
              </a:lnSpc>
              <a:spcBef>
                <a:spcPts val="600"/>
              </a:spcBef>
              <a:spcAft>
                <a:spcPts val="0"/>
              </a:spcAft>
              <a:buFont typeface="Courier New" panose="02070309020205020404" pitchFamily="49" charset="0"/>
              <a:buChar char="o"/>
            </a:pPr>
            <a:r>
              <a:rPr lang="en-US" sz="1000" b="0" i="0" dirty="0">
                <a:solidFill>
                  <a:schemeClr val="tx1">
                    <a:lumMod val="65000"/>
                    <a:lumOff val="35000"/>
                  </a:schemeClr>
                </a:solidFill>
                <a:latin typeface="Arial" panose="020B0604020202020204" pitchFamily="34" charset="0"/>
                <a:cs typeface="Arial" panose="020B0604020202020204" pitchFamily="34" charset="0"/>
              </a:rPr>
              <a:t>Helps to clearly differentiate the roles of the firm and the EQ reviewer, and highlights the importance of the EQ reviewer’s responsibilities.</a:t>
            </a:r>
          </a:p>
          <a:p>
            <a:pPr marL="694944" indent="-342900" algn="just">
              <a:lnSpc>
                <a:spcPts val="2400"/>
              </a:lnSpc>
              <a:spcBef>
                <a:spcPts val="600"/>
              </a:spcBef>
              <a:spcAft>
                <a:spcPts val="0"/>
              </a:spcAft>
              <a:buFont typeface="Courier New" panose="02070309020205020404" pitchFamily="49" charset="0"/>
              <a:buChar char="o"/>
            </a:pPr>
            <a:r>
              <a:rPr lang="en-US" sz="1000" b="0" i="0" dirty="0">
                <a:solidFill>
                  <a:schemeClr val="tx1">
                    <a:lumMod val="65000"/>
                    <a:lumOff val="35000"/>
                  </a:schemeClr>
                </a:solidFill>
                <a:latin typeface="Arial" panose="020B0604020202020204" pitchFamily="34" charset="0"/>
                <a:cs typeface="Arial" panose="020B0604020202020204" pitchFamily="34" charset="0"/>
              </a:rPr>
              <a:t>Enhances the </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requirements</a:t>
            </a:r>
            <a:r>
              <a:rPr lang="en-US" sz="1000" b="0" i="0" dirty="0">
                <a:solidFill>
                  <a:schemeClr val="tx1">
                    <a:lumMod val="65000"/>
                    <a:lumOff val="35000"/>
                  </a:schemeClr>
                </a:solidFill>
                <a:latin typeface="Arial" panose="020B0604020202020204" pitchFamily="34" charset="0"/>
                <a:cs typeface="Arial" panose="020B0604020202020204" pitchFamily="34" charset="0"/>
              </a:rPr>
              <a:t> and guidance for appointment and eligibility of the EQ reviewer, and performance and documentation of the EQ review.</a:t>
            </a:r>
            <a:endParaRPr lang="en-US" sz="1000" b="0" i="0"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Concern that a separate standard for an EQ review may overemphasize one response, among others, to assessed quality risks, or imply that EQ review is the best response.</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Put all firm-level requirements in ISQM 1 or more clearly distinguish firm-level and EQ reviewer requirements in ISQM 2.</a:t>
            </a:r>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dirty="0"/>
          </a:p>
        </p:txBody>
      </p:sp>
    </p:spTree>
    <p:extLst>
      <p:ext uri="{BB962C8B-B14F-4D97-AF65-F5344CB8AC3E}">
        <p14:creationId xmlns:p14="http://schemas.microsoft.com/office/powerpoint/2010/main" val="1736039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latin typeface="Arial" panose="020B0604020202020204" pitchFamily="34" charset="0"/>
                <a:cs typeface="Arial" panose="020B0604020202020204" pitchFamily="34" charset="0"/>
              </a:rPr>
              <a:t>ED-ISQM 2 Q2: Are the linkages between the requirements for engagement quality reviews in ED-ISQM 1 and ED-ISQM 2 clear?</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Agree that the requirements in ED-ISQM 1 and ED-ISQM 2 are organized in a manner that provides appropriate linkages between the standards.</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It is clear that ED-ISQM 1 establishes the requirements for determining which engagements are subject to an EQ review, while ED-ISQM 2 deals with the eligibility and appointment of an EQ reviewer and the performance and documentation of the EQ review.</a:t>
            </a:r>
            <a:endParaRPr lang="en-US" sz="1000" b="0" i="0" kern="1200" dirty="0">
              <a:solidFill>
                <a:schemeClr val="tx1"/>
              </a:solidFill>
              <a:latin typeface="Arial" panose="020B0604020202020204" pitchFamily="34" charset="0"/>
              <a:ea typeface="+mn-ea"/>
              <a:cs typeface="Arial" panose="020B0604020202020204" pitchFamily="34" charset="0"/>
            </a:endParaRPr>
          </a:p>
          <a:p>
            <a:pPr marL="0" indent="0" algn="just">
              <a:lnSpc>
                <a:spcPts val="2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7472" indent="-347472"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Emphasize that an EQ review is just one aspect of quality management and one particular response to quality risks so that this does not overshadow other measures included in ED-ISQM 1.</a:t>
            </a:r>
          </a:p>
          <a:p>
            <a:pPr marL="347472" indent="-347472"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Various comments to enhance certain linkages between ED-ISQM 1 and ED-ISQM 2 (e.g., para. 15-19 of ED-ISQM 2 and para. 38 of ED-ISQM 1; para. 16(a) of ED-ISQM 2 and para. 38(b) of ED-ISQM 1).</a:t>
            </a:r>
            <a:endParaRPr lang="en-US" sz="1000" i="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1206150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latin typeface="Arial" panose="020B0604020202020204" pitchFamily="34" charset="0"/>
                <a:cs typeface="Arial" panose="020B0604020202020204" pitchFamily="34" charset="0"/>
              </a:rPr>
              <a:t>ED-ISQM</a:t>
            </a:r>
            <a:r>
              <a:rPr lang="en-US" sz="1000" i="1" baseline="0" dirty="0">
                <a:latin typeface="Arial" panose="020B0604020202020204" pitchFamily="34" charset="0"/>
                <a:cs typeface="Arial" panose="020B0604020202020204" pitchFamily="34" charset="0"/>
              </a:rPr>
              <a:t> 2 Q3: </a:t>
            </a:r>
            <a:r>
              <a:rPr lang="en-US" sz="1000" i="1" dirty="0">
                <a:latin typeface="Arial" panose="020B0604020202020204" pitchFamily="34" charset="0"/>
                <a:cs typeface="Arial" panose="020B0604020202020204" pitchFamily="34" charset="0"/>
              </a:rPr>
              <a:t>Do you support the change from “engagement quality control review/reviewer” to “engagement quality review/reviewer?” Will there be any adverse consequences of changing the terminology in respondents’ jurisdictions?</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Support the change in terminology because the emphasis is now on quality management, rather than on quality control.</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Do not anticipate any adverse consequences of changing the terminology.</a:t>
            </a:r>
            <a:endParaRPr lang="en-US" sz="1000" b="0" i="0"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Change in terminology may have some consequences on translation and local laws.</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Term may be confused with other types of engagement-level quality reviews performed by the firm.</a:t>
            </a:r>
            <a:endParaRPr lang="en-US" sz="1000" i="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2864887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latin typeface="Arial" panose="020B0604020202020204" pitchFamily="34" charset="0"/>
                <a:cs typeface="Arial" panose="020B0604020202020204" pitchFamily="34" charset="0"/>
              </a:rPr>
              <a:t>ED-ISQM 2 Q4: Do you support the requirements for eligibility to be appointed as an engagement quality reviewer or an assistant to the engagement quality reviewer as described in paragraphs 16 and 17, respectively, of ED-ISQM 2?</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Consider whether the limitations on eligibility of an engagement partner moving into an EQ reviewer role should also apply to other roles on the engagement (e.g., other key audit partners or senior staff on the engagement).</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Clarify if the principle on threats to objectivity and guidance on cooling-off period also apply to assistants of the EQ reviewer.</a:t>
            </a:r>
          </a:p>
          <a:p>
            <a:pPr marL="0" marR="0" lvl="0" indent="0" algn="just" defTabSz="342900" rtl="0" eaLnBrk="1" fontAlgn="auto" latinLnBrk="0" hangingPunct="1">
              <a:lnSpc>
                <a:spcPts val="2400"/>
              </a:lnSpc>
              <a:spcBef>
                <a:spcPts val="600"/>
              </a:spcBef>
              <a:spcAft>
                <a:spcPts val="0"/>
              </a:spcAft>
              <a:buClrTx/>
              <a:buSzTx/>
              <a:buFont typeface="Arial" panose="020B0604020202020204" pitchFamily="34" charset="0"/>
              <a:buNone/>
              <a:tabLst/>
              <a:defRPr/>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solidFill>
                <a:schemeClr val="tx1">
                  <a:lumMod val="65000"/>
                  <a:lumOff val="35000"/>
                </a:schemeClr>
              </a:solidFill>
              <a:latin typeface="Arial" panose="020B0604020202020204" pitchFamily="34" charset="0"/>
              <a:cs typeface="Arial" panose="020B0604020202020204" pitchFamily="34" charset="0"/>
            </a:endParaRPr>
          </a:p>
          <a:p>
            <a:pPr marL="342900" marR="0" lvl="0" indent="-342900" algn="just" defTabSz="342900" rtl="0" eaLnBrk="1" fontAlgn="auto" latinLnBrk="0" hangingPunct="1">
              <a:lnSpc>
                <a:spcPts val="2400"/>
              </a:lnSpc>
              <a:spcBef>
                <a:spcPts val="600"/>
              </a:spcBef>
              <a:spcAft>
                <a:spcPts val="0"/>
              </a:spcAft>
              <a:buClrTx/>
              <a:buSzTx/>
              <a:buFont typeface="Arial" panose="020B0604020202020204" pitchFamily="34" charset="0"/>
              <a:buChar char="•"/>
              <a:tabLst/>
              <a:defRPr/>
            </a:pPr>
            <a:r>
              <a:rPr lang="en-US" sz="1000" b="0" i="0" dirty="0">
                <a:solidFill>
                  <a:schemeClr val="tx1">
                    <a:lumMod val="65000"/>
                    <a:lumOff val="35000"/>
                  </a:schemeClr>
                </a:solidFill>
                <a:latin typeface="Arial" panose="020B0604020202020204" pitchFamily="34" charset="0"/>
                <a:cs typeface="Arial" panose="020B0604020202020204" pitchFamily="34" charset="0"/>
              </a:rPr>
              <a:t>The EQ reviewer's authority may be diminished depending on whether the EQ reviewer has a reporting line or holds a lower grade than the engagement partner.</a:t>
            </a: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2100904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1400"/>
              </a:lnSpc>
              <a:spcBef>
                <a:spcPts val="600"/>
              </a:spcBef>
              <a:spcAft>
                <a:spcPts val="0"/>
              </a:spcAft>
              <a:buFont typeface="Arial" panose="020B0604020202020204" pitchFamily="34" charset="0"/>
              <a:buNone/>
            </a:pPr>
            <a:r>
              <a:rPr lang="en-US" sz="1000" i="1" dirty="0">
                <a:latin typeface="Arial" panose="020B0604020202020204" pitchFamily="34" charset="0"/>
                <a:cs typeface="Arial" panose="020B0604020202020204" pitchFamily="34" charset="0"/>
              </a:rPr>
              <a:t>ED-ISQM 2 Q5: Do you agree with the requirements relating to the nature, timing and extent of the engagement quality reviewer’s procedures? Are the responsibilities of the engagement quality reviewer appropriate given the revised responsibilities of the engagement partner in proposed ISA 220 (Revised)?</a:t>
            </a: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Emphasize</a:t>
            </a:r>
            <a:r>
              <a:rPr lang="en-US" sz="1000" b="1" i="1" baseline="0" dirty="0">
                <a:latin typeface="Arial" panose="020B0604020202020204" pitchFamily="34" charset="0"/>
                <a:cs typeface="Arial" panose="020B0604020202020204" pitchFamily="34" charset="0"/>
              </a:rPr>
              <a:t> connection of this discussion with ED-ISA 220.</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Significant matters and significant judgments:</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Define, or provide guidance to further elaborate or explain the two concepts, and the interrelationship between them.</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Clarify whether the EQ reviewer is required to independently assess the completeness of the significant judgments identified by the engagement team and consider including specific significant judgments that the EQ reviewer is required to evaluate.</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Provide guidance on how the EQ reviewer would demonstrate and / or document the evaluation of the basis for the engagement partner's conclusion that the engagement partner has taken overall responsibility for managing and achieving quality on the audit engagement in para. 22(f).</a:t>
            </a:r>
            <a:endParaRPr lang="en-US" sz="1000" b="0" i="0" kern="1200" dirty="0">
              <a:solidFill>
                <a:schemeClr val="lt1"/>
              </a:solidFill>
              <a:latin typeface="Arial" panose="020B0604020202020204" pitchFamily="34" charset="0"/>
              <a:ea typeface="+mn-ea"/>
              <a:cs typeface="Arial" panose="020B0604020202020204" pitchFamily="34" charset="0"/>
            </a:endParaRP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b="0" i="0" kern="1200" dirty="0">
                <a:solidFill>
                  <a:schemeClr val="lt1"/>
                </a:solidFill>
                <a:latin typeface="Arial" panose="020B0604020202020204" pitchFamily="34" charset="0"/>
                <a:ea typeface="+mn-ea"/>
                <a:cs typeface="Arial" panose="020B0604020202020204" pitchFamily="34" charset="0"/>
              </a:rPr>
              <a:t>Consider the balance between the EQ reviewer's responsibilities and those of the engagement partner.</a:t>
            </a:r>
          </a:p>
          <a:p>
            <a:pPr marL="342900" marR="0" lvl="0" indent="-342900" algn="just" defTabSz="342900" rtl="0" eaLnBrk="1" fontAlgn="auto" latinLnBrk="0" hangingPunct="1">
              <a:lnSpc>
                <a:spcPts val="1400"/>
              </a:lnSpc>
              <a:spcBef>
                <a:spcPts val="600"/>
              </a:spcBef>
              <a:spcAft>
                <a:spcPts val="0"/>
              </a:spcAft>
              <a:buClrTx/>
              <a:buSzTx/>
              <a:buFont typeface="Arial" panose="020B0604020202020204" pitchFamily="34" charset="0"/>
              <a:buChar char="•"/>
              <a:tabLst/>
              <a:defRPr/>
            </a:pPr>
            <a:r>
              <a:rPr lang="en-US" sz="1000" b="0" i="0" dirty="0">
                <a:latin typeface="Arial" panose="020B0604020202020204" pitchFamily="34" charset="0"/>
                <a:cs typeface="Arial" panose="020B0604020202020204" pitchFamily="34" charset="0"/>
              </a:rPr>
              <a:t>Provide guidance on the application of ISQM 2 in the context of group audits and in other assurance engagements.</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lt1"/>
                </a:solidFill>
                <a:latin typeface="Arial" panose="020B0604020202020204" pitchFamily="34" charset="0"/>
                <a:ea typeface="+mn-ea"/>
                <a:cs typeface="Arial" panose="020B0604020202020204" pitchFamily="34" charset="0"/>
              </a:rPr>
              <a:t>Clarify the nature, timing, extent of procedures, how to demonstrate compliance with requirement, or how to document:</a:t>
            </a: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Para. 21(a) and 21(c) </a:t>
            </a:r>
            <a:r>
              <a:rPr lang="en-US" sz="1000" b="0" i="0" kern="1200" dirty="0">
                <a:solidFill>
                  <a:schemeClr val="lt1"/>
                </a:solidFill>
                <a:latin typeface="Arial" panose="020B0604020202020204" pitchFamily="34" charset="0"/>
                <a:ea typeface="+mn-ea"/>
                <a:cs typeface="Arial" panose="020B0604020202020204" pitchFamily="34" charset="0"/>
              </a:rPr>
              <a:t>–</a:t>
            </a:r>
            <a:r>
              <a:rPr lang="en-US" sz="1000" b="0" i="0" dirty="0">
                <a:latin typeface="Arial" panose="020B0604020202020204" pitchFamily="34" charset="0"/>
                <a:cs typeface="Arial" panose="020B0604020202020204" pitchFamily="34" charset="0"/>
              </a:rPr>
              <a:t> Involvement of EQ reviewer at “appropriate points in time” and discussions between the engagement team and the EQ reviewer.</a:t>
            </a:r>
            <a:endParaRPr lang="en-US" sz="1000" b="0" i="0" kern="1200" dirty="0">
              <a:solidFill>
                <a:schemeClr val="lt1"/>
              </a:solidFill>
              <a:latin typeface="Arial" panose="020B0604020202020204" pitchFamily="34" charset="0"/>
              <a:ea typeface="+mn-ea"/>
              <a:cs typeface="Arial" panose="020B0604020202020204" pitchFamily="34" charset="0"/>
            </a:endParaRPr>
          </a:p>
          <a:p>
            <a:pPr marL="694944" indent="-342900" algn="just">
              <a:lnSpc>
                <a:spcPts val="1400"/>
              </a:lnSpc>
              <a:spcBef>
                <a:spcPts val="600"/>
              </a:spcBef>
              <a:spcAft>
                <a:spcPts val="0"/>
              </a:spcAft>
              <a:buFont typeface="Courier New" panose="02070309020205020404" pitchFamily="49" charset="0"/>
              <a:buChar char="o"/>
            </a:pPr>
            <a:r>
              <a:rPr lang="en-US" sz="1000" b="0" i="0" dirty="0">
                <a:latin typeface="Arial" panose="020B0604020202020204" pitchFamily="34" charset="0"/>
                <a:cs typeface="Arial" panose="020B0604020202020204" pitchFamily="34" charset="0"/>
              </a:rPr>
              <a:t>Para. 22(a) and 22(g) </a:t>
            </a:r>
            <a:r>
              <a:rPr lang="en-US" sz="1000" b="0" i="0" kern="1200" dirty="0">
                <a:solidFill>
                  <a:schemeClr val="lt1"/>
                </a:solidFill>
                <a:latin typeface="Arial" panose="020B0604020202020204" pitchFamily="34" charset="0"/>
                <a:ea typeface="+mn-ea"/>
                <a:cs typeface="Arial" panose="020B0604020202020204" pitchFamily="34" charset="0"/>
              </a:rPr>
              <a:t>–</a:t>
            </a:r>
            <a:r>
              <a:rPr lang="en-US" sz="1000" b="0" i="0" dirty="0">
                <a:latin typeface="Arial" panose="020B0604020202020204" pitchFamily="34" charset="0"/>
                <a:cs typeface="Arial" panose="020B0604020202020204" pitchFamily="34" charset="0"/>
              </a:rPr>
              <a:t> Read and understand information (including monitoring and remediation) and the review of the financial statements and engagement reports.</a:t>
            </a:r>
          </a:p>
          <a:p>
            <a:pPr marL="694944" marR="0" lvl="0" indent="-342900" algn="just" defTabSz="342900" rtl="0" eaLnBrk="1" fontAlgn="auto" latinLnBrk="0" hangingPunct="1">
              <a:lnSpc>
                <a:spcPts val="1400"/>
              </a:lnSpc>
              <a:spcBef>
                <a:spcPts val="600"/>
              </a:spcBef>
              <a:spcAft>
                <a:spcPts val="0"/>
              </a:spcAft>
              <a:buClrTx/>
              <a:buSzTx/>
              <a:buFont typeface="Courier New" panose="02070309020205020404" pitchFamily="49" charset="0"/>
              <a:buChar char="o"/>
              <a:tabLst/>
              <a:defRPr/>
            </a:pPr>
            <a:r>
              <a:rPr lang="en-US" sz="1000" b="0" i="0" kern="1200" dirty="0">
                <a:solidFill>
                  <a:schemeClr val="lt1"/>
                </a:solidFill>
                <a:latin typeface="Arial" panose="020B0604020202020204" pitchFamily="34" charset="0"/>
                <a:ea typeface="+mn-ea"/>
                <a:cs typeface="Arial" panose="020B0604020202020204" pitchFamily="34" charset="0"/>
              </a:rPr>
              <a:t>Para. 23 – Unresolved EQ review concerns.</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Clarify the replacement EQ reviewer’s responsibilities and the EQ reviewer assistant’s responsibilities. </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Consider the EQ reviewer’s responsibility to consider independence matters (in extant), and to review other specific matters (e.g., communications with TCWG, significant risks, uncorrected misstatements).</a:t>
            </a: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Believe that the work effort is disproportionate due to not focusing on the more important quality risks (see Question 8 for related concerns about scalability).</a:t>
            </a: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712039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pPr>
            <a:r>
              <a:rPr lang="en-US" sz="1000" i="1" dirty="0">
                <a:latin typeface="Arial" panose="020B0604020202020204" pitchFamily="34" charset="0"/>
                <a:cs typeface="Arial" panose="020B0604020202020204" pitchFamily="34" charset="0"/>
              </a:rPr>
              <a:t>ED-ISQM 2 Q6: Do you agree that the engagement quality reviewer’s evaluation of the engagement team’s significant judgments includes evaluating the engagement team’s exercise of professional skepticism? Do you believe that ED-ISQM 2 should further address the exercise of professional skepticism by the engagement quality reviewer? If so, what suggestions do you have in that regard? </a:t>
            </a:r>
          </a:p>
          <a:p>
            <a:pPr marL="347472" indent="-347472" algn="just">
              <a:lnSpc>
                <a:spcPts val="2000"/>
              </a:lnSpc>
              <a:spcBef>
                <a:spcPts val="300"/>
              </a:spcBef>
              <a:spcAft>
                <a:spcPts val="300"/>
              </a:spcAft>
              <a:buFont typeface="Arial" panose="020B0604020202020204" pitchFamily="34" charset="0"/>
              <a:buChar char="•"/>
            </a:pPr>
            <a:r>
              <a:rPr lang="en-US" dirty="0"/>
              <a:t>Comments on professional skepticism (PS):</a:t>
            </a:r>
          </a:p>
          <a:p>
            <a:pPr marL="694944" lvl="1" indent="-347472" algn="just">
              <a:lnSpc>
                <a:spcPts val="2000"/>
              </a:lnSpc>
              <a:spcBef>
                <a:spcPts val="300"/>
              </a:spcBef>
              <a:spcAft>
                <a:spcPts val="300"/>
              </a:spcAft>
              <a:buFont typeface="Courier New" panose="02070309020205020404" pitchFamily="49" charset="0"/>
              <a:buChar char="o"/>
            </a:pPr>
            <a:r>
              <a:rPr lang="en-US" dirty="0"/>
              <a:t>Agree that the EQ reviewer’s evaluation of significant judgments includes evaluating the engagement team’s exercise of PS in reaching conclusions (for assurance engagements for which PS applies), but concerns on how to evidence the evaluation.</a:t>
            </a:r>
          </a:p>
          <a:p>
            <a:pPr marL="694944" lvl="1" indent="-347472" algn="just">
              <a:lnSpc>
                <a:spcPts val="2000"/>
              </a:lnSpc>
              <a:spcBef>
                <a:spcPts val="300"/>
              </a:spcBef>
              <a:spcAft>
                <a:spcPts val="300"/>
              </a:spcAft>
              <a:buFont typeface="Courier New" panose="02070309020205020404" pitchFamily="49" charset="0"/>
              <a:buChar char="o"/>
            </a:pPr>
            <a:r>
              <a:rPr lang="en-US" dirty="0"/>
              <a:t>Exercise of PS by the EQ reviewer: (3 perspectives)</a:t>
            </a:r>
          </a:p>
          <a:p>
            <a:pPr marL="1042416" lvl="2" indent="-347472" algn="just">
              <a:lnSpc>
                <a:spcPts val="2000"/>
              </a:lnSpc>
              <a:spcBef>
                <a:spcPts val="300"/>
              </a:spcBef>
              <a:spcAft>
                <a:spcPts val="300"/>
              </a:spcAft>
              <a:buFont typeface="Wingdings" panose="05000000000000000000" pitchFamily="2" charset="2"/>
              <a:buChar char="§"/>
            </a:pPr>
            <a:r>
              <a:rPr lang="en-US" dirty="0"/>
              <a:t>ED-ISQM 2 sufficiently addresses the exercise of PS by EQ reviewer, so there is no need to further address it (implicit in the objective evaluation).</a:t>
            </a:r>
          </a:p>
          <a:p>
            <a:pPr marL="1042416" lvl="2" indent="-347472" algn="just">
              <a:lnSpc>
                <a:spcPts val="2000"/>
              </a:lnSpc>
              <a:spcBef>
                <a:spcPts val="300"/>
              </a:spcBef>
              <a:spcAft>
                <a:spcPts val="300"/>
              </a:spcAft>
              <a:buFont typeface="Wingdings" panose="05000000000000000000" pitchFamily="2" charset="2"/>
              <a:buChar char="§"/>
            </a:pPr>
            <a:r>
              <a:rPr lang="en-US" dirty="0"/>
              <a:t>The exercise of PS by EQ reviewer is not relevant, so there is no need to further address it.</a:t>
            </a:r>
          </a:p>
          <a:p>
            <a:pPr marL="1042416" lvl="2" indent="-347472" algn="just">
              <a:lnSpc>
                <a:spcPts val="2000"/>
              </a:lnSpc>
              <a:spcBef>
                <a:spcPts val="300"/>
              </a:spcBef>
              <a:spcAft>
                <a:spcPts val="300"/>
              </a:spcAft>
              <a:buFont typeface="Wingdings" panose="05000000000000000000" pitchFamily="2" charset="2"/>
              <a:buChar char="§"/>
            </a:pPr>
            <a:r>
              <a:rPr lang="en-US" dirty="0"/>
              <a:t>Further address the exercise of PS by the EQ reviewer in ED-ISQM 2.</a:t>
            </a:r>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3701825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Tx/>
              <a:buNone/>
              <a:tabLst/>
              <a:defRPr/>
            </a:pPr>
            <a:r>
              <a:rPr lang="en-US" sz="1000" i="1" dirty="0">
                <a:latin typeface="Arial" panose="020B0604020202020204" pitchFamily="34" charset="0"/>
                <a:cs typeface="Arial" panose="020B0604020202020204" pitchFamily="34" charset="0"/>
              </a:rPr>
              <a:t>ED-ISQM 2</a:t>
            </a:r>
            <a:r>
              <a:rPr lang="en-US" sz="1000" i="1" baseline="0" dirty="0">
                <a:latin typeface="Arial" panose="020B0604020202020204" pitchFamily="34" charset="0"/>
                <a:cs typeface="Arial" panose="020B0604020202020204" pitchFamily="34" charset="0"/>
              </a:rPr>
              <a:t> Q7: </a:t>
            </a:r>
            <a:r>
              <a:rPr lang="en-US" sz="1000" i="1" dirty="0">
                <a:latin typeface="Arial" panose="020B0604020202020204" pitchFamily="34" charset="0"/>
                <a:cs typeface="Arial" panose="020B0604020202020204" pitchFamily="34" charset="0"/>
              </a:rPr>
              <a:t>Do you agree with the enhanced documentation requirements?</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Requirements are </a:t>
            </a:r>
            <a:r>
              <a:rPr lang="en-US" sz="1000" b="1" i="0" dirty="0">
                <a:solidFill>
                  <a:schemeClr val="tx1">
                    <a:lumMod val="65000"/>
                    <a:lumOff val="35000"/>
                  </a:schemeClr>
                </a:solidFill>
                <a:latin typeface="Arial" panose="020B0604020202020204" pitchFamily="34" charset="0"/>
                <a:cs typeface="Arial" panose="020B0604020202020204" pitchFamily="34" charset="0"/>
              </a:rPr>
              <a:t>appropriate</a:t>
            </a:r>
            <a:r>
              <a:rPr lang="en-US" sz="1000" b="0" i="0" dirty="0">
                <a:solidFill>
                  <a:schemeClr val="tx1">
                    <a:lumMod val="65000"/>
                    <a:lumOff val="35000"/>
                  </a:schemeClr>
                </a:solidFill>
                <a:latin typeface="Arial" panose="020B0604020202020204" pitchFamily="34" charset="0"/>
                <a:cs typeface="Arial" panose="020B0604020202020204" pitchFamily="34" charset="0"/>
              </a:rPr>
              <a:t> and will </a:t>
            </a:r>
            <a:r>
              <a:rPr lang="en-US" sz="1000" b="1" i="0" dirty="0">
                <a:solidFill>
                  <a:schemeClr val="tx1">
                    <a:lumMod val="65000"/>
                    <a:lumOff val="35000"/>
                  </a:schemeClr>
                </a:solidFill>
                <a:latin typeface="Arial" panose="020B0604020202020204" pitchFamily="34" charset="0"/>
                <a:cs typeface="Arial" panose="020B0604020202020204" pitchFamily="34" charset="0"/>
              </a:rPr>
              <a:t>not cause major problems in practical implementation</a:t>
            </a:r>
            <a:r>
              <a:rPr lang="en-US" sz="1000" b="0" i="0" dirty="0">
                <a:solidFill>
                  <a:schemeClr val="tx1">
                    <a:lumMod val="65000"/>
                    <a:lumOff val="35000"/>
                  </a:schemeClr>
                </a:solidFill>
                <a:latin typeface="Arial" panose="020B0604020202020204" pitchFamily="34" charset="0"/>
                <a:cs typeface="Arial" panose="020B0604020202020204" pitchFamily="34" charset="0"/>
              </a:rPr>
              <a:t>.</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View that these enhanced requirements </a:t>
            </a:r>
            <a:r>
              <a:rPr lang="en-US" sz="1000" b="1" i="0" dirty="0">
                <a:solidFill>
                  <a:schemeClr val="tx1">
                    <a:lumMod val="65000"/>
                    <a:lumOff val="35000"/>
                  </a:schemeClr>
                </a:solidFill>
                <a:latin typeface="Arial" panose="020B0604020202020204" pitchFamily="34" charset="0"/>
                <a:cs typeface="Arial" panose="020B0604020202020204" pitchFamily="34" charset="0"/>
              </a:rPr>
              <a:t>reflect what many firms currently require</a:t>
            </a:r>
            <a:r>
              <a:rPr lang="en-US" sz="1000" b="0" i="0" dirty="0">
                <a:solidFill>
                  <a:schemeClr val="tx1">
                    <a:lumMod val="65000"/>
                    <a:lumOff val="35000"/>
                  </a:schemeClr>
                </a:solidFill>
                <a:latin typeface="Arial" panose="020B0604020202020204" pitchFamily="34" charset="0"/>
                <a:cs typeface="Arial" panose="020B0604020202020204" pitchFamily="34" charset="0"/>
              </a:rPr>
              <a:t> to be included in the engagement file as evidence of the EQ review.</a:t>
            </a:r>
          </a:p>
          <a:p>
            <a:pPr marL="342900" indent="-342900" algn="just">
              <a:lnSpc>
                <a:spcPts val="2400"/>
              </a:lnSpc>
              <a:spcBef>
                <a:spcPts val="600"/>
              </a:spcBef>
              <a:spcAft>
                <a:spcPts val="0"/>
              </a:spcAft>
              <a:buFont typeface="Arial" panose="020B0604020202020204" pitchFamily="34" charset="0"/>
              <a:buChar char="•"/>
            </a:pPr>
            <a:r>
              <a:rPr lang="en-US" sz="1000" b="0" i="0" dirty="0">
                <a:solidFill>
                  <a:schemeClr val="tx1">
                    <a:lumMod val="65000"/>
                    <a:lumOff val="35000"/>
                  </a:schemeClr>
                </a:solidFill>
                <a:latin typeface="Arial" panose="020B0604020202020204" pitchFamily="34" charset="0"/>
                <a:cs typeface="Arial" panose="020B0604020202020204" pitchFamily="34" charset="0"/>
              </a:rPr>
              <a:t>Support the enhanced documentation requirements and principle that the </a:t>
            </a:r>
            <a:r>
              <a:rPr lang="en-US" sz="1000" b="1" i="0" dirty="0">
                <a:solidFill>
                  <a:schemeClr val="tx1">
                    <a:lumMod val="65000"/>
                    <a:lumOff val="35000"/>
                  </a:schemeClr>
                </a:solidFill>
                <a:latin typeface="Arial" panose="020B0604020202020204" pitchFamily="34" charset="0"/>
                <a:cs typeface="Arial" panose="020B0604020202020204" pitchFamily="34" charset="0"/>
              </a:rPr>
              <a:t>EQ reviewer takes responsibility for documentation</a:t>
            </a:r>
            <a:r>
              <a:rPr lang="en-US" sz="1000" b="0" i="0" dirty="0">
                <a:solidFill>
                  <a:schemeClr val="tx1">
                    <a:lumMod val="65000"/>
                    <a:lumOff val="35000"/>
                  </a:schemeClr>
                </a:solidFill>
                <a:latin typeface="Arial" panose="020B0604020202020204" pitchFamily="34" charset="0"/>
                <a:cs typeface="Arial" panose="020B0604020202020204" pitchFamily="34" charset="0"/>
              </a:rPr>
              <a:t> of the EQ review and that this may be </a:t>
            </a:r>
            <a:r>
              <a:rPr lang="en-US" sz="1000" b="1" i="0" dirty="0">
                <a:solidFill>
                  <a:schemeClr val="tx1">
                    <a:lumMod val="65000"/>
                    <a:lumOff val="35000"/>
                  </a:schemeClr>
                </a:solidFill>
                <a:latin typeface="Arial" panose="020B0604020202020204" pitchFamily="34" charset="0"/>
                <a:cs typeface="Arial" panose="020B0604020202020204" pitchFamily="34" charset="0"/>
              </a:rPr>
              <a:t>documented in a number of ways</a:t>
            </a:r>
            <a:r>
              <a:rPr lang="en-US" sz="1000" b="0" i="0" dirty="0">
                <a:solidFill>
                  <a:schemeClr val="tx1">
                    <a:lumMod val="65000"/>
                    <a:lumOff val="35000"/>
                  </a:schemeClr>
                </a:solidFill>
                <a:latin typeface="Arial" panose="020B0604020202020204" pitchFamily="34" charset="0"/>
                <a:cs typeface="Arial" panose="020B0604020202020204" pitchFamily="34" charset="0"/>
              </a:rPr>
              <a:t>.</a:t>
            </a:r>
            <a:endParaRPr lang="en-US" sz="1000" b="0" i="0"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endParaRPr lang="en-US" sz="1000" b="0" i="0" dirty="0">
              <a:latin typeface="Arial" panose="020B0604020202020204" pitchFamily="34" charset="0"/>
              <a:cs typeface="Arial" panose="020B0604020202020204" pitchFamily="34" charset="0"/>
            </a:endParaRP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Provide implementation support through examples of form, content and extent of documentation.</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Clarify how to demonstrate completion of EQ review in para. 24 and use of word 'complete.’</a:t>
            </a:r>
          </a:p>
          <a:p>
            <a:pPr marL="342900" indent="-342900" algn="just">
              <a:lnSpc>
                <a:spcPts val="1400"/>
              </a:lnSpc>
              <a:spcBef>
                <a:spcPts val="600"/>
              </a:spcBef>
              <a:spcAft>
                <a:spcPts val="0"/>
              </a:spcAft>
              <a:buFont typeface="Arial" panose="020B0604020202020204" pitchFamily="34" charset="0"/>
              <a:buChar char="•"/>
            </a:pPr>
            <a:r>
              <a:rPr lang="en-US" sz="1000" b="0" i="0" dirty="0">
                <a:latin typeface="Arial" panose="020B0604020202020204" pitchFamily="34" charset="0"/>
                <a:cs typeface="Arial" panose="020B0604020202020204" pitchFamily="34" charset="0"/>
              </a:rPr>
              <a:t>Document discussions with the engagement team, including those relating to para. 22(f) and 22(g).</a:t>
            </a:r>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dirty="0"/>
          </a:p>
        </p:txBody>
      </p:sp>
    </p:spTree>
    <p:extLst>
      <p:ext uri="{BB962C8B-B14F-4D97-AF65-F5344CB8AC3E}">
        <p14:creationId xmlns:p14="http://schemas.microsoft.com/office/powerpoint/2010/main" val="168072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spcAft>
                <a:spcPts val="0"/>
              </a:spcAft>
            </a:pPr>
            <a:r>
              <a:rPr lang="en-US" sz="1000" i="1" dirty="0">
                <a:latin typeface="Arial" panose="020B0604020202020204" pitchFamily="34" charset="0"/>
                <a:cs typeface="Arial" panose="020B0604020202020204" pitchFamily="34" charset="0"/>
              </a:rPr>
              <a:t>ED-ISQM 2 Q8: Are the requirements for engagement quality reviews in ED-ISQM 2 scalable for firms of varying size and complexity? If not, what else can be done to improve scalability?</a:t>
            </a:r>
          </a:p>
          <a:p>
            <a:pPr marL="342900" indent="-342900" algn="just">
              <a:lnSpc>
                <a:spcPts val="2400"/>
              </a:lnSpc>
              <a:spcBef>
                <a:spcPts val="600"/>
              </a:spcBef>
              <a:spcAft>
                <a:spcPts val="0"/>
              </a:spcAft>
              <a:buFont typeface="Arial" panose="020B0604020202020204" pitchFamily="34" charset="0"/>
              <a:buChar char="•"/>
            </a:pP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Separate standard for EQ review </a:t>
            </a:r>
            <a:r>
              <a:rPr lang="en-US" sz="1000" b="1" i="0" kern="1200" dirty="0">
                <a:solidFill>
                  <a:schemeClr val="tx1">
                    <a:lumMod val="65000"/>
                    <a:lumOff val="35000"/>
                  </a:schemeClr>
                </a:solidFill>
                <a:latin typeface="Arial" panose="020B0604020202020204" pitchFamily="34" charset="0"/>
                <a:ea typeface="+mn-ea"/>
                <a:cs typeface="Arial" panose="020B0604020202020204" pitchFamily="34" charset="0"/>
              </a:rPr>
              <a:t>improves scalability</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a:t>
            </a:r>
          </a:p>
          <a:p>
            <a:pPr marL="342900" indent="-342900" algn="just">
              <a:lnSpc>
                <a:spcPts val="2400"/>
              </a:lnSpc>
              <a:spcBef>
                <a:spcPts val="600"/>
              </a:spcBef>
              <a:spcAft>
                <a:spcPts val="0"/>
              </a:spcAft>
              <a:buFont typeface="Arial" panose="020B0604020202020204" pitchFamily="34" charset="0"/>
              <a:buChar char="•"/>
            </a:pPr>
            <a:r>
              <a:rPr lang="en-US" sz="1000" b="1" i="0" kern="1200" dirty="0">
                <a:solidFill>
                  <a:schemeClr val="tx1">
                    <a:lumMod val="65000"/>
                    <a:lumOff val="35000"/>
                  </a:schemeClr>
                </a:solidFill>
                <a:latin typeface="Arial" panose="020B0604020202020204" pitchFamily="34" charset="0"/>
                <a:ea typeface="+mn-ea"/>
                <a:cs typeface="Arial" panose="020B0604020202020204" pitchFamily="34" charset="0"/>
              </a:rPr>
              <a:t>Inherently scalable</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 as there are fewer significant matters or significant judgments for less complex engagements.</a:t>
            </a:r>
          </a:p>
          <a:p>
            <a:pPr marL="342900" indent="-342900" algn="just">
              <a:lnSpc>
                <a:spcPts val="2400"/>
              </a:lnSpc>
              <a:spcBef>
                <a:spcPts val="600"/>
              </a:spcBef>
              <a:spcAft>
                <a:spcPts val="0"/>
              </a:spcAft>
              <a:buFont typeface="Arial" panose="020B0604020202020204" pitchFamily="34" charset="0"/>
              <a:buChar char="•"/>
            </a:pP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Allowing for an </a:t>
            </a:r>
            <a:r>
              <a:rPr lang="en-US" sz="1000" b="1" i="0" kern="1200" dirty="0">
                <a:solidFill>
                  <a:schemeClr val="tx1">
                    <a:lumMod val="65000"/>
                    <a:lumOff val="35000"/>
                  </a:schemeClr>
                </a:solidFill>
                <a:latin typeface="Arial" panose="020B0604020202020204" pitchFamily="34" charset="0"/>
                <a:ea typeface="+mn-ea"/>
                <a:cs typeface="Arial" panose="020B0604020202020204" pitchFamily="34" charset="0"/>
              </a:rPr>
              <a:t>external individual to be an EQ reviewer</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 helps smaller firms in applying the standard.</a:t>
            </a:r>
          </a:p>
          <a:p>
            <a:pPr marL="342900" indent="-342900" algn="just">
              <a:lnSpc>
                <a:spcPts val="2400"/>
              </a:lnSpc>
              <a:spcBef>
                <a:spcPts val="600"/>
              </a:spcBef>
              <a:spcAft>
                <a:spcPts val="0"/>
              </a:spcAft>
              <a:buFont typeface="Arial" panose="020B0604020202020204" pitchFamily="34" charset="0"/>
              <a:buChar char="•"/>
            </a:pP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Helpful that the standard acknowledges that the NTE of the EQ reviewer’s procedures </a:t>
            </a:r>
            <a:r>
              <a:rPr lang="en-US" sz="1000" b="1" i="0" kern="1200" dirty="0">
                <a:solidFill>
                  <a:schemeClr val="tx1">
                    <a:lumMod val="65000"/>
                    <a:lumOff val="35000"/>
                  </a:schemeClr>
                </a:solidFill>
                <a:latin typeface="Arial" panose="020B0604020202020204" pitchFamily="34" charset="0"/>
                <a:ea typeface="+mn-ea"/>
                <a:cs typeface="Arial" panose="020B0604020202020204" pitchFamily="34" charset="0"/>
              </a:rPr>
              <a:t>depends on the facts and circumstances of the engagement</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 (e.g., para. A27).</a:t>
            </a:r>
          </a:p>
          <a:p>
            <a:pPr marL="342900" indent="-342900" algn="just">
              <a:lnSpc>
                <a:spcPts val="2400"/>
              </a:lnSpc>
              <a:spcBef>
                <a:spcPts val="600"/>
              </a:spcBef>
              <a:spcAft>
                <a:spcPts val="0"/>
              </a:spcAft>
              <a:buFont typeface="Arial" panose="020B0604020202020204" pitchFamily="34" charset="0"/>
              <a:buChar char="•"/>
            </a:pP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References to scalability in the </a:t>
            </a:r>
            <a:r>
              <a:rPr lang="en-US" sz="1000" b="1" i="0" kern="1200" dirty="0">
                <a:solidFill>
                  <a:schemeClr val="tx1">
                    <a:lumMod val="65000"/>
                    <a:lumOff val="35000"/>
                  </a:schemeClr>
                </a:solidFill>
                <a:latin typeface="Arial" panose="020B0604020202020204" pitchFamily="34" charset="0"/>
                <a:ea typeface="+mn-ea"/>
                <a:cs typeface="Arial" panose="020B0604020202020204" pitchFamily="34" charset="0"/>
              </a:rPr>
              <a:t>Appendix to the EM to ED-ISQM 2</a:t>
            </a:r>
            <a:r>
              <a:rPr lang="en-US" sz="1000" b="0" i="0" kern="1200" dirty="0">
                <a:solidFill>
                  <a:schemeClr val="tx1">
                    <a:lumMod val="65000"/>
                    <a:lumOff val="35000"/>
                  </a:schemeClr>
                </a:solidFill>
                <a:latin typeface="Arial" panose="020B0604020202020204" pitchFamily="34" charset="0"/>
                <a:ea typeface="+mn-ea"/>
                <a:cs typeface="Arial" panose="020B0604020202020204" pitchFamily="34" charset="0"/>
              </a:rPr>
              <a:t> also were helpful.</a:t>
            </a:r>
            <a:endParaRPr lang="en-US" sz="1000" b="0" i="0" kern="1200" dirty="0">
              <a:solidFill>
                <a:schemeClr val="lt1"/>
              </a:solidFill>
              <a:latin typeface="Arial" panose="020B0604020202020204" pitchFamily="34" charset="0"/>
              <a:ea typeface="+mn-ea"/>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0" kern="1200" dirty="0">
                <a:solidFill>
                  <a:schemeClr val="lt1"/>
                </a:solidFill>
                <a:latin typeface="Arial" panose="020B0604020202020204" pitchFamily="34" charset="0"/>
                <a:ea typeface="+mn-ea"/>
                <a:cs typeface="Arial" panose="020B0604020202020204" pitchFamily="34" charset="0"/>
              </a:rPr>
              <a:t>NOT ON THE SLIDE:</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lt1"/>
                </a:solidFill>
                <a:latin typeface="Arial" panose="020B0604020202020204" pitchFamily="34" charset="0"/>
                <a:ea typeface="+mn-ea"/>
                <a:cs typeface="Arial" panose="020B0604020202020204" pitchFamily="34" charset="0"/>
              </a:rPr>
              <a:t>Challenges for smaller firms to meet eligibility requirements due to small number of qualified individuals in the firm and finding external EQ reviewers may be difficult.</a:t>
            </a:r>
          </a:p>
          <a:p>
            <a:pPr marL="342900" indent="-342900" algn="just">
              <a:lnSpc>
                <a:spcPts val="1400"/>
              </a:lnSpc>
              <a:spcBef>
                <a:spcPts val="600"/>
              </a:spcBef>
              <a:spcAft>
                <a:spcPts val="0"/>
              </a:spcAft>
              <a:buFont typeface="Arial" panose="020B0604020202020204" pitchFamily="34" charset="0"/>
              <a:buChar char="•"/>
            </a:pPr>
            <a:r>
              <a:rPr lang="en-US" sz="1000" b="0" i="0" kern="1200" dirty="0">
                <a:solidFill>
                  <a:schemeClr val="lt1"/>
                </a:solidFill>
                <a:latin typeface="Arial" panose="020B0604020202020204" pitchFamily="34" charset="0"/>
                <a:ea typeface="+mn-ea"/>
                <a:cs typeface="Arial" panose="020B0604020202020204" pitchFamily="34" charset="0"/>
              </a:rPr>
              <a:t>Implementation support and additional guidance will be needed (e.g., examples of scalability for different types of engagements or firms, including examples of documentation).</a:t>
            </a:r>
            <a:endParaRPr lang="en-US" sz="1000" b="0" i="0" dirty="0">
              <a:latin typeface="Arial" panose="020B0604020202020204" pitchFamily="34" charset="0"/>
              <a:cs typeface="Arial" panose="020B0604020202020204" pitchFamily="34" charset="0"/>
            </a:endParaRPr>
          </a:p>
          <a:p>
            <a:pPr algn="just">
              <a:lnSpc>
                <a:spcPts val="1400"/>
              </a:lnSpc>
              <a:spcBef>
                <a:spcPts val="600"/>
              </a:spcBef>
              <a:spcAft>
                <a:spcPts val="0"/>
              </a:spcAft>
            </a:pPr>
            <a:r>
              <a:rPr lang="en-US" sz="1000" b="1" i="1" dirty="0">
                <a:latin typeface="Arial" panose="020B0604020202020204" pitchFamily="34" charset="0"/>
                <a:cs typeface="Arial" panose="020B0604020202020204" pitchFamily="34" charset="0"/>
              </a:rPr>
              <a:t>Conclusion:</a:t>
            </a:r>
          </a:p>
          <a:p>
            <a:pPr algn="just">
              <a:lnSpc>
                <a:spcPts val="1400"/>
              </a:lnSpc>
              <a:spcBef>
                <a:spcPts val="600"/>
              </a:spcBef>
              <a:spcAft>
                <a:spcPts val="0"/>
              </a:spcAft>
            </a:pPr>
            <a:r>
              <a:rPr lang="en-US" sz="1000" b="0" dirty="0">
                <a:latin typeface="Arial" panose="020B0604020202020204" pitchFamily="34" charset="0"/>
                <a:cs typeface="Arial" panose="020B0604020202020204" pitchFamily="34" charset="0"/>
              </a:rPr>
              <a:t>All of the above </a:t>
            </a:r>
            <a:r>
              <a:rPr lang="en-US" sz="1000" b="0" baseline="0" dirty="0">
                <a:latin typeface="Arial" panose="020B0604020202020204" pitchFamily="34" charset="0"/>
                <a:cs typeface="Arial" panose="020B0604020202020204" pitchFamily="34" charset="0"/>
              </a:rPr>
              <a:t>issues and concerns arising from the remaining areas / questions of the EM to ED-ISQM 2, and TF recommendations to address them, will be discussed at the December 2019 IAASB meetings as described in Appendix 4 (Questions and Topics to be Considered by the IAASB) to the issues paper.</a:t>
            </a:r>
            <a:endParaRPr lang="en-US" sz="100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dirty="0"/>
          </a:p>
        </p:txBody>
      </p:sp>
    </p:spTree>
    <p:extLst>
      <p:ext uri="{BB962C8B-B14F-4D97-AF65-F5344CB8AC3E}">
        <p14:creationId xmlns:p14="http://schemas.microsoft.com/office/powerpoint/2010/main" val="2625256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pPr algn="just">
              <a:lnSpc>
                <a:spcPts val="1400"/>
              </a:lnSpc>
              <a:spcBef>
                <a:spcPts val="600"/>
              </a:spcBef>
            </a:pPr>
            <a:r>
              <a:rPr lang="en-US" sz="1000" dirty="0">
                <a:latin typeface="Arial" panose="020B0604020202020204" pitchFamily="34" charset="0"/>
                <a:cs typeface="Arial" panose="020B0604020202020204" pitchFamily="34" charset="0"/>
              </a:rPr>
              <a:t>These were the issues that had their start at the</a:t>
            </a:r>
            <a:r>
              <a:rPr lang="en-US" sz="1000" baseline="0" dirty="0">
                <a:latin typeface="Arial" panose="020B0604020202020204" pitchFamily="34" charset="0"/>
                <a:cs typeface="Arial" panose="020B0604020202020204" pitchFamily="34" charset="0"/>
              </a:rPr>
              <a:t> ITC and remain relevant. The TF brought it first to the Board in light of the significance of these issues in progressing the ISQM 2 project and the level of coordination with IESBA.</a:t>
            </a: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FE31F99D-8DB6-499A-A5BE-D707899593CB}" type="slidenum">
              <a:rPr lang="en-US" smtClean="0"/>
              <a:t>13</a:t>
            </a:fld>
            <a:endParaRPr lang="en-US" dirty="0"/>
          </a:p>
        </p:txBody>
      </p:sp>
    </p:spTree>
    <p:extLst>
      <p:ext uri="{BB962C8B-B14F-4D97-AF65-F5344CB8AC3E}">
        <p14:creationId xmlns:p14="http://schemas.microsoft.com/office/powerpoint/2010/main" val="108541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00"/>
              </a:lnSpc>
              <a:spcBef>
                <a:spcPts val="600"/>
              </a:spcBef>
            </a:pPr>
            <a:r>
              <a:rPr lang="en-US" sz="1000" b="0" i="1" kern="1200" dirty="0">
                <a:solidFill>
                  <a:schemeClr val="tx1"/>
                </a:solidFill>
                <a:effectLst/>
                <a:latin typeface="Arial" panose="020B0604020202020204" pitchFamily="34" charset="0"/>
                <a:ea typeface="+mn-ea"/>
                <a:cs typeface="Arial" panose="020B0604020202020204" pitchFamily="34" charset="0"/>
              </a:rPr>
              <a:t>Scope of Engagements Subject to an EQ Review</a:t>
            </a:r>
            <a:endParaRPr lang="en-US" sz="1000" b="1" kern="1200" dirty="0">
              <a:solidFill>
                <a:schemeClr val="tx1"/>
              </a:solidFill>
              <a:effectLst/>
              <a:latin typeface="Arial" panose="020B0604020202020204" pitchFamily="34" charset="0"/>
              <a:ea typeface="+mn-ea"/>
              <a:cs typeface="Arial" panose="020B0604020202020204" pitchFamily="34" charset="0"/>
            </a:endParaRPr>
          </a:p>
          <a:p>
            <a:pPr marL="347472" indent="-347472">
              <a:lnSpc>
                <a:spcPts val="1400"/>
              </a:lnSpc>
              <a:spcBef>
                <a:spcPts val="600"/>
              </a:spcBef>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The Representatives were supportive of the TF’s proposals.</a:t>
            </a:r>
          </a:p>
          <a:p>
            <a:pPr marL="347472" indent="-347472">
              <a:lnSpc>
                <a:spcPts val="1400"/>
              </a:lnSpc>
              <a:spcBef>
                <a:spcPts val="600"/>
              </a:spcBef>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Noted that it represented an elegant solution to the concerns raised, particularly the concept of SPI.</a:t>
            </a:r>
          </a:p>
          <a:p>
            <a:pPr marL="347472" indent="-347472">
              <a:lnSpc>
                <a:spcPts val="1400"/>
              </a:lnSpc>
              <a:spcBef>
                <a:spcPts val="600"/>
              </a:spcBef>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The requirements as redrafted would be functional in the public sector.</a:t>
            </a:r>
            <a:endParaRPr lang="en-US" sz="1000" b="1" kern="1200" dirty="0">
              <a:solidFill>
                <a:schemeClr val="tx1"/>
              </a:solidFill>
              <a:effectLst/>
              <a:latin typeface="Arial" panose="020B0604020202020204" pitchFamily="34" charset="0"/>
              <a:ea typeface="+mn-ea"/>
              <a:cs typeface="Arial" panose="020B0604020202020204" pitchFamily="34" charset="0"/>
            </a:endParaRPr>
          </a:p>
          <a:p>
            <a:pPr>
              <a:lnSpc>
                <a:spcPts val="1400"/>
              </a:lnSpc>
              <a:spcBef>
                <a:spcPts val="600"/>
              </a:spcBef>
            </a:pPr>
            <a:endParaRPr lang="en-US" sz="1000" b="0" kern="1200" dirty="0">
              <a:solidFill>
                <a:schemeClr val="tx1"/>
              </a:solidFill>
              <a:effectLst/>
              <a:latin typeface="Arial" panose="020B0604020202020204" pitchFamily="34" charset="0"/>
              <a:ea typeface="+mn-ea"/>
              <a:cs typeface="Arial" panose="020B0604020202020204" pitchFamily="34" charset="0"/>
            </a:endParaRPr>
          </a:p>
          <a:p>
            <a:pPr>
              <a:lnSpc>
                <a:spcPts val="1400"/>
              </a:lnSpc>
              <a:spcBef>
                <a:spcPts val="600"/>
              </a:spcBef>
            </a:pPr>
            <a:r>
              <a:rPr lang="en-US" sz="1000" b="0" kern="1200" dirty="0">
                <a:solidFill>
                  <a:schemeClr val="tx1"/>
                </a:solidFill>
                <a:effectLst/>
                <a:latin typeface="Arial" panose="020B0604020202020204" pitchFamily="34" charset="0"/>
                <a:ea typeface="+mn-ea"/>
                <a:cs typeface="Arial" panose="020B0604020202020204" pitchFamily="34" charset="0"/>
              </a:rPr>
              <a:t>The Representatives also provided the following comments and suggestions:</a:t>
            </a:r>
            <a:endParaRPr lang="en-US" sz="1000" b="1" kern="1200" dirty="0">
              <a:solidFill>
                <a:schemeClr val="tx1"/>
              </a:solidFill>
              <a:effectLst/>
              <a:latin typeface="Arial" panose="020B0604020202020204" pitchFamily="34" charset="0"/>
              <a:ea typeface="+mn-ea"/>
              <a:cs typeface="Arial" panose="020B0604020202020204" pitchFamily="34" charset="0"/>
            </a:endParaRPr>
          </a:p>
          <a:p>
            <a:pPr marL="347472" lvl="0" indent="-347472">
              <a:lnSpc>
                <a:spcPts val="1400"/>
              </a:lnSpc>
              <a:spcBef>
                <a:spcPts val="600"/>
              </a:spcBef>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Suggested that the IAASB consider scoping PIEs first and then adding such entities where an EQ review is appropriate due to its nature.</a:t>
            </a:r>
          </a:p>
          <a:p>
            <a:pPr marL="347472" lvl="0" indent="-347472">
              <a:lnSpc>
                <a:spcPts val="1400"/>
              </a:lnSpc>
              <a:spcBef>
                <a:spcPts val="600"/>
              </a:spcBef>
              <a:buFont typeface="Arial" panose="020B0604020202020204" pitchFamily="34" charset="0"/>
              <a:buChar char="•"/>
            </a:pPr>
            <a:r>
              <a:rPr lang="en-US" sz="1000" b="0" kern="1200" dirty="0">
                <a:solidFill>
                  <a:schemeClr val="tx1"/>
                </a:solidFill>
                <a:effectLst/>
                <a:latin typeface="Arial" panose="020B0604020202020204" pitchFamily="34" charset="0"/>
                <a:ea typeface="+mn-ea"/>
                <a:cs typeface="Arial" panose="020B0604020202020204" pitchFamily="34" charset="0"/>
              </a:rPr>
              <a:t>Expressed support for the proposals but noted the importance of the objective of extending EQ reviews to more engagements, and asked whether the proposals would meet this objective.</a:t>
            </a:r>
          </a:p>
          <a:p>
            <a:pPr marL="347472" lvl="0"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Sought clarification whether IPO entities will be subject to an EQ review.</a:t>
            </a:r>
          </a:p>
          <a:p>
            <a:pPr marL="0" lvl="0" indent="0">
              <a:lnSpc>
                <a:spcPts val="1400"/>
              </a:lnSpc>
              <a:spcBef>
                <a:spcPts val="600"/>
              </a:spcBef>
              <a:buFont typeface="Arial" panose="020B0604020202020204" pitchFamily="34" charset="0"/>
              <a:buNone/>
            </a:pPr>
            <a:endParaRPr lang="en-US" sz="1000" b="0" kern="1200" dirty="0">
              <a:solidFill>
                <a:schemeClr val="tx1"/>
              </a:solidFill>
              <a:effectLst/>
              <a:latin typeface="Arial" panose="020B0604020202020204" pitchFamily="34" charset="0"/>
              <a:ea typeface="+mn-ea"/>
              <a:cs typeface="Arial" panose="020B0604020202020204" pitchFamily="34" charset="0"/>
            </a:endParaRPr>
          </a:p>
          <a:p>
            <a:pPr>
              <a:lnSpc>
                <a:spcPts val="1400"/>
              </a:lnSpc>
              <a:spcBef>
                <a:spcPts val="600"/>
              </a:spcBef>
            </a:pPr>
            <a:r>
              <a:rPr lang="en-US" sz="1000" b="0" i="1" kern="1200" dirty="0">
                <a:solidFill>
                  <a:schemeClr val="tx1"/>
                </a:solidFill>
                <a:effectLst/>
                <a:latin typeface="Arial" panose="020B0604020202020204" pitchFamily="34" charset="0"/>
                <a:ea typeface="+mn-ea"/>
                <a:cs typeface="Arial" panose="020B0604020202020204" pitchFamily="34" charset="0"/>
              </a:rPr>
              <a:t>Objectivity and Cooling-Off Period</a:t>
            </a:r>
            <a:endParaRPr lang="en-US" sz="1000" b="1" kern="1200" dirty="0">
              <a:solidFill>
                <a:schemeClr val="tx1"/>
              </a:solidFill>
              <a:effectLst/>
              <a:latin typeface="Arial" panose="020B0604020202020204" pitchFamily="34" charset="0"/>
              <a:ea typeface="+mn-ea"/>
              <a:cs typeface="Arial" panose="020B0604020202020204" pitchFamily="34" charset="0"/>
            </a:endParaRPr>
          </a:p>
          <a:p>
            <a:pPr>
              <a:lnSpc>
                <a:spcPts val="1400"/>
              </a:lnSpc>
              <a:spcBef>
                <a:spcPts val="600"/>
              </a:spcBef>
            </a:pPr>
            <a:endParaRPr lang="en-US" sz="1000" kern="1200" dirty="0">
              <a:solidFill>
                <a:schemeClr val="tx1"/>
              </a:solidFill>
              <a:effectLst/>
              <a:latin typeface="Arial" panose="020B0604020202020204" pitchFamily="34" charset="0"/>
              <a:ea typeface="+mn-ea"/>
              <a:cs typeface="Arial" panose="020B0604020202020204" pitchFamily="34" charset="0"/>
            </a:endParaRPr>
          </a:p>
          <a:p>
            <a:pPr>
              <a:lnSpc>
                <a:spcPts val="1400"/>
              </a:lnSpc>
              <a:spcBef>
                <a:spcPts val="600"/>
              </a:spcBef>
            </a:pPr>
            <a:r>
              <a:rPr lang="en-US" sz="1000" kern="1200" dirty="0">
                <a:solidFill>
                  <a:schemeClr val="tx1"/>
                </a:solidFill>
                <a:effectLst/>
                <a:latin typeface="Arial" panose="020B0604020202020204" pitchFamily="34" charset="0"/>
                <a:ea typeface="+mn-ea"/>
                <a:cs typeface="Arial" panose="020B0604020202020204" pitchFamily="34" charset="0"/>
              </a:rPr>
              <a:t>The Representatives also commented as follows:</a:t>
            </a:r>
          </a:p>
          <a:p>
            <a:pPr marL="347472"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Noted that applying the Conceptual Framework of the IESBA Code may lead practitioners to conclude that a cooling-off period may be necessary to protect objectivity. </a:t>
            </a:r>
          </a:p>
          <a:p>
            <a:pPr marL="347472"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Pointed out that there are jurisdictions where the ISAs are in effect but the IESBA Code is not.</a:t>
            </a:r>
          </a:p>
          <a:p>
            <a:pPr marL="347472"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Noted that the required ethical requirements are within the remit of the IESBA.</a:t>
            </a:r>
          </a:p>
          <a:p>
            <a:pPr marL="347472"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Noted the importance of the linkage between the requirements and guidance in ISQM 2 and the IESBA Code, but cautioned against delaying the approval of ISQM 2 to allow for this to be resolved.</a:t>
            </a:r>
          </a:p>
          <a:p>
            <a:pPr marL="347472"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Supportive of a cooling-off period in ISQM 2 if it is not addressed in the IESBA Code.</a:t>
            </a:r>
          </a:p>
          <a:p>
            <a:pPr marL="0" indent="0">
              <a:lnSpc>
                <a:spcPts val="1400"/>
              </a:lnSpc>
              <a:spcBef>
                <a:spcPts val="600"/>
              </a:spcBef>
              <a:buFont typeface="Arial" panose="020B0604020202020204" pitchFamily="34" charset="0"/>
              <a:buNone/>
            </a:pP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0" indent="0">
              <a:lnSpc>
                <a:spcPts val="1400"/>
              </a:lnSpc>
              <a:spcBef>
                <a:spcPts val="600"/>
              </a:spcBef>
              <a:buFont typeface="Arial" panose="020B0604020202020204" pitchFamily="34" charset="0"/>
              <a:buNone/>
            </a:pPr>
            <a:r>
              <a:rPr lang="en-US" sz="1000" i="1" kern="1200" dirty="0">
                <a:solidFill>
                  <a:schemeClr val="tx1"/>
                </a:solidFill>
                <a:effectLst/>
                <a:latin typeface="Arial" panose="020B0604020202020204" pitchFamily="34" charset="0"/>
                <a:ea typeface="+mn-ea"/>
                <a:cs typeface="Arial" panose="020B0604020202020204" pitchFamily="34" charset="0"/>
              </a:rPr>
              <a:t>Whatever route the IAASB may pursue should be consistent with, and complementary to, the IESBA Code.</a:t>
            </a:r>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dirty="0"/>
          </a:p>
        </p:txBody>
      </p:sp>
    </p:spTree>
    <p:extLst>
      <p:ext uri="{BB962C8B-B14F-4D97-AF65-F5344CB8AC3E}">
        <p14:creationId xmlns:p14="http://schemas.microsoft.com/office/powerpoint/2010/main" val="727599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0" i="1" kern="1200" dirty="0">
                <a:solidFill>
                  <a:schemeClr val="lt1"/>
                </a:solidFill>
                <a:effectLst/>
                <a:latin typeface="Arial" panose="020B0604020202020204" pitchFamily="34" charset="0"/>
                <a:ea typeface="+mn-ea"/>
                <a:cs typeface="Arial" panose="020B0604020202020204" pitchFamily="34" charset="0"/>
              </a:rPr>
              <a:t>ED-ISQM 1 Q11: Do you agree with the proposals addressing the scope of engagements that should be subject to an engagement quality review? In your view, will the requirements result in the proper identification of engagements to be subject an engagement quality review?</a:t>
            </a:r>
            <a:endParaRPr lang="en-US" sz="1000" b="0" i="1"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The scope of engagements subject to an EQ review is covered</a:t>
            </a:r>
            <a:r>
              <a:rPr lang="en-US" sz="1000" b="1" i="1" baseline="0" dirty="0">
                <a:latin typeface="Arial" panose="020B0604020202020204" pitchFamily="34" charset="0"/>
                <a:cs typeface="Arial" panose="020B0604020202020204" pitchFamily="34" charset="0"/>
              </a:rPr>
              <a:t> in para. 11-29 of the issues paper.</a:t>
            </a:r>
            <a:endParaRPr lang="en-US" sz="1000" b="1" i="1"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Discuss the graph / key message.</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23 (23%) – agreed with the proposed scope of engagements subject to an EQ review;</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55 (56%) – agreed with the proposed scope but had further comments;</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7 (7%) – disagreed with the proposals; and</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14 (14%) – responses were unclear or had no specific comments.</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There was strong support from a Monitoring Group member to strengthen the EQ review standard, identifying the expanded scope of engagements for which EQ reviews were required as an area where substantive improvements have been made to the extant standards.</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A Monitoring Group member expressed the view that “internationally active banks” should be subject to a mandatory EQ review and noted that the application guidance should be strengthened by requiring consideration of economic importance, complexity, and activity in relation to whether other banks should be subject to an EQ review.</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The concept of significant public interest (SPI) cannot be consistently interpreted and therefore may be confusing or may result in inconsistent application of the requirements.</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Need to describe, or provide guidance about, how SPI relates to public interest entity (PIE) in the IESBA Code.</a:t>
            </a:r>
            <a:endParaRPr lang="en-US" sz="10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dirty="0"/>
          </a:p>
        </p:txBody>
      </p:sp>
    </p:spTree>
    <p:extLst>
      <p:ext uri="{BB962C8B-B14F-4D97-AF65-F5344CB8AC3E}">
        <p14:creationId xmlns:p14="http://schemas.microsoft.com/office/powerpoint/2010/main" val="264751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spcAft>
                <a:spcPts val="0"/>
              </a:spcAft>
            </a:pPr>
            <a:r>
              <a:rPr lang="en-CA" sz="1000" b="1" i="0" kern="1200" dirty="0">
                <a:solidFill>
                  <a:schemeClr val="lt1"/>
                </a:solidFill>
                <a:effectLst/>
                <a:latin typeface="Arial" panose="020B0604020202020204" pitchFamily="34" charset="0"/>
                <a:ea typeface="+mn-ea"/>
                <a:cs typeface="Arial" panose="020B0604020202020204" pitchFamily="34" charset="0"/>
              </a:rPr>
              <a:t>Task Force’s Key Considerations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The objective, in the public interest, of extending the requirement for an EQ review to engagements in addition to audits of financial statements of listed entities.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The clear direction from respondents indicating that the concept of SPI is difficult to interpret (including with respect to how it relates to the concept of PIE in the IESBA Code) and therefore may be confusing or may result in inconsistent application of the requirements.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it would be practicable to provide guidance for determining engagements that are of SPI that would be clear and capable of consistent application across all engagements and jurisdictions, including for public sector engagements.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it would be possible to define an SPI and determined that the global jurisdictional implications or barriers would be difficult to overcome because of the disparity of the factors or characteristics ascribed to SPIs in different jurisdictions or regions.</a:t>
            </a:r>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dirty="0"/>
          </a:p>
        </p:txBody>
      </p:sp>
    </p:spTree>
    <p:extLst>
      <p:ext uri="{BB962C8B-B14F-4D97-AF65-F5344CB8AC3E}">
        <p14:creationId xmlns:p14="http://schemas.microsoft.com/office/powerpoint/2010/main" val="3404385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1200"/>
              </a:spcBef>
            </a:pPr>
            <a:r>
              <a:rPr lang="en-CA" sz="11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Preliminary Views:</a:t>
            </a:r>
          </a:p>
          <a:p>
            <a:pPr marL="347472" lvl="0" indent="-347472" algn="just">
              <a:lnSpc>
                <a:spcPts val="2400"/>
              </a:lnSpc>
              <a:spcBef>
                <a:spcPts val="600"/>
              </a:spcBef>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Remove the requirement in paragraph 37(e)(ii) for an EQ review for audits of financial statements of entities that the firm determines are of SPI.</a:t>
            </a:r>
          </a:p>
          <a:p>
            <a:pPr marL="347472" lvl="0" indent="-347472" algn="just">
              <a:lnSpc>
                <a:spcPts val="2400"/>
              </a:lnSpc>
              <a:spcBef>
                <a:spcPts val="600"/>
              </a:spcBef>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Add a requirement for audits or other engagements for which the firm determines that an EQ review is appropriate due to the nature of the entity (i.e., not in response to an assessed quality risk).</a:t>
            </a:r>
          </a:p>
          <a:p>
            <a:pPr marL="347472" lvl="0" indent="-347472" algn="just">
              <a:lnSpc>
                <a:spcPts val="2400"/>
              </a:lnSpc>
              <a:spcBef>
                <a:spcPts val="600"/>
              </a:spcBef>
              <a:buFont typeface="Arial" panose="020B0604020202020204" pitchFamily="34" charset="0"/>
              <a:buChar char="•"/>
            </a:pPr>
            <a:r>
              <a:rPr lang="en-US" sz="1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Change the order of the requirements in paragraph 37(e) to better reflect those engagements for which an EQ review is required (i.e., listed entities or by law or regulation) versus those for which the firm determines that an EQ review is appropriate (i.e., in response to an assessed quality risk, or due to the nature of the engagement).</a:t>
            </a:r>
            <a:endParaRPr lang="en-US" sz="1000" b="0" kern="1200" dirty="0">
              <a:solidFill>
                <a:schemeClr val="lt1"/>
              </a:solidFill>
              <a:effectLst/>
              <a:latin typeface="Arial" panose="020B0604020202020204" pitchFamily="34" charset="0"/>
              <a:ea typeface="+mn-ea"/>
              <a:cs typeface="Arial" panose="020B0604020202020204" pitchFamily="34" charset="0"/>
            </a:endParaRPr>
          </a:p>
          <a:p>
            <a:pPr marL="0" indent="0" algn="just">
              <a:lnSpc>
                <a:spcPts val="1400"/>
              </a:lnSpc>
              <a:spcBef>
                <a:spcPts val="600"/>
              </a:spcBef>
              <a:buFont typeface="Arial" panose="020B0604020202020204" pitchFamily="34" charset="0"/>
              <a:buNone/>
            </a:pPr>
            <a:endParaRPr lang="en-US" sz="1000" b="0" kern="1200" dirty="0">
              <a:solidFill>
                <a:schemeClr val="lt1"/>
              </a:solidFill>
              <a:effectLst/>
              <a:latin typeface="Arial" panose="020B0604020202020204" pitchFamily="34" charset="0"/>
              <a:ea typeface="+mn-ea"/>
              <a:cs typeface="Arial" panose="020B0604020202020204" pitchFamily="34" charset="0"/>
            </a:endParaRPr>
          </a:p>
          <a:p>
            <a:pPr marL="347472" indent="-347472" algn="just">
              <a:lnSpc>
                <a:spcPts val="1400"/>
              </a:lnSpc>
              <a:spcBef>
                <a:spcPts val="600"/>
              </a:spcBef>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The TF also has proposed revisions to the related application material based on the proposed revised requirements.</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TF also explored ways to link to the PIE concept in the IESBA Code.</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TF proposed new application material in support of the new proposed requirement for engagements for which the firm determines that an EQ review is appropriate due to the nature of the entity. This application material (see paragraph A105A in the indicative drafting) incorporates factors previously included in paragraph A102 of ED-ISQM 1, and also refers to the similar factors in paragraph 400.8 of the IESBA Code.</a:t>
            </a:r>
          </a:p>
          <a:p>
            <a:pPr marL="347472" indent="-347472" algn="just">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The TF concluded that the proposed revisions described above, including the proposed revised application material, would be responsive to concerns raised by respondents.</a:t>
            </a:r>
            <a:endParaRPr lang="en-US" sz="10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dirty="0"/>
          </a:p>
        </p:txBody>
      </p:sp>
    </p:spTree>
    <p:extLst>
      <p:ext uri="{BB962C8B-B14F-4D97-AF65-F5344CB8AC3E}">
        <p14:creationId xmlns:p14="http://schemas.microsoft.com/office/powerpoint/2010/main" val="1320658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2400"/>
              </a:lnSpc>
              <a:spcBef>
                <a:spcPts val="600"/>
              </a:spcBef>
              <a:spcAft>
                <a:spcPts val="0"/>
              </a:spcAft>
              <a:buNone/>
            </a:pPr>
            <a:endParaRPr lang="en-US" sz="1000" i="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dirty="0"/>
          </a:p>
        </p:txBody>
      </p:sp>
    </p:spTree>
    <p:extLst>
      <p:ext uri="{BB962C8B-B14F-4D97-AF65-F5344CB8AC3E}">
        <p14:creationId xmlns:p14="http://schemas.microsoft.com/office/powerpoint/2010/main" val="635542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r>
              <a:rPr lang="en-US" sz="1000" b="0" i="1" kern="1200" dirty="0">
                <a:solidFill>
                  <a:schemeClr val="lt1"/>
                </a:solidFill>
                <a:effectLst/>
                <a:latin typeface="Arial" panose="020B0604020202020204" pitchFamily="34" charset="0"/>
                <a:ea typeface="+mn-ea"/>
                <a:cs typeface="Arial" panose="020B0604020202020204" pitchFamily="34" charset="0"/>
              </a:rPr>
              <a:t>ED-ISQM 2 Q4(a): What are your views on the need for the guidance in proposed ISQM 2 regarding a “cooling-off” period for that individual before being able to act as the engagement quality reviewer?</a:t>
            </a:r>
            <a:endParaRPr lang="en-US" sz="1000" b="0" i="1"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Objectivity and cooling-off period are covered</a:t>
            </a:r>
            <a:r>
              <a:rPr lang="en-US" sz="1000" b="1" i="1" baseline="0" dirty="0">
                <a:latin typeface="Arial" panose="020B0604020202020204" pitchFamily="34" charset="0"/>
                <a:cs typeface="Arial" panose="020B0604020202020204" pitchFamily="34" charset="0"/>
              </a:rPr>
              <a:t> in para. 30-51 of the issues paper.</a:t>
            </a:r>
            <a:endParaRPr lang="en-US" sz="1000" b="1" i="1" dirty="0">
              <a:latin typeface="Arial" panose="020B0604020202020204" pitchFamily="34" charset="0"/>
              <a:cs typeface="Arial" panose="020B0604020202020204" pitchFamily="34" charset="0"/>
            </a:endParaRPr>
          </a:p>
          <a:p>
            <a:pPr marL="0" indent="0" algn="just">
              <a:lnSpc>
                <a:spcPts val="1400"/>
              </a:lnSpc>
              <a:spcBef>
                <a:spcPts val="600"/>
              </a:spcBef>
              <a:spcAft>
                <a:spcPts val="0"/>
              </a:spcAft>
              <a:buFont typeface="Arial" panose="020B0604020202020204" pitchFamily="34" charset="0"/>
              <a:buNone/>
            </a:pPr>
            <a:r>
              <a:rPr lang="en-US" sz="1000" b="1" i="1" dirty="0">
                <a:latin typeface="Arial" panose="020B0604020202020204" pitchFamily="34" charset="0"/>
                <a:cs typeface="Arial" panose="020B0604020202020204" pitchFamily="34" charset="0"/>
              </a:rPr>
              <a:t>Discuss the graph / key message.</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16 (18%) – agreed on the need for guidance on a cooling-off period;</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54 (59%) – agree but had further comments (e.g., cooling-off period as requirement; flexibility of cooling-off period depending on nature and circumstances of the engagement, among others);</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12 (13%) – disagreed with the guidance or did not support a cooling-off period; and</a:t>
            </a:r>
          </a:p>
          <a:p>
            <a:pPr marL="347472" lvl="0" indent="-347472" algn="just">
              <a:lnSpc>
                <a:spcPts val="1400"/>
              </a:lnSpc>
              <a:spcBef>
                <a:spcPts val="600"/>
              </a:spcBef>
              <a:spcAft>
                <a:spcPts val="0"/>
              </a:spcAft>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9 (10%) – responses were unclear or did not include specific comments.</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Need for a cooling-off period requirement in ISQM 2 or in the IESBA Code.</a:t>
            </a:r>
          </a:p>
          <a:p>
            <a:pPr marL="690372" lvl="1" indent="-347472" algn="just">
              <a:lnSpc>
                <a:spcPts val="1400"/>
              </a:lnSpc>
              <a:spcBef>
                <a:spcPts val="600"/>
              </a:spcBef>
              <a:spcAft>
                <a:spcPts val="0"/>
              </a:spcAft>
              <a:buFont typeface="Courier New" panose="02070309020205020404" pitchFamily="49" charset="0"/>
              <a:buChar char="o"/>
            </a:pPr>
            <a:r>
              <a:rPr lang="en-US" sz="1000" b="0" i="0" kern="1200" dirty="0">
                <a:solidFill>
                  <a:schemeClr val="lt1"/>
                </a:solidFill>
                <a:effectLst/>
                <a:latin typeface="Arial" panose="020B0604020202020204" pitchFamily="34" charset="0"/>
                <a:ea typeface="+mn-ea"/>
                <a:cs typeface="Arial" panose="020B0604020202020204" pitchFamily="34" charset="0"/>
              </a:rPr>
              <a:t>Respondents (including two Monitoring Group members) commented that there should be a requirement for a specific cooling-off period for an individual stepping into the role of EQ reviewer after serving as engagement partner, with views varying as to whether such a requirement should be in ISQM 2 or in the IESBA Code.</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Flexibility of cooling-off period depending on the nature and circumstances of the engagement.</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Guidance on cooling-off period in paragraph A5 of ED-ISQM 2 would become a de facto requirement.</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More guidance consistent with the provisions of the IESBA Code will be needed to drive consistent implementation.</a:t>
            </a:r>
          </a:p>
          <a:p>
            <a:pPr marL="347472" indent="-347472" algn="just">
              <a:lnSpc>
                <a:spcPts val="1400"/>
              </a:lnSpc>
              <a:spcBef>
                <a:spcPts val="600"/>
              </a:spcBef>
              <a:spcAft>
                <a:spcPts val="0"/>
              </a:spcAft>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Some apparent confusion about whether the IESBA Code already addresses this particular cooling-off circumstance.</a:t>
            </a:r>
            <a:endParaRPr lang="en-US" sz="10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dirty="0"/>
          </a:p>
        </p:txBody>
      </p:sp>
    </p:spTree>
    <p:extLst>
      <p:ext uri="{BB962C8B-B14F-4D97-AF65-F5344CB8AC3E}">
        <p14:creationId xmlns:p14="http://schemas.microsoft.com/office/powerpoint/2010/main" val="1743684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ts val="1400"/>
              </a:lnSpc>
              <a:spcBef>
                <a:spcPts val="600"/>
              </a:spcBef>
              <a:buFont typeface="Arial" panose="020B0604020202020204" pitchFamily="34" charset="0"/>
              <a:buNone/>
            </a:pPr>
            <a:r>
              <a:rPr lang="en-US" sz="1000" b="0" i="1" kern="1200" dirty="0">
                <a:solidFill>
                  <a:schemeClr val="lt1"/>
                </a:solidFill>
                <a:effectLst/>
                <a:latin typeface="Arial" panose="020B0604020202020204" pitchFamily="34" charset="0"/>
                <a:ea typeface="+mn-ea"/>
                <a:cs typeface="Arial" panose="020B0604020202020204" pitchFamily="34" charset="0"/>
              </a:rPr>
              <a:t>ED-ISQM 2 Q4(b): If you support such guidance, do you agree that it should be located in proposed ISQM 2 as opposed to the IESBA Code?</a:t>
            </a:r>
          </a:p>
          <a:p>
            <a:pPr marL="0" indent="0">
              <a:lnSpc>
                <a:spcPts val="1400"/>
              </a:lnSpc>
              <a:spcBef>
                <a:spcPts val="600"/>
              </a:spcBef>
              <a:buFont typeface="Arial" panose="020B0604020202020204" pitchFamily="34" charset="0"/>
              <a:buNone/>
            </a:pPr>
            <a:r>
              <a:rPr lang="en-US" sz="1000" b="1" i="1" dirty="0">
                <a:latin typeface="Arial" panose="020B0604020202020204" pitchFamily="34" charset="0"/>
                <a:cs typeface="Arial" panose="020B0604020202020204" pitchFamily="34" charset="0"/>
              </a:rPr>
              <a:t>Discuss the graph / key message.</a:t>
            </a:r>
          </a:p>
          <a:p>
            <a:pPr marL="347472" lvl="0"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16 (18%) – agreed that the guidance should be located in ISQM 2;</a:t>
            </a:r>
          </a:p>
          <a:p>
            <a:pPr marL="347472" lvl="0"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35 (38%) – agreed but had further comments that the guidance (or requirement) should be located in ISQM 2, in both ISQM 2 and the IESBA Code, or align with, or include reference to, the IESBA Code;</a:t>
            </a:r>
          </a:p>
          <a:p>
            <a:pPr marL="347472" lvl="0"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26 (29%) – disagreed with the proposal to include the guidance in ISQM 2; and</a:t>
            </a:r>
          </a:p>
          <a:p>
            <a:pPr marL="347472" lvl="0" indent="-347472">
              <a:lnSpc>
                <a:spcPts val="1400"/>
              </a:lnSpc>
              <a:spcBef>
                <a:spcPts val="600"/>
              </a:spcBef>
              <a:buFont typeface="Arial" panose="020B0604020202020204" pitchFamily="34" charset="0"/>
              <a:buChar char="•"/>
            </a:pPr>
            <a:r>
              <a:rPr lang="en-US" sz="1000" kern="1200" dirty="0">
                <a:solidFill>
                  <a:schemeClr val="tx1"/>
                </a:solidFill>
                <a:effectLst/>
                <a:latin typeface="Arial" panose="020B0604020202020204" pitchFamily="34" charset="0"/>
                <a:ea typeface="+mn-ea"/>
                <a:cs typeface="Arial" panose="020B0604020202020204" pitchFamily="34" charset="0"/>
              </a:rPr>
              <a:t>14 (15%) – responses were unclear or did not include specific comments.</a:t>
            </a:r>
          </a:p>
          <a:p>
            <a:pPr marL="347472" indent="-347472" algn="just">
              <a:lnSpc>
                <a:spcPts val="1400"/>
              </a:lnSpc>
              <a:spcBef>
                <a:spcPts val="600"/>
              </a:spcBef>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Comments on the location of any guidance (or requirement) for a cooling-off period for an individual moving into an EQ reviewer role were about evenly split between a preference for ISQM 2 or the IESBA Code.</a:t>
            </a:r>
          </a:p>
          <a:p>
            <a:pPr marL="347472" indent="-347472" algn="just">
              <a:lnSpc>
                <a:spcPts val="1400"/>
              </a:lnSpc>
              <a:spcBef>
                <a:spcPts val="600"/>
              </a:spcBef>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Comments that cooling-off period should be addressed in ISQM 2 in the absence of a requirement in the IESBA Code.</a:t>
            </a:r>
          </a:p>
          <a:p>
            <a:pPr marL="347472" indent="-347472" algn="just">
              <a:lnSpc>
                <a:spcPts val="1400"/>
              </a:lnSpc>
              <a:spcBef>
                <a:spcPts val="600"/>
              </a:spcBef>
              <a:buFont typeface="Arial" panose="020B0604020202020204" pitchFamily="34" charset="0"/>
              <a:buChar char="•"/>
            </a:pPr>
            <a:r>
              <a:rPr lang="en-US" sz="1000" b="0" i="0" kern="1200" dirty="0">
                <a:solidFill>
                  <a:schemeClr val="lt1"/>
                </a:solidFill>
                <a:effectLst/>
                <a:latin typeface="Arial" panose="020B0604020202020204" pitchFamily="34" charset="0"/>
                <a:ea typeface="+mn-ea"/>
                <a:cs typeface="Arial" panose="020B0604020202020204" pitchFamily="34" charset="0"/>
              </a:rPr>
              <a:t>Suggestion that the guidance could reside in either location as long as appropriate cross-references were provided, while others noted that there was no harm in having the guidance in both places.</a:t>
            </a:r>
            <a:endParaRPr lang="en-US" sz="10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3180522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spcAft>
                <a:spcPts val="0"/>
              </a:spcAft>
            </a:pPr>
            <a:r>
              <a:rPr lang="en-CA" sz="1000" b="1" i="0" kern="1200" dirty="0">
                <a:solidFill>
                  <a:schemeClr val="lt1"/>
                </a:solidFill>
                <a:effectLst/>
                <a:latin typeface="Arial" panose="020B0604020202020204" pitchFamily="34" charset="0"/>
                <a:ea typeface="+mn-ea"/>
                <a:cs typeface="Arial" panose="020B0604020202020204" pitchFamily="34" charset="0"/>
              </a:rPr>
              <a:t>Task Force’s Key Considerations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firm policies or procedures should be required to address threats to objectivity created when an individual steps into an EQ reviewer role after serving as the engagement partner.</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a requirement is needed for a specified cooling-off period for an individual stepping into the EQ reviewer role after serving as the engagement partner, and whether such a requirement should be in the IESBA Code or ISQM 2.</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a requirement or guidance should apply to audits of listed entities, PIEs, or all audits, or even more broadly to all assurance engagements, for which an EQ review is required or for which the firm determines an EQ review is an appropriate response to assessed quality risks.</a:t>
            </a:r>
          </a:p>
          <a:p>
            <a:pPr marL="347472" lvl="0" indent="-347472" algn="just">
              <a:lnSpc>
                <a:spcPts val="1400"/>
              </a:lnSpc>
              <a:spcBef>
                <a:spcPts val="600"/>
              </a:spcBef>
              <a:spcAft>
                <a:spcPts val="0"/>
              </a:spcAft>
              <a:buFont typeface="Arial" panose="020B0604020202020204" pitchFamily="34" charset="0"/>
              <a:buChar char="•"/>
            </a:pPr>
            <a:r>
              <a:rPr lang="en-US" sz="1000" b="0" kern="1200" dirty="0">
                <a:solidFill>
                  <a:schemeClr val="lt1"/>
                </a:solidFill>
                <a:effectLst/>
                <a:latin typeface="Arial" panose="020B0604020202020204" pitchFamily="34" charset="0"/>
                <a:ea typeface="+mn-ea"/>
                <a:cs typeface="Arial" panose="020B0604020202020204" pitchFamily="34" charset="0"/>
              </a:rPr>
              <a:t>Considered whether a requirement or guidance should apply only when an engagement partner steps into an EQ reviewer role, or whether it also should apply when another key audit partner or engagement team member steps into the EQ reviewer role.</a:t>
            </a: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dirty="0"/>
          </a:p>
        </p:txBody>
      </p:sp>
    </p:spTree>
    <p:extLst>
      <p:ext uri="{BB962C8B-B14F-4D97-AF65-F5344CB8AC3E}">
        <p14:creationId xmlns:p14="http://schemas.microsoft.com/office/powerpoint/2010/main" val="449960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00"/>
              </a:lnSpc>
              <a:spcBef>
                <a:spcPts val="600"/>
              </a:spcBef>
            </a:pPr>
            <a:r>
              <a:rPr lang="en-US" sz="1200" dirty="0"/>
              <a:t>First</a:t>
            </a:r>
            <a:r>
              <a:rPr lang="en-US" sz="1200" baseline="0" dirty="0"/>
              <a:t> of the 2 related questions in the issues paper (Q2 &amp; Q3).</a:t>
            </a: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23</a:t>
            </a:fld>
            <a:endParaRPr lang="en-US" dirty="0"/>
          </a:p>
        </p:txBody>
      </p:sp>
    </p:spTree>
    <p:extLst>
      <p:ext uri="{BB962C8B-B14F-4D97-AF65-F5344CB8AC3E}">
        <p14:creationId xmlns:p14="http://schemas.microsoft.com/office/powerpoint/2010/main" val="2636909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24</a:t>
            </a:fld>
            <a:endParaRPr lang="en-US" dirty="0"/>
          </a:p>
        </p:txBody>
      </p:sp>
    </p:spTree>
    <p:extLst>
      <p:ext uri="{BB962C8B-B14F-4D97-AF65-F5344CB8AC3E}">
        <p14:creationId xmlns:p14="http://schemas.microsoft.com/office/powerpoint/2010/main" val="952770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pPr>
            <a:r>
              <a:rPr lang="en-US" sz="1200" dirty="0"/>
              <a:t>The TF expects to have</a:t>
            </a:r>
            <a:r>
              <a:rPr lang="en-US" sz="1200" baseline="0" dirty="0"/>
              <a:t> the 1</a:t>
            </a:r>
            <a:r>
              <a:rPr lang="en-US" sz="1200" baseline="30000" dirty="0"/>
              <a:t>st</a:t>
            </a:r>
            <a:r>
              <a:rPr lang="en-US" sz="1200" baseline="0" dirty="0"/>
              <a:t> draft of the post-ED ISQM 2 ready in December 2019.</a:t>
            </a:r>
          </a:p>
          <a:p>
            <a:pPr algn="just">
              <a:lnSpc>
                <a:spcPts val="1400"/>
              </a:lnSpc>
              <a:spcBef>
                <a:spcPts val="600"/>
              </a:spcBef>
            </a:pPr>
            <a:r>
              <a:rPr lang="en-US" sz="1200" baseline="0" dirty="0"/>
              <a:t>As long as we have time on the IAASB’s agenda, we will be ready to go.</a:t>
            </a:r>
            <a:endParaRPr lang="en-US" sz="1200" dirty="0"/>
          </a:p>
        </p:txBody>
      </p:sp>
      <p:sp>
        <p:nvSpPr>
          <p:cNvPr id="4" name="Slide Number Placeholder 3"/>
          <p:cNvSpPr>
            <a:spLocks noGrp="1"/>
          </p:cNvSpPr>
          <p:nvPr>
            <p:ph type="sldNum" sz="quarter" idx="10"/>
          </p:nvPr>
        </p:nvSpPr>
        <p:spPr/>
        <p:txBody>
          <a:bodyPr/>
          <a:lstStyle/>
          <a:p>
            <a:fld id="{4D410189-AC31-7546-878A-F48FDE4A29F5}" type="slidenum">
              <a:rPr lang="en-US" smtClean="0"/>
              <a:t>25</a:t>
            </a:fld>
            <a:endParaRPr lang="en-US" dirty="0"/>
          </a:p>
        </p:txBody>
      </p:sp>
    </p:spTree>
    <p:extLst>
      <p:ext uri="{BB962C8B-B14F-4D97-AF65-F5344CB8AC3E}">
        <p14:creationId xmlns:p14="http://schemas.microsoft.com/office/powerpoint/2010/main" val="34627231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26</a:t>
            </a:fld>
            <a:endParaRPr lang="en-US" dirty="0"/>
          </a:p>
        </p:txBody>
      </p:sp>
      <p:sp>
        <p:nvSpPr>
          <p:cNvPr id="5" name="Date Placeholder 4"/>
          <p:cNvSpPr>
            <a:spLocks noGrp="1"/>
          </p:cNvSpPr>
          <p:nvPr>
            <p:ph type="dt" idx="11"/>
          </p:nvPr>
        </p:nvSpPr>
        <p:spPr/>
        <p:txBody>
          <a:bodyPr/>
          <a:lstStyle/>
          <a:p>
            <a:pPr>
              <a:defRPr/>
            </a:pPr>
            <a:r>
              <a:rPr lang="en-US" dirty="0"/>
              <a:t>March 2014</a:t>
            </a:r>
          </a:p>
        </p:txBody>
      </p:sp>
      <p:sp>
        <p:nvSpPr>
          <p:cNvPr id="6" name="Header Placeholder 5"/>
          <p:cNvSpPr>
            <a:spLocks noGrp="1"/>
          </p:cNvSpPr>
          <p:nvPr>
            <p:ph type="hdr" sz="quarter" idx="12"/>
          </p:nvPr>
        </p:nvSpPr>
        <p:spPr/>
        <p:txBody>
          <a:bodyPr/>
          <a:lstStyle/>
          <a:p>
            <a:pPr>
              <a:defRPr/>
            </a:pPr>
            <a:r>
              <a:rPr lang="en-US" dirty="0"/>
              <a:t>IAASB Agenda Item 6</a:t>
            </a:r>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7893383" cy="867000"/>
          </a:xfrm>
        </p:spPr>
        <p:txBody>
          <a:bodyPr>
            <a:normAutofit fontScale="90000"/>
          </a:bodyPr>
          <a:lstStyle/>
          <a:p>
            <a:r>
              <a:rPr lang="en-US" sz="2800" b="1" dirty="0"/>
              <a:t>Proposed ISQM 2, </a:t>
            </a:r>
            <a:r>
              <a:rPr lang="en-US" sz="2800" b="1" i="1" dirty="0"/>
              <a:t>Engagement Quality Reviews </a:t>
            </a:r>
            <a:br>
              <a:rPr lang="en-US" sz="2800" b="1" i="1" dirty="0"/>
            </a:br>
            <a:r>
              <a:rPr lang="en-US" sz="2800" b="1" dirty="0"/>
              <a:t>(ED-ISQM 2)</a:t>
            </a:r>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Imran Vanker, IAASB Member and Task Force Chair</a:t>
            </a:r>
          </a:p>
          <a:p>
            <a:pPr>
              <a:spcBef>
                <a:spcPts val="600"/>
              </a:spcBef>
            </a:pPr>
            <a:r>
              <a:rPr lang="en-US" sz="1600" b="1" dirty="0"/>
              <a:t>IAASB Meeting</a:t>
            </a:r>
          </a:p>
          <a:p>
            <a:pPr>
              <a:spcBef>
                <a:spcPts val="600"/>
              </a:spcBef>
            </a:pPr>
            <a:r>
              <a:rPr lang="en-US" sz="1600" b="1" dirty="0"/>
              <a:t>September 18, 2019</a:t>
            </a:r>
          </a:p>
          <a:p>
            <a:pPr>
              <a:spcBef>
                <a:spcPts val="600"/>
              </a:spcBef>
            </a:pPr>
            <a:r>
              <a:rPr lang="en-US" sz="1600" b="1" dirty="0"/>
              <a:t>Agenda Item 7</a:t>
            </a:r>
          </a:p>
        </p:txBody>
      </p:sp>
      <p:sp>
        <p:nvSpPr>
          <p:cNvPr id="4" name="Slide Number Placeholder 5">
            <a:extLst>
              <a:ext uri="{FF2B5EF4-FFF2-40B4-BE49-F238E27FC236}">
                <a16:creationId xmlns:a16="http://schemas.microsoft.com/office/drawing/2014/main" id="{3664150A-AB4F-49F1-8611-9C1057D8B77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451432" y="1078777"/>
            <a:ext cx="5352702" cy="2985946"/>
          </a:xfrm>
          <a:prstGeom prst="rect">
            <a:avLst/>
          </a:prstGeom>
          <a:noFill/>
        </p:spPr>
        <p:txBody>
          <a:bodyPr wrap="square" rtlCol="0">
            <a:spAutoFit/>
          </a:bodyPr>
          <a:lstStyle/>
          <a:p>
            <a:pPr marL="342900" indent="-342900" algn="just">
              <a:lnSpc>
                <a:spcPts val="2400"/>
              </a:lnSpc>
              <a:spcBef>
                <a:spcPts val="600"/>
              </a:spcBef>
              <a:buFont typeface="Arial" panose="020B0604020202020204" pitchFamily="34" charset="0"/>
              <a:buChar char="•"/>
            </a:pPr>
            <a:r>
              <a:rPr lang="en-CA" sz="1800" dirty="0">
                <a:solidFill>
                  <a:schemeClr val="tx1">
                    <a:lumMod val="65000"/>
                    <a:lumOff val="35000"/>
                  </a:schemeClr>
                </a:solidFill>
                <a:latin typeface="Arial" panose="020B0604020202020204" pitchFamily="34" charset="0"/>
                <a:cs typeface="Arial" panose="020B0604020202020204" pitchFamily="34" charset="0"/>
              </a:rPr>
              <a:t>Objectives of this session are to:</a:t>
            </a:r>
          </a:p>
          <a:p>
            <a:pPr marL="685800" lvl="1" indent="-342900" algn="just">
              <a:lnSpc>
                <a:spcPts val="2400"/>
              </a:lnSpc>
              <a:spcBef>
                <a:spcPts val="600"/>
              </a:spcBef>
              <a:buFont typeface="Arial" panose="020B0604020202020204" pitchFamily="34" charset="0"/>
              <a:buChar char="̶"/>
            </a:pPr>
            <a:r>
              <a:rPr lang="en-CA" sz="1600" dirty="0">
                <a:solidFill>
                  <a:schemeClr val="tx1">
                    <a:lumMod val="65000"/>
                    <a:lumOff val="35000"/>
                  </a:schemeClr>
                </a:solidFill>
                <a:latin typeface="Arial" panose="020B0604020202020204" pitchFamily="34" charset="0"/>
                <a:cs typeface="Arial" panose="020B0604020202020204" pitchFamily="34" charset="0"/>
              </a:rPr>
              <a:t>Provide an overview of the feedback received on ED-ISQM 2 and question 11 of the Explanatory Memorandum (EM) to ED-ISQM 1; and</a:t>
            </a:r>
          </a:p>
          <a:p>
            <a:pPr marL="685800" lvl="1" indent="-342900" algn="just">
              <a:lnSpc>
                <a:spcPts val="2400"/>
              </a:lnSpc>
              <a:spcBef>
                <a:spcPts val="600"/>
              </a:spcBef>
              <a:buFont typeface="Arial" panose="020B0604020202020204" pitchFamily="34" charset="0"/>
              <a:buChar char="̶"/>
            </a:pPr>
            <a:r>
              <a:rPr lang="en-CA" sz="1600" dirty="0">
                <a:solidFill>
                  <a:schemeClr val="tx1">
                    <a:lumMod val="65000"/>
                    <a:lumOff val="35000"/>
                  </a:schemeClr>
                </a:solidFill>
                <a:latin typeface="Arial" panose="020B0604020202020204" pitchFamily="34" charset="0"/>
                <a:cs typeface="Arial" panose="020B0604020202020204" pitchFamily="34" charset="0"/>
              </a:rPr>
              <a:t>Obtain the Board’s view on the Task Force’s (TF) proposals to address the key issues presented on the scope of engagements subject to an engagement quality (EQ) review, and objectivity and cooling-off period.</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Introduction</a:t>
            </a:r>
          </a:p>
        </p:txBody>
      </p:sp>
      <p:pic>
        <p:nvPicPr>
          <p:cNvPr id="6" name="Picture 5">
            <a:extLst>
              <a:ext uri="{FF2B5EF4-FFF2-40B4-BE49-F238E27FC236}">
                <a16:creationId xmlns:a16="http://schemas.microsoft.com/office/drawing/2014/main" id="{49ADDFFD-7F15-42D6-9DD3-73CCED6EE4AC}"/>
              </a:ext>
            </a:extLst>
          </p:cNvPr>
          <p:cNvPicPr>
            <a:picLocks noChangeAspect="1"/>
          </p:cNvPicPr>
          <p:nvPr/>
        </p:nvPicPr>
        <p:blipFill>
          <a:blip r:embed="rId3"/>
          <a:stretch>
            <a:fillRect/>
          </a:stretch>
        </p:blipFill>
        <p:spPr>
          <a:xfrm>
            <a:off x="457200" y="911763"/>
            <a:ext cx="2994232" cy="3838935"/>
          </a:xfrm>
          <a:prstGeom prst="rect">
            <a:avLst/>
          </a:prstGeom>
        </p:spPr>
      </p:pic>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57650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89" y="1271200"/>
            <a:ext cx="4325017" cy="3276600"/>
          </a:xfrm>
          <a:prstGeom prst="rect">
            <a:avLst/>
          </a:prstGeom>
        </p:spPr>
      </p:pic>
      <p:sp>
        <p:nvSpPr>
          <p:cNvPr id="3" name="TextBox 2"/>
          <p:cNvSpPr txBox="1"/>
          <p:nvPr/>
        </p:nvSpPr>
        <p:spPr>
          <a:xfrm>
            <a:off x="1997219" y="2519461"/>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Europe: 29</a:t>
            </a:r>
          </a:p>
        </p:txBody>
      </p:sp>
      <p:sp>
        <p:nvSpPr>
          <p:cNvPr id="6" name="TextBox 5"/>
          <p:cNvSpPr txBox="1"/>
          <p:nvPr/>
        </p:nvSpPr>
        <p:spPr>
          <a:xfrm>
            <a:off x="287545" y="2601723"/>
            <a:ext cx="158832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North America: 16</a:t>
            </a:r>
          </a:p>
        </p:txBody>
      </p:sp>
      <p:sp>
        <p:nvSpPr>
          <p:cNvPr id="8" name="TextBox 7"/>
          <p:cNvSpPr txBox="1"/>
          <p:nvPr/>
        </p:nvSpPr>
        <p:spPr>
          <a:xfrm>
            <a:off x="647700" y="3893984"/>
            <a:ext cx="14859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South America: 4</a:t>
            </a:r>
          </a:p>
        </p:txBody>
      </p:sp>
      <p:sp>
        <p:nvSpPr>
          <p:cNvPr id="9" name="TextBox 8"/>
          <p:cNvSpPr txBox="1"/>
          <p:nvPr/>
        </p:nvSpPr>
        <p:spPr>
          <a:xfrm>
            <a:off x="2058797" y="3270355"/>
            <a:ext cx="952500" cy="646331"/>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Middle East and Africa: 8</a:t>
            </a:r>
          </a:p>
        </p:txBody>
      </p:sp>
      <p:sp>
        <p:nvSpPr>
          <p:cNvPr id="10" name="TextBox 9"/>
          <p:cNvSpPr txBox="1"/>
          <p:nvPr/>
        </p:nvSpPr>
        <p:spPr>
          <a:xfrm>
            <a:off x="2155941" y="1618444"/>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Global: 25</a:t>
            </a:r>
          </a:p>
        </p:txBody>
      </p:sp>
      <p:sp>
        <p:nvSpPr>
          <p:cNvPr id="11" name="TextBox 10"/>
          <p:cNvSpPr txBox="1"/>
          <p:nvPr/>
        </p:nvSpPr>
        <p:spPr>
          <a:xfrm>
            <a:off x="3118361" y="3006178"/>
            <a:ext cx="1676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Asia Pacific: 17</a:t>
            </a:r>
          </a:p>
        </p:txBody>
      </p:sp>
      <p:sp>
        <p:nvSpPr>
          <p:cNvPr id="13" name="Title 1">
            <a:extLst>
              <a:ext uri="{FF2B5EF4-FFF2-40B4-BE49-F238E27FC236}">
                <a16:creationId xmlns:a16="http://schemas.microsoft.com/office/drawing/2014/main" id="{3963EEC5-5C95-4E48-AC8C-76AC59C05DB4}"/>
              </a:ext>
            </a:extLst>
          </p:cNvPr>
          <p:cNvSpPr txBox="1">
            <a:spLocks/>
          </p:cNvSpPr>
          <p:nvPr/>
        </p:nvSpPr>
        <p:spPr>
          <a:xfrm>
            <a:off x="0" y="427437"/>
            <a:ext cx="9144000" cy="403875"/>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Overview of Responses on ED-ISQM 1 – Question 11</a:t>
            </a:r>
          </a:p>
        </p:txBody>
      </p:sp>
      <p:graphicFrame>
        <p:nvGraphicFramePr>
          <p:cNvPr id="14" name="Chart 13">
            <a:extLst>
              <a:ext uri="{FF2B5EF4-FFF2-40B4-BE49-F238E27FC236}">
                <a16:creationId xmlns:a16="http://schemas.microsoft.com/office/drawing/2014/main" id="{6B149503-3615-4F21-861B-279C94EEF54E}"/>
              </a:ext>
            </a:extLst>
          </p:cNvPr>
          <p:cNvGraphicFramePr/>
          <p:nvPr>
            <p:extLst>
              <p:ext uri="{D42A27DB-BD31-4B8C-83A1-F6EECF244321}">
                <p14:modId xmlns:p14="http://schemas.microsoft.com/office/powerpoint/2010/main" val="1056382062"/>
              </p:ext>
            </p:extLst>
          </p:nvPr>
        </p:nvGraphicFramePr>
        <p:xfrm>
          <a:off x="4572001" y="943625"/>
          <a:ext cx="4172856" cy="377243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5EF81291-0C8E-454E-9A6F-8287932612E9}"/>
              </a:ext>
            </a:extLst>
          </p:cNvPr>
          <p:cNvSpPr txBox="1"/>
          <p:nvPr/>
        </p:nvSpPr>
        <p:spPr>
          <a:xfrm>
            <a:off x="840441" y="995082"/>
            <a:ext cx="2938183" cy="276999"/>
          </a:xfrm>
          <a:prstGeom prst="rect">
            <a:avLst/>
          </a:prstGeom>
          <a:noFill/>
        </p:spPr>
        <p:txBody>
          <a:bodyPr wrap="square" rtlCol="0">
            <a:spAutoFit/>
          </a:bodyPr>
          <a:lstStyle/>
          <a:p>
            <a:pPr algn="ct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Region</a:t>
            </a:r>
          </a:p>
        </p:txBody>
      </p:sp>
      <p:sp>
        <p:nvSpPr>
          <p:cNvPr id="16" name="Slide Number Placeholder 5">
            <a:extLst>
              <a:ext uri="{FF2B5EF4-FFF2-40B4-BE49-F238E27FC236}">
                <a16:creationId xmlns:a16="http://schemas.microsoft.com/office/drawing/2014/main" id="{347C03F6-4AED-437C-8912-44AF5E87294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29404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89" y="1271200"/>
            <a:ext cx="4325017" cy="3276600"/>
          </a:xfrm>
          <a:prstGeom prst="rect">
            <a:avLst/>
          </a:prstGeom>
        </p:spPr>
      </p:pic>
      <p:sp>
        <p:nvSpPr>
          <p:cNvPr id="3" name="TextBox 2"/>
          <p:cNvSpPr txBox="1"/>
          <p:nvPr/>
        </p:nvSpPr>
        <p:spPr>
          <a:xfrm>
            <a:off x="1997219" y="2519461"/>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Europe: 25</a:t>
            </a:r>
          </a:p>
        </p:txBody>
      </p:sp>
      <p:sp>
        <p:nvSpPr>
          <p:cNvPr id="6" name="TextBox 5"/>
          <p:cNvSpPr txBox="1"/>
          <p:nvPr/>
        </p:nvSpPr>
        <p:spPr>
          <a:xfrm>
            <a:off x="287545" y="2601723"/>
            <a:ext cx="158832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North America: 16</a:t>
            </a:r>
          </a:p>
        </p:txBody>
      </p:sp>
      <p:sp>
        <p:nvSpPr>
          <p:cNvPr id="8" name="TextBox 7"/>
          <p:cNvSpPr txBox="1"/>
          <p:nvPr/>
        </p:nvSpPr>
        <p:spPr>
          <a:xfrm>
            <a:off x="647700" y="3893984"/>
            <a:ext cx="14859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South America: 5</a:t>
            </a:r>
          </a:p>
        </p:txBody>
      </p:sp>
      <p:sp>
        <p:nvSpPr>
          <p:cNvPr id="9" name="TextBox 8"/>
          <p:cNvSpPr txBox="1"/>
          <p:nvPr/>
        </p:nvSpPr>
        <p:spPr>
          <a:xfrm>
            <a:off x="2058797" y="3270355"/>
            <a:ext cx="952500" cy="646331"/>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Middle East and Africa: 9</a:t>
            </a:r>
          </a:p>
        </p:txBody>
      </p:sp>
      <p:sp>
        <p:nvSpPr>
          <p:cNvPr id="10" name="TextBox 9"/>
          <p:cNvSpPr txBox="1"/>
          <p:nvPr/>
        </p:nvSpPr>
        <p:spPr>
          <a:xfrm>
            <a:off x="2155941" y="1618444"/>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Global: 22</a:t>
            </a:r>
          </a:p>
        </p:txBody>
      </p:sp>
      <p:sp>
        <p:nvSpPr>
          <p:cNvPr id="11" name="TextBox 10"/>
          <p:cNvSpPr txBox="1"/>
          <p:nvPr/>
        </p:nvSpPr>
        <p:spPr>
          <a:xfrm>
            <a:off x="3118361" y="3006178"/>
            <a:ext cx="1676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Asia Pacific: 14</a:t>
            </a:r>
          </a:p>
        </p:txBody>
      </p:sp>
      <p:sp>
        <p:nvSpPr>
          <p:cNvPr id="13" name="Title 1">
            <a:extLst>
              <a:ext uri="{FF2B5EF4-FFF2-40B4-BE49-F238E27FC236}">
                <a16:creationId xmlns:a16="http://schemas.microsoft.com/office/drawing/2014/main" id="{3963EEC5-5C95-4E48-AC8C-76AC59C05DB4}"/>
              </a:ext>
            </a:extLst>
          </p:cNvPr>
          <p:cNvSpPr txBox="1">
            <a:spLocks/>
          </p:cNvSpPr>
          <p:nvPr/>
        </p:nvSpPr>
        <p:spPr>
          <a:xfrm>
            <a:off x="0" y="427437"/>
            <a:ext cx="9144000" cy="403875"/>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Overview of Responses on ED-ISQM 2</a:t>
            </a:r>
          </a:p>
        </p:txBody>
      </p:sp>
      <p:graphicFrame>
        <p:nvGraphicFramePr>
          <p:cNvPr id="14" name="Chart 13">
            <a:extLst>
              <a:ext uri="{FF2B5EF4-FFF2-40B4-BE49-F238E27FC236}">
                <a16:creationId xmlns:a16="http://schemas.microsoft.com/office/drawing/2014/main" id="{6B149503-3615-4F21-861B-279C94EEF54E}"/>
              </a:ext>
            </a:extLst>
          </p:cNvPr>
          <p:cNvGraphicFramePr/>
          <p:nvPr>
            <p:extLst>
              <p:ext uri="{D42A27DB-BD31-4B8C-83A1-F6EECF244321}">
                <p14:modId xmlns:p14="http://schemas.microsoft.com/office/powerpoint/2010/main" val="2393621605"/>
              </p:ext>
            </p:extLst>
          </p:nvPr>
        </p:nvGraphicFramePr>
        <p:xfrm>
          <a:off x="4572001" y="943625"/>
          <a:ext cx="4172856" cy="377243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5EF81291-0C8E-454E-9A6F-8287932612E9}"/>
              </a:ext>
            </a:extLst>
          </p:cNvPr>
          <p:cNvSpPr txBox="1"/>
          <p:nvPr/>
        </p:nvSpPr>
        <p:spPr>
          <a:xfrm>
            <a:off x="840441" y="995082"/>
            <a:ext cx="2938183" cy="276999"/>
          </a:xfrm>
          <a:prstGeom prst="rect">
            <a:avLst/>
          </a:prstGeom>
          <a:noFill/>
        </p:spPr>
        <p:txBody>
          <a:bodyPr wrap="square" rtlCol="0">
            <a:spAutoFit/>
          </a:bodyPr>
          <a:lstStyle/>
          <a:p>
            <a:pPr algn="ct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Region</a:t>
            </a:r>
          </a:p>
        </p:txBody>
      </p:sp>
      <p:sp>
        <p:nvSpPr>
          <p:cNvPr id="17" name="Slide Number Placeholder 5">
            <a:extLst>
              <a:ext uri="{FF2B5EF4-FFF2-40B4-BE49-F238E27FC236}">
                <a16:creationId xmlns:a16="http://schemas.microsoft.com/office/drawing/2014/main" id="{C68C10A9-8EFB-4E21-AA70-CFA0EC5303FC}"/>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87330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28269433"/>
              </p:ext>
            </p:extLst>
          </p:nvPr>
        </p:nvGraphicFramePr>
        <p:xfrm>
          <a:off x="430620" y="928255"/>
          <a:ext cx="8302366" cy="3788207"/>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788207">
                <a:tc>
                  <a:txBody>
                    <a:bodyPr/>
                    <a:lstStyle/>
                    <a:p>
                      <a:pPr marL="342900" indent="-342900" algn="just">
                        <a:lnSpc>
                          <a:spcPts val="2400"/>
                        </a:lnSpc>
                        <a:spcBef>
                          <a:spcPts val="600"/>
                        </a:spcBef>
                        <a:spcAft>
                          <a:spcPts val="0"/>
                        </a:spcAft>
                        <a:buFont typeface="Arial" panose="020B0604020202020204" pitchFamily="34" charset="0"/>
                        <a:buChar char="•"/>
                      </a:pPr>
                      <a:r>
                        <a:rPr lang="en-US" sz="2000" b="1" dirty="0">
                          <a:solidFill>
                            <a:schemeClr val="tx1">
                              <a:lumMod val="65000"/>
                              <a:lumOff val="35000"/>
                            </a:schemeClr>
                          </a:solidFill>
                          <a:latin typeface="Arial" panose="020B0604020202020204" pitchFamily="34" charset="0"/>
                          <a:cs typeface="Arial" panose="020B0604020202020204" pitchFamily="34" charset="0"/>
                        </a:rPr>
                        <a:t>Support for a separate standard</a:t>
                      </a:r>
                      <a:r>
                        <a:rPr lang="en-US" sz="2000" b="0" dirty="0">
                          <a:solidFill>
                            <a:schemeClr val="tx1">
                              <a:lumMod val="65000"/>
                              <a:lumOff val="35000"/>
                            </a:schemeClr>
                          </a:solidFill>
                          <a:latin typeface="Arial" panose="020B0604020202020204" pitchFamily="34" charset="0"/>
                          <a:cs typeface="Arial" panose="020B0604020202020204" pitchFamily="34" charset="0"/>
                        </a:rPr>
                        <a:t> for an EQ review:</a:t>
                      </a: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endParaRPr lang="en-US" sz="1800" b="1"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800" b="1" i="0" dirty="0">
                          <a:solidFill>
                            <a:schemeClr val="tx1">
                              <a:lumMod val="65000"/>
                              <a:lumOff val="35000"/>
                            </a:schemeClr>
                          </a:solidFill>
                          <a:latin typeface="Arial" panose="020B0604020202020204" pitchFamily="34" charset="0"/>
                          <a:cs typeface="Arial" panose="020B0604020202020204" pitchFamily="34" charset="0"/>
                        </a:rPr>
                        <a:t>Increases the focus on an EQ review</a:t>
                      </a:r>
                      <a:r>
                        <a:rPr lang="en-US" sz="1800" b="0" i="0" dirty="0">
                          <a:solidFill>
                            <a:schemeClr val="tx1">
                              <a:lumMod val="65000"/>
                              <a:lumOff val="35000"/>
                            </a:schemeClr>
                          </a:solidFill>
                          <a:latin typeface="Arial" panose="020B0604020202020204" pitchFamily="34" charset="0"/>
                          <a:cs typeface="Arial" panose="020B0604020202020204" pitchFamily="34" charset="0"/>
                        </a:rPr>
                        <a:t> as a firm-level response to assessed quality risks.</a:t>
                      </a:r>
                    </a:p>
                    <a:p>
                      <a:pPr marL="694944" indent="-342900" algn="just">
                        <a:lnSpc>
                          <a:spcPts val="2400"/>
                        </a:lnSpc>
                        <a:spcBef>
                          <a:spcPts val="600"/>
                        </a:spcBef>
                        <a:spcAft>
                          <a:spcPts val="0"/>
                        </a:spcAft>
                        <a:buFont typeface="Courier New" panose="02070309020205020404" pitchFamily="49" charset="0"/>
                        <a:buChar char="o"/>
                      </a:pPr>
                      <a:endParaRPr lang="en-US" sz="1800" b="0"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800" b="0" i="0" dirty="0">
                          <a:solidFill>
                            <a:schemeClr val="tx1">
                              <a:lumMod val="65000"/>
                              <a:lumOff val="35000"/>
                            </a:schemeClr>
                          </a:solidFill>
                          <a:latin typeface="Arial" panose="020B0604020202020204" pitchFamily="34" charset="0"/>
                          <a:cs typeface="Arial" panose="020B0604020202020204" pitchFamily="34" charset="0"/>
                        </a:rPr>
                        <a:t>Helps to </a:t>
                      </a:r>
                      <a:r>
                        <a:rPr lang="en-US" sz="1800" b="1" i="0" dirty="0">
                          <a:solidFill>
                            <a:schemeClr val="tx1">
                              <a:lumMod val="65000"/>
                              <a:lumOff val="35000"/>
                            </a:schemeClr>
                          </a:solidFill>
                          <a:latin typeface="Arial" panose="020B0604020202020204" pitchFamily="34" charset="0"/>
                          <a:cs typeface="Arial" panose="020B0604020202020204" pitchFamily="34" charset="0"/>
                        </a:rPr>
                        <a:t>clearly differentiate the roles</a:t>
                      </a:r>
                      <a:r>
                        <a:rPr lang="en-US" sz="1800" b="0" i="0" dirty="0">
                          <a:solidFill>
                            <a:schemeClr val="tx1">
                              <a:lumMod val="65000"/>
                              <a:lumOff val="35000"/>
                            </a:schemeClr>
                          </a:solidFill>
                          <a:latin typeface="Arial" panose="020B0604020202020204" pitchFamily="34" charset="0"/>
                          <a:cs typeface="Arial" panose="020B0604020202020204" pitchFamily="34" charset="0"/>
                        </a:rPr>
                        <a:t> of the firm and the EQ reviewer.</a:t>
                      </a:r>
                    </a:p>
                    <a:p>
                      <a:pPr marL="694944" indent="-342900" algn="just">
                        <a:lnSpc>
                          <a:spcPts val="2400"/>
                        </a:lnSpc>
                        <a:spcBef>
                          <a:spcPts val="600"/>
                        </a:spcBef>
                        <a:spcAft>
                          <a:spcPts val="0"/>
                        </a:spcAft>
                        <a:buFont typeface="Courier New" panose="02070309020205020404" pitchFamily="49" charset="0"/>
                        <a:buChar char="o"/>
                      </a:pPr>
                      <a:endParaRPr lang="en-US" sz="1800" b="1"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800" b="1" i="0" dirty="0">
                          <a:solidFill>
                            <a:schemeClr val="tx1">
                              <a:lumMod val="65000"/>
                              <a:lumOff val="35000"/>
                            </a:schemeClr>
                          </a:solidFill>
                          <a:latin typeface="Arial" panose="020B0604020202020204" pitchFamily="34" charset="0"/>
                          <a:cs typeface="Arial" panose="020B0604020202020204" pitchFamily="34" charset="0"/>
                        </a:rPr>
                        <a:t>Enhances the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requirements</a:t>
                      </a:r>
                      <a:r>
                        <a:rPr lang="en-US" sz="1800" b="1" i="0" dirty="0">
                          <a:solidFill>
                            <a:schemeClr val="tx1">
                              <a:lumMod val="65000"/>
                              <a:lumOff val="35000"/>
                            </a:schemeClr>
                          </a:solidFill>
                          <a:latin typeface="Arial" panose="020B0604020202020204" pitchFamily="34" charset="0"/>
                          <a:cs typeface="Arial" panose="020B0604020202020204" pitchFamily="34" charset="0"/>
                        </a:rPr>
                        <a:t> and guidance</a:t>
                      </a:r>
                      <a:r>
                        <a:rPr lang="en-US" sz="1800" b="0" i="0" dirty="0">
                          <a:solidFill>
                            <a:schemeClr val="tx1">
                              <a:lumMod val="65000"/>
                              <a:lumOff val="35000"/>
                            </a:schemeClr>
                          </a:solidFill>
                          <a:latin typeface="Arial" panose="020B0604020202020204" pitchFamily="34" charset="0"/>
                          <a:cs typeface="Arial" panose="020B0604020202020204" pitchFamily="34" charset="0"/>
                        </a:rPr>
                        <a:t> for appointment and eligibility of the EQ reviewer, and performance and documentation of the EQ review.</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What We Heard in Responses to ED-ISQM 2 – Q1 (Separate Standard)</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950524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38009616"/>
              </p:ext>
            </p:extLst>
          </p:nvPr>
        </p:nvGraphicFramePr>
        <p:xfrm>
          <a:off x="420817" y="912239"/>
          <a:ext cx="8302366" cy="3804224"/>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804224">
                <a:tc>
                  <a:txBody>
                    <a:bodyPr/>
                    <a:lstStyle/>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dirty="0">
                          <a:solidFill>
                            <a:schemeClr val="tx1">
                              <a:lumMod val="65000"/>
                              <a:lumOff val="35000"/>
                            </a:schemeClr>
                          </a:solidFill>
                          <a:latin typeface="Arial" panose="020B0604020202020204" pitchFamily="34" charset="0"/>
                          <a:cs typeface="Arial" panose="020B0604020202020204" pitchFamily="34" charset="0"/>
                        </a:rPr>
                        <a:t>Agree that the </a:t>
                      </a:r>
                      <a:r>
                        <a:rPr lang="en-US" sz="2000" b="1" dirty="0">
                          <a:solidFill>
                            <a:schemeClr val="tx1">
                              <a:lumMod val="65000"/>
                              <a:lumOff val="35000"/>
                            </a:schemeClr>
                          </a:solidFill>
                          <a:latin typeface="Arial" panose="020B0604020202020204" pitchFamily="34" charset="0"/>
                          <a:cs typeface="Arial" panose="020B0604020202020204" pitchFamily="34" charset="0"/>
                        </a:rPr>
                        <a:t>linkages between ED-ISQM 1 and ED-ISQM 2</a:t>
                      </a:r>
                      <a:r>
                        <a:rPr lang="en-US" sz="2000" b="0" dirty="0">
                          <a:solidFill>
                            <a:schemeClr val="tx1">
                              <a:lumMod val="65000"/>
                              <a:lumOff val="35000"/>
                            </a:schemeClr>
                          </a:solidFill>
                          <a:latin typeface="Arial" panose="020B0604020202020204" pitchFamily="34" charset="0"/>
                          <a:cs typeface="Arial" panose="020B0604020202020204" pitchFamily="34" charset="0"/>
                        </a:rPr>
                        <a:t> are appropriate and clear.</a:t>
                      </a: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52044" indent="0" algn="just">
                        <a:lnSpc>
                          <a:spcPts val="2400"/>
                        </a:lnSpc>
                        <a:spcBef>
                          <a:spcPts val="600"/>
                        </a:spcBef>
                        <a:spcAft>
                          <a:spcPts val="0"/>
                        </a:spcAft>
                        <a:buFont typeface="Courier New" panose="02070309020205020404" pitchFamily="49" charset="0"/>
                        <a:buNone/>
                      </a:pPr>
                      <a:endParaRPr lang="en-US" sz="1800" b="1"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800" b="1" i="0" dirty="0">
                          <a:solidFill>
                            <a:schemeClr val="tx1">
                              <a:lumMod val="65000"/>
                              <a:lumOff val="35000"/>
                            </a:schemeClr>
                          </a:solidFill>
                          <a:latin typeface="Arial" panose="020B0604020202020204" pitchFamily="34" charset="0"/>
                          <a:cs typeface="Arial" panose="020B0604020202020204" pitchFamily="34" charset="0"/>
                        </a:rPr>
                        <a:t>ED-ISQM 1</a:t>
                      </a:r>
                      <a:r>
                        <a:rPr lang="en-US" sz="1800" b="0" i="0" dirty="0">
                          <a:solidFill>
                            <a:schemeClr val="tx1">
                              <a:lumMod val="65000"/>
                              <a:lumOff val="35000"/>
                            </a:schemeClr>
                          </a:solidFill>
                          <a:latin typeface="Arial" panose="020B0604020202020204" pitchFamily="34" charset="0"/>
                          <a:cs typeface="Arial" panose="020B0604020202020204" pitchFamily="34" charset="0"/>
                        </a:rPr>
                        <a:t> establishes the requirements for determining which </a:t>
                      </a:r>
                      <a:r>
                        <a:rPr lang="en-US" sz="1800" b="1" i="0" dirty="0">
                          <a:solidFill>
                            <a:schemeClr val="tx1">
                              <a:lumMod val="65000"/>
                              <a:lumOff val="35000"/>
                            </a:schemeClr>
                          </a:solidFill>
                          <a:latin typeface="Arial" panose="020B0604020202020204" pitchFamily="34" charset="0"/>
                          <a:cs typeface="Arial" panose="020B0604020202020204" pitchFamily="34" charset="0"/>
                        </a:rPr>
                        <a:t>engagements are subject to an EQ review</a:t>
                      </a:r>
                      <a:r>
                        <a:rPr lang="en-US" sz="1800" b="0" i="0" dirty="0">
                          <a:solidFill>
                            <a:schemeClr val="tx1">
                              <a:lumMod val="65000"/>
                              <a:lumOff val="35000"/>
                            </a:schemeClr>
                          </a:solidFill>
                          <a:latin typeface="Arial" panose="020B0604020202020204" pitchFamily="34" charset="0"/>
                          <a:cs typeface="Arial" panose="020B0604020202020204" pitchFamily="34" charset="0"/>
                        </a:rPr>
                        <a:t>.</a:t>
                      </a:r>
                    </a:p>
                    <a:p>
                      <a:pPr marL="352044" indent="0" algn="just">
                        <a:lnSpc>
                          <a:spcPts val="2400"/>
                        </a:lnSpc>
                        <a:spcBef>
                          <a:spcPts val="600"/>
                        </a:spcBef>
                        <a:spcAft>
                          <a:spcPts val="0"/>
                        </a:spcAft>
                        <a:buFont typeface="Courier New" panose="02070309020205020404" pitchFamily="49" charset="0"/>
                        <a:buNone/>
                      </a:pPr>
                      <a:endParaRPr lang="en-US" sz="1800" b="1" i="0" dirty="0">
                        <a:solidFill>
                          <a:schemeClr val="tx1">
                            <a:lumMod val="65000"/>
                            <a:lumOff val="35000"/>
                          </a:schemeClr>
                        </a:solidFill>
                        <a:latin typeface="Arial" panose="020B0604020202020204" pitchFamily="34" charset="0"/>
                        <a:cs typeface="Arial" panose="020B0604020202020204" pitchFamily="34" charset="0"/>
                      </a:endParaRPr>
                    </a:p>
                    <a:p>
                      <a:pPr marL="694944" indent="-342900" algn="just">
                        <a:lnSpc>
                          <a:spcPts val="2400"/>
                        </a:lnSpc>
                        <a:spcBef>
                          <a:spcPts val="600"/>
                        </a:spcBef>
                        <a:spcAft>
                          <a:spcPts val="0"/>
                        </a:spcAft>
                        <a:buFont typeface="Courier New" panose="02070309020205020404" pitchFamily="49" charset="0"/>
                        <a:buChar char="o"/>
                      </a:pPr>
                      <a:r>
                        <a:rPr lang="en-US" sz="1800" b="1" i="0" dirty="0">
                          <a:solidFill>
                            <a:schemeClr val="tx1">
                              <a:lumMod val="65000"/>
                              <a:lumOff val="35000"/>
                            </a:schemeClr>
                          </a:solidFill>
                          <a:latin typeface="Arial" panose="020B0604020202020204" pitchFamily="34" charset="0"/>
                          <a:cs typeface="Arial" panose="020B0604020202020204" pitchFamily="34" charset="0"/>
                        </a:rPr>
                        <a:t>ED-ISQM 2</a:t>
                      </a:r>
                      <a:r>
                        <a:rPr lang="en-US" sz="1800" b="0" i="0" dirty="0">
                          <a:solidFill>
                            <a:schemeClr val="tx1">
                              <a:lumMod val="65000"/>
                              <a:lumOff val="35000"/>
                            </a:schemeClr>
                          </a:solidFill>
                          <a:latin typeface="Arial" panose="020B0604020202020204" pitchFamily="34" charset="0"/>
                          <a:cs typeface="Arial" panose="020B0604020202020204" pitchFamily="34" charset="0"/>
                        </a:rPr>
                        <a:t> deals with the </a:t>
                      </a:r>
                      <a:r>
                        <a:rPr lang="en-US" sz="1800" b="1" i="0" dirty="0">
                          <a:solidFill>
                            <a:schemeClr val="tx1">
                              <a:lumMod val="65000"/>
                              <a:lumOff val="35000"/>
                            </a:schemeClr>
                          </a:solidFill>
                          <a:latin typeface="Arial" panose="020B0604020202020204" pitchFamily="34" charset="0"/>
                          <a:cs typeface="Arial" panose="020B0604020202020204" pitchFamily="34" charset="0"/>
                        </a:rPr>
                        <a:t>eligibility and appointment</a:t>
                      </a:r>
                      <a:r>
                        <a:rPr lang="en-US" sz="1800" b="0" i="0" dirty="0">
                          <a:solidFill>
                            <a:schemeClr val="tx1">
                              <a:lumMod val="65000"/>
                              <a:lumOff val="35000"/>
                            </a:schemeClr>
                          </a:solidFill>
                          <a:latin typeface="Arial" panose="020B0604020202020204" pitchFamily="34" charset="0"/>
                          <a:cs typeface="Arial" panose="020B0604020202020204" pitchFamily="34" charset="0"/>
                        </a:rPr>
                        <a:t> of an EQ reviewer and the </a:t>
                      </a:r>
                      <a:r>
                        <a:rPr lang="en-US" sz="1800" b="1" i="0" dirty="0">
                          <a:solidFill>
                            <a:schemeClr val="tx1">
                              <a:lumMod val="65000"/>
                              <a:lumOff val="35000"/>
                            </a:schemeClr>
                          </a:solidFill>
                          <a:latin typeface="Arial" panose="020B0604020202020204" pitchFamily="34" charset="0"/>
                          <a:cs typeface="Arial" panose="020B0604020202020204" pitchFamily="34" charset="0"/>
                        </a:rPr>
                        <a:t>performance and documentation</a:t>
                      </a:r>
                      <a:r>
                        <a:rPr lang="en-US" sz="1800" b="0" i="0" dirty="0">
                          <a:solidFill>
                            <a:schemeClr val="tx1">
                              <a:lumMod val="65000"/>
                              <a:lumOff val="35000"/>
                            </a:schemeClr>
                          </a:solidFill>
                          <a:latin typeface="Arial" panose="020B0604020202020204" pitchFamily="34" charset="0"/>
                          <a:cs typeface="Arial" panose="020B0604020202020204" pitchFamily="34" charset="0"/>
                        </a:rPr>
                        <a:t> of the EQ review.</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Q2 (Linkages)</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96082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57480516"/>
              </p:ext>
            </p:extLst>
          </p:nvPr>
        </p:nvGraphicFramePr>
        <p:xfrm>
          <a:off x="420817" y="912239"/>
          <a:ext cx="8302366" cy="3804224"/>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804224">
                <a:tc>
                  <a:txBody>
                    <a:bodyPr/>
                    <a:lstStyle/>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1" i="0" dirty="0">
                          <a:solidFill>
                            <a:schemeClr val="tx1">
                              <a:lumMod val="65000"/>
                              <a:lumOff val="35000"/>
                            </a:schemeClr>
                          </a:solidFill>
                          <a:latin typeface="Arial" panose="020B0604020202020204" pitchFamily="34" charset="0"/>
                          <a:cs typeface="Arial" panose="020B0604020202020204" pitchFamily="34" charset="0"/>
                        </a:rPr>
                        <a:t>Support the change in terminology</a:t>
                      </a:r>
                      <a:r>
                        <a:rPr lang="en-US" sz="2000" b="0" i="0" dirty="0">
                          <a:solidFill>
                            <a:schemeClr val="tx1">
                              <a:lumMod val="65000"/>
                              <a:lumOff val="35000"/>
                            </a:schemeClr>
                          </a:solidFill>
                          <a:latin typeface="Arial" panose="020B0604020202020204" pitchFamily="34" charset="0"/>
                          <a:cs typeface="Arial" panose="020B0604020202020204" pitchFamily="34" charset="0"/>
                        </a:rPr>
                        <a:t> because the emphasis is now on quality management, rather than on quality control.</a:t>
                      </a:r>
                    </a:p>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1" i="0" dirty="0">
                          <a:solidFill>
                            <a:schemeClr val="tx1">
                              <a:lumMod val="65000"/>
                              <a:lumOff val="35000"/>
                            </a:schemeClr>
                          </a:solidFill>
                          <a:latin typeface="Arial" panose="020B0604020202020204" pitchFamily="34" charset="0"/>
                          <a:cs typeface="Arial" panose="020B0604020202020204" pitchFamily="34" charset="0"/>
                        </a:rPr>
                        <a:t>Do not anticipate any adverse consequences</a:t>
                      </a:r>
                      <a:r>
                        <a:rPr lang="en-US" sz="2000" b="0" i="0" dirty="0">
                          <a:solidFill>
                            <a:schemeClr val="tx1">
                              <a:lumMod val="65000"/>
                              <a:lumOff val="35000"/>
                            </a:schemeClr>
                          </a:solidFill>
                          <a:latin typeface="Arial" panose="020B0604020202020204" pitchFamily="34" charset="0"/>
                          <a:cs typeface="Arial" panose="020B0604020202020204" pitchFamily="34" charset="0"/>
                        </a:rPr>
                        <a:t> of changing the terminology.</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Q3 (Terminology)</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0375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76057802"/>
              </p:ext>
            </p:extLst>
          </p:nvPr>
        </p:nvGraphicFramePr>
        <p:xfrm>
          <a:off x="430620" y="1625357"/>
          <a:ext cx="8302366" cy="3091105"/>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091105">
                <a:tc>
                  <a:txBody>
                    <a:bodyPr/>
                    <a:lstStyle/>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Consider whether the </a:t>
                      </a:r>
                      <a:r>
                        <a:rPr lang="en-US" sz="2000" b="1" i="0" dirty="0">
                          <a:solidFill>
                            <a:schemeClr val="tx1">
                              <a:lumMod val="65000"/>
                              <a:lumOff val="35000"/>
                            </a:schemeClr>
                          </a:solidFill>
                          <a:latin typeface="Arial" panose="020B0604020202020204" pitchFamily="34" charset="0"/>
                          <a:cs typeface="Arial" panose="020B0604020202020204" pitchFamily="34" charset="0"/>
                        </a:rPr>
                        <a:t>limitations on eligibility</a:t>
                      </a:r>
                      <a:r>
                        <a:rPr lang="en-US" sz="2000" b="0" i="0" dirty="0">
                          <a:solidFill>
                            <a:schemeClr val="tx1">
                              <a:lumMod val="65000"/>
                              <a:lumOff val="35000"/>
                            </a:schemeClr>
                          </a:solidFill>
                          <a:latin typeface="Arial" panose="020B0604020202020204" pitchFamily="34" charset="0"/>
                          <a:cs typeface="Arial" panose="020B0604020202020204" pitchFamily="34" charset="0"/>
                        </a:rPr>
                        <a:t> of an engagement partner moving into an EQ reviewer role should also </a:t>
                      </a:r>
                      <a:r>
                        <a:rPr lang="en-US" sz="2000" b="1" i="0" dirty="0">
                          <a:solidFill>
                            <a:schemeClr val="tx1">
                              <a:lumMod val="65000"/>
                              <a:lumOff val="35000"/>
                            </a:schemeClr>
                          </a:solidFill>
                          <a:latin typeface="Arial" panose="020B0604020202020204" pitchFamily="34" charset="0"/>
                          <a:cs typeface="Arial" panose="020B0604020202020204" pitchFamily="34" charset="0"/>
                        </a:rPr>
                        <a:t>apply to other roles on the engagement</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Clarify if the </a:t>
                      </a:r>
                      <a:r>
                        <a:rPr lang="en-US" sz="2000" b="1" i="0" dirty="0">
                          <a:solidFill>
                            <a:schemeClr val="tx1">
                              <a:lumMod val="65000"/>
                              <a:lumOff val="35000"/>
                            </a:schemeClr>
                          </a:solidFill>
                          <a:latin typeface="Arial" panose="020B0604020202020204" pitchFamily="34" charset="0"/>
                          <a:cs typeface="Arial" panose="020B0604020202020204" pitchFamily="34" charset="0"/>
                        </a:rPr>
                        <a:t>principle on threats to objectivity and guidance on cooling-off period</a:t>
                      </a:r>
                      <a:r>
                        <a:rPr lang="en-US" sz="2000" b="0" i="0" dirty="0">
                          <a:solidFill>
                            <a:schemeClr val="tx1">
                              <a:lumMod val="65000"/>
                              <a:lumOff val="35000"/>
                            </a:schemeClr>
                          </a:solidFill>
                          <a:latin typeface="Arial" panose="020B0604020202020204" pitchFamily="34" charset="0"/>
                          <a:cs typeface="Arial" panose="020B0604020202020204" pitchFamily="34" charset="0"/>
                        </a:rPr>
                        <a:t> also </a:t>
                      </a:r>
                      <a:r>
                        <a:rPr lang="en-US" sz="2000" b="1" i="0" dirty="0">
                          <a:solidFill>
                            <a:schemeClr val="tx1">
                              <a:lumMod val="65000"/>
                              <a:lumOff val="35000"/>
                            </a:schemeClr>
                          </a:solidFill>
                          <a:latin typeface="Arial" panose="020B0604020202020204" pitchFamily="34" charset="0"/>
                          <a:cs typeface="Arial" panose="020B0604020202020204" pitchFamily="34" charset="0"/>
                        </a:rPr>
                        <a:t>apply to assistants of the EQ reviewer</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Q4 (Eligibility)</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8</a:t>
            </a:fld>
            <a:endParaRPr lang="en-US" sz="675" dirty="0">
              <a:solidFill>
                <a:srgbClr val="808080"/>
              </a:solidFill>
              <a:latin typeface="Arial" panose="020B0604020202020204" pitchFamily="34" charset="0"/>
            </a:endParaRPr>
          </a:p>
        </p:txBody>
      </p:sp>
      <p:sp>
        <p:nvSpPr>
          <p:cNvPr id="3" name="TextBox 2">
            <a:extLst>
              <a:ext uri="{FF2B5EF4-FFF2-40B4-BE49-F238E27FC236}">
                <a16:creationId xmlns:a16="http://schemas.microsoft.com/office/drawing/2014/main" id="{D87EE9A7-C7E8-40B4-88A8-21F5C6E56600}"/>
              </a:ext>
            </a:extLst>
          </p:cNvPr>
          <p:cNvSpPr txBox="1"/>
          <p:nvPr/>
        </p:nvSpPr>
        <p:spPr>
          <a:xfrm>
            <a:off x="430620" y="886693"/>
            <a:ext cx="8282760" cy="738664"/>
          </a:xfrm>
          <a:prstGeom prst="rect">
            <a:avLst/>
          </a:prstGeom>
          <a:noFill/>
        </p:spPr>
        <p:txBody>
          <a:bodyPr wrap="square" rtlCol="0">
            <a:spAutoFit/>
          </a:bodyPr>
          <a:lstStyle/>
          <a:p>
            <a:pPr algn="just"/>
            <a:r>
              <a:rPr lang="en-US" sz="1400" b="1" i="1" dirty="0">
                <a:solidFill>
                  <a:schemeClr val="tx1">
                    <a:lumMod val="65000"/>
                    <a:lumOff val="35000"/>
                  </a:schemeClr>
                </a:solidFill>
                <a:latin typeface="Arial" panose="020B0604020202020204" pitchFamily="34" charset="0"/>
                <a:cs typeface="Arial" panose="020B0604020202020204" pitchFamily="34" charset="0"/>
              </a:rPr>
              <a:t>Note: These points relate to considerations other than those discussed on slides 19-24 relating to objectivity and a cooling-off period for an engagement partner moving into the EQ reviewer role.</a:t>
            </a:r>
          </a:p>
        </p:txBody>
      </p:sp>
    </p:spTree>
    <p:extLst>
      <p:ext uri="{BB962C8B-B14F-4D97-AF65-F5344CB8AC3E}">
        <p14:creationId xmlns:p14="http://schemas.microsoft.com/office/powerpoint/2010/main" val="29291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82094460"/>
              </p:ext>
            </p:extLst>
          </p:nvPr>
        </p:nvGraphicFramePr>
        <p:xfrm>
          <a:off x="430620" y="912239"/>
          <a:ext cx="8302366" cy="3804224"/>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804224">
                <a:tc>
                  <a:txBody>
                    <a:bodyPr/>
                    <a:lstStyle/>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Define, or provide guidance</a:t>
                      </a:r>
                      <a:r>
                        <a:rPr lang="en-US" sz="2000" b="0" i="0" baseline="0" dirty="0">
                          <a:solidFill>
                            <a:schemeClr val="tx1">
                              <a:lumMod val="65000"/>
                              <a:lumOff val="35000"/>
                            </a:schemeClr>
                          </a:solidFill>
                          <a:latin typeface="Arial" panose="020B0604020202020204" pitchFamily="34" charset="0"/>
                          <a:cs typeface="Arial" panose="020B0604020202020204" pitchFamily="34" charset="0"/>
                        </a:rPr>
                        <a:t> on, </a:t>
                      </a:r>
                      <a:r>
                        <a:rPr lang="en-US" sz="2000" b="1" i="0" dirty="0">
                          <a:solidFill>
                            <a:schemeClr val="tx1">
                              <a:lumMod val="65000"/>
                              <a:lumOff val="35000"/>
                            </a:schemeClr>
                          </a:solidFill>
                          <a:latin typeface="Arial" panose="020B0604020202020204" pitchFamily="34" charset="0"/>
                          <a:cs typeface="Arial" panose="020B0604020202020204" pitchFamily="34" charset="0"/>
                        </a:rPr>
                        <a:t>significant matters</a:t>
                      </a:r>
                      <a:r>
                        <a:rPr lang="en-US" sz="2000" b="0" i="0" dirty="0">
                          <a:solidFill>
                            <a:schemeClr val="tx1">
                              <a:lumMod val="65000"/>
                              <a:lumOff val="35000"/>
                            </a:schemeClr>
                          </a:solidFill>
                          <a:latin typeface="Arial" panose="020B0604020202020204" pitchFamily="34" charset="0"/>
                          <a:cs typeface="Arial" panose="020B0604020202020204" pitchFamily="34" charset="0"/>
                        </a:rPr>
                        <a:t> and </a:t>
                      </a:r>
                      <a:r>
                        <a:rPr lang="en-US" sz="2000" b="1" i="0" dirty="0">
                          <a:solidFill>
                            <a:schemeClr val="tx1">
                              <a:lumMod val="65000"/>
                              <a:lumOff val="35000"/>
                            </a:schemeClr>
                          </a:solidFill>
                          <a:latin typeface="Arial" panose="020B0604020202020204" pitchFamily="34" charset="0"/>
                          <a:cs typeface="Arial" panose="020B0604020202020204" pitchFamily="34" charset="0"/>
                        </a:rPr>
                        <a:t>significant judgments</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Clarify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how to demonstrate</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or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how to document</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compliance </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with the requirements</a:t>
                      </a:r>
                      <a:r>
                        <a:rPr lang="en-US" sz="2000" b="0" i="0" kern="1200" baseline="0" dirty="0">
                          <a:solidFill>
                            <a:schemeClr val="tx1">
                              <a:lumMod val="65000"/>
                              <a:lumOff val="35000"/>
                            </a:schemeClr>
                          </a:solidFill>
                          <a:latin typeface="Arial" panose="020B0604020202020204" pitchFamily="34" charset="0"/>
                          <a:ea typeface="+mn-ea"/>
                          <a:cs typeface="Arial" panose="020B0604020202020204" pitchFamily="34" charset="0"/>
                        </a:rPr>
                        <a:t>.</a:t>
                      </a:r>
                      <a:endPar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Clarify the </a:t>
                      </a:r>
                      <a:r>
                        <a:rPr lang="en-US" sz="2000" b="1" i="0" dirty="0">
                          <a:solidFill>
                            <a:schemeClr val="tx1">
                              <a:lumMod val="65000"/>
                              <a:lumOff val="35000"/>
                            </a:schemeClr>
                          </a:solidFill>
                          <a:latin typeface="Arial" panose="020B0604020202020204" pitchFamily="34" charset="0"/>
                          <a:cs typeface="Arial" panose="020B0604020202020204" pitchFamily="34" charset="0"/>
                        </a:rPr>
                        <a:t>replacement EQ reviewer’s responsibilities</a:t>
                      </a:r>
                      <a:r>
                        <a:rPr lang="en-US" sz="2000" b="0" i="0" dirty="0">
                          <a:solidFill>
                            <a:schemeClr val="tx1">
                              <a:lumMod val="65000"/>
                              <a:lumOff val="35000"/>
                            </a:schemeClr>
                          </a:solidFill>
                          <a:latin typeface="Arial" panose="020B0604020202020204" pitchFamily="34" charset="0"/>
                          <a:cs typeface="Arial" panose="020B0604020202020204" pitchFamily="34" charset="0"/>
                        </a:rPr>
                        <a:t> and the </a:t>
                      </a:r>
                      <a:r>
                        <a:rPr lang="en-US" sz="2000" b="1" i="0" dirty="0">
                          <a:solidFill>
                            <a:schemeClr val="tx1">
                              <a:lumMod val="65000"/>
                              <a:lumOff val="35000"/>
                            </a:schemeClr>
                          </a:solidFill>
                          <a:latin typeface="Arial" panose="020B0604020202020204" pitchFamily="34" charset="0"/>
                          <a:cs typeface="Arial" panose="020B0604020202020204" pitchFamily="34" charset="0"/>
                        </a:rPr>
                        <a:t>EQ reviewer assistant’s responsibilities</a:t>
                      </a:r>
                      <a:r>
                        <a:rPr lang="en-US" sz="2000" b="0" i="0" dirty="0">
                          <a:solidFill>
                            <a:schemeClr val="tx1">
                              <a:lumMod val="65000"/>
                              <a:lumOff val="35000"/>
                            </a:schemeClr>
                          </a:solidFill>
                          <a:latin typeface="Arial" panose="020B0604020202020204" pitchFamily="34" charset="0"/>
                          <a:cs typeface="Arial" panose="020B0604020202020204" pitchFamily="34" charset="0"/>
                        </a:rPr>
                        <a:t>. </a:t>
                      </a: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Consider the EQ reviewer’s responsibility to consider </a:t>
                      </a:r>
                      <a:r>
                        <a:rPr lang="en-US" sz="2000" b="1" i="0" dirty="0">
                          <a:solidFill>
                            <a:schemeClr val="tx1">
                              <a:lumMod val="65000"/>
                              <a:lumOff val="35000"/>
                            </a:schemeClr>
                          </a:solidFill>
                          <a:latin typeface="Arial" panose="020B0604020202020204" pitchFamily="34" charset="0"/>
                          <a:cs typeface="Arial" panose="020B0604020202020204" pitchFamily="34" charset="0"/>
                        </a:rPr>
                        <a:t>independence matters</a:t>
                      </a:r>
                      <a:r>
                        <a:rPr lang="en-US" sz="2000" b="0" i="0" dirty="0">
                          <a:solidFill>
                            <a:schemeClr val="tx1">
                              <a:lumMod val="65000"/>
                              <a:lumOff val="35000"/>
                            </a:schemeClr>
                          </a:solidFill>
                          <a:latin typeface="Arial" panose="020B0604020202020204" pitchFamily="34" charset="0"/>
                          <a:cs typeface="Arial" panose="020B0604020202020204" pitchFamily="34" charset="0"/>
                        </a:rPr>
                        <a:t> (in extant), and to review other specific matters.</a:t>
                      </a:r>
                    </a:p>
                    <a:p>
                      <a:pPr marL="342900" marR="0" lvl="0" indent="-342900" algn="just" defTabSz="342900" rtl="0" eaLnBrk="1" fontAlgn="auto" latinLnBrk="0" hangingPunct="1">
                        <a:lnSpc>
                          <a:spcPts val="2400"/>
                        </a:lnSpc>
                        <a:spcBef>
                          <a:spcPts val="600"/>
                        </a:spcBef>
                        <a:spcAft>
                          <a:spcPts val="0"/>
                        </a:spcAft>
                        <a:buClrTx/>
                        <a:buSzTx/>
                        <a:buFont typeface="Arial" panose="020B0604020202020204" pitchFamily="34" charset="0"/>
                        <a:buChar char="•"/>
                        <a:tabLst/>
                        <a:defRPr/>
                      </a:pPr>
                      <a:r>
                        <a:rPr lang="en-US" sz="2000" b="0" i="0" dirty="0">
                          <a:solidFill>
                            <a:schemeClr val="tx1">
                              <a:lumMod val="65000"/>
                              <a:lumOff val="35000"/>
                            </a:schemeClr>
                          </a:solidFill>
                          <a:latin typeface="Arial" panose="020B0604020202020204" pitchFamily="34" charset="0"/>
                          <a:cs typeface="Arial" panose="020B0604020202020204" pitchFamily="34" charset="0"/>
                        </a:rPr>
                        <a:t>Provide guidance on the application of ISQM 2 in the context of </a:t>
                      </a:r>
                      <a:r>
                        <a:rPr lang="en-US" sz="2000" b="1" i="0" dirty="0">
                          <a:solidFill>
                            <a:schemeClr val="tx1">
                              <a:lumMod val="65000"/>
                              <a:lumOff val="35000"/>
                            </a:schemeClr>
                          </a:solidFill>
                          <a:latin typeface="Arial" panose="020B0604020202020204" pitchFamily="34" charset="0"/>
                          <a:cs typeface="Arial" panose="020B0604020202020204" pitchFamily="34" charset="0"/>
                        </a:rPr>
                        <a:t>group audits</a:t>
                      </a:r>
                      <a:r>
                        <a:rPr lang="en-US" sz="2000" b="0" i="0" dirty="0">
                          <a:solidFill>
                            <a:schemeClr val="tx1">
                              <a:lumMod val="65000"/>
                              <a:lumOff val="35000"/>
                            </a:schemeClr>
                          </a:solidFill>
                          <a:latin typeface="Arial" panose="020B0604020202020204" pitchFamily="34" charset="0"/>
                          <a:cs typeface="Arial" panose="020B0604020202020204" pitchFamily="34" charset="0"/>
                        </a:rPr>
                        <a:t> and in </a:t>
                      </a:r>
                      <a:r>
                        <a:rPr lang="en-US" sz="2000" b="1" i="0" dirty="0">
                          <a:solidFill>
                            <a:schemeClr val="tx1">
                              <a:lumMod val="65000"/>
                              <a:lumOff val="35000"/>
                            </a:schemeClr>
                          </a:solidFill>
                          <a:latin typeface="Arial" panose="020B0604020202020204" pitchFamily="34" charset="0"/>
                          <a:cs typeface="Arial" panose="020B0604020202020204" pitchFamily="34" charset="0"/>
                        </a:rPr>
                        <a:t>other assurance engagements</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Q5 (NTE)</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9</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4084081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79200278"/>
              </p:ext>
            </p:extLst>
          </p:nvPr>
        </p:nvGraphicFramePr>
        <p:xfrm>
          <a:off x="430620" y="924449"/>
          <a:ext cx="8302366" cy="3792014"/>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792014">
                <a:tc>
                  <a:txBody>
                    <a:bodyPr/>
                    <a:lstStyle/>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Agree that the EQ reviewer’s evaluation of significant judgments includes evaluating the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engagement team’s exercise of professional skepticism (PS)</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in reaching conclusions but concerns on how to evidence the evaluation.</a:t>
                      </a:r>
                    </a:p>
                    <a:p>
                      <a:pPr marL="342900" indent="-342900" algn="just">
                        <a:lnSpc>
                          <a:spcPts val="2400"/>
                        </a:lnSpc>
                        <a:spcBef>
                          <a:spcPts val="600"/>
                        </a:spcBef>
                        <a:spcAft>
                          <a:spcPts val="0"/>
                        </a:spcAft>
                        <a:buFont typeface="Arial" panose="020B0604020202020204" pitchFamily="34" charset="0"/>
                        <a:buChar char="•"/>
                      </a:pP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Exercise of PS by the EQ reviewer</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(3 perspectives)</a:t>
                      </a:r>
                    </a:p>
                    <a:p>
                      <a:pPr marL="694944" indent="-342900" algn="just">
                        <a:lnSpc>
                          <a:spcPts val="2400"/>
                        </a:lnSpc>
                        <a:spcBef>
                          <a:spcPts val="600"/>
                        </a:spcBef>
                        <a:spcAft>
                          <a:spcPts val="0"/>
                        </a:spcAft>
                        <a:buFont typeface="Courier New" panose="02070309020205020404" pitchFamily="49" charset="0"/>
                        <a:buChar char="o"/>
                      </a:pP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ED-ISQM 2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sufficiently addresses</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 the exercise of PS by EQ reviewer, so there is no need to further address it.</a:t>
                      </a:r>
                    </a:p>
                    <a:p>
                      <a:pPr marL="694944" indent="-342900" algn="just">
                        <a:lnSpc>
                          <a:spcPts val="2400"/>
                        </a:lnSpc>
                        <a:spcBef>
                          <a:spcPts val="600"/>
                        </a:spcBef>
                        <a:spcAft>
                          <a:spcPts val="0"/>
                        </a:spcAft>
                        <a:buFont typeface="Courier New" panose="02070309020205020404" pitchFamily="49" charset="0"/>
                        <a:buChar char="o"/>
                      </a:pP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The exercise of PS by EQ reviewer is </a:t>
                      </a: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not relevant</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 so there is no need to further address it.</a:t>
                      </a:r>
                    </a:p>
                    <a:p>
                      <a:pPr marL="694944" indent="-342900" algn="just">
                        <a:lnSpc>
                          <a:spcPts val="2400"/>
                        </a:lnSpc>
                        <a:spcBef>
                          <a:spcPts val="600"/>
                        </a:spcBef>
                        <a:spcAft>
                          <a:spcPts val="0"/>
                        </a:spcAft>
                        <a:buFont typeface="Courier New" panose="02070309020205020404" pitchFamily="49" charset="0"/>
                        <a:buChar char="o"/>
                      </a:pPr>
                      <a:r>
                        <a:rPr lang="en-US" sz="1800" b="1" i="0" kern="1200" dirty="0">
                          <a:solidFill>
                            <a:schemeClr val="tx1">
                              <a:lumMod val="65000"/>
                              <a:lumOff val="35000"/>
                            </a:schemeClr>
                          </a:solidFill>
                          <a:latin typeface="Arial" panose="020B0604020202020204" pitchFamily="34" charset="0"/>
                          <a:ea typeface="+mn-ea"/>
                          <a:cs typeface="Arial" panose="020B0604020202020204" pitchFamily="34" charset="0"/>
                        </a:rPr>
                        <a:t>Further address</a:t>
                      </a:r>
                      <a:r>
                        <a:rPr lang="en-US" sz="1800" b="0" i="0" kern="1200" dirty="0">
                          <a:solidFill>
                            <a:schemeClr val="tx1">
                              <a:lumMod val="65000"/>
                              <a:lumOff val="35000"/>
                            </a:schemeClr>
                          </a:solidFill>
                          <a:latin typeface="Arial" panose="020B0604020202020204" pitchFamily="34" charset="0"/>
                          <a:ea typeface="+mn-ea"/>
                          <a:cs typeface="Arial" panose="020B0604020202020204" pitchFamily="34" charset="0"/>
                        </a:rPr>
                        <a:t> the exercise of PS by the EQ reviewer in ED-ISQM 2.</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b="1" dirty="0"/>
              <a:t>What We Heard in Responses to ED-ISQM 2 – Q6 (Professional Skepticism)</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10</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657534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48125022"/>
              </p:ext>
            </p:extLst>
          </p:nvPr>
        </p:nvGraphicFramePr>
        <p:xfrm>
          <a:off x="430620" y="954593"/>
          <a:ext cx="8302366" cy="3761869"/>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761869">
                <a:tc>
                  <a:txBody>
                    <a:bodyPr/>
                    <a:lstStyle/>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Requirements are </a:t>
                      </a:r>
                      <a:r>
                        <a:rPr lang="en-US" sz="2000" b="1" i="0" dirty="0">
                          <a:solidFill>
                            <a:schemeClr val="tx1">
                              <a:lumMod val="65000"/>
                              <a:lumOff val="35000"/>
                            </a:schemeClr>
                          </a:solidFill>
                          <a:latin typeface="Arial" panose="020B0604020202020204" pitchFamily="34" charset="0"/>
                          <a:cs typeface="Arial" panose="020B0604020202020204" pitchFamily="34" charset="0"/>
                        </a:rPr>
                        <a:t>appropriate</a:t>
                      </a:r>
                      <a:r>
                        <a:rPr lang="en-US" sz="2000" b="0" i="0" dirty="0">
                          <a:solidFill>
                            <a:schemeClr val="tx1">
                              <a:lumMod val="65000"/>
                              <a:lumOff val="35000"/>
                            </a:schemeClr>
                          </a:solidFill>
                          <a:latin typeface="Arial" panose="020B0604020202020204" pitchFamily="34" charset="0"/>
                          <a:cs typeface="Arial" panose="020B0604020202020204" pitchFamily="34" charset="0"/>
                        </a:rPr>
                        <a:t> and will </a:t>
                      </a:r>
                      <a:r>
                        <a:rPr lang="en-US" sz="2000" b="1" i="0" dirty="0">
                          <a:solidFill>
                            <a:schemeClr val="tx1">
                              <a:lumMod val="65000"/>
                              <a:lumOff val="35000"/>
                            </a:schemeClr>
                          </a:solidFill>
                          <a:latin typeface="Arial" panose="020B0604020202020204" pitchFamily="34" charset="0"/>
                          <a:cs typeface="Arial" panose="020B0604020202020204" pitchFamily="34" charset="0"/>
                        </a:rPr>
                        <a:t>not cause major problems in practical implementation</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View that these enhanced requirements </a:t>
                      </a:r>
                      <a:r>
                        <a:rPr lang="en-US" sz="2000" b="1" i="0" dirty="0">
                          <a:solidFill>
                            <a:schemeClr val="tx1">
                              <a:lumMod val="65000"/>
                              <a:lumOff val="35000"/>
                            </a:schemeClr>
                          </a:solidFill>
                          <a:latin typeface="Arial" panose="020B0604020202020204" pitchFamily="34" charset="0"/>
                          <a:cs typeface="Arial" panose="020B0604020202020204" pitchFamily="34" charset="0"/>
                        </a:rPr>
                        <a:t>reflect what many firms currently require</a:t>
                      </a:r>
                      <a:r>
                        <a:rPr lang="en-US" sz="2000" b="0" i="0" dirty="0">
                          <a:solidFill>
                            <a:schemeClr val="tx1">
                              <a:lumMod val="65000"/>
                              <a:lumOff val="35000"/>
                            </a:schemeClr>
                          </a:solidFill>
                          <a:latin typeface="Arial" panose="020B0604020202020204" pitchFamily="34" charset="0"/>
                          <a:cs typeface="Arial" panose="020B0604020202020204" pitchFamily="34" charset="0"/>
                        </a:rPr>
                        <a:t> to be included in the engagement file as evidence of the EQ review.</a:t>
                      </a:r>
                    </a:p>
                    <a:p>
                      <a:pPr marL="0" indent="0" algn="just">
                        <a:lnSpc>
                          <a:spcPts val="2400"/>
                        </a:lnSpc>
                        <a:spcBef>
                          <a:spcPts val="600"/>
                        </a:spcBef>
                        <a:spcAft>
                          <a:spcPts val="0"/>
                        </a:spcAft>
                        <a:buFont typeface="Arial" panose="020B0604020202020204" pitchFamily="34" charset="0"/>
                        <a:buNone/>
                      </a:pP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lnSpc>
                          <a:spcPts val="2400"/>
                        </a:lnSpc>
                        <a:spcBef>
                          <a:spcPts val="600"/>
                        </a:spcBef>
                        <a:spcAft>
                          <a:spcPts val="0"/>
                        </a:spcAft>
                        <a:buFont typeface="Arial" panose="020B0604020202020204" pitchFamily="34" charset="0"/>
                        <a:buChar char="•"/>
                      </a:pPr>
                      <a:r>
                        <a:rPr lang="en-US" sz="2000" b="0" i="0" dirty="0">
                          <a:solidFill>
                            <a:schemeClr val="tx1">
                              <a:lumMod val="65000"/>
                              <a:lumOff val="35000"/>
                            </a:schemeClr>
                          </a:solidFill>
                          <a:latin typeface="Arial" panose="020B0604020202020204" pitchFamily="34" charset="0"/>
                          <a:cs typeface="Arial" panose="020B0604020202020204" pitchFamily="34" charset="0"/>
                        </a:rPr>
                        <a:t>Support the enhanced documentation requirements and principle that the </a:t>
                      </a:r>
                      <a:r>
                        <a:rPr lang="en-US" sz="2000" b="1" i="0" dirty="0">
                          <a:solidFill>
                            <a:schemeClr val="tx1">
                              <a:lumMod val="65000"/>
                              <a:lumOff val="35000"/>
                            </a:schemeClr>
                          </a:solidFill>
                          <a:latin typeface="Arial" panose="020B0604020202020204" pitchFamily="34" charset="0"/>
                          <a:cs typeface="Arial" panose="020B0604020202020204" pitchFamily="34" charset="0"/>
                        </a:rPr>
                        <a:t>EQ reviewer takes responsibility for documentation</a:t>
                      </a:r>
                      <a:r>
                        <a:rPr lang="en-US" sz="2000" b="0" i="0" dirty="0">
                          <a:solidFill>
                            <a:schemeClr val="tx1">
                              <a:lumMod val="65000"/>
                              <a:lumOff val="35000"/>
                            </a:schemeClr>
                          </a:solidFill>
                          <a:latin typeface="Arial" panose="020B0604020202020204" pitchFamily="34" charset="0"/>
                          <a:cs typeface="Arial" panose="020B0604020202020204" pitchFamily="34" charset="0"/>
                        </a:rPr>
                        <a:t> of the EQ review and that this may be </a:t>
                      </a:r>
                      <a:r>
                        <a:rPr lang="en-US" sz="2000" b="1" i="0" dirty="0">
                          <a:solidFill>
                            <a:schemeClr val="tx1">
                              <a:lumMod val="65000"/>
                              <a:lumOff val="35000"/>
                            </a:schemeClr>
                          </a:solidFill>
                          <a:latin typeface="Arial" panose="020B0604020202020204" pitchFamily="34" charset="0"/>
                          <a:cs typeface="Arial" panose="020B0604020202020204" pitchFamily="34" charset="0"/>
                        </a:rPr>
                        <a:t>documented in a number of ways</a:t>
                      </a:r>
                      <a:r>
                        <a:rPr lang="en-US" sz="2000" b="0" i="0" dirty="0">
                          <a:solidFill>
                            <a:schemeClr val="tx1">
                              <a:lumMod val="65000"/>
                              <a:lumOff val="35000"/>
                            </a:schemeClr>
                          </a:solidFill>
                          <a:latin typeface="Arial" panose="020B0604020202020204" pitchFamily="34" charset="0"/>
                          <a:cs typeface="Arial" panose="020B0604020202020204" pitchFamily="34" charset="0"/>
                        </a:rPr>
                        <a:t>.</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What We Heard in Responses to ED-ISQM 2 – Q7 (Documentation)</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832168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94789939"/>
              </p:ext>
            </p:extLst>
          </p:nvPr>
        </p:nvGraphicFramePr>
        <p:xfrm>
          <a:off x="430620" y="914401"/>
          <a:ext cx="8302366" cy="3848314"/>
        </p:xfrm>
        <a:graphic>
          <a:graphicData uri="http://schemas.openxmlformats.org/drawingml/2006/table">
            <a:tbl>
              <a:tblPr firstRow="1" bandRow="1">
                <a:tableStyleId>{5C22544A-7EE6-4342-B048-85BDC9FD1C3A}</a:tableStyleId>
              </a:tblPr>
              <a:tblGrid>
                <a:gridCol w="8302366">
                  <a:extLst>
                    <a:ext uri="{9D8B030D-6E8A-4147-A177-3AD203B41FA5}">
                      <a16:colId xmlns:a16="http://schemas.microsoft.com/office/drawing/2014/main" val="713251629"/>
                    </a:ext>
                  </a:extLst>
                </a:gridCol>
              </a:tblGrid>
              <a:tr h="3848314">
                <a:tc>
                  <a:txBody>
                    <a:bodyPr/>
                    <a:lstStyle/>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Separate standard for EQ review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improves scalability</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a:t>
                      </a:r>
                    </a:p>
                    <a:p>
                      <a:pPr marL="342900" indent="-342900" algn="just">
                        <a:lnSpc>
                          <a:spcPts val="2400"/>
                        </a:lnSpc>
                        <a:spcBef>
                          <a:spcPts val="600"/>
                        </a:spcBef>
                        <a:spcAft>
                          <a:spcPts val="0"/>
                        </a:spcAft>
                        <a:buFont typeface="Arial" panose="020B0604020202020204" pitchFamily="34" charset="0"/>
                        <a:buChar char="•"/>
                      </a:pP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Inherently scalable</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as there are fewer significant matters or significant judgments for less complex engagements.</a:t>
                      </a:r>
                    </a:p>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Allowing for an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external individual to be an EQ reviewer</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helps smaller firms in applying the standard.</a:t>
                      </a:r>
                    </a:p>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Helpful that the standard acknowledges that the NTE of the EQ reviewer’s procedures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depends on the facts and circumstances of the engagement</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(e.g., para. A27).</a:t>
                      </a:r>
                    </a:p>
                    <a:p>
                      <a:pPr marL="342900" indent="-342900" algn="just">
                        <a:lnSpc>
                          <a:spcPts val="2400"/>
                        </a:lnSpc>
                        <a:spcBef>
                          <a:spcPts val="600"/>
                        </a:spcBef>
                        <a:spcAft>
                          <a:spcPts val="0"/>
                        </a:spcAft>
                        <a:buFont typeface="Arial" panose="020B0604020202020204" pitchFamily="34" charset="0"/>
                        <a:buChar char="•"/>
                      </a:pP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References to scalability in the </a:t>
                      </a:r>
                      <a:r>
                        <a:rPr lang="en-US" sz="2000" b="1" i="0" kern="1200" dirty="0">
                          <a:solidFill>
                            <a:schemeClr val="tx1">
                              <a:lumMod val="65000"/>
                              <a:lumOff val="35000"/>
                            </a:schemeClr>
                          </a:solidFill>
                          <a:latin typeface="Arial" panose="020B0604020202020204" pitchFamily="34" charset="0"/>
                          <a:ea typeface="+mn-ea"/>
                          <a:cs typeface="Arial" panose="020B0604020202020204" pitchFamily="34" charset="0"/>
                        </a:rPr>
                        <a:t>Appendix to the EM to ED-ISQM 2</a:t>
                      </a:r>
                      <a:r>
                        <a:rPr lang="en-US" sz="2000" b="0" i="0" kern="1200" dirty="0">
                          <a:solidFill>
                            <a:schemeClr val="tx1">
                              <a:lumMod val="65000"/>
                              <a:lumOff val="35000"/>
                            </a:schemeClr>
                          </a:solidFill>
                          <a:latin typeface="Arial" panose="020B0604020202020204" pitchFamily="34" charset="0"/>
                          <a:ea typeface="+mn-ea"/>
                          <a:cs typeface="Arial" panose="020B0604020202020204" pitchFamily="34" charset="0"/>
                        </a:rPr>
                        <a:t> also were helpful.</a:t>
                      </a:r>
                      <a:endParaRPr lang="en-US" sz="2000" b="0" i="0" dirty="0">
                        <a:solidFill>
                          <a:schemeClr val="tx1">
                            <a:lumMod val="65000"/>
                            <a:lumOff val="35000"/>
                          </a:schemeClr>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What We Heard in Responses to ED-ISQM 2 – Q8 (Scalability)</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12</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1155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276570186"/>
              </p:ext>
            </p:extLst>
          </p:nvPr>
        </p:nvGraphicFramePr>
        <p:xfrm>
          <a:off x="342900" y="831850"/>
          <a:ext cx="8343899" cy="3762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Analysis of Key Issues to be Discussed at this Meeting</a:t>
            </a:r>
          </a:p>
        </p:txBody>
      </p:sp>
      <p:sp>
        <p:nvSpPr>
          <p:cNvPr id="6" name="Slide Number Placeholder 5">
            <a:extLst>
              <a:ext uri="{FF2B5EF4-FFF2-40B4-BE49-F238E27FC236}">
                <a16:creationId xmlns:a16="http://schemas.microsoft.com/office/drawing/2014/main" id="{6BB22EF9-0EC8-4B7D-AD5E-81F72731AC0B}"/>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711969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65486172"/>
              </p:ext>
            </p:extLst>
          </p:nvPr>
        </p:nvGraphicFramePr>
        <p:xfrm>
          <a:off x="432619" y="841727"/>
          <a:ext cx="8336912" cy="3961181"/>
        </p:xfrm>
        <a:graphic>
          <a:graphicData uri="http://schemas.openxmlformats.org/drawingml/2006/table">
            <a:tbl>
              <a:tblPr firstRow="1" bandRow="1">
                <a:tableStyleId>{5C22544A-7EE6-4342-B048-85BDC9FD1C3A}</a:tableStyleId>
              </a:tblPr>
              <a:tblGrid>
                <a:gridCol w="8336912">
                  <a:extLst>
                    <a:ext uri="{9D8B030D-6E8A-4147-A177-3AD203B41FA5}">
                      <a16:colId xmlns:a16="http://schemas.microsoft.com/office/drawing/2014/main" val="713251629"/>
                    </a:ext>
                  </a:extLst>
                </a:gridCol>
              </a:tblGrid>
              <a:tr h="3961181">
                <a:tc>
                  <a:txBody>
                    <a:bodyPr/>
                    <a:lstStyle/>
                    <a:p>
                      <a:pPr marL="0" lvl="0" indent="0" algn="just">
                        <a:lnSpc>
                          <a:spcPts val="2200"/>
                        </a:lnSpc>
                        <a:spcBef>
                          <a:spcPts val="600"/>
                        </a:spcBef>
                        <a:spcAft>
                          <a:spcPts val="0"/>
                        </a:spcAft>
                        <a:buFont typeface="Arial" panose="020B0604020202020204" pitchFamily="34" charset="0"/>
                        <a:buNone/>
                      </a:pPr>
                      <a:endPar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2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Representatives were supportive of the TF’s proposals on the scope of engagements subject to an EQ review.</a:t>
                      </a:r>
                    </a:p>
                    <a:p>
                      <a:pPr marL="0" lvl="0" indent="0" algn="just">
                        <a:lnSpc>
                          <a:spcPts val="2200"/>
                        </a:lnSpc>
                        <a:spcBef>
                          <a:spcPts val="600"/>
                        </a:spcBef>
                        <a:spcAft>
                          <a:spcPts val="0"/>
                        </a:spcAft>
                        <a:buFont typeface="Arial" panose="020B0604020202020204" pitchFamily="34" charset="0"/>
                        <a:buNone/>
                      </a:pPr>
                      <a:endPar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200"/>
                        </a:lnSpc>
                        <a:spcBef>
                          <a:spcPts val="600"/>
                        </a:spcBef>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Representatives had mixed views on objectivity and cooling-off period but noted support for a cooling-off period requirement in ISQM 2 if not addressed in the IESBA Code.</a:t>
                      </a:r>
                    </a:p>
                    <a:p>
                      <a:pPr marL="0" lvl="0" indent="0" algn="just">
                        <a:lnSpc>
                          <a:spcPts val="2200"/>
                        </a:lnSpc>
                        <a:spcBef>
                          <a:spcPts val="600"/>
                        </a:spcBef>
                        <a:buFont typeface="Arial" panose="020B0604020202020204" pitchFamily="34" charset="0"/>
                        <a:buNone/>
                      </a:pPr>
                      <a:endPar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p>
                      <a:pPr marL="347472" lvl="0" indent="-347472" algn="just">
                        <a:lnSpc>
                          <a:spcPts val="2200"/>
                        </a:lnSpc>
                        <a:spcBef>
                          <a:spcPts val="600"/>
                        </a:spcBef>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Whatever route the IAASB may pursue should be consistent with, and complementary to, the IESBA Code.</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CAG Representative Views</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85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nvGraphicFramePr>
        <p:xfrm>
          <a:off x="6371770"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2949837104"/>
              </p:ext>
            </p:extLst>
          </p:nvPr>
        </p:nvGraphicFramePr>
        <p:xfrm>
          <a:off x="426718" y="2840270"/>
          <a:ext cx="6071617" cy="1959608"/>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1959608">
                <a:tc>
                  <a:txBody>
                    <a:bodyPr/>
                    <a:lstStyle/>
                    <a:p>
                      <a:pPr marL="342900" indent="-342900" algn="just">
                        <a:lnSpc>
                          <a:spcPts val="2400"/>
                        </a:lnSpc>
                        <a:spcBef>
                          <a:spcPts val="600"/>
                        </a:spcBef>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concept of significant public interest (SPI) cannot be consistently interpreted and therefore may be confusing or may result in inconsistent application of the requirements.</a:t>
                      </a:r>
                    </a:p>
                    <a:p>
                      <a:pPr marL="342900" indent="-342900" algn="just">
                        <a:lnSpc>
                          <a:spcPts val="2400"/>
                        </a:lnSpc>
                        <a:spcBef>
                          <a:spcPts val="600"/>
                        </a:spcBef>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Need to describe, or provide guidance about, how SPI relates to public interest entity (PIE) in the IESBA Code.</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a:t>
            </a:r>
          </a:p>
        </p:txBody>
      </p:sp>
      <p:sp>
        <p:nvSpPr>
          <p:cNvPr id="11" name="Slide Number Placeholder 5">
            <a:extLst>
              <a:ext uri="{FF2B5EF4-FFF2-40B4-BE49-F238E27FC236}">
                <a16:creationId xmlns:a16="http://schemas.microsoft.com/office/drawing/2014/main" id="{549D6B13-12B7-41AD-8E12-170B967DCF1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15</a:t>
            </a:fld>
            <a:endParaRPr lang="en-US" sz="675" dirty="0">
              <a:solidFill>
                <a:srgbClr val="808080"/>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AFDAA183-58CC-4581-865A-0C1365FBC233}"/>
              </a:ext>
            </a:extLst>
          </p:cNvPr>
          <p:cNvGraphicFramePr>
            <a:graphicFrameLocks noGrp="1"/>
          </p:cNvGraphicFramePr>
          <p:nvPr>
            <p:extLst>
              <p:ext uri="{D42A27DB-BD31-4B8C-83A1-F6EECF244321}">
                <p14:modId xmlns:p14="http://schemas.microsoft.com/office/powerpoint/2010/main" val="2854746972"/>
              </p:ext>
            </p:extLst>
          </p:nvPr>
        </p:nvGraphicFramePr>
        <p:xfrm>
          <a:off x="426719" y="827024"/>
          <a:ext cx="6071617" cy="2013246"/>
        </p:xfrm>
        <a:graphic>
          <a:graphicData uri="http://schemas.openxmlformats.org/drawingml/2006/table">
            <a:tbl>
              <a:tblPr firstRow="1" bandRow="1">
                <a:tableStyleId>{5C22544A-7EE6-4342-B048-85BDC9FD1C3A}</a:tableStyleId>
              </a:tblPr>
              <a:tblGrid>
                <a:gridCol w="6071617">
                  <a:extLst>
                    <a:ext uri="{9D8B030D-6E8A-4147-A177-3AD203B41FA5}">
                      <a16:colId xmlns:a16="http://schemas.microsoft.com/office/drawing/2014/main" val="713251629"/>
                    </a:ext>
                  </a:extLst>
                </a:gridCol>
              </a:tblGrid>
              <a:tr h="2013246">
                <a:tc>
                  <a:txBody>
                    <a:bodyPr/>
                    <a:lstStyle/>
                    <a:p>
                      <a:pPr marL="0" algn="just">
                        <a:lnSpc>
                          <a:spcPts val="2400"/>
                        </a:lnSpc>
                        <a:spcBef>
                          <a:spcPts val="1200"/>
                        </a:spcBef>
                        <a:spcAft>
                          <a:spcPts val="0"/>
                        </a:spcAft>
                      </a:pPr>
                      <a:r>
                        <a:rPr lang="en-US" sz="1600" b="1" i="0" kern="1200" dirty="0">
                          <a:solidFill>
                            <a:schemeClr val="lt1"/>
                          </a:solidFill>
                          <a:effectLst/>
                          <a:latin typeface="Arial" panose="020B0604020202020204" pitchFamily="34" charset="0"/>
                          <a:ea typeface="+mn-ea"/>
                          <a:cs typeface="Arial" panose="020B0604020202020204" pitchFamily="34" charset="0"/>
                        </a:rPr>
                        <a:t>Question 11 in the EM to ED-ISQM 1 asked respondents:</a:t>
                      </a:r>
                    </a:p>
                    <a:p>
                      <a:pPr algn="just">
                        <a:lnSpc>
                          <a:spcPts val="2400"/>
                        </a:lnSpc>
                        <a:spcBef>
                          <a:spcPts val="600"/>
                        </a:spcBef>
                        <a:spcAft>
                          <a:spcPts val="0"/>
                        </a:spcAft>
                      </a:pPr>
                      <a:r>
                        <a:rPr lang="en-US" sz="1600" b="0" i="1" kern="1200" dirty="0">
                          <a:solidFill>
                            <a:schemeClr val="lt1"/>
                          </a:solidFill>
                          <a:effectLst/>
                          <a:latin typeface="Arial" panose="020B0604020202020204" pitchFamily="34" charset="0"/>
                          <a:ea typeface="+mn-ea"/>
                          <a:cs typeface="Arial" panose="020B0604020202020204" pitchFamily="34" charset="0"/>
                        </a:rPr>
                        <a:t>Do you agree with the proposals addressing the scope of engagements that should be subject to an engagement quality review? In your view, will the requirements result in the proper identification of engagements to be subject an engagement quality review?</a:t>
                      </a:r>
                      <a:endParaRPr lang="en-US" sz="1600" b="0" i="1"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705146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46039818"/>
              </p:ext>
            </p:extLst>
          </p:nvPr>
        </p:nvGraphicFramePr>
        <p:xfrm>
          <a:off x="429437" y="841727"/>
          <a:ext cx="8340094" cy="396118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961181">
                <a:tc>
                  <a:txBody>
                    <a:bodyPr/>
                    <a:lstStyle/>
                    <a:p>
                      <a:pPr algn="just">
                        <a:lnSpc>
                          <a:spcPts val="2200"/>
                        </a:lnSpc>
                        <a:spcBef>
                          <a:spcPts val="1200"/>
                        </a:spcBef>
                        <a:spcAft>
                          <a:spcPts val="0"/>
                        </a:spcAft>
                      </a:pPr>
                      <a:r>
                        <a:rPr lang="en-CA" sz="20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Key Considerations:</a:t>
                      </a:r>
                    </a:p>
                    <a:p>
                      <a:pPr marL="347472" lvl="0" indent="-347472" algn="just">
                        <a:lnSpc>
                          <a:spcPts val="2200"/>
                        </a:lnSpc>
                        <a:spcBef>
                          <a:spcPts val="600"/>
                        </a:spcBef>
                        <a:spcAft>
                          <a:spcPts val="0"/>
                        </a:spcAft>
                        <a:buFont typeface="Arial" panose="020B0604020202020204" pitchFamily="34" charset="0"/>
                        <a:buChar char="•"/>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objective, in the public interest, of extending the requirement for an EQ review.</a:t>
                      </a:r>
                    </a:p>
                    <a:p>
                      <a:pPr marL="347472" lvl="0" indent="-347472" algn="just">
                        <a:lnSpc>
                          <a:spcPts val="2200"/>
                        </a:lnSpc>
                        <a:spcBef>
                          <a:spcPts val="600"/>
                        </a:spcBef>
                        <a:spcAft>
                          <a:spcPts val="0"/>
                        </a:spcAft>
                        <a:buFont typeface="Arial" panose="020B0604020202020204" pitchFamily="34" charset="0"/>
                        <a:buChar char="•"/>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The clear direction from respondents indicating that the concept of SPI is difficult to interpret (including with respect to how it relates to the concept of PIE in the IESBA Code).</a:t>
                      </a:r>
                    </a:p>
                    <a:p>
                      <a:pPr marL="347472" lvl="0" indent="-347472" algn="just">
                        <a:lnSpc>
                          <a:spcPts val="2200"/>
                        </a:lnSpc>
                        <a:spcBef>
                          <a:spcPts val="600"/>
                        </a:spcBef>
                        <a:buFont typeface="Arial" panose="020B0604020202020204" pitchFamily="34" charset="0"/>
                        <a:buChar char="•"/>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it would be practicable to provide guidance for determining engagements that are of SPI that would be clear and capable of consistent application.</a:t>
                      </a:r>
                    </a:p>
                    <a:p>
                      <a:pPr marL="347472" lvl="0" indent="-347472" algn="just">
                        <a:lnSpc>
                          <a:spcPts val="2200"/>
                        </a:lnSpc>
                        <a:spcBef>
                          <a:spcPts val="600"/>
                        </a:spcBef>
                        <a:buFont typeface="Arial" panose="020B0604020202020204" pitchFamily="34" charset="0"/>
                        <a:buChar char="•"/>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it would be possible to define an SPI and determined that the global jurisdictional implications or barriers would be difficult to overcome.</a:t>
                      </a:r>
                    </a:p>
                  </a:txBody>
                  <a:tcPr anchor="ct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947430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20975506"/>
              </p:ext>
            </p:extLst>
          </p:nvPr>
        </p:nvGraphicFramePr>
        <p:xfrm>
          <a:off x="429437" y="874264"/>
          <a:ext cx="8340094" cy="3877818"/>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802870">
                <a:tc>
                  <a:txBody>
                    <a:bodyPr/>
                    <a:lstStyle/>
                    <a:p>
                      <a:pPr algn="just">
                        <a:lnSpc>
                          <a:spcPts val="2200"/>
                        </a:lnSpc>
                        <a:spcBef>
                          <a:spcPts val="300"/>
                        </a:spcBef>
                        <a:spcAft>
                          <a:spcPts val="300"/>
                        </a:spcAft>
                      </a:pPr>
                      <a:r>
                        <a:rPr lang="en-CA" sz="22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Indicative Drafting:</a:t>
                      </a:r>
                    </a:p>
                    <a:p>
                      <a:pPr marL="0" lvl="0" indent="-347472" algn="just">
                        <a:lnSpc>
                          <a:spcPts val="2200"/>
                        </a:lnSpc>
                        <a:spcBef>
                          <a:spcPts val="300"/>
                        </a:spcBef>
                        <a:spcAft>
                          <a:spcPts val="300"/>
                        </a:spcAft>
                        <a:buFont typeface="Arial" panose="020B0604020202020204" pitchFamily="34" charset="0"/>
                        <a:buNone/>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(e)	Establishing policies or procedures addressing engagement quality reviews in accordance with ISQM 2, and that require an engagement quality review for:</a:t>
                      </a:r>
                    </a:p>
                    <a:p>
                      <a:pPr marL="694944" lvl="0" indent="-347472" algn="just">
                        <a:lnSpc>
                          <a:spcPts val="2200"/>
                        </a:lnSpc>
                        <a:spcBef>
                          <a:spcPts val="300"/>
                        </a:spcBef>
                        <a:spcAft>
                          <a:spcPts val="300"/>
                        </a:spcAft>
                        <a:buFont typeface="+mj-lt"/>
                        <a:buNone/>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(i) 	Audits of financial statements of listed entities; </a:t>
                      </a:r>
                    </a:p>
                    <a:p>
                      <a:pPr marL="694944" lvl="0" indent="-347472" algn="just">
                        <a:lnSpc>
                          <a:spcPts val="2200"/>
                        </a:lnSpc>
                        <a:spcBef>
                          <a:spcPts val="300"/>
                        </a:spcBef>
                        <a:spcAft>
                          <a:spcPts val="300"/>
                        </a:spcAft>
                        <a:buFont typeface="+mj-lt"/>
                        <a:buNone/>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(ii)	Audits or other engagements for which an engagement quality review is required by law or regulation; and (Ref: Para. A103)</a:t>
                      </a:r>
                    </a:p>
                    <a:p>
                      <a:pPr marL="694944" lvl="0" indent="-347472" algn="just">
                        <a:lnSpc>
                          <a:spcPts val="2200"/>
                        </a:lnSpc>
                        <a:spcBef>
                          <a:spcPts val="300"/>
                        </a:spcBef>
                        <a:spcAft>
                          <a:spcPts val="300"/>
                        </a:spcAft>
                        <a:buFont typeface="+mj-lt"/>
                        <a:buNone/>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(iii)	Audits or other engagements for which the firm determines that an engagement quality review is:</a:t>
                      </a:r>
                    </a:p>
                    <a:p>
                      <a:pPr marL="1042416" lvl="0" indent="-347472" algn="just">
                        <a:lnSpc>
                          <a:spcPts val="2200"/>
                        </a:lnSpc>
                        <a:spcBef>
                          <a:spcPts val="300"/>
                        </a:spcBef>
                        <a:spcAft>
                          <a:spcPts val="300"/>
                        </a:spcAft>
                        <a:buFont typeface="+mj-lt"/>
                        <a:buNone/>
                      </a:pPr>
                      <a:r>
                        <a:rPr lang="en-US" sz="18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	</a:t>
                      </a: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An appropriate response to assessed quality risks, based on the reasons for the assessments given to those risks.; or (Ref: A104–A105)</a:t>
                      </a:r>
                    </a:p>
                    <a:p>
                      <a:pPr marL="1042416" lvl="0" indent="-347472" algn="just">
                        <a:lnSpc>
                          <a:spcPts val="2200"/>
                        </a:lnSpc>
                        <a:spcBef>
                          <a:spcPts val="300"/>
                        </a:spcBef>
                        <a:spcAft>
                          <a:spcPts val="300"/>
                        </a:spcAft>
                        <a:buFont typeface="+mj-lt"/>
                        <a:buNone/>
                      </a:pPr>
                      <a:r>
                        <a:rPr lang="en-US" sz="16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b.	Appropriate due to the nature of the entity. (Ref: Para. A105A)</a:t>
                      </a:r>
                    </a:p>
                  </a:txBody>
                  <a:tcPr anchor="ct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673473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8255"/>
            <a:ext cx="8497006" cy="3788207"/>
          </a:xfrm>
          <a:prstGeom prst="rect">
            <a:avLst/>
          </a:prstGeom>
          <a:noFill/>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12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endParaRPr lang="en-US" b="1" i="1" dirty="0">
              <a:solidFill>
                <a:schemeClr val="tx1">
                  <a:lumMod val="65000"/>
                  <a:lumOff val="35000"/>
                </a:schemeClr>
              </a:solidFill>
              <a:latin typeface="Arial" panose="020B0604020202020204" pitchFamily="34" charset="0"/>
              <a:cs typeface="Arial" panose="020B0604020202020204" pitchFamily="34" charset="0"/>
            </a:endParaRPr>
          </a:p>
          <a:p>
            <a:pPr marL="347472" lvl="0" indent="-347472" algn="just">
              <a:lnSpc>
                <a:spcPts val="2200"/>
              </a:lnSpc>
              <a:spcBef>
                <a:spcPts val="600"/>
              </a:spcBef>
              <a:spcAft>
                <a:spcPts val="0"/>
              </a:spcAft>
              <a:buFont typeface="+mj-lt"/>
              <a:buAutoNum type="arabicPeriod"/>
            </a:pPr>
            <a:r>
              <a:rPr lang="en-US" sz="2200" i="1" dirty="0">
                <a:solidFill>
                  <a:schemeClr val="tx1">
                    <a:lumMod val="65000"/>
                    <a:lumOff val="35000"/>
                  </a:schemeClr>
                </a:solidFill>
                <a:latin typeface="Arial" panose="020B0604020202020204" pitchFamily="34" charset="0"/>
                <a:cs typeface="Arial" panose="020B0604020202020204" pitchFamily="34" charset="0"/>
              </a:rPr>
              <a:t>The IAASB is asked for its views on:</a:t>
            </a:r>
          </a:p>
          <a:p>
            <a:pPr marL="694944" lvl="0" indent="-347472" algn="just">
              <a:lnSpc>
                <a:spcPts val="22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The proposed changes to the requirements relating to the scope of engagements subject to an EQ review as described in paragraph 23 of Agenda Item 7; and</a:t>
            </a:r>
          </a:p>
          <a:p>
            <a:pPr marL="694944" lvl="0" indent="-347472" algn="just">
              <a:lnSpc>
                <a:spcPts val="22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The indicative drafting for the proposed requirements and application material as presented in Agenda Item 7, including whether the proposed application material in paragraph A105A will be helpful in explaining what is meant by ‘appropriate due to the nature of the entity.’</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Scope of Engagements Subject to EQ Review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18</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99487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3318722468"/>
              </p:ext>
            </p:extLst>
          </p:nvPr>
        </p:nvGraphicFramePr>
        <p:xfrm>
          <a:off x="6371770"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514580837"/>
              </p:ext>
            </p:extLst>
          </p:nvPr>
        </p:nvGraphicFramePr>
        <p:xfrm>
          <a:off x="426720" y="2120266"/>
          <a:ext cx="6071616" cy="2684462"/>
        </p:xfrm>
        <a:graphic>
          <a:graphicData uri="http://schemas.openxmlformats.org/drawingml/2006/table">
            <a:tbl>
              <a:tblPr firstRow="1" bandRow="1">
                <a:tableStyleId>{5C22544A-7EE6-4342-B048-85BDC9FD1C3A}</a:tableStyleId>
              </a:tblPr>
              <a:tblGrid>
                <a:gridCol w="6071616">
                  <a:extLst>
                    <a:ext uri="{9D8B030D-6E8A-4147-A177-3AD203B41FA5}">
                      <a16:colId xmlns:a16="http://schemas.microsoft.com/office/drawing/2014/main" val="713251629"/>
                    </a:ext>
                  </a:extLst>
                </a:gridCol>
              </a:tblGrid>
              <a:tr h="2684462">
                <a:tc>
                  <a:txBody>
                    <a:bodyPr/>
                    <a:lstStyle/>
                    <a:p>
                      <a:pPr marL="342900" indent="-342900" algn="just">
                        <a:lnSpc>
                          <a:spcPts val="20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Need for a cooling-off period requirement in ISQM 2 or in the IESBA Code.</a:t>
                      </a:r>
                    </a:p>
                    <a:p>
                      <a:pPr marL="342900" indent="-342900" algn="just">
                        <a:lnSpc>
                          <a:spcPts val="20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Flexibility of cooling-off period depending on the nature and circumstances of the engagement.</a:t>
                      </a:r>
                    </a:p>
                    <a:p>
                      <a:pPr marL="342900" indent="-342900" algn="just">
                        <a:lnSpc>
                          <a:spcPts val="20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Guidance on cooling-off period in paragraph A5 of ED-ISQM 2 would become a de facto requirement.</a:t>
                      </a:r>
                    </a:p>
                    <a:p>
                      <a:pPr marL="342900" indent="-342900" algn="just">
                        <a:lnSpc>
                          <a:spcPts val="20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More guidance consistent with the provisions of the IESBA Code will be needed to drive consistent implementation.</a:t>
                      </a:r>
                    </a:p>
                    <a:p>
                      <a:pPr marL="342900" indent="-342900" algn="just">
                        <a:lnSpc>
                          <a:spcPts val="20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Some apparent confusion about whether the IESBA Code already addresses this particular cooling-off circumstance.</a:t>
                      </a:r>
                      <a:endParaRPr lang="en-CA"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a:t>
            </a:r>
          </a:p>
        </p:txBody>
      </p:sp>
      <p:sp>
        <p:nvSpPr>
          <p:cNvPr id="10" name="Slide Number Placeholder 5">
            <a:extLst>
              <a:ext uri="{FF2B5EF4-FFF2-40B4-BE49-F238E27FC236}">
                <a16:creationId xmlns:a16="http://schemas.microsoft.com/office/drawing/2014/main" id="{B089F8F4-8A39-4743-8A78-D61CCDA31F7F}"/>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19</a:t>
            </a:fld>
            <a:endParaRPr lang="en-US" sz="675" dirty="0">
              <a:solidFill>
                <a:srgbClr val="808080"/>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16A7465A-7813-4EE3-913E-058FD2C9B0F4}"/>
              </a:ext>
            </a:extLst>
          </p:cNvPr>
          <p:cNvGraphicFramePr>
            <a:graphicFrameLocks noGrp="1"/>
          </p:cNvGraphicFramePr>
          <p:nvPr>
            <p:extLst>
              <p:ext uri="{D42A27DB-BD31-4B8C-83A1-F6EECF244321}">
                <p14:modId xmlns:p14="http://schemas.microsoft.com/office/powerpoint/2010/main" val="945436160"/>
              </p:ext>
            </p:extLst>
          </p:nvPr>
        </p:nvGraphicFramePr>
        <p:xfrm>
          <a:off x="426720" y="859847"/>
          <a:ext cx="6071616" cy="1273753"/>
        </p:xfrm>
        <a:graphic>
          <a:graphicData uri="http://schemas.openxmlformats.org/drawingml/2006/table">
            <a:tbl>
              <a:tblPr firstRow="1" bandRow="1">
                <a:tableStyleId>{5C22544A-7EE6-4342-B048-85BDC9FD1C3A}</a:tableStyleId>
              </a:tblPr>
              <a:tblGrid>
                <a:gridCol w="6071616">
                  <a:extLst>
                    <a:ext uri="{9D8B030D-6E8A-4147-A177-3AD203B41FA5}">
                      <a16:colId xmlns:a16="http://schemas.microsoft.com/office/drawing/2014/main" val="713251629"/>
                    </a:ext>
                  </a:extLst>
                </a:gridCol>
              </a:tblGrid>
              <a:tr h="1273753">
                <a:tc>
                  <a:txBody>
                    <a:bodyPr/>
                    <a:lstStyle/>
                    <a:p>
                      <a:pPr marL="0" marR="0" lvl="0" indent="0" algn="just" defTabSz="342900" rtl="0" eaLnBrk="1" fontAlgn="auto" latinLnBrk="0" hangingPunct="1">
                        <a:lnSpc>
                          <a:spcPts val="2200"/>
                        </a:lnSpc>
                        <a:spcBef>
                          <a:spcPts val="1200"/>
                        </a:spcBef>
                        <a:spcAft>
                          <a:spcPts val="0"/>
                        </a:spcAft>
                        <a:buClrTx/>
                        <a:buSzTx/>
                        <a:buFontTx/>
                        <a:buNone/>
                        <a:tabLst/>
                        <a:defRPr/>
                      </a:pPr>
                      <a:r>
                        <a:rPr lang="en-US" sz="1600" b="1" i="0" kern="1200" dirty="0">
                          <a:solidFill>
                            <a:schemeClr val="lt1"/>
                          </a:solidFill>
                          <a:effectLst/>
                          <a:latin typeface="Arial" panose="020B0604020202020204" pitchFamily="34" charset="0"/>
                          <a:ea typeface="+mn-ea"/>
                          <a:cs typeface="Arial" panose="020B0604020202020204" pitchFamily="34" charset="0"/>
                        </a:rPr>
                        <a:t>Question 4(a) in the EM to ED-ISQM 2 asked respondents:</a:t>
                      </a:r>
                      <a:endParaRPr lang="en-US" sz="1600" b="0" i="1" kern="1200" dirty="0">
                        <a:solidFill>
                          <a:schemeClr val="lt1"/>
                        </a:solidFill>
                        <a:effectLst/>
                        <a:latin typeface="Arial" panose="020B0604020202020204" pitchFamily="34" charset="0"/>
                        <a:ea typeface="+mn-ea"/>
                        <a:cs typeface="Arial" panose="020B0604020202020204" pitchFamily="34" charset="0"/>
                      </a:endParaRPr>
                    </a:p>
                    <a:p>
                      <a:pPr algn="just">
                        <a:lnSpc>
                          <a:spcPts val="2200"/>
                        </a:lnSpc>
                        <a:spcBef>
                          <a:spcPts val="600"/>
                        </a:spcBef>
                        <a:spcAft>
                          <a:spcPts val="0"/>
                        </a:spcAft>
                      </a:pPr>
                      <a:r>
                        <a:rPr lang="en-US" sz="1600" b="0" i="1" kern="1200" dirty="0">
                          <a:solidFill>
                            <a:schemeClr val="lt1"/>
                          </a:solidFill>
                          <a:effectLst/>
                          <a:latin typeface="Arial" panose="020B0604020202020204" pitchFamily="34" charset="0"/>
                          <a:ea typeface="+mn-ea"/>
                          <a:cs typeface="Arial" panose="020B0604020202020204" pitchFamily="34" charset="0"/>
                        </a:rPr>
                        <a:t>What are your views on the need for the guidance in proposed ISQM 2 regarding a “cooling-off” period for that individual before being able to act as the engagement quality reviewer?</a:t>
                      </a:r>
                      <a:endParaRPr lang="en-US" sz="1600" b="0" i="1"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761655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nvGraphicFramePr>
        <p:xfrm>
          <a:off x="637037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711630090"/>
              </p:ext>
            </p:extLst>
          </p:nvPr>
        </p:nvGraphicFramePr>
        <p:xfrm>
          <a:off x="464819" y="1847272"/>
          <a:ext cx="6032123" cy="2970790"/>
        </p:xfrm>
        <a:graphic>
          <a:graphicData uri="http://schemas.openxmlformats.org/drawingml/2006/table">
            <a:tbl>
              <a:tblPr firstRow="1" bandRow="1">
                <a:tableStyleId>{5C22544A-7EE6-4342-B048-85BDC9FD1C3A}</a:tableStyleId>
              </a:tblPr>
              <a:tblGrid>
                <a:gridCol w="6032123">
                  <a:extLst>
                    <a:ext uri="{9D8B030D-6E8A-4147-A177-3AD203B41FA5}">
                      <a16:colId xmlns:a16="http://schemas.microsoft.com/office/drawing/2014/main" val="713251629"/>
                    </a:ext>
                  </a:extLst>
                </a:gridCol>
              </a:tblGrid>
              <a:tr h="2970790">
                <a:tc>
                  <a:txBody>
                    <a:bodyPr/>
                    <a:lstStyle/>
                    <a:p>
                      <a:pPr marL="342900" indent="-342900" algn="just">
                        <a:lnSpc>
                          <a:spcPts val="22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Comments on the location of any guidance (or requirement) for a cooling-off period for an individual moving into an EQ reviewer role were about evenly split between a preference for ISQM 2 or the IESBA Code.</a:t>
                      </a:r>
                    </a:p>
                    <a:p>
                      <a:pPr marL="342900" indent="-342900" algn="just">
                        <a:lnSpc>
                          <a:spcPts val="22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Comments that cooling-off period should be addressed in ISQM 2 in the absence of a requirement in the IESBA Code.</a:t>
                      </a:r>
                    </a:p>
                    <a:p>
                      <a:pPr marL="342900" indent="-342900" algn="just">
                        <a:lnSpc>
                          <a:spcPts val="2200"/>
                        </a:lnSpc>
                        <a:buFont typeface="Arial" panose="020B0604020202020204" pitchFamily="34" charset="0"/>
                        <a:buChar char="•"/>
                      </a:pPr>
                      <a:r>
                        <a:rPr lang="en-US"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rPr>
                        <a:t>Suggestion that the guidance could reside in either location as long as appropriate cross-references were provided, while others noted that there was no harm in having the guidance in both places.</a:t>
                      </a:r>
                      <a:endParaRPr lang="en-CA" sz="1600" b="0" i="0" kern="1200" dirty="0">
                        <a:solidFill>
                          <a:schemeClr val="tx1">
                            <a:lumMod val="65000"/>
                            <a:lumOff val="35000"/>
                          </a:schemeClr>
                        </a:solidFill>
                        <a:effectLst/>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1393"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11" name="Slide Number Placeholder 5">
            <a:extLst>
              <a:ext uri="{FF2B5EF4-FFF2-40B4-BE49-F238E27FC236}">
                <a16:creationId xmlns:a16="http://schemas.microsoft.com/office/drawing/2014/main" id="{EE885033-4A17-48F1-AE1F-C29389B2BB47}"/>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20</a:t>
            </a:fld>
            <a:endParaRPr lang="en-US" sz="675" dirty="0">
              <a:solidFill>
                <a:srgbClr val="808080"/>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ED8D68BC-CC74-4BAA-AABB-7CB77F5039EA}"/>
              </a:ext>
            </a:extLst>
          </p:cNvPr>
          <p:cNvGraphicFramePr>
            <a:graphicFrameLocks noGrp="1"/>
          </p:cNvGraphicFramePr>
          <p:nvPr>
            <p:extLst>
              <p:ext uri="{D42A27DB-BD31-4B8C-83A1-F6EECF244321}">
                <p14:modId xmlns:p14="http://schemas.microsoft.com/office/powerpoint/2010/main" val="2102487849"/>
              </p:ext>
            </p:extLst>
          </p:nvPr>
        </p:nvGraphicFramePr>
        <p:xfrm>
          <a:off x="464820" y="865562"/>
          <a:ext cx="6032123" cy="996950"/>
        </p:xfrm>
        <a:graphic>
          <a:graphicData uri="http://schemas.openxmlformats.org/drawingml/2006/table">
            <a:tbl>
              <a:tblPr firstRow="1" bandRow="1">
                <a:tableStyleId>{5C22544A-7EE6-4342-B048-85BDC9FD1C3A}</a:tableStyleId>
              </a:tblPr>
              <a:tblGrid>
                <a:gridCol w="6032123">
                  <a:extLst>
                    <a:ext uri="{9D8B030D-6E8A-4147-A177-3AD203B41FA5}">
                      <a16:colId xmlns:a16="http://schemas.microsoft.com/office/drawing/2014/main" val="713251629"/>
                    </a:ext>
                  </a:extLst>
                </a:gridCol>
              </a:tblGrid>
              <a:tr h="996950">
                <a:tc>
                  <a:txBody>
                    <a:bodyPr/>
                    <a:lstStyle/>
                    <a:p>
                      <a:pPr marL="0" marR="0" lvl="0" indent="0" algn="just" defTabSz="342900" rtl="0" eaLnBrk="1" fontAlgn="auto" latinLnBrk="0" hangingPunct="1">
                        <a:lnSpc>
                          <a:spcPts val="2000"/>
                        </a:lnSpc>
                        <a:spcBef>
                          <a:spcPts val="1200"/>
                        </a:spcBef>
                        <a:spcAft>
                          <a:spcPts val="0"/>
                        </a:spcAft>
                        <a:buClrTx/>
                        <a:buSzTx/>
                        <a:buFontTx/>
                        <a:buNone/>
                        <a:tabLst/>
                        <a:defRPr/>
                      </a:pPr>
                      <a:r>
                        <a:rPr lang="en-US" sz="1600" b="1" i="0" kern="1200" dirty="0">
                          <a:solidFill>
                            <a:schemeClr val="lt1"/>
                          </a:solidFill>
                          <a:effectLst/>
                          <a:latin typeface="Arial" panose="020B0604020202020204" pitchFamily="34" charset="0"/>
                          <a:ea typeface="+mn-ea"/>
                          <a:cs typeface="Arial" panose="020B0604020202020204" pitchFamily="34" charset="0"/>
                        </a:rPr>
                        <a:t>Question 4(b) in the EM to ED-ISQM 2 asked respondents:</a:t>
                      </a:r>
                      <a:endParaRPr lang="en-US" sz="1600" b="0" i="1" kern="1200" dirty="0">
                        <a:solidFill>
                          <a:schemeClr val="lt1"/>
                        </a:solidFill>
                        <a:effectLst/>
                        <a:latin typeface="Arial" panose="020B0604020202020204" pitchFamily="34" charset="0"/>
                        <a:ea typeface="+mn-ea"/>
                        <a:cs typeface="Arial" panose="020B0604020202020204" pitchFamily="34" charset="0"/>
                      </a:endParaRPr>
                    </a:p>
                    <a:p>
                      <a:pPr algn="just">
                        <a:lnSpc>
                          <a:spcPts val="2000"/>
                        </a:lnSpc>
                        <a:spcBef>
                          <a:spcPts val="600"/>
                        </a:spcBef>
                        <a:spcAft>
                          <a:spcPts val="0"/>
                        </a:spcAft>
                      </a:pPr>
                      <a:r>
                        <a:rPr lang="en-US" sz="1600" b="0" i="1" kern="1200" dirty="0">
                          <a:solidFill>
                            <a:schemeClr val="lt1"/>
                          </a:solidFill>
                          <a:effectLst/>
                          <a:latin typeface="Arial" panose="020B0604020202020204" pitchFamily="34" charset="0"/>
                          <a:ea typeface="+mn-ea"/>
                          <a:cs typeface="Arial" panose="020B0604020202020204" pitchFamily="34" charset="0"/>
                        </a:rPr>
                        <a:t>If you support such guidance, do you agree that it should be located in proposed ISQM 2 as opposed to the IESBA Code?</a:t>
                      </a:r>
                      <a:endParaRPr lang="en-US" sz="1600" b="0" i="1" dirty="0">
                        <a:latin typeface="Arial" panose="020B0604020202020204" pitchFamily="34" charset="0"/>
                        <a:cs typeface="Arial" panose="020B0604020202020204" pitchFamily="34" charset="0"/>
                      </a:endParaRPr>
                    </a:p>
                  </a:txBody>
                  <a:tcPr anchor="ctr">
                    <a:solidFill>
                      <a:srgbClr val="005BAA"/>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871690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69578874"/>
              </p:ext>
            </p:extLst>
          </p:nvPr>
        </p:nvGraphicFramePr>
        <p:xfrm>
          <a:off x="429437" y="906462"/>
          <a:ext cx="8340094" cy="3781281"/>
        </p:xfrm>
        <a:graphic>
          <a:graphicData uri="http://schemas.openxmlformats.org/drawingml/2006/table">
            <a:tbl>
              <a:tblPr firstRow="1" bandRow="1">
                <a:tableStyleId>{5C22544A-7EE6-4342-B048-85BDC9FD1C3A}</a:tableStyleId>
              </a:tblPr>
              <a:tblGrid>
                <a:gridCol w="8340094">
                  <a:extLst>
                    <a:ext uri="{9D8B030D-6E8A-4147-A177-3AD203B41FA5}">
                      <a16:colId xmlns:a16="http://schemas.microsoft.com/office/drawing/2014/main" val="713251629"/>
                    </a:ext>
                  </a:extLst>
                </a:gridCol>
              </a:tblGrid>
              <a:tr h="3781281">
                <a:tc>
                  <a:txBody>
                    <a:bodyPr/>
                    <a:lstStyle/>
                    <a:p>
                      <a:pPr algn="just">
                        <a:spcBef>
                          <a:spcPts val="1200"/>
                        </a:spcBef>
                        <a:spcAft>
                          <a:spcPts val="0"/>
                        </a:spcAft>
                      </a:pPr>
                      <a:r>
                        <a:rPr lang="en-CA" sz="2000" b="1" i="0" kern="1200" dirty="0">
                          <a:solidFill>
                            <a:schemeClr val="tx1">
                              <a:lumMod val="65000"/>
                              <a:lumOff val="35000"/>
                            </a:schemeClr>
                          </a:solidFill>
                          <a:effectLst/>
                          <a:latin typeface="Arial" panose="020B0604020202020204" pitchFamily="34" charset="0"/>
                          <a:ea typeface="+mn-ea"/>
                          <a:cs typeface="Arial" panose="020B0604020202020204" pitchFamily="34" charset="0"/>
                        </a:rPr>
                        <a:t>Task Force’s Key Considerations:</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firm policies or procedures should be required to address threats to objectivity.</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a requirement is needed for a specified cooling-off period.</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a requirement or guidance should apply to audits of listed entities, PIEs, or all audits, or even more broadly to all assurance engagements.</a:t>
                      </a:r>
                    </a:p>
                    <a:p>
                      <a:pPr marL="347472" lvl="0" indent="-347472" algn="just">
                        <a:lnSpc>
                          <a:spcPts val="2400"/>
                        </a:lnSpc>
                        <a:spcBef>
                          <a:spcPts val="600"/>
                        </a:spcBef>
                        <a:spcAft>
                          <a:spcPts val="0"/>
                        </a:spcAft>
                        <a:buFont typeface="Arial" panose="020B0604020202020204" pitchFamily="34" charset="0"/>
                        <a:buChar char="•"/>
                      </a:pPr>
                      <a:r>
                        <a:rPr lang="en-US" sz="2000" b="0" kern="1200" dirty="0">
                          <a:solidFill>
                            <a:schemeClr val="tx1">
                              <a:lumMod val="65000"/>
                              <a:lumOff val="35000"/>
                            </a:schemeClr>
                          </a:solidFill>
                          <a:effectLst/>
                          <a:latin typeface="Arial" panose="020B0604020202020204" pitchFamily="34" charset="0"/>
                          <a:ea typeface="+mn-ea"/>
                          <a:cs typeface="Arial" panose="020B0604020202020204" pitchFamily="34" charset="0"/>
                        </a:rPr>
                        <a:t>Considered whether a requirement or guidance should also apply when another key audit partner or engagement team member steps into the EQ reviewer role.</a:t>
                      </a:r>
                    </a:p>
                  </a:txBody>
                  <a:tcPr anchor="ct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238695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2B99325-A310-4699-8B9F-B267F9B13056}"/>
              </a:ext>
            </a:extLst>
          </p:cNvPr>
          <p:cNvSpPr>
            <a:spLocks noGrp="1"/>
          </p:cNvSpPr>
          <p:nvPr>
            <p:ph sz="half" idx="1"/>
          </p:nvPr>
        </p:nvSpPr>
        <p:spPr>
          <a:xfrm>
            <a:off x="349827" y="1287780"/>
            <a:ext cx="4038600" cy="3522518"/>
          </a:xfrm>
          <a:solidFill>
            <a:srgbClr val="005BAA"/>
          </a:solidFill>
        </p:spPr>
        <p:txBody>
          <a:bodyPr anchor="ctr" anchorCtr="0"/>
          <a:lstStyle/>
          <a:p>
            <a:pPr marL="0" indent="0">
              <a:lnSpc>
                <a:spcPts val="2000"/>
              </a:lnSpc>
              <a:spcBef>
                <a:spcPts val="600"/>
              </a:spcBef>
              <a:buNone/>
            </a:pPr>
            <a:r>
              <a:rPr lang="en-US" sz="1800" b="1" dirty="0">
                <a:solidFill>
                  <a:schemeClr val="bg1"/>
                </a:solidFill>
              </a:rPr>
              <a:t>Alternative 1 – Addressed specifically in the IESBA Code</a:t>
            </a:r>
          </a:p>
          <a:p>
            <a:pPr marL="0" indent="0">
              <a:lnSpc>
                <a:spcPts val="2000"/>
              </a:lnSpc>
              <a:spcBef>
                <a:spcPts val="600"/>
              </a:spcBef>
              <a:buNone/>
            </a:pPr>
            <a:r>
              <a:rPr lang="en-US" sz="1600" i="1" dirty="0">
                <a:solidFill>
                  <a:schemeClr val="bg1"/>
                </a:solidFill>
              </a:rPr>
              <a:t>Option 1.1: Code provides guidance on threats to objectivity and possible safeguards </a:t>
            </a:r>
            <a:r>
              <a:rPr lang="en-US" sz="1600" i="1" u="sng" dirty="0">
                <a:solidFill>
                  <a:schemeClr val="bg1"/>
                </a:solidFill>
              </a:rPr>
              <a:t>for an EP stepping into an EQR role, but no specific cooling-off period</a:t>
            </a:r>
            <a:r>
              <a:rPr lang="en-US" sz="1600" i="1" dirty="0">
                <a:solidFill>
                  <a:schemeClr val="bg1"/>
                </a:solidFill>
              </a:rPr>
              <a:t>.</a:t>
            </a:r>
            <a:endParaRPr lang="en-US" sz="1600" dirty="0">
              <a:solidFill>
                <a:schemeClr val="bg1"/>
              </a:solidFill>
            </a:endParaRPr>
          </a:p>
          <a:p>
            <a:pPr marL="0" indent="0">
              <a:lnSpc>
                <a:spcPts val="2000"/>
              </a:lnSpc>
              <a:spcBef>
                <a:spcPts val="600"/>
              </a:spcBef>
              <a:buNone/>
            </a:pPr>
            <a:r>
              <a:rPr lang="en-US" sz="1600" i="1" dirty="0">
                <a:solidFill>
                  <a:schemeClr val="bg1"/>
                </a:solidFill>
              </a:rPr>
              <a:t>Option 1.2: Code provides guidance above, </a:t>
            </a:r>
            <a:r>
              <a:rPr lang="en-US" sz="1600" i="1" u="sng" dirty="0">
                <a:solidFill>
                  <a:schemeClr val="bg1"/>
                </a:solidFill>
              </a:rPr>
              <a:t>and includes a specific cooling-off period</a:t>
            </a:r>
            <a:r>
              <a:rPr lang="en-US" sz="1600" i="1" dirty="0">
                <a:solidFill>
                  <a:schemeClr val="bg1"/>
                </a:solidFill>
              </a:rPr>
              <a:t>.</a:t>
            </a:r>
          </a:p>
          <a:p>
            <a:pPr marL="0" indent="0">
              <a:lnSpc>
                <a:spcPts val="2000"/>
              </a:lnSpc>
              <a:spcBef>
                <a:spcPts val="600"/>
              </a:spcBef>
              <a:buNone/>
            </a:pPr>
            <a:r>
              <a:rPr lang="en-US" sz="1800" b="1" dirty="0">
                <a:solidFill>
                  <a:schemeClr val="bg1"/>
                </a:solidFill>
              </a:rPr>
              <a:t>Alternative 2 – Not addressed specifically in the Code</a:t>
            </a:r>
          </a:p>
          <a:p>
            <a:pPr marL="0" indent="0">
              <a:lnSpc>
                <a:spcPts val="2000"/>
              </a:lnSpc>
              <a:spcBef>
                <a:spcPts val="600"/>
              </a:spcBef>
              <a:buNone/>
            </a:pPr>
            <a:r>
              <a:rPr lang="en-US" sz="1600" i="1" dirty="0">
                <a:solidFill>
                  <a:schemeClr val="bg1"/>
                </a:solidFill>
              </a:rPr>
              <a:t>General principles in the Code on threats to objectivity and possible safeguards.</a:t>
            </a:r>
          </a:p>
        </p:txBody>
      </p:sp>
      <p:sp>
        <p:nvSpPr>
          <p:cNvPr id="5" name="Content Placeholder 4">
            <a:extLst>
              <a:ext uri="{FF2B5EF4-FFF2-40B4-BE49-F238E27FC236}">
                <a16:creationId xmlns:a16="http://schemas.microsoft.com/office/drawing/2014/main" id="{11C96AE6-5446-479F-83DF-1F821EA9CEEA}"/>
              </a:ext>
            </a:extLst>
          </p:cNvPr>
          <p:cNvSpPr>
            <a:spLocks noGrp="1"/>
          </p:cNvSpPr>
          <p:nvPr>
            <p:ph sz="half" idx="2"/>
          </p:nvPr>
        </p:nvSpPr>
        <p:spPr>
          <a:xfrm>
            <a:off x="4426528" y="1287780"/>
            <a:ext cx="4367646" cy="3522518"/>
          </a:xfrm>
          <a:noFill/>
        </p:spPr>
        <p:txBody>
          <a:bodyPr/>
          <a:lstStyle/>
          <a:p>
            <a:pPr marL="0" indent="0">
              <a:lnSpc>
                <a:spcPts val="1800"/>
              </a:lnSpc>
              <a:spcBef>
                <a:spcPts val="600"/>
              </a:spcBef>
              <a:buNone/>
            </a:pPr>
            <a:r>
              <a:rPr lang="en-US" sz="1800" b="1" dirty="0"/>
              <a:t>Alternative 1</a:t>
            </a:r>
          </a:p>
          <a:p>
            <a:pPr marL="228600" indent="-228600">
              <a:lnSpc>
                <a:spcPts val="1800"/>
              </a:lnSpc>
              <a:spcBef>
                <a:spcPts val="600"/>
              </a:spcBef>
            </a:pPr>
            <a:r>
              <a:rPr lang="en-US" sz="1600" dirty="0"/>
              <a:t>For both Options 1.1 and 1.2, firm policies or procedures (P or P) require EQ reviewer to comply with relevant ethical requirements, including related to threats to objectivity </a:t>
            </a:r>
            <a:r>
              <a:rPr lang="en-US" sz="1600" u="sng" dirty="0"/>
              <a:t>generally</a:t>
            </a:r>
            <a:r>
              <a:rPr lang="en-US" sz="1600" dirty="0"/>
              <a:t>.</a:t>
            </a:r>
          </a:p>
          <a:p>
            <a:pPr marL="228600" indent="-228600">
              <a:lnSpc>
                <a:spcPts val="1800"/>
              </a:lnSpc>
              <a:spcBef>
                <a:spcPts val="600"/>
              </a:spcBef>
            </a:pPr>
            <a:r>
              <a:rPr lang="en-US" sz="1600" dirty="0"/>
              <a:t>For Option 1.1, an additional requirement for firm P or P to include a specific two-year cooling-off period, or longer if required by relevant ethical requirements.</a:t>
            </a:r>
          </a:p>
          <a:p>
            <a:pPr marL="0" indent="0">
              <a:lnSpc>
                <a:spcPts val="1800"/>
              </a:lnSpc>
              <a:spcBef>
                <a:spcPts val="600"/>
              </a:spcBef>
              <a:buNone/>
            </a:pPr>
            <a:r>
              <a:rPr lang="en-US" sz="1800" b="1" dirty="0"/>
              <a:t>Alternative 2</a:t>
            </a:r>
          </a:p>
          <a:p>
            <a:pPr marL="228600" indent="-228600">
              <a:lnSpc>
                <a:spcPts val="1800"/>
              </a:lnSpc>
              <a:spcBef>
                <a:spcPts val="600"/>
              </a:spcBef>
            </a:pPr>
            <a:r>
              <a:rPr lang="en-US" sz="1600" dirty="0"/>
              <a:t>Same as for Option 1.1, but also requires firm P or P to address </a:t>
            </a:r>
            <a:r>
              <a:rPr lang="en-US" sz="1600" u="sng" dirty="0"/>
              <a:t>specific</a:t>
            </a:r>
            <a:r>
              <a:rPr lang="en-US" sz="1600" dirty="0"/>
              <a:t> threats to objectivity for EP moving into an EQR role.</a:t>
            </a:r>
          </a:p>
        </p:txBody>
      </p:sp>
      <p:sp>
        <p:nvSpPr>
          <p:cNvPr id="7" name="TextBox 6">
            <a:extLst>
              <a:ext uri="{FF2B5EF4-FFF2-40B4-BE49-F238E27FC236}">
                <a16:creationId xmlns:a16="http://schemas.microsoft.com/office/drawing/2014/main" id="{080577F3-A5AE-4729-9E3E-E30DD4B1A995}"/>
              </a:ext>
            </a:extLst>
          </p:cNvPr>
          <p:cNvSpPr txBox="1"/>
          <p:nvPr/>
        </p:nvSpPr>
        <p:spPr>
          <a:xfrm>
            <a:off x="349828" y="871453"/>
            <a:ext cx="4038600" cy="400110"/>
          </a:xfrm>
          <a:prstGeom prst="rect">
            <a:avLst/>
          </a:prstGeom>
          <a:noFill/>
        </p:spPr>
        <p:txBody>
          <a:bodyPr wrap="square" rtlCol="0">
            <a:spAutoFit/>
          </a:bodyPr>
          <a:lstStyle/>
          <a:p>
            <a:r>
              <a:rPr lang="en-US" sz="2000" b="1" dirty="0">
                <a:solidFill>
                  <a:schemeClr val="tx1">
                    <a:lumMod val="65000"/>
                    <a:lumOff val="35000"/>
                  </a:schemeClr>
                </a:solidFill>
                <a:latin typeface="Arial" panose="020B0604020202020204" pitchFamily="34" charset="0"/>
                <a:cs typeface="Arial" panose="020B0604020202020204" pitchFamily="34" charset="0"/>
              </a:rPr>
              <a:t>Task Force Preliminary Views:</a:t>
            </a:r>
          </a:p>
        </p:txBody>
      </p:sp>
      <p:sp>
        <p:nvSpPr>
          <p:cNvPr id="9" name="Title 1">
            <a:extLst>
              <a:ext uri="{FF2B5EF4-FFF2-40B4-BE49-F238E27FC236}">
                <a16:creationId xmlns:a16="http://schemas.microsoft.com/office/drawing/2014/main" id="{2151CD97-A713-4B6B-8020-D610A33E9997}"/>
              </a:ext>
            </a:extLst>
          </p:cNvPr>
          <p:cNvSpPr txBox="1">
            <a:spLocks noGrp="1"/>
          </p:cNvSpPr>
          <p:nvPr>
            <p:ph type="title"/>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10" name="TextBox 9">
            <a:extLst>
              <a:ext uri="{FF2B5EF4-FFF2-40B4-BE49-F238E27FC236}">
                <a16:creationId xmlns:a16="http://schemas.microsoft.com/office/drawing/2014/main" id="{23261560-9333-4B57-B759-7DEC4D0BD318}"/>
              </a:ext>
            </a:extLst>
          </p:cNvPr>
          <p:cNvSpPr txBox="1"/>
          <p:nvPr/>
        </p:nvSpPr>
        <p:spPr>
          <a:xfrm>
            <a:off x="4388427" y="871453"/>
            <a:ext cx="4038600" cy="400110"/>
          </a:xfrm>
          <a:prstGeom prst="rect">
            <a:avLst/>
          </a:prstGeom>
          <a:noFill/>
        </p:spPr>
        <p:txBody>
          <a:bodyPr wrap="square" rtlCol="0">
            <a:spAutoFit/>
          </a:bodyPr>
          <a:lstStyle/>
          <a:p>
            <a:r>
              <a:rPr lang="en-US" sz="2000" b="1" dirty="0">
                <a:solidFill>
                  <a:schemeClr val="tx1">
                    <a:lumMod val="65000"/>
                    <a:lumOff val="35000"/>
                  </a:schemeClr>
                </a:solidFill>
                <a:latin typeface="Arial" panose="020B0604020202020204" pitchFamily="34" charset="0"/>
                <a:cs typeface="Arial" panose="020B0604020202020204" pitchFamily="34" charset="0"/>
              </a:rPr>
              <a:t>Proposed response in ISQM 2:</a:t>
            </a:r>
          </a:p>
        </p:txBody>
      </p:sp>
      <p:sp>
        <p:nvSpPr>
          <p:cNvPr id="11" name="Slide Number Placeholder 5">
            <a:extLst>
              <a:ext uri="{FF2B5EF4-FFF2-40B4-BE49-F238E27FC236}">
                <a16:creationId xmlns:a16="http://schemas.microsoft.com/office/drawing/2014/main" id="{C85EFF92-3C11-4061-8646-FBB80056FD6C}"/>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22</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012844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850322"/>
            <a:ext cx="8497006" cy="3961823"/>
          </a:xfrm>
          <a:prstGeom prst="rect">
            <a:avLst/>
          </a:prstGeom>
          <a:noFill/>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12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endParaRPr lang="en-US" b="1" i="1" dirty="0">
              <a:solidFill>
                <a:schemeClr val="tx1">
                  <a:lumMod val="65000"/>
                  <a:lumOff val="35000"/>
                </a:schemeClr>
              </a:solidFill>
              <a:latin typeface="Arial" panose="020B0604020202020204" pitchFamily="34" charset="0"/>
              <a:cs typeface="Arial" panose="020B0604020202020204" pitchFamily="34" charset="0"/>
            </a:endParaRPr>
          </a:p>
          <a:p>
            <a:pPr marL="347472" indent="-347472" algn="just">
              <a:lnSpc>
                <a:spcPts val="2400"/>
              </a:lnSpc>
              <a:spcBef>
                <a:spcPts val="600"/>
              </a:spcBef>
              <a:spcAft>
                <a:spcPts val="0"/>
              </a:spcAft>
              <a:buFont typeface="+mj-lt"/>
              <a:buAutoNum type="arabicPeriod" startAt="2"/>
            </a:pPr>
            <a:r>
              <a:rPr lang="en-US" sz="2200" i="1" dirty="0">
                <a:solidFill>
                  <a:schemeClr val="tx1">
                    <a:lumMod val="65000"/>
                    <a:lumOff val="35000"/>
                  </a:schemeClr>
                </a:solidFill>
                <a:latin typeface="Arial" panose="020B0604020202020204" pitchFamily="34" charset="0"/>
                <a:cs typeface="Arial" panose="020B0604020202020204" pitchFamily="34" charset="0"/>
              </a:rPr>
              <a:t>Does the IAASB agree with the proposed changes as shown in the indicative drafting presented in Agenda Item 7? In particular, does the IAASB support the TF’s recommendation that:</a:t>
            </a:r>
          </a:p>
          <a:p>
            <a:pPr marL="694944" indent="-347472" algn="just">
              <a:lnSpc>
                <a:spcPts val="24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The cooling-off period be addressed in ISQM 2 if not specifically addressed in the IESBA Code? </a:t>
            </a:r>
          </a:p>
          <a:p>
            <a:pPr marL="694944" indent="-347472" algn="just">
              <a:lnSpc>
                <a:spcPts val="24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If addressed in ISQM 2, firm policies or procedures be required to include an explicit cooling-off period to address threats to objectivity created when an individual steps into an EQ reviewer role after serving as the engagement partner?</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9" name="Slide Number Placeholder 5">
            <a:extLst>
              <a:ext uri="{FF2B5EF4-FFF2-40B4-BE49-F238E27FC236}">
                <a16:creationId xmlns:a16="http://schemas.microsoft.com/office/drawing/2014/main" id="{5AF06B8B-4365-4896-B530-0E51E3B29852}"/>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4037330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850322"/>
            <a:ext cx="8497006" cy="3961823"/>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2400"/>
              </a:lnSpc>
              <a:spcBef>
                <a:spcPts val="1200"/>
              </a:spcBef>
              <a:spcAft>
                <a:spcPts val="0"/>
              </a:spcAft>
              <a:buNone/>
            </a:pPr>
            <a:endParaRPr lang="en-US" b="1" dirty="0">
              <a:solidFill>
                <a:schemeClr val="tx1">
                  <a:lumMod val="65000"/>
                  <a:lumOff val="35000"/>
                </a:schemeClr>
              </a:solidFill>
              <a:latin typeface="Arial" panose="020B0604020202020204" pitchFamily="34" charset="0"/>
              <a:cs typeface="Arial" panose="020B0604020202020204" pitchFamily="34" charset="0"/>
            </a:endParaRPr>
          </a:p>
          <a:p>
            <a:pPr marL="0" indent="0" algn="just">
              <a:lnSpc>
                <a:spcPts val="2400"/>
              </a:lnSpc>
              <a:spcBef>
                <a:spcPts val="1200"/>
              </a:spcBef>
              <a:spcAft>
                <a:spcPts val="0"/>
              </a:spcAft>
              <a:buNone/>
            </a:pPr>
            <a:r>
              <a:rPr lang="en-US" b="1" dirty="0">
                <a:solidFill>
                  <a:schemeClr val="tx1">
                    <a:lumMod val="65000"/>
                    <a:lumOff val="35000"/>
                  </a:schemeClr>
                </a:solidFill>
                <a:latin typeface="Arial" panose="020B0604020202020204" pitchFamily="34" charset="0"/>
                <a:cs typeface="Arial" panose="020B0604020202020204" pitchFamily="34" charset="0"/>
              </a:rPr>
              <a:t>Matters for IAASB Consideration</a:t>
            </a:r>
          </a:p>
          <a:p>
            <a:pPr marL="457200" indent="-457200" algn="just">
              <a:lnSpc>
                <a:spcPts val="2400"/>
              </a:lnSpc>
              <a:spcBef>
                <a:spcPts val="600"/>
              </a:spcBef>
              <a:spcAft>
                <a:spcPts val="0"/>
              </a:spcAft>
              <a:buFont typeface="+mj-lt"/>
              <a:buAutoNum type="arabicPeriod" startAt="3"/>
            </a:pPr>
            <a:r>
              <a:rPr lang="en-US" sz="2200" i="1" dirty="0">
                <a:solidFill>
                  <a:schemeClr val="tx1">
                    <a:lumMod val="65000"/>
                    <a:lumOff val="35000"/>
                  </a:schemeClr>
                </a:solidFill>
                <a:latin typeface="Arial" panose="020B0604020202020204" pitchFamily="34" charset="0"/>
                <a:cs typeface="Arial" panose="020B0604020202020204" pitchFamily="34" charset="0"/>
              </a:rPr>
              <a:t>Should a requirement or guidance regarding a cooling-off period apply to:</a:t>
            </a:r>
          </a:p>
          <a:p>
            <a:pPr marL="694944" indent="-347472" algn="just">
              <a:lnSpc>
                <a:spcPts val="24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Audits of listed entities only, or all PIEs, or all audits?</a:t>
            </a:r>
          </a:p>
          <a:p>
            <a:pPr marL="694944" indent="-347472" algn="just">
              <a:lnSpc>
                <a:spcPts val="2400"/>
              </a:lnSpc>
              <a:spcBef>
                <a:spcPts val="600"/>
              </a:spcBef>
              <a:spcAft>
                <a:spcPts val="0"/>
              </a:spcAft>
              <a:buFont typeface="+mj-lt"/>
              <a:buAutoNum type="alphaLcPeriod"/>
            </a:pPr>
            <a:r>
              <a:rPr lang="en-US" sz="2000" i="1" dirty="0">
                <a:solidFill>
                  <a:schemeClr val="tx1">
                    <a:lumMod val="65000"/>
                    <a:lumOff val="35000"/>
                  </a:schemeClr>
                </a:solidFill>
                <a:latin typeface="Arial" panose="020B0604020202020204" pitchFamily="34" charset="0"/>
                <a:cs typeface="Arial" panose="020B0604020202020204" pitchFamily="34" charset="0"/>
              </a:rPr>
              <a:t>Assurance engagements more broadly, i.e., for any engagement for which an EQ review is required, or for which the firm determines that an EQ review is an appropriate response to assessed quality risks or is appropriate based on the nature of the entity?</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Objectivity and Cooling-off Period (Cont.)</a:t>
            </a:r>
          </a:p>
        </p:txBody>
      </p:sp>
      <p:sp>
        <p:nvSpPr>
          <p:cNvPr id="9" name="Slide Number Placeholder 5">
            <a:extLst>
              <a:ext uri="{FF2B5EF4-FFF2-40B4-BE49-F238E27FC236}">
                <a16:creationId xmlns:a16="http://schemas.microsoft.com/office/drawing/2014/main" id="{5AF06B8B-4365-4896-B530-0E51E3B29852}"/>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92600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a:spLocks noGrp="1"/>
          </p:cNvSpPr>
          <p:nvPr>
            <p:ph idx="1"/>
          </p:nvPr>
        </p:nvSpPr>
        <p:spPr>
          <a:xfrm>
            <a:off x="229798" y="831312"/>
            <a:ext cx="8233790" cy="3902266"/>
          </a:xfrm>
        </p:spPr>
        <p:txBody>
          <a:bodyPr/>
          <a:lstStyle/>
          <a:p>
            <a:pPr marL="347472" indent="-347472" algn="just">
              <a:spcBef>
                <a:spcPts val="300"/>
              </a:spcBef>
              <a:buNone/>
            </a:pPr>
            <a:endParaRPr lang="en-US" sz="400" dirty="0"/>
          </a:p>
          <a:p>
            <a:pPr marL="1397" indent="0" algn="just">
              <a:spcBef>
                <a:spcPts val="600"/>
              </a:spcBef>
              <a:buNone/>
            </a:pPr>
            <a:endParaRPr lang="en-US" sz="1700" dirty="0">
              <a:solidFill>
                <a:schemeClr val="tx1">
                  <a:lumMod val="65000"/>
                  <a:lumOff val="35000"/>
                </a:schemeClr>
              </a:solidFill>
            </a:endParaRPr>
          </a:p>
          <a:p>
            <a:pPr marL="1397" indent="0" algn="just">
              <a:spcBef>
                <a:spcPts val="600"/>
              </a:spcBef>
              <a:buNone/>
            </a:pPr>
            <a:endParaRPr lang="en-US" sz="1700" dirty="0">
              <a:solidFill>
                <a:schemeClr val="tx1">
                  <a:lumMod val="65000"/>
                  <a:lumOff val="35000"/>
                </a:schemeClr>
              </a:solidFill>
            </a:endParaRPr>
          </a:p>
        </p:txBody>
      </p:sp>
      <p:grpSp>
        <p:nvGrpSpPr>
          <p:cNvPr id="8" name="Group 7"/>
          <p:cNvGrpSpPr/>
          <p:nvPr/>
        </p:nvGrpSpPr>
        <p:grpSpPr>
          <a:xfrm>
            <a:off x="420913" y="2039871"/>
            <a:ext cx="7496630" cy="2682874"/>
            <a:chOff x="-28575" y="1898650"/>
            <a:chExt cx="9956800" cy="4429126"/>
          </a:xfrm>
          <a:solidFill>
            <a:schemeClr val="tx1">
              <a:lumMod val="75000"/>
              <a:lumOff val="25000"/>
            </a:schemeClr>
          </a:solidFill>
        </p:grpSpPr>
        <p:sp>
          <p:nvSpPr>
            <p:cNvPr id="9" name="Freeform 5"/>
            <p:cNvSpPr>
              <a:spLocks/>
            </p:cNvSpPr>
            <p:nvPr/>
          </p:nvSpPr>
          <p:spPr bwMode="auto">
            <a:xfrm>
              <a:off x="3052763" y="2152650"/>
              <a:ext cx="3460750" cy="3467100"/>
            </a:xfrm>
            <a:custGeom>
              <a:avLst/>
              <a:gdLst>
                <a:gd name="T0" fmla="*/ 522 w 1204"/>
                <a:gd name="T1" fmla="*/ 1077 h 1205"/>
                <a:gd name="T2" fmla="*/ 463 w 1204"/>
                <a:gd name="T3" fmla="*/ 602 h 1205"/>
                <a:gd name="T4" fmla="*/ 692 w 1204"/>
                <a:gd name="T5" fmla="*/ 106 h 1205"/>
                <a:gd name="T6" fmla="*/ 268 w 1204"/>
                <a:gd name="T7" fmla="*/ 0 h 1205"/>
                <a:gd name="T8" fmla="*/ 237 w 1204"/>
                <a:gd name="T9" fmla="*/ 28 h 1205"/>
                <a:gd name="T10" fmla="*/ 616 w 1204"/>
                <a:gd name="T11" fmla="*/ 123 h 1205"/>
                <a:gd name="T12" fmla="*/ 718 w 1204"/>
                <a:gd name="T13" fmla="*/ 427 h 1205"/>
                <a:gd name="T14" fmla="*/ 26 w 1204"/>
                <a:gd name="T15" fmla="*/ 845 h 1205"/>
                <a:gd name="T16" fmla="*/ 475 w 1204"/>
                <a:gd name="T17" fmla="*/ 1205 h 1205"/>
                <a:gd name="T18" fmla="*/ 662 w 1204"/>
                <a:gd name="T19" fmla="*/ 1119 h 1205"/>
                <a:gd name="T20" fmla="*/ 522 w 1204"/>
                <a:gd name="T21" fmla="*/ 1077 h 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4" h="1205">
                  <a:moveTo>
                    <a:pt x="522" y="1077"/>
                  </a:moveTo>
                  <a:cubicBezTo>
                    <a:pt x="0" y="897"/>
                    <a:pt x="260" y="682"/>
                    <a:pt x="463" y="602"/>
                  </a:cubicBezTo>
                  <a:cubicBezTo>
                    <a:pt x="666" y="522"/>
                    <a:pt x="1204" y="330"/>
                    <a:pt x="692" y="106"/>
                  </a:cubicBezTo>
                  <a:cubicBezTo>
                    <a:pt x="692" y="106"/>
                    <a:pt x="513" y="40"/>
                    <a:pt x="268" y="0"/>
                  </a:cubicBezTo>
                  <a:cubicBezTo>
                    <a:pt x="237" y="28"/>
                    <a:pt x="237" y="28"/>
                    <a:pt x="237" y="28"/>
                  </a:cubicBezTo>
                  <a:cubicBezTo>
                    <a:pt x="415" y="59"/>
                    <a:pt x="519" y="90"/>
                    <a:pt x="616" y="123"/>
                  </a:cubicBezTo>
                  <a:cubicBezTo>
                    <a:pt x="774" y="177"/>
                    <a:pt x="930" y="311"/>
                    <a:pt x="718" y="427"/>
                  </a:cubicBezTo>
                  <a:cubicBezTo>
                    <a:pt x="506" y="543"/>
                    <a:pt x="44" y="661"/>
                    <a:pt x="26" y="845"/>
                  </a:cubicBezTo>
                  <a:cubicBezTo>
                    <a:pt x="13" y="972"/>
                    <a:pt x="185" y="1108"/>
                    <a:pt x="475" y="1205"/>
                  </a:cubicBezTo>
                  <a:cubicBezTo>
                    <a:pt x="662" y="1119"/>
                    <a:pt x="662" y="1119"/>
                    <a:pt x="662" y="1119"/>
                  </a:cubicBezTo>
                  <a:cubicBezTo>
                    <a:pt x="613" y="1106"/>
                    <a:pt x="566" y="1092"/>
                    <a:pt x="522" y="1077"/>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0" name="Freeform 6"/>
            <p:cNvSpPr>
              <a:spLocks/>
            </p:cNvSpPr>
            <p:nvPr/>
          </p:nvSpPr>
          <p:spPr bwMode="auto">
            <a:xfrm>
              <a:off x="-28575" y="1898650"/>
              <a:ext cx="1481138" cy="87313"/>
            </a:xfrm>
            <a:custGeom>
              <a:avLst/>
              <a:gdLst>
                <a:gd name="T0" fmla="*/ 0 w 515"/>
                <a:gd name="T1" fmla="*/ 2 h 30"/>
                <a:gd name="T2" fmla="*/ 0 w 515"/>
                <a:gd name="T3" fmla="*/ 23 h 30"/>
                <a:gd name="T4" fmla="*/ 504 w 515"/>
                <a:gd name="T5" fmla="*/ 30 h 30"/>
                <a:gd name="T6" fmla="*/ 515 w 515"/>
                <a:gd name="T7" fmla="*/ 18 h 30"/>
                <a:gd name="T8" fmla="*/ 0 w 515"/>
                <a:gd name="T9" fmla="*/ 2 h 30"/>
              </a:gdLst>
              <a:ahLst/>
              <a:cxnLst>
                <a:cxn ang="0">
                  <a:pos x="T0" y="T1"/>
                </a:cxn>
                <a:cxn ang="0">
                  <a:pos x="T2" y="T3"/>
                </a:cxn>
                <a:cxn ang="0">
                  <a:pos x="T4" y="T5"/>
                </a:cxn>
                <a:cxn ang="0">
                  <a:pos x="T6" y="T7"/>
                </a:cxn>
                <a:cxn ang="0">
                  <a:pos x="T8" y="T9"/>
                </a:cxn>
              </a:cxnLst>
              <a:rect l="0" t="0" r="r" b="b"/>
              <a:pathLst>
                <a:path w="515" h="30">
                  <a:moveTo>
                    <a:pt x="0" y="2"/>
                  </a:moveTo>
                  <a:cubicBezTo>
                    <a:pt x="0" y="23"/>
                    <a:pt x="0" y="23"/>
                    <a:pt x="0" y="23"/>
                  </a:cubicBezTo>
                  <a:cubicBezTo>
                    <a:pt x="0" y="23"/>
                    <a:pt x="200" y="14"/>
                    <a:pt x="504" y="30"/>
                  </a:cubicBezTo>
                  <a:cubicBezTo>
                    <a:pt x="515" y="18"/>
                    <a:pt x="515" y="18"/>
                    <a:pt x="515" y="18"/>
                  </a:cubicBezTo>
                  <a:cubicBezTo>
                    <a:pt x="323" y="7"/>
                    <a:pt x="138" y="0"/>
                    <a:pt x="0" y="2"/>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1" name="Freeform 7"/>
            <p:cNvSpPr>
              <a:spLocks/>
            </p:cNvSpPr>
            <p:nvPr/>
          </p:nvSpPr>
          <p:spPr bwMode="auto">
            <a:xfrm>
              <a:off x="1581150" y="1958975"/>
              <a:ext cx="2084388" cy="247650"/>
            </a:xfrm>
            <a:custGeom>
              <a:avLst/>
              <a:gdLst>
                <a:gd name="T0" fmla="*/ 595 w 725"/>
                <a:gd name="T1" fmla="*/ 43 h 86"/>
                <a:gd name="T2" fmla="*/ 13 w 725"/>
                <a:gd name="T3" fmla="*/ 0 h 86"/>
                <a:gd name="T4" fmla="*/ 0 w 725"/>
                <a:gd name="T5" fmla="*/ 12 h 86"/>
                <a:gd name="T6" fmla="*/ 298 w 725"/>
                <a:gd name="T7" fmla="*/ 36 h 86"/>
                <a:gd name="T8" fmla="*/ 695 w 725"/>
                <a:gd name="T9" fmla="*/ 86 h 86"/>
                <a:gd name="T10" fmla="*/ 725 w 725"/>
                <a:gd name="T11" fmla="*/ 58 h 86"/>
                <a:gd name="T12" fmla="*/ 595 w 725"/>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725" h="86">
                  <a:moveTo>
                    <a:pt x="595" y="43"/>
                  </a:moveTo>
                  <a:cubicBezTo>
                    <a:pt x="430" y="28"/>
                    <a:pt x="220" y="12"/>
                    <a:pt x="13" y="0"/>
                  </a:cubicBezTo>
                  <a:cubicBezTo>
                    <a:pt x="0" y="12"/>
                    <a:pt x="0" y="12"/>
                    <a:pt x="0" y="12"/>
                  </a:cubicBezTo>
                  <a:cubicBezTo>
                    <a:pt x="92" y="18"/>
                    <a:pt x="192" y="25"/>
                    <a:pt x="298" y="36"/>
                  </a:cubicBezTo>
                  <a:cubicBezTo>
                    <a:pt x="461" y="53"/>
                    <a:pt x="590" y="69"/>
                    <a:pt x="695" y="86"/>
                  </a:cubicBezTo>
                  <a:cubicBezTo>
                    <a:pt x="725" y="58"/>
                    <a:pt x="725" y="58"/>
                    <a:pt x="725" y="58"/>
                  </a:cubicBezTo>
                  <a:cubicBezTo>
                    <a:pt x="683" y="52"/>
                    <a:pt x="639" y="47"/>
                    <a:pt x="595" y="43"/>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2" name="Freeform 8"/>
            <p:cNvSpPr>
              <a:spLocks/>
            </p:cNvSpPr>
            <p:nvPr/>
          </p:nvSpPr>
          <p:spPr bwMode="auto">
            <a:xfrm>
              <a:off x="4826000" y="5472113"/>
              <a:ext cx="5102225" cy="855663"/>
            </a:xfrm>
            <a:custGeom>
              <a:avLst/>
              <a:gdLst>
                <a:gd name="T0" fmla="*/ 1775 w 1775"/>
                <a:gd name="T1" fmla="*/ 213 h 297"/>
                <a:gd name="T2" fmla="*/ 1443 w 1775"/>
                <a:gd name="T3" fmla="*/ 57 h 297"/>
                <a:gd name="T4" fmla="*/ 1397 w 1775"/>
                <a:gd name="T5" fmla="*/ 95 h 297"/>
                <a:gd name="T6" fmla="*/ 205 w 1775"/>
                <a:gd name="T7" fmla="*/ 0 h 297"/>
                <a:gd name="T8" fmla="*/ 0 w 1775"/>
                <a:gd name="T9" fmla="*/ 93 h 297"/>
                <a:gd name="T10" fmla="*/ 309 w 1775"/>
                <a:gd name="T11" fmla="*/ 153 h 297"/>
                <a:gd name="T12" fmla="*/ 1225 w 1775"/>
                <a:gd name="T13" fmla="*/ 235 h 297"/>
                <a:gd name="T14" fmla="*/ 1153 w 1775"/>
                <a:gd name="T15" fmla="*/ 297 h 297"/>
                <a:gd name="T16" fmla="*/ 1775 w 1775"/>
                <a:gd name="T17" fmla="*/ 21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5" h="297">
                  <a:moveTo>
                    <a:pt x="1775" y="213"/>
                  </a:moveTo>
                  <a:cubicBezTo>
                    <a:pt x="1443" y="57"/>
                    <a:pt x="1443" y="57"/>
                    <a:pt x="1443" y="57"/>
                  </a:cubicBezTo>
                  <a:cubicBezTo>
                    <a:pt x="1397" y="95"/>
                    <a:pt x="1397" y="95"/>
                    <a:pt x="1397" y="95"/>
                  </a:cubicBezTo>
                  <a:cubicBezTo>
                    <a:pt x="1397" y="95"/>
                    <a:pt x="730" y="100"/>
                    <a:pt x="205" y="0"/>
                  </a:cubicBezTo>
                  <a:cubicBezTo>
                    <a:pt x="0" y="93"/>
                    <a:pt x="0" y="93"/>
                    <a:pt x="0" y="93"/>
                  </a:cubicBezTo>
                  <a:cubicBezTo>
                    <a:pt x="95" y="117"/>
                    <a:pt x="198" y="138"/>
                    <a:pt x="309" y="153"/>
                  </a:cubicBezTo>
                  <a:cubicBezTo>
                    <a:pt x="859" y="229"/>
                    <a:pt x="1225" y="235"/>
                    <a:pt x="1225" y="235"/>
                  </a:cubicBezTo>
                  <a:cubicBezTo>
                    <a:pt x="1153" y="297"/>
                    <a:pt x="1153" y="297"/>
                    <a:pt x="1153" y="297"/>
                  </a:cubicBezTo>
                  <a:lnTo>
                    <a:pt x="1775" y="213"/>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grpSp>
      <p:grpSp>
        <p:nvGrpSpPr>
          <p:cNvPr id="13" name="Group 12"/>
          <p:cNvGrpSpPr/>
          <p:nvPr/>
        </p:nvGrpSpPr>
        <p:grpSpPr>
          <a:xfrm>
            <a:off x="1208919" y="992488"/>
            <a:ext cx="767249" cy="1100092"/>
            <a:chOff x="6285507" y="4056652"/>
            <a:chExt cx="1361612" cy="1952296"/>
          </a:xfrm>
        </p:grpSpPr>
        <p:grpSp>
          <p:nvGrpSpPr>
            <p:cNvPr id="14" name="Group 13"/>
            <p:cNvGrpSpPr/>
            <p:nvPr/>
          </p:nvGrpSpPr>
          <p:grpSpPr>
            <a:xfrm>
              <a:off x="6285507" y="4056652"/>
              <a:ext cx="1361612" cy="1952296"/>
              <a:chOff x="5808789" y="2272281"/>
              <a:chExt cx="1993536" cy="2858355"/>
            </a:xfrm>
          </p:grpSpPr>
          <p:sp>
            <p:nvSpPr>
              <p:cNvPr id="16" name="Rectangle 1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17" name="Group 16"/>
              <p:cNvGrpSpPr/>
              <p:nvPr/>
            </p:nvGrpSpPr>
            <p:grpSpPr>
              <a:xfrm>
                <a:off x="5808789" y="2272281"/>
                <a:ext cx="1993536" cy="1989348"/>
                <a:chOff x="8140701" y="1890712"/>
                <a:chExt cx="1511300" cy="1508125"/>
              </a:xfrm>
            </p:grpSpPr>
            <p:sp>
              <p:nvSpPr>
                <p:cNvPr id="1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1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15" name="TextBox 14"/>
            <p:cNvSpPr txBox="1"/>
            <p:nvPr/>
          </p:nvSpPr>
          <p:spPr>
            <a:xfrm>
              <a:off x="6371735" y="4565165"/>
              <a:ext cx="1189155" cy="409650"/>
            </a:xfrm>
            <a:prstGeom prst="rect">
              <a:avLst/>
            </a:prstGeom>
            <a:noFill/>
          </p:spPr>
          <p:txBody>
            <a:bodyPr wrap="square" rtlCol="0" anchor="ctr">
              <a:spAutoFit/>
            </a:bodyPr>
            <a:lstStyle/>
            <a:p>
              <a:pPr algn="ctr"/>
              <a:r>
                <a:rPr lang="en-US" sz="900" b="1" kern="0" dirty="0">
                  <a:latin typeface="Arial" panose="020B0604020202020204" pitchFamily="34" charset="0"/>
                  <a:cs typeface="Arial" panose="020B0604020202020204" pitchFamily="34" charset="0"/>
                </a:rPr>
                <a:t>Q3 2019</a:t>
              </a:r>
              <a:endParaRPr lang="en-US" sz="900" b="1" dirty="0"/>
            </a:p>
          </p:txBody>
        </p:sp>
      </p:grpSp>
      <p:grpSp>
        <p:nvGrpSpPr>
          <p:cNvPr id="20" name="Group 19"/>
          <p:cNvGrpSpPr/>
          <p:nvPr/>
        </p:nvGrpSpPr>
        <p:grpSpPr>
          <a:xfrm>
            <a:off x="298110" y="2171447"/>
            <a:ext cx="3045282" cy="1569660"/>
            <a:chOff x="4027694" y="1669969"/>
            <a:chExt cx="1891580" cy="2092881"/>
          </a:xfrm>
        </p:grpSpPr>
        <p:sp>
          <p:nvSpPr>
            <p:cNvPr id="21" name="TextBox 20"/>
            <p:cNvSpPr txBox="1"/>
            <p:nvPr/>
          </p:nvSpPr>
          <p:spPr>
            <a:xfrm>
              <a:off x="4027695" y="2057400"/>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22" name="TextBox 21"/>
            <p:cNvSpPr txBox="1"/>
            <p:nvPr/>
          </p:nvSpPr>
          <p:spPr>
            <a:xfrm>
              <a:off x="4027694" y="1669969"/>
              <a:ext cx="1891580" cy="2092881"/>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Analysis of stakeholders’ comments and identification of key issues</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TFs</a:t>
              </a:r>
            </a:p>
          </p:txBody>
        </p:sp>
      </p:grpSp>
      <p:grpSp>
        <p:nvGrpSpPr>
          <p:cNvPr id="23" name="Group 22"/>
          <p:cNvGrpSpPr/>
          <p:nvPr/>
        </p:nvGrpSpPr>
        <p:grpSpPr>
          <a:xfrm>
            <a:off x="2718468" y="905635"/>
            <a:ext cx="1021209" cy="1317421"/>
            <a:chOff x="6285507" y="4056652"/>
            <a:chExt cx="1361612" cy="1952296"/>
          </a:xfrm>
        </p:grpSpPr>
        <p:grpSp>
          <p:nvGrpSpPr>
            <p:cNvPr id="24" name="Group 23"/>
            <p:cNvGrpSpPr/>
            <p:nvPr/>
          </p:nvGrpSpPr>
          <p:grpSpPr>
            <a:xfrm>
              <a:off x="6285507" y="4056652"/>
              <a:ext cx="1361612" cy="1952296"/>
              <a:chOff x="5808789" y="2272281"/>
              <a:chExt cx="1993536" cy="2858355"/>
            </a:xfrm>
          </p:grpSpPr>
          <p:sp>
            <p:nvSpPr>
              <p:cNvPr id="26" name="Rectangle 2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27" name="Group 26"/>
              <p:cNvGrpSpPr/>
              <p:nvPr/>
            </p:nvGrpSpPr>
            <p:grpSpPr>
              <a:xfrm>
                <a:off x="5808789" y="2272281"/>
                <a:ext cx="1993536" cy="1989348"/>
                <a:chOff x="8140701" y="1890712"/>
                <a:chExt cx="1511300" cy="1508125"/>
              </a:xfrm>
            </p:grpSpPr>
            <p:sp>
              <p:nvSpPr>
                <p:cNvPr id="2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2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25" name="TextBox 24"/>
            <p:cNvSpPr txBox="1"/>
            <p:nvPr/>
          </p:nvSpPr>
          <p:spPr>
            <a:xfrm>
              <a:off x="6371735" y="4565165"/>
              <a:ext cx="1189155" cy="409650"/>
            </a:xfrm>
            <a:prstGeom prst="rect">
              <a:avLst/>
            </a:prstGeom>
            <a:noFill/>
          </p:spPr>
          <p:txBody>
            <a:bodyPr wrap="square" rtlCol="0" anchor="ctr">
              <a:spAutoFit/>
            </a:bodyPr>
            <a:lstStyle/>
            <a:p>
              <a:pPr algn="ctr"/>
              <a:r>
                <a:rPr lang="en-US" sz="900" b="1" dirty="0">
                  <a:latin typeface="Arial" panose="020B0604020202020204" pitchFamily="34" charset="0"/>
                  <a:cs typeface="Arial" panose="020B0604020202020204" pitchFamily="34" charset="0"/>
                </a:rPr>
                <a:t>Q4 2019</a:t>
              </a:r>
            </a:p>
          </p:txBody>
        </p:sp>
      </p:grpSp>
      <p:grpSp>
        <p:nvGrpSpPr>
          <p:cNvPr id="30" name="Group 29"/>
          <p:cNvGrpSpPr/>
          <p:nvPr/>
        </p:nvGrpSpPr>
        <p:grpSpPr>
          <a:xfrm>
            <a:off x="3625466" y="1070624"/>
            <a:ext cx="4413192" cy="830997"/>
            <a:chOff x="4017265" y="1669969"/>
            <a:chExt cx="1708668" cy="2478008"/>
          </a:xfrm>
        </p:grpSpPr>
        <p:sp>
          <p:nvSpPr>
            <p:cNvPr id="31" name="TextBox 30"/>
            <p:cNvSpPr txBox="1"/>
            <p:nvPr/>
          </p:nvSpPr>
          <p:spPr>
            <a:xfrm>
              <a:off x="4017265" y="2312204"/>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32" name="TextBox 31"/>
            <p:cNvSpPr txBox="1"/>
            <p:nvPr/>
          </p:nvSpPr>
          <p:spPr>
            <a:xfrm>
              <a:off x="4027695" y="1669969"/>
              <a:ext cx="1628521" cy="2478008"/>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1st full draft of post-ED ISQM 2</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TFs</a:t>
              </a:r>
            </a:p>
          </p:txBody>
        </p:sp>
      </p:grpSp>
      <p:grpSp>
        <p:nvGrpSpPr>
          <p:cNvPr id="43" name="Group 42"/>
          <p:cNvGrpSpPr/>
          <p:nvPr/>
        </p:nvGrpSpPr>
        <p:grpSpPr>
          <a:xfrm>
            <a:off x="3451545" y="2500016"/>
            <a:ext cx="1235663" cy="1771709"/>
            <a:chOff x="6285507" y="4056652"/>
            <a:chExt cx="1361612" cy="1952296"/>
          </a:xfrm>
        </p:grpSpPr>
        <p:grpSp>
          <p:nvGrpSpPr>
            <p:cNvPr id="44" name="Group 43"/>
            <p:cNvGrpSpPr/>
            <p:nvPr/>
          </p:nvGrpSpPr>
          <p:grpSpPr>
            <a:xfrm>
              <a:off x="6285507" y="4056652"/>
              <a:ext cx="1361612" cy="1952296"/>
              <a:chOff x="5808789" y="2272281"/>
              <a:chExt cx="1993536" cy="2858355"/>
            </a:xfrm>
          </p:grpSpPr>
          <p:sp>
            <p:nvSpPr>
              <p:cNvPr id="46" name="Rectangle 4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47" name="Group 46"/>
              <p:cNvGrpSpPr/>
              <p:nvPr/>
            </p:nvGrpSpPr>
            <p:grpSpPr>
              <a:xfrm>
                <a:off x="5808789" y="2272281"/>
                <a:ext cx="1993536" cy="1989348"/>
                <a:chOff x="8140701" y="1890712"/>
                <a:chExt cx="1511300" cy="1508125"/>
              </a:xfrm>
            </p:grpSpPr>
            <p:sp>
              <p:nvSpPr>
                <p:cNvPr id="4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4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45" name="TextBox 44"/>
            <p:cNvSpPr txBox="1"/>
            <p:nvPr/>
          </p:nvSpPr>
          <p:spPr>
            <a:xfrm>
              <a:off x="6371735" y="4597951"/>
              <a:ext cx="1189156" cy="305233"/>
            </a:xfrm>
            <a:prstGeom prst="rect">
              <a:avLst/>
            </a:prstGeom>
            <a:noFill/>
          </p:spPr>
          <p:txBody>
            <a:bodyPr wrap="square" rtlCol="0" anchor="ctr">
              <a:spAutoFit/>
            </a:bodyPr>
            <a:lstStyle/>
            <a:p>
              <a:pPr algn="ctr"/>
              <a:r>
                <a:rPr lang="en-US" sz="1200" b="1" kern="0" dirty="0">
                  <a:latin typeface="Arial" panose="020B0604020202020204" pitchFamily="34" charset="0"/>
                  <a:cs typeface="Arial" panose="020B0604020202020204" pitchFamily="34" charset="0"/>
                </a:rPr>
                <a:t>Q2 2020</a:t>
              </a:r>
            </a:p>
          </p:txBody>
        </p:sp>
      </p:grpSp>
      <p:grpSp>
        <p:nvGrpSpPr>
          <p:cNvPr id="50" name="Group 49"/>
          <p:cNvGrpSpPr/>
          <p:nvPr/>
        </p:nvGrpSpPr>
        <p:grpSpPr>
          <a:xfrm>
            <a:off x="4687208" y="2851730"/>
            <a:ext cx="4206187" cy="823332"/>
            <a:chOff x="3787623" y="1994923"/>
            <a:chExt cx="2011200" cy="1477327"/>
          </a:xfrm>
        </p:grpSpPr>
        <p:sp>
          <p:nvSpPr>
            <p:cNvPr id="51" name="TextBox 50"/>
            <p:cNvSpPr txBox="1"/>
            <p:nvPr/>
          </p:nvSpPr>
          <p:spPr>
            <a:xfrm>
              <a:off x="4027695" y="2057399"/>
              <a:ext cx="1708668" cy="369332"/>
            </a:xfrm>
            <a:prstGeom prst="rect">
              <a:avLst/>
            </a:prstGeom>
            <a:noFill/>
          </p:spPr>
          <p:txBody>
            <a:bodyPr wrap="square" rtlCol="0">
              <a:spAutoFit/>
            </a:bodyPr>
            <a:lstStyle/>
            <a:p>
              <a:endParaRPr lang="en-US" sz="1200" kern="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2" name="TextBox 51"/>
            <p:cNvSpPr txBox="1"/>
            <p:nvPr/>
          </p:nvSpPr>
          <p:spPr>
            <a:xfrm>
              <a:off x="3787623" y="1994923"/>
              <a:ext cx="2011200" cy="1477327"/>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Anticipated approval of final ISQM 2</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TFs</a:t>
              </a:r>
            </a:p>
            <a:p>
              <a:endParaRPr lang="en-US" sz="1800" b="1" dirty="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53" name="Title 1">
            <a:extLst>
              <a:ext uri="{FF2B5EF4-FFF2-40B4-BE49-F238E27FC236}">
                <a16:creationId xmlns:a16="http://schemas.microsoft.com/office/drawing/2014/main" id="{B215E862-CC3F-4208-96F8-EF3141D7BC13}"/>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The Way Forward</a:t>
            </a:r>
          </a:p>
        </p:txBody>
      </p:sp>
      <p:sp>
        <p:nvSpPr>
          <p:cNvPr id="42" name="Slide Number Placeholder 5">
            <a:extLst>
              <a:ext uri="{FF2B5EF4-FFF2-40B4-BE49-F238E27FC236}">
                <a16:creationId xmlns:a16="http://schemas.microsoft.com/office/drawing/2014/main" id="{E6F5D13D-E1E4-4357-879E-F506E043664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183467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3A5B861-F232-4025-86B2-CEB63A0AD3B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6055</TotalTime>
  <Words>5776</Words>
  <Application>Microsoft Office PowerPoint</Application>
  <PresentationFormat>On-screen Show (16:9)</PresentationFormat>
  <Paragraphs>387</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Narrow</vt:lpstr>
      <vt:lpstr>Calibri</vt:lpstr>
      <vt:lpstr>Courier New</vt:lpstr>
      <vt:lpstr>Wingdings</vt:lpstr>
      <vt:lpstr>Office Theme</vt:lpstr>
      <vt:lpstr>Proposed ISQM 2, Engagement Quality Reviews  (ED-ISQM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Key Issues to be Discussed at this Meeting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Objectivity and Cooling-off Period (Cont.)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Jane Talatala</cp:lastModifiedBy>
  <cp:revision>833</cp:revision>
  <cp:lastPrinted>2019-08-28T16:11:48Z</cp:lastPrinted>
  <dcterms:created xsi:type="dcterms:W3CDTF">2016-11-09T14:56:20Z</dcterms:created>
  <dcterms:modified xsi:type="dcterms:W3CDTF">2019-09-17T15:33:20Z</dcterms:modified>
</cp:coreProperties>
</file>