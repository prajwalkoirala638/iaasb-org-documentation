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402" r:id="rId3"/>
    <p:sldId id="401" r:id="rId4"/>
    <p:sldId id="403" r:id="rId5"/>
    <p:sldId id="404" r:id="rId6"/>
    <p:sldId id="405" r:id="rId7"/>
    <p:sldId id="407" r:id="rId8"/>
    <p:sldId id="408" r:id="rId9"/>
    <p:sldId id="406" r:id="rId10"/>
    <p:sldId id="259" r:id="rId11"/>
  </p:sldIdLst>
  <p:sldSz cx="9144000" cy="5143500" type="screen16x9"/>
  <p:notesSz cx="6950075" cy="9236075"/>
  <p:defaultTextStyle>
    <a:defPPr>
      <a:defRPr lang="en-US"/>
    </a:defPPr>
    <a:lvl1pPr marL="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ietsman, Megan" initials="MZ" lastIdx="8" clrIdx="0">
    <p:extLst>
      <p:ext uri="{19B8F6BF-5375-455C-9EA6-DF929625EA0E}">
        <p15:presenceInfo xmlns:p15="http://schemas.microsoft.com/office/powerpoint/2012/main" userId="Zietsman, Megan" providerId="None"/>
      </p:ext>
    </p:extLst>
  </p:cmAuthor>
  <p:cmAuthor id="2" name="Kathleen Healy" initials="KH" lastIdx="13" clrIdx="1">
    <p:extLst>
      <p:ext uri="{19B8F6BF-5375-455C-9EA6-DF929625EA0E}">
        <p15:presenceInfo xmlns:p15="http://schemas.microsoft.com/office/powerpoint/2012/main" userId="S-1-5-21-1801674531-1972579041-839522115-4130" providerId="AD"/>
      </p:ext>
    </p:extLst>
  </p:cmAuthor>
  <p:cmAuthor id="3" name="Natalie Klonaridis" initials="NK" lastIdx="12" clrIdx="2">
    <p:extLst>
      <p:ext uri="{19B8F6BF-5375-455C-9EA6-DF929625EA0E}">
        <p15:presenceInfo xmlns:p15="http://schemas.microsoft.com/office/powerpoint/2012/main" userId="S-1-5-21-1801674531-1972579041-839522115-13323" providerId="AD"/>
      </p:ext>
    </p:extLst>
  </p:cmAuthor>
  <p:cmAuthor id="4" name="Jasper van den Hout" initials="JvdH" lastIdx="5" clrIdx="3">
    <p:extLst>
      <p:ext uri="{19B8F6BF-5375-455C-9EA6-DF929625EA0E}">
        <p15:presenceInfo xmlns:p15="http://schemas.microsoft.com/office/powerpoint/2012/main" userId="S-1-5-21-1801674531-1972579041-839522115-1162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1D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43" autoAdjust="0"/>
    <p:restoredTop sz="76684" autoAdjust="0"/>
  </p:normalViewPr>
  <p:slideViewPr>
    <p:cSldViewPr snapToGrid="0" snapToObjects="1">
      <p:cViewPr varScale="1">
        <p:scale>
          <a:sx n="118" d="100"/>
          <a:sy n="118" d="100"/>
        </p:scale>
        <p:origin x="1458" y="90"/>
      </p:cViewPr>
      <p:guideLst>
        <p:guide orient="horz" pos="162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798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1E59F908-4FD1-BC49-B361-D833AB0555FC}" type="datetimeFigureOut">
              <a:rPr lang="en-US" smtClean="0"/>
              <a:t>9/20/2018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EA8AE4AE-12A8-4846-97A9-6CB7DEDDF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285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745D6F9-5033-7542-84AC-41926A84456D}" type="datetimeFigureOut">
              <a:rPr lang="en-US" smtClean="0"/>
              <a:t>9/20/2018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6875" y="692150"/>
            <a:ext cx="61563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4D410189-AC31-7546-878A-F48FDE4A2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91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93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F177551F-2C26-5D4E-AA97-F437309E4641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99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10189-AC31-7546-878A-F48FDE4A29F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3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9" name="Picture 8" descr="Page topper.jpg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7"/>
            <a:ext cx="9144000" cy="234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3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0519"/>
            <a:ext cx="2790252" cy="4900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0" t="12331" r="-210" b="13383"/>
          <a:stretch/>
        </p:blipFill>
        <p:spPr>
          <a:xfrm>
            <a:off x="1" y="1"/>
            <a:ext cx="9156700" cy="23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7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9144000" cy="4317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568724"/>
            <a:ext cx="7893383" cy="109377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685801" y="3721101"/>
            <a:ext cx="4732867" cy="919473"/>
          </a:xfrm>
        </p:spPr>
        <p:txBody>
          <a:bodyPr anchor="b"/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454" y="4152900"/>
            <a:ext cx="2776694" cy="487674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01152"/>
            <a:ext cx="9144000" cy="1236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8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642938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28852" y="4883295"/>
            <a:ext cx="2757948" cy="228309"/>
          </a:xfrm>
        </p:spPr>
        <p:txBody>
          <a:bodyPr/>
          <a:lstStyle>
            <a:lvl1pPr marL="0" marR="0" indent="0" algn="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75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6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208161"/>
            <a:ext cx="9144000" cy="393916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4299439"/>
            <a:ext cx="9144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4299438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1939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06012" y="4873085"/>
            <a:ext cx="2080788" cy="251831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203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13017"/>
            <a:ext cx="4040188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02736"/>
            <a:ext cx="4040188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13017"/>
            <a:ext cx="4041775" cy="360497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502736"/>
            <a:ext cx="4041775" cy="2963466"/>
          </a:xfrm>
        </p:spPr>
        <p:txBody>
          <a:bodyPr/>
          <a:lstStyle>
            <a:lvl1pPr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64174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813197" indent="-171450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49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04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77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8002" y="1561874"/>
            <a:ext cx="4393108" cy="732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3821898" y="3756887"/>
            <a:ext cx="131003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350" u="none" dirty="0">
                <a:solidFill>
                  <a:srgbClr val="1F497D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1500" u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381000" y="4822821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559" y="4168326"/>
            <a:ext cx="577805" cy="1931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002" y="4175640"/>
            <a:ext cx="437481" cy="1931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292" y="4165672"/>
            <a:ext cx="577805" cy="1931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897" y="4168326"/>
            <a:ext cx="577805" cy="234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11" y="4168326"/>
            <a:ext cx="577805" cy="193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5213" y="4165202"/>
            <a:ext cx="577805" cy="19315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8501" y="4608029"/>
            <a:ext cx="812800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9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5457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42900"/>
            <a:ext cx="7543800" cy="400050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381000" y="114300"/>
            <a:ext cx="2667000" cy="171450"/>
          </a:xfrm>
        </p:spPr>
        <p:txBody>
          <a:bodyPr lIns="0" tIns="0" rIns="0" bIns="0"/>
          <a:lstStyle>
            <a:lvl1pPr marL="0" indent="0" algn="l">
              <a:buNone/>
              <a:defRPr sz="1050">
                <a:solidFill>
                  <a:schemeClr val="bg1"/>
                </a:solidFill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30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427437"/>
            <a:ext cx="9144000" cy="40387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27437"/>
            <a:ext cx="8229600" cy="40387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1886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4985" y="4883295"/>
            <a:ext cx="20574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AF73A935-0AD8-4B38-AD39-55437B5CA1D2}" type="datetime1">
              <a:rPr lang="en-US" smtClean="0"/>
              <a:t>9/20/2018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16148" y="4883295"/>
            <a:ext cx="3086100" cy="228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6012" y="4883295"/>
            <a:ext cx="2080788" cy="22830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75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381000" y="4822228"/>
            <a:ext cx="8763000" cy="34529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z="1350" dirty="0"/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368" y="55409"/>
            <a:ext cx="1787432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3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0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61" r:id="rId11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29779" indent="-129779" algn="l" defTabSz="342900" rtl="0" eaLnBrk="1" latinLnBrk="0" hangingPunct="1">
        <a:spcBef>
          <a:spcPts val="900"/>
        </a:spcBef>
        <a:buFont typeface="Arial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42900" indent="-171450" algn="l" defTabSz="342900" rtl="0" eaLnBrk="1" latinLnBrk="0" hangingPunct="1">
        <a:spcBef>
          <a:spcPts val="450"/>
        </a:spcBef>
        <a:spcAft>
          <a:spcPts val="300"/>
        </a:spcAft>
        <a:buFont typeface="Arial"/>
        <a:buChar char="–"/>
        <a:defRPr sz="135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472679" indent="-128588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05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IAASB Possible Actions Regarding Less Complex Entities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1" y="3221372"/>
            <a:ext cx="4732867" cy="1419203"/>
          </a:xfrm>
        </p:spPr>
        <p:txBody>
          <a:bodyPr/>
          <a:lstStyle/>
          <a:p>
            <a:r>
              <a:rPr lang="en-US" dirty="0" smtClean="0"/>
              <a:t>Ron Salole, IAASB Member and Working Group Chair</a:t>
            </a:r>
            <a:endParaRPr lang="en-US" dirty="0"/>
          </a:p>
          <a:p>
            <a:r>
              <a:rPr lang="en-US" dirty="0"/>
              <a:t>IAASB </a:t>
            </a:r>
            <a:r>
              <a:rPr lang="en-US" dirty="0" smtClean="0"/>
              <a:t>Meeting</a:t>
            </a:r>
            <a:r>
              <a:rPr lang="en-US" dirty="0"/>
              <a:t>, New York</a:t>
            </a:r>
          </a:p>
          <a:p>
            <a:r>
              <a:rPr lang="en-US" dirty="0"/>
              <a:t>Agenda Item </a:t>
            </a:r>
            <a:r>
              <a:rPr lang="en-US" dirty="0" smtClean="0"/>
              <a:t>8</a:t>
            </a:r>
            <a:endParaRPr lang="en-US" dirty="0"/>
          </a:p>
          <a:p>
            <a:r>
              <a:rPr lang="en-US" dirty="0"/>
              <a:t>September </a:t>
            </a:r>
            <a:r>
              <a:rPr lang="en-US" dirty="0" smtClean="0"/>
              <a:t>20</a:t>
            </a:r>
            <a:r>
              <a:rPr lang="en-US" dirty="0" smtClean="0"/>
              <a:t>, </a:t>
            </a:r>
            <a:r>
              <a:rPr lang="en-US" dirty="0"/>
              <a:t>2018 </a:t>
            </a:r>
          </a:p>
        </p:txBody>
      </p:sp>
    </p:spTree>
    <p:extLst>
      <p:ext uri="{BB962C8B-B14F-4D97-AF65-F5344CB8AC3E}">
        <p14:creationId xmlns:p14="http://schemas.microsoft.com/office/powerpoint/2010/main" val="4240407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57319" y="1984335"/>
            <a:ext cx="4318000" cy="2565992"/>
            <a:chOff x="-28575" y="1898650"/>
            <a:chExt cx="9956800" cy="442912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3052763" y="2152650"/>
              <a:ext cx="3460750" cy="3467100"/>
            </a:xfrm>
            <a:custGeom>
              <a:avLst/>
              <a:gdLst>
                <a:gd name="T0" fmla="*/ 522 w 1204"/>
                <a:gd name="T1" fmla="*/ 1077 h 1205"/>
                <a:gd name="T2" fmla="*/ 463 w 1204"/>
                <a:gd name="T3" fmla="*/ 602 h 1205"/>
                <a:gd name="T4" fmla="*/ 692 w 1204"/>
                <a:gd name="T5" fmla="*/ 106 h 1205"/>
                <a:gd name="T6" fmla="*/ 268 w 1204"/>
                <a:gd name="T7" fmla="*/ 0 h 1205"/>
                <a:gd name="T8" fmla="*/ 237 w 1204"/>
                <a:gd name="T9" fmla="*/ 28 h 1205"/>
                <a:gd name="T10" fmla="*/ 616 w 1204"/>
                <a:gd name="T11" fmla="*/ 123 h 1205"/>
                <a:gd name="T12" fmla="*/ 718 w 1204"/>
                <a:gd name="T13" fmla="*/ 427 h 1205"/>
                <a:gd name="T14" fmla="*/ 26 w 1204"/>
                <a:gd name="T15" fmla="*/ 845 h 1205"/>
                <a:gd name="T16" fmla="*/ 475 w 1204"/>
                <a:gd name="T17" fmla="*/ 1205 h 1205"/>
                <a:gd name="T18" fmla="*/ 662 w 1204"/>
                <a:gd name="T19" fmla="*/ 1119 h 1205"/>
                <a:gd name="T20" fmla="*/ 522 w 1204"/>
                <a:gd name="T21" fmla="*/ 1077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04" h="1205">
                  <a:moveTo>
                    <a:pt x="522" y="1077"/>
                  </a:moveTo>
                  <a:cubicBezTo>
                    <a:pt x="0" y="897"/>
                    <a:pt x="260" y="682"/>
                    <a:pt x="463" y="602"/>
                  </a:cubicBezTo>
                  <a:cubicBezTo>
                    <a:pt x="666" y="522"/>
                    <a:pt x="1204" y="330"/>
                    <a:pt x="692" y="106"/>
                  </a:cubicBezTo>
                  <a:cubicBezTo>
                    <a:pt x="692" y="106"/>
                    <a:pt x="513" y="40"/>
                    <a:pt x="268" y="0"/>
                  </a:cubicBezTo>
                  <a:cubicBezTo>
                    <a:pt x="237" y="28"/>
                    <a:pt x="237" y="28"/>
                    <a:pt x="237" y="28"/>
                  </a:cubicBezTo>
                  <a:cubicBezTo>
                    <a:pt x="415" y="59"/>
                    <a:pt x="519" y="90"/>
                    <a:pt x="616" y="123"/>
                  </a:cubicBezTo>
                  <a:cubicBezTo>
                    <a:pt x="774" y="177"/>
                    <a:pt x="930" y="311"/>
                    <a:pt x="718" y="427"/>
                  </a:cubicBezTo>
                  <a:cubicBezTo>
                    <a:pt x="506" y="543"/>
                    <a:pt x="44" y="661"/>
                    <a:pt x="26" y="845"/>
                  </a:cubicBezTo>
                  <a:cubicBezTo>
                    <a:pt x="13" y="972"/>
                    <a:pt x="185" y="1108"/>
                    <a:pt x="475" y="1205"/>
                  </a:cubicBezTo>
                  <a:cubicBezTo>
                    <a:pt x="662" y="1119"/>
                    <a:pt x="662" y="1119"/>
                    <a:pt x="662" y="1119"/>
                  </a:cubicBezTo>
                  <a:cubicBezTo>
                    <a:pt x="613" y="1106"/>
                    <a:pt x="566" y="1092"/>
                    <a:pt x="522" y="1077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 dirty="0">
                <a:solidFill>
                  <a:prstClr val="black"/>
                </a:solidFill>
              </a:endParaRPr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28575" y="1898650"/>
              <a:ext cx="1481138" cy="87313"/>
            </a:xfrm>
            <a:custGeom>
              <a:avLst/>
              <a:gdLst>
                <a:gd name="T0" fmla="*/ 0 w 515"/>
                <a:gd name="T1" fmla="*/ 2 h 30"/>
                <a:gd name="T2" fmla="*/ 0 w 515"/>
                <a:gd name="T3" fmla="*/ 23 h 30"/>
                <a:gd name="T4" fmla="*/ 504 w 515"/>
                <a:gd name="T5" fmla="*/ 30 h 30"/>
                <a:gd name="T6" fmla="*/ 515 w 515"/>
                <a:gd name="T7" fmla="*/ 18 h 30"/>
                <a:gd name="T8" fmla="*/ 0 w 515"/>
                <a:gd name="T9" fmla="*/ 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5" h="30">
                  <a:moveTo>
                    <a:pt x="0" y="2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200" y="14"/>
                    <a:pt x="504" y="30"/>
                  </a:cubicBezTo>
                  <a:cubicBezTo>
                    <a:pt x="515" y="18"/>
                    <a:pt x="515" y="18"/>
                    <a:pt x="515" y="18"/>
                  </a:cubicBezTo>
                  <a:cubicBezTo>
                    <a:pt x="323" y="7"/>
                    <a:pt x="138" y="0"/>
                    <a:pt x="0" y="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 dirty="0">
                <a:solidFill>
                  <a:prstClr val="black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1581150" y="1958975"/>
              <a:ext cx="2084388" cy="247650"/>
            </a:xfrm>
            <a:custGeom>
              <a:avLst/>
              <a:gdLst>
                <a:gd name="T0" fmla="*/ 595 w 725"/>
                <a:gd name="T1" fmla="*/ 43 h 86"/>
                <a:gd name="T2" fmla="*/ 13 w 725"/>
                <a:gd name="T3" fmla="*/ 0 h 86"/>
                <a:gd name="T4" fmla="*/ 0 w 725"/>
                <a:gd name="T5" fmla="*/ 12 h 86"/>
                <a:gd name="T6" fmla="*/ 298 w 725"/>
                <a:gd name="T7" fmla="*/ 36 h 86"/>
                <a:gd name="T8" fmla="*/ 695 w 725"/>
                <a:gd name="T9" fmla="*/ 86 h 86"/>
                <a:gd name="T10" fmla="*/ 725 w 725"/>
                <a:gd name="T11" fmla="*/ 58 h 86"/>
                <a:gd name="T12" fmla="*/ 595 w 725"/>
                <a:gd name="T13" fmla="*/ 43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5" h="86">
                  <a:moveTo>
                    <a:pt x="595" y="43"/>
                  </a:moveTo>
                  <a:cubicBezTo>
                    <a:pt x="430" y="28"/>
                    <a:pt x="220" y="12"/>
                    <a:pt x="13" y="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92" y="18"/>
                    <a:pt x="192" y="25"/>
                    <a:pt x="298" y="36"/>
                  </a:cubicBezTo>
                  <a:cubicBezTo>
                    <a:pt x="461" y="53"/>
                    <a:pt x="590" y="69"/>
                    <a:pt x="695" y="86"/>
                  </a:cubicBezTo>
                  <a:cubicBezTo>
                    <a:pt x="725" y="58"/>
                    <a:pt x="725" y="58"/>
                    <a:pt x="725" y="58"/>
                  </a:cubicBezTo>
                  <a:cubicBezTo>
                    <a:pt x="683" y="52"/>
                    <a:pt x="639" y="47"/>
                    <a:pt x="595" y="4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 dirty="0">
                <a:solidFill>
                  <a:prstClr val="black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4826000" y="5472113"/>
              <a:ext cx="5102225" cy="855663"/>
            </a:xfrm>
            <a:custGeom>
              <a:avLst/>
              <a:gdLst>
                <a:gd name="T0" fmla="*/ 1775 w 1775"/>
                <a:gd name="T1" fmla="*/ 213 h 297"/>
                <a:gd name="T2" fmla="*/ 1443 w 1775"/>
                <a:gd name="T3" fmla="*/ 57 h 297"/>
                <a:gd name="T4" fmla="*/ 1397 w 1775"/>
                <a:gd name="T5" fmla="*/ 95 h 297"/>
                <a:gd name="T6" fmla="*/ 205 w 1775"/>
                <a:gd name="T7" fmla="*/ 0 h 297"/>
                <a:gd name="T8" fmla="*/ 0 w 1775"/>
                <a:gd name="T9" fmla="*/ 93 h 297"/>
                <a:gd name="T10" fmla="*/ 309 w 1775"/>
                <a:gd name="T11" fmla="*/ 153 h 297"/>
                <a:gd name="T12" fmla="*/ 1225 w 1775"/>
                <a:gd name="T13" fmla="*/ 235 h 297"/>
                <a:gd name="T14" fmla="*/ 1153 w 1775"/>
                <a:gd name="T15" fmla="*/ 297 h 297"/>
                <a:gd name="T16" fmla="*/ 1775 w 1775"/>
                <a:gd name="T17" fmla="*/ 21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75" h="297">
                  <a:moveTo>
                    <a:pt x="1775" y="213"/>
                  </a:moveTo>
                  <a:cubicBezTo>
                    <a:pt x="1443" y="57"/>
                    <a:pt x="1443" y="57"/>
                    <a:pt x="1443" y="57"/>
                  </a:cubicBezTo>
                  <a:cubicBezTo>
                    <a:pt x="1397" y="95"/>
                    <a:pt x="1397" y="95"/>
                    <a:pt x="1397" y="95"/>
                  </a:cubicBezTo>
                  <a:cubicBezTo>
                    <a:pt x="1397" y="95"/>
                    <a:pt x="730" y="100"/>
                    <a:pt x="205" y="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95" y="117"/>
                    <a:pt x="198" y="138"/>
                    <a:pt x="309" y="153"/>
                  </a:cubicBezTo>
                  <a:cubicBezTo>
                    <a:pt x="859" y="229"/>
                    <a:pt x="1225" y="235"/>
                    <a:pt x="1225" y="235"/>
                  </a:cubicBezTo>
                  <a:cubicBezTo>
                    <a:pt x="1153" y="297"/>
                    <a:pt x="1153" y="297"/>
                    <a:pt x="1153" y="297"/>
                  </a:cubicBezTo>
                  <a:lnTo>
                    <a:pt x="1775" y="21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013" dirty="0">
                <a:solidFill>
                  <a:prstClr val="black"/>
                </a:solidFill>
              </a:endParaRPr>
            </a:p>
          </p:txBody>
        </p:sp>
      </p:grp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75129" y="428892"/>
            <a:ext cx="6790872" cy="400050"/>
          </a:xfrm>
        </p:spPr>
        <p:txBody>
          <a:bodyPr/>
          <a:lstStyle/>
          <a:p>
            <a:r>
              <a:rPr lang="en-US" dirty="0" smtClean="0"/>
              <a:t>The Journey So Far…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1424410" y="938832"/>
            <a:ext cx="826733" cy="1103488"/>
            <a:chOff x="6285507" y="4056654"/>
            <a:chExt cx="1361612" cy="1952294"/>
          </a:xfrm>
        </p:grpSpPr>
        <p:grpSp>
          <p:nvGrpSpPr>
            <p:cNvPr id="12" name="Group 11"/>
            <p:cNvGrpSpPr/>
            <p:nvPr/>
          </p:nvGrpSpPr>
          <p:grpSpPr>
            <a:xfrm>
              <a:off x="6285507" y="4056654"/>
              <a:ext cx="1361612" cy="1952294"/>
              <a:chOff x="5808790" y="2272283"/>
              <a:chExt cx="1993536" cy="2858353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5808790" y="2272283"/>
                <a:ext cx="1993536" cy="1989351"/>
                <a:chOff x="8140702" y="1890713"/>
                <a:chExt cx="1511300" cy="1508127"/>
              </a:xfrm>
            </p:grpSpPr>
            <p:sp>
              <p:nvSpPr>
                <p:cNvPr id="16" name="Freeform 25"/>
                <p:cNvSpPr>
                  <a:spLocks/>
                </p:cNvSpPr>
                <p:nvPr/>
              </p:nvSpPr>
              <p:spPr bwMode="auto">
                <a:xfrm>
                  <a:off x="8140702" y="1890713"/>
                  <a:ext cx="1511300" cy="1508127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7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13" name="TextBox 12"/>
            <p:cNvSpPr txBox="1"/>
            <p:nvPr/>
          </p:nvSpPr>
          <p:spPr>
            <a:xfrm>
              <a:off x="6371735" y="4549486"/>
              <a:ext cx="1189157" cy="44100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2013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422573" y="1292094"/>
            <a:ext cx="708982" cy="887717"/>
            <a:chOff x="6285507" y="4056652"/>
            <a:chExt cx="1361612" cy="1952296"/>
          </a:xfrm>
        </p:grpSpPr>
        <p:grpSp>
          <p:nvGrpSpPr>
            <p:cNvPr id="19" name="Group 18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22" name="Group 21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23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4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20" name="TextBox 19"/>
            <p:cNvSpPr txBox="1"/>
            <p:nvPr/>
          </p:nvSpPr>
          <p:spPr>
            <a:xfrm>
              <a:off x="6371735" y="4584197"/>
              <a:ext cx="1189157" cy="3715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prstClr val="black"/>
                  </a:solidFill>
                </a:rPr>
                <a:t>2014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191078" y="2272119"/>
            <a:ext cx="826733" cy="1126844"/>
            <a:chOff x="6285505" y="4056652"/>
            <a:chExt cx="1361612" cy="1952296"/>
          </a:xfrm>
        </p:grpSpPr>
        <p:grpSp>
          <p:nvGrpSpPr>
            <p:cNvPr id="26" name="Group 25"/>
            <p:cNvGrpSpPr/>
            <p:nvPr/>
          </p:nvGrpSpPr>
          <p:grpSpPr>
            <a:xfrm>
              <a:off x="6285505" y="4056652"/>
              <a:ext cx="1361612" cy="1952296"/>
              <a:chOff x="5808785" y="2272281"/>
              <a:chExt cx="1993536" cy="2858355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29" name="Group 28"/>
              <p:cNvGrpSpPr/>
              <p:nvPr/>
            </p:nvGrpSpPr>
            <p:grpSpPr>
              <a:xfrm>
                <a:off x="5808785" y="2272281"/>
                <a:ext cx="1993536" cy="1989349"/>
                <a:chOff x="8140698" y="1890712"/>
                <a:chExt cx="1511300" cy="1508126"/>
              </a:xfrm>
            </p:grpSpPr>
            <p:sp>
              <p:nvSpPr>
                <p:cNvPr id="30" name="Freeform 25"/>
                <p:cNvSpPr>
                  <a:spLocks/>
                </p:cNvSpPr>
                <p:nvPr/>
              </p:nvSpPr>
              <p:spPr bwMode="auto">
                <a:xfrm>
                  <a:off x="8140698" y="1890712"/>
                  <a:ext cx="1511300" cy="1508126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31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27" name="TextBox 26"/>
            <p:cNvSpPr txBox="1"/>
            <p:nvPr/>
          </p:nvSpPr>
          <p:spPr>
            <a:xfrm>
              <a:off x="6371734" y="4506281"/>
              <a:ext cx="1189157" cy="52741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2017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2993685" y="2983375"/>
            <a:ext cx="787453" cy="1092270"/>
            <a:chOff x="6285507" y="4056652"/>
            <a:chExt cx="1361612" cy="1952296"/>
          </a:xfrm>
        </p:grpSpPr>
        <p:grpSp>
          <p:nvGrpSpPr>
            <p:cNvPr id="40" name="Group 39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6718887" y="4188898"/>
                <a:ext cx="191914" cy="941738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43" name="Group 42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44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5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41" name="TextBox 40"/>
            <p:cNvSpPr txBox="1"/>
            <p:nvPr/>
          </p:nvSpPr>
          <p:spPr>
            <a:xfrm>
              <a:off x="6371735" y="4439924"/>
              <a:ext cx="1189157" cy="66013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2017 &amp; 2018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133153" y="816464"/>
            <a:ext cx="552791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 Narrow" panose="020B0606020202030204" pitchFamily="34" charset="0"/>
              </a:rPr>
              <a:t>ISA Implementation Monitoring highlighted challenges of applying standards for SME’s (2012 &amp; 2013</a:t>
            </a:r>
            <a:r>
              <a:rPr lang="en-US" sz="1500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34895" y="1537023"/>
            <a:ext cx="39485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 Narrow" panose="020B0606020202030204" pitchFamily="34" charset="0"/>
              </a:rPr>
              <a:t>Recognition in Strategy for 2015–2019 of importance of meeting needs of SME’s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175" y="2383751"/>
            <a:ext cx="21369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 Narrow" panose="020B0606020202030204" pitchFamily="34" charset="0"/>
              </a:rPr>
              <a:t>Paris Conference focused on understanding needs of SME’s / SMPs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56011" y="2717611"/>
            <a:ext cx="3541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 Narrow" panose="020B0606020202030204" pitchFamily="34" charset="0"/>
              </a:rPr>
              <a:t>Working Group / IAASB discussions to consider issues and way forward (2017–2018)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900548" y="3495281"/>
            <a:ext cx="2868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 Narrow" panose="020B0606020202030204" pitchFamily="34" charset="0"/>
              </a:rPr>
              <a:t>Project proposal to develop Consultation Paper (Sep 2018)</a:t>
            </a:r>
            <a:endParaRPr lang="en-US" sz="1500" dirty="0">
              <a:latin typeface="Arial Narrow" panose="020B0606020202030204" pitchFamily="34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95643" y="4922068"/>
            <a:ext cx="505301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/>
              <a:t>Page </a:t>
            </a:r>
            <a:r>
              <a:rPr lang="en-US" sz="750" dirty="0" smtClean="0"/>
              <a:t>2</a:t>
            </a:r>
            <a:endParaRPr lang="en-US" sz="750" dirty="0"/>
          </a:p>
        </p:txBody>
      </p:sp>
      <p:grpSp>
        <p:nvGrpSpPr>
          <p:cNvPr id="68" name="Group 67"/>
          <p:cNvGrpSpPr/>
          <p:nvPr/>
        </p:nvGrpSpPr>
        <p:grpSpPr>
          <a:xfrm>
            <a:off x="3969395" y="3345632"/>
            <a:ext cx="826733" cy="1041446"/>
            <a:chOff x="6285507" y="4056652"/>
            <a:chExt cx="1361612" cy="1952296"/>
          </a:xfrm>
        </p:grpSpPr>
        <p:grpSp>
          <p:nvGrpSpPr>
            <p:cNvPr id="69" name="Group 68"/>
            <p:cNvGrpSpPr/>
            <p:nvPr/>
          </p:nvGrpSpPr>
          <p:grpSpPr>
            <a:xfrm>
              <a:off x="6285507" y="4056652"/>
              <a:ext cx="1361612" cy="1952296"/>
              <a:chOff x="5808789" y="2272281"/>
              <a:chExt cx="1993536" cy="2858355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6718887" y="4188899"/>
                <a:ext cx="191914" cy="941737"/>
              </a:xfrm>
              <a:prstGeom prst="rect">
                <a:avLst/>
              </a:prstGeom>
              <a:gradFill>
                <a:gsLst>
                  <a:gs pos="0">
                    <a:sysClr val="windowText" lastClr="000000">
                      <a:lumMod val="75000"/>
                      <a:lumOff val="25000"/>
                      <a:shade val="30000"/>
                      <a:satMod val="115000"/>
                    </a:sysClr>
                  </a:gs>
                  <a:gs pos="50000">
                    <a:sysClr val="window" lastClr="FFFFFF"/>
                  </a:gs>
                  <a:gs pos="100000">
                    <a:sysClr val="windowText" lastClr="000000">
                      <a:lumMod val="75000"/>
                      <a:lumOff val="25000"/>
                      <a:shade val="100000"/>
                      <a:satMod val="115000"/>
                    </a:sysClr>
                  </a:gs>
                </a:gsLst>
                <a:lin ang="0" scaled="0"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en-US" kern="0" dirty="0">
                  <a:solidFill>
                    <a:prstClr val="white"/>
                  </a:solidFill>
                  <a:latin typeface="Calibri"/>
                </a:endParaRPr>
              </a:p>
            </p:txBody>
          </p:sp>
          <p:grpSp>
            <p:nvGrpSpPr>
              <p:cNvPr id="72" name="Group 71"/>
              <p:cNvGrpSpPr/>
              <p:nvPr/>
            </p:nvGrpSpPr>
            <p:grpSpPr>
              <a:xfrm>
                <a:off x="5808789" y="2272281"/>
                <a:ext cx="1993536" cy="1989348"/>
                <a:chOff x="8140701" y="1890712"/>
                <a:chExt cx="1511300" cy="1508125"/>
              </a:xfrm>
            </p:grpSpPr>
            <p:sp>
              <p:nvSpPr>
                <p:cNvPr id="73" name="Freeform 25"/>
                <p:cNvSpPr>
                  <a:spLocks/>
                </p:cNvSpPr>
                <p:nvPr/>
              </p:nvSpPr>
              <p:spPr bwMode="auto">
                <a:xfrm>
                  <a:off x="8140701" y="1890712"/>
                  <a:ext cx="1511300" cy="1508125"/>
                </a:xfrm>
                <a:custGeom>
                  <a:avLst/>
                  <a:gdLst>
                    <a:gd name="T0" fmla="*/ 385 w 402"/>
                    <a:gd name="T1" fmla="*/ 171 h 401"/>
                    <a:gd name="T2" fmla="*/ 385 w 402"/>
                    <a:gd name="T3" fmla="*/ 231 h 401"/>
                    <a:gd name="T4" fmla="*/ 231 w 402"/>
                    <a:gd name="T5" fmla="*/ 385 h 401"/>
                    <a:gd name="T6" fmla="*/ 171 w 402"/>
                    <a:gd name="T7" fmla="*/ 385 h 401"/>
                    <a:gd name="T8" fmla="*/ 17 w 402"/>
                    <a:gd name="T9" fmla="*/ 231 h 401"/>
                    <a:gd name="T10" fmla="*/ 17 w 402"/>
                    <a:gd name="T11" fmla="*/ 171 h 401"/>
                    <a:gd name="T12" fmla="*/ 171 w 402"/>
                    <a:gd name="T13" fmla="*/ 17 h 401"/>
                    <a:gd name="T14" fmla="*/ 231 w 402"/>
                    <a:gd name="T15" fmla="*/ 17 h 401"/>
                    <a:gd name="T16" fmla="*/ 385 w 402"/>
                    <a:gd name="T17" fmla="*/ 171 h 4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02" h="401">
                      <a:moveTo>
                        <a:pt x="385" y="171"/>
                      </a:moveTo>
                      <a:cubicBezTo>
                        <a:pt x="402" y="187"/>
                        <a:pt x="402" y="214"/>
                        <a:pt x="385" y="231"/>
                      </a:cubicBezTo>
                      <a:cubicBezTo>
                        <a:pt x="231" y="385"/>
                        <a:pt x="231" y="385"/>
                        <a:pt x="231" y="385"/>
                      </a:cubicBezTo>
                      <a:cubicBezTo>
                        <a:pt x="214" y="401"/>
                        <a:pt x="187" y="401"/>
                        <a:pt x="171" y="385"/>
                      </a:cubicBezTo>
                      <a:cubicBezTo>
                        <a:pt x="17" y="231"/>
                        <a:pt x="17" y="231"/>
                        <a:pt x="17" y="231"/>
                      </a:cubicBezTo>
                      <a:cubicBezTo>
                        <a:pt x="0" y="214"/>
                        <a:pt x="0" y="187"/>
                        <a:pt x="17" y="171"/>
                      </a:cubicBezTo>
                      <a:cubicBezTo>
                        <a:pt x="171" y="17"/>
                        <a:pt x="171" y="17"/>
                        <a:pt x="171" y="17"/>
                      </a:cubicBezTo>
                      <a:cubicBezTo>
                        <a:pt x="187" y="0"/>
                        <a:pt x="214" y="0"/>
                        <a:pt x="231" y="17"/>
                      </a:cubicBezTo>
                      <a:lnTo>
                        <a:pt x="385" y="171"/>
                      </a:lnTo>
                      <a:close/>
                    </a:path>
                  </a:pathLst>
                </a:custGeom>
                <a:solidFill>
                  <a:srgbClr val="F1C96C">
                    <a:lumMod val="75000"/>
                  </a:srgb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4" name="Freeform 26"/>
                <p:cNvSpPr>
                  <a:spLocks noEditPoints="1"/>
                </p:cNvSpPr>
                <p:nvPr/>
              </p:nvSpPr>
              <p:spPr bwMode="auto">
                <a:xfrm>
                  <a:off x="8283576" y="2033588"/>
                  <a:ext cx="1225550" cy="1227138"/>
                </a:xfrm>
                <a:custGeom>
                  <a:avLst/>
                  <a:gdLst>
                    <a:gd name="T0" fmla="*/ 323 w 326"/>
                    <a:gd name="T1" fmla="*/ 157 h 326"/>
                    <a:gd name="T2" fmla="*/ 169 w 326"/>
                    <a:gd name="T3" fmla="*/ 2 h 326"/>
                    <a:gd name="T4" fmla="*/ 163 w 326"/>
                    <a:gd name="T5" fmla="*/ 0 h 326"/>
                    <a:gd name="T6" fmla="*/ 157 w 326"/>
                    <a:gd name="T7" fmla="*/ 2 h 326"/>
                    <a:gd name="T8" fmla="*/ 3 w 326"/>
                    <a:gd name="T9" fmla="*/ 157 h 326"/>
                    <a:gd name="T10" fmla="*/ 0 w 326"/>
                    <a:gd name="T11" fmla="*/ 163 h 326"/>
                    <a:gd name="T12" fmla="*/ 3 w 326"/>
                    <a:gd name="T13" fmla="*/ 169 h 326"/>
                    <a:gd name="T14" fmla="*/ 157 w 326"/>
                    <a:gd name="T15" fmla="*/ 323 h 326"/>
                    <a:gd name="T16" fmla="*/ 163 w 326"/>
                    <a:gd name="T17" fmla="*/ 326 h 326"/>
                    <a:gd name="T18" fmla="*/ 169 w 326"/>
                    <a:gd name="T19" fmla="*/ 323 h 326"/>
                    <a:gd name="T20" fmla="*/ 323 w 326"/>
                    <a:gd name="T21" fmla="*/ 169 h 326"/>
                    <a:gd name="T22" fmla="*/ 326 w 326"/>
                    <a:gd name="T23" fmla="*/ 163 h 326"/>
                    <a:gd name="T24" fmla="*/ 323 w 326"/>
                    <a:gd name="T25" fmla="*/ 157 h 326"/>
                    <a:gd name="T26" fmla="*/ 306 w 326"/>
                    <a:gd name="T27" fmla="*/ 168 h 326"/>
                    <a:gd name="T28" fmla="*/ 168 w 326"/>
                    <a:gd name="T29" fmla="*/ 306 h 326"/>
                    <a:gd name="T30" fmla="*/ 163 w 326"/>
                    <a:gd name="T31" fmla="*/ 308 h 326"/>
                    <a:gd name="T32" fmla="*/ 157 w 326"/>
                    <a:gd name="T33" fmla="*/ 306 h 326"/>
                    <a:gd name="T34" fmla="*/ 20 w 326"/>
                    <a:gd name="T35" fmla="*/ 168 h 326"/>
                    <a:gd name="T36" fmla="*/ 17 w 326"/>
                    <a:gd name="T37" fmla="*/ 163 h 326"/>
                    <a:gd name="T38" fmla="*/ 20 w 326"/>
                    <a:gd name="T39" fmla="*/ 157 h 326"/>
                    <a:gd name="T40" fmla="*/ 157 w 326"/>
                    <a:gd name="T41" fmla="*/ 19 h 326"/>
                    <a:gd name="T42" fmla="*/ 163 w 326"/>
                    <a:gd name="T43" fmla="*/ 17 h 326"/>
                    <a:gd name="T44" fmla="*/ 168 w 326"/>
                    <a:gd name="T45" fmla="*/ 19 h 326"/>
                    <a:gd name="T46" fmla="*/ 306 w 326"/>
                    <a:gd name="T47" fmla="*/ 157 h 326"/>
                    <a:gd name="T48" fmla="*/ 309 w 326"/>
                    <a:gd name="T49" fmla="*/ 163 h 326"/>
                    <a:gd name="T50" fmla="*/ 306 w 326"/>
                    <a:gd name="T51" fmla="*/ 168 h 3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6" h="326">
                      <a:moveTo>
                        <a:pt x="323" y="157"/>
                      </a:moveTo>
                      <a:cubicBezTo>
                        <a:pt x="169" y="2"/>
                        <a:pt x="169" y="2"/>
                        <a:pt x="169" y="2"/>
                      </a:cubicBezTo>
                      <a:cubicBezTo>
                        <a:pt x="167" y="0"/>
                        <a:pt x="164" y="0"/>
                        <a:pt x="163" y="0"/>
                      </a:cubicBezTo>
                      <a:cubicBezTo>
                        <a:pt x="162" y="0"/>
                        <a:pt x="159" y="0"/>
                        <a:pt x="157" y="2"/>
                      </a:cubicBezTo>
                      <a:cubicBezTo>
                        <a:pt x="3" y="157"/>
                        <a:pt x="3" y="157"/>
                        <a:pt x="3" y="157"/>
                      </a:cubicBezTo>
                      <a:cubicBezTo>
                        <a:pt x="1" y="158"/>
                        <a:pt x="0" y="160"/>
                        <a:pt x="0" y="163"/>
                      </a:cubicBezTo>
                      <a:cubicBezTo>
                        <a:pt x="0" y="165"/>
                        <a:pt x="1" y="167"/>
                        <a:pt x="3" y="169"/>
                      </a:cubicBezTo>
                      <a:cubicBezTo>
                        <a:pt x="157" y="323"/>
                        <a:pt x="157" y="323"/>
                        <a:pt x="157" y="323"/>
                      </a:cubicBezTo>
                      <a:cubicBezTo>
                        <a:pt x="159" y="325"/>
                        <a:pt x="162" y="326"/>
                        <a:pt x="163" y="326"/>
                      </a:cubicBezTo>
                      <a:cubicBezTo>
                        <a:pt x="164" y="326"/>
                        <a:pt x="167" y="325"/>
                        <a:pt x="169" y="323"/>
                      </a:cubicBezTo>
                      <a:cubicBezTo>
                        <a:pt x="323" y="169"/>
                        <a:pt x="323" y="169"/>
                        <a:pt x="323" y="169"/>
                      </a:cubicBezTo>
                      <a:cubicBezTo>
                        <a:pt x="325" y="167"/>
                        <a:pt x="326" y="164"/>
                        <a:pt x="326" y="163"/>
                      </a:cubicBezTo>
                      <a:cubicBezTo>
                        <a:pt x="326" y="161"/>
                        <a:pt x="325" y="159"/>
                        <a:pt x="323" y="157"/>
                      </a:cubicBezTo>
                      <a:close/>
                      <a:moveTo>
                        <a:pt x="306" y="168"/>
                      </a:moveTo>
                      <a:cubicBezTo>
                        <a:pt x="168" y="306"/>
                        <a:pt x="168" y="306"/>
                        <a:pt x="168" y="306"/>
                      </a:cubicBezTo>
                      <a:cubicBezTo>
                        <a:pt x="167" y="308"/>
                        <a:pt x="164" y="308"/>
                        <a:pt x="163" y="308"/>
                      </a:cubicBezTo>
                      <a:cubicBezTo>
                        <a:pt x="162" y="308"/>
                        <a:pt x="159" y="308"/>
                        <a:pt x="157" y="306"/>
                      </a:cubicBezTo>
                      <a:cubicBezTo>
                        <a:pt x="20" y="168"/>
                        <a:pt x="20" y="168"/>
                        <a:pt x="20" y="168"/>
                      </a:cubicBezTo>
                      <a:cubicBezTo>
                        <a:pt x="18" y="167"/>
                        <a:pt x="17" y="165"/>
                        <a:pt x="17" y="163"/>
                      </a:cubicBezTo>
                      <a:cubicBezTo>
                        <a:pt x="17" y="161"/>
                        <a:pt x="18" y="159"/>
                        <a:pt x="20" y="157"/>
                      </a:cubicBezTo>
                      <a:cubicBezTo>
                        <a:pt x="157" y="19"/>
                        <a:pt x="157" y="19"/>
                        <a:pt x="157" y="19"/>
                      </a:cubicBezTo>
                      <a:cubicBezTo>
                        <a:pt x="159" y="17"/>
                        <a:pt x="162" y="17"/>
                        <a:pt x="163" y="17"/>
                      </a:cubicBezTo>
                      <a:cubicBezTo>
                        <a:pt x="164" y="17"/>
                        <a:pt x="167" y="17"/>
                        <a:pt x="168" y="19"/>
                      </a:cubicBezTo>
                      <a:cubicBezTo>
                        <a:pt x="306" y="157"/>
                        <a:pt x="306" y="157"/>
                        <a:pt x="306" y="157"/>
                      </a:cubicBezTo>
                      <a:cubicBezTo>
                        <a:pt x="308" y="159"/>
                        <a:pt x="309" y="161"/>
                        <a:pt x="309" y="163"/>
                      </a:cubicBezTo>
                      <a:cubicBezTo>
                        <a:pt x="309" y="164"/>
                        <a:pt x="308" y="166"/>
                        <a:pt x="306" y="168"/>
                      </a:cubicBezTo>
                      <a:close/>
                    </a:path>
                  </a:pathLst>
                </a:custGeom>
                <a:solidFill>
                  <a:sysClr val="windowText" lastClr="000000">
                    <a:lumMod val="85000"/>
                    <a:lumOff val="15000"/>
                  </a:sysClr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defRPr/>
                  </a:pPr>
                  <a:endParaRPr lang="en-US" kern="0" dirty="0">
                    <a:solidFill>
                      <a:prstClr val="black"/>
                    </a:solidFill>
                  </a:endParaRPr>
                </a:p>
              </p:txBody>
            </p:sp>
          </p:grpSp>
        </p:grpSp>
        <p:sp>
          <p:nvSpPr>
            <p:cNvPr id="70" name="TextBox 69"/>
            <p:cNvSpPr txBox="1"/>
            <p:nvPr/>
          </p:nvSpPr>
          <p:spPr>
            <a:xfrm>
              <a:off x="6371735" y="4553631"/>
              <a:ext cx="1189157" cy="43271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b="1" dirty="0" smtClean="0">
                  <a:solidFill>
                    <a:prstClr val="black"/>
                  </a:solidFill>
                </a:rPr>
                <a:t>2018</a:t>
              </a:r>
              <a:endParaRPr lang="en-US" sz="9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7621627" y="1466664"/>
            <a:ext cx="1466413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anose="020B0A04020102020204" pitchFamily="34" charset="0"/>
              </a:rPr>
              <a:t>Continuing outreach regarding scalability of standards (including with IFAC SMP Committee)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53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Exploring Possible Actions–IAASB Project Proposal</a:t>
            </a:r>
            <a:endParaRPr lang="en-US" dirty="0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6905"/>
              </p:ext>
            </p:extLst>
          </p:nvPr>
        </p:nvGraphicFramePr>
        <p:xfrm>
          <a:off x="457200" y="1148811"/>
          <a:ext cx="8229600" cy="38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82250">
                <a:tc>
                  <a:txBody>
                    <a:bodyPr/>
                    <a:lstStyle/>
                    <a:p>
                      <a:r>
                        <a:rPr lang="en-US" dirty="0" smtClean="0"/>
                        <a:t>IAASB Discussions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13" name="Cross 12"/>
          <p:cNvSpPr/>
          <p:nvPr/>
        </p:nvSpPr>
        <p:spPr>
          <a:xfrm>
            <a:off x="3843717" y="1655394"/>
            <a:ext cx="372234" cy="395374"/>
          </a:xfrm>
          <a:prstGeom prst="plus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ontent Placeholder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6634834"/>
              </p:ext>
            </p:extLst>
          </p:nvPr>
        </p:nvGraphicFramePr>
        <p:xfrm>
          <a:off x="457200" y="2241214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Other relevant developments (environmental</a:t>
                      </a:r>
                      <a:r>
                        <a:rPr lang="en-US" baseline="0" dirty="0" smtClean="0"/>
                        <a:t> changes and jurisdictional initiatives)</a:t>
                      </a:r>
                      <a:endParaRPr lang="en-US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Equal 14"/>
          <p:cNvSpPr/>
          <p:nvPr/>
        </p:nvSpPr>
        <p:spPr>
          <a:xfrm>
            <a:off x="3766842" y="2760921"/>
            <a:ext cx="525983" cy="612482"/>
          </a:xfrm>
          <a:prstGeom prst="mathEqual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6" name="Content Placeholder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284685"/>
              </p:ext>
            </p:extLst>
          </p:nvPr>
        </p:nvGraphicFramePr>
        <p:xfrm>
          <a:off x="457200" y="3469296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IAASB recognition that further exploration of possible actions needed </a:t>
                      </a: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7" name="6-Point Star 16"/>
          <p:cNvSpPr/>
          <p:nvPr/>
        </p:nvSpPr>
        <p:spPr>
          <a:xfrm>
            <a:off x="6222776" y="2802500"/>
            <a:ext cx="2362874" cy="1907065"/>
          </a:xfrm>
          <a:prstGeom prst="star6">
            <a:avLst/>
          </a:prstGeom>
          <a:solidFill>
            <a:schemeClr val="accent3"/>
          </a:solidFill>
          <a:scene3d>
            <a:camera prst="isometricLeftDown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Project proposal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3356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Possible Actions–IAASB Project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i="1" dirty="0" smtClean="0"/>
              <a:t>Objective</a:t>
            </a:r>
          </a:p>
          <a:p>
            <a:pPr lvl="1"/>
            <a:r>
              <a:rPr lang="en-US" sz="1600" dirty="0" smtClean="0"/>
              <a:t>Develop the Discussion Paper for Public Consultation</a:t>
            </a:r>
          </a:p>
          <a:p>
            <a:pPr lvl="2"/>
            <a:r>
              <a:rPr lang="en-US" sz="1500" dirty="0" smtClean="0"/>
              <a:t>Confirm perceived issues and obtain views on possible actions</a:t>
            </a:r>
          </a:p>
          <a:p>
            <a:pPr lvl="1"/>
            <a:r>
              <a:rPr lang="en-US" sz="1600" dirty="0" smtClean="0"/>
              <a:t>Develop recommendations for future Board action</a:t>
            </a:r>
          </a:p>
          <a:p>
            <a:r>
              <a:rPr lang="en-US" i="1" dirty="0" smtClean="0"/>
              <a:t>Project Scope</a:t>
            </a:r>
          </a:p>
          <a:p>
            <a:pPr lvl="1"/>
            <a:r>
              <a:rPr lang="en-US" sz="1600" dirty="0" smtClean="0"/>
              <a:t>Confirm identified challenges and issues</a:t>
            </a:r>
          </a:p>
          <a:p>
            <a:pPr lvl="1"/>
            <a:r>
              <a:rPr lang="en-US" sz="1600" dirty="0" smtClean="0"/>
              <a:t>Develop the Discussion Paper </a:t>
            </a:r>
          </a:p>
          <a:p>
            <a:pPr lvl="1"/>
            <a:r>
              <a:rPr lang="en-US" sz="1600" dirty="0" smtClean="0"/>
              <a:t>Analyze feedback (and prepare a feedback statement)</a:t>
            </a:r>
          </a:p>
          <a:p>
            <a:pPr lvl="1"/>
            <a:r>
              <a:rPr lang="en-US" sz="1600" dirty="0" smtClean="0"/>
              <a:t>Develop recommendations for Board consideration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95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95" y="850026"/>
            <a:ext cx="8229600" cy="4033269"/>
          </a:xfrm>
        </p:spPr>
        <p:txBody>
          <a:bodyPr/>
          <a:lstStyle/>
          <a:p>
            <a:r>
              <a:rPr lang="en-US" sz="1800" dirty="0" smtClean="0"/>
              <a:t>In-depth environmental scan</a:t>
            </a:r>
          </a:p>
          <a:p>
            <a:pPr lvl="1"/>
            <a:r>
              <a:rPr lang="en-US" sz="1600" dirty="0" smtClean="0"/>
              <a:t>Academic review of existing </a:t>
            </a:r>
            <a:r>
              <a:rPr lang="en-US" sz="1600" dirty="0" smtClean="0"/>
              <a:t>literature</a:t>
            </a:r>
          </a:p>
          <a:p>
            <a:pPr lvl="2"/>
            <a:r>
              <a:rPr lang="en-US" sz="1450" dirty="0" smtClean="0"/>
              <a:t>Compiled a list of research on matters related to SMP’s and SME’s (based on key words)</a:t>
            </a:r>
          </a:p>
          <a:p>
            <a:pPr lvl="2"/>
            <a:r>
              <a:rPr lang="en-US" sz="1450" dirty="0" smtClean="0"/>
              <a:t>First list of research papers and other relevant articles received</a:t>
            </a:r>
          </a:p>
          <a:p>
            <a:pPr lvl="3"/>
            <a:r>
              <a:rPr lang="en-US" sz="1300" dirty="0" smtClean="0"/>
              <a:t>Various papers on audit thresholds (exemption) and impact on audit / demand for audit for small entities</a:t>
            </a:r>
          </a:p>
          <a:p>
            <a:pPr lvl="3"/>
            <a:r>
              <a:rPr lang="en-US" sz="1300" dirty="0" smtClean="0"/>
              <a:t>Demand for voluntary audit</a:t>
            </a:r>
          </a:p>
          <a:p>
            <a:pPr lvl="3"/>
            <a:r>
              <a:rPr lang="en-US" sz="1300" dirty="0" smtClean="0"/>
              <a:t>Audit quality in audits of smaller entities</a:t>
            </a:r>
          </a:p>
          <a:p>
            <a:pPr lvl="3"/>
            <a:r>
              <a:rPr lang="en-US" sz="1300" dirty="0" smtClean="0"/>
              <a:t>The role of small audits for studying the audit market</a:t>
            </a:r>
          </a:p>
          <a:p>
            <a:pPr lvl="3"/>
            <a:r>
              <a:rPr lang="en-US" sz="1300" dirty="0" smtClean="0"/>
              <a:t>Spreadsheet use in small audit firms</a:t>
            </a:r>
            <a:endParaRPr lang="en-US" sz="1450" dirty="0" smtClean="0"/>
          </a:p>
          <a:p>
            <a:pPr lvl="1">
              <a:spcBef>
                <a:spcPts val="400"/>
              </a:spcBef>
            </a:pPr>
            <a:r>
              <a:rPr lang="en-US" sz="1600" dirty="0" smtClean="0"/>
              <a:t>Further outreach (e.g., NSS; INTOSAI) to understand challenges and issues</a:t>
            </a:r>
          </a:p>
          <a:p>
            <a:pPr lvl="1">
              <a:spcBef>
                <a:spcPts val="400"/>
              </a:spcBef>
            </a:pPr>
            <a:r>
              <a:rPr lang="en-US" sz="1600" dirty="0" smtClean="0"/>
              <a:t>Consideration of further surveys</a:t>
            </a:r>
          </a:p>
          <a:p>
            <a:pPr>
              <a:spcBef>
                <a:spcPts val="400"/>
              </a:spcBef>
            </a:pPr>
            <a:r>
              <a:rPr lang="en-US" sz="1800" dirty="0" smtClean="0"/>
              <a:t>Outreach when Discussion Paper out for comment</a:t>
            </a:r>
          </a:p>
          <a:p>
            <a:pPr lvl="1">
              <a:spcBef>
                <a:spcPts val="400"/>
              </a:spcBef>
            </a:pPr>
            <a:r>
              <a:rPr lang="en-US" sz="1600" dirty="0" smtClean="0"/>
              <a:t>Second SME/SMP Working Conference (possibly May 2019)</a:t>
            </a:r>
          </a:p>
          <a:p>
            <a:pPr lvl="1">
              <a:spcBef>
                <a:spcPts val="400"/>
              </a:spcBef>
            </a:pPr>
            <a:r>
              <a:rPr lang="en-US" sz="1600" dirty="0" smtClean="0"/>
              <a:t>Other roundtables?</a:t>
            </a:r>
          </a:p>
          <a:p>
            <a:pPr>
              <a:spcBef>
                <a:spcPts val="500"/>
              </a:spcBef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Possible </a:t>
            </a:r>
            <a:r>
              <a:rPr lang="en-US" dirty="0" smtClean="0"/>
              <a:t>Actions–Further Working Group Activities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68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Possible Actions to be Presented in Discussion Paper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For stakeholder views – will help inform project proposal for further IAASB actions</a:t>
            </a:r>
          </a:p>
          <a:p>
            <a:r>
              <a:rPr lang="en-US" sz="1800" dirty="0" smtClean="0"/>
              <a:t>Working Group to still consider content, but exploring:</a:t>
            </a:r>
          </a:p>
          <a:p>
            <a:pPr lvl="1"/>
            <a:r>
              <a:rPr lang="en-US" sz="1600" dirty="0" smtClean="0"/>
              <a:t>Other ways providing assurance for stakeholder needs</a:t>
            </a:r>
          </a:p>
          <a:p>
            <a:pPr lvl="1"/>
            <a:r>
              <a:rPr lang="en-US" sz="1600" dirty="0" smtClean="0"/>
              <a:t>What more can be done in the ISAs to address complexity of the standards</a:t>
            </a:r>
          </a:p>
          <a:p>
            <a:pPr lvl="1"/>
            <a:r>
              <a:rPr lang="en-US" sz="1600" dirty="0" smtClean="0"/>
              <a:t>Content and presentation of a separate ISA for audits of less complex entities</a:t>
            </a:r>
          </a:p>
          <a:p>
            <a:pPr lvl="1"/>
            <a:r>
              <a:rPr lang="en-US" sz="1600" dirty="0" smtClean="0"/>
              <a:t>Guidance that may be needed for applying the ISAs to less complex entities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7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SMPC Letter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SMPC welcomes the initiative and fully supports the IAASB’s efforts in this area</a:t>
            </a:r>
          </a:p>
          <a:p>
            <a:r>
              <a:rPr lang="en-US" sz="1800" dirty="0"/>
              <a:t>Important to give greater consideration to matters related to SMPs and SMEs</a:t>
            </a:r>
          </a:p>
          <a:p>
            <a:r>
              <a:rPr lang="en-US" sz="1800" dirty="0"/>
              <a:t>Outcome should be an informed and balanced solution</a:t>
            </a:r>
          </a:p>
          <a:p>
            <a:r>
              <a:rPr lang="en-US" sz="1800" dirty="0"/>
              <a:t>Support calls </a:t>
            </a:r>
            <a:r>
              <a:rPr lang="en-US" sz="1800" dirty="0" smtClean="0"/>
              <a:t>for </a:t>
            </a:r>
            <a:r>
              <a:rPr lang="en-US" sz="1800" dirty="0"/>
              <a:t>a </a:t>
            </a:r>
            <a:r>
              <a:rPr lang="en-US" sz="1800" dirty="0" smtClean="0"/>
              <a:t>‘bottom-up’ </a:t>
            </a:r>
            <a:r>
              <a:rPr lang="en-US" sz="1800" dirty="0"/>
              <a:t>approach</a:t>
            </a:r>
          </a:p>
          <a:p>
            <a:r>
              <a:rPr lang="en-US" sz="1800" dirty="0"/>
              <a:t>Definition of scope of ‘smaller and less complex entity’ is critical</a:t>
            </a:r>
          </a:p>
          <a:p>
            <a:r>
              <a:rPr lang="en-US" sz="1800" dirty="0"/>
              <a:t>In exploring a different way to obtain reasonable assurance (not using the full ISAs) need to manage expectations and perceptions</a:t>
            </a:r>
          </a:p>
          <a:p>
            <a:r>
              <a:rPr lang="en-US" sz="1800" dirty="0"/>
              <a:t>Important to present </a:t>
            </a:r>
            <a:r>
              <a:rPr lang="en-US" sz="1800" dirty="0"/>
              <a:t>possible solutions in a balanced manner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327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Discussions with the CAG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372" y="933114"/>
            <a:ext cx="8229600" cy="3752174"/>
          </a:xfrm>
        </p:spPr>
        <p:txBody>
          <a:bodyPr/>
          <a:lstStyle/>
          <a:p>
            <a:r>
              <a:rPr lang="en-US" sz="1800" dirty="0"/>
              <a:t>Support for exploring the topic – important topic</a:t>
            </a:r>
          </a:p>
          <a:p>
            <a:pPr lvl="1"/>
            <a:r>
              <a:rPr lang="en-US" sz="1600" dirty="0"/>
              <a:t>Challenges in this project recognized</a:t>
            </a:r>
          </a:p>
          <a:p>
            <a:pPr lvl="1"/>
            <a:r>
              <a:rPr lang="en-US" sz="1600" dirty="0"/>
              <a:t>Support for the timeline</a:t>
            </a:r>
          </a:p>
          <a:p>
            <a:r>
              <a:rPr lang="en-US" sz="1800" dirty="0"/>
              <a:t>Some concern about the outcome of the project</a:t>
            </a:r>
          </a:p>
          <a:p>
            <a:pPr lvl="1"/>
            <a:r>
              <a:rPr lang="en-US" sz="1600" dirty="0"/>
              <a:t>Caution about different level of assurance</a:t>
            </a:r>
          </a:p>
          <a:p>
            <a:pPr lvl="1"/>
            <a:r>
              <a:rPr lang="en-US" sz="1600" dirty="0"/>
              <a:t>An audit is an audit – need to explore if there is a different way to obtain reasonable assurance </a:t>
            </a:r>
          </a:p>
          <a:p>
            <a:pPr lvl="1"/>
            <a:r>
              <a:rPr lang="en-US" sz="1600" dirty="0"/>
              <a:t>Need to be able to apply ISAs to a wide variety of entities</a:t>
            </a:r>
          </a:p>
          <a:p>
            <a:r>
              <a:rPr lang="en-US" sz="1800" dirty="0"/>
              <a:t>Suggestions about what could be done</a:t>
            </a:r>
          </a:p>
          <a:p>
            <a:pPr lvl="1"/>
            <a:r>
              <a:rPr lang="en-US" sz="1600" dirty="0"/>
              <a:t>Think small first</a:t>
            </a:r>
          </a:p>
          <a:p>
            <a:pPr lvl="1"/>
            <a:r>
              <a:rPr lang="en-US" sz="1600" dirty="0"/>
              <a:t>Think about where optionality is (requirements or guidance)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815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Timeline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529720"/>
              </p:ext>
            </p:extLst>
          </p:nvPr>
        </p:nvGraphicFramePr>
        <p:xfrm>
          <a:off x="457200" y="1200150"/>
          <a:ext cx="8229600" cy="19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Timing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Action</a:t>
                      </a:r>
                      <a:endParaRPr 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July 2018 to March 2019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Activities related to development of Discussion Paper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251460">
                <a:tc rowSpan="2">
                  <a:txBody>
                    <a:bodyPr/>
                    <a:lstStyle/>
                    <a:p>
                      <a:r>
                        <a:rPr lang="en-US" dirty="0" smtClean="0"/>
                        <a:t>March 2019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CAG consideration of Discussion Paper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2514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IAASB to consider and approve Discussion Paper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May-June</a:t>
                      </a:r>
                      <a:r>
                        <a:rPr lang="en-US" baseline="0" dirty="0" smtClean="0"/>
                        <a:t> 2019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Roundtables and other outreach as necessary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185420">
                <a:tc>
                  <a:txBody>
                    <a:bodyPr/>
                    <a:lstStyle/>
                    <a:p>
                      <a:r>
                        <a:rPr lang="en-US" dirty="0" smtClean="0"/>
                        <a:t>September 2019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IAASB to consider feedback;</a:t>
                      </a:r>
                      <a:r>
                        <a:rPr lang="en-US" baseline="0" dirty="0" smtClean="0"/>
                        <a:t> feedback statement</a:t>
                      </a:r>
                      <a:endParaRPr lang="en-US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9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62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73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AASB_Powerpoint_template_2016_Widescreen" id="{551C3455-CE53-451D-A561-326C993C81B9}" vid="{313783E5-FB8C-4610-BC8F-F48741466E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IAASB_Powerpoint_template_2016_Widescreen</Template>
  <TotalTime>10006</TotalTime>
  <Words>636</Words>
  <Application>Microsoft Office PowerPoint</Application>
  <PresentationFormat>On-screen Show (16:9)</PresentationFormat>
  <Paragraphs>96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MS PGothic</vt:lpstr>
      <vt:lpstr>Arial</vt:lpstr>
      <vt:lpstr>Arial Black</vt:lpstr>
      <vt:lpstr>Arial Narrow</vt:lpstr>
      <vt:lpstr>Calibri</vt:lpstr>
      <vt:lpstr>Times New Roman</vt:lpstr>
      <vt:lpstr>Office Theme</vt:lpstr>
      <vt:lpstr>IAASB Possible Actions Regarding Less Complex Entities</vt:lpstr>
      <vt:lpstr>The Journey So Far…</vt:lpstr>
      <vt:lpstr>Exploring Possible Actions–IAASB Project Proposal</vt:lpstr>
      <vt:lpstr>Exploring Possible Actions–IAASB Project Proposal</vt:lpstr>
      <vt:lpstr>Exploring Possible Actions–Further Working Group Activities</vt:lpstr>
      <vt:lpstr>Possible Actions to be Presented in Discussion Paper</vt:lpstr>
      <vt:lpstr>SMPC Letter</vt:lpstr>
      <vt:lpstr>Discussions with the CAG</vt:lpstr>
      <vt:lpstr>Timeline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Bradley Williams</dc:creator>
  <cp:lastModifiedBy>Beverley Bahlmann</cp:lastModifiedBy>
  <cp:revision>196</cp:revision>
  <cp:lastPrinted>2018-09-10T18:59:37Z</cp:lastPrinted>
  <dcterms:created xsi:type="dcterms:W3CDTF">2016-11-09T14:56:20Z</dcterms:created>
  <dcterms:modified xsi:type="dcterms:W3CDTF">2018-09-20T15:30:04Z</dcterms:modified>
</cp:coreProperties>
</file>