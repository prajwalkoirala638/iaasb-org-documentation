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1.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25"/>
  </p:notesMasterIdLst>
  <p:handoutMasterIdLst>
    <p:handoutMasterId r:id="rId26"/>
  </p:handoutMasterIdLst>
  <p:sldIdLst>
    <p:sldId id="271" r:id="rId2"/>
    <p:sldId id="273" r:id="rId3"/>
    <p:sldId id="529" r:id="rId4"/>
    <p:sldId id="571" r:id="rId5"/>
    <p:sldId id="524" r:id="rId6"/>
    <p:sldId id="560" r:id="rId7"/>
    <p:sldId id="572" r:id="rId8"/>
    <p:sldId id="573" r:id="rId9"/>
    <p:sldId id="561" r:id="rId10"/>
    <p:sldId id="562" r:id="rId11"/>
    <p:sldId id="563" r:id="rId12"/>
    <p:sldId id="564" r:id="rId13"/>
    <p:sldId id="565" r:id="rId14"/>
    <p:sldId id="566" r:id="rId15"/>
    <p:sldId id="567" r:id="rId16"/>
    <p:sldId id="568" r:id="rId17"/>
    <p:sldId id="536" r:id="rId18"/>
    <p:sldId id="544" r:id="rId19"/>
    <p:sldId id="557" r:id="rId20"/>
    <p:sldId id="553" r:id="rId21"/>
    <p:sldId id="570" r:id="rId22"/>
    <p:sldId id="569" r:id="rId23"/>
    <p:sldId id="294" r:id="rId24"/>
  </p:sldIdLst>
  <p:sldSz cx="9144000" cy="5143500" type="screen16x9"/>
  <p:notesSz cx="6950075" cy="9236075"/>
  <p:defaultTex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ietsman, Megan" initials="MZ" lastIdx="8" clrIdx="0">
    <p:extLst>
      <p:ext uri="{19B8F6BF-5375-455C-9EA6-DF929625EA0E}">
        <p15:presenceInfo xmlns:p15="http://schemas.microsoft.com/office/powerpoint/2012/main" userId="Zietsman, Megan" providerId="None"/>
      </p:ext>
    </p:extLst>
  </p:cmAuthor>
  <p:cmAuthor id="2" name="Kathleen Healy" initials="KH" lastIdx="13" clrIdx="1">
    <p:extLst>
      <p:ext uri="{19B8F6BF-5375-455C-9EA6-DF929625EA0E}">
        <p15:presenceInfo xmlns:p15="http://schemas.microsoft.com/office/powerpoint/2012/main" userId="S-1-5-21-1801674531-1972579041-839522115-4130" providerId="AD"/>
      </p:ext>
    </p:extLst>
  </p:cmAuthor>
  <p:cmAuthor id="3" name="Dan Montgomery" initials="DM" lastIdx="49" clrIdx="2">
    <p:extLst>
      <p:ext uri="{19B8F6BF-5375-455C-9EA6-DF929625EA0E}">
        <p15:presenceInfo xmlns:p15="http://schemas.microsoft.com/office/powerpoint/2012/main" userId="8ba5e3d143c5e0b2" providerId="Windows Live"/>
      </p:ext>
    </p:extLst>
  </p:cmAuthor>
  <p:cmAuthor id="4" name="Jane Talatala" initials="JT" lastIdx="18" clrIdx="3">
    <p:extLst>
      <p:ext uri="{19B8F6BF-5375-455C-9EA6-DF929625EA0E}">
        <p15:presenceInfo xmlns:p15="http://schemas.microsoft.com/office/powerpoint/2012/main" userId="S::JaneTalatala@iaasb.org::0b75c357-2d7f-4a9b-be6b-0a67c58966d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BAA"/>
    <a:srgbClr val="808080"/>
    <a:srgbClr val="F15A22"/>
    <a:srgbClr val="00C0F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8265" autoAdjust="0"/>
    <p:restoredTop sz="95244" autoAdjust="0"/>
  </p:normalViewPr>
  <p:slideViewPr>
    <p:cSldViewPr snapToGrid="0" snapToObjects="1">
      <p:cViewPr varScale="1">
        <p:scale>
          <a:sx n="110" d="100"/>
          <a:sy n="110" d="100"/>
        </p:scale>
        <p:origin x="77" y="134"/>
      </p:cViewPr>
      <p:guideLst>
        <p:guide orient="horz" pos="1620"/>
        <p:guide pos="2880"/>
      </p:guideLst>
    </p:cSldViewPr>
  </p:slideViewPr>
  <p:outlineViewPr>
    <p:cViewPr>
      <p:scale>
        <a:sx n="66" d="100"/>
        <a:sy n="66" d="100"/>
      </p:scale>
      <p:origin x="0" y="-16920"/>
    </p:cViewPr>
  </p:outlineViewPr>
  <p:notesTextViewPr>
    <p:cViewPr>
      <p:scale>
        <a:sx n="3" d="2"/>
        <a:sy n="3" d="2"/>
      </p:scale>
      <p:origin x="0" y="0"/>
    </p:cViewPr>
  </p:notesTextViewPr>
  <p:sorterViewPr>
    <p:cViewPr varScale="1">
      <p:scale>
        <a:sx n="1" d="1"/>
        <a:sy n="1" d="1"/>
      </p:scale>
      <p:origin x="0" y="-606"/>
    </p:cViewPr>
  </p:sorterViewPr>
  <p:notesViewPr>
    <p:cSldViewPr snapToGrid="0" snapToObjects="1">
      <p:cViewPr varScale="1">
        <p:scale>
          <a:sx n="65" d="100"/>
          <a:sy n="65" d="100"/>
        </p:scale>
        <p:origin x="3134" y="3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commentAuthors" Target="commentAuthors.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4209229057214459"/>
          <c:y val="0.17008554974016071"/>
          <c:w val="0.76635990391867759"/>
          <c:h val="0.52279921067958146"/>
        </c:manualLayout>
      </c:layout>
      <c:doughnutChart>
        <c:varyColors val="1"/>
        <c:ser>
          <c:idx val="0"/>
          <c:order val="0"/>
          <c:tx>
            <c:strRef>
              <c:f>Sheet1!$B$1</c:f>
              <c:strCache>
                <c:ptCount val="1"/>
                <c:pt idx="0">
                  <c:v>Column1</c:v>
                </c:pt>
              </c:strCache>
            </c:strRef>
          </c:tx>
          <c:spPr>
            <a:solidFill>
              <a:srgbClr val="00B050"/>
            </a:solidFill>
          </c:spPr>
          <c:dPt>
            <c:idx val="0"/>
            <c:bubble3D val="0"/>
            <c:spPr>
              <a:solidFill>
                <a:srgbClr val="00B050"/>
              </a:solidFill>
              <a:ln w="19050">
                <a:solidFill>
                  <a:schemeClr val="lt1"/>
                </a:solidFill>
              </a:ln>
              <a:effectLst/>
            </c:spPr>
            <c:extLst>
              <c:ext xmlns:c16="http://schemas.microsoft.com/office/drawing/2014/chart" uri="{C3380CC4-5D6E-409C-BE32-E72D297353CC}">
                <c16:uniqueId val="{00000002-4F86-488B-ABCD-4883404238C2}"/>
              </c:ext>
            </c:extLst>
          </c:dPt>
          <c:dPt>
            <c:idx val="1"/>
            <c:bubble3D val="0"/>
            <c:spPr>
              <a:solidFill>
                <a:srgbClr val="FFC000"/>
              </a:solidFill>
              <a:ln w="19050">
                <a:solidFill>
                  <a:schemeClr val="lt1"/>
                </a:solidFill>
              </a:ln>
              <a:effectLst/>
            </c:spPr>
            <c:extLst>
              <c:ext xmlns:c16="http://schemas.microsoft.com/office/drawing/2014/chart" uri="{C3380CC4-5D6E-409C-BE32-E72D297353CC}">
                <c16:uniqueId val="{00000001-4F86-488B-ABCD-4883404238C2}"/>
              </c:ext>
            </c:extLst>
          </c:dPt>
          <c:dPt>
            <c:idx val="2"/>
            <c:bubble3D val="0"/>
            <c:spPr>
              <a:solidFill>
                <a:srgbClr val="FF0000"/>
              </a:solidFill>
              <a:ln w="19050">
                <a:solidFill>
                  <a:schemeClr val="lt1"/>
                </a:solidFill>
              </a:ln>
              <a:effectLst/>
            </c:spPr>
            <c:extLst>
              <c:ext xmlns:c16="http://schemas.microsoft.com/office/drawing/2014/chart" uri="{C3380CC4-5D6E-409C-BE32-E72D297353CC}">
                <c16:uniqueId val="{00000003-4F86-488B-ABCD-4883404238C2}"/>
              </c:ext>
            </c:extLst>
          </c:dPt>
          <c:dPt>
            <c:idx val="3"/>
            <c:bubble3D val="0"/>
            <c:spPr>
              <a:solidFill>
                <a:schemeClr val="bg1">
                  <a:lumMod val="50000"/>
                </a:schemeClr>
              </a:solidFill>
              <a:ln w="19050">
                <a:solidFill>
                  <a:schemeClr val="lt1"/>
                </a:solidFill>
              </a:ln>
              <a:effectLst/>
            </c:spPr>
            <c:extLst>
              <c:ext xmlns:c16="http://schemas.microsoft.com/office/drawing/2014/chart" uri="{C3380CC4-5D6E-409C-BE32-E72D297353CC}">
                <c16:uniqueId val="{00000006-84A3-4476-8F6D-F9800B3B737B}"/>
              </c:ext>
            </c:extLst>
          </c:dPt>
          <c:dLbls>
            <c:dLbl>
              <c:idx val="2"/>
              <c:layout>
                <c:manualLayout>
                  <c:x val="8.7478852580530481E-2"/>
                  <c:y val="2.652300387637878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4F86-488B-ABCD-4883404238C2}"/>
                </c:ext>
              </c:extLst>
            </c:dLbl>
            <c:spPr>
              <a:noFill/>
              <a:ln>
                <a:noFill/>
              </a:ln>
              <a:effectLst/>
            </c:spPr>
            <c:txPr>
              <a:bodyPr rot="0" spcFirstLastPara="1" vertOverflow="ellipsis" vert="horz" wrap="square" anchor="ctr" anchorCtr="1"/>
              <a:lstStyle/>
              <a:p>
                <a:pPr>
                  <a:defRPr sz="12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Agree</c:v>
                </c:pt>
                <c:pt idx="1">
                  <c:v>Agree but with further comments</c:v>
                </c:pt>
                <c:pt idx="2">
                  <c:v>Disagree</c:v>
                </c:pt>
                <c:pt idx="3">
                  <c:v>Unclear or no specific response</c:v>
                </c:pt>
              </c:strCache>
            </c:strRef>
          </c:cat>
          <c:val>
            <c:numRef>
              <c:f>Sheet1!$B$2:$B$5</c:f>
              <c:numCache>
                <c:formatCode>General</c:formatCode>
                <c:ptCount val="4"/>
                <c:pt idx="0">
                  <c:v>42</c:v>
                </c:pt>
                <c:pt idx="1">
                  <c:v>31</c:v>
                </c:pt>
                <c:pt idx="2">
                  <c:v>2</c:v>
                </c:pt>
                <c:pt idx="3">
                  <c:v>17</c:v>
                </c:pt>
              </c:numCache>
            </c:numRef>
          </c:val>
          <c:extLst>
            <c:ext xmlns:c16="http://schemas.microsoft.com/office/drawing/2014/chart" uri="{C3380CC4-5D6E-409C-BE32-E72D297353CC}">
              <c16:uniqueId val="{00000000-4F86-488B-ABCD-4883404238C2}"/>
            </c:ext>
          </c:extLst>
        </c:ser>
        <c:dLbls>
          <c:showLegendKey val="0"/>
          <c:showVal val="1"/>
          <c:showCatName val="0"/>
          <c:showSerName val="0"/>
          <c:showPercent val="0"/>
          <c:showBubbleSize val="0"/>
          <c:showLeaderLines val="1"/>
        </c:dLbls>
        <c:firstSliceAng val="0"/>
        <c:holeSize val="75"/>
      </c:doughnutChart>
      <c:spPr>
        <a:noFill/>
        <a:ln>
          <a:noFill/>
        </a:ln>
        <a:effectLst/>
      </c:spPr>
    </c:plotArea>
    <c:legend>
      <c:legendPos val="b"/>
      <c:layout>
        <c:manualLayout>
          <c:xMode val="edge"/>
          <c:yMode val="edge"/>
          <c:x val="0"/>
          <c:y val="0.72295965396877859"/>
          <c:w val="1"/>
          <c:h val="0.27704034603122146"/>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chart>
  <c:spPr>
    <a:noFill/>
    <a:ln>
      <a:noFill/>
    </a:ln>
    <a:effectLst/>
  </c:spPr>
  <c:txPr>
    <a:bodyPr/>
    <a:lstStyle/>
    <a:p>
      <a:pPr>
        <a:defRPr sz="1200">
          <a:latin typeface="Arial" panose="020B0604020202020204" pitchFamily="34" charset="0"/>
          <a:cs typeface="Arial" panose="020B0604020202020204" pitchFamily="34" charset="0"/>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4209229057214459"/>
          <c:y val="0.17008554974016071"/>
          <c:w val="0.76635990391867759"/>
          <c:h val="0.52279921067958146"/>
        </c:manualLayout>
      </c:layout>
      <c:doughnutChart>
        <c:varyColors val="1"/>
        <c:ser>
          <c:idx val="0"/>
          <c:order val="0"/>
          <c:tx>
            <c:strRef>
              <c:f>Sheet1!$B$1</c:f>
              <c:strCache>
                <c:ptCount val="1"/>
                <c:pt idx="0">
                  <c:v>Column1</c:v>
                </c:pt>
              </c:strCache>
            </c:strRef>
          </c:tx>
          <c:spPr>
            <a:solidFill>
              <a:srgbClr val="00B050"/>
            </a:solidFill>
          </c:spPr>
          <c:dPt>
            <c:idx val="0"/>
            <c:bubble3D val="0"/>
            <c:spPr>
              <a:solidFill>
                <a:srgbClr val="00B050"/>
              </a:solidFill>
              <a:ln w="19050">
                <a:solidFill>
                  <a:schemeClr val="lt1"/>
                </a:solidFill>
              </a:ln>
              <a:effectLst/>
            </c:spPr>
            <c:extLst>
              <c:ext xmlns:c16="http://schemas.microsoft.com/office/drawing/2014/chart" uri="{C3380CC4-5D6E-409C-BE32-E72D297353CC}">
                <c16:uniqueId val="{00000002-4F86-488B-ABCD-4883404238C2}"/>
              </c:ext>
            </c:extLst>
          </c:dPt>
          <c:dPt>
            <c:idx val="1"/>
            <c:bubble3D val="0"/>
            <c:spPr>
              <a:solidFill>
                <a:srgbClr val="FFC000"/>
              </a:solidFill>
              <a:ln w="19050">
                <a:solidFill>
                  <a:schemeClr val="lt1"/>
                </a:solidFill>
              </a:ln>
              <a:effectLst/>
            </c:spPr>
            <c:extLst>
              <c:ext xmlns:c16="http://schemas.microsoft.com/office/drawing/2014/chart" uri="{C3380CC4-5D6E-409C-BE32-E72D297353CC}">
                <c16:uniqueId val="{00000001-4F86-488B-ABCD-4883404238C2}"/>
              </c:ext>
            </c:extLst>
          </c:dPt>
          <c:dPt>
            <c:idx val="2"/>
            <c:bubble3D val="0"/>
            <c:spPr>
              <a:solidFill>
                <a:srgbClr val="FF0000"/>
              </a:solidFill>
              <a:ln w="19050">
                <a:solidFill>
                  <a:schemeClr val="lt1"/>
                </a:solidFill>
              </a:ln>
              <a:effectLst/>
            </c:spPr>
            <c:extLst>
              <c:ext xmlns:c16="http://schemas.microsoft.com/office/drawing/2014/chart" uri="{C3380CC4-5D6E-409C-BE32-E72D297353CC}">
                <c16:uniqueId val="{00000003-4F86-488B-ABCD-4883404238C2}"/>
              </c:ext>
            </c:extLst>
          </c:dPt>
          <c:dPt>
            <c:idx val="3"/>
            <c:bubble3D val="0"/>
            <c:spPr>
              <a:solidFill>
                <a:schemeClr val="bg1">
                  <a:lumMod val="50000"/>
                </a:schemeClr>
              </a:solidFill>
              <a:ln w="19050">
                <a:solidFill>
                  <a:schemeClr val="lt1"/>
                </a:solidFill>
              </a:ln>
              <a:effectLst/>
            </c:spPr>
            <c:extLst>
              <c:ext xmlns:c16="http://schemas.microsoft.com/office/drawing/2014/chart" uri="{C3380CC4-5D6E-409C-BE32-E72D297353CC}">
                <c16:uniqueId val="{00000006-84A3-4476-8F6D-F9800B3B737B}"/>
              </c:ext>
            </c:extLst>
          </c:dPt>
          <c:dLbls>
            <c:dLbl>
              <c:idx val="1"/>
              <c:layout>
                <c:manualLayout>
                  <c:x val="-0.10691859759842623"/>
                  <c:y val="2.652300387637878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4F86-488B-ABCD-4883404238C2}"/>
                </c:ext>
              </c:extLst>
            </c:dLbl>
            <c:spPr>
              <a:noFill/>
              <a:ln>
                <a:noFill/>
              </a:ln>
              <a:effectLst/>
            </c:spPr>
            <c:txPr>
              <a:bodyPr rot="0" spcFirstLastPara="1" vertOverflow="ellipsis" vert="horz" wrap="square" anchor="ctr" anchorCtr="1"/>
              <a:lstStyle/>
              <a:p>
                <a:pPr>
                  <a:defRPr sz="12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Agree</c:v>
                </c:pt>
                <c:pt idx="1">
                  <c:v>Agree but with further comments</c:v>
                </c:pt>
                <c:pt idx="2">
                  <c:v>Disagree</c:v>
                </c:pt>
                <c:pt idx="3">
                  <c:v>Unclear or no specific response</c:v>
                </c:pt>
              </c:strCache>
            </c:strRef>
          </c:cat>
          <c:val>
            <c:numRef>
              <c:f>Sheet1!$B$2:$B$5</c:f>
              <c:numCache>
                <c:formatCode>General</c:formatCode>
                <c:ptCount val="4"/>
                <c:pt idx="0">
                  <c:v>19</c:v>
                </c:pt>
                <c:pt idx="1">
                  <c:v>2</c:v>
                </c:pt>
                <c:pt idx="2">
                  <c:v>29</c:v>
                </c:pt>
                <c:pt idx="3">
                  <c:v>42</c:v>
                </c:pt>
              </c:numCache>
            </c:numRef>
          </c:val>
          <c:extLst>
            <c:ext xmlns:c16="http://schemas.microsoft.com/office/drawing/2014/chart" uri="{C3380CC4-5D6E-409C-BE32-E72D297353CC}">
              <c16:uniqueId val="{00000000-4F86-488B-ABCD-4883404238C2}"/>
            </c:ext>
          </c:extLst>
        </c:ser>
        <c:dLbls>
          <c:showLegendKey val="0"/>
          <c:showVal val="1"/>
          <c:showCatName val="0"/>
          <c:showSerName val="0"/>
          <c:showPercent val="0"/>
          <c:showBubbleSize val="0"/>
          <c:showLeaderLines val="1"/>
        </c:dLbls>
        <c:firstSliceAng val="0"/>
        <c:holeSize val="75"/>
      </c:doughnutChart>
      <c:spPr>
        <a:noFill/>
        <a:ln>
          <a:noFill/>
        </a:ln>
        <a:effectLst/>
      </c:spPr>
    </c:plotArea>
    <c:legend>
      <c:legendPos val="b"/>
      <c:layout>
        <c:manualLayout>
          <c:xMode val="edge"/>
          <c:yMode val="edge"/>
          <c:x val="0"/>
          <c:y val="0.72295965396877859"/>
          <c:w val="1"/>
          <c:h val="0.27704034603122146"/>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chart>
  <c:spPr>
    <a:noFill/>
    <a:ln>
      <a:noFill/>
    </a:ln>
    <a:effectLst/>
  </c:spPr>
  <c:txPr>
    <a:bodyPr/>
    <a:lstStyle/>
    <a:p>
      <a:pPr>
        <a:defRPr sz="1200">
          <a:latin typeface="Arial" panose="020B0604020202020204" pitchFamily="34" charset="0"/>
          <a:cs typeface="Arial" panose="020B0604020202020204" pitchFamily="34" charset="0"/>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92" tIns="46246" rIns="92492" bIns="46246" rtlCol="0"/>
          <a:lstStyle>
            <a:lvl1pPr algn="l">
              <a:defRPr sz="1200"/>
            </a:lvl1pPr>
          </a:lstStyle>
          <a:p>
            <a:endParaRPr lang="en-US" dirty="0"/>
          </a:p>
        </p:txBody>
      </p:sp>
      <p:sp>
        <p:nvSpPr>
          <p:cNvPr id="3" name="Date Placeholder 2"/>
          <p:cNvSpPr>
            <a:spLocks noGrp="1"/>
          </p:cNvSpPr>
          <p:nvPr>
            <p:ph type="dt" sz="quarter" idx="1"/>
          </p:nvPr>
        </p:nvSpPr>
        <p:spPr>
          <a:xfrm>
            <a:off x="3936768" y="0"/>
            <a:ext cx="3011699" cy="461804"/>
          </a:xfrm>
          <a:prstGeom prst="rect">
            <a:avLst/>
          </a:prstGeom>
        </p:spPr>
        <p:txBody>
          <a:bodyPr vert="horz" lIns="92492" tIns="46246" rIns="92492" bIns="46246" rtlCol="0"/>
          <a:lstStyle>
            <a:lvl1pPr algn="r">
              <a:defRPr sz="1200"/>
            </a:lvl1pPr>
          </a:lstStyle>
          <a:p>
            <a:fld id="{1E59F908-4FD1-BC49-B361-D833AB0555FC}" type="datetimeFigureOut">
              <a:rPr lang="en-US" smtClean="0"/>
              <a:t>12/13/2019</a:t>
            </a:fld>
            <a:endParaRPr lang="en-US" dirty="0"/>
          </a:p>
        </p:txBody>
      </p:sp>
      <p:sp>
        <p:nvSpPr>
          <p:cNvPr id="4" name="Footer Placeholder 3"/>
          <p:cNvSpPr>
            <a:spLocks noGrp="1"/>
          </p:cNvSpPr>
          <p:nvPr>
            <p:ph type="ftr" sz="quarter" idx="2"/>
          </p:nvPr>
        </p:nvSpPr>
        <p:spPr>
          <a:xfrm>
            <a:off x="0" y="8772668"/>
            <a:ext cx="3011699" cy="461804"/>
          </a:xfrm>
          <a:prstGeom prst="rect">
            <a:avLst/>
          </a:prstGeom>
        </p:spPr>
        <p:txBody>
          <a:bodyPr vert="horz" lIns="92492" tIns="46246" rIns="92492" bIns="46246"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36768" y="8772668"/>
            <a:ext cx="3011699" cy="461804"/>
          </a:xfrm>
          <a:prstGeom prst="rect">
            <a:avLst/>
          </a:prstGeom>
        </p:spPr>
        <p:txBody>
          <a:bodyPr vert="horz" lIns="92492" tIns="46246" rIns="92492" bIns="46246" rtlCol="0" anchor="b"/>
          <a:lstStyle>
            <a:lvl1pPr algn="r">
              <a:defRPr sz="1200"/>
            </a:lvl1pPr>
          </a:lstStyle>
          <a:p>
            <a:fld id="{EA8AE4AE-12A8-4846-97A9-6CB7DEDDF69D}" type="slidenum">
              <a:rPr lang="en-US" smtClean="0"/>
              <a:t>‹#›</a:t>
            </a:fld>
            <a:endParaRPr lang="en-US" dirty="0"/>
          </a:p>
        </p:txBody>
      </p:sp>
    </p:spTree>
    <p:extLst>
      <p:ext uri="{BB962C8B-B14F-4D97-AF65-F5344CB8AC3E}">
        <p14:creationId xmlns:p14="http://schemas.microsoft.com/office/powerpoint/2010/main" val="243532852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92" tIns="46246" rIns="92492" bIns="46246" rtlCol="0"/>
          <a:lstStyle>
            <a:lvl1pPr algn="l">
              <a:defRPr sz="1200"/>
            </a:lvl1pPr>
          </a:lstStyle>
          <a:p>
            <a:endParaRPr lang="en-US" dirty="0"/>
          </a:p>
        </p:txBody>
      </p:sp>
      <p:sp>
        <p:nvSpPr>
          <p:cNvPr id="3" name="Date Placeholder 2"/>
          <p:cNvSpPr>
            <a:spLocks noGrp="1"/>
          </p:cNvSpPr>
          <p:nvPr>
            <p:ph type="dt" idx="1"/>
          </p:nvPr>
        </p:nvSpPr>
        <p:spPr>
          <a:xfrm>
            <a:off x="3936768" y="0"/>
            <a:ext cx="3011699" cy="461804"/>
          </a:xfrm>
          <a:prstGeom prst="rect">
            <a:avLst/>
          </a:prstGeom>
        </p:spPr>
        <p:txBody>
          <a:bodyPr vert="horz" lIns="92492" tIns="46246" rIns="92492" bIns="46246" rtlCol="0"/>
          <a:lstStyle>
            <a:lvl1pPr algn="r">
              <a:defRPr sz="1200"/>
            </a:lvl1pPr>
          </a:lstStyle>
          <a:p>
            <a:fld id="{7745D6F9-5033-7542-84AC-41926A84456D}" type="datetimeFigureOut">
              <a:rPr lang="en-US" smtClean="0"/>
              <a:t>12/13/2019</a:t>
            </a:fld>
            <a:endParaRPr lang="en-US" dirty="0"/>
          </a:p>
        </p:txBody>
      </p:sp>
      <p:sp>
        <p:nvSpPr>
          <p:cNvPr id="4" name="Slide Image Placeholder 3"/>
          <p:cNvSpPr>
            <a:spLocks noGrp="1" noRot="1" noChangeAspect="1"/>
          </p:cNvSpPr>
          <p:nvPr>
            <p:ph type="sldImg" idx="2"/>
          </p:nvPr>
        </p:nvSpPr>
        <p:spPr>
          <a:xfrm>
            <a:off x="396875" y="692150"/>
            <a:ext cx="6156325" cy="3463925"/>
          </a:xfrm>
          <a:prstGeom prst="rect">
            <a:avLst/>
          </a:prstGeom>
          <a:noFill/>
          <a:ln w="12700">
            <a:solidFill>
              <a:prstClr val="black"/>
            </a:solidFill>
          </a:ln>
        </p:spPr>
        <p:txBody>
          <a:bodyPr vert="horz" lIns="92492" tIns="46246" rIns="92492" bIns="46246" rtlCol="0" anchor="ctr"/>
          <a:lstStyle/>
          <a:p>
            <a:endParaRPr lang="en-US" dirty="0"/>
          </a:p>
        </p:txBody>
      </p:sp>
      <p:sp>
        <p:nvSpPr>
          <p:cNvPr id="5" name="Notes Placeholder 4"/>
          <p:cNvSpPr>
            <a:spLocks noGrp="1"/>
          </p:cNvSpPr>
          <p:nvPr>
            <p:ph type="body" sz="quarter" idx="3"/>
          </p:nvPr>
        </p:nvSpPr>
        <p:spPr>
          <a:xfrm>
            <a:off x="695008" y="4387136"/>
            <a:ext cx="5560060" cy="4156234"/>
          </a:xfrm>
          <a:prstGeom prst="rect">
            <a:avLst/>
          </a:prstGeom>
        </p:spPr>
        <p:txBody>
          <a:bodyPr vert="horz" lIns="92492" tIns="46246" rIns="92492" bIns="4624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8"/>
            <a:ext cx="3011699" cy="461804"/>
          </a:xfrm>
          <a:prstGeom prst="rect">
            <a:avLst/>
          </a:prstGeom>
        </p:spPr>
        <p:txBody>
          <a:bodyPr vert="horz" lIns="92492" tIns="46246" rIns="92492" bIns="46246"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36768" y="8772668"/>
            <a:ext cx="3011699" cy="461804"/>
          </a:xfrm>
          <a:prstGeom prst="rect">
            <a:avLst/>
          </a:prstGeom>
        </p:spPr>
        <p:txBody>
          <a:bodyPr vert="horz" lIns="92492" tIns="46246" rIns="92492" bIns="46246" rtlCol="0" anchor="b"/>
          <a:lstStyle>
            <a:lvl1pPr algn="r">
              <a:defRPr sz="1200"/>
            </a:lvl1pPr>
          </a:lstStyle>
          <a:p>
            <a:fld id="{4D410189-AC31-7546-878A-F48FDE4A29F5}" type="slidenum">
              <a:rPr lang="en-US" smtClean="0"/>
              <a:t>‹#›</a:t>
            </a:fld>
            <a:endParaRPr lang="en-US" dirty="0"/>
          </a:p>
        </p:txBody>
      </p:sp>
    </p:spTree>
    <p:extLst>
      <p:ext uri="{BB962C8B-B14F-4D97-AF65-F5344CB8AC3E}">
        <p14:creationId xmlns:p14="http://schemas.microsoft.com/office/powerpoint/2010/main" val="525539108"/>
      </p:ext>
    </p:extLst>
  </p:cSld>
  <p:clrMap bg1="lt1" tx1="dk1" bg2="lt2" tx2="dk2" accent1="accent1" accent2="accent2" accent3="accent3" accent4="accent4" accent5="accent5" accent6="accent6" hlink="hlink" folHlink="folHlink"/>
  <p:hf hdr="0" ftr="0" dt="0"/>
  <p:notesStyle>
    <a:lvl1pPr marL="0" algn="l" defTabSz="342900" rtl="0" eaLnBrk="1" latinLnBrk="0" hangingPunct="1">
      <a:defRPr sz="900" kern="1200">
        <a:solidFill>
          <a:schemeClr val="tx1"/>
        </a:solidFill>
        <a:latin typeface="+mn-lt"/>
        <a:ea typeface="+mn-ea"/>
        <a:cs typeface="+mn-cs"/>
      </a:defRPr>
    </a:lvl1pPr>
    <a:lvl2pPr marL="342900" algn="l" defTabSz="342900" rtl="0" eaLnBrk="1" latinLnBrk="0" hangingPunct="1">
      <a:defRPr sz="900" kern="1200">
        <a:solidFill>
          <a:schemeClr val="tx1"/>
        </a:solidFill>
        <a:latin typeface="+mn-lt"/>
        <a:ea typeface="+mn-ea"/>
        <a:cs typeface="+mn-cs"/>
      </a:defRPr>
    </a:lvl2pPr>
    <a:lvl3pPr marL="685800" algn="l" defTabSz="342900" rtl="0" eaLnBrk="1" latinLnBrk="0" hangingPunct="1">
      <a:defRPr sz="900" kern="1200">
        <a:solidFill>
          <a:schemeClr val="tx1"/>
        </a:solidFill>
        <a:latin typeface="+mn-lt"/>
        <a:ea typeface="+mn-ea"/>
        <a:cs typeface="+mn-cs"/>
      </a:defRPr>
    </a:lvl3pPr>
    <a:lvl4pPr marL="1028700" algn="l" defTabSz="342900" rtl="0" eaLnBrk="1" latinLnBrk="0" hangingPunct="1">
      <a:defRPr sz="900" kern="1200">
        <a:solidFill>
          <a:schemeClr val="tx1"/>
        </a:solidFill>
        <a:latin typeface="+mn-lt"/>
        <a:ea typeface="+mn-ea"/>
        <a:cs typeface="+mn-cs"/>
      </a:defRPr>
    </a:lvl4pPr>
    <a:lvl5pPr marL="1371600" algn="l" defTabSz="342900" rtl="0" eaLnBrk="1" latinLnBrk="0" hangingPunct="1">
      <a:defRPr sz="900" kern="1200">
        <a:solidFill>
          <a:schemeClr val="tx1"/>
        </a:solidFill>
        <a:latin typeface="+mn-lt"/>
        <a:ea typeface="+mn-ea"/>
        <a:cs typeface="+mn-cs"/>
      </a:defRPr>
    </a:lvl5pPr>
    <a:lvl6pPr marL="1714500" algn="l" defTabSz="342900" rtl="0" eaLnBrk="1" latinLnBrk="0" hangingPunct="1">
      <a:defRPr sz="900" kern="1200">
        <a:solidFill>
          <a:schemeClr val="tx1"/>
        </a:solidFill>
        <a:latin typeface="+mn-lt"/>
        <a:ea typeface="+mn-ea"/>
        <a:cs typeface="+mn-cs"/>
      </a:defRPr>
    </a:lvl6pPr>
    <a:lvl7pPr marL="2057400" algn="l" defTabSz="342900" rtl="0" eaLnBrk="1" latinLnBrk="0" hangingPunct="1">
      <a:defRPr sz="900" kern="1200">
        <a:solidFill>
          <a:schemeClr val="tx1"/>
        </a:solidFill>
        <a:latin typeface="+mn-lt"/>
        <a:ea typeface="+mn-ea"/>
        <a:cs typeface="+mn-cs"/>
      </a:defRPr>
    </a:lvl7pPr>
    <a:lvl8pPr marL="2400300" algn="l" defTabSz="342900" rtl="0" eaLnBrk="1" latinLnBrk="0" hangingPunct="1">
      <a:defRPr sz="900" kern="1200">
        <a:solidFill>
          <a:schemeClr val="tx1"/>
        </a:solidFill>
        <a:latin typeface="+mn-lt"/>
        <a:ea typeface="+mn-ea"/>
        <a:cs typeface="+mn-cs"/>
      </a:defRPr>
    </a:lvl8pPr>
    <a:lvl9pPr marL="2743200" algn="l" defTabSz="3429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indent="0" algn="just">
              <a:lnSpc>
                <a:spcPts val="1400"/>
              </a:lnSpc>
              <a:spcBef>
                <a:spcPts val="600"/>
              </a:spcBef>
              <a:buFont typeface="Arial" panose="020B0604020202020204" pitchFamily="34" charset="0"/>
              <a:buNone/>
            </a:pPr>
            <a:endParaRPr lang="en-US" sz="1000" baseline="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pPr>
              <a:defRPr/>
            </a:pPr>
            <a:fld id="{F177551F-2C26-5D4E-AA97-F437309E4641}" type="slidenum">
              <a:rPr lang="en-US" smtClean="0"/>
              <a:pPr>
                <a:defRPr/>
              </a:pPr>
              <a:t>1</a:t>
            </a:fld>
            <a:endParaRPr lang="en-US" dirty="0"/>
          </a:p>
        </p:txBody>
      </p:sp>
    </p:spTree>
    <p:extLst>
      <p:ext uri="{BB962C8B-B14F-4D97-AF65-F5344CB8AC3E}">
        <p14:creationId xmlns:p14="http://schemas.microsoft.com/office/powerpoint/2010/main" val="38153918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7472" lvl="0" indent="-347472" algn="just">
              <a:lnSpc>
                <a:spcPts val="1400"/>
              </a:lnSpc>
              <a:spcBef>
                <a:spcPts val="600"/>
              </a:spcBef>
              <a:buFont typeface="Arial" panose="020B0604020202020204" pitchFamily="34" charset="0"/>
              <a:buChar char="•"/>
            </a:pPr>
            <a:r>
              <a:rPr lang="en-US" sz="1000" kern="1200" dirty="0">
                <a:solidFill>
                  <a:schemeClr val="tx1"/>
                </a:solidFill>
                <a:effectLst/>
                <a:latin typeface="Arial" panose="020B0604020202020204" pitchFamily="34" charset="0"/>
                <a:ea typeface="+mn-ea"/>
                <a:cs typeface="Arial" panose="020B0604020202020204" pitchFamily="34" charset="0"/>
              </a:rPr>
              <a:t>The focus of the discussion for this meeting will be on the issues presented in </a:t>
            </a:r>
            <a:r>
              <a:rPr lang="en-US" sz="1000" b="1" kern="1200" dirty="0">
                <a:solidFill>
                  <a:schemeClr val="tx1"/>
                </a:solidFill>
                <a:effectLst/>
                <a:latin typeface="Arial" panose="020B0604020202020204" pitchFamily="34" charset="0"/>
                <a:ea typeface="+mn-ea"/>
                <a:cs typeface="Arial" panose="020B0604020202020204" pitchFamily="34" charset="0"/>
              </a:rPr>
              <a:t>Section II </a:t>
            </a:r>
            <a:r>
              <a:rPr lang="en-US" sz="1000" kern="1200" dirty="0">
                <a:solidFill>
                  <a:schemeClr val="tx1"/>
                </a:solidFill>
                <a:effectLst/>
                <a:latin typeface="Arial" panose="020B0604020202020204" pitchFamily="34" charset="0"/>
                <a:ea typeface="+mn-ea"/>
                <a:cs typeface="Arial" panose="020B0604020202020204" pitchFamily="34" charset="0"/>
              </a:rPr>
              <a:t>of the Issues Paper.</a:t>
            </a:r>
          </a:p>
          <a:p>
            <a:pPr marL="690372" lvl="1" indent="-347472" algn="just">
              <a:lnSpc>
                <a:spcPts val="1400"/>
              </a:lnSpc>
              <a:spcBef>
                <a:spcPts val="600"/>
              </a:spcBef>
              <a:buFont typeface="Courier New" panose="02070309020205020404" pitchFamily="49" charset="0"/>
              <a:buChar char="o"/>
            </a:pPr>
            <a:r>
              <a:rPr lang="en-US" sz="1000" kern="1200" dirty="0">
                <a:solidFill>
                  <a:schemeClr val="tx1"/>
                </a:solidFill>
                <a:effectLst/>
                <a:latin typeface="Arial" panose="020B0604020202020204" pitchFamily="34" charset="0"/>
                <a:ea typeface="+mn-ea"/>
                <a:cs typeface="Arial" panose="020B0604020202020204" pitchFamily="34" charset="0"/>
              </a:rPr>
              <a:t>However, the Task Force has provided the marked and clean versions of the complete draft of proposed ISQM 2, and welcomes offline comments from the IAASB to help the Task Force in its discussions post-December on the standard.</a:t>
            </a:r>
          </a:p>
          <a:p>
            <a:pPr marL="690372" lvl="1" indent="-347472" algn="just">
              <a:lnSpc>
                <a:spcPts val="1400"/>
              </a:lnSpc>
              <a:spcBef>
                <a:spcPts val="600"/>
              </a:spcBef>
              <a:buFont typeface="Courier New" panose="02070309020205020404" pitchFamily="49" charset="0"/>
              <a:buChar char="o"/>
            </a:pPr>
            <a:r>
              <a:rPr lang="en-US" sz="1000" kern="1200" dirty="0">
                <a:solidFill>
                  <a:schemeClr val="tx1"/>
                </a:solidFill>
                <a:effectLst/>
                <a:latin typeface="Arial" panose="020B0604020202020204" pitchFamily="34" charset="0"/>
                <a:ea typeface="+mn-ea"/>
                <a:cs typeface="Arial" panose="020B0604020202020204" pitchFamily="34" charset="0"/>
              </a:rPr>
              <a:t>The Task Force requests Board members to submit written comments on the draft by no later than December 20, 2019, but would appreciate if comments could be submitted earlier if possible. </a:t>
            </a:r>
          </a:p>
          <a:p>
            <a:pPr marL="347472" indent="-347472" algn="just">
              <a:lnSpc>
                <a:spcPts val="1400"/>
              </a:lnSpc>
              <a:spcBef>
                <a:spcPts val="600"/>
              </a:spcBef>
              <a:buFont typeface="Arial" panose="020B0604020202020204" pitchFamily="34" charset="0"/>
              <a:buChar char="•"/>
            </a:pPr>
            <a:r>
              <a:rPr lang="en-US" sz="1000" kern="1200" dirty="0">
                <a:solidFill>
                  <a:schemeClr val="tx1"/>
                </a:solidFill>
                <a:effectLst/>
                <a:latin typeface="Arial" panose="020B0604020202020204" pitchFamily="34" charset="0"/>
                <a:ea typeface="+mn-ea"/>
                <a:cs typeface="Arial" panose="020B0604020202020204" pitchFamily="34" charset="0"/>
              </a:rPr>
              <a:t>As noted above, if time permits, the Task Force also will seek feedback from the IAASB on the draft of proposed ISQM 2, as described in </a:t>
            </a:r>
            <a:r>
              <a:rPr lang="en-US" sz="1000" b="1" kern="1200" dirty="0">
                <a:solidFill>
                  <a:schemeClr val="tx1"/>
                </a:solidFill>
                <a:effectLst/>
                <a:latin typeface="Arial" panose="020B0604020202020204" pitchFamily="34" charset="0"/>
                <a:ea typeface="+mn-ea"/>
                <a:cs typeface="Arial" panose="020B0604020202020204" pitchFamily="34" charset="0"/>
              </a:rPr>
              <a:t>Section III</a:t>
            </a:r>
            <a:r>
              <a:rPr lang="en-US" sz="1000" kern="1200" dirty="0">
                <a:solidFill>
                  <a:schemeClr val="tx1"/>
                </a:solidFill>
                <a:effectLst/>
                <a:latin typeface="Arial" panose="020B0604020202020204" pitchFamily="34" charset="0"/>
                <a:ea typeface="+mn-ea"/>
                <a:cs typeface="Arial" panose="020B0604020202020204" pitchFamily="34" charset="0"/>
              </a:rPr>
              <a:t> of the Issues Paper.</a:t>
            </a:r>
          </a:p>
          <a:p>
            <a:pPr marL="690372" lvl="1" indent="-347472" algn="just">
              <a:lnSpc>
                <a:spcPts val="1400"/>
              </a:lnSpc>
              <a:spcBef>
                <a:spcPts val="600"/>
              </a:spcBef>
              <a:buFont typeface="Courier New" panose="02070309020205020404" pitchFamily="49" charset="0"/>
              <a:buChar char="o"/>
            </a:pPr>
            <a:r>
              <a:rPr lang="en-US" sz="1000" b="1" kern="1200" dirty="0">
                <a:solidFill>
                  <a:schemeClr val="tx1"/>
                </a:solidFill>
                <a:effectLst/>
                <a:latin typeface="Arial" panose="020B0604020202020204" pitchFamily="34" charset="0"/>
                <a:ea typeface="+mn-ea"/>
                <a:cs typeface="Arial" panose="020B0604020202020204" pitchFamily="34" charset="0"/>
              </a:rPr>
              <a:t>Agenda Item 8-C </a:t>
            </a:r>
            <a:r>
              <a:rPr lang="en-US" sz="1000" kern="1200" dirty="0">
                <a:solidFill>
                  <a:schemeClr val="tx1"/>
                </a:solidFill>
                <a:effectLst/>
                <a:latin typeface="Arial" panose="020B0604020202020204" pitchFamily="34" charset="0"/>
                <a:ea typeface="+mn-ea"/>
                <a:cs typeface="Arial" panose="020B0604020202020204" pitchFamily="34" charset="0"/>
              </a:rPr>
              <a:t>(Discussion of Significant Changes to Requirements and Application Material) and </a:t>
            </a:r>
            <a:r>
              <a:rPr lang="en-US" sz="1000" b="1" kern="1200" dirty="0">
                <a:solidFill>
                  <a:schemeClr val="tx1"/>
                </a:solidFill>
                <a:effectLst/>
                <a:latin typeface="Arial" panose="020B0604020202020204" pitchFamily="34" charset="0"/>
                <a:ea typeface="+mn-ea"/>
                <a:cs typeface="Arial" panose="020B0604020202020204" pitchFamily="34" charset="0"/>
              </a:rPr>
              <a:t>Agenda Item 8-F</a:t>
            </a:r>
            <a:r>
              <a:rPr lang="en-US" sz="1000" kern="1200" dirty="0">
                <a:solidFill>
                  <a:schemeClr val="tx1"/>
                </a:solidFill>
                <a:effectLst/>
                <a:latin typeface="Arial" panose="020B0604020202020204" pitchFamily="34" charset="0"/>
                <a:ea typeface="+mn-ea"/>
                <a:cs typeface="Arial" panose="020B0604020202020204" pitchFamily="34" charset="0"/>
              </a:rPr>
              <a:t> (Overview of Responses to ED-ISQM 2) are key papers for this section.</a:t>
            </a:r>
          </a:p>
          <a:p>
            <a:pPr marL="690372" lvl="1" indent="-347472" algn="just">
              <a:lnSpc>
                <a:spcPts val="1400"/>
              </a:lnSpc>
              <a:spcBef>
                <a:spcPts val="600"/>
              </a:spcBef>
              <a:buFont typeface="Courier New" panose="02070309020205020404" pitchFamily="49" charset="0"/>
              <a:buChar char="o"/>
            </a:pPr>
            <a:r>
              <a:rPr lang="en-US" sz="1000" kern="1200" dirty="0">
                <a:solidFill>
                  <a:schemeClr val="tx1"/>
                </a:solidFill>
                <a:effectLst/>
                <a:latin typeface="Arial" panose="020B0604020202020204" pitchFamily="34" charset="0"/>
                <a:ea typeface="+mn-ea"/>
                <a:cs typeface="Arial" panose="020B0604020202020204" pitchFamily="34" charset="0"/>
              </a:rPr>
              <a:t>These papers will assist Board members in understanding the significant changes in proposed ISQM 2, and the rationale for those changes, and will be used to facilitate Board discussion of </a:t>
            </a:r>
            <a:r>
              <a:rPr lang="en-US" sz="1000" b="1" kern="1200" dirty="0">
                <a:solidFill>
                  <a:schemeClr val="tx1"/>
                </a:solidFill>
                <a:effectLst/>
                <a:latin typeface="Arial" panose="020B0604020202020204" pitchFamily="34" charset="0"/>
                <a:ea typeface="+mn-ea"/>
                <a:cs typeface="Arial" panose="020B0604020202020204" pitchFamily="34" charset="0"/>
              </a:rPr>
              <a:t>Agenda Item 8-D</a:t>
            </a:r>
            <a:r>
              <a:rPr lang="en-US" sz="1000" kern="1200" dirty="0">
                <a:solidFill>
                  <a:schemeClr val="tx1"/>
                </a:solidFill>
                <a:effectLst/>
                <a:latin typeface="Arial" panose="020B0604020202020204" pitchFamily="34" charset="0"/>
                <a:ea typeface="+mn-ea"/>
                <a:cs typeface="Arial" panose="020B0604020202020204" pitchFamily="34" charset="0"/>
              </a:rPr>
              <a:t> as time permits.</a:t>
            </a:r>
            <a:endParaRPr lang="en-US" sz="10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2</a:t>
            </a:fld>
            <a:endParaRPr lang="en-US" dirty="0"/>
          </a:p>
        </p:txBody>
      </p:sp>
    </p:spTree>
    <p:extLst>
      <p:ext uri="{BB962C8B-B14F-4D97-AF65-F5344CB8AC3E}">
        <p14:creationId xmlns:p14="http://schemas.microsoft.com/office/powerpoint/2010/main" val="2753045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lgn="just" defTabSz="342900" rtl="0" eaLnBrk="1" fontAlgn="auto" latinLnBrk="0" hangingPunct="1">
              <a:lnSpc>
                <a:spcPts val="1400"/>
              </a:lnSpc>
              <a:spcBef>
                <a:spcPts val="600"/>
              </a:spcBef>
              <a:spcAft>
                <a:spcPts val="0"/>
              </a:spcAft>
              <a:buClrTx/>
              <a:buSzTx/>
              <a:buFont typeface="Arial" panose="020B0604020202020204" pitchFamily="34" charset="0"/>
              <a:buChar char="•"/>
              <a:tabLst/>
              <a:defRPr/>
            </a:pPr>
            <a:r>
              <a:rPr lang="en-US" sz="1000" u="none" strike="noStrike" kern="1200" dirty="0">
                <a:solidFill>
                  <a:schemeClr val="tx1"/>
                </a:solidFill>
                <a:effectLst/>
                <a:latin typeface="Arial" panose="020B0604020202020204" pitchFamily="34" charset="0"/>
                <a:ea typeface="+mn-ea"/>
                <a:cs typeface="Arial" panose="020B0604020202020204" pitchFamily="34" charset="0"/>
              </a:rPr>
              <a:t>The Task Force noted the Board’s general support for the reference to ‘nature of the entity,’ while recognizing that a few Board members had concerns about the distinction between this category and engagements for which an EQ review is an appropriate response to assessed quality risks.</a:t>
            </a:r>
          </a:p>
          <a:p>
            <a:pPr marL="342900" marR="0" lvl="0" indent="-342900" algn="just" defTabSz="342900" rtl="0" eaLnBrk="1" fontAlgn="auto" latinLnBrk="0" hangingPunct="1">
              <a:lnSpc>
                <a:spcPts val="1400"/>
              </a:lnSpc>
              <a:spcBef>
                <a:spcPts val="600"/>
              </a:spcBef>
              <a:spcAft>
                <a:spcPts val="0"/>
              </a:spcAft>
              <a:buClrTx/>
              <a:buSzTx/>
              <a:buFont typeface="Arial" panose="020B0604020202020204" pitchFamily="34" charset="0"/>
              <a:buChar char="•"/>
              <a:tabLst/>
              <a:defRPr/>
            </a:pPr>
            <a:r>
              <a:rPr lang="en-US" sz="1000" u="none" strike="noStrike" kern="1200" dirty="0">
                <a:solidFill>
                  <a:schemeClr val="tx1"/>
                </a:solidFill>
                <a:effectLst/>
                <a:latin typeface="Arial" panose="020B0604020202020204" pitchFamily="34" charset="0"/>
                <a:ea typeface="+mn-ea"/>
                <a:cs typeface="Arial" panose="020B0604020202020204" pitchFamily="34" charset="0"/>
              </a:rPr>
              <a:t>The Task Force also noted the strong support from the IAASB CAG that moving away from the concept of ‘significant public interest’ (SPI) in ED-ISQM 2 to ‘nature of the entity’ would address concerns raised about implementation challenges, particularly in the public sector.</a:t>
            </a:r>
          </a:p>
          <a:p>
            <a:pPr marL="342900" marR="0" lvl="0" indent="-342900" algn="just" defTabSz="342900" rtl="0" eaLnBrk="1" fontAlgn="auto" latinLnBrk="0" hangingPunct="1">
              <a:lnSpc>
                <a:spcPts val="1400"/>
              </a:lnSpc>
              <a:spcBef>
                <a:spcPts val="600"/>
              </a:spcBef>
              <a:spcAft>
                <a:spcPts val="0"/>
              </a:spcAft>
              <a:buClrTx/>
              <a:buSzTx/>
              <a:buFont typeface="Arial" panose="020B0604020202020204" pitchFamily="34" charset="0"/>
              <a:buChar char="•"/>
              <a:tabLst/>
              <a:defRPr/>
            </a:pPr>
            <a:r>
              <a:rPr lang="en-US" sz="1000" u="none" strike="noStrike" kern="1200" dirty="0">
                <a:solidFill>
                  <a:schemeClr val="tx1"/>
                </a:solidFill>
                <a:effectLst/>
                <a:latin typeface="Arial" panose="020B0604020202020204" pitchFamily="34" charset="0"/>
                <a:ea typeface="+mn-ea"/>
                <a:cs typeface="Arial" panose="020B0604020202020204" pitchFamily="34" charset="0"/>
              </a:rPr>
              <a:t>In view of the concerns raised by some Board members as described above, the Task Force considered whether the sub-requirements could be combined, </a:t>
            </a:r>
            <a:r>
              <a:rPr lang="en-US" sz="1000" i="1" u="none" strike="noStrike" kern="1200" dirty="0">
                <a:solidFill>
                  <a:schemeClr val="tx1"/>
                </a:solidFill>
                <a:effectLst/>
                <a:latin typeface="Arial" panose="020B0604020202020204" pitchFamily="34" charset="0"/>
                <a:ea typeface="+mn-ea"/>
                <a:cs typeface="Arial" panose="020B0604020202020204" pitchFamily="34" charset="0"/>
              </a:rPr>
              <a:t>i.e., have a single requirement for engagements for which the firm determines that an EQ review is an appropriate response to assessed quality risks</a:t>
            </a:r>
            <a:r>
              <a:rPr lang="en-US" sz="1000" u="none" strike="noStrike" kern="1200" dirty="0">
                <a:solidFill>
                  <a:schemeClr val="tx1"/>
                </a:solidFill>
                <a:effectLst/>
                <a:latin typeface="Arial" panose="020B0604020202020204" pitchFamily="34" charset="0"/>
                <a:ea typeface="+mn-ea"/>
                <a:cs typeface="Arial" panose="020B0604020202020204" pitchFamily="34" charset="0"/>
              </a:rPr>
              <a:t>.</a:t>
            </a:r>
          </a:p>
          <a:p>
            <a:pPr marL="342900" marR="0" lvl="0" indent="-342900" algn="just" defTabSz="342900" rtl="0" eaLnBrk="1" fontAlgn="auto" latinLnBrk="0" hangingPunct="1">
              <a:lnSpc>
                <a:spcPts val="1400"/>
              </a:lnSpc>
              <a:spcBef>
                <a:spcPts val="600"/>
              </a:spcBef>
              <a:spcAft>
                <a:spcPts val="0"/>
              </a:spcAft>
              <a:buClrTx/>
              <a:buSzTx/>
              <a:buFont typeface="Arial" panose="020B0604020202020204" pitchFamily="34" charset="0"/>
              <a:buChar char="•"/>
              <a:tabLst/>
              <a:defRPr/>
            </a:pPr>
            <a:r>
              <a:rPr lang="en-US" sz="1000" u="none" strike="noStrike" kern="1200" dirty="0">
                <a:solidFill>
                  <a:schemeClr val="tx1"/>
                </a:solidFill>
                <a:effectLst/>
                <a:latin typeface="Arial" panose="020B0604020202020204" pitchFamily="34" charset="0"/>
                <a:ea typeface="+mn-ea"/>
                <a:cs typeface="Arial" panose="020B0604020202020204" pitchFamily="34" charset="0"/>
              </a:rPr>
              <a:t>After further discussion, the Task Force continues to believe that a category separate from assessed quality risks should be retained because it is consistent with:</a:t>
            </a:r>
          </a:p>
          <a:p>
            <a:pPr marL="685800" marR="0" lvl="1" indent="-342900" algn="just" defTabSz="342900" rtl="0" eaLnBrk="1" fontAlgn="auto" latinLnBrk="0" hangingPunct="1">
              <a:lnSpc>
                <a:spcPts val="1400"/>
              </a:lnSpc>
              <a:spcBef>
                <a:spcPts val="600"/>
              </a:spcBef>
              <a:spcAft>
                <a:spcPts val="0"/>
              </a:spcAft>
              <a:buClrTx/>
              <a:buSzTx/>
              <a:buFont typeface="Courier New" panose="02070309020205020404" pitchFamily="49" charset="0"/>
              <a:buChar char="o"/>
              <a:tabLst/>
              <a:defRPr/>
            </a:pPr>
            <a:r>
              <a:rPr lang="en-US" sz="1000" kern="1200" dirty="0">
                <a:solidFill>
                  <a:schemeClr val="tx1"/>
                </a:solidFill>
                <a:effectLst/>
                <a:latin typeface="Arial" panose="020B0604020202020204" pitchFamily="34" charset="0"/>
                <a:ea typeface="+mn-ea"/>
                <a:cs typeface="Arial" panose="020B0604020202020204" pitchFamily="34" charset="0"/>
              </a:rPr>
              <a:t>The stated objective of the project, in the public interest, to extend the requirement for an  EQ review to more engagements; and </a:t>
            </a:r>
          </a:p>
          <a:p>
            <a:pPr marL="685800" marR="0" lvl="1" indent="-342900" algn="just" defTabSz="342900" rtl="0" eaLnBrk="1" fontAlgn="auto" latinLnBrk="0" hangingPunct="1">
              <a:lnSpc>
                <a:spcPts val="1400"/>
              </a:lnSpc>
              <a:spcBef>
                <a:spcPts val="600"/>
              </a:spcBef>
              <a:spcAft>
                <a:spcPts val="0"/>
              </a:spcAft>
              <a:buClrTx/>
              <a:buSzTx/>
              <a:buFont typeface="Courier New" panose="02070309020205020404" pitchFamily="49" charset="0"/>
              <a:buChar char="o"/>
              <a:tabLst/>
              <a:defRPr/>
            </a:pPr>
            <a:r>
              <a:rPr lang="en-US" sz="1000" kern="1200" dirty="0">
                <a:solidFill>
                  <a:schemeClr val="tx1"/>
                </a:solidFill>
                <a:effectLst/>
                <a:latin typeface="Arial" panose="020B0604020202020204" pitchFamily="34" charset="0"/>
                <a:ea typeface="+mn-ea"/>
                <a:cs typeface="Arial" panose="020B0604020202020204" pitchFamily="34" charset="0"/>
              </a:rPr>
              <a:t>The Task Force’s understanding that the current practice in many firms is to perform EQ reviews on certain engagements based on various criteria relating to the nature and circumstances of the engagement or the entity, which may be for reasons other than assessed quality risks.</a:t>
            </a:r>
            <a:endParaRPr lang="en-US" sz="1000" b="1" i="1" kern="1200" dirty="0">
              <a:solidFill>
                <a:schemeClr val="tx1">
                  <a:lumMod val="65000"/>
                  <a:lumOff val="35000"/>
                </a:schemeClr>
              </a:solidFill>
              <a:latin typeface="Arial" panose="020B0604020202020204" pitchFamily="34" charset="0"/>
              <a:ea typeface="+mn-ea"/>
              <a:cs typeface="Arial" panose="020B0604020202020204" pitchFamily="34" charset="0"/>
            </a:endParaRPr>
          </a:p>
          <a:p>
            <a:pPr marL="0" lvl="0" indent="0" algn="just" defTabSz="342900" rtl="0" eaLnBrk="1" latinLnBrk="0" hangingPunct="1">
              <a:lnSpc>
                <a:spcPts val="1400"/>
              </a:lnSpc>
              <a:spcBef>
                <a:spcPts val="600"/>
              </a:spcBef>
              <a:spcAft>
                <a:spcPts val="0"/>
              </a:spcAft>
              <a:buFont typeface="Arial" panose="020B0604020202020204" pitchFamily="34" charset="0"/>
              <a:buNone/>
            </a:pPr>
            <a:r>
              <a:rPr lang="en-US" sz="1000" b="1" i="1" kern="1200" dirty="0">
                <a:solidFill>
                  <a:schemeClr val="tx1">
                    <a:lumMod val="65000"/>
                    <a:lumOff val="35000"/>
                  </a:schemeClr>
                </a:solidFill>
                <a:latin typeface="Arial" panose="020B0604020202020204" pitchFamily="34" charset="0"/>
                <a:ea typeface="+mn-ea"/>
                <a:cs typeface="Arial" panose="020B0604020202020204" pitchFamily="34" charset="0"/>
              </a:rPr>
              <a:t>Accordingly, the Task Force proposes to:</a:t>
            </a:r>
          </a:p>
          <a:p>
            <a:pPr marL="347472" lvl="0" indent="-347472" algn="just">
              <a:lnSpc>
                <a:spcPts val="1400"/>
              </a:lnSpc>
              <a:spcBef>
                <a:spcPts val="600"/>
              </a:spcBef>
              <a:spcAft>
                <a:spcPts val="0"/>
              </a:spcAft>
              <a:buFont typeface="Arial" panose="020B0604020202020204" pitchFamily="34" charset="0"/>
              <a:buChar char="•"/>
            </a:pPr>
            <a:r>
              <a:rPr lang="en-US" sz="1000" b="0" kern="1200" dirty="0">
                <a:solidFill>
                  <a:schemeClr val="tx1">
                    <a:lumMod val="65000"/>
                    <a:lumOff val="35000"/>
                  </a:schemeClr>
                </a:solidFill>
                <a:effectLst/>
                <a:latin typeface="Arial" panose="020B0604020202020204" pitchFamily="34" charset="0"/>
                <a:ea typeface="+mn-ea"/>
                <a:cs typeface="Arial" panose="020B0604020202020204" pitchFamily="34" charset="0"/>
              </a:rPr>
              <a:t>Retain a </a:t>
            </a:r>
            <a:r>
              <a:rPr lang="en-US" sz="1000" b="1" kern="1200" dirty="0">
                <a:solidFill>
                  <a:schemeClr val="tx1">
                    <a:lumMod val="65000"/>
                    <a:lumOff val="35000"/>
                  </a:schemeClr>
                </a:solidFill>
                <a:effectLst/>
                <a:latin typeface="Arial" panose="020B0604020202020204" pitchFamily="34" charset="0"/>
                <a:ea typeface="+mn-ea"/>
                <a:cs typeface="Arial" panose="020B0604020202020204" pitchFamily="34" charset="0"/>
              </a:rPr>
              <a:t>separate category</a:t>
            </a:r>
            <a:r>
              <a:rPr lang="en-US" sz="1000" b="0" kern="1200" dirty="0">
                <a:solidFill>
                  <a:schemeClr val="tx1">
                    <a:lumMod val="65000"/>
                    <a:lumOff val="35000"/>
                  </a:schemeClr>
                </a:solidFill>
                <a:effectLst/>
                <a:latin typeface="Arial" panose="020B0604020202020204" pitchFamily="34" charset="0"/>
                <a:ea typeface="+mn-ea"/>
                <a:cs typeface="Arial" panose="020B0604020202020204" pitchFamily="34" charset="0"/>
              </a:rPr>
              <a:t> for engagements for which the firm determines an EQ review is an appropriate response to assessed quality risks.</a:t>
            </a:r>
          </a:p>
          <a:p>
            <a:pPr marL="347472" lvl="0" indent="-347472" algn="just">
              <a:lnSpc>
                <a:spcPts val="1400"/>
              </a:lnSpc>
              <a:spcBef>
                <a:spcPts val="600"/>
              </a:spcBef>
              <a:spcAft>
                <a:spcPts val="0"/>
              </a:spcAft>
              <a:buFont typeface="Arial" panose="020B0604020202020204" pitchFamily="34" charset="0"/>
              <a:buChar char="•"/>
            </a:pPr>
            <a:r>
              <a:rPr lang="en-US" sz="1000" b="0" kern="1200" dirty="0">
                <a:solidFill>
                  <a:schemeClr val="tx1">
                    <a:lumMod val="65000"/>
                    <a:lumOff val="35000"/>
                  </a:schemeClr>
                </a:solidFill>
                <a:latin typeface="Arial" panose="020B0604020202020204" pitchFamily="34" charset="0"/>
                <a:ea typeface="+mn-ea"/>
                <a:cs typeface="Arial" panose="020B0604020202020204" pitchFamily="34" charset="0"/>
              </a:rPr>
              <a:t>Change ‘nature of the entity’ to ‘nature and circumstances of the engagement or the entity.’</a:t>
            </a:r>
          </a:p>
          <a:p>
            <a:pPr marL="347472" marR="0" lvl="0" indent="-347472" algn="just" defTabSz="342900" rtl="0" eaLnBrk="1" fontAlgn="auto" latinLnBrk="0" hangingPunct="1">
              <a:lnSpc>
                <a:spcPts val="1400"/>
              </a:lnSpc>
              <a:spcBef>
                <a:spcPts val="600"/>
              </a:spcBef>
              <a:spcAft>
                <a:spcPts val="0"/>
              </a:spcAft>
              <a:buClrTx/>
              <a:buSzTx/>
              <a:buFont typeface="Arial" panose="020B0604020202020204" pitchFamily="34" charset="0"/>
              <a:buChar char="•"/>
              <a:tabLst/>
              <a:defRPr/>
            </a:pPr>
            <a:r>
              <a:rPr lang="en-US" sz="1000" b="0" kern="1200" dirty="0">
                <a:solidFill>
                  <a:schemeClr val="tx1">
                    <a:lumMod val="65000"/>
                    <a:lumOff val="35000"/>
                  </a:schemeClr>
                </a:solidFill>
                <a:effectLst/>
                <a:latin typeface="Arial" panose="020B0604020202020204" pitchFamily="34" charset="0"/>
                <a:ea typeface="+mn-ea"/>
                <a:cs typeface="Arial" panose="020B0604020202020204" pitchFamily="34" charset="0"/>
              </a:rPr>
              <a:t>Revise the related application material such that it corresponds to the requirements for each category.</a:t>
            </a:r>
            <a:endParaRPr lang="en-US" sz="1000" b="1" i="1" kern="1200" dirty="0">
              <a:solidFill>
                <a:schemeClr val="tx1">
                  <a:lumMod val="65000"/>
                  <a:lumOff val="35000"/>
                </a:schemeClr>
              </a:solidFill>
              <a:latin typeface="Arial" panose="020B0604020202020204" pitchFamily="34" charset="0"/>
              <a:ea typeface="+mn-ea"/>
              <a:cs typeface="Arial" panose="020B0604020202020204" pitchFamily="34" charset="0"/>
            </a:endParaRPr>
          </a:p>
          <a:p>
            <a:pPr marL="685800" lvl="1" indent="-342900" algn="just" defTabSz="342900" rtl="0" eaLnBrk="1" latinLnBrk="0" hangingPunct="1">
              <a:lnSpc>
                <a:spcPts val="1400"/>
              </a:lnSpc>
              <a:spcBef>
                <a:spcPts val="600"/>
              </a:spcBef>
              <a:spcAft>
                <a:spcPts val="0"/>
              </a:spcAft>
              <a:buFont typeface="Courier New" panose="02070309020205020404" pitchFamily="49" charset="0"/>
              <a:buChar char="o"/>
            </a:pPr>
            <a:r>
              <a:rPr lang="en-US" sz="1000" b="0" kern="1200" dirty="0">
                <a:solidFill>
                  <a:schemeClr val="tx1">
                    <a:lumMod val="65000"/>
                    <a:lumOff val="35000"/>
                  </a:schemeClr>
                </a:solidFill>
                <a:latin typeface="Arial" panose="020B0604020202020204" pitchFamily="34" charset="0"/>
                <a:ea typeface="+mn-ea"/>
                <a:cs typeface="Arial" panose="020B0604020202020204" pitchFamily="34" charset="0"/>
              </a:rPr>
              <a:t>Paragraph A105A now focuses on factors the firm may consider in establishing criteria for identifying engagements for which an EQ review may be appropriate due to the nature and circumstances of the engagement or the entity.</a:t>
            </a:r>
          </a:p>
          <a:p>
            <a:pPr marL="685800" lvl="1" indent="-342900" algn="just" defTabSz="342900" rtl="0" eaLnBrk="1" latinLnBrk="0" hangingPunct="1">
              <a:lnSpc>
                <a:spcPts val="1400"/>
              </a:lnSpc>
              <a:spcBef>
                <a:spcPts val="600"/>
              </a:spcBef>
              <a:spcAft>
                <a:spcPts val="0"/>
              </a:spcAft>
              <a:buFont typeface="Courier New" panose="02070309020205020404" pitchFamily="49" charset="0"/>
              <a:buChar char="o"/>
            </a:pPr>
            <a:r>
              <a:rPr lang="en-US" sz="1000" b="0" kern="1200" dirty="0">
                <a:solidFill>
                  <a:schemeClr val="tx1">
                    <a:lumMod val="65000"/>
                    <a:lumOff val="35000"/>
                  </a:schemeClr>
                </a:solidFill>
                <a:latin typeface="Arial" panose="020B0604020202020204" pitchFamily="34" charset="0"/>
                <a:ea typeface="+mn-ea"/>
                <a:cs typeface="Arial" panose="020B0604020202020204" pitchFamily="34" charset="0"/>
              </a:rPr>
              <a:t>Paragraph A105B was added to clarify that the reference to ‘public interest’ or ‘public accountability’ in paragraph A105A does not suggest that proposed ISQM 2 requires the performance of an EQ review for all ‘public interest entities.’</a:t>
            </a:r>
          </a:p>
          <a:p>
            <a:pPr marL="685800" lvl="1" indent="-342900" algn="just" defTabSz="342900" rtl="0" eaLnBrk="1" latinLnBrk="0" hangingPunct="1">
              <a:lnSpc>
                <a:spcPts val="1400"/>
              </a:lnSpc>
              <a:spcBef>
                <a:spcPts val="600"/>
              </a:spcBef>
              <a:spcAft>
                <a:spcPts val="0"/>
              </a:spcAft>
              <a:buFont typeface="Courier New" panose="02070309020205020404" pitchFamily="49" charset="0"/>
              <a:buChar char="o"/>
            </a:pPr>
            <a:r>
              <a:rPr lang="en-US" sz="1000" b="0" kern="1200" dirty="0">
                <a:solidFill>
                  <a:schemeClr val="tx1">
                    <a:lumMod val="65000"/>
                    <a:lumOff val="35000"/>
                  </a:schemeClr>
                </a:solidFill>
                <a:latin typeface="Arial" panose="020B0604020202020204" pitchFamily="34" charset="0"/>
                <a:ea typeface="+mn-ea"/>
                <a:cs typeface="Arial" panose="020B0604020202020204" pitchFamily="34" charset="0"/>
              </a:rPr>
              <a:t>The application material paragraphs have been re-ordered, and relevant sub-headings have been added, to address comments from Board members that it was not always clear how the application material corresponded to the requirements.</a:t>
            </a:r>
          </a:p>
        </p:txBody>
      </p:sp>
      <p:sp>
        <p:nvSpPr>
          <p:cNvPr id="4" name="Slide Number Placeholder 3"/>
          <p:cNvSpPr>
            <a:spLocks noGrp="1"/>
          </p:cNvSpPr>
          <p:nvPr>
            <p:ph type="sldNum" sz="quarter" idx="5"/>
          </p:nvPr>
        </p:nvSpPr>
        <p:spPr/>
        <p:txBody>
          <a:bodyPr/>
          <a:lstStyle/>
          <a:p>
            <a:fld id="{4D410189-AC31-7546-878A-F48FDE4A29F5}" type="slidenum">
              <a:rPr lang="en-US" smtClean="0"/>
              <a:t>3</a:t>
            </a:fld>
            <a:endParaRPr lang="en-US" dirty="0"/>
          </a:p>
        </p:txBody>
      </p:sp>
    </p:spTree>
    <p:extLst>
      <p:ext uri="{BB962C8B-B14F-4D97-AF65-F5344CB8AC3E}">
        <p14:creationId xmlns:p14="http://schemas.microsoft.com/office/powerpoint/2010/main" val="34043856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7472" indent="-347472" algn="just">
              <a:lnSpc>
                <a:spcPts val="1400"/>
              </a:lnSpc>
              <a:spcBef>
                <a:spcPts val="600"/>
              </a:spcBef>
              <a:buFont typeface="Arial" panose="020B0604020202020204" pitchFamily="34" charset="0"/>
              <a:buChar char="•"/>
            </a:pPr>
            <a:r>
              <a:rPr lang="en-US" sz="1000" kern="1200" dirty="0">
                <a:solidFill>
                  <a:schemeClr val="tx1"/>
                </a:solidFill>
                <a:effectLst/>
                <a:latin typeface="Arial" panose="020B0604020202020204" pitchFamily="34" charset="0"/>
                <a:ea typeface="+mn-ea"/>
                <a:cs typeface="Arial" panose="020B0604020202020204" pitchFamily="34" charset="0"/>
              </a:rPr>
              <a:t>The ISQM 1 Task Force coordinated with the ISQM 2 Task Force its proposal to introduce “quality risk considerations” in proposed ISQM 1, repurposed into QRCs that represent the nature and circumstances of the firm and the nature and circumstances of the engagements performed by the firm.</a:t>
            </a:r>
          </a:p>
          <a:p>
            <a:pPr marL="347472" indent="-347472" algn="just">
              <a:lnSpc>
                <a:spcPts val="1400"/>
              </a:lnSpc>
              <a:spcBef>
                <a:spcPts val="600"/>
              </a:spcBef>
              <a:buFont typeface="Arial" panose="020B0604020202020204" pitchFamily="34" charset="0"/>
              <a:buChar char="•"/>
            </a:pPr>
            <a:r>
              <a:rPr lang="en-US" sz="1000" kern="1200" dirty="0">
                <a:solidFill>
                  <a:schemeClr val="tx1"/>
                </a:solidFill>
                <a:effectLst/>
                <a:latin typeface="Arial" panose="020B0604020202020204" pitchFamily="34" charset="0"/>
                <a:ea typeface="+mn-ea"/>
                <a:cs typeface="Arial" panose="020B0604020202020204" pitchFamily="34" charset="0"/>
              </a:rPr>
              <a:t>The ISQM 2 Task Force considered the proposal introducing QRCs in proposed ISQM 1 and discussed in length whether such changes would warrant combining or having a single requirement for engagements for which the firm determines that an EQ review is an appropriate response to quality risks. After further discussion, the Task Force continues to believe that a category separate from assessed quality risks (as discussed in detail in paragraphs 15-18 of the Issues Paper) should be retained.</a:t>
            </a:r>
          </a:p>
          <a:p>
            <a:pPr marL="347472" indent="-347472" algn="just">
              <a:lnSpc>
                <a:spcPts val="1400"/>
              </a:lnSpc>
              <a:spcBef>
                <a:spcPts val="600"/>
              </a:spcBef>
              <a:buFont typeface="Arial" panose="020B0604020202020204" pitchFamily="34" charset="0"/>
              <a:buChar char="•"/>
            </a:pPr>
            <a:r>
              <a:rPr lang="en-US" sz="1000" kern="1200" dirty="0">
                <a:solidFill>
                  <a:schemeClr val="tx1"/>
                </a:solidFill>
                <a:effectLst/>
                <a:latin typeface="Arial" panose="020B0604020202020204" pitchFamily="34" charset="0"/>
                <a:ea typeface="+mn-ea"/>
                <a:cs typeface="Arial" panose="020B0604020202020204" pitchFamily="34" charset="0"/>
              </a:rPr>
              <a:t>Any further action to be taken by the ISQM 2 Task Force will depend on the direction provided by the Board.</a:t>
            </a:r>
          </a:p>
        </p:txBody>
      </p:sp>
      <p:sp>
        <p:nvSpPr>
          <p:cNvPr id="4" name="Slide Number Placeholder 3"/>
          <p:cNvSpPr>
            <a:spLocks noGrp="1"/>
          </p:cNvSpPr>
          <p:nvPr>
            <p:ph type="sldNum" sz="quarter" idx="5"/>
          </p:nvPr>
        </p:nvSpPr>
        <p:spPr/>
        <p:txBody>
          <a:bodyPr/>
          <a:lstStyle/>
          <a:p>
            <a:fld id="{4D410189-AC31-7546-878A-F48FDE4A29F5}" type="slidenum">
              <a:rPr lang="en-US" smtClean="0"/>
              <a:t>4</a:t>
            </a:fld>
            <a:endParaRPr lang="en-US" dirty="0"/>
          </a:p>
        </p:txBody>
      </p:sp>
    </p:spTree>
    <p:extLst>
      <p:ext uri="{BB962C8B-B14F-4D97-AF65-F5344CB8AC3E}">
        <p14:creationId xmlns:p14="http://schemas.microsoft.com/office/powerpoint/2010/main" val="15663151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just">
              <a:lnSpc>
                <a:spcPts val="2400"/>
              </a:lnSpc>
              <a:spcBef>
                <a:spcPts val="600"/>
              </a:spcBef>
              <a:spcAft>
                <a:spcPts val="0"/>
              </a:spcAft>
              <a:buNone/>
            </a:pPr>
            <a:endParaRPr lang="en-US" sz="1000" i="1" dirty="0">
              <a:solidFill>
                <a:schemeClr val="bg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5</a:t>
            </a:fld>
            <a:endParaRPr lang="en-US" dirty="0"/>
          </a:p>
        </p:txBody>
      </p:sp>
    </p:spTree>
    <p:extLst>
      <p:ext uri="{BB962C8B-B14F-4D97-AF65-F5344CB8AC3E}">
        <p14:creationId xmlns:p14="http://schemas.microsoft.com/office/powerpoint/2010/main" val="6355423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lgn="just" defTabSz="342900" rtl="0" eaLnBrk="1" fontAlgn="auto" latinLnBrk="0" hangingPunct="1">
              <a:lnSpc>
                <a:spcPts val="1400"/>
              </a:lnSpc>
              <a:spcBef>
                <a:spcPts val="600"/>
              </a:spcBef>
              <a:spcAft>
                <a:spcPts val="0"/>
              </a:spcAft>
              <a:buClrTx/>
              <a:buSzTx/>
              <a:buFont typeface="Arial" panose="020B0604020202020204" pitchFamily="34" charset="0"/>
              <a:buChar char="•"/>
              <a:tabLst/>
              <a:defRPr/>
            </a:pPr>
            <a:r>
              <a:rPr lang="en-US" sz="1000" kern="1200" dirty="0">
                <a:solidFill>
                  <a:schemeClr val="tx1"/>
                </a:solidFill>
                <a:effectLst/>
                <a:latin typeface="Arial" panose="020B0604020202020204" pitchFamily="34" charset="0"/>
                <a:ea typeface="+mn-ea"/>
                <a:cs typeface="Arial" panose="020B0604020202020204" pitchFamily="34" charset="0"/>
              </a:rPr>
              <a:t>The Task Force considered specific comments from Board members during the discussion on this topic at the September 2019 IAASB meeting, including the following: </a:t>
            </a:r>
          </a:p>
          <a:p>
            <a:pPr marL="685800" marR="0" lvl="1" indent="-342900" algn="just" defTabSz="342900" rtl="0" eaLnBrk="1" fontAlgn="auto" latinLnBrk="0" hangingPunct="1">
              <a:lnSpc>
                <a:spcPts val="1400"/>
              </a:lnSpc>
              <a:spcBef>
                <a:spcPts val="600"/>
              </a:spcBef>
              <a:spcAft>
                <a:spcPts val="0"/>
              </a:spcAft>
              <a:buClrTx/>
              <a:buSzTx/>
              <a:buFont typeface="Courier New" panose="02070309020205020404" pitchFamily="49" charset="0"/>
              <a:buChar char="o"/>
              <a:tabLst/>
              <a:defRPr/>
            </a:pPr>
            <a:r>
              <a:rPr lang="en-US" sz="1000" kern="1200" dirty="0">
                <a:solidFill>
                  <a:schemeClr val="tx1"/>
                </a:solidFill>
                <a:effectLst/>
                <a:latin typeface="Arial" panose="020B0604020202020204" pitchFamily="34" charset="0"/>
                <a:ea typeface="+mn-ea"/>
                <a:cs typeface="Arial" panose="020B0604020202020204" pitchFamily="34" charset="0"/>
              </a:rPr>
              <a:t>The cooling-off period for individuals moving into an EQ reviewer role after serving as the engagement partner should be addressed in proposed ISQM 2 if not addressed in the IESBA Code. </a:t>
            </a:r>
          </a:p>
          <a:p>
            <a:pPr marL="685800" marR="0" lvl="1" indent="-342900" algn="just" defTabSz="342900" rtl="0" eaLnBrk="1" fontAlgn="auto" latinLnBrk="0" hangingPunct="1">
              <a:lnSpc>
                <a:spcPts val="1400"/>
              </a:lnSpc>
              <a:spcBef>
                <a:spcPts val="600"/>
              </a:spcBef>
              <a:spcAft>
                <a:spcPts val="0"/>
              </a:spcAft>
              <a:buClrTx/>
              <a:buSzTx/>
              <a:buFont typeface="Courier New" panose="02070309020205020404" pitchFamily="49" charset="0"/>
              <a:buChar char="o"/>
              <a:tabLst/>
              <a:defRPr/>
            </a:pPr>
            <a:r>
              <a:rPr lang="en-US" sz="1000" kern="1200" dirty="0">
                <a:solidFill>
                  <a:schemeClr val="tx1"/>
                </a:solidFill>
                <a:effectLst/>
                <a:latin typeface="Arial" panose="020B0604020202020204" pitchFamily="34" charset="0"/>
                <a:ea typeface="+mn-ea"/>
                <a:cs typeface="Arial" panose="020B0604020202020204" pitchFamily="34" charset="0"/>
              </a:rPr>
              <a:t>Including a requirement for a mandatory cooling-off period in proposed ISQM 2 would help to achieve consistency in practice.</a:t>
            </a:r>
          </a:p>
          <a:p>
            <a:pPr marL="685800" marR="0" lvl="1" indent="-342900" algn="just" defTabSz="342900" rtl="0" eaLnBrk="1" fontAlgn="auto" latinLnBrk="0" hangingPunct="1">
              <a:lnSpc>
                <a:spcPts val="1400"/>
              </a:lnSpc>
              <a:spcBef>
                <a:spcPts val="600"/>
              </a:spcBef>
              <a:spcAft>
                <a:spcPts val="0"/>
              </a:spcAft>
              <a:buClrTx/>
              <a:buSzTx/>
              <a:buFont typeface="Courier New" panose="02070309020205020404" pitchFamily="49" charset="0"/>
              <a:buChar char="o"/>
              <a:tabLst/>
              <a:defRPr/>
            </a:pPr>
            <a:r>
              <a:rPr lang="en-US" sz="1000" kern="1200" dirty="0">
                <a:solidFill>
                  <a:schemeClr val="tx1"/>
                </a:solidFill>
                <a:effectLst/>
                <a:latin typeface="Arial" panose="020B0604020202020204" pitchFamily="34" charset="0"/>
                <a:ea typeface="+mn-ea"/>
                <a:cs typeface="Arial" panose="020B0604020202020204" pitchFamily="34" charset="0"/>
              </a:rPr>
              <a:t>Any requirement in proposed ISQM 2 could be amended or deleted depending on the outcome of IESBA’s activities.</a:t>
            </a:r>
          </a:p>
          <a:p>
            <a:pPr marL="685800" marR="0" lvl="1" indent="-342900" algn="just" defTabSz="342900" rtl="0" eaLnBrk="1" fontAlgn="auto" latinLnBrk="0" hangingPunct="1">
              <a:lnSpc>
                <a:spcPts val="1400"/>
              </a:lnSpc>
              <a:spcBef>
                <a:spcPts val="600"/>
              </a:spcBef>
              <a:spcAft>
                <a:spcPts val="0"/>
              </a:spcAft>
              <a:buClrTx/>
              <a:buSzTx/>
              <a:buFont typeface="Courier New" panose="02070309020205020404" pitchFamily="49" charset="0"/>
              <a:buChar char="o"/>
              <a:tabLst/>
              <a:defRPr/>
            </a:pPr>
            <a:r>
              <a:rPr lang="en-US" sz="1000" kern="1200" dirty="0">
                <a:solidFill>
                  <a:schemeClr val="tx1"/>
                </a:solidFill>
                <a:effectLst/>
                <a:latin typeface="Arial" panose="020B0604020202020204" pitchFamily="34" charset="0"/>
                <a:ea typeface="+mn-ea"/>
                <a:cs typeface="Arial" panose="020B0604020202020204" pitchFamily="34" charset="0"/>
              </a:rPr>
              <a:t>Ongoing coordination with IESBA will be important as noted in paragraphs 32-35 of the Issues Paper.</a:t>
            </a:r>
          </a:p>
          <a:p>
            <a:pPr marL="342900" marR="0" lvl="0" indent="-342900" algn="just" defTabSz="342900" rtl="0" eaLnBrk="1" fontAlgn="auto" latinLnBrk="0" hangingPunct="1">
              <a:lnSpc>
                <a:spcPts val="1400"/>
              </a:lnSpc>
              <a:spcBef>
                <a:spcPts val="600"/>
              </a:spcBef>
              <a:spcAft>
                <a:spcPts val="0"/>
              </a:spcAft>
              <a:buClrTx/>
              <a:buSzTx/>
              <a:buFont typeface="Arial" panose="020B0604020202020204" pitchFamily="34" charset="0"/>
              <a:buChar char="•"/>
              <a:tabLst/>
              <a:defRPr/>
            </a:pPr>
            <a:r>
              <a:rPr lang="en-US" sz="1000" kern="1200" dirty="0">
                <a:solidFill>
                  <a:schemeClr val="tx1"/>
                </a:solidFill>
                <a:effectLst/>
                <a:latin typeface="Arial" panose="020B0604020202020204" pitchFamily="34" charset="0"/>
                <a:ea typeface="+mn-ea"/>
                <a:cs typeface="Arial" panose="020B0604020202020204" pitchFamily="34" charset="0"/>
              </a:rPr>
              <a:t>The Task Force continues to believe strongly that a mandatory cooling-off period is in the public interest, and is the most appropriate approach to drive consistency in practice, while awaiting the outcome of the IESBA’s planned activities to address this matter in the IESBA Code.</a:t>
            </a:r>
          </a:p>
          <a:p>
            <a:pPr marL="342900" marR="0" lvl="0" indent="-342900" algn="just" defTabSz="342900" rtl="0" eaLnBrk="1" fontAlgn="auto" latinLnBrk="0" hangingPunct="1">
              <a:lnSpc>
                <a:spcPts val="1400"/>
              </a:lnSpc>
              <a:spcBef>
                <a:spcPts val="600"/>
              </a:spcBef>
              <a:spcAft>
                <a:spcPts val="0"/>
              </a:spcAft>
              <a:buClrTx/>
              <a:buSzTx/>
              <a:buFont typeface="Arial" panose="020B0604020202020204" pitchFamily="34" charset="0"/>
              <a:buChar char="•"/>
              <a:tabLst/>
              <a:defRPr/>
            </a:pPr>
            <a:r>
              <a:rPr lang="en-US" sz="1000" kern="1200" dirty="0">
                <a:solidFill>
                  <a:schemeClr val="tx1"/>
                </a:solidFill>
                <a:effectLst/>
                <a:latin typeface="Arial" panose="020B0604020202020204" pitchFamily="34" charset="0"/>
                <a:ea typeface="+mn-ea"/>
                <a:cs typeface="Arial" panose="020B0604020202020204" pitchFamily="34" charset="0"/>
              </a:rPr>
              <a:t>The Task Force also discussed alternatives to a mandatory cooling-off period and concluded that providing flexibility for firms, although possible, would give rise to other questions about how this would be implemented, and that could likely result in inconsistencies in practice. (See paragraph 27 of the Issues Paper for examples of these questions.)</a:t>
            </a:r>
          </a:p>
          <a:p>
            <a:pPr marL="342900" marR="0" lvl="0" indent="-342900" algn="just" defTabSz="342900" rtl="0" eaLnBrk="1" fontAlgn="auto" latinLnBrk="0" hangingPunct="1">
              <a:lnSpc>
                <a:spcPts val="1400"/>
              </a:lnSpc>
              <a:spcBef>
                <a:spcPts val="600"/>
              </a:spcBef>
              <a:spcAft>
                <a:spcPts val="0"/>
              </a:spcAft>
              <a:buClrTx/>
              <a:buSzTx/>
              <a:buFont typeface="Arial" panose="020B0604020202020204" pitchFamily="34" charset="0"/>
              <a:buChar char="•"/>
              <a:tabLst/>
              <a:defRPr/>
            </a:pPr>
            <a:r>
              <a:rPr lang="en-US" sz="1000" u="none" strike="noStrike" kern="1200" dirty="0">
                <a:solidFill>
                  <a:schemeClr val="tx1"/>
                </a:solidFill>
                <a:effectLst/>
                <a:latin typeface="Arial" panose="020B0604020202020204" pitchFamily="34" charset="0"/>
                <a:ea typeface="+mn-ea"/>
                <a:cs typeface="Arial" panose="020B0604020202020204" pitchFamily="34" charset="0"/>
              </a:rPr>
              <a:t>The Task Force also deliberated whether the requirement for a cooling-off period should apply to a</a:t>
            </a:r>
            <a:r>
              <a:rPr lang="en-US" sz="1000" kern="1200" dirty="0">
                <a:solidFill>
                  <a:schemeClr val="tx1"/>
                </a:solidFill>
                <a:effectLst/>
                <a:latin typeface="Arial" panose="020B0604020202020204" pitchFamily="34" charset="0"/>
                <a:ea typeface="+mn-ea"/>
                <a:cs typeface="Arial" panose="020B0604020202020204" pitchFamily="34" charset="0"/>
              </a:rPr>
              <a:t>udits of listed entities only, all PIEs, or all audit engagements, or more broadly to all engagements.</a:t>
            </a:r>
          </a:p>
          <a:p>
            <a:pPr marL="342900" marR="0" lvl="0" indent="-342900" algn="just" defTabSz="342900" rtl="0" eaLnBrk="1" fontAlgn="auto" latinLnBrk="0" hangingPunct="1">
              <a:lnSpc>
                <a:spcPts val="1400"/>
              </a:lnSpc>
              <a:spcBef>
                <a:spcPts val="600"/>
              </a:spcBef>
              <a:spcAft>
                <a:spcPts val="0"/>
              </a:spcAft>
              <a:buClrTx/>
              <a:buSzTx/>
              <a:buFont typeface="Arial" panose="020B0604020202020204" pitchFamily="34" charset="0"/>
              <a:buChar char="•"/>
              <a:tabLst/>
              <a:defRPr/>
            </a:pPr>
            <a:r>
              <a:rPr lang="en-US" sz="1000" kern="1200" dirty="0">
                <a:solidFill>
                  <a:schemeClr val="tx1"/>
                </a:solidFill>
                <a:effectLst/>
                <a:latin typeface="Arial" panose="020B0604020202020204" pitchFamily="34" charset="0"/>
                <a:ea typeface="+mn-ea"/>
                <a:cs typeface="Arial" panose="020B0604020202020204" pitchFamily="34" charset="0"/>
              </a:rPr>
              <a:t>In this regard, the Task Force believes that the requirement should apply to all engagements for which an EQ review is performed.</a:t>
            </a:r>
          </a:p>
          <a:p>
            <a:pPr marL="685800" marR="0" lvl="1" indent="-342900" algn="just" defTabSz="342900" rtl="0" eaLnBrk="1" fontAlgn="auto" latinLnBrk="0" hangingPunct="1">
              <a:lnSpc>
                <a:spcPts val="1400"/>
              </a:lnSpc>
              <a:spcBef>
                <a:spcPts val="600"/>
              </a:spcBef>
              <a:spcAft>
                <a:spcPts val="0"/>
              </a:spcAft>
              <a:buClrTx/>
              <a:buSzTx/>
              <a:buFont typeface="Courier New" panose="02070309020205020404" pitchFamily="49" charset="0"/>
              <a:buChar char="o"/>
              <a:tabLst/>
              <a:defRPr/>
            </a:pPr>
            <a:r>
              <a:rPr lang="en-US" sz="1000" kern="1200" dirty="0">
                <a:solidFill>
                  <a:schemeClr val="tx1"/>
                </a:solidFill>
                <a:effectLst/>
                <a:latin typeface="Arial" panose="020B0604020202020204" pitchFamily="34" charset="0"/>
                <a:ea typeface="+mn-ea"/>
                <a:cs typeface="Arial" panose="020B0604020202020204" pitchFamily="34" charset="0"/>
              </a:rPr>
              <a:t>The view of the Task Force is that threats to the objectivity of an engagement partner stepping into the role of EQ reviewer are not unique to audits of listed entities only, or to the type of engagement.</a:t>
            </a:r>
          </a:p>
          <a:p>
            <a:pPr marL="685800" marR="0" lvl="1" indent="-342900" algn="just" defTabSz="342900" rtl="0" eaLnBrk="1" fontAlgn="auto" latinLnBrk="0" hangingPunct="1">
              <a:lnSpc>
                <a:spcPts val="1400"/>
              </a:lnSpc>
              <a:spcBef>
                <a:spcPts val="600"/>
              </a:spcBef>
              <a:spcAft>
                <a:spcPts val="0"/>
              </a:spcAft>
              <a:buClrTx/>
              <a:buSzTx/>
              <a:buFont typeface="Courier New" panose="02070309020205020404" pitchFamily="49" charset="0"/>
              <a:buChar char="o"/>
              <a:tabLst/>
              <a:defRPr/>
            </a:pPr>
            <a:r>
              <a:rPr lang="en-US" sz="1000" kern="1200" dirty="0">
                <a:solidFill>
                  <a:schemeClr val="tx1"/>
                </a:solidFill>
                <a:effectLst/>
                <a:latin typeface="Arial" panose="020B0604020202020204" pitchFamily="34" charset="0"/>
                <a:ea typeface="+mn-ea"/>
                <a:cs typeface="Arial" panose="020B0604020202020204" pitchFamily="34" charset="0"/>
              </a:rPr>
              <a:t>In reaching this conclusion, the Task Force noted that other than for audits of listed entities or when required by law or regulation, EQ reviews are not mandated for other engagements, and the firm may employ responses other than an EQ review to address assessed quality risks.</a:t>
            </a:r>
          </a:p>
          <a:p>
            <a:pPr marL="685800" marR="0" lvl="1" indent="-342900" algn="just" defTabSz="342900" rtl="0" eaLnBrk="1" fontAlgn="auto" latinLnBrk="0" hangingPunct="1">
              <a:lnSpc>
                <a:spcPts val="1400"/>
              </a:lnSpc>
              <a:spcBef>
                <a:spcPts val="600"/>
              </a:spcBef>
              <a:spcAft>
                <a:spcPts val="0"/>
              </a:spcAft>
              <a:buClrTx/>
              <a:buSzTx/>
              <a:buFont typeface="Courier New" panose="02070309020205020404" pitchFamily="49" charset="0"/>
              <a:buChar char="o"/>
              <a:tabLst/>
              <a:defRPr/>
            </a:pPr>
            <a:r>
              <a:rPr lang="en-US" sz="1000" kern="1200" dirty="0">
                <a:solidFill>
                  <a:schemeClr val="tx1"/>
                </a:solidFill>
                <a:effectLst/>
                <a:latin typeface="Arial" panose="020B0604020202020204" pitchFamily="34" charset="0"/>
                <a:ea typeface="+mn-ea"/>
                <a:cs typeface="Arial" panose="020B0604020202020204" pitchFamily="34" charset="0"/>
              </a:rPr>
              <a:t>However, when an EQ review is required or has been determined by the firm to be the appropriate response, then the same requirements should apply in all cases.</a:t>
            </a:r>
          </a:p>
          <a:p>
            <a:pPr marL="685800" marR="0" lvl="1" indent="-342900" algn="just" defTabSz="342900" rtl="0" eaLnBrk="1" fontAlgn="auto" latinLnBrk="0" hangingPunct="1">
              <a:lnSpc>
                <a:spcPts val="1400"/>
              </a:lnSpc>
              <a:spcBef>
                <a:spcPts val="600"/>
              </a:spcBef>
              <a:spcAft>
                <a:spcPts val="0"/>
              </a:spcAft>
              <a:buClrTx/>
              <a:buSzTx/>
              <a:buFont typeface="Courier New" panose="02070309020205020404" pitchFamily="49" charset="0"/>
              <a:buChar char="o"/>
              <a:tabLst/>
              <a:defRPr/>
            </a:pPr>
            <a:r>
              <a:rPr lang="en-US" sz="1000" kern="1200" dirty="0">
                <a:solidFill>
                  <a:schemeClr val="tx1"/>
                </a:solidFill>
                <a:effectLst/>
                <a:latin typeface="Arial" panose="020B0604020202020204" pitchFamily="34" charset="0"/>
                <a:ea typeface="+mn-ea"/>
                <a:cs typeface="Arial" panose="020B0604020202020204" pitchFamily="34" charset="0"/>
              </a:rPr>
              <a:t>The Task Force believes that a conditional requirement would create a perception of different levels of EQ review for different types of engagements, which could lead to inconsistent application in practice and potential confusion in the minds of stakeholders, and therefore would not be in the public interest.</a:t>
            </a:r>
            <a:endParaRPr lang="en-US" sz="1000" b="1" i="1" kern="1200" dirty="0">
              <a:solidFill>
                <a:schemeClr val="tx1">
                  <a:lumMod val="65000"/>
                  <a:lumOff val="35000"/>
                </a:schemeClr>
              </a:solidFill>
              <a:effectLst/>
              <a:latin typeface="Arial" panose="020B0604020202020204" pitchFamily="34" charset="0"/>
              <a:ea typeface="+mn-ea"/>
              <a:cs typeface="Arial" panose="020B0604020202020204" pitchFamily="34" charset="0"/>
            </a:endParaRPr>
          </a:p>
          <a:p>
            <a:pPr marL="0" marR="0" lvl="0" indent="0" algn="just" defTabSz="342900" rtl="0" eaLnBrk="1" fontAlgn="auto" latinLnBrk="0" hangingPunct="1">
              <a:lnSpc>
                <a:spcPts val="1400"/>
              </a:lnSpc>
              <a:spcBef>
                <a:spcPts val="600"/>
              </a:spcBef>
              <a:spcAft>
                <a:spcPts val="0"/>
              </a:spcAft>
              <a:buClrTx/>
              <a:buSzTx/>
              <a:buFont typeface="Courier New" panose="02070309020205020404" pitchFamily="49" charset="0"/>
              <a:buNone/>
              <a:tabLst/>
              <a:defRPr/>
            </a:pPr>
            <a:r>
              <a:rPr lang="en-US" sz="1000" b="1" i="1" kern="1200" dirty="0">
                <a:solidFill>
                  <a:schemeClr val="tx1">
                    <a:lumMod val="65000"/>
                    <a:lumOff val="35000"/>
                  </a:schemeClr>
                </a:solidFill>
                <a:latin typeface="Arial" panose="020B0604020202020204" pitchFamily="34" charset="0"/>
                <a:ea typeface="+mn-ea"/>
                <a:cs typeface="Arial" panose="020B0604020202020204" pitchFamily="34" charset="0"/>
              </a:rPr>
              <a:t>Accordingly, the Task Force proposes to:</a:t>
            </a:r>
          </a:p>
          <a:p>
            <a:pPr marL="347472" lvl="0" indent="-347472" algn="just">
              <a:lnSpc>
                <a:spcPts val="1400"/>
              </a:lnSpc>
              <a:spcBef>
                <a:spcPts val="600"/>
              </a:spcBef>
              <a:spcAft>
                <a:spcPts val="0"/>
              </a:spcAft>
              <a:buFont typeface="Arial" panose="020B0604020202020204" pitchFamily="34" charset="0"/>
              <a:buChar char="•"/>
            </a:pPr>
            <a:r>
              <a:rPr lang="en-US" sz="1000" b="0" kern="1200" dirty="0">
                <a:solidFill>
                  <a:schemeClr val="tx1">
                    <a:lumMod val="65000"/>
                    <a:lumOff val="35000"/>
                  </a:schemeClr>
                </a:solidFill>
                <a:effectLst/>
                <a:latin typeface="Arial" panose="020B0604020202020204" pitchFamily="34" charset="0"/>
                <a:ea typeface="+mn-ea"/>
                <a:cs typeface="Arial" panose="020B0604020202020204" pitchFamily="34" charset="0"/>
              </a:rPr>
              <a:t>Specify a cooling-off period of two years, or a longer period if required by relevant ethical requirements, before an engagement partner can assume the role of EQ reviewer.</a:t>
            </a:r>
          </a:p>
          <a:p>
            <a:pPr marL="347472" lvl="0" indent="-347472" algn="just">
              <a:lnSpc>
                <a:spcPts val="1400"/>
              </a:lnSpc>
              <a:spcBef>
                <a:spcPts val="600"/>
              </a:spcBef>
              <a:spcAft>
                <a:spcPts val="0"/>
              </a:spcAft>
              <a:buFont typeface="Arial" panose="020B0604020202020204" pitchFamily="34" charset="0"/>
              <a:buChar char="•"/>
            </a:pPr>
            <a:r>
              <a:rPr lang="en-US" sz="1000" b="0" kern="1200" dirty="0">
                <a:solidFill>
                  <a:schemeClr val="tx1">
                    <a:lumMod val="65000"/>
                    <a:lumOff val="35000"/>
                  </a:schemeClr>
                </a:solidFill>
                <a:effectLst/>
                <a:latin typeface="Arial" panose="020B0604020202020204" pitchFamily="34" charset="0"/>
                <a:ea typeface="+mn-ea"/>
                <a:cs typeface="Arial" panose="020B0604020202020204" pitchFamily="34" charset="0"/>
              </a:rPr>
              <a:t>Apply  such requirement to all engagements for which an EQ review is performed.</a:t>
            </a:r>
          </a:p>
          <a:p>
            <a:pPr marL="347472" lvl="0" indent="-347472" algn="just">
              <a:lnSpc>
                <a:spcPts val="1400"/>
              </a:lnSpc>
              <a:spcBef>
                <a:spcPts val="600"/>
              </a:spcBef>
              <a:spcAft>
                <a:spcPts val="0"/>
              </a:spcAft>
              <a:buFont typeface="Arial" panose="020B0604020202020204" pitchFamily="34" charset="0"/>
              <a:buChar char="•"/>
            </a:pPr>
            <a:r>
              <a:rPr lang="en-US" sz="1000" b="0" kern="1200" dirty="0">
                <a:solidFill>
                  <a:schemeClr val="tx1">
                    <a:lumMod val="65000"/>
                    <a:lumOff val="35000"/>
                  </a:schemeClr>
                </a:solidFill>
                <a:effectLst/>
                <a:latin typeface="Arial" panose="020B0604020202020204" pitchFamily="34" charset="0"/>
                <a:ea typeface="+mn-ea"/>
                <a:cs typeface="Arial" panose="020B0604020202020204" pitchFamily="34" charset="0"/>
              </a:rPr>
              <a:t>Revise application material supporting the requirement in paragraph 16A.</a:t>
            </a:r>
          </a:p>
          <a:p>
            <a:pPr marL="690372" lvl="1" indent="-347472" algn="just">
              <a:lnSpc>
                <a:spcPts val="1400"/>
              </a:lnSpc>
              <a:spcBef>
                <a:spcPts val="600"/>
              </a:spcBef>
              <a:spcAft>
                <a:spcPts val="0"/>
              </a:spcAft>
              <a:buFont typeface="Courier New" panose="02070309020205020404" pitchFamily="49" charset="0"/>
              <a:buChar char="o"/>
            </a:pPr>
            <a:r>
              <a:rPr lang="en-US" sz="1000" b="0" kern="1200" dirty="0">
                <a:solidFill>
                  <a:schemeClr val="tx1">
                    <a:lumMod val="65000"/>
                    <a:lumOff val="35000"/>
                  </a:schemeClr>
                </a:solidFill>
                <a:effectLst/>
                <a:latin typeface="Arial" panose="020B0604020202020204" pitchFamily="34" charset="0"/>
                <a:ea typeface="+mn-ea"/>
                <a:cs typeface="Arial" panose="020B0604020202020204" pitchFamily="34" charset="0"/>
              </a:rPr>
              <a:t>Paragraph A5 of ED-ISQM 2 has been moved to become new paragraph A17A, and has been revised to explain the importance of the cooling-off period to address the threats to objectivity, in particular the self-review threat, created when an individual moves into an EQ reviewer role after serving as the engagement partner. </a:t>
            </a:r>
          </a:p>
          <a:p>
            <a:pPr marL="690372" lvl="1" indent="-347472" algn="just">
              <a:lnSpc>
                <a:spcPts val="1400"/>
              </a:lnSpc>
              <a:spcBef>
                <a:spcPts val="600"/>
              </a:spcBef>
              <a:spcAft>
                <a:spcPts val="0"/>
              </a:spcAft>
              <a:buFont typeface="Courier New" panose="02070309020205020404" pitchFamily="49" charset="0"/>
              <a:buChar char="o"/>
            </a:pPr>
            <a:r>
              <a:rPr lang="en-US" sz="1000" b="0" kern="1200" dirty="0">
                <a:solidFill>
                  <a:schemeClr val="tx1">
                    <a:lumMod val="65000"/>
                    <a:lumOff val="35000"/>
                  </a:schemeClr>
                </a:solidFill>
                <a:effectLst/>
                <a:latin typeface="Arial" panose="020B0604020202020204" pitchFamily="34" charset="0"/>
                <a:ea typeface="+mn-ea"/>
                <a:cs typeface="Arial" panose="020B0604020202020204" pitchFamily="34" charset="0"/>
              </a:rPr>
              <a:t>A new paragraph (A17B) was added in response to comments from respondents to ED-ISQM 2 that a cooling-off period may also be appropriate for individuals other than the engagement partner who are moving into the EQ reviewer role. </a:t>
            </a:r>
          </a:p>
          <a:p>
            <a:pPr marL="690372" lvl="1" indent="-347472" algn="just">
              <a:lnSpc>
                <a:spcPts val="1400"/>
              </a:lnSpc>
              <a:spcBef>
                <a:spcPts val="600"/>
              </a:spcBef>
              <a:spcAft>
                <a:spcPts val="0"/>
              </a:spcAft>
              <a:buFont typeface="Courier New" panose="02070309020205020404" pitchFamily="49" charset="0"/>
              <a:buChar char="o"/>
            </a:pPr>
            <a:r>
              <a:rPr lang="en-US" sz="1000" b="0" kern="1200" dirty="0">
                <a:solidFill>
                  <a:schemeClr val="tx1">
                    <a:lumMod val="65000"/>
                    <a:lumOff val="35000"/>
                  </a:schemeClr>
                </a:solidFill>
                <a:effectLst/>
                <a:latin typeface="Arial" panose="020B0604020202020204" pitchFamily="34" charset="0"/>
                <a:ea typeface="+mn-ea"/>
                <a:cs typeface="Arial" panose="020B0604020202020204" pitchFamily="34" charset="0"/>
              </a:rPr>
              <a:t>Paragraph A17C indicates that relevant ethical requirements may include provisions that address threats created by the long association of individuals with an audit client. Respondents to ED-ISQM 2 had various comments about how a cooling-off period in the revised standard would relate to, or interact with, the long association provisions in the IESBA Code. The Task Force plans to have further discussions on this point with IESBA Staff and Board representatives, and will revise paragraph A17C as needed based on those discussions.</a:t>
            </a:r>
          </a:p>
        </p:txBody>
      </p:sp>
      <p:sp>
        <p:nvSpPr>
          <p:cNvPr id="4" name="Slide Number Placeholder 3"/>
          <p:cNvSpPr>
            <a:spLocks noGrp="1"/>
          </p:cNvSpPr>
          <p:nvPr>
            <p:ph type="sldNum" sz="quarter" idx="5"/>
          </p:nvPr>
        </p:nvSpPr>
        <p:spPr/>
        <p:txBody>
          <a:bodyPr/>
          <a:lstStyle/>
          <a:p>
            <a:fld id="{4D410189-AC31-7546-878A-F48FDE4A29F5}" type="slidenum">
              <a:rPr lang="en-US" smtClean="0"/>
              <a:t>6</a:t>
            </a:fld>
            <a:endParaRPr lang="en-US" dirty="0"/>
          </a:p>
        </p:txBody>
      </p:sp>
    </p:spTree>
    <p:extLst>
      <p:ext uri="{BB962C8B-B14F-4D97-AF65-F5344CB8AC3E}">
        <p14:creationId xmlns:p14="http://schemas.microsoft.com/office/powerpoint/2010/main" val="36749882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just">
              <a:lnSpc>
                <a:spcPts val="1400"/>
              </a:lnSpc>
              <a:spcBef>
                <a:spcPts val="600"/>
              </a:spcBef>
              <a:buFont typeface="Arial" panose="020B0604020202020204" pitchFamily="34" charset="0"/>
              <a:buNone/>
            </a:pPr>
            <a:r>
              <a:rPr lang="en-US" sz="1000" b="1" i="0" kern="1200" dirty="0">
                <a:solidFill>
                  <a:schemeClr val="tx1"/>
                </a:solidFill>
                <a:effectLst/>
                <a:latin typeface="Arial" panose="020B0604020202020204" pitchFamily="34" charset="0"/>
                <a:ea typeface="+mn-ea"/>
                <a:cs typeface="Arial" panose="020B0604020202020204" pitchFamily="34" charset="0"/>
              </a:rPr>
              <a:t>IESBA Coordination Update:</a:t>
            </a:r>
          </a:p>
          <a:p>
            <a:pPr marL="347472" indent="-347472" algn="just">
              <a:lnSpc>
                <a:spcPts val="1400"/>
              </a:lnSpc>
              <a:spcBef>
                <a:spcPts val="600"/>
              </a:spcBef>
              <a:buFont typeface="Arial" panose="020B0604020202020204" pitchFamily="34" charset="0"/>
              <a:buChar char="•"/>
            </a:pPr>
            <a:r>
              <a:rPr lang="en-US" sz="1000" i="0" kern="1200" dirty="0">
                <a:solidFill>
                  <a:schemeClr val="tx1"/>
                </a:solidFill>
                <a:effectLst/>
                <a:latin typeface="Arial" panose="020B0604020202020204" pitchFamily="34" charset="0"/>
                <a:ea typeface="+mn-ea"/>
                <a:cs typeface="Arial" panose="020B0604020202020204" pitchFamily="34" charset="0"/>
              </a:rPr>
              <a:t>The IESBA unanimously approved the project proposal and ED to change Section 120 of the Code to address the EQ reviewer objectivity. The IESBA aims to release the ED by end of January 2020 for a 45-day accelerated consultation period. Their intent is to be in a position to adopt a final pronouncement in September 2020. Sylvie Soulier will continue to chair this project until completion.</a:t>
            </a:r>
          </a:p>
          <a:p>
            <a:pPr marL="0" indent="0" algn="just">
              <a:lnSpc>
                <a:spcPts val="1400"/>
              </a:lnSpc>
              <a:spcBef>
                <a:spcPts val="600"/>
              </a:spcBef>
              <a:buFont typeface="Arial" panose="020B0604020202020204" pitchFamily="34" charset="0"/>
              <a:buNone/>
            </a:pPr>
            <a:r>
              <a:rPr lang="en-US" sz="1000" b="1" i="0" kern="1200" dirty="0">
                <a:solidFill>
                  <a:schemeClr val="tx1"/>
                </a:solidFill>
                <a:effectLst/>
                <a:latin typeface="Arial" panose="020B0604020202020204" pitchFamily="34" charset="0"/>
                <a:ea typeface="+mn-ea"/>
                <a:cs typeface="Arial" panose="020B0604020202020204" pitchFamily="34" charset="0"/>
              </a:rPr>
              <a:t>AICPA and SMPC Comments:</a:t>
            </a:r>
          </a:p>
          <a:p>
            <a:pPr marL="347472" indent="-347472" algn="just">
              <a:lnSpc>
                <a:spcPts val="1400"/>
              </a:lnSpc>
              <a:spcBef>
                <a:spcPts val="600"/>
              </a:spcBef>
              <a:buFont typeface="Arial" panose="020B0604020202020204" pitchFamily="34" charset="0"/>
              <a:buChar char="•"/>
            </a:pPr>
            <a:r>
              <a:rPr lang="en-US" sz="1000" i="0" kern="1200" dirty="0">
                <a:solidFill>
                  <a:schemeClr val="tx1"/>
                </a:solidFill>
                <a:effectLst/>
                <a:latin typeface="Arial" panose="020B0604020202020204" pitchFamily="34" charset="0"/>
                <a:ea typeface="+mn-ea"/>
                <a:cs typeface="Arial" panose="020B0604020202020204" pitchFamily="34" charset="0"/>
              </a:rPr>
              <a:t>On a separate note, the AICPA and the SMPC have expressed concerns over the revised proposals for a mandatory cooling-off period of two-years in proposed ISQM 2. In their view, SMPs often have a relatively small pool of individuals with both the seniority and experience to act as engagement partner and EQ reviewer. Therefore, the practicalities associated with such matters and internal rotation generally present specific challenges.</a:t>
            </a:r>
          </a:p>
        </p:txBody>
      </p:sp>
      <p:sp>
        <p:nvSpPr>
          <p:cNvPr id="4" name="Slide Number Placeholder 3"/>
          <p:cNvSpPr>
            <a:spLocks noGrp="1"/>
          </p:cNvSpPr>
          <p:nvPr>
            <p:ph type="sldNum" sz="quarter" idx="5"/>
          </p:nvPr>
        </p:nvSpPr>
        <p:spPr/>
        <p:txBody>
          <a:bodyPr/>
          <a:lstStyle/>
          <a:p>
            <a:fld id="{4D410189-AC31-7546-878A-F48FDE4A29F5}" type="slidenum">
              <a:rPr lang="en-US" smtClean="0"/>
              <a:t>7</a:t>
            </a:fld>
            <a:endParaRPr lang="en-US" dirty="0"/>
          </a:p>
        </p:txBody>
      </p:sp>
    </p:spTree>
    <p:extLst>
      <p:ext uri="{BB962C8B-B14F-4D97-AF65-F5344CB8AC3E}">
        <p14:creationId xmlns:p14="http://schemas.microsoft.com/office/powerpoint/2010/main" val="7275993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7472" indent="-347472" algn="just">
              <a:lnSpc>
                <a:spcPts val="1400"/>
              </a:lnSpc>
              <a:spcBef>
                <a:spcPts val="600"/>
              </a:spcBef>
              <a:buFont typeface="Arial" panose="020B0604020202020204" pitchFamily="34" charset="0"/>
              <a:buChar char="•"/>
            </a:pPr>
            <a:r>
              <a:rPr lang="en-US" sz="1000" i="0" kern="1200" dirty="0">
                <a:solidFill>
                  <a:schemeClr val="tx1"/>
                </a:solidFill>
                <a:effectLst/>
                <a:latin typeface="Arial" panose="020B0604020202020204" pitchFamily="34" charset="0"/>
                <a:ea typeface="+mn-ea"/>
                <a:cs typeface="Arial" panose="020B0604020202020204" pitchFamily="34" charset="0"/>
              </a:rPr>
              <a:t>The IESBA representatives proposed adding application material at the end of Section 120 of the Code  (within the subsection dealing with considerations for audits, reviews and other assurance engagements) to describe:</a:t>
            </a:r>
          </a:p>
          <a:p>
            <a:pPr marL="690372" lvl="1" indent="-347472" algn="just">
              <a:lnSpc>
                <a:spcPts val="1400"/>
              </a:lnSpc>
              <a:spcBef>
                <a:spcPts val="600"/>
              </a:spcBef>
              <a:buFont typeface="Courier New" panose="02070309020205020404" pitchFamily="49" charset="0"/>
              <a:buChar char="o"/>
            </a:pPr>
            <a:r>
              <a:rPr lang="en-US" sz="1000" i="0" kern="1200" dirty="0">
                <a:solidFill>
                  <a:schemeClr val="tx1"/>
                </a:solidFill>
                <a:effectLst/>
                <a:latin typeface="Arial" panose="020B0604020202020204" pitchFamily="34" charset="0"/>
                <a:ea typeface="+mn-ea"/>
                <a:cs typeface="Arial" panose="020B0604020202020204" pitchFamily="34" charset="0"/>
              </a:rPr>
              <a:t>the different types of threat that may be created when an individual is appointed EQR immediately after having served on the audit engagement team;</a:t>
            </a:r>
          </a:p>
          <a:p>
            <a:pPr marL="690372" lvl="1" indent="-347472" algn="just">
              <a:lnSpc>
                <a:spcPts val="1400"/>
              </a:lnSpc>
              <a:spcBef>
                <a:spcPts val="600"/>
              </a:spcBef>
              <a:buFont typeface="Courier New" panose="02070309020205020404" pitchFamily="49" charset="0"/>
              <a:buChar char="o"/>
            </a:pPr>
            <a:r>
              <a:rPr lang="en-US" sz="1000" i="0" kern="1200" dirty="0">
                <a:solidFill>
                  <a:schemeClr val="tx1"/>
                </a:solidFill>
                <a:effectLst/>
                <a:latin typeface="Arial" panose="020B0604020202020204" pitchFamily="34" charset="0"/>
                <a:ea typeface="+mn-ea"/>
                <a:cs typeface="Arial" panose="020B0604020202020204" pitchFamily="34" charset="0"/>
              </a:rPr>
              <a:t>the factors that are relevant in evaluating the level of such threats; and</a:t>
            </a:r>
          </a:p>
          <a:p>
            <a:pPr marL="690372" lvl="1" indent="-347472" algn="just">
              <a:lnSpc>
                <a:spcPts val="1400"/>
              </a:lnSpc>
              <a:spcBef>
                <a:spcPts val="600"/>
              </a:spcBef>
              <a:buFont typeface="Courier New" panose="02070309020205020404" pitchFamily="49" charset="0"/>
              <a:buChar char="o"/>
            </a:pPr>
            <a:r>
              <a:rPr lang="en-US" sz="1000" i="0" kern="1200" dirty="0">
                <a:solidFill>
                  <a:schemeClr val="tx1"/>
                </a:solidFill>
                <a:effectLst/>
                <a:latin typeface="Arial" panose="020B0604020202020204" pitchFamily="34" charset="0"/>
                <a:ea typeface="+mn-ea"/>
                <a:cs typeface="Arial" panose="020B0604020202020204" pitchFamily="34" charset="0"/>
              </a:rPr>
              <a:t>The actions that might be safeguards to address the threats.</a:t>
            </a:r>
          </a:p>
          <a:p>
            <a:pPr marL="347472" lvl="0" indent="-347472" algn="just">
              <a:lnSpc>
                <a:spcPts val="1400"/>
              </a:lnSpc>
              <a:spcBef>
                <a:spcPts val="600"/>
              </a:spcBef>
              <a:buFont typeface="Arial" panose="020B0604020202020204" pitchFamily="34" charset="0"/>
              <a:buChar char="•"/>
            </a:pPr>
            <a:r>
              <a:rPr lang="en-US" sz="1000" b="1" i="0" kern="1200" dirty="0">
                <a:solidFill>
                  <a:schemeClr val="tx1"/>
                </a:solidFill>
                <a:effectLst/>
                <a:latin typeface="Arial" panose="020B0604020202020204" pitchFamily="34" charset="0"/>
                <a:ea typeface="+mn-ea"/>
                <a:cs typeface="Arial" panose="020B0604020202020204" pitchFamily="34" charset="0"/>
              </a:rPr>
              <a:t>This would be entirely consistent with the conceptual framework.</a:t>
            </a:r>
          </a:p>
          <a:p>
            <a:pPr marL="347472" lvl="0" indent="-347472" algn="just">
              <a:lnSpc>
                <a:spcPts val="1400"/>
              </a:lnSpc>
              <a:spcBef>
                <a:spcPts val="600"/>
              </a:spcBef>
              <a:buFont typeface="Arial" panose="020B0604020202020204" pitchFamily="34" charset="0"/>
              <a:buChar char="•"/>
            </a:pPr>
            <a:r>
              <a:rPr lang="en-US" sz="1000" kern="1200" dirty="0">
                <a:solidFill>
                  <a:schemeClr val="tx1"/>
                </a:solidFill>
                <a:effectLst/>
                <a:latin typeface="Arial" panose="020B0604020202020204" pitchFamily="34" charset="0"/>
                <a:ea typeface="+mn-ea"/>
                <a:cs typeface="Arial" panose="020B0604020202020204" pitchFamily="34" charset="0"/>
              </a:rPr>
              <a:t>The IESBA representatives propose this approach for </a:t>
            </a:r>
            <a:r>
              <a:rPr lang="en-US" sz="1000" b="1" kern="1200" dirty="0">
                <a:solidFill>
                  <a:schemeClr val="tx1"/>
                </a:solidFill>
                <a:effectLst/>
                <a:latin typeface="Arial" panose="020B0604020202020204" pitchFamily="34" charset="0"/>
                <a:ea typeface="+mn-ea"/>
                <a:cs typeface="Arial" panose="020B0604020202020204" pitchFamily="34" charset="0"/>
              </a:rPr>
              <a:t>three main reasons:</a:t>
            </a:r>
          </a:p>
          <a:p>
            <a:pPr marL="690372" lvl="1" indent="-347472" algn="just" defTabSz="342900" rtl="0" eaLnBrk="1" latinLnBrk="0" hangingPunct="1">
              <a:lnSpc>
                <a:spcPts val="1400"/>
              </a:lnSpc>
              <a:spcBef>
                <a:spcPts val="600"/>
              </a:spcBef>
              <a:buFont typeface="Courier New" panose="02070309020205020404" pitchFamily="49" charset="0"/>
              <a:buChar char="o"/>
            </a:pPr>
            <a:r>
              <a:rPr lang="en-US" sz="1000" i="0" kern="1200" dirty="0">
                <a:solidFill>
                  <a:schemeClr val="tx1"/>
                </a:solidFill>
                <a:effectLst/>
                <a:latin typeface="Arial" panose="020B0604020202020204" pitchFamily="34" charset="0"/>
                <a:ea typeface="+mn-ea"/>
                <a:cs typeface="Arial" panose="020B0604020202020204" pitchFamily="34" charset="0"/>
              </a:rPr>
              <a:t>An EQ review undertaken in accordance with proposed ISQM 2 may be performed for a variety of engagements (i.e., not only audits of financial statements, and not only for audits of listed entities), depending on whether the firm determines that an EQ review is an appropriate response to a quality risk. It would be more appropriate for the scope of any cooling-off requirement to be specified in the standard that establishes the requirement for an EQ review, i.e., proposed ISQM 1.</a:t>
            </a:r>
          </a:p>
          <a:p>
            <a:pPr marL="690372" lvl="1" indent="-347472" algn="just" defTabSz="342900" rtl="0" eaLnBrk="1" latinLnBrk="0" hangingPunct="1">
              <a:lnSpc>
                <a:spcPts val="1400"/>
              </a:lnSpc>
              <a:spcBef>
                <a:spcPts val="600"/>
              </a:spcBef>
              <a:buFont typeface="Courier New" panose="02070309020205020404" pitchFamily="49" charset="0"/>
              <a:buChar char="o"/>
            </a:pPr>
            <a:r>
              <a:rPr lang="en-US" sz="1000" i="0" kern="1200" dirty="0">
                <a:solidFill>
                  <a:schemeClr val="tx1"/>
                </a:solidFill>
                <a:effectLst/>
                <a:latin typeface="Arial" panose="020B0604020202020204" pitchFamily="34" charset="0"/>
                <a:ea typeface="+mn-ea"/>
                <a:cs typeface="Arial" panose="020B0604020202020204" pitchFamily="34" charset="0"/>
              </a:rPr>
              <a:t>If the Code were to establish a cooling-off requirement, a breach of such a requirement would trigger a breach of the Code, which may call into question the firm’s compliance with relevant ethical requirements. The IESBA representatives believe that it would be more appropriate for a breach of such a requirement to be remediated as a quality issue through the firm’s system of quality management.</a:t>
            </a:r>
          </a:p>
          <a:p>
            <a:pPr marL="690372" lvl="1" indent="-347472" algn="just" defTabSz="342900" rtl="0" eaLnBrk="1" latinLnBrk="0" hangingPunct="1">
              <a:lnSpc>
                <a:spcPts val="1400"/>
              </a:lnSpc>
              <a:spcBef>
                <a:spcPts val="600"/>
              </a:spcBef>
              <a:buFont typeface="Courier New" panose="02070309020205020404" pitchFamily="49" charset="0"/>
              <a:buChar char="o"/>
            </a:pPr>
            <a:r>
              <a:rPr lang="en-US" sz="1000" i="0" kern="1200" dirty="0">
                <a:solidFill>
                  <a:schemeClr val="tx1"/>
                </a:solidFill>
                <a:effectLst/>
                <a:latin typeface="Arial" panose="020B0604020202020204" pitchFamily="34" charset="0"/>
                <a:ea typeface="+mn-ea"/>
                <a:cs typeface="Arial" panose="020B0604020202020204" pitchFamily="34" charset="0"/>
              </a:rPr>
              <a:t>If a cooling-off requirement is to be established, it would be better located together with other eligibility criteria for the EQ reviewer in proposed ISQM 2 so that all the relevant material can be found in one place.</a:t>
            </a:r>
          </a:p>
          <a:p>
            <a:pPr marL="347472" indent="-347472" algn="just">
              <a:lnSpc>
                <a:spcPts val="1400"/>
              </a:lnSpc>
              <a:spcBef>
                <a:spcPts val="600"/>
              </a:spcBef>
              <a:buFont typeface="Arial" panose="020B0604020202020204" pitchFamily="34" charset="0"/>
              <a:buChar char="•"/>
            </a:pPr>
            <a:r>
              <a:rPr lang="en-US" sz="1000" i="0" kern="1200" dirty="0">
                <a:solidFill>
                  <a:schemeClr val="tx1"/>
                </a:solidFill>
                <a:effectLst/>
                <a:latin typeface="Arial" panose="020B0604020202020204" pitchFamily="34" charset="0"/>
                <a:ea typeface="+mn-ea"/>
                <a:cs typeface="Arial" panose="020B0604020202020204" pitchFamily="34" charset="0"/>
              </a:rPr>
              <a:t>Overall, IESBA was supportive of including the proposed section in the Code (although there was some discussion about the appropriate location in the Code). Furthermore, there was no objection to the approach being followed in that ISQM 2 could build on the principles established in the Code and propose a requirement for a mandatory cooling-off period. Sylvie made it clear that this still needs to be discussed </a:t>
            </a:r>
            <a:r>
              <a:rPr lang="en-US" sz="1000" b="1" i="0" kern="1200" dirty="0">
                <a:solidFill>
                  <a:schemeClr val="tx1"/>
                </a:solidFill>
                <a:effectLst/>
                <a:latin typeface="Arial" panose="020B0604020202020204" pitchFamily="34" charset="0"/>
                <a:ea typeface="+mn-ea"/>
                <a:cs typeface="Arial" panose="020B0604020202020204" pitchFamily="34" charset="0"/>
              </a:rPr>
              <a:t>at this IAASB meeting</a:t>
            </a:r>
            <a:r>
              <a:rPr lang="en-US" sz="1000" i="0" kern="1200" dirty="0">
                <a:solidFill>
                  <a:schemeClr val="tx1"/>
                </a:solidFill>
                <a:effectLst/>
                <a:latin typeface="Arial" panose="020B0604020202020204" pitchFamily="34" charset="0"/>
                <a:ea typeface="+mn-ea"/>
                <a:cs typeface="Arial" panose="020B0604020202020204" pitchFamily="34" charset="0"/>
              </a:rPr>
              <a:t>. There was one question around “why 2 years”, but Sylvie shut that down as “that is for the ISQM 2 Task Force to decide and the IAASB to deliberate”.</a:t>
            </a:r>
          </a:p>
        </p:txBody>
      </p:sp>
      <p:sp>
        <p:nvSpPr>
          <p:cNvPr id="4" name="Slide Number Placeholder 3"/>
          <p:cNvSpPr>
            <a:spLocks noGrp="1"/>
          </p:cNvSpPr>
          <p:nvPr>
            <p:ph type="sldNum" sz="quarter" idx="5"/>
          </p:nvPr>
        </p:nvSpPr>
        <p:spPr/>
        <p:txBody>
          <a:bodyPr/>
          <a:lstStyle/>
          <a:p>
            <a:fld id="{4D410189-AC31-7546-878A-F48FDE4A29F5}" type="slidenum">
              <a:rPr lang="en-US" smtClean="0"/>
              <a:t>8</a:t>
            </a:fld>
            <a:endParaRPr lang="en-US" dirty="0"/>
          </a:p>
        </p:txBody>
      </p:sp>
    </p:spTree>
    <p:extLst>
      <p:ext uri="{BB962C8B-B14F-4D97-AF65-F5344CB8AC3E}">
        <p14:creationId xmlns:p14="http://schemas.microsoft.com/office/powerpoint/2010/main" val="42460963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just">
              <a:lnSpc>
                <a:spcPts val="2400"/>
              </a:lnSpc>
              <a:spcBef>
                <a:spcPts val="600"/>
              </a:spcBef>
              <a:spcAft>
                <a:spcPts val="0"/>
              </a:spcAft>
              <a:buNone/>
            </a:pPr>
            <a:endParaRPr lang="en-US" sz="1000" i="1" dirty="0">
              <a:solidFill>
                <a:schemeClr val="bg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9</a:t>
            </a:fld>
            <a:endParaRPr lang="en-US" dirty="0"/>
          </a:p>
        </p:txBody>
      </p:sp>
    </p:spTree>
    <p:extLst>
      <p:ext uri="{BB962C8B-B14F-4D97-AF65-F5344CB8AC3E}">
        <p14:creationId xmlns:p14="http://schemas.microsoft.com/office/powerpoint/2010/main" val="27413645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342900" rtl="0" eaLnBrk="1" fontAlgn="auto" latinLnBrk="0" hangingPunct="1">
              <a:lnSpc>
                <a:spcPts val="1400"/>
              </a:lnSpc>
              <a:spcBef>
                <a:spcPts val="600"/>
              </a:spcBef>
              <a:spcAft>
                <a:spcPts val="0"/>
              </a:spcAft>
              <a:buClrTx/>
              <a:buSzTx/>
              <a:buFont typeface="Arial" panose="020B0604020202020204" pitchFamily="34" charset="0"/>
              <a:buNone/>
              <a:tabLst/>
              <a:defRPr/>
            </a:pPr>
            <a:r>
              <a:rPr lang="en-US" sz="1000" b="1" u="none" kern="1200" dirty="0">
                <a:solidFill>
                  <a:schemeClr val="tx1"/>
                </a:solidFill>
                <a:effectLst/>
                <a:latin typeface="Arial" panose="020B0604020202020204" pitchFamily="34" charset="0"/>
                <a:ea typeface="+mn-ea"/>
                <a:cs typeface="Arial" panose="020B0604020202020204" pitchFamily="34" charset="0"/>
              </a:rPr>
              <a:t>EQ Reviewer’s Evaluation of the Exercise of Professional Skepticism by the Engagement Team:</a:t>
            </a:r>
            <a:endParaRPr lang="en-US" sz="1000" b="1" i="1" u="none" kern="1200" dirty="0">
              <a:solidFill>
                <a:schemeClr val="tx1"/>
              </a:solidFill>
              <a:effectLst/>
              <a:latin typeface="Arial" panose="020B0604020202020204" pitchFamily="34" charset="0"/>
              <a:ea typeface="+mn-ea"/>
              <a:cs typeface="Arial" panose="020B0604020202020204" pitchFamily="34" charset="0"/>
            </a:endParaRPr>
          </a:p>
          <a:p>
            <a:pPr marL="0" marR="0" lvl="0" indent="0" algn="just" defTabSz="342900" rtl="0" eaLnBrk="1" fontAlgn="auto" latinLnBrk="0" hangingPunct="1">
              <a:lnSpc>
                <a:spcPts val="1400"/>
              </a:lnSpc>
              <a:spcBef>
                <a:spcPts val="600"/>
              </a:spcBef>
              <a:spcAft>
                <a:spcPts val="0"/>
              </a:spcAft>
              <a:buClrTx/>
              <a:buSzTx/>
              <a:buFont typeface="Arial" panose="020B0604020202020204" pitchFamily="34" charset="0"/>
              <a:buNone/>
              <a:tabLst/>
              <a:defRPr/>
            </a:pPr>
            <a:r>
              <a:rPr lang="en-US" sz="1000" b="0" i="1" kern="1200" dirty="0">
                <a:solidFill>
                  <a:schemeClr val="tx1"/>
                </a:solidFill>
                <a:effectLst/>
                <a:latin typeface="Arial" panose="020B0604020202020204" pitchFamily="34" charset="0"/>
                <a:ea typeface="+mn-ea"/>
                <a:cs typeface="Arial" panose="020B0604020202020204" pitchFamily="34" charset="0"/>
              </a:rPr>
              <a:t>ED-ISQM 2 Q6(a): </a:t>
            </a:r>
            <a:r>
              <a:rPr lang="en-US" sz="1000" i="1" kern="1200" dirty="0">
                <a:solidFill>
                  <a:schemeClr val="tx1"/>
                </a:solidFill>
                <a:effectLst/>
                <a:latin typeface="Arial" panose="020B0604020202020204" pitchFamily="34" charset="0"/>
                <a:ea typeface="+mn-ea"/>
                <a:cs typeface="Arial" panose="020B0604020202020204" pitchFamily="34" charset="0"/>
              </a:rPr>
              <a:t>Do you agree that the engagement quality reviewer’s evaluation of the engagement team’s significant judgments includes evaluating the engagement team’s exercise of professional skepticism? </a:t>
            </a:r>
            <a:r>
              <a:rPr lang="en-US" sz="1000" kern="1200" dirty="0">
                <a:solidFill>
                  <a:schemeClr val="tx1"/>
                </a:solidFill>
                <a:effectLst/>
                <a:latin typeface="Arial" panose="020B0604020202020204" pitchFamily="34" charset="0"/>
                <a:ea typeface="+mn-ea"/>
                <a:cs typeface="Arial" panose="020B0604020202020204" pitchFamily="34" charset="0"/>
              </a:rPr>
              <a:t>(See </a:t>
            </a:r>
            <a:r>
              <a:rPr lang="en-US" sz="1000" b="1" kern="1200" dirty="0">
                <a:solidFill>
                  <a:schemeClr val="tx1"/>
                </a:solidFill>
                <a:effectLst/>
                <a:latin typeface="Arial" panose="020B0604020202020204" pitchFamily="34" charset="0"/>
                <a:ea typeface="+mn-ea"/>
                <a:cs typeface="Arial" panose="020B0604020202020204" pitchFamily="34" charset="0"/>
              </a:rPr>
              <a:t>Agenda Item 8-G.11 </a:t>
            </a:r>
            <a:r>
              <a:rPr lang="en-US" sz="1000" b="0" kern="1200" dirty="0">
                <a:solidFill>
                  <a:schemeClr val="tx1"/>
                </a:solidFill>
                <a:effectLst/>
                <a:latin typeface="Arial" panose="020B0604020202020204" pitchFamily="34" charset="0"/>
                <a:ea typeface="+mn-ea"/>
                <a:cs typeface="Arial" panose="020B0604020202020204" pitchFamily="34" charset="0"/>
              </a:rPr>
              <a:t>and</a:t>
            </a:r>
            <a:r>
              <a:rPr lang="en-US" sz="1000" b="1" kern="1200" dirty="0">
                <a:solidFill>
                  <a:schemeClr val="tx1"/>
                </a:solidFill>
                <a:effectLst/>
                <a:latin typeface="Arial" panose="020B0604020202020204" pitchFamily="34" charset="0"/>
                <a:ea typeface="+mn-ea"/>
                <a:cs typeface="Arial" panose="020B0604020202020204" pitchFamily="34" charset="0"/>
              </a:rPr>
              <a:t> Agenda Item 8.G.12 </a:t>
            </a:r>
            <a:r>
              <a:rPr lang="en-US" sz="1000" b="0" kern="1200" dirty="0">
                <a:solidFill>
                  <a:schemeClr val="tx1"/>
                </a:solidFill>
                <a:effectLst/>
                <a:latin typeface="Arial" panose="020B0604020202020204" pitchFamily="34" charset="0"/>
                <a:ea typeface="+mn-ea"/>
                <a:cs typeface="Arial" panose="020B0604020202020204" pitchFamily="34" charset="0"/>
              </a:rPr>
              <a:t>for the NVivo analyses by category and by theme, respectively.)</a:t>
            </a:r>
            <a:endParaRPr lang="en-US" sz="1000" kern="1200" dirty="0">
              <a:solidFill>
                <a:schemeClr val="tx1"/>
              </a:solidFill>
              <a:effectLst/>
              <a:latin typeface="Arial" panose="020B0604020202020204" pitchFamily="34" charset="0"/>
              <a:ea typeface="+mn-ea"/>
              <a:cs typeface="Arial" panose="020B0604020202020204" pitchFamily="34" charset="0"/>
            </a:endParaRPr>
          </a:p>
          <a:p>
            <a:pPr marL="347472" marR="0" lvl="0" indent="-347472" algn="just" defTabSz="342900" rtl="0" eaLnBrk="1" fontAlgn="auto" latinLnBrk="0" hangingPunct="1">
              <a:lnSpc>
                <a:spcPts val="1400"/>
              </a:lnSpc>
              <a:spcBef>
                <a:spcPts val="600"/>
              </a:spcBef>
              <a:spcAft>
                <a:spcPts val="0"/>
              </a:spcAft>
              <a:buClrTx/>
              <a:buSzTx/>
              <a:buFont typeface="Arial" panose="020B0604020202020204" pitchFamily="34" charset="0"/>
              <a:buChar char="•"/>
              <a:tabLst/>
              <a:defRPr/>
            </a:pPr>
            <a:r>
              <a:rPr lang="en-US" sz="1000" kern="1200" dirty="0">
                <a:solidFill>
                  <a:schemeClr val="tx1"/>
                </a:solidFill>
                <a:effectLst/>
                <a:latin typeface="Arial" panose="020B0604020202020204" pitchFamily="34" charset="0"/>
                <a:ea typeface="+mn-ea"/>
                <a:cs typeface="Arial" panose="020B0604020202020204" pitchFamily="34" charset="0"/>
              </a:rPr>
              <a:t>42 (46%) – agreed that the EQ reviewer’s evaluation of significant judgments includes evaluating the engagement team’s exercise of professional skepticism;</a:t>
            </a:r>
          </a:p>
          <a:p>
            <a:pPr marL="347472" lvl="0" indent="-347472" algn="just">
              <a:lnSpc>
                <a:spcPts val="1400"/>
              </a:lnSpc>
              <a:spcBef>
                <a:spcPts val="600"/>
              </a:spcBef>
              <a:spcAft>
                <a:spcPts val="0"/>
              </a:spcAft>
              <a:buFont typeface="Arial" panose="020B0604020202020204" pitchFamily="34" charset="0"/>
              <a:buChar char="•"/>
            </a:pPr>
            <a:r>
              <a:rPr lang="en-US" sz="1000" kern="1200" dirty="0">
                <a:solidFill>
                  <a:schemeClr val="tx1"/>
                </a:solidFill>
                <a:effectLst/>
                <a:latin typeface="Arial" panose="020B0604020202020204" pitchFamily="34" charset="0"/>
                <a:ea typeface="+mn-ea"/>
                <a:cs typeface="Arial" panose="020B0604020202020204" pitchFamily="34" charset="0"/>
              </a:rPr>
              <a:t>31 (34%) – agreed but had further comments;</a:t>
            </a:r>
          </a:p>
          <a:p>
            <a:pPr marL="347472" lvl="0" indent="-347472" algn="just">
              <a:lnSpc>
                <a:spcPts val="1400"/>
              </a:lnSpc>
              <a:spcBef>
                <a:spcPts val="600"/>
              </a:spcBef>
              <a:spcAft>
                <a:spcPts val="0"/>
              </a:spcAft>
              <a:buFont typeface="Arial" panose="020B0604020202020204" pitchFamily="34" charset="0"/>
              <a:buChar char="•"/>
            </a:pPr>
            <a:r>
              <a:rPr lang="en-US" sz="1000" kern="1200" dirty="0">
                <a:solidFill>
                  <a:schemeClr val="tx1"/>
                </a:solidFill>
                <a:effectLst/>
                <a:latin typeface="Arial" panose="020B0604020202020204" pitchFamily="34" charset="0"/>
                <a:ea typeface="+mn-ea"/>
                <a:cs typeface="Arial" panose="020B0604020202020204" pitchFamily="34" charset="0"/>
              </a:rPr>
              <a:t>2 (2%) – disagreed as it seems excessive; and</a:t>
            </a:r>
          </a:p>
          <a:p>
            <a:pPr marL="347472" lvl="0" indent="-347472" algn="just">
              <a:lnSpc>
                <a:spcPts val="1400"/>
              </a:lnSpc>
              <a:spcBef>
                <a:spcPts val="600"/>
              </a:spcBef>
              <a:spcAft>
                <a:spcPts val="0"/>
              </a:spcAft>
              <a:buFont typeface="Arial" panose="020B0604020202020204" pitchFamily="34" charset="0"/>
              <a:buChar char="•"/>
            </a:pPr>
            <a:r>
              <a:rPr lang="en-US" sz="1000" kern="1200" dirty="0">
                <a:solidFill>
                  <a:schemeClr val="tx1"/>
                </a:solidFill>
                <a:effectLst/>
                <a:latin typeface="Arial" panose="020B0604020202020204" pitchFamily="34" charset="0"/>
                <a:ea typeface="+mn-ea"/>
                <a:cs typeface="Arial" panose="020B0604020202020204" pitchFamily="34" charset="0"/>
              </a:rPr>
              <a:t>17 (18%) – responses were unclear or did not include specific comments.</a:t>
            </a:r>
          </a:p>
          <a:p>
            <a:pPr marL="347472" lvl="0" indent="-347472" algn="just">
              <a:lnSpc>
                <a:spcPts val="1400"/>
              </a:lnSpc>
              <a:spcBef>
                <a:spcPts val="600"/>
              </a:spcBef>
              <a:spcAft>
                <a:spcPts val="0"/>
              </a:spcAft>
              <a:buFont typeface="Arial" panose="020B0604020202020204" pitchFamily="34" charset="0"/>
              <a:buChar char="•"/>
            </a:pPr>
            <a:r>
              <a:rPr lang="en-US" sz="1000" u="none" strike="noStrike" kern="1200" dirty="0">
                <a:solidFill>
                  <a:schemeClr val="tx1"/>
                </a:solidFill>
                <a:effectLst/>
                <a:latin typeface="Arial" panose="020B0604020202020204" pitchFamily="34" charset="0"/>
                <a:ea typeface="+mn-ea"/>
                <a:cs typeface="Arial" panose="020B0604020202020204" pitchFamily="34" charset="0"/>
              </a:rPr>
              <a:t>Of the respondents that agreed that the EQ reviewer’s evaluation of significant judgments includes evaluating the engagement team’s exercise of professional skepticism, there were no specific comments to note other than their acknowledgment for support.</a:t>
            </a:r>
          </a:p>
          <a:p>
            <a:pPr marL="347472" lvl="0" indent="-347472" algn="just">
              <a:lnSpc>
                <a:spcPts val="1400"/>
              </a:lnSpc>
              <a:spcBef>
                <a:spcPts val="600"/>
              </a:spcBef>
              <a:spcAft>
                <a:spcPts val="0"/>
              </a:spcAft>
              <a:buFont typeface="Arial" panose="020B0604020202020204" pitchFamily="34" charset="0"/>
              <a:buChar char="•"/>
            </a:pPr>
            <a:r>
              <a:rPr lang="en-US" sz="1000" u="none" strike="noStrike" kern="1200" dirty="0">
                <a:solidFill>
                  <a:schemeClr val="tx1"/>
                </a:solidFill>
                <a:effectLst/>
                <a:latin typeface="Arial" panose="020B0604020202020204" pitchFamily="34" charset="0"/>
                <a:ea typeface="+mn-ea"/>
                <a:cs typeface="Arial" panose="020B0604020202020204" pitchFamily="34" charset="0"/>
              </a:rPr>
              <a:t>There were other respondents that also supported the EQ reviewer’s evaluation of significant judgments includes evaluating the engagement team’s exercise of professional skepticism but had varying concerns or suggestions, which include:</a:t>
            </a:r>
          </a:p>
          <a:p>
            <a:pPr marL="690372" lvl="1" indent="-347472" algn="just">
              <a:lnSpc>
                <a:spcPts val="1400"/>
              </a:lnSpc>
              <a:spcBef>
                <a:spcPts val="600"/>
              </a:spcBef>
              <a:spcAft>
                <a:spcPts val="0"/>
              </a:spcAft>
              <a:buFont typeface="Courier New" panose="02070309020205020404" pitchFamily="49" charset="0"/>
              <a:buChar char="o"/>
            </a:pPr>
            <a:r>
              <a:rPr lang="en-US" sz="1000" kern="1200" dirty="0">
                <a:solidFill>
                  <a:schemeClr val="tx1"/>
                </a:solidFill>
                <a:effectLst/>
                <a:latin typeface="Arial" panose="020B0604020202020204" pitchFamily="34" charset="0"/>
                <a:ea typeface="+mn-ea"/>
                <a:cs typeface="Arial" panose="020B0604020202020204" pitchFamily="34" charset="0"/>
              </a:rPr>
              <a:t>Clarifying how to demonstrate compliance with requirement, or how to document the EQ reviewer’s evaluation of the exercise of professional skepticism by the engagement team. </a:t>
            </a:r>
          </a:p>
          <a:p>
            <a:pPr marL="690372" lvl="1" indent="-347472" algn="just">
              <a:lnSpc>
                <a:spcPts val="1400"/>
              </a:lnSpc>
              <a:spcBef>
                <a:spcPts val="600"/>
              </a:spcBef>
              <a:spcAft>
                <a:spcPts val="0"/>
              </a:spcAft>
              <a:buFont typeface="Courier New" panose="02070309020205020404" pitchFamily="49" charset="0"/>
              <a:buChar char="o"/>
            </a:pPr>
            <a:r>
              <a:rPr lang="en-US" sz="1000" kern="1200" dirty="0">
                <a:solidFill>
                  <a:schemeClr val="tx1"/>
                </a:solidFill>
                <a:effectLst/>
                <a:latin typeface="Arial" panose="020B0604020202020204" pitchFamily="34" charset="0"/>
                <a:ea typeface="+mn-ea"/>
                <a:cs typeface="Arial" panose="020B0604020202020204" pitchFamily="34" charset="0"/>
              </a:rPr>
              <a:t>Other respondents also expressed challenges or limitations with respect to the EQ reviewer’s evaluation of the exercise of professional skepticism by the engagement team.</a:t>
            </a:r>
          </a:p>
          <a:p>
            <a:pPr marL="347472" lvl="0" indent="-347472" algn="just">
              <a:lnSpc>
                <a:spcPts val="1400"/>
              </a:lnSpc>
              <a:spcBef>
                <a:spcPts val="600"/>
              </a:spcBef>
              <a:spcAft>
                <a:spcPts val="0"/>
              </a:spcAft>
              <a:buFont typeface="Arial" panose="020B0604020202020204" pitchFamily="34" charset="0"/>
              <a:buChar char="•"/>
            </a:pPr>
            <a:r>
              <a:rPr lang="en-US" sz="1000" u="none" strike="noStrike" kern="1200" dirty="0">
                <a:solidFill>
                  <a:schemeClr val="tx1"/>
                </a:solidFill>
                <a:effectLst/>
                <a:latin typeface="Arial" panose="020B0604020202020204" pitchFamily="34" charset="0"/>
                <a:ea typeface="+mn-ea"/>
                <a:cs typeface="Arial" panose="020B0604020202020204" pitchFamily="34" charset="0"/>
              </a:rPr>
              <a:t>Other respondents disagreed with the EQ reviewer’s evaluation of the exercise of professional skepticism by the engagement team , as it seems excessive.</a:t>
            </a:r>
            <a:endParaRPr lang="en-US" sz="1000" kern="1200" dirty="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10</a:t>
            </a:fld>
            <a:endParaRPr lang="en-US" dirty="0"/>
          </a:p>
        </p:txBody>
      </p:sp>
    </p:spTree>
    <p:extLst>
      <p:ext uri="{BB962C8B-B14F-4D97-AF65-F5344CB8AC3E}">
        <p14:creationId xmlns:p14="http://schemas.microsoft.com/office/powerpoint/2010/main" val="22016448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342900" rtl="0" eaLnBrk="1" fontAlgn="auto" latinLnBrk="0" hangingPunct="1">
              <a:lnSpc>
                <a:spcPts val="1400"/>
              </a:lnSpc>
              <a:spcBef>
                <a:spcPts val="600"/>
              </a:spcBef>
              <a:spcAft>
                <a:spcPts val="0"/>
              </a:spcAft>
              <a:buClrTx/>
              <a:buSzTx/>
              <a:buFont typeface="Arial" panose="020B0604020202020204" pitchFamily="34" charset="0"/>
              <a:buNone/>
              <a:tabLst/>
              <a:defRPr/>
            </a:pPr>
            <a:r>
              <a:rPr lang="en-US" sz="1000" b="1" u="none" kern="1200" dirty="0">
                <a:solidFill>
                  <a:schemeClr val="tx1"/>
                </a:solidFill>
                <a:effectLst/>
                <a:latin typeface="Arial" panose="020B0604020202020204" pitchFamily="34" charset="0"/>
                <a:ea typeface="+mn-ea"/>
                <a:cs typeface="Arial" panose="020B0604020202020204" pitchFamily="34" charset="0"/>
              </a:rPr>
              <a:t>Exercise of Professional Skepticism by the EQ Reviewer:</a:t>
            </a:r>
            <a:endParaRPr lang="en-US" sz="1000" b="1" i="1" u="none" kern="1200" dirty="0">
              <a:solidFill>
                <a:schemeClr val="tx1"/>
              </a:solidFill>
              <a:effectLst/>
              <a:latin typeface="Arial" panose="020B0604020202020204" pitchFamily="34" charset="0"/>
              <a:ea typeface="+mn-ea"/>
              <a:cs typeface="Arial" panose="020B0604020202020204" pitchFamily="34" charset="0"/>
            </a:endParaRPr>
          </a:p>
          <a:p>
            <a:pPr marL="0" marR="0" lvl="0" indent="0" algn="just" defTabSz="342900" rtl="0" eaLnBrk="1" fontAlgn="auto" latinLnBrk="0" hangingPunct="1">
              <a:lnSpc>
                <a:spcPts val="1400"/>
              </a:lnSpc>
              <a:spcBef>
                <a:spcPts val="600"/>
              </a:spcBef>
              <a:spcAft>
                <a:spcPts val="0"/>
              </a:spcAft>
              <a:buClrTx/>
              <a:buSzTx/>
              <a:buFont typeface="Arial" panose="020B0604020202020204" pitchFamily="34" charset="0"/>
              <a:buNone/>
              <a:tabLst/>
              <a:defRPr/>
            </a:pPr>
            <a:r>
              <a:rPr lang="en-US" sz="1000" b="0" i="1" kern="1200" dirty="0">
                <a:solidFill>
                  <a:schemeClr val="tx1"/>
                </a:solidFill>
                <a:effectLst/>
                <a:latin typeface="Arial" panose="020B0604020202020204" pitchFamily="34" charset="0"/>
                <a:ea typeface="+mn-ea"/>
                <a:cs typeface="Arial" panose="020B0604020202020204" pitchFamily="34" charset="0"/>
              </a:rPr>
              <a:t>ED-ISQM 2 Q6(b): </a:t>
            </a:r>
            <a:r>
              <a:rPr lang="en-US" sz="1000" i="1" kern="1200" dirty="0">
                <a:solidFill>
                  <a:schemeClr val="tx1"/>
                </a:solidFill>
                <a:effectLst/>
                <a:latin typeface="Arial" panose="020B0604020202020204" pitchFamily="34" charset="0"/>
                <a:ea typeface="+mn-ea"/>
                <a:cs typeface="Arial" panose="020B0604020202020204" pitchFamily="34" charset="0"/>
              </a:rPr>
              <a:t>Do you believe that ED-ISQM 2 should further address the exercise of professional skepticism by the engagement quality reviewer? If so, what suggestions do you have in that regard? </a:t>
            </a:r>
            <a:r>
              <a:rPr lang="en-US" sz="1000" kern="1200" dirty="0">
                <a:solidFill>
                  <a:schemeClr val="tx1"/>
                </a:solidFill>
                <a:effectLst/>
                <a:latin typeface="Arial" panose="020B0604020202020204" pitchFamily="34" charset="0"/>
                <a:ea typeface="+mn-ea"/>
                <a:cs typeface="Arial" panose="020B0604020202020204" pitchFamily="34" charset="0"/>
              </a:rPr>
              <a:t>(See </a:t>
            </a:r>
            <a:r>
              <a:rPr lang="en-US" sz="1000" b="1" kern="1200" dirty="0">
                <a:solidFill>
                  <a:schemeClr val="tx1"/>
                </a:solidFill>
                <a:effectLst/>
                <a:latin typeface="Arial" panose="020B0604020202020204" pitchFamily="34" charset="0"/>
                <a:ea typeface="+mn-ea"/>
                <a:cs typeface="Arial" panose="020B0604020202020204" pitchFamily="34" charset="0"/>
              </a:rPr>
              <a:t>Agenda Item 8-G.13 </a:t>
            </a:r>
            <a:r>
              <a:rPr lang="en-US" sz="1000" b="0" kern="1200" dirty="0">
                <a:solidFill>
                  <a:schemeClr val="tx1"/>
                </a:solidFill>
                <a:effectLst/>
                <a:latin typeface="Arial" panose="020B0604020202020204" pitchFamily="34" charset="0"/>
                <a:ea typeface="+mn-ea"/>
                <a:cs typeface="Arial" panose="020B0604020202020204" pitchFamily="34" charset="0"/>
              </a:rPr>
              <a:t>and</a:t>
            </a:r>
            <a:r>
              <a:rPr lang="en-US" sz="1000" b="1" kern="1200" dirty="0">
                <a:solidFill>
                  <a:schemeClr val="tx1"/>
                </a:solidFill>
                <a:effectLst/>
                <a:latin typeface="Arial" panose="020B0604020202020204" pitchFamily="34" charset="0"/>
                <a:ea typeface="+mn-ea"/>
                <a:cs typeface="Arial" panose="020B0604020202020204" pitchFamily="34" charset="0"/>
              </a:rPr>
              <a:t> Agenda Item 8.G.14 </a:t>
            </a:r>
            <a:r>
              <a:rPr lang="en-US" sz="1000" b="0" kern="1200" dirty="0">
                <a:solidFill>
                  <a:schemeClr val="tx1"/>
                </a:solidFill>
                <a:effectLst/>
                <a:latin typeface="Arial" panose="020B0604020202020204" pitchFamily="34" charset="0"/>
                <a:ea typeface="+mn-ea"/>
                <a:cs typeface="Arial" panose="020B0604020202020204" pitchFamily="34" charset="0"/>
              </a:rPr>
              <a:t>for the NVivo analyses by category and by theme, respectively.)</a:t>
            </a:r>
            <a:endParaRPr lang="en-US" sz="1000" kern="1200" dirty="0">
              <a:solidFill>
                <a:schemeClr val="tx1"/>
              </a:solidFill>
              <a:effectLst/>
              <a:latin typeface="Arial" panose="020B0604020202020204" pitchFamily="34" charset="0"/>
              <a:ea typeface="+mn-ea"/>
              <a:cs typeface="Arial" panose="020B0604020202020204" pitchFamily="34" charset="0"/>
            </a:endParaRPr>
          </a:p>
          <a:p>
            <a:pPr marL="347472" lvl="0" indent="-347472" algn="just">
              <a:lnSpc>
                <a:spcPts val="1400"/>
              </a:lnSpc>
              <a:spcBef>
                <a:spcPts val="600"/>
              </a:spcBef>
              <a:spcAft>
                <a:spcPts val="0"/>
              </a:spcAft>
              <a:buFont typeface="Arial" panose="020B0604020202020204" pitchFamily="34" charset="0"/>
              <a:buChar char="•"/>
            </a:pPr>
            <a:r>
              <a:rPr lang="en-US" sz="1000" kern="1200" dirty="0">
                <a:solidFill>
                  <a:schemeClr val="tx1"/>
                </a:solidFill>
                <a:effectLst/>
                <a:latin typeface="Arial" panose="020B0604020202020204" pitchFamily="34" charset="0"/>
                <a:ea typeface="+mn-ea"/>
                <a:cs typeface="Arial" panose="020B0604020202020204" pitchFamily="34" charset="0"/>
              </a:rPr>
              <a:t>19 (21%) – agreed that ED-ISQM 2 should further address the exercise of professional skepticism by the EQ reviewer;</a:t>
            </a:r>
          </a:p>
          <a:p>
            <a:pPr marL="347472" lvl="0" indent="-347472" algn="just">
              <a:lnSpc>
                <a:spcPts val="1400"/>
              </a:lnSpc>
              <a:spcBef>
                <a:spcPts val="600"/>
              </a:spcBef>
              <a:spcAft>
                <a:spcPts val="0"/>
              </a:spcAft>
              <a:buFont typeface="Arial" panose="020B0604020202020204" pitchFamily="34" charset="0"/>
              <a:buChar char="•"/>
            </a:pPr>
            <a:r>
              <a:rPr lang="en-US" sz="1000" kern="1200" dirty="0">
                <a:solidFill>
                  <a:schemeClr val="tx1"/>
                </a:solidFill>
                <a:effectLst/>
                <a:latin typeface="Arial" panose="020B0604020202020204" pitchFamily="34" charset="0"/>
                <a:ea typeface="+mn-ea"/>
                <a:cs typeface="Arial" panose="020B0604020202020204" pitchFamily="34" charset="0"/>
              </a:rPr>
              <a:t>2 (2%) – noted that it should be addressed in the IESBA Code;</a:t>
            </a:r>
          </a:p>
          <a:p>
            <a:pPr marL="347472" lvl="0" indent="-347472" algn="just">
              <a:lnSpc>
                <a:spcPts val="1400"/>
              </a:lnSpc>
              <a:spcBef>
                <a:spcPts val="600"/>
              </a:spcBef>
              <a:spcAft>
                <a:spcPts val="0"/>
              </a:spcAft>
              <a:buFont typeface="Arial" panose="020B0604020202020204" pitchFamily="34" charset="0"/>
              <a:buChar char="•"/>
            </a:pPr>
            <a:r>
              <a:rPr lang="en-US" sz="1000" kern="1200" dirty="0">
                <a:solidFill>
                  <a:schemeClr val="tx1"/>
                </a:solidFill>
                <a:effectLst/>
                <a:latin typeface="Arial" panose="020B0604020202020204" pitchFamily="34" charset="0"/>
                <a:ea typeface="+mn-ea"/>
                <a:cs typeface="Arial" panose="020B0604020202020204" pitchFamily="34" charset="0"/>
              </a:rPr>
              <a:t>29 (32%) – noted that it is not relevant, so there is no need to further address it; or noted that ED-ISQM 2 sufficiently addresses it, so there is no need to further address it (i.e., implicit in the objective evaluation); and</a:t>
            </a:r>
          </a:p>
          <a:p>
            <a:pPr marL="347472" lvl="0" indent="-347472" algn="just">
              <a:lnSpc>
                <a:spcPts val="1400"/>
              </a:lnSpc>
              <a:spcBef>
                <a:spcPts val="600"/>
              </a:spcBef>
              <a:spcAft>
                <a:spcPts val="0"/>
              </a:spcAft>
              <a:buFont typeface="Arial" panose="020B0604020202020204" pitchFamily="34" charset="0"/>
              <a:buChar char="•"/>
            </a:pPr>
            <a:r>
              <a:rPr lang="en-US" sz="1000" kern="1200" dirty="0">
                <a:solidFill>
                  <a:schemeClr val="tx1"/>
                </a:solidFill>
                <a:effectLst/>
                <a:latin typeface="Arial" panose="020B0604020202020204" pitchFamily="34" charset="0"/>
                <a:ea typeface="+mn-ea"/>
                <a:cs typeface="Arial" panose="020B0604020202020204" pitchFamily="34" charset="0"/>
              </a:rPr>
              <a:t>42 (45%) – responses were unclear or did not include specific comments.</a:t>
            </a:r>
          </a:p>
          <a:p>
            <a:pPr marL="347472" lvl="0" indent="-347472" algn="just">
              <a:lnSpc>
                <a:spcPts val="1400"/>
              </a:lnSpc>
              <a:spcBef>
                <a:spcPts val="600"/>
              </a:spcBef>
              <a:spcAft>
                <a:spcPts val="0"/>
              </a:spcAft>
              <a:buFont typeface="Arial" panose="020B0604020202020204" pitchFamily="34" charset="0"/>
              <a:buChar char="•"/>
            </a:pPr>
            <a:r>
              <a:rPr lang="en-US" sz="1000" u="none" strike="noStrike" kern="1200" dirty="0">
                <a:solidFill>
                  <a:schemeClr val="tx1"/>
                </a:solidFill>
                <a:effectLst/>
                <a:latin typeface="Arial" panose="020B0604020202020204" pitchFamily="34" charset="0"/>
                <a:ea typeface="+mn-ea"/>
                <a:cs typeface="Arial" panose="020B0604020202020204" pitchFamily="34" charset="0"/>
              </a:rPr>
              <a:t>In analyzing the comments on ED-ISQM 2, the Task Force noted three perspectives from respondents with respect to the exercise of professional skepticism by the EQ reviewer:</a:t>
            </a:r>
          </a:p>
          <a:p>
            <a:pPr marL="347472" lvl="0" indent="-347472" algn="just">
              <a:lnSpc>
                <a:spcPts val="1400"/>
              </a:lnSpc>
              <a:spcBef>
                <a:spcPts val="600"/>
              </a:spcBef>
              <a:spcAft>
                <a:spcPts val="0"/>
              </a:spcAft>
              <a:buFont typeface="Arial" panose="020B0604020202020204" pitchFamily="34" charset="0"/>
              <a:buChar char="•"/>
            </a:pPr>
            <a:r>
              <a:rPr lang="en-US" sz="1000" b="1" kern="1200" dirty="0">
                <a:solidFill>
                  <a:schemeClr val="tx1"/>
                </a:solidFill>
                <a:effectLst/>
                <a:latin typeface="Arial" panose="020B0604020202020204" pitchFamily="34" charset="0"/>
                <a:ea typeface="+mn-ea"/>
                <a:cs typeface="Arial" panose="020B0604020202020204" pitchFamily="34" charset="0"/>
              </a:rPr>
              <a:t>First:</a:t>
            </a:r>
            <a:r>
              <a:rPr lang="en-US" sz="1000" kern="1200" dirty="0">
                <a:solidFill>
                  <a:schemeClr val="tx1"/>
                </a:solidFill>
                <a:effectLst/>
                <a:latin typeface="Arial" panose="020B0604020202020204" pitchFamily="34" charset="0"/>
                <a:ea typeface="+mn-ea"/>
                <a:cs typeface="Arial" panose="020B0604020202020204" pitchFamily="34" charset="0"/>
              </a:rPr>
              <a:t> Certain respondents noted that the exercise of professional skepticism by the EQ reviewer is not relevant, so there is no need to further address it.</a:t>
            </a:r>
          </a:p>
          <a:p>
            <a:pPr marL="690372" lvl="1" indent="-347472" algn="just">
              <a:lnSpc>
                <a:spcPts val="1400"/>
              </a:lnSpc>
              <a:spcBef>
                <a:spcPts val="600"/>
              </a:spcBef>
              <a:spcAft>
                <a:spcPts val="0"/>
              </a:spcAft>
              <a:buFont typeface="Courier New" panose="02070309020205020404" pitchFamily="49" charset="0"/>
              <a:buChar char="o"/>
            </a:pPr>
            <a:r>
              <a:rPr lang="en-US" sz="1000" kern="1200" dirty="0">
                <a:solidFill>
                  <a:schemeClr val="tx1"/>
                </a:solidFill>
                <a:effectLst/>
                <a:latin typeface="Arial" panose="020B0604020202020204" pitchFamily="34" charset="0"/>
                <a:ea typeface="+mn-ea"/>
                <a:cs typeface="Arial" panose="020B0604020202020204" pitchFamily="34" charset="0"/>
              </a:rPr>
              <a:t>Proponents of this perspective argued that since the EQ reviewer is not a part of the engagement team, the EQ reviewer does not gather evidence to support the opinion or conclusion on the engagement. </a:t>
            </a:r>
          </a:p>
          <a:p>
            <a:pPr marL="690372" lvl="1" indent="-347472" algn="just">
              <a:lnSpc>
                <a:spcPts val="1400"/>
              </a:lnSpc>
              <a:spcBef>
                <a:spcPts val="600"/>
              </a:spcBef>
              <a:spcAft>
                <a:spcPts val="0"/>
              </a:spcAft>
              <a:buFont typeface="Courier New" panose="02070309020205020404" pitchFamily="49" charset="0"/>
              <a:buChar char="o"/>
            </a:pPr>
            <a:r>
              <a:rPr lang="en-US" sz="1000" kern="1200" dirty="0">
                <a:solidFill>
                  <a:schemeClr val="tx1"/>
                </a:solidFill>
                <a:effectLst/>
                <a:latin typeface="Arial" panose="020B0604020202020204" pitchFamily="34" charset="0"/>
                <a:ea typeface="+mn-ea"/>
                <a:cs typeface="Arial" panose="020B0604020202020204" pitchFamily="34" charset="0"/>
              </a:rPr>
              <a:t>Some of these respondents noted that, with respect to professional judgments made by the EQ reviewer, it may be appropriate to consider the IESBA project on the role and mindset expected of professional accountants, rather than focusing on the exercise of professional skepticism of the EQ reviewer.</a:t>
            </a:r>
          </a:p>
          <a:p>
            <a:pPr marL="347472" lvl="0" indent="-347472" algn="just">
              <a:lnSpc>
                <a:spcPts val="1400"/>
              </a:lnSpc>
              <a:spcBef>
                <a:spcPts val="600"/>
              </a:spcBef>
              <a:spcAft>
                <a:spcPts val="0"/>
              </a:spcAft>
              <a:buFont typeface="Arial" panose="020B0604020202020204" pitchFamily="34" charset="0"/>
              <a:buChar char="•"/>
            </a:pPr>
            <a:r>
              <a:rPr lang="en-US" sz="1000" b="1" kern="1200" dirty="0">
                <a:solidFill>
                  <a:schemeClr val="tx1"/>
                </a:solidFill>
                <a:effectLst/>
                <a:latin typeface="Arial" panose="020B0604020202020204" pitchFamily="34" charset="0"/>
                <a:ea typeface="+mn-ea"/>
                <a:cs typeface="Arial" panose="020B0604020202020204" pitchFamily="34" charset="0"/>
              </a:rPr>
              <a:t>Second:</a:t>
            </a:r>
            <a:r>
              <a:rPr lang="en-US" sz="1000" kern="1200" dirty="0">
                <a:solidFill>
                  <a:schemeClr val="tx1"/>
                </a:solidFill>
                <a:effectLst/>
                <a:latin typeface="Arial" panose="020B0604020202020204" pitchFamily="34" charset="0"/>
                <a:ea typeface="+mn-ea"/>
                <a:cs typeface="Arial" panose="020B0604020202020204" pitchFamily="34" charset="0"/>
              </a:rPr>
              <a:t> Another group of respondents noted that ISQM 2 sufficiently addresses the exercise of professional skepticism by the EQ reviewer, so there is no need to further address it (i.e., it is implicit in the objective evaluation of significant judgments).</a:t>
            </a:r>
          </a:p>
          <a:p>
            <a:pPr marL="347472" lvl="0" indent="-347472" algn="just">
              <a:lnSpc>
                <a:spcPts val="1400"/>
              </a:lnSpc>
              <a:spcBef>
                <a:spcPts val="600"/>
              </a:spcBef>
              <a:spcAft>
                <a:spcPts val="0"/>
              </a:spcAft>
              <a:buFont typeface="Arial" panose="020B0604020202020204" pitchFamily="34" charset="0"/>
              <a:buChar char="•"/>
            </a:pPr>
            <a:r>
              <a:rPr lang="en-US" sz="1000" b="1" kern="1200" dirty="0">
                <a:solidFill>
                  <a:schemeClr val="tx1"/>
                </a:solidFill>
                <a:effectLst/>
                <a:latin typeface="Arial" panose="020B0604020202020204" pitchFamily="34" charset="0"/>
                <a:ea typeface="+mn-ea"/>
                <a:cs typeface="Arial" panose="020B0604020202020204" pitchFamily="34" charset="0"/>
              </a:rPr>
              <a:t>Third:</a:t>
            </a:r>
            <a:r>
              <a:rPr lang="en-US" sz="1000" kern="1200" dirty="0">
                <a:solidFill>
                  <a:schemeClr val="tx1"/>
                </a:solidFill>
                <a:effectLst/>
                <a:latin typeface="Arial" panose="020B0604020202020204" pitchFamily="34" charset="0"/>
                <a:ea typeface="+mn-ea"/>
                <a:cs typeface="Arial" panose="020B0604020202020204" pitchFamily="34" charset="0"/>
              </a:rPr>
              <a:t> Other respondents noted that ISQM 2 should further address the exercise of professional skepticism by the EQ reviewer, but had few specific suggestions in this regard.</a:t>
            </a:r>
          </a:p>
          <a:p>
            <a:pPr marL="690372" marR="0" lvl="1" indent="-347472" algn="just" defTabSz="342900" rtl="0" eaLnBrk="1" fontAlgn="auto" latinLnBrk="0" hangingPunct="1">
              <a:lnSpc>
                <a:spcPts val="1400"/>
              </a:lnSpc>
              <a:spcBef>
                <a:spcPts val="600"/>
              </a:spcBef>
              <a:spcAft>
                <a:spcPts val="0"/>
              </a:spcAft>
              <a:buClrTx/>
              <a:buSzTx/>
              <a:buFont typeface="Courier New" panose="02070309020205020404" pitchFamily="49" charset="0"/>
              <a:buChar char="o"/>
              <a:tabLst/>
              <a:defRPr/>
            </a:pPr>
            <a:r>
              <a:rPr lang="en-US" sz="1000" kern="1200" dirty="0">
                <a:solidFill>
                  <a:schemeClr val="tx1"/>
                </a:solidFill>
                <a:effectLst/>
                <a:latin typeface="Arial" panose="020B0604020202020204" pitchFamily="34" charset="0"/>
                <a:ea typeface="+mn-ea"/>
                <a:cs typeface="Arial" panose="020B0604020202020204" pitchFamily="34" charset="0"/>
              </a:rPr>
              <a:t>A Monitoring Group member supported the reference to professional skepticism in paragraph 22(d)(i) of ED-ISQM 2. The respondent suggested making a clearer reference to professional skepticism in relation to EQ reviewers for engagements for which professional skepticism is required (including audits), both in the assessment of whether the engagement team applied appropriate professional skepticism and the application of professional skepticism to the evaluation of significant judgments by the EQ reviewer.</a:t>
            </a:r>
          </a:p>
          <a:p>
            <a:pPr marL="690372" marR="0" lvl="1" indent="-347472" algn="just" defTabSz="342900" rtl="0" eaLnBrk="1" fontAlgn="auto" latinLnBrk="0" hangingPunct="1">
              <a:lnSpc>
                <a:spcPts val="1400"/>
              </a:lnSpc>
              <a:spcBef>
                <a:spcPts val="600"/>
              </a:spcBef>
              <a:spcAft>
                <a:spcPts val="0"/>
              </a:spcAft>
              <a:buClrTx/>
              <a:buSzTx/>
              <a:buFont typeface="Courier New" panose="02070309020205020404" pitchFamily="49" charset="0"/>
              <a:buChar char="o"/>
              <a:tabLst/>
              <a:defRPr/>
            </a:pPr>
            <a:r>
              <a:rPr lang="en-US" sz="1000" kern="1200" dirty="0">
                <a:solidFill>
                  <a:schemeClr val="tx1"/>
                </a:solidFill>
                <a:effectLst/>
                <a:latin typeface="Arial" panose="020B0604020202020204" pitchFamily="34" charset="0"/>
                <a:ea typeface="+mn-ea"/>
                <a:cs typeface="Arial" panose="020B0604020202020204" pitchFamily="34" charset="0"/>
              </a:rPr>
              <a:t>Specific suggestions for how the EQ reviewer could apply professional skepticism in performing the review included:</a:t>
            </a:r>
          </a:p>
          <a:p>
            <a:pPr marL="1033272" marR="0" lvl="2" indent="-347472" algn="just" defTabSz="342900" rtl="0" eaLnBrk="1" fontAlgn="auto" latinLnBrk="0" hangingPunct="1">
              <a:lnSpc>
                <a:spcPts val="1400"/>
              </a:lnSpc>
              <a:spcBef>
                <a:spcPts val="600"/>
              </a:spcBef>
              <a:spcAft>
                <a:spcPts val="0"/>
              </a:spcAft>
              <a:buClrTx/>
              <a:buSzTx/>
              <a:buFont typeface="Wingdings" panose="05000000000000000000" pitchFamily="2" charset="2"/>
              <a:buChar char="§"/>
              <a:tabLst/>
              <a:defRPr/>
            </a:pPr>
            <a:r>
              <a:rPr lang="en-US" sz="1000" kern="1200" dirty="0">
                <a:solidFill>
                  <a:schemeClr val="tx1"/>
                </a:solidFill>
                <a:effectLst/>
                <a:latin typeface="Arial" panose="020B0604020202020204" pitchFamily="34" charset="0"/>
                <a:ea typeface="+mn-ea"/>
                <a:cs typeface="Arial" panose="020B0604020202020204" pitchFamily="34" charset="0"/>
              </a:rPr>
              <a:t>Appropriately responding to inconsistent responses by the engagement team to questions about significant judgments.</a:t>
            </a:r>
          </a:p>
          <a:p>
            <a:pPr marL="1033272" marR="0" lvl="2" indent="-347472" algn="just" defTabSz="342900" rtl="0" eaLnBrk="1" fontAlgn="auto" latinLnBrk="0" hangingPunct="1">
              <a:lnSpc>
                <a:spcPts val="1400"/>
              </a:lnSpc>
              <a:spcBef>
                <a:spcPts val="600"/>
              </a:spcBef>
              <a:spcAft>
                <a:spcPts val="0"/>
              </a:spcAft>
              <a:buClrTx/>
              <a:buSzTx/>
              <a:buFont typeface="Wingdings" panose="05000000000000000000" pitchFamily="2" charset="2"/>
              <a:buChar char="§"/>
              <a:tabLst/>
              <a:defRPr/>
            </a:pPr>
            <a:r>
              <a:rPr lang="en-US" sz="1000" kern="1200" dirty="0">
                <a:solidFill>
                  <a:schemeClr val="tx1"/>
                </a:solidFill>
                <a:effectLst/>
                <a:latin typeface="Arial" panose="020B0604020202020204" pitchFamily="34" charset="0"/>
                <a:ea typeface="+mn-ea"/>
                <a:cs typeface="Arial" panose="020B0604020202020204" pitchFamily="34" charset="0"/>
              </a:rPr>
              <a:t>Applying an unbiased view of responses from the engagement team.</a:t>
            </a:r>
          </a:p>
          <a:p>
            <a:pPr marL="1033272" marR="0" lvl="2" indent="-347472" algn="just" defTabSz="342900" rtl="0" eaLnBrk="1" fontAlgn="auto" latinLnBrk="0" hangingPunct="1">
              <a:lnSpc>
                <a:spcPts val="1400"/>
              </a:lnSpc>
              <a:spcBef>
                <a:spcPts val="600"/>
              </a:spcBef>
              <a:spcAft>
                <a:spcPts val="0"/>
              </a:spcAft>
              <a:buClrTx/>
              <a:buSzTx/>
              <a:buFont typeface="Wingdings" panose="05000000000000000000" pitchFamily="2" charset="2"/>
              <a:buChar char="§"/>
              <a:tabLst/>
              <a:defRPr/>
            </a:pPr>
            <a:r>
              <a:rPr lang="en-US" sz="1000" kern="1200" dirty="0">
                <a:solidFill>
                  <a:schemeClr val="tx1"/>
                </a:solidFill>
                <a:effectLst/>
                <a:latin typeface="Arial" panose="020B0604020202020204" pitchFamily="34" charset="0"/>
                <a:ea typeface="+mn-ea"/>
                <a:cs typeface="Arial" panose="020B0604020202020204" pitchFamily="34" charset="0"/>
              </a:rPr>
              <a:t>Being aware of unconscious biases that may affect the exercise of professional judgment.</a:t>
            </a:r>
          </a:p>
          <a:p>
            <a:pPr marL="1033272" marR="0" lvl="2" indent="-347472" algn="just" defTabSz="342900" rtl="0" eaLnBrk="1" fontAlgn="auto" latinLnBrk="0" hangingPunct="1">
              <a:lnSpc>
                <a:spcPts val="1400"/>
              </a:lnSpc>
              <a:spcBef>
                <a:spcPts val="600"/>
              </a:spcBef>
              <a:spcAft>
                <a:spcPts val="0"/>
              </a:spcAft>
              <a:buClrTx/>
              <a:buSzTx/>
              <a:buFont typeface="Wingdings" panose="05000000000000000000" pitchFamily="2" charset="2"/>
              <a:buChar char="§"/>
              <a:tabLst/>
              <a:defRPr/>
            </a:pPr>
            <a:r>
              <a:rPr lang="en-US" sz="1000" kern="1200" dirty="0">
                <a:solidFill>
                  <a:schemeClr val="tx1"/>
                </a:solidFill>
                <a:effectLst/>
                <a:latin typeface="Arial" panose="020B0604020202020204" pitchFamily="34" charset="0"/>
                <a:ea typeface="+mn-ea"/>
                <a:cs typeface="Arial" panose="020B0604020202020204" pitchFamily="34" charset="0"/>
              </a:rPr>
              <a:t>Understanding which matters they should challenge, when determining the extent of their challenge in relation to those matters, and what information they should obtain to satisfy those challenges.</a:t>
            </a:r>
          </a:p>
        </p:txBody>
      </p:sp>
      <p:sp>
        <p:nvSpPr>
          <p:cNvPr id="4" name="Slide Number Placeholder 3"/>
          <p:cNvSpPr>
            <a:spLocks noGrp="1"/>
          </p:cNvSpPr>
          <p:nvPr>
            <p:ph type="sldNum" sz="quarter" idx="5"/>
          </p:nvPr>
        </p:nvSpPr>
        <p:spPr/>
        <p:txBody>
          <a:bodyPr/>
          <a:lstStyle/>
          <a:p>
            <a:fld id="{4D410189-AC31-7546-878A-F48FDE4A29F5}" type="slidenum">
              <a:rPr lang="en-US" smtClean="0"/>
              <a:t>11</a:t>
            </a:fld>
            <a:endParaRPr lang="en-US" dirty="0"/>
          </a:p>
        </p:txBody>
      </p:sp>
    </p:spTree>
    <p:extLst>
      <p:ext uri="{BB962C8B-B14F-4D97-AF65-F5344CB8AC3E}">
        <p14:creationId xmlns:p14="http://schemas.microsoft.com/office/powerpoint/2010/main" val="35353638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7472" lvl="0" indent="-347472" algn="just">
              <a:lnSpc>
                <a:spcPts val="1400"/>
              </a:lnSpc>
              <a:spcBef>
                <a:spcPts val="600"/>
              </a:spcBef>
              <a:spcAft>
                <a:spcPts val="0"/>
              </a:spcAft>
              <a:buFont typeface="Arial" panose="020B0604020202020204" pitchFamily="34" charset="0"/>
              <a:buChar char="•"/>
            </a:pPr>
            <a:r>
              <a:rPr lang="en-US" sz="1000" u="none" strike="noStrike" kern="1200" dirty="0">
                <a:solidFill>
                  <a:schemeClr val="tx1"/>
                </a:solidFill>
                <a:effectLst/>
                <a:latin typeface="Arial" panose="020B0604020202020204" pitchFamily="34" charset="0"/>
                <a:ea typeface="+mn-ea"/>
                <a:cs typeface="Arial" panose="020B0604020202020204" pitchFamily="34" charset="0"/>
              </a:rPr>
              <a:t>In view of the varying perspectives with respect to whether proposed ISQM 2 should further address the exercise of professional skepticism by the EQ reviewer, the Task Force explored:</a:t>
            </a:r>
          </a:p>
          <a:p>
            <a:pPr marL="690372" lvl="1" indent="-347472" algn="just">
              <a:lnSpc>
                <a:spcPts val="1400"/>
              </a:lnSpc>
              <a:spcBef>
                <a:spcPts val="600"/>
              </a:spcBef>
              <a:spcAft>
                <a:spcPts val="0"/>
              </a:spcAft>
              <a:buFont typeface="Courier New" panose="02070309020205020404" pitchFamily="49" charset="0"/>
              <a:buChar char="o"/>
            </a:pPr>
            <a:r>
              <a:rPr lang="en-US" sz="1000" kern="1200" dirty="0">
                <a:solidFill>
                  <a:schemeClr val="tx1"/>
                </a:solidFill>
                <a:effectLst/>
                <a:latin typeface="Arial" panose="020B0604020202020204" pitchFamily="34" charset="0"/>
                <a:ea typeface="+mn-ea"/>
                <a:cs typeface="Arial" panose="020B0604020202020204" pitchFamily="34" charset="0"/>
              </a:rPr>
              <a:t>Whether the exercise of professional skepticism by the EQ reviewer is relevant in an EQ review (</a:t>
            </a:r>
            <a:r>
              <a:rPr lang="en-US" sz="1000" kern="1200" dirty="0" err="1">
                <a:solidFill>
                  <a:schemeClr val="tx1"/>
                </a:solidFill>
                <a:effectLst/>
                <a:latin typeface="Arial" panose="020B0604020202020204" pitchFamily="34" charset="0"/>
                <a:ea typeface="+mn-ea"/>
                <a:cs typeface="Arial" panose="020B0604020202020204" pitchFamily="34" charset="0"/>
              </a:rPr>
              <a:t>e.i.</a:t>
            </a:r>
            <a:r>
              <a:rPr lang="en-US" sz="1000" kern="1200" dirty="0">
                <a:solidFill>
                  <a:schemeClr val="tx1"/>
                </a:solidFill>
                <a:effectLst/>
                <a:latin typeface="Arial" panose="020B0604020202020204" pitchFamily="34" charset="0"/>
                <a:ea typeface="+mn-ea"/>
                <a:cs typeface="Arial" panose="020B0604020202020204" pitchFamily="34" charset="0"/>
              </a:rPr>
              <a:t>, that it is not relevant because the EQ reviewer is not a member of the engagement team and not required to obtain evidence to support the opinion or conclusion on the engagement).</a:t>
            </a:r>
          </a:p>
          <a:p>
            <a:pPr marL="690372" lvl="1" indent="-347472" algn="just">
              <a:lnSpc>
                <a:spcPts val="1400"/>
              </a:lnSpc>
              <a:spcBef>
                <a:spcPts val="600"/>
              </a:spcBef>
              <a:spcAft>
                <a:spcPts val="0"/>
              </a:spcAft>
              <a:buFont typeface="Courier New" panose="02070309020205020404" pitchFamily="49" charset="0"/>
              <a:buChar char="o"/>
            </a:pPr>
            <a:r>
              <a:rPr lang="en-US" sz="1000" kern="1200" dirty="0">
                <a:solidFill>
                  <a:schemeClr val="tx1"/>
                </a:solidFill>
                <a:effectLst/>
                <a:latin typeface="Arial" panose="020B0604020202020204" pitchFamily="34" charset="0"/>
                <a:ea typeface="+mn-ea"/>
                <a:cs typeface="Arial" panose="020B0604020202020204" pitchFamily="34" charset="0"/>
              </a:rPr>
              <a:t>Whether the exercise of professional skepticism by the EQ reviewer is implicit in the objective evaluation of the significant judgments made by the engagement team.</a:t>
            </a:r>
          </a:p>
          <a:p>
            <a:pPr marL="690372" lvl="1" indent="-347472" algn="just">
              <a:lnSpc>
                <a:spcPts val="1400"/>
              </a:lnSpc>
              <a:spcBef>
                <a:spcPts val="600"/>
              </a:spcBef>
              <a:spcAft>
                <a:spcPts val="0"/>
              </a:spcAft>
              <a:buFont typeface="Courier New" panose="02070309020205020404" pitchFamily="49" charset="0"/>
              <a:buChar char="o"/>
            </a:pPr>
            <a:r>
              <a:rPr lang="en-US" sz="1000" kern="1200" dirty="0">
                <a:solidFill>
                  <a:schemeClr val="tx1"/>
                </a:solidFill>
                <a:effectLst/>
                <a:latin typeface="Arial" panose="020B0604020202020204" pitchFamily="34" charset="0"/>
                <a:ea typeface="+mn-ea"/>
                <a:cs typeface="Arial" panose="020B0604020202020204" pitchFamily="34" charset="0"/>
              </a:rPr>
              <a:t>The mindset and behavioral characteristics expected of EQ reviewers in an EQ review.</a:t>
            </a:r>
          </a:p>
          <a:p>
            <a:pPr marL="690372" lvl="1" indent="-347472" algn="just">
              <a:lnSpc>
                <a:spcPts val="1400"/>
              </a:lnSpc>
              <a:spcBef>
                <a:spcPts val="600"/>
              </a:spcBef>
              <a:spcAft>
                <a:spcPts val="0"/>
              </a:spcAft>
              <a:buFont typeface="Courier New" panose="02070309020205020404" pitchFamily="49" charset="0"/>
              <a:buChar char="o"/>
            </a:pPr>
            <a:r>
              <a:rPr lang="en-US" sz="1000" kern="1200" dirty="0">
                <a:solidFill>
                  <a:schemeClr val="tx1"/>
                </a:solidFill>
                <a:effectLst/>
                <a:latin typeface="Arial" panose="020B0604020202020204" pitchFamily="34" charset="0"/>
                <a:ea typeface="+mn-ea"/>
                <a:cs typeface="Arial" panose="020B0604020202020204" pitchFamily="34" charset="0"/>
              </a:rPr>
              <a:t>Whether the term ‘professional skepticism,’ or other alternative terms (e.g., professional judgment) should be used to describe such mindset and behaviors.</a:t>
            </a:r>
          </a:p>
          <a:p>
            <a:pPr marL="690372" lvl="1" indent="-347472" algn="just">
              <a:lnSpc>
                <a:spcPts val="1400"/>
              </a:lnSpc>
              <a:spcBef>
                <a:spcPts val="600"/>
              </a:spcBef>
              <a:spcAft>
                <a:spcPts val="0"/>
              </a:spcAft>
              <a:buFont typeface="Courier New" panose="02070309020205020404" pitchFamily="49" charset="0"/>
              <a:buChar char="o"/>
            </a:pPr>
            <a:r>
              <a:rPr lang="en-US" sz="1000" kern="1200" dirty="0">
                <a:solidFill>
                  <a:schemeClr val="tx1"/>
                </a:solidFill>
                <a:effectLst/>
                <a:latin typeface="Arial" panose="020B0604020202020204" pitchFamily="34" charset="0"/>
                <a:ea typeface="+mn-ea"/>
                <a:cs typeface="Arial" panose="020B0604020202020204" pitchFamily="34" charset="0"/>
              </a:rPr>
              <a:t>Whether additional guidance should be developed, and/or other actions outside of proposed ISQM 2 (i.e., in the IESBA Code) should be taken, to promote such mindset and behaviors. </a:t>
            </a:r>
          </a:p>
          <a:p>
            <a:pPr marL="347472" lvl="0" indent="-347472" algn="just">
              <a:lnSpc>
                <a:spcPts val="1400"/>
              </a:lnSpc>
              <a:spcBef>
                <a:spcPts val="600"/>
              </a:spcBef>
              <a:spcAft>
                <a:spcPts val="0"/>
              </a:spcAft>
              <a:buFont typeface="Arial" panose="020B0604020202020204" pitchFamily="34" charset="0"/>
              <a:buChar char="•"/>
            </a:pPr>
            <a:r>
              <a:rPr lang="en-US" sz="1000" u="none" strike="noStrike" kern="1200" dirty="0">
                <a:solidFill>
                  <a:schemeClr val="tx1"/>
                </a:solidFill>
                <a:effectLst/>
                <a:latin typeface="Arial" panose="020B0604020202020204" pitchFamily="34" charset="0"/>
                <a:ea typeface="+mn-ea"/>
                <a:cs typeface="Arial" panose="020B0604020202020204" pitchFamily="34" charset="0"/>
              </a:rPr>
              <a:t>In the course of its deliberations, the Task Force considered the need for an appropriate balance between the following key considerations:</a:t>
            </a:r>
          </a:p>
          <a:p>
            <a:pPr marL="690372" lvl="1" indent="-347472" algn="just" defTabSz="342900" rtl="0" eaLnBrk="1" latinLnBrk="0" hangingPunct="1">
              <a:lnSpc>
                <a:spcPts val="1400"/>
              </a:lnSpc>
              <a:spcBef>
                <a:spcPts val="600"/>
              </a:spcBef>
              <a:spcAft>
                <a:spcPts val="0"/>
              </a:spcAft>
              <a:buFont typeface="Courier New" panose="02070309020205020404" pitchFamily="49" charset="0"/>
              <a:buChar char="o"/>
            </a:pPr>
            <a:r>
              <a:rPr lang="en-US" sz="1000" u="none" strike="noStrike" kern="1200" dirty="0">
                <a:solidFill>
                  <a:schemeClr val="tx1"/>
                </a:solidFill>
                <a:effectLst/>
                <a:latin typeface="Arial" panose="020B0604020202020204" pitchFamily="34" charset="0"/>
                <a:ea typeface="+mn-ea"/>
                <a:cs typeface="Arial" panose="020B0604020202020204" pitchFamily="34" charset="0"/>
              </a:rPr>
              <a:t>As defined for purposes of the auditing standards, professional skepticism is an attitude that includes a questioning mind, being alert to conditions which may indicate possible misstatement due to error or fraud, and a critical assessment of evidence.</a:t>
            </a:r>
          </a:p>
          <a:p>
            <a:pPr marL="690372" lvl="1" indent="-347472" algn="just" defTabSz="342900" rtl="0" eaLnBrk="1" latinLnBrk="0" hangingPunct="1">
              <a:lnSpc>
                <a:spcPts val="1400"/>
              </a:lnSpc>
              <a:spcBef>
                <a:spcPts val="600"/>
              </a:spcBef>
              <a:spcAft>
                <a:spcPts val="0"/>
              </a:spcAft>
              <a:buFont typeface="Courier New" panose="02070309020205020404" pitchFamily="49" charset="0"/>
              <a:buChar char="o"/>
            </a:pPr>
            <a:r>
              <a:rPr lang="en-US" sz="1000" u="none" strike="noStrike" kern="1200" dirty="0">
                <a:solidFill>
                  <a:schemeClr val="tx1"/>
                </a:solidFill>
                <a:effectLst/>
                <a:latin typeface="Arial" panose="020B0604020202020204" pitchFamily="34" charset="0"/>
                <a:ea typeface="+mn-ea"/>
                <a:cs typeface="Arial" panose="020B0604020202020204" pitchFamily="34" charset="0"/>
              </a:rPr>
              <a:t>An EQ review is an objective evaluation of the significant judgments made by the engagement team, and the conclusions reached thereon.</a:t>
            </a:r>
          </a:p>
          <a:p>
            <a:pPr marL="690372" lvl="1" indent="-347472" algn="just" defTabSz="342900" rtl="0" eaLnBrk="1" latinLnBrk="0" hangingPunct="1">
              <a:lnSpc>
                <a:spcPts val="1400"/>
              </a:lnSpc>
              <a:spcBef>
                <a:spcPts val="600"/>
              </a:spcBef>
              <a:spcAft>
                <a:spcPts val="0"/>
              </a:spcAft>
              <a:buFont typeface="Courier New" panose="02070309020205020404" pitchFamily="49" charset="0"/>
              <a:buChar char="o"/>
            </a:pPr>
            <a:r>
              <a:rPr lang="en-US" sz="1000" u="none" strike="noStrike" kern="1200" dirty="0">
                <a:solidFill>
                  <a:schemeClr val="tx1"/>
                </a:solidFill>
                <a:effectLst/>
                <a:latin typeface="Arial" panose="020B0604020202020204" pitchFamily="34" charset="0"/>
                <a:ea typeface="+mn-ea"/>
                <a:cs typeface="Arial" panose="020B0604020202020204" pitchFamily="34" charset="0"/>
              </a:rPr>
              <a:t>The EQ reviewer is not a member of the engagement team, and is not required to obtain evidence to support the opinion or conclusion on the engagement. However, the EQ reviewer does review selected engagement documentation in support of the engagement team’s significant judgments, and conclusions reached thereon.</a:t>
            </a:r>
            <a:endParaRPr lang="en-US" sz="1000" b="1" i="1" kern="1200" dirty="0">
              <a:solidFill>
                <a:schemeClr val="tx1">
                  <a:lumMod val="65000"/>
                  <a:lumOff val="35000"/>
                </a:schemeClr>
              </a:solidFill>
              <a:effectLst/>
              <a:latin typeface="Arial" panose="020B0604020202020204" pitchFamily="34" charset="0"/>
              <a:ea typeface="+mn-ea"/>
              <a:cs typeface="Arial" panose="020B0604020202020204" pitchFamily="34" charset="0"/>
            </a:endParaRPr>
          </a:p>
          <a:p>
            <a:pPr marL="0" marR="0" lvl="0" indent="0" algn="just" defTabSz="342900" rtl="0" eaLnBrk="1" fontAlgn="auto" latinLnBrk="0" hangingPunct="1">
              <a:lnSpc>
                <a:spcPts val="1400"/>
              </a:lnSpc>
              <a:spcBef>
                <a:spcPts val="600"/>
              </a:spcBef>
              <a:spcAft>
                <a:spcPts val="0"/>
              </a:spcAft>
              <a:buClrTx/>
              <a:buSzTx/>
              <a:buFont typeface="Courier New" panose="02070309020205020404" pitchFamily="49" charset="0"/>
              <a:buNone/>
              <a:tabLst/>
              <a:defRPr/>
            </a:pPr>
            <a:r>
              <a:rPr lang="en-US" sz="1000" b="1" i="1" kern="1200" dirty="0">
                <a:solidFill>
                  <a:schemeClr val="tx1">
                    <a:lumMod val="65000"/>
                    <a:lumOff val="35000"/>
                  </a:schemeClr>
                </a:solidFill>
                <a:latin typeface="Arial" panose="020B0604020202020204" pitchFamily="34" charset="0"/>
                <a:ea typeface="+mn-ea"/>
                <a:cs typeface="Arial" panose="020B0604020202020204" pitchFamily="34" charset="0"/>
              </a:rPr>
              <a:t>Accordingly, the Task Force proposes to:</a:t>
            </a:r>
          </a:p>
          <a:p>
            <a:pPr marL="347472" lvl="0" indent="-347472" algn="just">
              <a:lnSpc>
                <a:spcPts val="1400"/>
              </a:lnSpc>
              <a:spcBef>
                <a:spcPts val="600"/>
              </a:spcBef>
              <a:spcAft>
                <a:spcPts val="0"/>
              </a:spcAft>
              <a:buFont typeface="Arial" panose="020B0604020202020204" pitchFamily="34" charset="0"/>
              <a:buChar char="•"/>
            </a:pPr>
            <a:r>
              <a:rPr lang="en-US" sz="1000" b="0" kern="1200" dirty="0">
                <a:solidFill>
                  <a:schemeClr val="tx1">
                    <a:lumMod val="65000"/>
                    <a:lumOff val="35000"/>
                  </a:schemeClr>
                </a:solidFill>
                <a:effectLst/>
                <a:latin typeface="Arial" panose="020B0604020202020204" pitchFamily="34" charset="0"/>
                <a:ea typeface="+mn-ea"/>
                <a:cs typeface="Arial" panose="020B0604020202020204" pitchFamily="34" charset="0"/>
              </a:rPr>
              <a:t>Focus on the EQ reviewer’s evaluation of the appropriateness of the engagement team’s exercise of professional skepticism in proposed ISQM 2.</a:t>
            </a:r>
          </a:p>
          <a:p>
            <a:pPr marL="347472" lvl="0" indent="-347472" algn="just">
              <a:lnSpc>
                <a:spcPts val="1400"/>
              </a:lnSpc>
              <a:spcBef>
                <a:spcPts val="600"/>
              </a:spcBef>
              <a:spcAft>
                <a:spcPts val="0"/>
              </a:spcAft>
              <a:buFont typeface="Arial" panose="020B0604020202020204" pitchFamily="34" charset="0"/>
              <a:buChar char="•"/>
            </a:pPr>
            <a:r>
              <a:rPr lang="en-US" sz="1000" b="0" kern="1200" dirty="0">
                <a:solidFill>
                  <a:schemeClr val="tx1">
                    <a:lumMod val="65000"/>
                    <a:lumOff val="35000"/>
                  </a:schemeClr>
                </a:solidFill>
                <a:effectLst/>
                <a:latin typeface="Arial" panose="020B0604020202020204" pitchFamily="34" charset="0"/>
                <a:ea typeface="+mn-ea"/>
                <a:cs typeface="Arial" panose="020B0604020202020204" pitchFamily="34" charset="0"/>
              </a:rPr>
              <a:t>Add application material clarifying how to demonstrate compliance with requirement, or how to document the EQ reviewer’s evaluation of the exercise of professional skepticism by the engagement team.</a:t>
            </a:r>
          </a:p>
        </p:txBody>
      </p:sp>
      <p:sp>
        <p:nvSpPr>
          <p:cNvPr id="4" name="Slide Number Placeholder 3"/>
          <p:cNvSpPr>
            <a:spLocks noGrp="1"/>
          </p:cNvSpPr>
          <p:nvPr>
            <p:ph type="sldNum" sz="quarter" idx="5"/>
          </p:nvPr>
        </p:nvSpPr>
        <p:spPr/>
        <p:txBody>
          <a:bodyPr/>
          <a:lstStyle/>
          <a:p>
            <a:fld id="{4D410189-AC31-7546-878A-F48FDE4A29F5}" type="slidenum">
              <a:rPr lang="en-US" smtClean="0"/>
              <a:t>12</a:t>
            </a:fld>
            <a:endParaRPr lang="en-US" dirty="0"/>
          </a:p>
        </p:txBody>
      </p:sp>
    </p:spTree>
    <p:extLst>
      <p:ext uri="{BB962C8B-B14F-4D97-AF65-F5344CB8AC3E}">
        <p14:creationId xmlns:p14="http://schemas.microsoft.com/office/powerpoint/2010/main" val="35328822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just">
              <a:lnSpc>
                <a:spcPts val="2400"/>
              </a:lnSpc>
              <a:spcBef>
                <a:spcPts val="600"/>
              </a:spcBef>
              <a:spcAft>
                <a:spcPts val="0"/>
              </a:spcAft>
              <a:buNone/>
            </a:pPr>
            <a:endParaRPr lang="en-US" sz="1000" i="1" dirty="0">
              <a:solidFill>
                <a:schemeClr val="bg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13</a:t>
            </a:fld>
            <a:endParaRPr lang="en-US" dirty="0"/>
          </a:p>
        </p:txBody>
      </p:sp>
    </p:spTree>
    <p:extLst>
      <p:ext uri="{BB962C8B-B14F-4D97-AF65-F5344CB8AC3E}">
        <p14:creationId xmlns:p14="http://schemas.microsoft.com/office/powerpoint/2010/main" val="24908200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7472" indent="-347472" algn="just">
              <a:lnSpc>
                <a:spcPts val="1400"/>
              </a:lnSpc>
              <a:spcBef>
                <a:spcPts val="600"/>
              </a:spcBef>
              <a:spcAft>
                <a:spcPts val="0"/>
              </a:spcAft>
              <a:buFont typeface="Arial" panose="020B0604020202020204" pitchFamily="34" charset="0"/>
              <a:buChar char="•"/>
            </a:pPr>
            <a:r>
              <a:rPr lang="en-US" sz="1000" i="0" dirty="0">
                <a:solidFill>
                  <a:schemeClr val="tx1"/>
                </a:solidFill>
                <a:latin typeface="Arial" panose="020B0604020202020204" pitchFamily="34" charset="0"/>
                <a:cs typeface="Arial" panose="020B0604020202020204" pitchFamily="34" charset="0"/>
              </a:rPr>
              <a:t>Para. A27 includes impediments to the exercise of professional skepticism at the engagement level.</a:t>
            </a:r>
          </a:p>
          <a:p>
            <a:pPr marL="347472" indent="-347472" algn="just">
              <a:lnSpc>
                <a:spcPts val="1400"/>
              </a:lnSpc>
              <a:spcBef>
                <a:spcPts val="600"/>
              </a:spcBef>
              <a:spcAft>
                <a:spcPts val="0"/>
              </a:spcAft>
              <a:buFont typeface="Arial" panose="020B0604020202020204" pitchFamily="34" charset="0"/>
              <a:buChar char="•"/>
            </a:pPr>
            <a:r>
              <a:rPr lang="en-US" sz="1000" i="0" dirty="0">
                <a:solidFill>
                  <a:schemeClr val="tx1"/>
                </a:solidFill>
                <a:latin typeface="Arial" panose="020B0604020202020204" pitchFamily="34" charset="0"/>
                <a:cs typeface="Arial" panose="020B0604020202020204" pitchFamily="34" charset="0"/>
              </a:rPr>
              <a:t>Para. A28 includes unconscious or conscious auditor biases that may affect the engagement team’s professional judgments.</a:t>
            </a:r>
          </a:p>
          <a:p>
            <a:pPr marL="347472" indent="-347472" algn="just">
              <a:lnSpc>
                <a:spcPts val="1400"/>
              </a:lnSpc>
              <a:spcBef>
                <a:spcPts val="600"/>
              </a:spcBef>
              <a:spcAft>
                <a:spcPts val="0"/>
              </a:spcAft>
              <a:buFont typeface="Arial" panose="020B0604020202020204" pitchFamily="34" charset="0"/>
              <a:buChar char="•"/>
            </a:pPr>
            <a:r>
              <a:rPr lang="en-US" sz="1000" i="0" dirty="0">
                <a:solidFill>
                  <a:schemeClr val="tx1"/>
                </a:solidFill>
                <a:latin typeface="Arial" panose="020B0604020202020204" pitchFamily="34" charset="0"/>
                <a:cs typeface="Arial" panose="020B0604020202020204" pitchFamily="34" charset="0"/>
              </a:rPr>
              <a:t>Para. A29 includes possible actions that the engagement partner and other members of the engagement team may take to mitigate impediments to the exercise of professional skepticism at the engagement level</a:t>
            </a:r>
            <a:r>
              <a:rPr lang="en-US" sz="1000" i="1" dirty="0">
                <a:solidFill>
                  <a:schemeClr val="tx1"/>
                </a:solidFill>
                <a:latin typeface="Arial" panose="020B0604020202020204" pitchFamily="34" charset="0"/>
                <a:cs typeface="Arial" panose="020B0604020202020204" pitchFamily="34" charset="0"/>
              </a:rPr>
              <a:t>.</a:t>
            </a:r>
            <a:endParaRPr lang="en-US" sz="1000" i="0" dirty="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14</a:t>
            </a:fld>
            <a:endParaRPr lang="en-US" dirty="0"/>
          </a:p>
        </p:txBody>
      </p:sp>
    </p:spTree>
    <p:extLst>
      <p:ext uri="{BB962C8B-B14F-4D97-AF65-F5344CB8AC3E}">
        <p14:creationId xmlns:p14="http://schemas.microsoft.com/office/powerpoint/2010/main" val="17648488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7472" lvl="0" indent="-347472" algn="just">
              <a:lnSpc>
                <a:spcPts val="1400"/>
              </a:lnSpc>
              <a:spcBef>
                <a:spcPts val="600"/>
              </a:spcBef>
              <a:spcAft>
                <a:spcPts val="0"/>
              </a:spcAft>
              <a:buFont typeface="Arial" panose="020B0604020202020204" pitchFamily="34" charset="0"/>
              <a:buChar char="•"/>
            </a:pPr>
            <a:r>
              <a:rPr lang="en-US" sz="1000" u="none" strike="noStrike" kern="1200" dirty="0">
                <a:solidFill>
                  <a:schemeClr val="tx1"/>
                </a:solidFill>
                <a:effectLst/>
                <a:latin typeface="Arial" panose="020B0604020202020204" pitchFamily="34" charset="0"/>
                <a:ea typeface="+mn-ea"/>
                <a:cs typeface="Arial" panose="020B0604020202020204" pitchFamily="34" charset="0"/>
              </a:rPr>
              <a:t>Respondents had comments or questions about how the requirements and guidance in proposed ISQM 2 would be applied in the context of group audits. For example, a Monitoring Group member noted that the ED does not address whether significant components in a group audit context should be subject to the scope of the EQ review.</a:t>
            </a:r>
          </a:p>
          <a:p>
            <a:pPr marL="347472" lvl="0" indent="-347472" algn="just">
              <a:lnSpc>
                <a:spcPts val="1400"/>
              </a:lnSpc>
              <a:spcBef>
                <a:spcPts val="600"/>
              </a:spcBef>
              <a:spcAft>
                <a:spcPts val="0"/>
              </a:spcAft>
              <a:buFont typeface="Arial" panose="020B0604020202020204" pitchFamily="34" charset="0"/>
              <a:buChar char="•"/>
            </a:pPr>
            <a:r>
              <a:rPr lang="en-US" sz="1000" kern="1200" dirty="0">
                <a:solidFill>
                  <a:schemeClr val="tx1"/>
                </a:solidFill>
                <a:effectLst/>
                <a:latin typeface="Arial" panose="020B0604020202020204" pitchFamily="34" charset="0"/>
                <a:ea typeface="+mn-ea"/>
                <a:cs typeface="Arial" panose="020B0604020202020204" pitchFamily="34" charset="0"/>
              </a:rPr>
              <a:t>For a group audit engagement, the Task Force view is that the focus of the EQ review are those significant judgments relating to the group financial statements, which may relate to significant judgments made at one or more components. </a:t>
            </a:r>
          </a:p>
          <a:p>
            <a:pPr marL="347472" lvl="0" indent="-347472" algn="just">
              <a:lnSpc>
                <a:spcPts val="1400"/>
              </a:lnSpc>
              <a:spcBef>
                <a:spcPts val="600"/>
              </a:spcBef>
              <a:spcAft>
                <a:spcPts val="0"/>
              </a:spcAft>
              <a:buFont typeface="Arial" panose="020B0604020202020204" pitchFamily="34" charset="0"/>
              <a:buChar char="•"/>
            </a:pPr>
            <a:r>
              <a:rPr lang="en-US" sz="1000" kern="1200" dirty="0">
                <a:solidFill>
                  <a:schemeClr val="tx1"/>
                </a:solidFill>
                <a:effectLst/>
                <a:latin typeface="Arial" panose="020B0604020202020204" pitchFamily="34" charset="0"/>
                <a:ea typeface="+mn-ea"/>
                <a:cs typeface="Arial" panose="020B0604020202020204" pitchFamily="34" charset="0"/>
              </a:rPr>
              <a:t>In this regard, the performance of an EQ review for a group audit engagement may involve additional considerations by the EQ reviewer depending on the size and complexity of the group.</a:t>
            </a:r>
          </a:p>
          <a:p>
            <a:pPr marL="347472" lvl="0" indent="-347472" algn="just">
              <a:lnSpc>
                <a:spcPts val="1400"/>
              </a:lnSpc>
              <a:spcBef>
                <a:spcPts val="600"/>
              </a:spcBef>
              <a:spcAft>
                <a:spcPts val="0"/>
              </a:spcAft>
              <a:buFont typeface="Arial" panose="020B0604020202020204" pitchFamily="34" charset="0"/>
              <a:buChar char="•"/>
            </a:pPr>
            <a:r>
              <a:rPr lang="en-US" sz="1000" kern="1200" dirty="0">
                <a:solidFill>
                  <a:schemeClr val="tx1"/>
                </a:solidFill>
                <a:effectLst/>
                <a:latin typeface="Arial" panose="020B0604020202020204" pitchFamily="34" charset="0"/>
                <a:ea typeface="+mn-ea"/>
                <a:cs typeface="Arial" panose="020B0604020202020204" pitchFamily="34" charset="0"/>
              </a:rPr>
              <a:t>For larger, more complex group audits, the EQ reviewer may need to discuss significant matters and significant judgments with other key members of the engagement team (e.g., the partners or other individuals responsible for performing audit procedures on the financial information of a component).</a:t>
            </a:r>
          </a:p>
          <a:p>
            <a:pPr marL="347472" lvl="0" indent="-347472" algn="just">
              <a:lnSpc>
                <a:spcPts val="1400"/>
              </a:lnSpc>
              <a:spcBef>
                <a:spcPts val="600"/>
              </a:spcBef>
              <a:spcAft>
                <a:spcPts val="0"/>
              </a:spcAft>
              <a:buFont typeface="Arial" panose="020B0604020202020204" pitchFamily="34" charset="0"/>
              <a:buChar char="•"/>
            </a:pPr>
            <a:r>
              <a:rPr lang="en-US" sz="1000" kern="1200" dirty="0">
                <a:solidFill>
                  <a:schemeClr val="tx1"/>
                </a:solidFill>
                <a:effectLst/>
                <a:latin typeface="Arial" panose="020B0604020202020204" pitchFamily="34" charset="0"/>
                <a:ea typeface="+mn-ea"/>
                <a:cs typeface="Arial" panose="020B0604020202020204" pitchFamily="34" charset="0"/>
              </a:rPr>
              <a:t>In these circumstances, it may be appropriate for the EQ reviewer to be assisted by an individual or team of individuals, either internal or external, with the relevant expertise, in accordance with paragraph 17 of the standard, including, when applicable, individuals appointed to perform an EQ review of a component.</a:t>
            </a:r>
            <a:endParaRPr lang="en-US" sz="1000" b="1" i="1" kern="1200" dirty="0">
              <a:solidFill>
                <a:schemeClr val="tx1"/>
              </a:solidFill>
              <a:effectLst/>
              <a:latin typeface="Arial" panose="020B0604020202020204" pitchFamily="34" charset="0"/>
              <a:ea typeface="+mn-ea"/>
              <a:cs typeface="Arial" panose="020B0604020202020204" pitchFamily="34" charset="0"/>
            </a:endParaRPr>
          </a:p>
          <a:p>
            <a:pPr marL="347472" marR="0" lvl="0" indent="-347472" algn="just" defTabSz="342900" rtl="0" eaLnBrk="1" fontAlgn="auto" latinLnBrk="0" hangingPunct="1">
              <a:lnSpc>
                <a:spcPts val="1400"/>
              </a:lnSpc>
              <a:spcBef>
                <a:spcPts val="600"/>
              </a:spcBef>
              <a:spcAft>
                <a:spcPts val="0"/>
              </a:spcAft>
              <a:buClrTx/>
              <a:buSzTx/>
              <a:buFont typeface="Courier New" panose="02070309020205020404" pitchFamily="49" charset="0"/>
              <a:buNone/>
              <a:tabLst/>
              <a:defRPr/>
            </a:pPr>
            <a:r>
              <a:rPr lang="en-US" sz="1000" b="1" i="1" kern="1200" dirty="0">
                <a:solidFill>
                  <a:schemeClr val="tx1"/>
                </a:solidFill>
                <a:latin typeface="Arial" panose="020B0604020202020204" pitchFamily="34" charset="0"/>
                <a:ea typeface="+mn-ea"/>
                <a:cs typeface="Arial" panose="020B0604020202020204" pitchFamily="34" charset="0"/>
              </a:rPr>
              <a:t>Accordingly, the Task Force proposes to:</a:t>
            </a:r>
          </a:p>
          <a:p>
            <a:pPr marL="347472" lvl="0" indent="-347472" algn="just">
              <a:lnSpc>
                <a:spcPts val="1400"/>
              </a:lnSpc>
              <a:spcBef>
                <a:spcPts val="600"/>
              </a:spcBef>
              <a:spcAft>
                <a:spcPts val="0"/>
              </a:spcAft>
              <a:buFont typeface="Arial" panose="020B0604020202020204" pitchFamily="34" charset="0"/>
              <a:buChar char="•"/>
            </a:pPr>
            <a:r>
              <a:rPr lang="en-US" sz="1000" b="0" kern="1200" dirty="0">
                <a:solidFill>
                  <a:schemeClr val="tx1"/>
                </a:solidFill>
                <a:effectLst/>
                <a:latin typeface="Arial" panose="020B0604020202020204" pitchFamily="34" charset="0"/>
                <a:ea typeface="+mn-ea"/>
                <a:cs typeface="Arial" panose="020B0604020202020204" pitchFamily="34" charset="0"/>
              </a:rPr>
              <a:t>Add application material providing guidance for group audit considerations in an EQ review.</a:t>
            </a:r>
          </a:p>
        </p:txBody>
      </p:sp>
      <p:sp>
        <p:nvSpPr>
          <p:cNvPr id="4" name="Slide Number Placeholder 3"/>
          <p:cNvSpPr>
            <a:spLocks noGrp="1"/>
          </p:cNvSpPr>
          <p:nvPr>
            <p:ph type="sldNum" sz="quarter" idx="5"/>
          </p:nvPr>
        </p:nvSpPr>
        <p:spPr/>
        <p:txBody>
          <a:bodyPr/>
          <a:lstStyle/>
          <a:p>
            <a:fld id="{4D410189-AC31-7546-878A-F48FDE4A29F5}" type="slidenum">
              <a:rPr lang="en-US" smtClean="0"/>
              <a:t>15</a:t>
            </a:fld>
            <a:endParaRPr lang="en-US" dirty="0"/>
          </a:p>
        </p:txBody>
      </p:sp>
    </p:spTree>
    <p:extLst>
      <p:ext uri="{BB962C8B-B14F-4D97-AF65-F5344CB8AC3E}">
        <p14:creationId xmlns:p14="http://schemas.microsoft.com/office/powerpoint/2010/main" val="13778658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just">
              <a:lnSpc>
                <a:spcPts val="2400"/>
              </a:lnSpc>
              <a:spcBef>
                <a:spcPts val="600"/>
              </a:spcBef>
              <a:spcAft>
                <a:spcPts val="0"/>
              </a:spcAft>
              <a:buNone/>
            </a:pPr>
            <a:endParaRPr lang="en-US" sz="1000" i="1" dirty="0">
              <a:solidFill>
                <a:schemeClr val="bg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16</a:t>
            </a:fld>
            <a:endParaRPr lang="en-US" dirty="0"/>
          </a:p>
        </p:txBody>
      </p:sp>
    </p:spTree>
    <p:extLst>
      <p:ext uri="{BB962C8B-B14F-4D97-AF65-F5344CB8AC3E}">
        <p14:creationId xmlns:p14="http://schemas.microsoft.com/office/powerpoint/2010/main" val="20169718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342900" rtl="0" eaLnBrk="1" fontAlgn="auto" latinLnBrk="0" hangingPunct="1">
              <a:lnSpc>
                <a:spcPts val="1400"/>
              </a:lnSpc>
              <a:spcBef>
                <a:spcPts val="600"/>
              </a:spcBef>
              <a:spcAft>
                <a:spcPts val="0"/>
              </a:spcAft>
              <a:buClrTx/>
              <a:buSzTx/>
              <a:buFontTx/>
              <a:buNone/>
              <a:tabLst/>
              <a:defRPr/>
            </a:pPr>
            <a:r>
              <a:rPr lang="en-US" sz="1000" b="1" i="1" kern="1200" dirty="0">
                <a:solidFill>
                  <a:schemeClr val="tx1"/>
                </a:solidFill>
                <a:latin typeface="Arial" panose="020B0604020202020204" pitchFamily="34" charset="0"/>
                <a:ea typeface="+mn-ea"/>
                <a:cs typeface="Arial" panose="020B0604020202020204" pitchFamily="34" charset="0"/>
              </a:rPr>
              <a:t>(Notes from the September 2019 IAASB meeting)</a:t>
            </a:r>
            <a:endParaRPr lang="en-US" sz="1000" b="1" i="1" dirty="0">
              <a:solidFill>
                <a:schemeClr val="tx1"/>
              </a:solidFill>
              <a:latin typeface="Arial" panose="020B0604020202020204" pitchFamily="34" charset="0"/>
              <a:cs typeface="Arial" panose="020B0604020202020204" pitchFamily="34" charset="0"/>
            </a:endParaRPr>
          </a:p>
          <a:p>
            <a:pPr marL="0" marR="0" lvl="0" indent="0" algn="just" defTabSz="342900" rtl="0" eaLnBrk="1" fontAlgn="auto" latinLnBrk="0" hangingPunct="1">
              <a:lnSpc>
                <a:spcPts val="1400"/>
              </a:lnSpc>
              <a:spcBef>
                <a:spcPts val="600"/>
              </a:spcBef>
              <a:spcAft>
                <a:spcPts val="0"/>
              </a:spcAft>
              <a:buClrTx/>
              <a:buSzTx/>
              <a:buFontTx/>
              <a:buNone/>
              <a:tabLst/>
              <a:defRPr/>
            </a:pPr>
            <a:r>
              <a:rPr lang="en-US" sz="1000" i="1" dirty="0">
                <a:solidFill>
                  <a:schemeClr val="tx1"/>
                </a:solidFill>
                <a:latin typeface="Arial" panose="020B0604020202020204" pitchFamily="34" charset="0"/>
                <a:cs typeface="Arial" panose="020B0604020202020204" pitchFamily="34" charset="0"/>
              </a:rPr>
              <a:t>ED-ISQM 2 Q1:</a:t>
            </a:r>
            <a:r>
              <a:rPr lang="en-US" sz="1000" i="1" baseline="0" dirty="0">
                <a:solidFill>
                  <a:schemeClr val="tx1"/>
                </a:solidFill>
                <a:latin typeface="Arial" panose="020B0604020202020204" pitchFamily="34" charset="0"/>
                <a:cs typeface="Arial" panose="020B0604020202020204" pitchFamily="34" charset="0"/>
              </a:rPr>
              <a:t> </a:t>
            </a:r>
            <a:r>
              <a:rPr lang="en-US" sz="1000" i="1" dirty="0">
                <a:solidFill>
                  <a:schemeClr val="tx1"/>
                </a:solidFill>
                <a:latin typeface="Arial" panose="020B0604020202020204" pitchFamily="34" charset="0"/>
                <a:cs typeface="Arial" panose="020B0604020202020204" pitchFamily="34" charset="0"/>
              </a:rPr>
              <a:t>Do you support a separate standard for engagement quality reviews? In particular, do you agree that ED-ISQM 1 should deal with the engagements for which an engagement quality review is to be performed, and ED-ISQM 2 should deal with the remaining aspects of engagement quality reviews?</a:t>
            </a:r>
          </a:p>
          <a:p>
            <a:pPr marL="342900" marR="0" lvl="0" indent="-342900" algn="just" defTabSz="342900" rtl="0" eaLnBrk="1" fontAlgn="auto" latinLnBrk="0" hangingPunct="1">
              <a:lnSpc>
                <a:spcPts val="1400"/>
              </a:lnSpc>
              <a:spcBef>
                <a:spcPts val="600"/>
              </a:spcBef>
              <a:spcAft>
                <a:spcPts val="0"/>
              </a:spcAft>
              <a:buClrTx/>
              <a:buSzTx/>
              <a:buFont typeface="Arial" panose="020B0604020202020204" pitchFamily="34" charset="0"/>
              <a:buChar char="•"/>
              <a:tabLst/>
              <a:defRPr/>
            </a:pPr>
            <a:r>
              <a:rPr lang="en-US" sz="1000" dirty="0">
                <a:solidFill>
                  <a:schemeClr val="tx1"/>
                </a:solidFill>
                <a:latin typeface="Arial" panose="020B0604020202020204" pitchFamily="34" charset="0"/>
                <a:cs typeface="Arial" panose="020B0604020202020204" pitchFamily="34" charset="0"/>
              </a:rPr>
              <a:t>Support for a separate standard for an EQ review</a:t>
            </a:r>
          </a:p>
          <a:p>
            <a:pPr marL="0" marR="0" lvl="0" indent="0" algn="just" defTabSz="342900" rtl="0" eaLnBrk="1" fontAlgn="auto" latinLnBrk="0" hangingPunct="1">
              <a:lnSpc>
                <a:spcPts val="1400"/>
              </a:lnSpc>
              <a:spcBef>
                <a:spcPts val="600"/>
              </a:spcBef>
              <a:spcAft>
                <a:spcPts val="0"/>
              </a:spcAft>
              <a:buClrTx/>
              <a:buSzTx/>
              <a:buFont typeface="Arial" panose="020B0604020202020204" pitchFamily="34" charset="0"/>
              <a:buNone/>
              <a:tabLst/>
              <a:defRPr/>
            </a:pPr>
            <a:r>
              <a:rPr lang="en-US" sz="1000" b="1" i="0" kern="1200" dirty="0">
                <a:solidFill>
                  <a:schemeClr val="tx1"/>
                </a:solidFill>
                <a:latin typeface="Arial" panose="020B0604020202020204" pitchFamily="34" charset="0"/>
                <a:ea typeface="+mn-ea"/>
                <a:cs typeface="Arial" panose="020B0604020202020204" pitchFamily="34" charset="0"/>
              </a:rPr>
              <a:t>NOT ON THE SLIDE:</a:t>
            </a:r>
            <a:endParaRPr lang="en-US" sz="1000" b="0" i="1" dirty="0">
              <a:solidFill>
                <a:schemeClr val="tx1"/>
              </a:solidFill>
              <a:latin typeface="Arial" panose="020B0604020202020204" pitchFamily="34" charset="0"/>
              <a:cs typeface="Arial" panose="020B0604020202020204" pitchFamily="34" charset="0"/>
            </a:endParaRPr>
          </a:p>
          <a:p>
            <a:pPr marL="694944" indent="-342900" algn="just">
              <a:lnSpc>
                <a:spcPts val="1400"/>
              </a:lnSpc>
              <a:spcBef>
                <a:spcPts val="600"/>
              </a:spcBef>
              <a:spcAft>
                <a:spcPts val="0"/>
              </a:spcAft>
              <a:buFont typeface="Courier New" panose="02070309020205020404" pitchFamily="49" charset="0"/>
              <a:buChar char="o"/>
            </a:pPr>
            <a:r>
              <a:rPr lang="en-US" sz="1000" b="0" i="0" dirty="0">
                <a:solidFill>
                  <a:schemeClr val="tx1"/>
                </a:solidFill>
                <a:latin typeface="Arial" panose="020B0604020202020204" pitchFamily="34" charset="0"/>
                <a:cs typeface="Arial" panose="020B0604020202020204" pitchFamily="34" charset="0"/>
              </a:rPr>
              <a:t>Separate standard for EQ review increases the focus on an EQ review as a firm-level response to assessed quality risks.</a:t>
            </a:r>
          </a:p>
          <a:p>
            <a:pPr marL="694944" indent="-342900" algn="just">
              <a:lnSpc>
                <a:spcPts val="1400"/>
              </a:lnSpc>
              <a:spcBef>
                <a:spcPts val="600"/>
              </a:spcBef>
              <a:spcAft>
                <a:spcPts val="0"/>
              </a:spcAft>
              <a:buFont typeface="Courier New" panose="02070309020205020404" pitchFamily="49" charset="0"/>
              <a:buChar char="o"/>
            </a:pPr>
            <a:r>
              <a:rPr lang="en-US" sz="1000" b="0" i="0" dirty="0">
                <a:solidFill>
                  <a:schemeClr val="tx1"/>
                </a:solidFill>
                <a:latin typeface="Arial" panose="020B0604020202020204" pitchFamily="34" charset="0"/>
                <a:cs typeface="Arial" panose="020B0604020202020204" pitchFamily="34" charset="0"/>
              </a:rPr>
              <a:t>Helps to clearly differentiate the roles of the firm and the EQ reviewer, and highlights the importance of the EQ reviewer’s responsibilities.</a:t>
            </a:r>
          </a:p>
          <a:p>
            <a:pPr marL="694944" indent="-342900" algn="just">
              <a:lnSpc>
                <a:spcPts val="1400"/>
              </a:lnSpc>
              <a:spcBef>
                <a:spcPts val="600"/>
              </a:spcBef>
              <a:spcAft>
                <a:spcPts val="0"/>
              </a:spcAft>
              <a:buFont typeface="Courier New" panose="02070309020205020404" pitchFamily="49" charset="0"/>
              <a:buChar char="o"/>
            </a:pPr>
            <a:r>
              <a:rPr lang="en-US" sz="1000" b="0" i="0" dirty="0">
                <a:solidFill>
                  <a:schemeClr val="tx1"/>
                </a:solidFill>
                <a:latin typeface="Arial" panose="020B0604020202020204" pitchFamily="34" charset="0"/>
                <a:cs typeface="Arial" panose="020B0604020202020204" pitchFamily="34" charset="0"/>
              </a:rPr>
              <a:t>Enhances the </a:t>
            </a:r>
            <a:r>
              <a:rPr lang="en-US" sz="1000" b="0" i="0" kern="1200" dirty="0">
                <a:solidFill>
                  <a:schemeClr val="tx1"/>
                </a:solidFill>
                <a:latin typeface="Arial" panose="020B0604020202020204" pitchFamily="34" charset="0"/>
                <a:ea typeface="+mn-ea"/>
                <a:cs typeface="Arial" panose="020B0604020202020204" pitchFamily="34" charset="0"/>
              </a:rPr>
              <a:t>requirements</a:t>
            </a:r>
            <a:r>
              <a:rPr lang="en-US" sz="1000" b="0" i="0" dirty="0">
                <a:solidFill>
                  <a:schemeClr val="tx1"/>
                </a:solidFill>
                <a:latin typeface="Arial" panose="020B0604020202020204" pitchFamily="34" charset="0"/>
                <a:cs typeface="Arial" panose="020B0604020202020204" pitchFamily="34" charset="0"/>
              </a:rPr>
              <a:t> and guidance for appointment and eligibility of the EQ reviewer, and performance and documentation of the EQ review.</a:t>
            </a:r>
          </a:p>
          <a:p>
            <a:pPr marL="342900" indent="-342900" algn="just">
              <a:lnSpc>
                <a:spcPts val="1400"/>
              </a:lnSpc>
              <a:spcBef>
                <a:spcPts val="600"/>
              </a:spcBef>
              <a:spcAft>
                <a:spcPts val="0"/>
              </a:spcAft>
              <a:buFont typeface="Arial" panose="020B0604020202020204" pitchFamily="34" charset="0"/>
              <a:buChar char="•"/>
            </a:pPr>
            <a:r>
              <a:rPr lang="en-US" sz="1000" b="0" i="0" dirty="0">
                <a:solidFill>
                  <a:schemeClr val="tx1"/>
                </a:solidFill>
                <a:latin typeface="Arial" panose="020B0604020202020204" pitchFamily="34" charset="0"/>
                <a:cs typeface="Arial" panose="020B0604020202020204" pitchFamily="34" charset="0"/>
              </a:rPr>
              <a:t>Concern that a separate standard for an EQ review may overemphasize one response, among others, to assessed quality risks, or imply that EQ review is the best response.</a:t>
            </a:r>
          </a:p>
          <a:p>
            <a:pPr marL="342900" indent="-342900" algn="just">
              <a:lnSpc>
                <a:spcPts val="1400"/>
              </a:lnSpc>
              <a:spcBef>
                <a:spcPts val="600"/>
              </a:spcBef>
              <a:spcAft>
                <a:spcPts val="0"/>
              </a:spcAft>
              <a:buFont typeface="Arial" panose="020B0604020202020204" pitchFamily="34" charset="0"/>
              <a:buChar char="•"/>
            </a:pPr>
            <a:r>
              <a:rPr lang="en-US" sz="1000" b="0" i="0" dirty="0">
                <a:solidFill>
                  <a:schemeClr val="tx1"/>
                </a:solidFill>
                <a:latin typeface="Arial" panose="020B0604020202020204" pitchFamily="34" charset="0"/>
                <a:cs typeface="Arial" panose="020B0604020202020204" pitchFamily="34" charset="0"/>
              </a:rPr>
              <a:t>Put all firm-level requirements in ISQM 1 or more clearly distinguish firm-level and EQ reviewer requirements in ISQM 2.</a:t>
            </a:r>
            <a:endParaRPr lang="en-US" sz="1000" i="1" dirty="0">
              <a:solidFill>
                <a:schemeClr val="tx1"/>
              </a:solidFill>
              <a:latin typeface="Arial" panose="020B0604020202020204" pitchFamily="34" charset="0"/>
              <a:cs typeface="Arial" panose="020B0604020202020204" pitchFamily="34" charset="0"/>
            </a:endParaRPr>
          </a:p>
          <a:p>
            <a:pPr marL="0" marR="0" lvl="0" indent="0" algn="just" defTabSz="342900" rtl="0" eaLnBrk="1" fontAlgn="auto" latinLnBrk="0" hangingPunct="1">
              <a:lnSpc>
                <a:spcPts val="1400"/>
              </a:lnSpc>
              <a:spcBef>
                <a:spcPts val="600"/>
              </a:spcBef>
              <a:spcAft>
                <a:spcPts val="0"/>
              </a:spcAft>
              <a:buClrTx/>
              <a:buSzTx/>
              <a:buFontTx/>
              <a:buNone/>
              <a:tabLst/>
              <a:defRPr/>
            </a:pPr>
            <a:r>
              <a:rPr lang="en-US" sz="1000" i="1" dirty="0">
                <a:solidFill>
                  <a:schemeClr val="tx1"/>
                </a:solidFill>
                <a:latin typeface="Arial" panose="020B0604020202020204" pitchFamily="34" charset="0"/>
                <a:cs typeface="Arial" panose="020B0604020202020204" pitchFamily="34" charset="0"/>
              </a:rPr>
              <a:t>ED-ISQM 2 Q2: Are the linkages between the requirements for engagement quality reviews in ED-ISQM 1 and ED-ISQM 2 clear?</a:t>
            </a:r>
          </a:p>
          <a:p>
            <a:pPr marL="342900" indent="-342900" algn="just">
              <a:lnSpc>
                <a:spcPts val="1400"/>
              </a:lnSpc>
              <a:spcBef>
                <a:spcPts val="600"/>
              </a:spcBef>
              <a:spcAft>
                <a:spcPts val="0"/>
              </a:spcAft>
              <a:buFont typeface="Arial" panose="020B0604020202020204" pitchFamily="34" charset="0"/>
              <a:buChar char="•"/>
            </a:pPr>
            <a:r>
              <a:rPr lang="en-US" sz="1000" b="0" i="0" dirty="0">
                <a:solidFill>
                  <a:schemeClr val="tx1"/>
                </a:solidFill>
                <a:latin typeface="Arial" panose="020B0604020202020204" pitchFamily="34" charset="0"/>
                <a:cs typeface="Arial" panose="020B0604020202020204" pitchFamily="34" charset="0"/>
              </a:rPr>
              <a:t>Agree that the requirements in ED-ISQM 1 and ED-ISQM 2 are organized in a manner that provides appropriate linkages between the standards.</a:t>
            </a:r>
          </a:p>
          <a:p>
            <a:pPr marL="0" marR="0" lvl="0" indent="0" algn="just" defTabSz="342900" rtl="0" eaLnBrk="1" fontAlgn="auto" latinLnBrk="0" hangingPunct="1">
              <a:lnSpc>
                <a:spcPts val="1400"/>
              </a:lnSpc>
              <a:spcBef>
                <a:spcPts val="600"/>
              </a:spcBef>
              <a:spcAft>
                <a:spcPts val="0"/>
              </a:spcAft>
              <a:buClrTx/>
              <a:buSzTx/>
              <a:buFont typeface="Arial" panose="020B0604020202020204" pitchFamily="34" charset="0"/>
              <a:buNone/>
              <a:tabLst/>
              <a:defRPr/>
            </a:pPr>
            <a:r>
              <a:rPr lang="en-US" sz="1000" b="1" i="0" kern="1200" dirty="0">
                <a:solidFill>
                  <a:schemeClr val="tx1"/>
                </a:solidFill>
                <a:latin typeface="Arial" panose="020B0604020202020204" pitchFamily="34" charset="0"/>
                <a:ea typeface="+mn-ea"/>
                <a:cs typeface="Arial" panose="020B0604020202020204" pitchFamily="34" charset="0"/>
              </a:rPr>
              <a:t>NOT ON THE SLIDE:</a:t>
            </a:r>
            <a:endParaRPr lang="en-US" sz="1000" b="0" i="0" dirty="0">
              <a:solidFill>
                <a:schemeClr val="tx1"/>
              </a:solidFill>
              <a:latin typeface="Arial" panose="020B0604020202020204" pitchFamily="34" charset="0"/>
              <a:cs typeface="Arial" panose="020B0604020202020204" pitchFamily="34" charset="0"/>
            </a:endParaRPr>
          </a:p>
          <a:p>
            <a:pPr marL="342900" indent="-342900" algn="just">
              <a:lnSpc>
                <a:spcPts val="1400"/>
              </a:lnSpc>
              <a:spcBef>
                <a:spcPts val="600"/>
              </a:spcBef>
              <a:spcAft>
                <a:spcPts val="0"/>
              </a:spcAft>
              <a:buFont typeface="Arial" panose="020B0604020202020204" pitchFamily="34" charset="0"/>
              <a:buChar char="•"/>
            </a:pPr>
            <a:r>
              <a:rPr lang="en-US" sz="1000" b="0" i="0" dirty="0">
                <a:solidFill>
                  <a:schemeClr val="tx1"/>
                </a:solidFill>
                <a:latin typeface="Arial" panose="020B0604020202020204" pitchFamily="34" charset="0"/>
                <a:cs typeface="Arial" panose="020B0604020202020204" pitchFamily="34" charset="0"/>
              </a:rPr>
              <a:t>It is clear that ED-ISQM 1 establishes the requirements for determining which engagements are subject to an EQ review, while ED-ISQM 2 deals with the eligibility and appointment of an EQ reviewer and the performance and documentation of the EQ review.</a:t>
            </a:r>
            <a:endParaRPr lang="en-US" sz="1000" b="0" i="0" kern="1200" dirty="0">
              <a:solidFill>
                <a:schemeClr val="tx1"/>
              </a:solidFill>
              <a:latin typeface="Arial" panose="020B0604020202020204" pitchFamily="34" charset="0"/>
              <a:ea typeface="+mn-ea"/>
              <a:cs typeface="Arial" panose="020B0604020202020204" pitchFamily="34" charset="0"/>
            </a:endParaRPr>
          </a:p>
          <a:p>
            <a:pPr marL="347472" indent="-347472" algn="just">
              <a:lnSpc>
                <a:spcPts val="1400"/>
              </a:lnSpc>
              <a:spcBef>
                <a:spcPts val="600"/>
              </a:spcBef>
              <a:spcAft>
                <a:spcPts val="0"/>
              </a:spcAft>
              <a:buFont typeface="Arial" panose="020B0604020202020204" pitchFamily="34" charset="0"/>
              <a:buChar char="•"/>
            </a:pPr>
            <a:r>
              <a:rPr lang="en-US" sz="1000" b="0" i="0" dirty="0">
                <a:solidFill>
                  <a:schemeClr val="tx1"/>
                </a:solidFill>
                <a:latin typeface="Arial" panose="020B0604020202020204" pitchFamily="34" charset="0"/>
                <a:cs typeface="Arial" panose="020B0604020202020204" pitchFamily="34" charset="0"/>
              </a:rPr>
              <a:t>Emphasize that an EQ review is just one aspect of quality management and one particular response to quality risks so that this does not overshadow other measures included in ED-ISQM 1.</a:t>
            </a:r>
          </a:p>
          <a:p>
            <a:pPr marL="347472" indent="-347472" algn="just">
              <a:lnSpc>
                <a:spcPts val="1400"/>
              </a:lnSpc>
              <a:spcBef>
                <a:spcPts val="600"/>
              </a:spcBef>
              <a:spcAft>
                <a:spcPts val="0"/>
              </a:spcAft>
              <a:buFont typeface="Arial" panose="020B0604020202020204" pitchFamily="34" charset="0"/>
              <a:buChar char="•"/>
            </a:pPr>
            <a:r>
              <a:rPr lang="en-US" sz="1000" b="0" i="0" dirty="0">
                <a:solidFill>
                  <a:schemeClr val="tx1"/>
                </a:solidFill>
                <a:latin typeface="Arial" panose="020B0604020202020204" pitchFamily="34" charset="0"/>
                <a:cs typeface="Arial" panose="020B0604020202020204" pitchFamily="34" charset="0"/>
              </a:rPr>
              <a:t>Various comments to enhance certain linkages between ED-ISQM 1 and ED-ISQM 2 (e.g., para. 15-19 of ED-ISQM 2 and para. 38 of ED-ISQM 1; para. 16(a) of ED-ISQM 2 and para. 38(b) of ED-ISQM 1).</a:t>
            </a:r>
          </a:p>
          <a:p>
            <a:pPr marL="0" marR="0" lvl="0" indent="0" algn="just" defTabSz="342900" rtl="0" eaLnBrk="1" fontAlgn="auto" latinLnBrk="0" hangingPunct="1">
              <a:lnSpc>
                <a:spcPts val="1400"/>
              </a:lnSpc>
              <a:spcBef>
                <a:spcPts val="600"/>
              </a:spcBef>
              <a:spcAft>
                <a:spcPts val="0"/>
              </a:spcAft>
              <a:buClrTx/>
              <a:buSzTx/>
              <a:buFontTx/>
              <a:buNone/>
              <a:tabLst/>
              <a:defRPr/>
            </a:pPr>
            <a:r>
              <a:rPr lang="en-US" sz="1000" i="1" dirty="0">
                <a:solidFill>
                  <a:schemeClr val="tx1"/>
                </a:solidFill>
                <a:latin typeface="Arial" panose="020B0604020202020204" pitchFamily="34" charset="0"/>
                <a:cs typeface="Arial" panose="020B0604020202020204" pitchFamily="34" charset="0"/>
              </a:rPr>
              <a:t>ED-ISQM</a:t>
            </a:r>
            <a:r>
              <a:rPr lang="en-US" sz="1000" i="1" baseline="0" dirty="0">
                <a:solidFill>
                  <a:schemeClr val="tx1"/>
                </a:solidFill>
                <a:latin typeface="Arial" panose="020B0604020202020204" pitchFamily="34" charset="0"/>
                <a:cs typeface="Arial" panose="020B0604020202020204" pitchFamily="34" charset="0"/>
              </a:rPr>
              <a:t> 2 Q3: </a:t>
            </a:r>
            <a:r>
              <a:rPr lang="en-US" sz="1000" i="1" dirty="0">
                <a:solidFill>
                  <a:schemeClr val="tx1"/>
                </a:solidFill>
                <a:latin typeface="Arial" panose="020B0604020202020204" pitchFamily="34" charset="0"/>
                <a:cs typeface="Arial" panose="020B0604020202020204" pitchFamily="34" charset="0"/>
              </a:rPr>
              <a:t>Do you support the change from “engagement quality control review/reviewer” to “engagement quality review/reviewer?” Will there be any adverse consequences of changing the terminology in respondents’ jurisdictions?</a:t>
            </a:r>
          </a:p>
          <a:p>
            <a:pPr marL="342900" indent="-342900" algn="just">
              <a:lnSpc>
                <a:spcPts val="1400"/>
              </a:lnSpc>
              <a:spcBef>
                <a:spcPts val="600"/>
              </a:spcBef>
              <a:spcAft>
                <a:spcPts val="0"/>
              </a:spcAft>
              <a:buFont typeface="Arial" panose="020B0604020202020204" pitchFamily="34" charset="0"/>
              <a:buChar char="•"/>
            </a:pPr>
            <a:r>
              <a:rPr lang="en-US" sz="1000" b="0" i="0" dirty="0">
                <a:solidFill>
                  <a:schemeClr val="tx1"/>
                </a:solidFill>
                <a:latin typeface="Arial" panose="020B0604020202020204" pitchFamily="34" charset="0"/>
                <a:cs typeface="Arial" panose="020B0604020202020204" pitchFamily="34" charset="0"/>
              </a:rPr>
              <a:t>Support the change in terminology because the emphasis is now on quality management, rather than on quality control.</a:t>
            </a:r>
          </a:p>
          <a:p>
            <a:pPr marL="342900" indent="-342900" algn="just">
              <a:lnSpc>
                <a:spcPts val="1400"/>
              </a:lnSpc>
              <a:spcBef>
                <a:spcPts val="600"/>
              </a:spcBef>
              <a:spcAft>
                <a:spcPts val="0"/>
              </a:spcAft>
              <a:buFont typeface="Arial" panose="020B0604020202020204" pitchFamily="34" charset="0"/>
              <a:buChar char="•"/>
            </a:pPr>
            <a:r>
              <a:rPr lang="en-US" sz="1000" b="0" i="0" dirty="0">
                <a:solidFill>
                  <a:schemeClr val="tx1"/>
                </a:solidFill>
                <a:latin typeface="Arial" panose="020B0604020202020204" pitchFamily="34" charset="0"/>
                <a:cs typeface="Arial" panose="020B0604020202020204" pitchFamily="34" charset="0"/>
              </a:rPr>
              <a:t>Do not anticipate any adverse consequences of changing the terminology.</a:t>
            </a:r>
          </a:p>
          <a:p>
            <a:pPr marL="0" indent="0" algn="just">
              <a:lnSpc>
                <a:spcPts val="1400"/>
              </a:lnSpc>
              <a:spcBef>
                <a:spcPts val="600"/>
              </a:spcBef>
              <a:spcAft>
                <a:spcPts val="0"/>
              </a:spcAft>
              <a:buFont typeface="Arial" panose="020B0604020202020204" pitchFamily="34" charset="0"/>
              <a:buNone/>
            </a:pPr>
            <a:r>
              <a:rPr lang="en-US" sz="1000" b="1" i="0" kern="1200" dirty="0">
                <a:solidFill>
                  <a:schemeClr val="tx1"/>
                </a:solidFill>
                <a:latin typeface="Arial" panose="020B0604020202020204" pitchFamily="34" charset="0"/>
                <a:ea typeface="+mn-ea"/>
                <a:cs typeface="Arial" panose="020B0604020202020204" pitchFamily="34" charset="0"/>
              </a:rPr>
              <a:t>NOT ON THE SLIDE:</a:t>
            </a:r>
            <a:endParaRPr lang="en-US" sz="1000" b="0" i="0" dirty="0">
              <a:solidFill>
                <a:schemeClr val="tx1"/>
              </a:solidFill>
              <a:latin typeface="Arial" panose="020B0604020202020204" pitchFamily="34" charset="0"/>
              <a:cs typeface="Arial" panose="020B0604020202020204" pitchFamily="34" charset="0"/>
            </a:endParaRPr>
          </a:p>
          <a:p>
            <a:pPr marL="342900" indent="-342900" algn="just">
              <a:lnSpc>
                <a:spcPts val="1400"/>
              </a:lnSpc>
              <a:spcBef>
                <a:spcPts val="600"/>
              </a:spcBef>
              <a:spcAft>
                <a:spcPts val="0"/>
              </a:spcAft>
              <a:buFont typeface="Arial" panose="020B0604020202020204" pitchFamily="34" charset="0"/>
              <a:buChar char="•"/>
            </a:pPr>
            <a:r>
              <a:rPr lang="en-US" sz="1000" b="0" i="0" dirty="0">
                <a:solidFill>
                  <a:schemeClr val="tx1"/>
                </a:solidFill>
                <a:latin typeface="Arial" panose="020B0604020202020204" pitchFamily="34" charset="0"/>
                <a:cs typeface="Arial" panose="020B0604020202020204" pitchFamily="34" charset="0"/>
              </a:rPr>
              <a:t>Change in terminology may have some consequences on translation and local laws.</a:t>
            </a:r>
          </a:p>
          <a:p>
            <a:pPr marL="342900" indent="-342900" algn="just">
              <a:lnSpc>
                <a:spcPts val="1400"/>
              </a:lnSpc>
              <a:spcBef>
                <a:spcPts val="600"/>
              </a:spcBef>
              <a:spcAft>
                <a:spcPts val="0"/>
              </a:spcAft>
              <a:buFont typeface="Arial" panose="020B0604020202020204" pitchFamily="34" charset="0"/>
              <a:buChar char="•"/>
            </a:pPr>
            <a:r>
              <a:rPr lang="en-US" sz="1000" b="0" i="0" dirty="0">
                <a:solidFill>
                  <a:schemeClr val="tx1"/>
                </a:solidFill>
                <a:latin typeface="Arial" panose="020B0604020202020204" pitchFamily="34" charset="0"/>
                <a:cs typeface="Arial" panose="020B0604020202020204" pitchFamily="34" charset="0"/>
              </a:rPr>
              <a:t>Term may be confused with other types of engagement-level quality reviews performed by the firm.</a:t>
            </a:r>
            <a:endParaRPr lang="en-US" sz="1000" i="1" dirty="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17</a:t>
            </a:fld>
            <a:endParaRPr lang="en-US" dirty="0"/>
          </a:p>
        </p:txBody>
      </p:sp>
    </p:spTree>
    <p:extLst>
      <p:ext uri="{BB962C8B-B14F-4D97-AF65-F5344CB8AC3E}">
        <p14:creationId xmlns:p14="http://schemas.microsoft.com/office/powerpoint/2010/main" val="34638841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342900" rtl="0" eaLnBrk="1" fontAlgn="auto" latinLnBrk="0" hangingPunct="1">
              <a:lnSpc>
                <a:spcPts val="1400"/>
              </a:lnSpc>
              <a:spcBef>
                <a:spcPts val="600"/>
              </a:spcBef>
              <a:spcAft>
                <a:spcPts val="0"/>
              </a:spcAft>
              <a:buClrTx/>
              <a:buSzTx/>
              <a:buFontTx/>
              <a:buNone/>
              <a:tabLst/>
              <a:defRPr/>
            </a:pPr>
            <a:r>
              <a:rPr lang="en-US" sz="1000" b="1" i="1" kern="1200" dirty="0">
                <a:solidFill>
                  <a:schemeClr val="tx1"/>
                </a:solidFill>
                <a:latin typeface="Arial" panose="020B0604020202020204" pitchFamily="34" charset="0"/>
                <a:ea typeface="+mn-ea"/>
                <a:cs typeface="Arial" panose="020B0604020202020204" pitchFamily="34" charset="0"/>
              </a:rPr>
              <a:t>(Notes from the September 2019 IAASB meeting)</a:t>
            </a:r>
            <a:endParaRPr lang="en-US" sz="1000" b="1" i="1" dirty="0">
              <a:solidFill>
                <a:schemeClr val="tx1"/>
              </a:solidFill>
              <a:latin typeface="Arial" panose="020B0604020202020204" pitchFamily="34" charset="0"/>
              <a:cs typeface="Arial" panose="020B0604020202020204" pitchFamily="34" charset="0"/>
            </a:endParaRPr>
          </a:p>
          <a:p>
            <a:pPr marL="0" marR="0" lvl="0" indent="0" algn="just" defTabSz="342900" rtl="0" eaLnBrk="1" fontAlgn="auto" latinLnBrk="0" hangingPunct="1">
              <a:lnSpc>
                <a:spcPts val="1400"/>
              </a:lnSpc>
              <a:spcBef>
                <a:spcPts val="600"/>
              </a:spcBef>
              <a:spcAft>
                <a:spcPts val="0"/>
              </a:spcAft>
              <a:buClrTx/>
              <a:buSzTx/>
              <a:buFontTx/>
              <a:buNone/>
              <a:tabLst/>
              <a:defRPr/>
            </a:pPr>
            <a:r>
              <a:rPr lang="en-US" sz="1000" i="1" dirty="0">
                <a:solidFill>
                  <a:schemeClr val="tx1"/>
                </a:solidFill>
                <a:latin typeface="Arial" panose="020B0604020202020204" pitchFamily="34" charset="0"/>
                <a:cs typeface="Arial" panose="020B0604020202020204" pitchFamily="34" charset="0"/>
              </a:rPr>
              <a:t>ED-ISQM 2 Q4: Do you support the requirements for eligibility to be appointed as an engagement quality reviewer or an assistant to the engagement quality reviewer as described in paragraphs 16 and 17, respectively, of ED-ISQM 2?</a:t>
            </a:r>
          </a:p>
          <a:p>
            <a:pPr marL="342900" indent="-342900" algn="just">
              <a:lnSpc>
                <a:spcPts val="1400"/>
              </a:lnSpc>
              <a:spcBef>
                <a:spcPts val="600"/>
              </a:spcBef>
              <a:spcAft>
                <a:spcPts val="0"/>
              </a:spcAft>
              <a:buFont typeface="Arial" panose="020B0604020202020204" pitchFamily="34" charset="0"/>
              <a:buChar char="•"/>
            </a:pPr>
            <a:r>
              <a:rPr lang="en-US" sz="1000" b="0" i="0" dirty="0">
                <a:solidFill>
                  <a:schemeClr val="tx1"/>
                </a:solidFill>
                <a:latin typeface="Arial" panose="020B0604020202020204" pitchFamily="34" charset="0"/>
                <a:cs typeface="Arial" panose="020B0604020202020204" pitchFamily="34" charset="0"/>
              </a:rPr>
              <a:t>Consider whether the limitations on eligibility of an engagement partner moving into an EQ reviewer role should also apply to other roles on the engagement (e.g., other key audit partners or senior staff on the engagement).</a:t>
            </a:r>
          </a:p>
          <a:p>
            <a:pPr marL="342900" indent="-342900" algn="just">
              <a:lnSpc>
                <a:spcPts val="1400"/>
              </a:lnSpc>
              <a:spcBef>
                <a:spcPts val="600"/>
              </a:spcBef>
              <a:spcAft>
                <a:spcPts val="0"/>
              </a:spcAft>
              <a:buFont typeface="Arial" panose="020B0604020202020204" pitchFamily="34" charset="0"/>
              <a:buChar char="•"/>
            </a:pPr>
            <a:r>
              <a:rPr lang="en-US" sz="1000" b="0" i="0" dirty="0">
                <a:solidFill>
                  <a:schemeClr val="tx1"/>
                </a:solidFill>
                <a:latin typeface="Arial" panose="020B0604020202020204" pitchFamily="34" charset="0"/>
                <a:cs typeface="Arial" panose="020B0604020202020204" pitchFamily="34" charset="0"/>
              </a:rPr>
              <a:t>Clarify if the principle on threats to objectivity and guidance on cooling-off period also apply to assistants of the EQ reviewer.</a:t>
            </a:r>
          </a:p>
          <a:p>
            <a:pPr marL="0" marR="0" lvl="0" indent="0" algn="just" defTabSz="342900" rtl="0" eaLnBrk="1" fontAlgn="auto" latinLnBrk="0" hangingPunct="1">
              <a:lnSpc>
                <a:spcPts val="1400"/>
              </a:lnSpc>
              <a:spcBef>
                <a:spcPts val="600"/>
              </a:spcBef>
              <a:spcAft>
                <a:spcPts val="0"/>
              </a:spcAft>
              <a:buClrTx/>
              <a:buSzTx/>
              <a:buFont typeface="Arial" panose="020B0604020202020204" pitchFamily="34" charset="0"/>
              <a:buNone/>
              <a:tabLst/>
              <a:defRPr/>
            </a:pPr>
            <a:r>
              <a:rPr lang="en-US" sz="1000" b="1" i="0" kern="1200" dirty="0">
                <a:solidFill>
                  <a:schemeClr val="tx1"/>
                </a:solidFill>
                <a:latin typeface="Arial" panose="020B0604020202020204" pitchFamily="34" charset="0"/>
                <a:ea typeface="+mn-ea"/>
                <a:cs typeface="Arial" panose="020B0604020202020204" pitchFamily="34" charset="0"/>
              </a:rPr>
              <a:t>NOT ON THE SLIDE:</a:t>
            </a:r>
            <a:endParaRPr lang="en-US" sz="1000" b="0" i="0" dirty="0">
              <a:solidFill>
                <a:schemeClr val="tx1"/>
              </a:solidFill>
              <a:latin typeface="Arial" panose="020B0604020202020204" pitchFamily="34" charset="0"/>
              <a:cs typeface="Arial" panose="020B0604020202020204" pitchFamily="34" charset="0"/>
            </a:endParaRPr>
          </a:p>
          <a:p>
            <a:pPr marL="342900" marR="0" lvl="0" indent="-342900" algn="just" defTabSz="342900" rtl="0" eaLnBrk="1" fontAlgn="auto" latinLnBrk="0" hangingPunct="1">
              <a:lnSpc>
                <a:spcPts val="1400"/>
              </a:lnSpc>
              <a:spcBef>
                <a:spcPts val="600"/>
              </a:spcBef>
              <a:spcAft>
                <a:spcPts val="0"/>
              </a:spcAft>
              <a:buClrTx/>
              <a:buSzTx/>
              <a:buFont typeface="Arial" panose="020B0604020202020204" pitchFamily="34" charset="0"/>
              <a:buChar char="•"/>
              <a:tabLst/>
              <a:defRPr/>
            </a:pPr>
            <a:r>
              <a:rPr lang="en-US" sz="1000" b="0" i="0" dirty="0">
                <a:solidFill>
                  <a:schemeClr val="tx1"/>
                </a:solidFill>
                <a:latin typeface="Arial" panose="020B0604020202020204" pitchFamily="34" charset="0"/>
                <a:cs typeface="Arial" panose="020B0604020202020204" pitchFamily="34" charset="0"/>
              </a:rPr>
              <a:t>The EQ reviewer's authority may be diminished depending on whether the EQ reviewer has a reporting line or holds a lower grade than the engagement partner.</a:t>
            </a:r>
          </a:p>
        </p:txBody>
      </p:sp>
      <p:sp>
        <p:nvSpPr>
          <p:cNvPr id="4" name="Slide Number Placeholder 3"/>
          <p:cNvSpPr>
            <a:spLocks noGrp="1"/>
          </p:cNvSpPr>
          <p:nvPr>
            <p:ph type="sldNum" sz="quarter" idx="5"/>
          </p:nvPr>
        </p:nvSpPr>
        <p:spPr/>
        <p:txBody>
          <a:bodyPr/>
          <a:lstStyle/>
          <a:p>
            <a:fld id="{4D410189-AC31-7546-878A-F48FDE4A29F5}" type="slidenum">
              <a:rPr lang="en-US" smtClean="0"/>
              <a:t>18</a:t>
            </a:fld>
            <a:endParaRPr lang="en-US" dirty="0"/>
          </a:p>
        </p:txBody>
      </p:sp>
    </p:spTree>
    <p:extLst>
      <p:ext uri="{BB962C8B-B14F-4D97-AF65-F5344CB8AC3E}">
        <p14:creationId xmlns:p14="http://schemas.microsoft.com/office/powerpoint/2010/main" val="28249666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just">
              <a:lnSpc>
                <a:spcPts val="1400"/>
              </a:lnSpc>
              <a:spcBef>
                <a:spcPts val="600"/>
              </a:spcBef>
              <a:spcAft>
                <a:spcPts val="0"/>
              </a:spcAft>
              <a:buFont typeface="Arial" panose="020B0604020202020204" pitchFamily="34" charset="0"/>
              <a:buNone/>
            </a:pPr>
            <a:r>
              <a:rPr lang="en-US" sz="1000" b="1" i="1" kern="1200" dirty="0">
                <a:solidFill>
                  <a:schemeClr val="lt1"/>
                </a:solidFill>
                <a:latin typeface="Arial" panose="020B0604020202020204" pitchFamily="34" charset="0"/>
                <a:ea typeface="+mn-ea"/>
                <a:cs typeface="Arial" panose="020B0604020202020204" pitchFamily="34" charset="0"/>
              </a:rPr>
              <a:t>(Notes from the September 2019 IAASB meeting)</a:t>
            </a:r>
            <a:endParaRPr lang="en-US" sz="1000" i="1" dirty="0">
              <a:latin typeface="Arial" panose="020B0604020202020204" pitchFamily="34" charset="0"/>
              <a:cs typeface="Arial" panose="020B0604020202020204" pitchFamily="34" charset="0"/>
            </a:endParaRPr>
          </a:p>
          <a:p>
            <a:pPr marL="0" indent="0" algn="just">
              <a:lnSpc>
                <a:spcPts val="1400"/>
              </a:lnSpc>
              <a:spcBef>
                <a:spcPts val="600"/>
              </a:spcBef>
              <a:spcAft>
                <a:spcPts val="0"/>
              </a:spcAft>
              <a:buFont typeface="Arial" panose="020B0604020202020204" pitchFamily="34" charset="0"/>
              <a:buNone/>
            </a:pPr>
            <a:r>
              <a:rPr lang="en-US" sz="1000" i="1" dirty="0">
                <a:latin typeface="Arial" panose="020B0604020202020204" pitchFamily="34" charset="0"/>
                <a:cs typeface="Arial" panose="020B0604020202020204" pitchFamily="34" charset="0"/>
              </a:rPr>
              <a:t>ED-ISQM 2 Q5: Do you agree with the requirements relating to the nature, timing and extent of the engagement quality reviewer’s procedures? Are the responsibilities of the engagement quality reviewer appropriate given the revised responsibilities of the engagement partner in proposed ISA 220 (Revised)?</a:t>
            </a:r>
          </a:p>
          <a:p>
            <a:pPr marL="0" indent="0" algn="just">
              <a:lnSpc>
                <a:spcPts val="1400"/>
              </a:lnSpc>
              <a:spcBef>
                <a:spcPts val="600"/>
              </a:spcBef>
              <a:spcAft>
                <a:spcPts val="0"/>
              </a:spcAft>
              <a:buFont typeface="Arial" panose="020B0604020202020204" pitchFamily="34" charset="0"/>
              <a:buNone/>
            </a:pPr>
            <a:r>
              <a:rPr lang="en-US" sz="1000" b="1" i="1" dirty="0">
                <a:latin typeface="Arial" panose="020B0604020202020204" pitchFamily="34" charset="0"/>
                <a:cs typeface="Arial" panose="020B0604020202020204" pitchFamily="34" charset="0"/>
              </a:rPr>
              <a:t>Emphasize</a:t>
            </a:r>
            <a:r>
              <a:rPr lang="en-US" sz="1000" b="1" i="1" baseline="0" dirty="0">
                <a:latin typeface="Arial" panose="020B0604020202020204" pitchFamily="34" charset="0"/>
                <a:cs typeface="Arial" panose="020B0604020202020204" pitchFamily="34" charset="0"/>
              </a:rPr>
              <a:t> connection of this discussion with ED-ISA 220.</a:t>
            </a:r>
          </a:p>
          <a:p>
            <a:pPr marL="342900" indent="-342900" algn="just">
              <a:lnSpc>
                <a:spcPts val="1400"/>
              </a:lnSpc>
              <a:spcBef>
                <a:spcPts val="600"/>
              </a:spcBef>
              <a:spcAft>
                <a:spcPts val="0"/>
              </a:spcAft>
              <a:buFont typeface="Arial" panose="020B0604020202020204" pitchFamily="34" charset="0"/>
              <a:buChar char="•"/>
            </a:pPr>
            <a:r>
              <a:rPr lang="en-US" sz="1000" b="0" i="0" dirty="0">
                <a:latin typeface="Arial" panose="020B0604020202020204" pitchFamily="34" charset="0"/>
                <a:cs typeface="Arial" panose="020B0604020202020204" pitchFamily="34" charset="0"/>
              </a:rPr>
              <a:t>Significant matters and significant judgments:</a:t>
            </a:r>
          </a:p>
          <a:p>
            <a:pPr marL="694944" indent="-342900" algn="just">
              <a:lnSpc>
                <a:spcPts val="1400"/>
              </a:lnSpc>
              <a:spcBef>
                <a:spcPts val="600"/>
              </a:spcBef>
              <a:spcAft>
                <a:spcPts val="0"/>
              </a:spcAft>
              <a:buFont typeface="Courier New" panose="02070309020205020404" pitchFamily="49" charset="0"/>
              <a:buChar char="o"/>
            </a:pPr>
            <a:r>
              <a:rPr lang="en-US" sz="1000" b="0" i="0" dirty="0">
                <a:latin typeface="Arial" panose="020B0604020202020204" pitchFamily="34" charset="0"/>
                <a:cs typeface="Arial" panose="020B0604020202020204" pitchFamily="34" charset="0"/>
              </a:rPr>
              <a:t>Define, or provide guidance to further elaborate or explain the two concepts, and the interrelationship between them.</a:t>
            </a:r>
          </a:p>
          <a:p>
            <a:pPr marL="694944" indent="-342900" algn="just">
              <a:lnSpc>
                <a:spcPts val="1400"/>
              </a:lnSpc>
              <a:spcBef>
                <a:spcPts val="600"/>
              </a:spcBef>
              <a:spcAft>
                <a:spcPts val="0"/>
              </a:spcAft>
              <a:buFont typeface="Courier New" panose="02070309020205020404" pitchFamily="49" charset="0"/>
              <a:buChar char="o"/>
            </a:pPr>
            <a:r>
              <a:rPr lang="en-US" sz="1000" b="0" i="0" dirty="0">
                <a:latin typeface="Arial" panose="020B0604020202020204" pitchFamily="34" charset="0"/>
                <a:cs typeface="Arial" panose="020B0604020202020204" pitchFamily="34" charset="0"/>
              </a:rPr>
              <a:t>Clarify whether the EQ reviewer is required to independently assess the completeness of the significant judgments identified by the engagement team and consider including specific significant judgments that the EQ reviewer is required to evaluate.</a:t>
            </a:r>
          </a:p>
          <a:p>
            <a:pPr marL="342900" indent="-342900" algn="just">
              <a:lnSpc>
                <a:spcPts val="1400"/>
              </a:lnSpc>
              <a:spcBef>
                <a:spcPts val="600"/>
              </a:spcBef>
              <a:spcAft>
                <a:spcPts val="0"/>
              </a:spcAft>
              <a:buFont typeface="Arial" panose="020B0604020202020204" pitchFamily="34" charset="0"/>
              <a:buChar char="•"/>
            </a:pPr>
            <a:r>
              <a:rPr lang="en-US" sz="1000" b="0" i="0" dirty="0">
                <a:latin typeface="Arial" panose="020B0604020202020204" pitchFamily="34" charset="0"/>
                <a:cs typeface="Arial" panose="020B0604020202020204" pitchFamily="34" charset="0"/>
              </a:rPr>
              <a:t>Provide guidance on how the EQ reviewer would demonstrate and / or document the evaluation of the basis for the engagement partner's conclusion that the engagement partner has taken overall responsibility for managing and achieving quality on the audit engagement in para. 22(f).</a:t>
            </a:r>
            <a:endParaRPr lang="en-US" sz="1000" b="0" i="0" kern="1200" dirty="0">
              <a:solidFill>
                <a:schemeClr val="lt1"/>
              </a:solidFill>
              <a:latin typeface="Arial" panose="020B0604020202020204" pitchFamily="34" charset="0"/>
              <a:ea typeface="+mn-ea"/>
              <a:cs typeface="Arial" panose="020B0604020202020204" pitchFamily="34" charset="0"/>
            </a:endParaRPr>
          </a:p>
          <a:p>
            <a:pPr marL="342900" marR="0" lvl="0" indent="-342900" algn="just" defTabSz="342900" rtl="0" eaLnBrk="1" fontAlgn="auto" latinLnBrk="0" hangingPunct="1">
              <a:lnSpc>
                <a:spcPts val="1400"/>
              </a:lnSpc>
              <a:spcBef>
                <a:spcPts val="600"/>
              </a:spcBef>
              <a:spcAft>
                <a:spcPts val="0"/>
              </a:spcAft>
              <a:buClrTx/>
              <a:buSzTx/>
              <a:buFont typeface="Arial" panose="020B0604020202020204" pitchFamily="34" charset="0"/>
              <a:buChar char="•"/>
              <a:tabLst/>
              <a:defRPr/>
            </a:pPr>
            <a:r>
              <a:rPr lang="en-US" sz="1000" b="0" i="0" kern="1200" dirty="0">
                <a:solidFill>
                  <a:schemeClr val="lt1"/>
                </a:solidFill>
                <a:latin typeface="Arial" panose="020B0604020202020204" pitchFamily="34" charset="0"/>
                <a:ea typeface="+mn-ea"/>
                <a:cs typeface="Arial" panose="020B0604020202020204" pitchFamily="34" charset="0"/>
              </a:rPr>
              <a:t>Consider the balance between the EQ reviewer's responsibilities and those of the engagement partner.</a:t>
            </a:r>
            <a:endParaRPr lang="en-US" sz="1000" b="0" i="0" dirty="0">
              <a:latin typeface="Arial" panose="020B0604020202020204" pitchFamily="34" charset="0"/>
              <a:cs typeface="Arial" panose="020B0604020202020204" pitchFamily="34" charset="0"/>
            </a:endParaRPr>
          </a:p>
          <a:p>
            <a:pPr marL="342900" indent="-342900" algn="just">
              <a:lnSpc>
                <a:spcPts val="1400"/>
              </a:lnSpc>
              <a:spcBef>
                <a:spcPts val="600"/>
              </a:spcBef>
              <a:spcAft>
                <a:spcPts val="0"/>
              </a:spcAft>
              <a:buFont typeface="Arial" panose="020B0604020202020204" pitchFamily="34" charset="0"/>
              <a:buChar char="•"/>
            </a:pPr>
            <a:r>
              <a:rPr lang="en-US" sz="1000" b="0" i="0" kern="1200" dirty="0">
                <a:solidFill>
                  <a:schemeClr val="lt1"/>
                </a:solidFill>
                <a:latin typeface="Arial" panose="020B0604020202020204" pitchFamily="34" charset="0"/>
                <a:ea typeface="+mn-ea"/>
                <a:cs typeface="Arial" panose="020B0604020202020204" pitchFamily="34" charset="0"/>
              </a:rPr>
              <a:t>Clarify the nature, timing, extent of procedures, how to demonstrate compliance with requirement, or how to document:</a:t>
            </a:r>
          </a:p>
          <a:p>
            <a:pPr marL="694944" indent="-342900" algn="just">
              <a:lnSpc>
                <a:spcPts val="1400"/>
              </a:lnSpc>
              <a:spcBef>
                <a:spcPts val="600"/>
              </a:spcBef>
              <a:spcAft>
                <a:spcPts val="0"/>
              </a:spcAft>
              <a:buFont typeface="Courier New" panose="02070309020205020404" pitchFamily="49" charset="0"/>
              <a:buChar char="o"/>
            </a:pPr>
            <a:r>
              <a:rPr lang="en-US" sz="1000" b="0" i="0" dirty="0">
                <a:latin typeface="Arial" panose="020B0604020202020204" pitchFamily="34" charset="0"/>
                <a:cs typeface="Arial" panose="020B0604020202020204" pitchFamily="34" charset="0"/>
              </a:rPr>
              <a:t>Para. 21(a) and 21(c) </a:t>
            </a:r>
            <a:r>
              <a:rPr lang="en-US" sz="1000" b="0" i="0" kern="1200" dirty="0">
                <a:solidFill>
                  <a:schemeClr val="lt1"/>
                </a:solidFill>
                <a:latin typeface="Arial" panose="020B0604020202020204" pitchFamily="34" charset="0"/>
                <a:ea typeface="+mn-ea"/>
                <a:cs typeface="Arial" panose="020B0604020202020204" pitchFamily="34" charset="0"/>
              </a:rPr>
              <a:t>–</a:t>
            </a:r>
            <a:r>
              <a:rPr lang="en-US" sz="1000" b="0" i="0" dirty="0">
                <a:latin typeface="Arial" panose="020B0604020202020204" pitchFamily="34" charset="0"/>
                <a:cs typeface="Arial" panose="020B0604020202020204" pitchFamily="34" charset="0"/>
              </a:rPr>
              <a:t> Involvement of EQ reviewer at “appropriate points in time” and discussions between the engagement team and the EQ reviewer.</a:t>
            </a:r>
            <a:endParaRPr lang="en-US" sz="1000" b="0" i="0" kern="1200" dirty="0">
              <a:solidFill>
                <a:schemeClr val="lt1"/>
              </a:solidFill>
              <a:latin typeface="Arial" panose="020B0604020202020204" pitchFamily="34" charset="0"/>
              <a:ea typeface="+mn-ea"/>
              <a:cs typeface="Arial" panose="020B0604020202020204" pitchFamily="34" charset="0"/>
            </a:endParaRPr>
          </a:p>
          <a:p>
            <a:pPr marL="694944" indent="-342900" algn="just">
              <a:lnSpc>
                <a:spcPts val="1400"/>
              </a:lnSpc>
              <a:spcBef>
                <a:spcPts val="600"/>
              </a:spcBef>
              <a:spcAft>
                <a:spcPts val="0"/>
              </a:spcAft>
              <a:buFont typeface="Courier New" panose="02070309020205020404" pitchFamily="49" charset="0"/>
              <a:buChar char="o"/>
            </a:pPr>
            <a:r>
              <a:rPr lang="en-US" sz="1000" b="0" i="0" dirty="0">
                <a:latin typeface="Arial" panose="020B0604020202020204" pitchFamily="34" charset="0"/>
                <a:cs typeface="Arial" panose="020B0604020202020204" pitchFamily="34" charset="0"/>
              </a:rPr>
              <a:t>Para. 22(a) and 22(g) </a:t>
            </a:r>
            <a:r>
              <a:rPr lang="en-US" sz="1000" b="0" i="0" kern="1200" dirty="0">
                <a:solidFill>
                  <a:schemeClr val="lt1"/>
                </a:solidFill>
                <a:latin typeface="Arial" panose="020B0604020202020204" pitchFamily="34" charset="0"/>
                <a:ea typeface="+mn-ea"/>
                <a:cs typeface="Arial" panose="020B0604020202020204" pitchFamily="34" charset="0"/>
              </a:rPr>
              <a:t>–</a:t>
            </a:r>
            <a:r>
              <a:rPr lang="en-US" sz="1000" b="0" i="0" dirty="0">
                <a:latin typeface="Arial" panose="020B0604020202020204" pitchFamily="34" charset="0"/>
                <a:cs typeface="Arial" panose="020B0604020202020204" pitchFamily="34" charset="0"/>
              </a:rPr>
              <a:t> Read and understand information (including monitoring and remediation) and the review of the financial statements and engagement reports.</a:t>
            </a:r>
          </a:p>
          <a:p>
            <a:pPr marL="694944" marR="0" lvl="0" indent="-342900" algn="just" defTabSz="342900" rtl="0" eaLnBrk="1" fontAlgn="auto" latinLnBrk="0" hangingPunct="1">
              <a:lnSpc>
                <a:spcPts val="1400"/>
              </a:lnSpc>
              <a:spcBef>
                <a:spcPts val="600"/>
              </a:spcBef>
              <a:spcAft>
                <a:spcPts val="0"/>
              </a:spcAft>
              <a:buClrTx/>
              <a:buSzTx/>
              <a:buFont typeface="Courier New" panose="02070309020205020404" pitchFamily="49" charset="0"/>
              <a:buChar char="o"/>
              <a:tabLst/>
              <a:defRPr/>
            </a:pPr>
            <a:r>
              <a:rPr lang="en-US" sz="1000" b="0" i="0" kern="1200" dirty="0">
                <a:solidFill>
                  <a:schemeClr val="lt1"/>
                </a:solidFill>
                <a:latin typeface="Arial" panose="020B0604020202020204" pitchFamily="34" charset="0"/>
                <a:ea typeface="+mn-ea"/>
                <a:cs typeface="Arial" panose="020B0604020202020204" pitchFamily="34" charset="0"/>
              </a:rPr>
              <a:t>Para. 23 – Unresolved EQ review concerns.</a:t>
            </a:r>
          </a:p>
          <a:p>
            <a:pPr marL="342900" indent="-342900" algn="just">
              <a:lnSpc>
                <a:spcPts val="1400"/>
              </a:lnSpc>
              <a:spcBef>
                <a:spcPts val="600"/>
              </a:spcBef>
              <a:spcAft>
                <a:spcPts val="0"/>
              </a:spcAft>
              <a:buFont typeface="Arial" panose="020B0604020202020204" pitchFamily="34" charset="0"/>
              <a:buChar char="•"/>
            </a:pPr>
            <a:r>
              <a:rPr lang="en-US" sz="1000" b="0" i="0" dirty="0">
                <a:latin typeface="Arial" panose="020B0604020202020204" pitchFamily="34" charset="0"/>
                <a:cs typeface="Arial" panose="020B0604020202020204" pitchFamily="34" charset="0"/>
              </a:rPr>
              <a:t>Clarify the replacement EQ reviewer’s responsibilities and the EQ reviewer assistant’s responsibilities. </a:t>
            </a:r>
          </a:p>
          <a:p>
            <a:pPr marL="342900" indent="-342900" algn="just">
              <a:lnSpc>
                <a:spcPts val="1400"/>
              </a:lnSpc>
              <a:spcBef>
                <a:spcPts val="600"/>
              </a:spcBef>
              <a:spcAft>
                <a:spcPts val="0"/>
              </a:spcAft>
              <a:buFont typeface="Arial" panose="020B0604020202020204" pitchFamily="34" charset="0"/>
              <a:buChar char="•"/>
            </a:pPr>
            <a:r>
              <a:rPr lang="en-US" sz="1000" b="0" i="0" dirty="0">
                <a:latin typeface="Arial" panose="020B0604020202020204" pitchFamily="34" charset="0"/>
                <a:cs typeface="Arial" panose="020B0604020202020204" pitchFamily="34" charset="0"/>
              </a:rPr>
              <a:t>Consider the EQ reviewer’s responsibility to consider independence matters (in extant), and to review other specific matters (e.g., communications with TCWG, significant risks, uncorrected misstatements).</a:t>
            </a:r>
          </a:p>
          <a:p>
            <a:pPr marL="0" indent="0" algn="just">
              <a:lnSpc>
                <a:spcPts val="1400"/>
              </a:lnSpc>
              <a:spcBef>
                <a:spcPts val="600"/>
              </a:spcBef>
              <a:spcAft>
                <a:spcPts val="0"/>
              </a:spcAft>
              <a:buFont typeface="Arial" panose="020B0604020202020204" pitchFamily="34" charset="0"/>
              <a:buNone/>
            </a:pPr>
            <a:r>
              <a:rPr lang="en-US" sz="1000" b="1" i="0" kern="1200" dirty="0">
                <a:solidFill>
                  <a:schemeClr val="lt1"/>
                </a:solidFill>
                <a:latin typeface="Arial" panose="020B0604020202020204" pitchFamily="34" charset="0"/>
                <a:ea typeface="+mn-ea"/>
                <a:cs typeface="Arial" panose="020B0604020202020204" pitchFamily="34" charset="0"/>
              </a:rPr>
              <a:t>NOT ON THE SLIDE:</a:t>
            </a:r>
            <a:endParaRPr lang="en-US" sz="1000" b="0" i="0" dirty="0">
              <a:latin typeface="Arial" panose="020B0604020202020204" pitchFamily="34" charset="0"/>
              <a:cs typeface="Arial" panose="020B0604020202020204" pitchFamily="34" charset="0"/>
            </a:endParaRPr>
          </a:p>
          <a:p>
            <a:pPr marL="342900" indent="-342900" algn="just">
              <a:lnSpc>
                <a:spcPts val="1400"/>
              </a:lnSpc>
              <a:spcBef>
                <a:spcPts val="600"/>
              </a:spcBef>
              <a:spcAft>
                <a:spcPts val="0"/>
              </a:spcAft>
              <a:buFont typeface="Arial" panose="020B0604020202020204" pitchFamily="34" charset="0"/>
              <a:buChar char="•"/>
            </a:pPr>
            <a:r>
              <a:rPr lang="en-US" sz="1000" b="0" i="0" dirty="0">
                <a:latin typeface="Arial" panose="020B0604020202020204" pitchFamily="34" charset="0"/>
                <a:cs typeface="Arial" panose="020B0604020202020204" pitchFamily="34" charset="0"/>
              </a:rPr>
              <a:t>Believe that the work effort is disproportionate due to not focusing on the more important quality risks (see Question 8 for related concerns about scalability).</a:t>
            </a:r>
          </a:p>
        </p:txBody>
      </p:sp>
      <p:sp>
        <p:nvSpPr>
          <p:cNvPr id="4" name="Slide Number Placeholder 3"/>
          <p:cNvSpPr>
            <a:spLocks noGrp="1"/>
          </p:cNvSpPr>
          <p:nvPr>
            <p:ph type="sldNum" sz="quarter" idx="5"/>
          </p:nvPr>
        </p:nvSpPr>
        <p:spPr/>
        <p:txBody>
          <a:bodyPr/>
          <a:lstStyle/>
          <a:p>
            <a:fld id="{4D410189-AC31-7546-878A-F48FDE4A29F5}" type="slidenum">
              <a:rPr lang="en-US" smtClean="0"/>
              <a:t>19</a:t>
            </a:fld>
            <a:endParaRPr lang="en-US" dirty="0"/>
          </a:p>
        </p:txBody>
      </p:sp>
    </p:spTree>
    <p:extLst>
      <p:ext uri="{BB962C8B-B14F-4D97-AF65-F5344CB8AC3E}">
        <p14:creationId xmlns:p14="http://schemas.microsoft.com/office/powerpoint/2010/main" val="6216450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342900" rtl="0" eaLnBrk="1" fontAlgn="auto" latinLnBrk="0" hangingPunct="1">
              <a:lnSpc>
                <a:spcPts val="1400"/>
              </a:lnSpc>
              <a:spcBef>
                <a:spcPts val="600"/>
              </a:spcBef>
              <a:spcAft>
                <a:spcPts val="0"/>
              </a:spcAft>
              <a:buClrTx/>
              <a:buSzTx/>
              <a:buFontTx/>
              <a:buNone/>
              <a:tabLst/>
              <a:defRPr/>
            </a:pPr>
            <a:r>
              <a:rPr lang="en-US" sz="1000" b="1" i="1" kern="1200" dirty="0">
                <a:solidFill>
                  <a:schemeClr val="tx1"/>
                </a:solidFill>
                <a:latin typeface="Arial" panose="020B0604020202020204" pitchFamily="34" charset="0"/>
                <a:ea typeface="+mn-ea"/>
                <a:cs typeface="Arial" panose="020B0604020202020204" pitchFamily="34" charset="0"/>
              </a:rPr>
              <a:t>(Notes from the September 2019 IAASB meeting)</a:t>
            </a:r>
            <a:endParaRPr lang="en-US" sz="1000" b="1" i="1" dirty="0">
              <a:solidFill>
                <a:schemeClr val="tx1"/>
              </a:solidFill>
              <a:latin typeface="Arial" panose="020B0604020202020204" pitchFamily="34" charset="0"/>
              <a:cs typeface="Arial" panose="020B0604020202020204" pitchFamily="34" charset="0"/>
            </a:endParaRPr>
          </a:p>
          <a:p>
            <a:pPr marL="0" marR="0" lvl="0" indent="0" algn="just" defTabSz="342900" rtl="0" eaLnBrk="1" fontAlgn="auto" latinLnBrk="0" hangingPunct="1">
              <a:lnSpc>
                <a:spcPts val="1400"/>
              </a:lnSpc>
              <a:spcBef>
                <a:spcPts val="600"/>
              </a:spcBef>
              <a:spcAft>
                <a:spcPts val="0"/>
              </a:spcAft>
              <a:buClrTx/>
              <a:buSzTx/>
              <a:buFontTx/>
              <a:buNone/>
              <a:tabLst/>
              <a:defRPr/>
            </a:pPr>
            <a:r>
              <a:rPr lang="en-US" sz="1000" i="1" dirty="0">
                <a:solidFill>
                  <a:schemeClr val="tx1"/>
                </a:solidFill>
                <a:latin typeface="Arial" panose="020B0604020202020204" pitchFamily="34" charset="0"/>
                <a:cs typeface="Arial" panose="020B0604020202020204" pitchFamily="34" charset="0"/>
              </a:rPr>
              <a:t>ED-ISQM 2</a:t>
            </a:r>
            <a:r>
              <a:rPr lang="en-US" sz="1000" i="1" baseline="0" dirty="0">
                <a:solidFill>
                  <a:schemeClr val="tx1"/>
                </a:solidFill>
                <a:latin typeface="Arial" panose="020B0604020202020204" pitchFamily="34" charset="0"/>
                <a:cs typeface="Arial" panose="020B0604020202020204" pitchFamily="34" charset="0"/>
              </a:rPr>
              <a:t> Q7: </a:t>
            </a:r>
            <a:r>
              <a:rPr lang="en-US" sz="1000" i="1" dirty="0">
                <a:solidFill>
                  <a:schemeClr val="tx1"/>
                </a:solidFill>
                <a:latin typeface="Arial" panose="020B0604020202020204" pitchFamily="34" charset="0"/>
                <a:cs typeface="Arial" panose="020B0604020202020204" pitchFamily="34" charset="0"/>
              </a:rPr>
              <a:t>Do you agree with the enhanced documentation requirements?</a:t>
            </a:r>
          </a:p>
          <a:p>
            <a:pPr marL="342900" indent="-342900" algn="just">
              <a:lnSpc>
                <a:spcPts val="1400"/>
              </a:lnSpc>
              <a:spcBef>
                <a:spcPts val="600"/>
              </a:spcBef>
              <a:spcAft>
                <a:spcPts val="0"/>
              </a:spcAft>
              <a:buFont typeface="Arial" panose="020B0604020202020204" pitchFamily="34" charset="0"/>
              <a:buChar char="•"/>
            </a:pPr>
            <a:r>
              <a:rPr lang="en-US" sz="1000" b="0" i="0" dirty="0">
                <a:solidFill>
                  <a:schemeClr val="tx1"/>
                </a:solidFill>
                <a:latin typeface="Arial" panose="020B0604020202020204" pitchFamily="34" charset="0"/>
                <a:cs typeface="Arial" panose="020B0604020202020204" pitchFamily="34" charset="0"/>
              </a:rPr>
              <a:t>Overall, respondents generally supported the enhanced documentation requirements.</a:t>
            </a:r>
          </a:p>
          <a:p>
            <a:pPr marL="0" indent="0" algn="just">
              <a:lnSpc>
                <a:spcPts val="1400"/>
              </a:lnSpc>
              <a:spcBef>
                <a:spcPts val="600"/>
              </a:spcBef>
              <a:spcAft>
                <a:spcPts val="0"/>
              </a:spcAft>
              <a:buFont typeface="Arial" panose="020B0604020202020204" pitchFamily="34" charset="0"/>
              <a:buNone/>
            </a:pPr>
            <a:r>
              <a:rPr lang="en-US" sz="1000" b="1" i="0" kern="1200" dirty="0">
                <a:solidFill>
                  <a:schemeClr val="tx1"/>
                </a:solidFill>
                <a:latin typeface="Arial" panose="020B0604020202020204" pitchFamily="34" charset="0"/>
                <a:ea typeface="+mn-ea"/>
                <a:cs typeface="Arial" panose="020B0604020202020204" pitchFamily="34" charset="0"/>
              </a:rPr>
              <a:t>NOT ON THE SLIDE:</a:t>
            </a:r>
            <a:endParaRPr lang="en-US" sz="1000" b="0" i="0" dirty="0">
              <a:solidFill>
                <a:schemeClr val="tx1"/>
              </a:solidFill>
              <a:latin typeface="Arial" panose="020B0604020202020204" pitchFamily="34" charset="0"/>
              <a:cs typeface="Arial" panose="020B0604020202020204" pitchFamily="34" charset="0"/>
            </a:endParaRPr>
          </a:p>
          <a:p>
            <a:pPr marL="685800" lvl="1" indent="-342900" algn="just">
              <a:lnSpc>
                <a:spcPts val="1400"/>
              </a:lnSpc>
              <a:spcBef>
                <a:spcPts val="600"/>
              </a:spcBef>
              <a:spcAft>
                <a:spcPts val="0"/>
              </a:spcAft>
              <a:buFont typeface="Courier New" panose="02070309020205020404" pitchFamily="49" charset="0"/>
              <a:buChar char="o"/>
            </a:pPr>
            <a:r>
              <a:rPr lang="en-US" sz="1000" b="0" i="0" dirty="0">
                <a:solidFill>
                  <a:schemeClr val="tx1"/>
                </a:solidFill>
                <a:latin typeface="Arial" panose="020B0604020202020204" pitchFamily="34" charset="0"/>
                <a:cs typeface="Arial" panose="020B0604020202020204" pitchFamily="34" charset="0"/>
              </a:rPr>
              <a:t>Requirements are </a:t>
            </a:r>
            <a:r>
              <a:rPr lang="en-US" sz="1000" b="1" i="0" dirty="0">
                <a:solidFill>
                  <a:schemeClr val="tx1"/>
                </a:solidFill>
                <a:latin typeface="Arial" panose="020B0604020202020204" pitchFamily="34" charset="0"/>
                <a:cs typeface="Arial" panose="020B0604020202020204" pitchFamily="34" charset="0"/>
              </a:rPr>
              <a:t>appropriate</a:t>
            </a:r>
            <a:r>
              <a:rPr lang="en-US" sz="1000" b="0" i="0" dirty="0">
                <a:solidFill>
                  <a:schemeClr val="tx1"/>
                </a:solidFill>
                <a:latin typeface="Arial" panose="020B0604020202020204" pitchFamily="34" charset="0"/>
                <a:cs typeface="Arial" panose="020B0604020202020204" pitchFamily="34" charset="0"/>
              </a:rPr>
              <a:t> and will </a:t>
            </a:r>
            <a:r>
              <a:rPr lang="en-US" sz="1000" b="1" i="0" dirty="0">
                <a:solidFill>
                  <a:schemeClr val="tx1"/>
                </a:solidFill>
                <a:latin typeface="Arial" panose="020B0604020202020204" pitchFamily="34" charset="0"/>
                <a:cs typeface="Arial" panose="020B0604020202020204" pitchFamily="34" charset="0"/>
              </a:rPr>
              <a:t>not cause major problems in practical implementation</a:t>
            </a:r>
            <a:r>
              <a:rPr lang="en-US" sz="1000" b="0" i="0" dirty="0">
                <a:solidFill>
                  <a:schemeClr val="tx1"/>
                </a:solidFill>
                <a:latin typeface="Arial" panose="020B0604020202020204" pitchFamily="34" charset="0"/>
                <a:cs typeface="Arial" panose="020B0604020202020204" pitchFamily="34" charset="0"/>
              </a:rPr>
              <a:t>.</a:t>
            </a:r>
          </a:p>
          <a:p>
            <a:pPr marL="685800" lvl="1" indent="-342900" algn="just">
              <a:lnSpc>
                <a:spcPts val="1400"/>
              </a:lnSpc>
              <a:spcBef>
                <a:spcPts val="600"/>
              </a:spcBef>
              <a:spcAft>
                <a:spcPts val="0"/>
              </a:spcAft>
              <a:buFont typeface="Courier New" panose="02070309020205020404" pitchFamily="49" charset="0"/>
              <a:buChar char="o"/>
            </a:pPr>
            <a:r>
              <a:rPr lang="en-US" sz="1000" b="0" i="0" dirty="0">
                <a:solidFill>
                  <a:schemeClr val="tx1"/>
                </a:solidFill>
                <a:latin typeface="Arial" panose="020B0604020202020204" pitchFamily="34" charset="0"/>
                <a:cs typeface="Arial" panose="020B0604020202020204" pitchFamily="34" charset="0"/>
              </a:rPr>
              <a:t>View that these enhanced requirements </a:t>
            </a:r>
            <a:r>
              <a:rPr lang="en-US" sz="1000" b="1" i="0" dirty="0">
                <a:solidFill>
                  <a:schemeClr val="tx1"/>
                </a:solidFill>
                <a:latin typeface="Arial" panose="020B0604020202020204" pitchFamily="34" charset="0"/>
                <a:cs typeface="Arial" panose="020B0604020202020204" pitchFamily="34" charset="0"/>
              </a:rPr>
              <a:t>reflect what many firms currently require</a:t>
            </a:r>
            <a:r>
              <a:rPr lang="en-US" sz="1000" b="0" i="0" dirty="0">
                <a:solidFill>
                  <a:schemeClr val="tx1"/>
                </a:solidFill>
                <a:latin typeface="Arial" panose="020B0604020202020204" pitchFamily="34" charset="0"/>
                <a:cs typeface="Arial" panose="020B0604020202020204" pitchFamily="34" charset="0"/>
              </a:rPr>
              <a:t> to be included in the engagement file as evidence of the EQ review.</a:t>
            </a:r>
          </a:p>
          <a:p>
            <a:pPr marL="685800" lvl="1" indent="-342900" algn="just">
              <a:lnSpc>
                <a:spcPts val="1400"/>
              </a:lnSpc>
              <a:spcBef>
                <a:spcPts val="600"/>
              </a:spcBef>
              <a:spcAft>
                <a:spcPts val="0"/>
              </a:spcAft>
              <a:buFont typeface="Courier New" panose="02070309020205020404" pitchFamily="49" charset="0"/>
              <a:buChar char="o"/>
            </a:pPr>
            <a:r>
              <a:rPr lang="en-US" sz="1000" b="0" i="0" dirty="0">
                <a:solidFill>
                  <a:schemeClr val="tx1"/>
                </a:solidFill>
                <a:latin typeface="Arial" panose="020B0604020202020204" pitchFamily="34" charset="0"/>
                <a:cs typeface="Arial" panose="020B0604020202020204" pitchFamily="34" charset="0"/>
              </a:rPr>
              <a:t>Support the enhanced documentation requirements and principle that the </a:t>
            </a:r>
            <a:r>
              <a:rPr lang="en-US" sz="1000" b="1" i="0" dirty="0">
                <a:solidFill>
                  <a:schemeClr val="tx1"/>
                </a:solidFill>
                <a:latin typeface="Arial" panose="020B0604020202020204" pitchFamily="34" charset="0"/>
                <a:cs typeface="Arial" panose="020B0604020202020204" pitchFamily="34" charset="0"/>
              </a:rPr>
              <a:t>EQ reviewer takes responsibility for documentation</a:t>
            </a:r>
            <a:r>
              <a:rPr lang="en-US" sz="1000" b="0" i="0" dirty="0">
                <a:solidFill>
                  <a:schemeClr val="tx1"/>
                </a:solidFill>
                <a:latin typeface="Arial" panose="020B0604020202020204" pitchFamily="34" charset="0"/>
                <a:cs typeface="Arial" panose="020B0604020202020204" pitchFamily="34" charset="0"/>
              </a:rPr>
              <a:t> of the EQ review and that this may be </a:t>
            </a:r>
            <a:r>
              <a:rPr lang="en-US" sz="1000" b="1" i="0" dirty="0">
                <a:solidFill>
                  <a:schemeClr val="tx1"/>
                </a:solidFill>
                <a:latin typeface="Arial" panose="020B0604020202020204" pitchFamily="34" charset="0"/>
                <a:cs typeface="Arial" panose="020B0604020202020204" pitchFamily="34" charset="0"/>
              </a:rPr>
              <a:t>documented in a number of ways</a:t>
            </a:r>
            <a:r>
              <a:rPr lang="en-US" sz="1000" b="0" i="0" dirty="0">
                <a:solidFill>
                  <a:schemeClr val="tx1"/>
                </a:solidFill>
                <a:latin typeface="Arial" panose="020B0604020202020204" pitchFamily="34" charset="0"/>
                <a:cs typeface="Arial" panose="020B0604020202020204" pitchFamily="34" charset="0"/>
              </a:rPr>
              <a:t>.</a:t>
            </a:r>
          </a:p>
          <a:p>
            <a:pPr marL="342900" indent="-342900" algn="just">
              <a:lnSpc>
                <a:spcPts val="1400"/>
              </a:lnSpc>
              <a:spcBef>
                <a:spcPts val="600"/>
              </a:spcBef>
              <a:spcAft>
                <a:spcPts val="0"/>
              </a:spcAft>
              <a:buFont typeface="Arial" panose="020B0604020202020204" pitchFamily="34" charset="0"/>
              <a:buChar char="•"/>
            </a:pPr>
            <a:r>
              <a:rPr lang="en-US" sz="1000" b="0" i="0" dirty="0">
                <a:solidFill>
                  <a:schemeClr val="tx1"/>
                </a:solidFill>
                <a:latin typeface="Arial" panose="020B0604020202020204" pitchFamily="34" charset="0"/>
                <a:cs typeface="Arial" panose="020B0604020202020204" pitchFamily="34" charset="0"/>
              </a:rPr>
              <a:t>Provide implementation support through examples of form, content and extent of documentation.</a:t>
            </a:r>
          </a:p>
          <a:p>
            <a:pPr marL="342900" indent="-342900" algn="just">
              <a:lnSpc>
                <a:spcPts val="1400"/>
              </a:lnSpc>
              <a:spcBef>
                <a:spcPts val="600"/>
              </a:spcBef>
              <a:spcAft>
                <a:spcPts val="0"/>
              </a:spcAft>
              <a:buFont typeface="Arial" panose="020B0604020202020204" pitchFamily="34" charset="0"/>
              <a:buChar char="•"/>
            </a:pPr>
            <a:r>
              <a:rPr lang="en-US" sz="1000" b="0" i="0" dirty="0">
                <a:solidFill>
                  <a:schemeClr val="tx1"/>
                </a:solidFill>
                <a:latin typeface="Arial" panose="020B0604020202020204" pitchFamily="34" charset="0"/>
                <a:cs typeface="Arial" panose="020B0604020202020204" pitchFamily="34" charset="0"/>
              </a:rPr>
              <a:t>Clarify how to demonstrate completion of EQ review in para. 24 and use of word 'complete.’</a:t>
            </a:r>
          </a:p>
          <a:p>
            <a:pPr marL="342900" indent="-342900" algn="just">
              <a:lnSpc>
                <a:spcPts val="1400"/>
              </a:lnSpc>
              <a:spcBef>
                <a:spcPts val="600"/>
              </a:spcBef>
              <a:spcAft>
                <a:spcPts val="0"/>
              </a:spcAft>
              <a:buFont typeface="Arial" panose="020B0604020202020204" pitchFamily="34" charset="0"/>
              <a:buChar char="•"/>
            </a:pPr>
            <a:r>
              <a:rPr lang="en-US" sz="1000" b="0" i="0" dirty="0">
                <a:solidFill>
                  <a:schemeClr val="tx1"/>
                </a:solidFill>
                <a:latin typeface="Arial" panose="020B0604020202020204" pitchFamily="34" charset="0"/>
                <a:cs typeface="Arial" panose="020B0604020202020204" pitchFamily="34" charset="0"/>
              </a:rPr>
              <a:t>Document discussions with the engagement team, including those relating to para. 22(f) and 22(g).</a:t>
            </a:r>
          </a:p>
          <a:p>
            <a:pPr algn="just">
              <a:lnSpc>
                <a:spcPts val="1400"/>
              </a:lnSpc>
              <a:spcBef>
                <a:spcPts val="600"/>
              </a:spcBef>
              <a:spcAft>
                <a:spcPts val="0"/>
              </a:spcAft>
            </a:pPr>
            <a:r>
              <a:rPr lang="en-US" sz="1000" i="1" dirty="0">
                <a:solidFill>
                  <a:schemeClr val="tx1"/>
                </a:solidFill>
                <a:latin typeface="Arial" panose="020B0604020202020204" pitchFamily="34" charset="0"/>
                <a:cs typeface="Arial" panose="020B0604020202020204" pitchFamily="34" charset="0"/>
              </a:rPr>
              <a:t>ED-ISQM 2 Q8: Are the requirements for engagement quality reviews in ED-ISQM 2 scalable for firms of varying size and complexity? If not, what else can be done to improve scalability?</a:t>
            </a:r>
          </a:p>
          <a:p>
            <a:pPr marL="342900" indent="-342900" algn="just">
              <a:lnSpc>
                <a:spcPts val="1400"/>
              </a:lnSpc>
              <a:spcBef>
                <a:spcPts val="600"/>
              </a:spcBef>
              <a:spcAft>
                <a:spcPts val="0"/>
              </a:spcAft>
              <a:buFont typeface="Arial" panose="020B0604020202020204" pitchFamily="34" charset="0"/>
              <a:buChar char="•"/>
            </a:pPr>
            <a:r>
              <a:rPr lang="en-US" sz="1000" b="0" i="0" kern="1200" dirty="0">
                <a:solidFill>
                  <a:schemeClr val="tx1"/>
                </a:solidFill>
                <a:latin typeface="Arial" panose="020B0604020202020204" pitchFamily="34" charset="0"/>
                <a:ea typeface="+mn-ea"/>
                <a:cs typeface="Arial" panose="020B0604020202020204" pitchFamily="34" charset="0"/>
              </a:rPr>
              <a:t>Overall, respondents generally agreed that the requirements for EQ reviews are scalable for firms of varying size and complexity.</a:t>
            </a:r>
          </a:p>
          <a:p>
            <a:pPr marL="0" indent="0" algn="just">
              <a:lnSpc>
                <a:spcPts val="1400"/>
              </a:lnSpc>
              <a:spcBef>
                <a:spcPts val="600"/>
              </a:spcBef>
              <a:spcAft>
                <a:spcPts val="0"/>
              </a:spcAft>
              <a:buFont typeface="Arial" panose="020B0604020202020204" pitchFamily="34" charset="0"/>
              <a:buNone/>
            </a:pPr>
            <a:r>
              <a:rPr lang="en-US" sz="1000" b="1" i="0" kern="1200" dirty="0">
                <a:solidFill>
                  <a:schemeClr val="tx1"/>
                </a:solidFill>
                <a:latin typeface="Arial" panose="020B0604020202020204" pitchFamily="34" charset="0"/>
                <a:ea typeface="+mn-ea"/>
                <a:cs typeface="Arial" panose="020B0604020202020204" pitchFamily="34" charset="0"/>
              </a:rPr>
              <a:t>NOT ON THE SLIDE:</a:t>
            </a:r>
            <a:endParaRPr lang="en-US" sz="1000" b="0" i="0" kern="1200" dirty="0">
              <a:solidFill>
                <a:schemeClr val="tx1"/>
              </a:solidFill>
              <a:latin typeface="Arial" panose="020B0604020202020204" pitchFamily="34" charset="0"/>
              <a:ea typeface="+mn-ea"/>
              <a:cs typeface="Arial" panose="020B0604020202020204" pitchFamily="34" charset="0"/>
            </a:endParaRPr>
          </a:p>
          <a:p>
            <a:pPr marL="342900" indent="-342900" algn="just">
              <a:lnSpc>
                <a:spcPts val="1400"/>
              </a:lnSpc>
              <a:spcBef>
                <a:spcPts val="600"/>
              </a:spcBef>
              <a:spcAft>
                <a:spcPts val="0"/>
              </a:spcAft>
              <a:buFont typeface="Arial" panose="020B0604020202020204" pitchFamily="34" charset="0"/>
              <a:buChar char="•"/>
            </a:pPr>
            <a:r>
              <a:rPr lang="en-US" sz="1000" b="0" i="0" kern="1200" dirty="0">
                <a:solidFill>
                  <a:schemeClr val="tx1"/>
                </a:solidFill>
                <a:latin typeface="Arial" panose="020B0604020202020204" pitchFamily="34" charset="0"/>
                <a:ea typeface="+mn-ea"/>
                <a:cs typeface="Arial" panose="020B0604020202020204" pitchFamily="34" charset="0"/>
              </a:rPr>
              <a:t>Separate standard for EQ review </a:t>
            </a:r>
            <a:r>
              <a:rPr lang="en-US" sz="1000" b="1" i="0" kern="1200" dirty="0">
                <a:solidFill>
                  <a:schemeClr val="tx1"/>
                </a:solidFill>
                <a:latin typeface="Arial" panose="020B0604020202020204" pitchFamily="34" charset="0"/>
                <a:ea typeface="+mn-ea"/>
                <a:cs typeface="Arial" panose="020B0604020202020204" pitchFamily="34" charset="0"/>
              </a:rPr>
              <a:t>improves scalability</a:t>
            </a:r>
            <a:r>
              <a:rPr lang="en-US" sz="1000" b="0" i="0" kern="1200" dirty="0">
                <a:solidFill>
                  <a:schemeClr val="tx1"/>
                </a:solidFill>
                <a:latin typeface="Arial" panose="020B0604020202020204" pitchFamily="34" charset="0"/>
                <a:ea typeface="+mn-ea"/>
                <a:cs typeface="Arial" panose="020B0604020202020204" pitchFamily="34" charset="0"/>
              </a:rPr>
              <a:t>.</a:t>
            </a:r>
          </a:p>
          <a:p>
            <a:pPr marL="685800" lvl="1" indent="-342900" algn="just">
              <a:lnSpc>
                <a:spcPts val="1400"/>
              </a:lnSpc>
              <a:spcBef>
                <a:spcPts val="600"/>
              </a:spcBef>
              <a:spcAft>
                <a:spcPts val="0"/>
              </a:spcAft>
              <a:buFont typeface="Courier New" panose="02070309020205020404" pitchFamily="49" charset="0"/>
              <a:buChar char="o"/>
            </a:pPr>
            <a:r>
              <a:rPr lang="en-US" sz="1000" b="1" i="0" kern="1200" dirty="0">
                <a:solidFill>
                  <a:schemeClr val="tx1"/>
                </a:solidFill>
                <a:latin typeface="Arial" panose="020B0604020202020204" pitchFamily="34" charset="0"/>
                <a:ea typeface="+mn-ea"/>
                <a:cs typeface="Arial" panose="020B0604020202020204" pitchFamily="34" charset="0"/>
              </a:rPr>
              <a:t>Inherently scalable</a:t>
            </a:r>
            <a:r>
              <a:rPr lang="en-US" sz="1000" b="0" i="0" kern="1200" dirty="0">
                <a:solidFill>
                  <a:schemeClr val="tx1"/>
                </a:solidFill>
                <a:latin typeface="Arial" panose="020B0604020202020204" pitchFamily="34" charset="0"/>
                <a:ea typeface="+mn-ea"/>
                <a:cs typeface="Arial" panose="020B0604020202020204" pitchFamily="34" charset="0"/>
              </a:rPr>
              <a:t> as there are fewer significant matters or significant judgments for less complex engagements.</a:t>
            </a:r>
          </a:p>
          <a:p>
            <a:pPr marL="685800" lvl="1" indent="-342900" algn="just">
              <a:lnSpc>
                <a:spcPts val="1400"/>
              </a:lnSpc>
              <a:spcBef>
                <a:spcPts val="600"/>
              </a:spcBef>
              <a:spcAft>
                <a:spcPts val="0"/>
              </a:spcAft>
              <a:buFont typeface="Courier New" panose="02070309020205020404" pitchFamily="49" charset="0"/>
              <a:buChar char="o"/>
            </a:pPr>
            <a:r>
              <a:rPr lang="en-US" sz="1000" b="0" i="0" kern="1200" dirty="0">
                <a:solidFill>
                  <a:schemeClr val="tx1"/>
                </a:solidFill>
                <a:latin typeface="Arial" panose="020B0604020202020204" pitchFamily="34" charset="0"/>
                <a:ea typeface="+mn-ea"/>
                <a:cs typeface="Arial" panose="020B0604020202020204" pitchFamily="34" charset="0"/>
              </a:rPr>
              <a:t>Allowing for an </a:t>
            </a:r>
            <a:r>
              <a:rPr lang="en-US" sz="1000" b="1" i="0" kern="1200" dirty="0">
                <a:solidFill>
                  <a:schemeClr val="tx1"/>
                </a:solidFill>
                <a:latin typeface="Arial" panose="020B0604020202020204" pitchFamily="34" charset="0"/>
                <a:ea typeface="+mn-ea"/>
                <a:cs typeface="Arial" panose="020B0604020202020204" pitchFamily="34" charset="0"/>
              </a:rPr>
              <a:t>external individual to be an EQ reviewer</a:t>
            </a:r>
            <a:r>
              <a:rPr lang="en-US" sz="1000" b="0" i="0" kern="1200" dirty="0">
                <a:solidFill>
                  <a:schemeClr val="tx1"/>
                </a:solidFill>
                <a:latin typeface="Arial" panose="020B0604020202020204" pitchFamily="34" charset="0"/>
                <a:ea typeface="+mn-ea"/>
                <a:cs typeface="Arial" panose="020B0604020202020204" pitchFamily="34" charset="0"/>
              </a:rPr>
              <a:t> helps smaller firms in applying the standard.</a:t>
            </a:r>
          </a:p>
          <a:p>
            <a:pPr marL="685800" lvl="1" indent="-342900" algn="just">
              <a:lnSpc>
                <a:spcPts val="1400"/>
              </a:lnSpc>
              <a:spcBef>
                <a:spcPts val="600"/>
              </a:spcBef>
              <a:spcAft>
                <a:spcPts val="0"/>
              </a:spcAft>
              <a:buFont typeface="Courier New" panose="02070309020205020404" pitchFamily="49" charset="0"/>
              <a:buChar char="o"/>
            </a:pPr>
            <a:r>
              <a:rPr lang="en-US" sz="1000" b="0" i="0" kern="1200" dirty="0">
                <a:solidFill>
                  <a:schemeClr val="tx1"/>
                </a:solidFill>
                <a:latin typeface="Arial" panose="020B0604020202020204" pitchFamily="34" charset="0"/>
                <a:ea typeface="+mn-ea"/>
                <a:cs typeface="Arial" panose="020B0604020202020204" pitchFamily="34" charset="0"/>
              </a:rPr>
              <a:t>Helpful that the standard acknowledges that the NTE of the EQ reviewer’s procedures </a:t>
            </a:r>
            <a:r>
              <a:rPr lang="en-US" sz="1000" b="1" i="0" kern="1200" dirty="0">
                <a:solidFill>
                  <a:schemeClr val="tx1"/>
                </a:solidFill>
                <a:latin typeface="Arial" panose="020B0604020202020204" pitchFamily="34" charset="0"/>
                <a:ea typeface="+mn-ea"/>
                <a:cs typeface="Arial" panose="020B0604020202020204" pitchFamily="34" charset="0"/>
              </a:rPr>
              <a:t>depends on the facts and circumstances of the engagement</a:t>
            </a:r>
            <a:r>
              <a:rPr lang="en-US" sz="1000" b="0" i="0" kern="1200" dirty="0">
                <a:solidFill>
                  <a:schemeClr val="tx1"/>
                </a:solidFill>
                <a:latin typeface="Arial" panose="020B0604020202020204" pitchFamily="34" charset="0"/>
                <a:ea typeface="+mn-ea"/>
                <a:cs typeface="Arial" panose="020B0604020202020204" pitchFamily="34" charset="0"/>
              </a:rPr>
              <a:t> (e.g., para. A27).</a:t>
            </a:r>
          </a:p>
          <a:p>
            <a:pPr marL="685800" lvl="1" indent="-342900" algn="just">
              <a:lnSpc>
                <a:spcPts val="1400"/>
              </a:lnSpc>
              <a:spcBef>
                <a:spcPts val="600"/>
              </a:spcBef>
              <a:spcAft>
                <a:spcPts val="0"/>
              </a:spcAft>
              <a:buFont typeface="Courier New" panose="02070309020205020404" pitchFamily="49" charset="0"/>
              <a:buChar char="o"/>
            </a:pPr>
            <a:r>
              <a:rPr lang="en-US" sz="1000" b="0" i="0" kern="1200" dirty="0">
                <a:solidFill>
                  <a:schemeClr val="tx1"/>
                </a:solidFill>
                <a:latin typeface="Arial" panose="020B0604020202020204" pitchFamily="34" charset="0"/>
                <a:ea typeface="+mn-ea"/>
                <a:cs typeface="Arial" panose="020B0604020202020204" pitchFamily="34" charset="0"/>
              </a:rPr>
              <a:t>References to scalability in the </a:t>
            </a:r>
            <a:r>
              <a:rPr lang="en-US" sz="1000" b="1" i="0" kern="1200" dirty="0">
                <a:solidFill>
                  <a:schemeClr val="tx1"/>
                </a:solidFill>
                <a:latin typeface="Arial" panose="020B0604020202020204" pitchFamily="34" charset="0"/>
                <a:ea typeface="+mn-ea"/>
                <a:cs typeface="Arial" panose="020B0604020202020204" pitchFamily="34" charset="0"/>
              </a:rPr>
              <a:t>Appendix to the EM to ED-ISQM 2</a:t>
            </a:r>
            <a:r>
              <a:rPr lang="en-US" sz="1000" b="0" i="0" kern="1200" dirty="0">
                <a:solidFill>
                  <a:schemeClr val="tx1"/>
                </a:solidFill>
                <a:latin typeface="Arial" panose="020B0604020202020204" pitchFamily="34" charset="0"/>
                <a:ea typeface="+mn-ea"/>
                <a:cs typeface="Arial" panose="020B0604020202020204" pitchFamily="34" charset="0"/>
              </a:rPr>
              <a:t> also were helpful.</a:t>
            </a:r>
          </a:p>
          <a:p>
            <a:pPr marL="342900" indent="-342900" algn="just">
              <a:lnSpc>
                <a:spcPts val="1400"/>
              </a:lnSpc>
              <a:spcBef>
                <a:spcPts val="600"/>
              </a:spcBef>
              <a:spcAft>
                <a:spcPts val="0"/>
              </a:spcAft>
              <a:buFont typeface="Arial" panose="020B0604020202020204" pitchFamily="34" charset="0"/>
              <a:buChar char="•"/>
            </a:pPr>
            <a:r>
              <a:rPr lang="en-US" sz="1000" b="0" i="0" kern="1200" dirty="0">
                <a:solidFill>
                  <a:schemeClr val="tx1"/>
                </a:solidFill>
                <a:latin typeface="Arial" panose="020B0604020202020204" pitchFamily="34" charset="0"/>
                <a:ea typeface="+mn-ea"/>
                <a:cs typeface="Arial" panose="020B0604020202020204" pitchFamily="34" charset="0"/>
              </a:rPr>
              <a:t>Challenges for smaller firms to meet eligibility requirements due to small number of qualified individuals in the firm and finding external EQ reviewers may be difficult.</a:t>
            </a:r>
          </a:p>
          <a:p>
            <a:pPr marL="342900" indent="-342900" algn="just">
              <a:lnSpc>
                <a:spcPts val="1400"/>
              </a:lnSpc>
              <a:spcBef>
                <a:spcPts val="600"/>
              </a:spcBef>
              <a:spcAft>
                <a:spcPts val="0"/>
              </a:spcAft>
              <a:buFont typeface="Arial" panose="020B0604020202020204" pitchFamily="34" charset="0"/>
              <a:buChar char="•"/>
            </a:pPr>
            <a:r>
              <a:rPr lang="en-US" sz="1000" b="0" i="0" kern="1200" dirty="0">
                <a:solidFill>
                  <a:schemeClr val="tx1"/>
                </a:solidFill>
                <a:latin typeface="Arial" panose="020B0604020202020204" pitchFamily="34" charset="0"/>
                <a:ea typeface="+mn-ea"/>
                <a:cs typeface="Arial" panose="020B0604020202020204" pitchFamily="34" charset="0"/>
              </a:rPr>
              <a:t>Implementation support and additional guidance will be needed (e.g., examples of scalability for different types of engagements or firms, including examples of documentation).</a:t>
            </a:r>
            <a:endParaRPr lang="en-US" sz="1000" b="0" i="0" dirty="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20</a:t>
            </a:fld>
            <a:endParaRPr lang="en-US" dirty="0"/>
          </a:p>
        </p:txBody>
      </p:sp>
    </p:spTree>
    <p:extLst>
      <p:ext uri="{BB962C8B-B14F-4D97-AF65-F5344CB8AC3E}">
        <p14:creationId xmlns:p14="http://schemas.microsoft.com/office/powerpoint/2010/main" val="8649406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just">
              <a:lnSpc>
                <a:spcPts val="1400"/>
              </a:lnSpc>
              <a:spcBef>
                <a:spcPts val="600"/>
              </a:spcBef>
              <a:buFont typeface="Arial" panose="020B0604020202020204" pitchFamily="34" charset="0"/>
              <a:buNone/>
            </a:pPr>
            <a:r>
              <a:rPr lang="en-US" sz="1000" kern="1200" dirty="0">
                <a:solidFill>
                  <a:schemeClr val="tx1"/>
                </a:solidFill>
                <a:effectLst/>
                <a:latin typeface="Arial" panose="020B0604020202020204" pitchFamily="34" charset="0"/>
                <a:ea typeface="+mn-ea"/>
                <a:cs typeface="Arial" panose="020B0604020202020204" pitchFamily="34" charset="0"/>
              </a:rPr>
              <a:t>The IAASB is asked whether:</a:t>
            </a:r>
          </a:p>
          <a:p>
            <a:pPr marL="347472" lvl="0" indent="-347472" algn="just">
              <a:lnSpc>
                <a:spcPts val="1400"/>
              </a:lnSpc>
              <a:spcBef>
                <a:spcPts val="600"/>
              </a:spcBef>
              <a:buFont typeface="+mj-lt"/>
              <a:buAutoNum type="arabicPeriod" startAt="5"/>
            </a:pPr>
            <a:r>
              <a:rPr lang="en-US" sz="1000" kern="1200" dirty="0">
                <a:solidFill>
                  <a:schemeClr val="tx1"/>
                </a:solidFill>
                <a:effectLst/>
                <a:latin typeface="Arial" panose="020B0604020202020204" pitchFamily="34" charset="0"/>
                <a:ea typeface="+mn-ea"/>
                <a:cs typeface="Arial" panose="020B0604020202020204" pitchFamily="34" charset="0"/>
              </a:rPr>
              <a:t>It has any significant questions or concerns about aspects of the draft of the proposed standard in Agenda Item 8-D, in particular about the following (also refer to relevant sections of the discussion of significant changes and rationale therefor in Agenda Item 8-C): </a:t>
            </a:r>
          </a:p>
          <a:p>
            <a:pPr marL="694944" lvl="0" indent="-347472" algn="just">
              <a:lnSpc>
                <a:spcPts val="1400"/>
              </a:lnSpc>
              <a:spcBef>
                <a:spcPts val="600"/>
              </a:spcBef>
              <a:buFont typeface="+mj-lt"/>
              <a:buAutoNum type="alphaLcParenBoth"/>
            </a:pPr>
            <a:r>
              <a:rPr lang="en-US" sz="1000" kern="1200" dirty="0">
                <a:solidFill>
                  <a:schemeClr val="tx1"/>
                </a:solidFill>
                <a:effectLst/>
                <a:latin typeface="Arial" panose="020B0604020202020204" pitchFamily="34" charset="0"/>
                <a:ea typeface="+mn-ea"/>
                <a:cs typeface="Arial" panose="020B0604020202020204" pitchFamily="34" charset="0"/>
              </a:rPr>
              <a:t>The wording of the objective in paragraph 10.</a:t>
            </a:r>
          </a:p>
          <a:p>
            <a:pPr marL="694944" lvl="0" indent="-347472" algn="just">
              <a:lnSpc>
                <a:spcPts val="1400"/>
              </a:lnSpc>
              <a:spcBef>
                <a:spcPts val="600"/>
              </a:spcBef>
              <a:buFont typeface="+mj-lt"/>
              <a:buAutoNum type="alphaLcParenBoth"/>
            </a:pPr>
            <a:r>
              <a:rPr lang="en-US" sz="1000" kern="1200" dirty="0">
                <a:solidFill>
                  <a:schemeClr val="tx1"/>
                </a:solidFill>
                <a:effectLst/>
                <a:latin typeface="Arial" panose="020B0604020202020204" pitchFamily="34" charset="0"/>
                <a:ea typeface="+mn-ea"/>
                <a:cs typeface="Arial" panose="020B0604020202020204" pitchFamily="34" charset="0"/>
              </a:rPr>
              <a:t>The proposed revisions to the requirements in paragraph 22 relating to the EQ reviewer’s performance of the EQ review, and related application material.</a:t>
            </a:r>
          </a:p>
        </p:txBody>
      </p:sp>
      <p:sp>
        <p:nvSpPr>
          <p:cNvPr id="4" name="Slide Number Placeholder 3"/>
          <p:cNvSpPr>
            <a:spLocks noGrp="1"/>
          </p:cNvSpPr>
          <p:nvPr>
            <p:ph type="sldNum" sz="quarter" idx="5"/>
          </p:nvPr>
        </p:nvSpPr>
        <p:spPr/>
        <p:txBody>
          <a:bodyPr/>
          <a:lstStyle/>
          <a:p>
            <a:fld id="{4D410189-AC31-7546-878A-F48FDE4A29F5}" type="slidenum">
              <a:rPr lang="en-US" smtClean="0"/>
              <a:t>21</a:t>
            </a:fld>
            <a:endParaRPr lang="en-US" dirty="0"/>
          </a:p>
        </p:txBody>
      </p:sp>
    </p:spTree>
    <p:extLst>
      <p:ext uri="{BB962C8B-B14F-4D97-AF65-F5344CB8AC3E}">
        <p14:creationId xmlns:p14="http://schemas.microsoft.com/office/powerpoint/2010/main" val="28549652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7472" lvl="0" indent="-347472" algn="just">
              <a:lnSpc>
                <a:spcPts val="1400"/>
              </a:lnSpc>
              <a:spcBef>
                <a:spcPts val="600"/>
              </a:spcBef>
              <a:buFont typeface="Arial" panose="020B0604020202020204" pitchFamily="34" charset="0"/>
              <a:buChar char="•"/>
            </a:pPr>
            <a:r>
              <a:rPr lang="en-US" sz="1000" kern="1200" dirty="0">
                <a:solidFill>
                  <a:schemeClr val="tx1"/>
                </a:solidFill>
                <a:effectLst/>
                <a:latin typeface="Arial" panose="020B0604020202020204" pitchFamily="34" charset="0"/>
                <a:ea typeface="+mn-ea"/>
                <a:cs typeface="Arial" panose="020B0604020202020204" pitchFamily="34" charset="0"/>
              </a:rPr>
              <a:t>As noted in paragraph 13 of the Issues Paper, the Task Force plans to use any available time during this plenary session to obtain IAASB feedback on the draft of proposed ISQM 2 in </a:t>
            </a:r>
            <a:r>
              <a:rPr lang="en-US" sz="1000" b="1" kern="1200" dirty="0">
                <a:solidFill>
                  <a:schemeClr val="tx1"/>
                </a:solidFill>
                <a:effectLst/>
                <a:latin typeface="Arial" panose="020B0604020202020204" pitchFamily="34" charset="0"/>
                <a:ea typeface="+mn-ea"/>
                <a:cs typeface="Arial" panose="020B0604020202020204" pitchFamily="34" charset="0"/>
              </a:rPr>
              <a:t>Agenda Item 8-D</a:t>
            </a:r>
            <a:r>
              <a:rPr lang="en-US" sz="1000" kern="1200" dirty="0">
                <a:solidFill>
                  <a:schemeClr val="tx1"/>
                </a:solidFill>
                <a:effectLst/>
                <a:latin typeface="Arial" panose="020B0604020202020204" pitchFamily="34" charset="0"/>
                <a:ea typeface="+mn-ea"/>
                <a:cs typeface="Arial" panose="020B0604020202020204" pitchFamily="34" charset="0"/>
              </a:rPr>
              <a:t>, in addition to the sections of the proposed standard relating to the issues discussed in </a:t>
            </a:r>
            <a:r>
              <a:rPr lang="en-US" sz="1000" b="1" kern="1200" dirty="0">
                <a:solidFill>
                  <a:schemeClr val="tx1"/>
                </a:solidFill>
                <a:effectLst/>
                <a:latin typeface="Arial" panose="020B0604020202020204" pitchFamily="34" charset="0"/>
                <a:ea typeface="+mn-ea"/>
                <a:cs typeface="Arial" panose="020B0604020202020204" pitchFamily="34" charset="0"/>
              </a:rPr>
              <a:t>Section II </a:t>
            </a:r>
            <a:r>
              <a:rPr lang="en-US" sz="1000" kern="1200" dirty="0">
                <a:solidFill>
                  <a:schemeClr val="tx1"/>
                </a:solidFill>
                <a:effectLst/>
                <a:latin typeface="Arial" panose="020B0604020202020204" pitchFamily="34" charset="0"/>
                <a:ea typeface="+mn-ea"/>
                <a:cs typeface="Arial" panose="020B0604020202020204" pitchFamily="34" charset="0"/>
              </a:rPr>
              <a:t>of the Issues Paper.</a:t>
            </a:r>
          </a:p>
          <a:p>
            <a:pPr marL="347472" lvl="0" indent="-347472" algn="just">
              <a:lnSpc>
                <a:spcPts val="1400"/>
              </a:lnSpc>
              <a:spcBef>
                <a:spcPts val="600"/>
              </a:spcBef>
              <a:buFont typeface="Arial" panose="020B0604020202020204" pitchFamily="34" charset="0"/>
              <a:buChar char="•"/>
            </a:pPr>
            <a:r>
              <a:rPr lang="en-US" sz="1000" kern="1200" dirty="0">
                <a:solidFill>
                  <a:schemeClr val="tx1"/>
                </a:solidFill>
                <a:effectLst/>
                <a:latin typeface="Arial" panose="020B0604020202020204" pitchFamily="34" charset="0"/>
                <a:ea typeface="+mn-ea"/>
                <a:cs typeface="Arial" panose="020B0604020202020204" pitchFamily="34" charset="0"/>
              </a:rPr>
              <a:t>The Task Force has worked diligently to develop a complete draft of the standard, and therefore would like to take this opportunity to understand if the Board has any serious concerns about other aspects of the standard, particularly the paragraphs or sections noted in the Matters for IAASB Consideration above.</a:t>
            </a:r>
          </a:p>
          <a:p>
            <a:pPr marL="347472" lvl="0" indent="-347472" algn="just">
              <a:lnSpc>
                <a:spcPts val="1400"/>
              </a:lnSpc>
              <a:spcBef>
                <a:spcPts val="600"/>
              </a:spcBef>
              <a:buFont typeface="Arial" panose="020B0604020202020204" pitchFamily="34" charset="0"/>
              <a:buChar char="•"/>
            </a:pPr>
            <a:r>
              <a:rPr lang="en-US" sz="1000" kern="1200" dirty="0">
                <a:solidFill>
                  <a:schemeClr val="tx1"/>
                </a:solidFill>
                <a:effectLst/>
                <a:latin typeface="Arial" panose="020B0604020202020204" pitchFamily="34" charset="0"/>
                <a:ea typeface="+mn-ea"/>
                <a:cs typeface="Arial" panose="020B0604020202020204" pitchFamily="34" charset="0"/>
              </a:rPr>
              <a:t>As previously noted, the substantive issues from the responses to ED-ISQM 2 and question 11 of ED-ISQM 1, and the Task Force’s proposals to address them are discussed in detail in </a:t>
            </a:r>
            <a:r>
              <a:rPr lang="en-US" sz="1000" b="1" kern="1200" dirty="0">
                <a:solidFill>
                  <a:schemeClr val="tx1"/>
                </a:solidFill>
                <a:effectLst/>
                <a:latin typeface="Arial" panose="020B0604020202020204" pitchFamily="34" charset="0"/>
                <a:ea typeface="+mn-ea"/>
                <a:cs typeface="Arial" panose="020B0604020202020204" pitchFamily="34" charset="0"/>
              </a:rPr>
              <a:t>Section II</a:t>
            </a:r>
            <a:r>
              <a:rPr lang="en-US" sz="1000" kern="1200" dirty="0">
                <a:solidFill>
                  <a:schemeClr val="tx1"/>
                </a:solidFill>
                <a:effectLst/>
                <a:latin typeface="Arial" panose="020B0604020202020204" pitchFamily="34" charset="0"/>
                <a:ea typeface="+mn-ea"/>
                <a:cs typeface="Arial" panose="020B0604020202020204" pitchFamily="34" charset="0"/>
              </a:rPr>
              <a:t> of this Issues Paper and in </a:t>
            </a:r>
            <a:r>
              <a:rPr lang="en-US" sz="1000" b="1" kern="1200" dirty="0">
                <a:solidFill>
                  <a:schemeClr val="tx1"/>
                </a:solidFill>
                <a:effectLst/>
                <a:latin typeface="Arial" panose="020B0604020202020204" pitchFamily="34" charset="0"/>
                <a:ea typeface="+mn-ea"/>
                <a:cs typeface="Arial" panose="020B0604020202020204" pitchFamily="34" charset="0"/>
              </a:rPr>
              <a:t>Agenda Item 7</a:t>
            </a:r>
            <a:r>
              <a:rPr lang="en-US" sz="1000" kern="1200" dirty="0">
                <a:solidFill>
                  <a:schemeClr val="tx1"/>
                </a:solidFill>
                <a:effectLst/>
                <a:latin typeface="Arial" panose="020B0604020202020204" pitchFamily="34" charset="0"/>
                <a:ea typeface="+mn-ea"/>
                <a:cs typeface="Arial" panose="020B0604020202020204" pitchFamily="34" charset="0"/>
              </a:rPr>
              <a:t> of the September 2019 IAASB meeting.</a:t>
            </a:r>
          </a:p>
          <a:p>
            <a:pPr marL="347472" lvl="0" indent="-347472" algn="just">
              <a:lnSpc>
                <a:spcPts val="1400"/>
              </a:lnSpc>
              <a:spcBef>
                <a:spcPts val="600"/>
              </a:spcBef>
              <a:buFont typeface="Arial" panose="020B0604020202020204" pitchFamily="34" charset="0"/>
              <a:buChar char="•"/>
            </a:pPr>
            <a:r>
              <a:rPr lang="en-US" sz="1000" kern="1200" dirty="0">
                <a:solidFill>
                  <a:schemeClr val="tx1"/>
                </a:solidFill>
                <a:effectLst/>
                <a:latin typeface="Arial" panose="020B0604020202020204" pitchFamily="34" charset="0"/>
                <a:ea typeface="+mn-ea"/>
                <a:cs typeface="Arial" panose="020B0604020202020204" pitchFamily="34" charset="0"/>
              </a:rPr>
              <a:t>The remaining feedback from respondents relating to questions 1 to 8 of the EM to ED-ISQM 2 are presented in </a:t>
            </a:r>
            <a:r>
              <a:rPr lang="en-US" sz="1000" b="1" kern="1200" dirty="0">
                <a:solidFill>
                  <a:schemeClr val="tx1"/>
                </a:solidFill>
                <a:effectLst/>
                <a:latin typeface="Arial" panose="020B0604020202020204" pitchFamily="34" charset="0"/>
                <a:ea typeface="+mn-ea"/>
                <a:cs typeface="Arial" panose="020B0604020202020204" pitchFamily="34" charset="0"/>
              </a:rPr>
              <a:t>Agenda Item 8-F</a:t>
            </a:r>
            <a:r>
              <a:rPr lang="en-US" sz="1000" kern="1200" dirty="0">
                <a:solidFill>
                  <a:schemeClr val="tx1"/>
                </a:solidFill>
                <a:effectLst/>
                <a:latin typeface="Arial" panose="020B0604020202020204" pitchFamily="34" charset="0"/>
                <a:ea typeface="+mn-ea"/>
                <a:cs typeface="Arial" panose="020B0604020202020204" pitchFamily="34" charset="0"/>
              </a:rPr>
              <a:t>, and the background information on the significant changes made by the Task Force in proposed ISQM 2 (as reflected in the marked draft in </a:t>
            </a:r>
            <a:r>
              <a:rPr lang="en-US" sz="1000" b="1" kern="1200" dirty="0">
                <a:solidFill>
                  <a:schemeClr val="tx1"/>
                </a:solidFill>
                <a:effectLst/>
                <a:latin typeface="Arial" panose="020B0604020202020204" pitchFamily="34" charset="0"/>
                <a:ea typeface="+mn-ea"/>
                <a:cs typeface="Arial" panose="020B0604020202020204" pitchFamily="34" charset="0"/>
              </a:rPr>
              <a:t>Agenda Item 8-D</a:t>
            </a:r>
            <a:r>
              <a:rPr lang="en-US" sz="1000" kern="1200" dirty="0">
                <a:solidFill>
                  <a:schemeClr val="tx1"/>
                </a:solidFill>
                <a:effectLst/>
                <a:latin typeface="Arial" panose="020B0604020202020204" pitchFamily="34" charset="0"/>
                <a:ea typeface="+mn-ea"/>
                <a:cs typeface="Arial" panose="020B0604020202020204" pitchFamily="34" charset="0"/>
              </a:rPr>
              <a:t>) to address those comments are presented in </a:t>
            </a:r>
            <a:r>
              <a:rPr lang="en-US" sz="1000" b="1" kern="1200" dirty="0">
                <a:solidFill>
                  <a:schemeClr val="tx1"/>
                </a:solidFill>
                <a:effectLst/>
                <a:latin typeface="Arial" panose="020B0604020202020204" pitchFamily="34" charset="0"/>
                <a:ea typeface="+mn-ea"/>
                <a:cs typeface="Arial" panose="020B0604020202020204" pitchFamily="34" charset="0"/>
              </a:rPr>
              <a:t>Agenda Item 8-C</a:t>
            </a:r>
            <a:r>
              <a:rPr lang="en-US" sz="1000" kern="1200" dirty="0">
                <a:solidFill>
                  <a:schemeClr val="tx1"/>
                </a:solidFill>
                <a:effectLst/>
                <a:latin typeface="Arial" panose="020B0604020202020204" pitchFamily="34" charset="0"/>
                <a:ea typeface="+mn-ea"/>
                <a:cs typeface="Arial" panose="020B0604020202020204" pitchFamily="34" charset="0"/>
              </a:rPr>
              <a:t>.</a:t>
            </a:r>
          </a:p>
        </p:txBody>
      </p:sp>
      <p:sp>
        <p:nvSpPr>
          <p:cNvPr id="4" name="Slide Number Placeholder 3"/>
          <p:cNvSpPr>
            <a:spLocks noGrp="1"/>
          </p:cNvSpPr>
          <p:nvPr>
            <p:ph type="sldNum" sz="quarter" idx="5"/>
          </p:nvPr>
        </p:nvSpPr>
        <p:spPr/>
        <p:txBody>
          <a:bodyPr/>
          <a:lstStyle/>
          <a:p>
            <a:fld id="{4D410189-AC31-7546-878A-F48FDE4A29F5}" type="slidenum">
              <a:rPr lang="en-US" smtClean="0"/>
              <a:t>22</a:t>
            </a:fld>
            <a:endParaRPr lang="en-US" dirty="0"/>
          </a:p>
        </p:txBody>
      </p:sp>
    </p:spTree>
    <p:extLst>
      <p:ext uri="{BB962C8B-B14F-4D97-AF65-F5344CB8AC3E}">
        <p14:creationId xmlns:p14="http://schemas.microsoft.com/office/powerpoint/2010/main" val="19627656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F177551F-2C26-5D4E-AA97-F437309E4641}" type="slidenum">
              <a:rPr lang="en-US" smtClean="0"/>
              <a:pPr>
                <a:defRPr/>
              </a:pPr>
              <a:t>23</a:t>
            </a:fld>
            <a:endParaRPr lang="en-US" dirty="0"/>
          </a:p>
        </p:txBody>
      </p:sp>
      <p:sp>
        <p:nvSpPr>
          <p:cNvPr id="5" name="Date Placeholder 4"/>
          <p:cNvSpPr>
            <a:spLocks noGrp="1"/>
          </p:cNvSpPr>
          <p:nvPr>
            <p:ph type="dt" idx="11"/>
          </p:nvPr>
        </p:nvSpPr>
        <p:spPr/>
        <p:txBody>
          <a:bodyPr/>
          <a:lstStyle/>
          <a:p>
            <a:pPr>
              <a:defRPr/>
            </a:pPr>
            <a:r>
              <a:rPr lang="en-US" dirty="0"/>
              <a:t>March 2014</a:t>
            </a:r>
          </a:p>
        </p:txBody>
      </p:sp>
      <p:sp>
        <p:nvSpPr>
          <p:cNvPr id="6" name="Header Placeholder 5"/>
          <p:cNvSpPr>
            <a:spLocks noGrp="1"/>
          </p:cNvSpPr>
          <p:nvPr>
            <p:ph type="hdr" sz="quarter" idx="12"/>
          </p:nvPr>
        </p:nvSpPr>
        <p:spPr/>
        <p:txBody>
          <a:bodyPr/>
          <a:lstStyle/>
          <a:p>
            <a:pPr>
              <a:defRPr/>
            </a:pPr>
            <a:r>
              <a:rPr lang="en-US" dirty="0"/>
              <a:t>IAASB Agenda Item 6</a:t>
            </a:r>
          </a:p>
        </p:txBody>
      </p:sp>
    </p:spTree>
    <p:extLst>
      <p:ext uri="{BB962C8B-B14F-4D97-AF65-F5344CB8AC3E}">
        <p14:creationId xmlns:p14="http://schemas.microsoft.com/office/powerpoint/2010/main" val="193375562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hyperlink" Target="http://www.iaasb.org/" TargetMode="External"/><Relationship Id="rId7"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9.png"/><Relationship Id="rId11" Type="http://schemas.openxmlformats.org/officeDocument/2006/relationships/hyperlink" Target="mailto:permissions@ifac.org" TargetMode="External"/><Relationship Id="rId5" Type="http://schemas.openxmlformats.org/officeDocument/2006/relationships/image" Target="../media/image8.png"/><Relationship Id="rId10" Type="http://schemas.openxmlformats.org/officeDocument/2006/relationships/hyperlink" Target="http://www.ifac.org/about-ifac/translations-permissions" TargetMode="External"/><Relationship Id="rId4" Type="http://schemas.openxmlformats.org/officeDocument/2006/relationships/image" Target="../media/image7.png"/><Relationship Id="rId9" Type="http://schemas.openxmlformats.org/officeDocument/2006/relationships/image" Target="../media/image12.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0" name="Rectangle 19"/>
          <p:cNvSpPr/>
          <p:nvPr userDrawn="1"/>
        </p:nvSpPr>
        <p:spPr>
          <a:xfrm>
            <a:off x="0" y="2"/>
            <a:ext cx="9144000" cy="4317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
        <p:nvSpPr>
          <p:cNvPr id="11" name="Title 1"/>
          <p:cNvSpPr>
            <a:spLocks noGrp="1"/>
          </p:cNvSpPr>
          <p:nvPr>
            <p:ph type="ctrTitle"/>
          </p:nvPr>
        </p:nvSpPr>
        <p:spPr>
          <a:xfrm>
            <a:off x="685800" y="2568724"/>
            <a:ext cx="7893383" cy="1093770"/>
          </a:xfrm>
        </p:spPr>
        <p:txBody>
          <a:bodyPr anchor="t">
            <a:normAutofit/>
          </a:bodyPr>
          <a:lstStyle>
            <a:lvl1pPr>
              <a:defRPr sz="24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685801" y="3721101"/>
            <a:ext cx="4732867" cy="919473"/>
          </a:xfrm>
        </p:spPr>
        <p:txBody>
          <a:bodyPr anchor="b"/>
          <a:lstStyle>
            <a:lvl1pPr marL="0" indent="0" algn="l">
              <a:buNone/>
              <a:defRPr sz="1350">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pic>
        <p:nvPicPr>
          <p:cNvPr id="7" name="Picture 6" descr="IAASB Logo with FullNam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2454" y="4150519"/>
            <a:ext cx="2790252" cy="490055"/>
          </a:xfrm>
          <a:prstGeom prst="rect">
            <a:avLst/>
          </a:prstGeom>
        </p:spPr>
      </p:pic>
      <p:pic>
        <p:nvPicPr>
          <p:cNvPr id="9" name="Picture 8" descr="Page topper.jpg"/>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107"/>
            <a:ext cx="9144000" cy="2345159"/>
          </a:xfrm>
          <a:prstGeom prst="rect">
            <a:avLst/>
          </a:prstGeom>
        </p:spPr>
      </p:pic>
    </p:spTree>
    <p:extLst>
      <p:ext uri="{BB962C8B-B14F-4D97-AF65-F5344CB8AC3E}">
        <p14:creationId xmlns:p14="http://schemas.microsoft.com/office/powerpoint/2010/main" val="31216370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option 2">
    <p:spTree>
      <p:nvGrpSpPr>
        <p:cNvPr id="1" name=""/>
        <p:cNvGrpSpPr/>
        <p:nvPr/>
      </p:nvGrpSpPr>
      <p:grpSpPr>
        <a:xfrm>
          <a:off x="0" y="0"/>
          <a:ext cx="0" cy="0"/>
          <a:chOff x="0" y="0"/>
          <a:chExt cx="0" cy="0"/>
        </a:xfrm>
      </p:grpSpPr>
      <p:sp>
        <p:nvSpPr>
          <p:cNvPr id="20" name="Rectangle 19"/>
          <p:cNvSpPr/>
          <p:nvPr userDrawn="1"/>
        </p:nvSpPr>
        <p:spPr>
          <a:xfrm>
            <a:off x="0" y="2"/>
            <a:ext cx="9144000" cy="4317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
        <p:nvSpPr>
          <p:cNvPr id="11" name="Title 1"/>
          <p:cNvSpPr>
            <a:spLocks noGrp="1"/>
          </p:cNvSpPr>
          <p:nvPr>
            <p:ph type="ctrTitle"/>
          </p:nvPr>
        </p:nvSpPr>
        <p:spPr>
          <a:xfrm>
            <a:off x="685800" y="2568724"/>
            <a:ext cx="7893383" cy="1093770"/>
          </a:xfrm>
        </p:spPr>
        <p:txBody>
          <a:bodyPr anchor="t">
            <a:normAutofit/>
          </a:bodyPr>
          <a:lstStyle>
            <a:lvl1pPr>
              <a:defRPr sz="24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685801" y="3721101"/>
            <a:ext cx="4732867" cy="919473"/>
          </a:xfrm>
        </p:spPr>
        <p:txBody>
          <a:bodyPr anchor="b"/>
          <a:lstStyle>
            <a:lvl1pPr marL="0" indent="0" algn="l">
              <a:buNone/>
              <a:defRPr sz="1350">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pic>
        <p:nvPicPr>
          <p:cNvPr id="8" name="Picture 7" descr="IAASB Logo with FullNam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2454" y="4150519"/>
            <a:ext cx="2790252" cy="490055"/>
          </a:xfrm>
          <a:prstGeom prst="rect">
            <a:avLst/>
          </a:prstGeom>
        </p:spPr>
      </p:pic>
      <p:pic>
        <p:nvPicPr>
          <p:cNvPr id="7" name="Picture 6"/>
          <p:cNvPicPr>
            <a:picLocks noChangeAspect="1"/>
          </p:cNvPicPr>
          <p:nvPr userDrawn="1"/>
        </p:nvPicPr>
        <p:blipFill rotWithShape="1">
          <a:blip r:embed="rId3" cstate="screen">
            <a:extLst>
              <a:ext uri="{28A0092B-C50C-407E-A947-70E740481C1C}">
                <a14:useLocalDpi xmlns:a14="http://schemas.microsoft.com/office/drawing/2010/main"/>
              </a:ext>
            </a:extLst>
          </a:blip>
          <a:srcRect l="210" t="12331" r="-210" b="13383"/>
          <a:stretch/>
        </p:blipFill>
        <p:spPr>
          <a:xfrm>
            <a:off x="1" y="1"/>
            <a:ext cx="9156700" cy="2377439"/>
          </a:xfrm>
          <a:prstGeom prst="rect">
            <a:avLst/>
          </a:prstGeom>
        </p:spPr>
      </p:pic>
    </p:spTree>
    <p:extLst>
      <p:ext uri="{BB962C8B-B14F-4D97-AF65-F5344CB8AC3E}">
        <p14:creationId xmlns:p14="http://schemas.microsoft.com/office/powerpoint/2010/main" val="28388778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 option 2">
    <p:spTree>
      <p:nvGrpSpPr>
        <p:cNvPr id="1" name=""/>
        <p:cNvGrpSpPr/>
        <p:nvPr/>
      </p:nvGrpSpPr>
      <p:grpSpPr>
        <a:xfrm>
          <a:off x="0" y="0"/>
          <a:ext cx="0" cy="0"/>
          <a:chOff x="0" y="0"/>
          <a:chExt cx="0" cy="0"/>
        </a:xfrm>
      </p:grpSpPr>
      <p:sp>
        <p:nvSpPr>
          <p:cNvPr id="20" name="Rectangle 19"/>
          <p:cNvSpPr/>
          <p:nvPr userDrawn="1"/>
        </p:nvSpPr>
        <p:spPr>
          <a:xfrm>
            <a:off x="0" y="2"/>
            <a:ext cx="9144000" cy="4317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
        <p:nvSpPr>
          <p:cNvPr id="11" name="Title 1"/>
          <p:cNvSpPr>
            <a:spLocks noGrp="1"/>
          </p:cNvSpPr>
          <p:nvPr>
            <p:ph type="ctrTitle"/>
          </p:nvPr>
        </p:nvSpPr>
        <p:spPr>
          <a:xfrm>
            <a:off x="685800" y="2568724"/>
            <a:ext cx="7893383" cy="1093770"/>
          </a:xfrm>
        </p:spPr>
        <p:txBody>
          <a:bodyPr anchor="t">
            <a:normAutofit/>
          </a:bodyPr>
          <a:lstStyle>
            <a:lvl1pPr>
              <a:defRPr sz="24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685801" y="3721101"/>
            <a:ext cx="4732867" cy="919473"/>
          </a:xfrm>
        </p:spPr>
        <p:txBody>
          <a:bodyPr anchor="b"/>
          <a:lstStyle>
            <a:lvl1pPr marL="0" indent="0" algn="l">
              <a:buNone/>
              <a:defRPr sz="1350">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pic>
        <p:nvPicPr>
          <p:cNvPr id="8" name="Picture 7" descr="IAASB Logo with FullNam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2454" y="4150519"/>
            <a:ext cx="2790252" cy="490055"/>
          </a:xfrm>
          <a:prstGeom prst="rect">
            <a:avLst/>
          </a:prstGeom>
        </p:spPr>
      </p:pic>
      <p:pic>
        <p:nvPicPr>
          <p:cNvPr id="2" name="Picture 1"/>
          <p:cNvPicPr>
            <a:picLocks noChangeAspect="1"/>
          </p:cNvPicPr>
          <p:nvPr userDrawn="1"/>
        </p:nvPicPr>
        <p:blipFill rotWithShape="1">
          <a:blip r:embed="rId3">
            <a:extLst>
              <a:ext uri="{28A0092B-C50C-407E-A947-70E740481C1C}">
                <a14:useLocalDpi xmlns:a14="http://schemas.microsoft.com/office/drawing/2010/main" val="0"/>
              </a:ext>
            </a:extLst>
          </a:blip>
          <a:srcRect l="-76"/>
          <a:stretch/>
        </p:blipFill>
        <p:spPr>
          <a:xfrm>
            <a:off x="-12701" y="-26572"/>
            <a:ext cx="9156701" cy="2405255"/>
          </a:xfrm>
          <a:prstGeom prst="rect">
            <a:avLst/>
          </a:prstGeom>
        </p:spPr>
      </p:pic>
    </p:spTree>
    <p:extLst>
      <p:ext uri="{BB962C8B-B14F-4D97-AF65-F5344CB8AC3E}">
        <p14:creationId xmlns:p14="http://schemas.microsoft.com/office/powerpoint/2010/main" val="5795271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ransition or Title Slide">
    <p:spTree>
      <p:nvGrpSpPr>
        <p:cNvPr id="1" name=""/>
        <p:cNvGrpSpPr/>
        <p:nvPr/>
      </p:nvGrpSpPr>
      <p:grpSpPr>
        <a:xfrm>
          <a:off x="0" y="0"/>
          <a:ext cx="0" cy="0"/>
          <a:chOff x="0" y="0"/>
          <a:chExt cx="0" cy="0"/>
        </a:xfrm>
      </p:grpSpPr>
      <p:sp>
        <p:nvSpPr>
          <p:cNvPr id="20" name="Rectangle 19"/>
          <p:cNvSpPr/>
          <p:nvPr userDrawn="1"/>
        </p:nvSpPr>
        <p:spPr>
          <a:xfrm>
            <a:off x="0" y="2"/>
            <a:ext cx="9144000" cy="4317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
        <p:nvSpPr>
          <p:cNvPr id="11" name="Title 1"/>
          <p:cNvSpPr>
            <a:spLocks noGrp="1"/>
          </p:cNvSpPr>
          <p:nvPr>
            <p:ph type="ctrTitle"/>
          </p:nvPr>
        </p:nvSpPr>
        <p:spPr>
          <a:xfrm>
            <a:off x="685800" y="2568724"/>
            <a:ext cx="7893383" cy="1093770"/>
          </a:xfrm>
        </p:spPr>
        <p:txBody>
          <a:bodyPr anchor="t">
            <a:normAutofit/>
          </a:bodyPr>
          <a:lstStyle>
            <a:lvl1pPr>
              <a:defRPr sz="24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685801" y="3721101"/>
            <a:ext cx="4732867" cy="919473"/>
          </a:xfrm>
        </p:spPr>
        <p:txBody>
          <a:bodyPr anchor="b"/>
          <a:lstStyle>
            <a:lvl1pPr marL="0" indent="0" algn="l">
              <a:buNone/>
              <a:defRPr sz="1350">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pic>
        <p:nvPicPr>
          <p:cNvPr id="7" name="Picture 6" descr="IAASB Logo with FullNam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2454" y="4152900"/>
            <a:ext cx="2776694" cy="487674"/>
          </a:xfrm>
          <a:prstGeom prst="rect">
            <a:avLst/>
          </a:prstGeom>
        </p:spPr>
      </p:pic>
      <p:pic>
        <p:nvPicPr>
          <p:cNvPr id="9" name="Picture 8" descr="Ribbon_orange_top.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auto">
          <a:xfrm>
            <a:off x="0" y="1201152"/>
            <a:ext cx="9144000" cy="1236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325885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Standard content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a:solidFill>
                  <a:srgbClr val="808080"/>
                </a:solidFill>
              </a:defRPr>
            </a:lvl1pPr>
            <a:lvl2pPr>
              <a:defRPr>
                <a:solidFill>
                  <a:srgbClr val="808080"/>
                </a:solidFill>
              </a:defRPr>
            </a:lvl2pPr>
            <a:lvl3pPr>
              <a:defRPr>
                <a:solidFill>
                  <a:srgbClr val="808080"/>
                </a:solidFill>
              </a:defRPr>
            </a:lvl3pPr>
            <a:lvl4pPr marL="642938" indent="-171450">
              <a:defRPr>
                <a:solidFill>
                  <a:srgbClr val="808080"/>
                </a:solidFill>
                <a:latin typeface="Arial" panose="020B0604020202020204" pitchFamily="34" charset="0"/>
                <a:cs typeface="Arial" panose="020B0604020202020204" pitchFamily="34" charset="0"/>
              </a:defRPr>
            </a:lvl4pPr>
            <a:lvl5pPr marL="813197" indent="-171450">
              <a:defRPr>
                <a:solidFill>
                  <a:srgbClr val="808080"/>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a:xfrm>
            <a:off x="5928852" y="4883295"/>
            <a:ext cx="2757948" cy="228309"/>
          </a:xfrm>
        </p:spPr>
        <p:txBody>
          <a:bodyPr/>
          <a:lstStyle>
            <a:lvl1pPr marL="0" marR="0" indent="0" algn="r" defTabSz="342900" rtl="0" eaLnBrk="1" fontAlgn="auto" latinLnBrk="0" hangingPunct="1">
              <a:lnSpc>
                <a:spcPct val="100000"/>
              </a:lnSpc>
              <a:spcBef>
                <a:spcPts val="0"/>
              </a:spcBef>
              <a:spcAft>
                <a:spcPts val="0"/>
              </a:spcAft>
              <a:buClrTx/>
              <a:buSzTx/>
              <a:buFontTx/>
              <a:buNone/>
              <a:tabLst/>
              <a:defRPr sz="675">
                <a:solidFill>
                  <a:srgbClr val="808080"/>
                </a:solidFill>
              </a:defRPr>
            </a:lvl1p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r>
              <a:rPr lang="en-US" dirty="0">
                <a:latin typeface="Arial" panose="020B0604020202020204" pitchFamily="34" charset="0"/>
                <a:cs typeface="MS PGothic" charset="0"/>
              </a:rPr>
              <a:t>  |  Confidential and Proprietary Information</a:t>
            </a:r>
          </a:p>
        </p:txBody>
      </p:sp>
    </p:spTree>
    <p:extLst>
      <p:ext uri="{BB962C8B-B14F-4D97-AF65-F5344CB8AC3E}">
        <p14:creationId xmlns:p14="http://schemas.microsoft.com/office/powerpoint/2010/main" val="2576669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p:cNvSpPr/>
          <p:nvPr userDrawn="1"/>
        </p:nvSpPr>
        <p:spPr>
          <a:xfrm>
            <a:off x="0" y="1208161"/>
            <a:ext cx="9144000" cy="393916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
        <p:nvSpPr>
          <p:cNvPr id="6" name="Slide Number Placeholder 5"/>
          <p:cNvSpPr>
            <a:spLocks noGrp="1"/>
          </p:cNvSpPr>
          <p:nvPr>
            <p:ph type="sldNum" sz="quarter" idx="12"/>
          </p:nvPr>
        </p:nvSpPr>
        <p:spPr/>
        <p:txBody>
          <a:bodyPr/>
          <a:lstStyle>
            <a:lvl1pPr algn="r">
              <a:defRPr/>
            </a:lvl1p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Arial" panose="020B0604020202020204" pitchFamily="34" charset="0"/>
            </a:endParaRPr>
          </a:p>
        </p:txBody>
      </p:sp>
      <p:cxnSp>
        <p:nvCxnSpPr>
          <p:cNvPr id="13" name="Straight Connector 12"/>
          <p:cNvCxnSpPr/>
          <p:nvPr userDrawn="1"/>
        </p:nvCxnSpPr>
        <p:spPr>
          <a:xfrm>
            <a:off x="0" y="4299439"/>
            <a:ext cx="9144000" cy="0"/>
          </a:xfrm>
          <a:prstGeom prst="line">
            <a:avLst/>
          </a:prstGeom>
          <a:ln w="9525">
            <a:solidFill>
              <a:schemeClr val="accent4"/>
            </a:solidFill>
          </a:ln>
          <a:effectLst/>
        </p:spPr>
        <p:style>
          <a:lnRef idx="2">
            <a:schemeClr val="accent1"/>
          </a:lnRef>
          <a:fillRef idx="0">
            <a:schemeClr val="accent1"/>
          </a:fillRef>
          <a:effectRef idx="1">
            <a:schemeClr val="accent1"/>
          </a:effectRef>
          <a:fontRef idx="minor">
            <a:schemeClr val="tx1"/>
          </a:fontRef>
        </p:style>
      </p:cxnSp>
      <p:sp>
        <p:nvSpPr>
          <p:cNvPr id="14" name="Rectangle 13"/>
          <p:cNvSpPr/>
          <p:nvPr userDrawn="1"/>
        </p:nvSpPr>
        <p:spPr>
          <a:xfrm>
            <a:off x="0" y="4299438"/>
            <a:ext cx="9144000" cy="403875"/>
          </a:xfrm>
          <a:prstGeom prst="rect">
            <a:avLst/>
          </a:prstGeom>
          <a:gradFill flip="none" rotWithShape="1">
            <a:gsLst>
              <a:gs pos="0">
                <a:schemeClr val="accent2"/>
              </a:gs>
              <a:gs pos="7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Tree>
    <p:extLst>
      <p:ext uri="{BB962C8B-B14F-4D97-AF65-F5344CB8AC3E}">
        <p14:creationId xmlns:p14="http://schemas.microsoft.com/office/powerpoint/2010/main" val="21939931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7200" y="1200151"/>
            <a:ext cx="4038600" cy="3394472"/>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200151"/>
            <a:ext cx="4038600" cy="3394472"/>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p:cNvSpPr>
            <a:spLocks noGrp="1"/>
          </p:cNvSpPr>
          <p:nvPr>
            <p:ph type="sldNum" sz="quarter" idx="12"/>
          </p:nvPr>
        </p:nvSpPr>
        <p:spPr>
          <a:xfrm>
            <a:off x="6606012" y="4873085"/>
            <a:ext cx="2080788" cy="251831"/>
          </a:xfrm>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752037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013017"/>
            <a:ext cx="4040188" cy="360497"/>
          </a:xfrm>
        </p:spPr>
        <p:txBody>
          <a:bodyPr anchor="b"/>
          <a:lstStyle>
            <a:lvl1pPr marL="0" indent="0">
              <a:buNone/>
              <a:defRPr sz="15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502736"/>
            <a:ext cx="4040188" cy="2963466"/>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6" y="1013017"/>
            <a:ext cx="4041775" cy="360497"/>
          </a:xfrm>
        </p:spPr>
        <p:txBody>
          <a:bodyPr anchor="b"/>
          <a:lstStyle>
            <a:lvl1pPr marL="0" indent="0">
              <a:buNone/>
              <a:defRPr sz="15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502736"/>
            <a:ext cx="4041775" cy="2963466"/>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354988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490450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647768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Back Cover">
    <p:spTree>
      <p:nvGrpSpPr>
        <p:cNvPr id="1" name=""/>
        <p:cNvGrpSpPr/>
        <p:nvPr/>
      </p:nvGrpSpPr>
      <p:grpSpPr>
        <a:xfrm>
          <a:off x="0" y="0"/>
          <a:ext cx="0" cy="0"/>
          <a:chOff x="0" y="0"/>
          <a:chExt cx="0" cy="0"/>
        </a:xfrm>
      </p:grpSpPr>
      <p:pic>
        <p:nvPicPr>
          <p:cNvPr id="7"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2268002" y="1561874"/>
            <a:ext cx="4393108" cy="732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userDrawn="1"/>
        </p:nvSpPr>
        <p:spPr>
          <a:xfrm>
            <a:off x="3821898" y="3756887"/>
            <a:ext cx="1310039" cy="300082"/>
          </a:xfrm>
          <a:prstGeom prst="rect">
            <a:avLst/>
          </a:prstGeom>
        </p:spPr>
        <p:txBody>
          <a:bodyPr wrap="none">
            <a:spAutoFit/>
          </a:bodyPr>
          <a:lstStyle/>
          <a:p>
            <a:pPr marL="0" marR="0">
              <a:spcBef>
                <a:spcPts val="0"/>
              </a:spcBef>
              <a:spcAft>
                <a:spcPts val="0"/>
              </a:spcAft>
            </a:pPr>
            <a:r>
              <a:rPr lang="en-US" sz="1350" u="none" dirty="0">
                <a:solidFill>
                  <a:srgbClr val="1F497D"/>
                </a:solidFill>
                <a:effectLst/>
                <a:latin typeface="Arial" panose="020B0604020202020204" pitchFamily="34" charset="0"/>
                <a:ea typeface="Calibri" panose="020F0502020204030204" pitchFamily="34" charset="0"/>
                <a:cs typeface="Arial" panose="020B0604020202020204" pitchFamily="34" charset="0"/>
                <a:hlinkClick r:id="rId3"/>
              </a:rPr>
              <a:t>www.iaasb.org</a:t>
            </a:r>
            <a:endParaRPr lang="en-US" sz="1500" u="none" dirty="0">
              <a:effectLst/>
              <a:latin typeface="Arial" panose="020B0604020202020204" pitchFamily="34" charset="0"/>
              <a:ea typeface="Calibri" panose="020F0502020204030204" pitchFamily="34" charset="0"/>
              <a:cs typeface="Arial" panose="020B0604020202020204" pitchFamily="34" charset="0"/>
            </a:endParaRPr>
          </a:p>
        </p:txBody>
      </p:sp>
      <p:sp>
        <p:nvSpPr>
          <p:cNvPr id="5" name="Rectangle 5"/>
          <p:cNvSpPr>
            <a:spLocks noChangeArrowheads="1"/>
          </p:cNvSpPr>
          <p:nvPr userDrawn="1"/>
        </p:nvSpPr>
        <p:spPr bwMode="auto">
          <a:xfrm flipH="1">
            <a:off x="381000" y="4822821"/>
            <a:ext cx="8763000" cy="34529"/>
          </a:xfrm>
          <a:prstGeom prst="rect">
            <a:avLst/>
          </a:prstGeom>
          <a:gradFill rotWithShape="1">
            <a:gsLst>
              <a:gs pos="0">
                <a:srgbClr val="D53D20"/>
              </a:gs>
              <a:gs pos="999">
                <a:srgbClr val="D53D20"/>
              </a:gs>
              <a:gs pos="100000">
                <a:srgbClr val="E58D2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350" dirty="0"/>
          </a:p>
        </p:txBody>
      </p:sp>
      <p:pic>
        <p:nvPicPr>
          <p:cNvPr id="3" name="Picture 2"/>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83130" y="4168326"/>
            <a:ext cx="577805" cy="193152"/>
          </a:xfrm>
          <a:prstGeom prst="rect">
            <a:avLst/>
          </a:prstGeom>
        </p:spPr>
      </p:pic>
      <p:pic>
        <p:nvPicPr>
          <p:cNvPr id="4" name="Picture 3"/>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149166" y="4175640"/>
            <a:ext cx="437481" cy="193152"/>
          </a:xfrm>
          <a:prstGeom prst="rect">
            <a:avLst/>
          </a:prstGeom>
        </p:spPr>
      </p:pic>
      <p:pic>
        <p:nvPicPr>
          <p:cNvPr id="6" name="Picture 5"/>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3474878" y="4165672"/>
            <a:ext cx="577805" cy="193152"/>
          </a:xfrm>
          <a:prstGeom prst="rect">
            <a:avLst/>
          </a:prstGeom>
        </p:spPr>
      </p:pic>
      <p:pic>
        <p:nvPicPr>
          <p:cNvPr id="8" name="Picture 7"/>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4940914" y="4168326"/>
            <a:ext cx="577805" cy="234424"/>
          </a:xfrm>
          <a:prstGeom prst="rect">
            <a:avLst/>
          </a:prstGeom>
        </p:spPr>
      </p:pic>
      <p:pic>
        <p:nvPicPr>
          <p:cNvPr id="9" name="Picture 8"/>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6406950" y="4168326"/>
            <a:ext cx="577805" cy="193152"/>
          </a:xfrm>
          <a:prstGeom prst="rect">
            <a:avLst/>
          </a:prstGeom>
        </p:spPr>
      </p:pic>
      <p:pic>
        <p:nvPicPr>
          <p:cNvPr id="10" name="Picture 9"/>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7872984" y="4165202"/>
            <a:ext cx="577805" cy="193152"/>
          </a:xfrm>
          <a:prstGeom prst="rect">
            <a:avLst/>
          </a:prstGeom>
        </p:spPr>
      </p:pic>
      <p:sp>
        <p:nvSpPr>
          <p:cNvPr id="11" name="Rectangle 10"/>
          <p:cNvSpPr/>
          <p:nvPr userDrawn="1"/>
        </p:nvSpPr>
        <p:spPr>
          <a:xfrm>
            <a:off x="698501" y="4608029"/>
            <a:ext cx="8128000" cy="230832"/>
          </a:xfrm>
          <a:prstGeom prst="rect">
            <a:avLst/>
          </a:prstGeom>
        </p:spPr>
        <p:txBody>
          <a:bodyPr wrap="square">
            <a:spAutoFit/>
          </a:bodyPr>
          <a:lstStyle/>
          <a:p>
            <a:pPr algn="l"/>
            <a:r>
              <a:rPr lang="en-US" sz="900" dirty="0">
                <a:effectLst/>
                <a:latin typeface="Arial" panose="020B0604020202020204" pitchFamily="34" charset="0"/>
                <a:ea typeface="Calibri" panose="020F0502020204030204" pitchFamily="34" charset="0"/>
              </a:rPr>
              <a:t>For copyright, trademark, and permissions information, please go to </a:t>
            </a:r>
            <a:r>
              <a:rPr lang="en-US" sz="900" u="sng" dirty="0">
                <a:solidFill>
                  <a:srgbClr val="0563C1"/>
                </a:solidFill>
                <a:effectLst/>
                <a:latin typeface="Arial" panose="020B0604020202020204" pitchFamily="34" charset="0"/>
                <a:ea typeface="Calibri" panose="020F0502020204030204" pitchFamily="34" charset="0"/>
                <a:cs typeface="Times New Roman" panose="02020603050405020304" pitchFamily="18" charset="0"/>
                <a:hlinkClick r:id="rId10"/>
              </a:rPr>
              <a:t>permissions</a:t>
            </a:r>
            <a:r>
              <a:rPr lang="en-US" sz="900" dirty="0">
                <a:effectLst/>
                <a:latin typeface="Arial" panose="020B0604020202020204" pitchFamily="34" charset="0"/>
                <a:ea typeface="Calibri" panose="020F0502020204030204" pitchFamily="34" charset="0"/>
              </a:rPr>
              <a:t> or contact </a:t>
            </a:r>
            <a:r>
              <a:rPr lang="en-US" sz="900" u="sng" dirty="0">
                <a:solidFill>
                  <a:srgbClr val="0563C1"/>
                </a:solidFill>
                <a:effectLst/>
                <a:latin typeface="Arial" panose="020B0604020202020204" pitchFamily="34" charset="0"/>
                <a:ea typeface="Calibri" panose="020F0502020204030204" pitchFamily="34" charset="0"/>
                <a:cs typeface="Times New Roman" panose="02020603050405020304" pitchFamily="18" charset="0"/>
                <a:hlinkClick r:id="rId11"/>
              </a:rPr>
              <a:t>permissions@ifac.org</a:t>
            </a:r>
            <a:r>
              <a:rPr lang="en-US" sz="900" dirty="0">
                <a:effectLst/>
                <a:latin typeface="Arial" panose="020B0604020202020204" pitchFamily="34" charset="0"/>
                <a:ea typeface="Calibri" panose="020F0502020204030204" pitchFamily="34" charset="0"/>
              </a:rPr>
              <a:t>.</a:t>
            </a:r>
            <a:endParaRPr lang="en-US" sz="900" dirty="0"/>
          </a:p>
        </p:txBody>
      </p:sp>
    </p:spTree>
    <p:extLst>
      <p:ext uri="{BB962C8B-B14F-4D97-AF65-F5344CB8AC3E}">
        <p14:creationId xmlns:p14="http://schemas.microsoft.com/office/powerpoint/2010/main" val="3754577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0" y="0"/>
            <a:ext cx="9144000" cy="5143500"/>
          </a:xfrm>
          <a:prstGeom prst="rect">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2" name="Rectangle 5"/>
          <p:cNvSpPr>
            <a:spLocks noChangeArrowheads="1"/>
          </p:cNvSpPr>
          <p:nvPr userDrawn="1"/>
        </p:nvSpPr>
        <p:spPr bwMode="auto">
          <a:xfrm>
            <a:off x="0" y="1198961"/>
            <a:ext cx="9144000" cy="3950208"/>
          </a:xfrm>
          <a:prstGeom prst="rect">
            <a:avLst/>
          </a:prstGeom>
          <a:gradFill rotWithShape="0">
            <a:gsLst>
              <a:gs pos="0">
                <a:srgbClr val="18276E"/>
              </a:gs>
              <a:gs pos="100000">
                <a:srgbClr val="0092D2"/>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dirty="0"/>
          </a:p>
        </p:txBody>
      </p:sp>
      <p:pic>
        <p:nvPicPr>
          <p:cNvPr id="13" name="Picture 6" descr="Ribbon_orange_1.25in_width.pn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514600" y="1198961"/>
            <a:ext cx="6629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4267200" y="1398986"/>
            <a:ext cx="4648200" cy="742950"/>
          </a:xfrm>
        </p:spPr>
        <p:txBody>
          <a:bodyPr anchor="ctr"/>
          <a:lstStyle/>
          <a:p>
            <a:r>
              <a:rPr lang="en-US"/>
              <a:t>Click to edit Master title style</a:t>
            </a:r>
            <a:endParaRPr lang="en-US" dirty="0"/>
          </a:p>
        </p:txBody>
      </p:sp>
      <p:sp>
        <p:nvSpPr>
          <p:cNvPr id="8" name="Subtitle 2"/>
          <p:cNvSpPr>
            <a:spLocks noGrp="1"/>
          </p:cNvSpPr>
          <p:nvPr>
            <p:ph type="subTitle" idx="1"/>
          </p:nvPr>
        </p:nvSpPr>
        <p:spPr>
          <a:xfrm>
            <a:off x="4267200" y="2484835"/>
            <a:ext cx="3060700" cy="1314450"/>
          </a:xfrm>
        </p:spPr>
        <p:txBody>
          <a:bodyPr lIns="0" tIns="0" rIns="0" bIns="0"/>
          <a:lstStyle>
            <a:lvl1pPr marL="0" indent="0" algn="l">
              <a:buNone/>
              <a:defRPr sz="1400">
                <a:solidFill>
                  <a:schemeClr val="bg1"/>
                </a:solidFill>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US" dirty="0"/>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14185" y="384188"/>
            <a:ext cx="2056917" cy="600560"/>
          </a:xfrm>
          <a:prstGeom prst="rect">
            <a:avLst/>
          </a:prstGeom>
        </p:spPr>
      </p:pic>
    </p:spTree>
    <p:extLst>
      <p:ext uri="{BB962C8B-B14F-4D97-AF65-F5344CB8AC3E}">
        <p14:creationId xmlns:p14="http://schemas.microsoft.com/office/powerpoint/2010/main" val="38777918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3401677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userDrawn="1"/>
        </p:nvSpPr>
        <p:spPr>
          <a:xfrm>
            <a:off x="0" y="427437"/>
            <a:ext cx="9144000" cy="403875"/>
          </a:xfrm>
          <a:prstGeom prst="rect">
            <a:avLst/>
          </a:prstGeom>
          <a:gradFill flip="none" rotWithShape="1">
            <a:gsLst>
              <a:gs pos="0">
                <a:schemeClr val="accent2"/>
              </a:gs>
              <a:gs pos="7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
        <p:nvSpPr>
          <p:cNvPr id="2" name="Title Placeholder 1"/>
          <p:cNvSpPr>
            <a:spLocks noGrp="1"/>
          </p:cNvSpPr>
          <p:nvPr>
            <p:ph type="title"/>
          </p:nvPr>
        </p:nvSpPr>
        <p:spPr>
          <a:xfrm>
            <a:off x="457200" y="427437"/>
            <a:ext cx="8229600" cy="403875"/>
          </a:xfrm>
          <a:prstGeom prst="rect">
            <a:avLst/>
          </a:prstGeom>
        </p:spPr>
        <p:txBody>
          <a:bodyPr vert="horz" lIns="0" tIns="0" rIns="0" bIns="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457200" y="1200151"/>
            <a:ext cx="8229600" cy="3188677"/>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4" name="Date Placeholder 3"/>
          <p:cNvSpPr>
            <a:spLocks noGrp="1"/>
          </p:cNvSpPr>
          <p:nvPr>
            <p:ph type="dt" sz="half" idx="2"/>
          </p:nvPr>
        </p:nvSpPr>
        <p:spPr>
          <a:xfrm>
            <a:off x="454985" y="4883295"/>
            <a:ext cx="2057400" cy="228309"/>
          </a:xfrm>
          <a:prstGeom prst="rect">
            <a:avLst/>
          </a:prstGeom>
        </p:spPr>
        <p:txBody>
          <a:bodyPr vert="horz" lIns="91440" tIns="45720" rIns="91440" bIns="45720" rtlCol="0" anchor="ctr"/>
          <a:lstStyle>
            <a:lvl1pPr algn="l">
              <a:defRPr sz="675">
                <a:solidFill>
                  <a:schemeClr val="tx1">
                    <a:tint val="75000"/>
                  </a:schemeClr>
                </a:solidFill>
                <a:latin typeface="Arial" panose="020B0604020202020204" pitchFamily="34" charset="0"/>
              </a:defRPr>
            </a:lvl1pPr>
          </a:lstStyle>
          <a:p>
            <a:endParaRPr lang="en-US" dirty="0"/>
          </a:p>
        </p:txBody>
      </p:sp>
      <p:sp>
        <p:nvSpPr>
          <p:cNvPr id="5" name="Footer Placeholder 4"/>
          <p:cNvSpPr>
            <a:spLocks noGrp="1"/>
          </p:cNvSpPr>
          <p:nvPr>
            <p:ph type="ftr" sz="quarter" idx="3"/>
          </p:nvPr>
        </p:nvSpPr>
        <p:spPr>
          <a:xfrm>
            <a:off x="3016148" y="4883295"/>
            <a:ext cx="3086100" cy="228309"/>
          </a:xfrm>
          <a:prstGeom prst="rect">
            <a:avLst/>
          </a:prstGeom>
        </p:spPr>
        <p:txBody>
          <a:bodyPr vert="horz" lIns="91440" tIns="45720" rIns="91440" bIns="45720" rtlCol="0" anchor="ctr"/>
          <a:lstStyle>
            <a:lvl1pPr algn="ctr">
              <a:defRPr sz="675">
                <a:solidFill>
                  <a:schemeClr val="tx1">
                    <a:tint val="75000"/>
                  </a:schemeClr>
                </a:solidFill>
                <a:latin typeface="Arial" panose="020B0604020202020204" pitchFamily="34" charset="0"/>
              </a:defRPr>
            </a:lvl1pPr>
          </a:lstStyle>
          <a:p>
            <a:endParaRPr lang="en-US" dirty="0"/>
          </a:p>
        </p:txBody>
      </p:sp>
      <p:sp>
        <p:nvSpPr>
          <p:cNvPr id="6" name="Slide Number Placeholder 5"/>
          <p:cNvSpPr>
            <a:spLocks noGrp="1"/>
          </p:cNvSpPr>
          <p:nvPr>
            <p:ph type="sldNum" sz="quarter" idx="4"/>
          </p:nvPr>
        </p:nvSpPr>
        <p:spPr>
          <a:xfrm>
            <a:off x="6606012" y="4883295"/>
            <a:ext cx="2080788" cy="228309"/>
          </a:xfrm>
          <a:prstGeom prst="rect">
            <a:avLst/>
          </a:prstGeom>
        </p:spPr>
        <p:txBody>
          <a:bodyPr vert="horz" lIns="0" tIns="0" rIns="0" bIns="0" rtlCol="0" anchor="ctr"/>
          <a:lstStyle>
            <a:lvl1pPr algn="ctr">
              <a:defRPr sz="675">
                <a:solidFill>
                  <a:srgbClr val="808080"/>
                </a:solidFill>
                <a:latin typeface="Arial Narrow"/>
                <a:cs typeface="Arial Narrow"/>
              </a:defRPr>
            </a:lvl1p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
        <p:nvSpPr>
          <p:cNvPr id="14" name="Rectangle 5"/>
          <p:cNvSpPr>
            <a:spLocks noChangeArrowheads="1"/>
          </p:cNvSpPr>
          <p:nvPr userDrawn="1"/>
        </p:nvSpPr>
        <p:spPr bwMode="auto">
          <a:xfrm flipH="1">
            <a:off x="381000" y="4822228"/>
            <a:ext cx="8763000" cy="34529"/>
          </a:xfrm>
          <a:prstGeom prst="rect">
            <a:avLst/>
          </a:prstGeom>
          <a:gradFill rotWithShape="1">
            <a:gsLst>
              <a:gs pos="0">
                <a:srgbClr val="D53D20"/>
              </a:gs>
              <a:gs pos="999">
                <a:srgbClr val="D53D20"/>
              </a:gs>
              <a:gs pos="100000">
                <a:srgbClr val="E58D2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350" dirty="0"/>
          </a:p>
        </p:txBody>
      </p:sp>
      <p:pic>
        <p:nvPicPr>
          <p:cNvPr id="11" name="Picture 10" descr="IAASB Logo with FullName.jpg"/>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6899368" y="55409"/>
            <a:ext cx="1787432" cy="313929"/>
          </a:xfrm>
          <a:prstGeom prst="rect">
            <a:avLst/>
          </a:prstGeom>
        </p:spPr>
      </p:pic>
    </p:spTree>
    <p:extLst>
      <p:ext uri="{BB962C8B-B14F-4D97-AF65-F5344CB8AC3E}">
        <p14:creationId xmlns:p14="http://schemas.microsoft.com/office/powerpoint/2010/main" val="1054232877"/>
      </p:ext>
    </p:extLst>
  </p:cSld>
  <p:clrMap bg1="lt1" tx1="dk1" bg2="lt2" tx2="dk2" accent1="accent1" accent2="accent2" accent3="accent3" accent4="accent4" accent5="accent5" accent6="accent6" hlink="hlink" folHlink="folHlink"/>
  <p:sldLayoutIdLst>
    <p:sldLayoutId id="2147483657" r:id="rId1"/>
    <p:sldLayoutId id="2147483660" r:id="rId2"/>
    <p:sldLayoutId id="2147483661"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62" r:id="rId12"/>
    <p:sldLayoutId id="2147483663" r:id="rId13"/>
  </p:sldLayoutIdLst>
  <p:hf hdr="0" ftr="0" dt="0"/>
  <p:txStyles>
    <p:title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p:titleStyle>
    <p:bodyStyle>
      <a:lvl1pPr marL="129779" indent="-129779" algn="l" defTabSz="342900" rtl="0" eaLnBrk="1" latinLnBrk="0" hangingPunct="1">
        <a:spcBef>
          <a:spcPts val="900"/>
        </a:spcBef>
        <a:buFont typeface="Arial"/>
        <a:buChar char="•"/>
        <a:defRPr sz="15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342900" indent="-171450" algn="l" defTabSz="342900" rtl="0" eaLnBrk="1" latinLnBrk="0" hangingPunct="1">
        <a:spcBef>
          <a:spcPts val="450"/>
        </a:spcBef>
        <a:spcAft>
          <a:spcPts val="300"/>
        </a:spcAft>
        <a:buFont typeface="Arial"/>
        <a:buChar char="–"/>
        <a:defRPr sz="135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472679" indent="-128588" algn="l" defTabSz="342900" rtl="0" eaLnBrk="1" latinLnBrk="0" hangingPunct="1">
        <a:spcBef>
          <a:spcPct val="20000"/>
        </a:spcBef>
        <a:buFont typeface="Arial"/>
        <a:buChar char="•"/>
        <a:defRPr sz="12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200150" indent="-171450" algn="l" defTabSz="342900" rtl="0" eaLnBrk="1" latinLnBrk="0" hangingPunct="1">
        <a:spcBef>
          <a:spcPct val="20000"/>
        </a:spcBef>
        <a:buFont typeface="Arial"/>
        <a:buChar char="–"/>
        <a:defRPr sz="1050" kern="1200">
          <a:solidFill>
            <a:schemeClr val="tx1"/>
          </a:solidFill>
          <a:latin typeface="Arial Narrow"/>
          <a:ea typeface="+mn-ea"/>
          <a:cs typeface="Arial Narrow"/>
        </a:defRPr>
      </a:lvl4pPr>
      <a:lvl5pPr marL="1543050" indent="-171450" algn="l" defTabSz="342900" rtl="0" eaLnBrk="1" latinLnBrk="0" hangingPunct="1">
        <a:spcBef>
          <a:spcPct val="20000"/>
        </a:spcBef>
        <a:buFont typeface="Arial"/>
        <a:buChar char="»"/>
        <a:defRPr sz="1050" kern="1200">
          <a:solidFill>
            <a:schemeClr val="tx1"/>
          </a:solidFill>
          <a:latin typeface="Arial Narrow"/>
          <a:ea typeface="+mn-ea"/>
          <a:cs typeface="Arial Narrow"/>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p:cNvSpPr>
            <a:spLocks noGrp="1"/>
          </p:cNvSpPr>
          <p:nvPr>
            <p:ph type="ctrTitle"/>
          </p:nvPr>
        </p:nvSpPr>
        <p:spPr>
          <a:xfrm>
            <a:off x="685800" y="2568724"/>
            <a:ext cx="8112211" cy="867000"/>
          </a:xfrm>
        </p:spPr>
        <p:txBody>
          <a:bodyPr anchor="ctr">
            <a:normAutofit/>
          </a:bodyPr>
          <a:lstStyle/>
          <a:p>
            <a:r>
              <a:rPr lang="en-US" sz="2800" b="1" dirty="0"/>
              <a:t>Proposed ISQM 2, </a:t>
            </a:r>
            <a:r>
              <a:rPr lang="en-US" sz="2800" b="1" i="1" dirty="0"/>
              <a:t>Engagement Quality Reviews</a:t>
            </a:r>
            <a:endParaRPr lang="en-US" sz="2800" b="1" dirty="0"/>
          </a:p>
        </p:txBody>
      </p:sp>
      <p:sp>
        <p:nvSpPr>
          <p:cNvPr id="3" name="Subtitle 2"/>
          <p:cNvSpPr>
            <a:spLocks noGrp="1"/>
          </p:cNvSpPr>
          <p:nvPr>
            <p:ph type="subTitle" idx="1"/>
          </p:nvPr>
        </p:nvSpPr>
        <p:spPr>
          <a:xfrm>
            <a:off x="685801" y="3576918"/>
            <a:ext cx="5123328" cy="1238475"/>
          </a:xfrm>
        </p:spPr>
        <p:txBody>
          <a:bodyPr/>
          <a:lstStyle/>
          <a:p>
            <a:pPr>
              <a:spcBef>
                <a:spcPts val="600"/>
              </a:spcBef>
            </a:pPr>
            <a:r>
              <a:rPr lang="en-US" sz="1600" b="1" dirty="0"/>
              <a:t>Imran Vanker, IAASB Member and Task Force Chair</a:t>
            </a:r>
          </a:p>
          <a:p>
            <a:pPr>
              <a:spcBef>
                <a:spcPts val="600"/>
              </a:spcBef>
            </a:pPr>
            <a:r>
              <a:rPr lang="en-US" sz="1600" b="1" dirty="0"/>
              <a:t>IAASB Meeting</a:t>
            </a:r>
          </a:p>
          <a:p>
            <a:pPr>
              <a:spcBef>
                <a:spcPts val="600"/>
              </a:spcBef>
            </a:pPr>
            <a:r>
              <a:rPr lang="en-US" sz="1600" b="1" dirty="0"/>
              <a:t>December 12, 2019</a:t>
            </a:r>
          </a:p>
          <a:p>
            <a:pPr>
              <a:spcBef>
                <a:spcPts val="600"/>
              </a:spcBef>
            </a:pPr>
            <a:r>
              <a:rPr lang="en-US" sz="1600" b="1" dirty="0"/>
              <a:t>Agenda Item 8</a:t>
            </a:r>
          </a:p>
        </p:txBody>
      </p:sp>
      <p:sp>
        <p:nvSpPr>
          <p:cNvPr id="4" name="Slide Number Placeholder 5">
            <a:extLst>
              <a:ext uri="{FF2B5EF4-FFF2-40B4-BE49-F238E27FC236}">
                <a16:creationId xmlns:a16="http://schemas.microsoft.com/office/drawing/2014/main" id="{3664150A-AB4F-49F1-8611-9C1057D8B778}"/>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1</a:t>
            </a:fld>
            <a:endParaRPr lang="en-US" sz="675" dirty="0">
              <a:solidFill>
                <a:srgbClr val="808080"/>
              </a:solidFill>
              <a:latin typeface="Arial" panose="020B0604020202020204" pitchFamily="34" charset="0"/>
            </a:endParaRPr>
          </a:p>
        </p:txBody>
      </p:sp>
    </p:spTree>
    <p:extLst>
      <p:ext uri="{BB962C8B-B14F-4D97-AF65-F5344CB8AC3E}">
        <p14:creationId xmlns:p14="http://schemas.microsoft.com/office/powerpoint/2010/main" val="34976355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9F0098-EE17-4722-8799-B7ACD630F545}"/>
              </a:ext>
            </a:extLst>
          </p:cNvPr>
          <p:cNvSpPr txBox="1"/>
          <p:nvPr/>
        </p:nvSpPr>
        <p:spPr>
          <a:xfrm>
            <a:off x="395416" y="1078777"/>
            <a:ext cx="8408718" cy="2761012"/>
          </a:xfrm>
          <a:prstGeom prst="rect">
            <a:avLst/>
          </a:prstGeom>
          <a:noFill/>
          <a:ln>
            <a:noFill/>
          </a:ln>
        </p:spPr>
        <p:txBody>
          <a:bodyPr wrap="square" rtlCol="0">
            <a:spAutoFit/>
          </a:bodyPr>
          <a:lstStyle/>
          <a:p>
            <a:pPr marL="342900" indent="-342900" algn="just">
              <a:lnSpc>
                <a:spcPts val="2400"/>
              </a:lnSpc>
              <a:spcBef>
                <a:spcPts val="600"/>
              </a:spcBef>
              <a:buFont typeface="Arial" panose="020B0604020202020204" pitchFamily="34" charset="0"/>
              <a:buChar char="•"/>
            </a:pPr>
            <a:r>
              <a:rPr lang="en-CA" sz="2000" dirty="0">
                <a:solidFill>
                  <a:schemeClr val="tx1">
                    <a:lumMod val="65000"/>
                    <a:lumOff val="35000"/>
                  </a:schemeClr>
                </a:solidFill>
                <a:latin typeface="Arial" panose="020B0604020202020204" pitchFamily="34" charset="0"/>
                <a:cs typeface="Arial" panose="020B0604020202020204" pitchFamily="34" charset="0"/>
              </a:rPr>
              <a:t>Objectives of this session are to obtain the Board’s views on:</a:t>
            </a:r>
          </a:p>
          <a:p>
            <a:pPr marL="694944" lvl="1" indent="-342900" algn="just">
              <a:lnSpc>
                <a:spcPts val="2400"/>
              </a:lnSpc>
              <a:spcBef>
                <a:spcPts val="600"/>
              </a:spcBef>
              <a:buAutoNum type="alphaLcParenBoth"/>
            </a:pPr>
            <a:r>
              <a:rPr lang="en-CA" sz="1800" dirty="0">
                <a:solidFill>
                  <a:schemeClr val="tx1">
                    <a:lumMod val="65000"/>
                    <a:lumOff val="35000"/>
                  </a:schemeClr>
                </a:solidFill>
                <a:latin typeface="Arial" panose="020B0604020202020204" pitchFamily="34" charset="0"/>
                <a:cs typeface="Arial" panose="020B0604020202020204" pitchFamily="34" charset="0"/>
              </a:rPr>
              <a:t>Task Force’s revised proposals to address the key issues presented on the scope of engagements subject to an engagement quality (EQ) review, and objectivity and cooling-off period</a:t>
            </a:r>
          </a:p>
          <a:p>
            <a:pPr marL="694944" lvl="1" indent="-342900" algn="just">
              <a:lnSpc>
                <a:spcPts val="2400"/>
              </a:lnSpc>
              <a:spcBef>
                <a:spcPts val="600"/>
              </a:spcBef>
              <a:buAutoNum type="alphaLcParenBoth"/>
            </a:pPr>
            <a:r>
              <a:rPr lang="en-US" sz="1800" dirty="0">
                <a:solidFill>
                  <a:schemeClr val="tx1">
                    <a:lumMod val="65000"/>
                    <a:lumOff val="35000"/>
                  </a:schemeClr>
                </a:solidFill>
                <a:latin typeface="Arial" panose="020B0604020202020204" pitchFamily="34" charset="0"/>
                <a:cs typeface="Arial" panose="020B0604020202020204" pitchFamily="34" charset="0"/>
              </a:rPr>
              <a:t>Other matters (i.e., professional skepticism and group audit considerations) identified by the Task Force in responding to comments received on the Exposure Draft (ED) of ISQM 2</a:t>
            </a:r>
          </a:p>
          <a:p>
            <a:pPr marL="694944" lvl="1" indent="-342900" algn="just">
              <a:lnSpc>
                <a:spcPts val="2400"/>
              </a:lnSpc>
              <a:spcBef>
                <a:spcPts val="600"/>
              </a:spcBef>
              <a:buAutoNum type="alphaLcParenBoth"/>
            </a:pPr>
            <a:r>
              <a:rPr lang="en-US" sz="1800" dirty="0">
                <a:solidFill>
                  <a:schemeClr val="tx1">
                    <a:lumMod val="65000"/>
                    <a:lumOff val="35000"/>
                  </a:schemeClr>
                </a:solidFill>
                <a:latin typeface="Arial" panose="020B0604020202020204" pitchFamily="34" charset="0"/>
                <a:cs typeface="Arial" panose="020B0604020202020204" pitchFamily="34" charset="0"/>
              </a:rPr>
              <a:t>The draft of proposed ISQM 2, if time permits</a:t>
            </a:r>
            <a:endParaRPr lang="en-CA" sz="1800" dirty="0">
              <a:solidFill>
                <a:schemeClr val="tx1">
                  <a:lumMod val="65000"/>
                  <a:lumOff val="35000"/>
                </a:schemeClr>
              </a:solidFill>
              <a:latin typeface="Arial" panose="020B0604020202020204" pitchFamily="34" charset="0"/>
              <a:cs typeface="Arial" panose="020B0604020202020204" pitchFamily="34" charset="0"/>
            </a:endParaRPr>
          </a:p>
        </p:txBody>
      </p:sp>
      <p:sp>
        <p:nvSpPr>
          <p:cNvPr id="5" name="Title 1">
            <a:extLst>
              <a:ext uri="{FF2B5EF4-FFF2-40B4-BE49-F238E27FC236}">
                <a16:creationId xmlns:a16="http://schemas.microsoft.com/office/drawing/2014/main" id="{44E611EE-765D-438A-B290-9DA68BA61931}"/>
              </a:ext>
            </a:extLst>
          </p:cNvPr>
          <p:cNvSpPr txBox="1">
            <a:spLocks/>
          </p:cNvSpPr>
          <p:nvPr/>
        </p:nvSpPr>
        <p:spPr>
          <a:xfrm>
            <a:off x="0" y="427437"/>
            <a:ext cx="9144000" cy="403875"/>
          </a:xfrm>
          <a:prstGeom prst="rect">
            <a:avLst/>
          </a:prstGeom>
        </p:spPr>
        <p:txBody>
          <a:bodyPr anchor="ct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Introduction</a:t>
            </a:r>
          </a:p>
        </p:txBody>
      </p:sp>
      <p:sp>
        <p:nvSpPr>
          <p:cNvPr id="10" name="Slide Number Placeholder 5">
            <a:extLst>
              <a:ext uri="{FF2B5EF4-FFF2-40B4-BE49-F238E27FC236}">
                <a16:creationId xmlns:a16="http://schemas.microsoft.com/office/drawing/2014/main" id="{70C76DCE-413A-49F3-BFF2-B6438E9227D3}"/>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2</a:t>
            </a:fld>
            <a:endParaRPr lang="en-US" sz="675" dirty="0">
              <a:solidFill>
                <a:srgbClr val="808080"/>
              </a:solidFill>
              <a:latin typeface="Arial" panose="020B0604020202020204" pitchFamily="34" charset="0"/>
            </a:endParaRPr>
          </a:p>
        </p:txBody>
      </p:sp>
      <p:sp>
        <p:nvSpPr>
          <p:cNvPr id="2" name="Rectangle 1">
            <a:extLst>
              <a:ext uri="{FF2B5EF4-FFF2-40B4-BE49-F238E27FC236}">
                <a16:creationId xmlns:a16="http://schemas.microsoft.com/office/drawing/2014/main" id="{EA9249B3-52E2-4FD9-A360-1BEF92C2D61D}"/>
              </a:ext>
            </a:extLst>
          </p:cNvPr>
          <p:cNvSpPr/>
          <p:nvPr/>
        </p:nvSpPr>
        <p:spPr>
          <a:xfrm>
            <a:off x="395416" y="3839789"/>
            <a:ext cx="1086251" cy="902264"/>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latin typeface="Arial" panose="020B0604020202020204" pitchFamily="34" charset="0"/>
                <a:cs typeface="Arial" panose="020B0604020202020204" pitchFamily="34" charset="0"/>
              </a:rPr>
              <a:t>Scope</a:t>
            </a:r>
          </a:p>
        </p:txBody>
      </p:sp>
      <p:sp>
        <p:nvSpPr>
          <p:cNvPr id="6" name="Rectangle 5">
            <a:extLst>
              <a:ext uri="{FF2B5EF4-FFF2-40B4-BE49-F238E27FC236}">
                <a16:creationId xmlns:a16="http://schemas.microsoft.com/office/drawing/2014/main" id="{7F60B8A0-CF78-4875-8CDC-0473B23BB57D}"/>
              </a:ext>
            </a:extLst>
          </p:cNvPr>
          <p:cNvSpPr/>
          <p:nvPr/>
        </p:nvSpPr>
        <p:spPr>
          <a:xfrm>
            <a:off x="1481667" y="3839789"/>
            <a:ext cx="1413933" cy="902264"/>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dirty="0">
                <a:latin typeface="Arial" panose="020B0604020202020204" pitchFamily="34" charset="0"/>
                <a:cs typeface="Arial" panose="020B0604020202020204" pitchFamily="34" charset="0"/>
              </a:rPr>
              <a:t>Objectivity and cooling-off</a:t>
            </a:r>
          </a:p>
        </p:txBody>
      </p:sp>
      <p:sp>
        <p:nvSpPr>
          <p:cNvPr id="7" name="Rectangle 6">
            <a:extLst>
              <a:ext uri="{FF2B5EF4-FFF2-40B4-BE49-F238E27FC236}">
                <a16:creationId xmlns:a16="http://schemas.microsoft.com/office/drawing/2014/main" id="{E84113C9-A51E-4E24-814B-82713AE9AC3B}"/>
              </a:ext>
            </a:extLst>
          </p:cNvPr>
          <p:cNvSpPr/>
          <p:nvPr/>
        </p:nvSpPr>
        <p:spPr>
          <a:xfrm>
            <a:off x="2895600" y="3839789"/>
            <a:ext cx="1524000" cy="902264"/>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dirty="0">
                <a:latin typeface="Arial" panose="020B0604020202020204" pitchFamily="34" charset="0"/>
                <a:cs typeface="Arial" panose="020B0604020202020204" pitchFamily="34" charset="0"/>
              </a:rPr>
              <a:t>Professional skepticism</a:t>
            </a:r>
          </a:p>
        </p:txBody>
      </p:sp>
      <p:sp>
        <p:nvSpPr>
          <p:cNvPr id="8" name="Rectangle 7">
            <a:extLst>
              <a:ext uri="{FF2B5EF4-FFF2-40B4-BE49-F238E27FC236}">
                <a16:creationId xmlns:a16="http://schemas.microsoft.com/office/drawing/2014/main" id="{7C2689CA-4D4F-4EF2-A593-1BEF8C97D600}"/>
              </a:ext>
            </a:extLst>
          </p:cNvPr>
          <p:cNvSpPr/>
          <p:nvPr/>
        </p:nvSpPr>
        <p:spPr>
          <a:xfrm>
            <a:off x="4419600" y="3839789"/>
            <a:ext cx="1676400" cy="902264"/>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dirty="0">
                <a:latin typeface="Arial" panose="020B0604020202020204" pitchFamily="34" charset="0"/>
                <a:cs typeface="Arial" panose="020B0604020202020204" pitchFamily="34" charset="0"/>
              </a:rPr>
              <a:t>Group audit considerations</a:t>
            </a:r>
          </a:p>
        </p:txBody>
      </p:sp>
      <p:sp>
        <p:nvSpPr>
          <p:cNvPr id="9" name="Rectangle 8">
            <a:extLst>
              <a:ext uri="{FF2B5EF4-FFF2-40B4-BE49-F238E27FC236}">
                <a16:creationId xmlns:a16="http://schemas.microsoft.com/office/drawing/2014/main" id="{7C5240A0-C2C2-4F85-B847-2EB84AFC78F7}"/>
              </a:ext>
            </a:extLst>
          </p:cNvPr>
          <p:cNvSpPr/>
          <p:nvPr/>
        </p:nvSpPr>
        <p:spPr>
          <a:xfrm>
            <a:off x="6096000" y="4305452"/>
            <a:ext cx="1103184" cy="436601"/>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latin typeface="Arial" panose="020B0604020202020204" pitchFamily="34" charset="0"/>
                <a:cs typeface="Arial" panose="020B0604020202020204" pitchFamily="34" charset="0"/>
              </a:rPr>
              <a:t>Para. 22</a:t>
            </a:r>
          </a:p>
          <a:p>
            <a:pPr algn="ctr"/>
            <a:r>
              <a:rPr lang="en-US" sz="1200" dirty="0">
                <a:latin typeface="Arial" panose="020B0604020202020204" pitchFamily="34" charset="0"/>
                <a:cs typeface="Arial" panose="020B0604020202020204" pitchFamily="34" charset="0"/>
              </a:rPr>
              <a:t>Performance</a:t>
            </a:r>
          </a:p>
        </p:txBody>
      </p:sp>
      <p:sp>
        <p:nvSpPr>
          <p:cNvPr id="11" name="Rectangle 10">
            <a:extLst>
              <a:ext uri="{FF2B5EF4-FFF2-40B4-BE49-F238E27FC236}">
                <a16:creationId xmlns:a16="http://schemas.microsoft.com/office/drawing/2014/main" id="{0FB48D11-9C1E-4CCC-9687-F7A922D82CCE}"/>
              </a:ext>
            </a:extLst>
          </p:cNvPr>
          <p:cNvSpPr/>
          <p:nvPr/>
        </p:nvSpPr>
        <p:spPr>
          <a:xfrm>
            <a:off x="6096000" y="3839787"/>
            <a:ext cx="1103184" cy="465665"/>
          </a:xfrm>
          <a:prstGeom prst="rect">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latin typeface="Arial" panose="020B0604020202020204" pitchFamily="34" charset="0"/>
                <a:cs typeface="Arial" panose="020B0604020202020204" pitchFamily="34" charset="0"/>
              </a:rPr>
              <a:t>Para. 10</a:t>
            </a:r>
          </a:p>
          <a:p>
            <a:pPr algn="ctr"/>
            <a:r>
              <a:rPr lang="en-US" sz="1200" dirty="0">
                <a:latin typeface="Arial" panose="020B0604020202020204" pitchFamily="34" charset="0"/>
                <a:cs typeface="Arial" panose="020B0604020202020204" pitchFamily="34" charset="0"/>
              </a:rPr>
              <a:t>Objective</a:t>
            </a:r>
          </a:p>
        </p:txBody>
      </p:sp>
      <p:sp>
        <p:nvSpPr>
          <p:cNvPr id="12" name="Rectangle 11">
            <a:extLst>
              <a:ext uri="{FF2B5EF4-FFF2-40B4-BE49-F238E27FC236}">
                <a16:creationId xmlns:a16="http://schemas.microsoft.com/office/drawing/2014/main" id="{A074365A-CB9C-4F89-BE13-3F07D0B45877}"/>
              </a:ext>
            </a:extLst>
          </p:cNvPr>
          <p:cNvSpPr/>
          <p:nvPr/>
        </p:nvSpPr>
        <p:spPr>
          <a:xfrm>
            <a:off x="7199184" y="3839787"/>
            <a:ext cx="1602346" cy="234461"/>
          </a:xfrm>
          <a:prstGeom prst="rect">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latin typeface="Arial" panose="020B0604020202020204" pitchFamily="34" charset="0"/>
                <a:cs typeface="Arial" panose="020B0604020202020204" pitchFamily="34" charset="0"/>
              </a:rPr>
              <a:t>Walkthrough</a:t>
            </a:r>
          </a:p>
        </p:txBody>
      </p:sp>
      <p:sp>
        <p:nvSpPr>
          <p:cNvPr id="14" name="Rectangle 13">
            <a:extLst>
              <a:ext uri="{FF2B5EF4-FFF2-40B4-BE49-F238E27FC236}">
                <a16:creationId xmlns:a16="http://schemas.microsoft.com/office/drawing/2014/main" id="{74E8750A-2DBB-47B2-8C6B-65EC5A6A082A}"/>
              </a:ext>
            </a:extLst>
          </p:cNvPr>
          <p:cNvSpPr/>
          <p:nvPr/>
        </p:nvSpPr>
        <p:spPr>
          <a:xfrm>
            <a:off x="7199180" y="4074248"/>
            <a:ext cx="1602350" cy="235283"/>
          </a:xfrm>
          <a:prstGeom prst="rect">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latin typeface="Arial" panose="020B0604020202020204" pitchFamily="34" charset="0"/>
                <a:cs typeface="Arial" panose="020B0604020202020204" pitchFamily="34" charset="0"/>
              </a:rPr>
              <a:t>Para. 1-11</a:t>
            </a:r>
          </a:p>
        </p:txBody>
      </p:sp>
      <p:sp>
        <p:nvSpPr>
          <p:cNvPr id="15" name="Rectangle 14">
            <a:extLst>
              <a:ext uri="{FF2B5EF4-FFF2-40B4-BE49-F238E27FC236}">
                <a16:creationId xmlns:a16="http://schemas.microsoft.com/office/drawing/2014/main" id="{F9DEF440-A14D-4921-BBFE-6DD555A442E0}"/>
              </a:ext>
            </a:extLst>
          </p:cNvPr>
          <p:cNvSpPr/>
          <p:nvPr/>
        </p:nvSpPr>
        <p:spPr>
          <a:xfrm>
            <a:off x="7199180" y="4305452"/>
            <a:ext cx="1602350" cy="224936"/>
          </a:xfrm>
          <a:prstGeom prst="rect">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latin typeface="Arial" panose="020B0604020202020204" pitchFamily="34" charset="0"/>
                <a:cs typeface="Arial" panose="020B0604020202020204" pitchFamily="34" charset="0"/>
              </a:rPr>
              <a:t>Para. 12-20</a:t>
            </a:r>
          </a:p>
        </p:txBody>
      </p:sp>
      <p:sp>
        <p:nvSpPr>
          <p:cNvPr id="16" name="Rectangle 15">
            <a:extLst>
              <a:ext uri="{FF2B5EF4-FFF2-40B4-BE49-F238E27FC236}">
                <a16:creationId xmlns:a16="http://schemas.microsoft.com/office/drawing/2014/main" id="{C3E15425-CF89-4B4B-BD83-1C665E383094}"/>
              </a:ext>
            </a:extLst>
          </p:cNvPr>
          <p:cNvSpPr/>
          <p:nvPr/>
        </p:nvSpPr>
        <p:spPr>
          <a:xfrm>
            <a:off x="7199184" y="4513744"/>
            <a:ext cx="1602345" cy="228309"/>
          </a:xfrm>
          <a:prstGeom prst="rect">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latin typeface="Arial" panose="020B0604020202020204" pitchFamily="34" charset="0"/>
                <a:cs typeface="Arial" panose="020B0604020202020204" pitchFamily="34" charset="0"/>
              </a:rPr>
              <a:t>Para. 21-27</a:t>
            </a:r>
          </a:p>
        </p:txBody>
      </p:sp>
    </p:spTree>
    <p:extLst>
      <p:ext uri="{BB962C8B-B14F-4D97-AF65-F5344CB8AC3E}">
        <p14:creationId xmlns:p14="http://schemas.microsoft.com/office/powerpoint/2010/main" val="15765035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4170287360"/>
              </p:ext>
            </p:extLst>
          </p:nvPr>
        </p:nvGraphicFramePr>
        <p:xfrm>
          <a:off x="429437" y="1000897"/>
          <a:ext cx="8340094" cy="3802011"/>
        </p:xfrm>
        <a:graphic>
          <a:graphicData uri="http://schemas.openxmlformats.org/drawingml/2006/table">
            <a:tbl>
              <a:tblPr firstRow="1" bandRow="1">
                <a:tableStyleId>{5C22544A-7EE6-4342-B048-85BDC9FD1C3A}</a:tableStyleId>
              </a:tblPr>
              <a:tblGrid>
                <a:gridCol w="8340094">
                  <a:extLst>
                    <a:ext uri="{9D8B030D-6E8A-4147-A177-3AD203B41FA5}">
                      <a16:colId xmlns:a16="http://schemas.microsoft.com/office/drawing/2014/main" val="713251629"/>
                    </a:ext>
                  </a:extLst>
                </a:gridCol>
              </a:tblGrid>
              <a:tr h="3802011">
                <a:tc>
                  <a:txBody>
                    <a:bodyPr/>
                    <a:lstStyle/>
                    <a:p>
                      <a:pPr algn="l">
                        <a:lnSpc>
                          <a:spcPts val="2400"/>
                        </a:lnSpc>
                        <a:spcBef>
                          <a:spcPts val="600"/>
                        </a:spcBef>
                        <a:spcAft>
                          <a:spcPts val="0"/>
                        </a:spcAft>
                      </a:pPr>
                      <a:r>
                        <a:rPr lang="en-CA" sz="2400" b="1" i="0" kern="1200" dirty="0">
                          <a:solidFill>
                            <a:schemeClr val="tx1">
                              <a:lumMod val="65000"/>
                              <a:lumOff val="35000"/>
                            </a:schemeClr>
                          </a:solidFill>
                          <a:effectLst/>
                          <a:latin typeface="Arial" panose="020B0604020202020204" pitchFamily="34" charset="0"/>
                          <a:ea typeface="+mn-ea"/>
                          <a:cs typeface="Arial" panose="020B0604020202020204" pitchFamily="34" charset="0"/>
                        </a:rPr>
                        <a:t>Task Force’s Revised Proposals: </a:t>
                      </a:r>
                      <a:r>
                        <a:rPr lang="en-CA" sz="2400" b="0" i="1" kern="1200" dirty="0">
                          <a:solidFill>
                            <a:schemeClr val="tx1">
                              <a:lumMod val="65000"/>
                              <a:lumOff val="35000"/>
                            </a:schemeClr>
                          </a:solidFill>
                          <a:effectLst/>
                          <a:latin typeface="Arial" panose="020B0604020202020204" pitchFamily="34" charset="0"/>
                          <a:ea typeface="+mn-ea"/>
                          <a:cs typeface="Arial" panose="020B0604020202020204" pitchFamily="34" charset="0"/>
                        </a:rPr>
                        <a:t>(see Section II-A of </a:t>
                      </a:r>
                      <a:r>
                        <a:rPr lang="en-CA" sz="2400" b="1" i="1" kern="1200" dirty="0">
                          <a:solidFill>
                            <a:schemeClr val="tx1">
                              <a:lumMod val="65000"/>
                              <a:lumOff val="35000"/>
                            </a:schemeClr>
                          </a:solidFill>
                          <a:effectLst/>
                          <a:latin typeface="Arial" panose="020B0604020202020204" pitchFamily="34" charset="0"/>
                          <a:ea typeface="+mn-ea"/>
                          <a:cs typeface="Arial" panose="020B0604020202020204" pitchFamily="34" charset="0"/>
                        </a:rPr>
                        <a:t>Agenda Item 8</a:t>
                      </a:r>
                      <a:r>
                        <a:rPr lang="en-CA" sz="2400" b="0" i="1" kern="1200" dirty="0">
                          <a:solidFill>
                            <a:schemeClr val="tx1">
                              <a:lumMod val="65000"/>
                              <a:lumOff val="35000"/>
                            </a:schemeClr>
                          </a:solidFill>
                          <a:effectLst/>
                          <a:latin typeface="Arial" panose="020B0604020202020204" pitchFamily="34" charset="0"/>
                          <a:ea typeface="+mn-ea"/>
                          <a:cs typeface="Arial" panose="020B0604020202020204" pitchFamily="34" charset="0"/>
                        </a:rPr>
                        <a:t>)</a:t>
                      </a:r>
                      <a:endParaRPr lang="en-CA" sz="2000" b="0" i="1" kern="1200" dirty="0">
                        <a:solidFill>
                          <a:schemeClr val="tx1">
                            <a:lumMod val="65000"/>
                            <a:lumOff val="35000"/>
                          </a:schemeClr>
                        </a:solidFill>
                        <a:effectLst/>
                        <a:latin typeface="Arial" panose="020B0604020202020204" pitchFamily="34" charset="0"/>
                        <a:ea typeface="+mn-ea"/>
                        <a:cs typeface="Arial" panose="020B0604020202020204" pitchFamily="34" charset="0"/>
                      </a:endParaRPr>
                    </a:p>
                    <a:p>
                      <a:pPr marL="347472" lvl="0" indent="-347472" algn="just">
                        <a:lnSpc>
                          <a:spcPts val="2400"/>
                        </a:lnSpc>
                        <a:spcBef>
                          <a:spcPts val="600"/>
                        </a:spcBef>
                        <a:spcAft>
                          <a:spcPts val="0"/>
                        </a:spcAft>
                        <a:buFont typeface="Arial" panose="020B0604020202020204" pitchFamily="34" charset="0"/>
                        <a:buChar char="•"/>
                      </a:pPr>
                      <a:r>
                        <a:rPr lang="en-US" sz="2000" b="0" kern="1200" dirty="0">
                          <a:solidFill>
                            <a:schemeClr val="tx1">
                              <a:lumMod val="65000"/>
                              <a:lumOff val="35000"/>
                            </a:schemeClr>
                          </a:solidFill>
                          <a:effectLst/>
                          <a:latin typeface="Arial" panose="020B0604020202020204" pitchFamily="34" charset="0"/>
                          <a:ea typeface="+mn-ea"/>
                          <a:cs typeface="Arial" panose="020B0604020202020204" pitchFamily="34" charset="0"/>
                        </a:rPr>
                        <a:t>Retain a </a:t>
                      </a:r>
                      <a:r>
                        <a:rPr lang="en-US" sz="2000" b="1" kern="1200" dirty="0">
                          <a:solidFill>
                            <a:schemeClr val="tx1">
                              <a:lumMod val="65000"/>
                              <a:lumOff val="35000"/>
                            </a:schemeClr>
                          </a:solidFill>
                          <a:effectLst/>
                          <a:latin typeface="Arial" panose="020B0604020202020204" pitchFamily="34" charset="0"/>
                          <a:ea typeface="+mn-ea"/>
                          <a:cs typeface="Arial" panose="020B0604020202020204" pitchFamily="34" charset="0"/>
                        </a:rPr>
                        <a:t>separate category</a:t>
                      </a:r>
                      <a:r>
                        <a:rPr lang="en-US" sz="2000" b="0" kern="1200" dirty="0">
                          <a:solidFill>
                            <a:schemeClr val="tx1">
                              <a:lumMod val="65000"/>
                              <a:lumOff val="35000"/>
                            </a:schemeClr>
                          </a:solidFill>
                          <a:effectLst/>
                          <a:latin typeface="Arial" panose="020B0604020202020204" pitchFamily="34" charset="0"/>
                          <a:ea typeface="+mn-ea"/>
                          <a:cs typeface="Arial" panose="020B0604020202020204" pitchFamily="34" charset="0"/>
                        </a:rPr>
                        <a:t> for engagements for which the firm determines an EQ review is an appropriate response to assessed quality risks</a:t>
                      </a:r>
                    </a:p>
                    <a:p>
                      <a:pPr marL="347472" lvl="0" indent="-347472" algn="just">
                        <a:lnSpc>
                          <a:spcPts val="2400"/>
                        </a:lnSpc>
                        <a:spcBef>
                          <a:spcPts val="600"/>
                        </a:spcBef>
                        <a:spcAft>
                          <a:spcPts val="0"/>
                        </a:spcAft>
                        <a:buFont typeface="Arial" panose="020B0604020202020204" pitchFamily="34" charset="0"/>
                        <a:buChar char="•"/>
                      </a:pPr>
                      <a:r>
                        <a:rPr lang="en-US" sz="1800" b="0" kern="1200" dirty="0">
                          <a:solidFill>
                            <a:schemeClr val="tx1">
                              <a:lumMod val="65000"/>
                              <a:lumOff val="35000"/>
                            </a:schemeClr>
                          </a:solidFill>
                          <a:latin typeface="Arial" panose="020B0604020202020204" pitchFamily="34" charset="0"/>
                          <a:ea typeface="+mn-ea"/>
                          <a:cs typeface="Arial" panose="020B0604020202020204" pitchFamily="34" charset="0"/>
                        </a:rPr>
                        <a:t>Change ‘nature of the entity’ to ‘</a:t>
                      </a:r>
                      <a:r>
                        <a:rPr lang="en-US" sz="1800" b="1" kern="1200" dirty="0">
                          <a:solidFill>
                            <a:schemeClr val="tx1">
                              <a:lumMod val="65000"/>
                              <a:lumOff val="35000"/>
                            </a:schemeClr>
                          </a:solidFill>
                          <a:latin typeface="Arial" panose="020B0604020202020204" pitchFamily="34" charset="0"/>
                          <a:ea typeface="+mn-ea"/>
                          <a:cs typeface="Arial" panose="020B0604020202020204" pitchFamily="34" charset="0"/>
                        </a:rPr>
                        <a:t>nature and circumstances of the engagement or the entity</a:t>
                      </a:r>
                      <a:r>
                        <a:rPr lang="en-US" sz="1800" b="0" kern="1200" dirty="0">
                          <a:solidFill>
                            <a:schemeClr val="tx1">
                              <a:lumMod val="65000"/>
                              <a:lumOff val="35000"/>
                            </a:schemeClr>
                          </a:solidFill>
                          <a:latin typeface="Arial" panose="020B0604020202020204" pitchFamily="34" charset="0"/>
                          <a:ea typeface="+mn-ea"/>
                          <a:cs typeface="Arial" panose="020B0604020202020204" pitchFamily="34" charset="0"/>
                        </a:rPr>
                        <a:t>’ in para. paragraph 41A(c)(iii)(b) </a:t>
                      </a:r>
                      <a:r>
                        <a:rPr lang="en-US" sz="1800" b="0" i="1" kern="1200" dirty="0">
                          <a:solidFill>
                            <a:schemeClr val="tx1">
                              <a:lumMod val="65000"/>
                              <a:lumOff val="35000"/>
                            </a:schemeClr>
                          </a:solidFill>
                          <a:latin typeface="Arial" panose="020B0604020202020204" pitchFamily="34" charset="0"/>
                          <a:ea typeface="+mn-ea"/>
                          <a:cs typeface="Arial" panose="020B0604020202020204" pitchFamily="34" charset="0"/>
                        </a:rPr>
                        <a:t>(previously para. 37(e)(iii)(b))</a:t>
                      </a:r>
                    </a:p>
                    <a:p>
                      <a:pPr marL="347472" marR="0" lvl="0" indent="-347472" algn="just" defTabSz="342900" rtl="0" eaLnBrk="1" fontAlgn="auto" latinLnBrk="0" hangingPunct="1">
                        <a:lnSpc>
                          <a:spcPts val="2400"/>
                        </a:lnSpc>
                        <a:spcBef>
                          <a:spcPts val="600"/>
                        </a:spcBef>
                        <a:spcAft>
                          <a:spcPts val="0"/>
                        </a:spcAft>
                        <a:buClrTx/>
                        <a:buSzTx/>
                        <a:buFont typeface="Arial" panose="020B0604020202020204" pitchFamily="34" charset="0"/>
                        <a:buChar char="•"/>
                        <a:tabLst/>
                        <a:defRPr/>
                      </a:pPr>
                      <a:r>
                        <a:rPr lang="en-US" sz="2000" b="0" kern="1200" dirty="0">
                          <a:solidFill>
                            <a:schemeClr val="tx1">
                              <a:lumMod val="65000"/>
                              <a:lumOff val="35000"/>
                            </a:schemeClr>
                          </a:solidFill>
                          <a:effectLst/>
                          <a:latin typeface="Arial" panose="020B0604020202020204" pitchFamily="34" charset="0"/>
                          <a:ea typeface="+mn-ea"/>
                          <a:cs typeface="Arial" panose="020B0604020202020204" pitchFamily="34" charset="0"/>
                        </a:rPr>
                        <a:t>Revise the related application material such that it </a:t>
                      </a:r>
                      <a:r>
                        <a:rPr lang="en-US" sz="2000" b="1" kern="1200" dirty="0">
                          <a:solidFill>
                            <a:schemeClr val="tx1">
                              <a:lumMod val="65000"/>
                              <a:lumOff val="35000"/>
                            </a:schemeClr>
                          </a:solidFill>
                          <a:effectLst/>
                          <a:latin typeface="Arial" panose="020B0604020202020204" pitchFamily="34" charset="0"/>
                          <a:ea typeface="+mn-ea"/>
                          <a:cs typeface="Arial" panose="020B0604020202020204" pitchFamily="34" charset="0"/>
                        </a:rPr>
                        <a:t>corresponds to the requirements for each category</a:t>
                      </a:r>
                    </a:p>
                  </a:txBody>
                  <a:tcPr>
                    <a:noFill/>
                  </a:tcPr>
                </a:tc>
                <a:extLst>
                  <a:ext uri="{0D108BD9-81ED-4DB2-BD59-A6C34878D82A}">
                    <a16:rowId xmlns:a16="http://schemas.microsoft.com/office/drawing/2014/main" val="493788776"/>
                  </a:ext>
                </a:extLst>
              </a:tr>
            </a:tbl>
          </a:graphicData>
        </a:graphic>
      </p:graphicFrame>
      <p:sp>
        <p:nvSpPr>
          <p:cNvPr id="7" name="Title 1">
            <a:extLst>
              <a:ext uri="{FF2B5EF4-FFF2-40B4-BE49-F238E27FC236}">
                <a16:creationId xmlns:a16="http://schemas.microsoft.com/office/drawing/2014/main" id="{D439250E-CDCA-4F78-813F-31F0129D3CAC}"/>
              </a:ext>
            </a:extLst>
          </p:cNvPr>
          <p:cNvSpPr txBox="1">
            <a:spLocks/>
          </p:cNvSpPr>
          <p:nvPr/>
        </p:nvSpPr>
        <p:spPr>
          <a:xfrm>
            <a:off x="0" y="427038"/>
            <a:ext cx="9144000" cy="404812"/>
          </a:xfrm>
          <a:prstGeom prst="rect">
            <a:avLst/>
          </a:prstGeom>
        </p:spPr>
        <p:txBody>
          <a:bodyPr anchor="ct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Scope of Engagements Subject to EQ Review</a:t>
            </a:r>
          </a:p>
        </p:txBody>
      </p:sp>
      <p:sp>
        <p:nvSpPr>
          <p:cNvPr id="9" name="Slide Number Placeholder 5">
            <a:extLst>
              <a:ext uri="{FF2B5EF4-FFF2-40B4-BE49-F238E27FC236}">
                <a16:creationId xmlns:a16="http://schemas.microsoft.com/office/drawing/2014/main" id="{B310E0CF-E872-40AA-B794-E20D815AF7CD}"/>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3</a:t>
            </a:fld>
            <a:endParaRPr lang="en-US" sz="675" dirty="0">
              <a:solidFill>
                <a:srgbClr val="808080"/>
              </a:solidFill>
              <a:latin typeface="Arial" panose="020B0604020202020204" pitchFamily="34" charset="0"/>
            </a:endParaRPr>
          </a:p>
        </p:txBody>
      </p:sp>
    </p:spTree>
    <p:extLst>
      <p:ext uri="{BB962C8B-B14F-4D97-AF65-F5344CB8AC3E}">
        <p14:creationId xmlns:p14="http://schemas.microsoft.com/office/powerpoint/2010/main" val="1947430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831413375"/>
              </p:ext>
            </p:extLst>
          </p:nvPr>
        </p:nvGraphicFramePr>
        <p:xfrm>
          <a:off x="355600" y="911996"/>
          <a:ext cx="8788399" cy="4084320"/>
        </p:xfrm>
        <a:graphic>
          <a:graphicData uri="http://schemas.openxmlformats.org/drawingml/2006/table">
            <a:tbl>
              <a:tblPr firstRow="1" bandRow="1">
                <a:tableStyleId>{5C22544A-7EE6-4342-B048-85BDC9FD1C3A}</a:tableStyleId>
              </a:tblPr>
              <a:tblGrid>
                <a:gridCol w="8788399">
                  <a:extLst>
                    <a:ext uri="{9D8B030D-6E8A-4147-A177-3AD203B41FA5}">
                      <a16:colId xmlns:a16="http://schemas.microsoft.com/office/drawing/2014/main" val="713251629"/>
                    </a:ext>
                  </a:extLst>
                </a:gridCol>
              </a:tblGrid>
              <a:tr h="3242981">
                <a:tc>
                  <a:txBody>
                    <a:bodyPr/>
                    <a:lstStyle/>
                    <a:p>
                      <a:pPr indent="-347472"/>
                      <a:r>
                        <a:rPr lang="en-US" sz="1600" b="0" kern="1200" dirty="0">
                          <a:solidFill>
                            <a:schemeClr val="tx1">
                              <a:lumMod val="65000"/>
                              <a:lumOff val="35000"/>
                            </a:schemeClr>
                          </a:solidFill>
                          <a:effectLst/>
                          <a:latin typeface="Arial" panose="020B0604020202020204" pitchFamily="34" charset="0"/>
                          <a:ea typeface="+mn-ea"/>
                          <a:cs typeface="Arial" panose="020B0604020202020204" pitchFamily="34" charset="0"/>
                        </a:rPr>
                        <a:t>41A.In designing and implementing responses, the firm shall, </a:t>
                      </a:r>
                      <a:r>
                        <a:rPr lang="en-US" sz="1600" b="0" kern="1200" dirty="0">
                          <a:solidFill>
                            <a:schemeClr val="tx1">
                              <a:lumMod val="65000"/>
                              <a:lumOff val="35000"/>
                            </a:schemeClr>
                          </a:solidFill>
                          <a:effectLst/>
                          <a:highlight>
                            <a:srgbClr val="00FF00"/>
                          </a:highlight>
                          <a:latin typeface="Arial" panose="020B0604020202020204" pitchFamily="34" charset="0"/>
                          <a:ea typeface="+mn-ea"/>
                          <a:cs typeface="Arial" panose="020B0604020202020204" pitchFamily="34" charset="0"/>
                        </a:rPr>
                        <a:t>at a minimum</a:t>
                      </a:r>
                      <a:r>
                        <a:rPr lang="en-US" sz="1600" b="0" kern="1200" dirty="0">
                          <a:solidFill>
                            <a:schemeClr val="tx1">
                              <a:lumMod val="65000"/>
                              <a:lumOff val="35000"/>
                            </a:schemeClr>
                          </a:solidFill>
                          <a:effectLst/>
                          <a:latin typeface="Arial" panose="020B0604020202020204" pitchFamily="34" charset="0"/>
                          <a:ea typeface="+mn-ea"/>
                          <a:cs typeface="Arial" panose="020B0604020202020204" pitchFamily="34" charset="0"/>
                        </a:rPr>
                        <a:t>, include the    </a:t>
                      </a:r>
                    </a:p>
                    <a:p>
                      <a:pPr indent="-347472"/>
                      <a:r>
                        <a:rPr lang="en-US" sz="1600" b="0" kern="1200" dirty="0">
                          <a:solidFill>
                            <a:schemeClr val="tx1">
                              <a:lumMod val="65000"/>
                              <a:lumOff val="35000"/>
                            </a:schemeClr>
                          </a:solidFill>
                          <a:effectLst/>
                          <a:latin typeface="Arial" panose="020B0604020202020204" pitchFamily="34" charset="0"/>
                          <a:ea typeface="+mn-ea"/>
                          <a:cs typeface="Arial" panose="020B0604020202020204" pitchFamily="34" charset="0"/>
                        </a:rPr>
                        <a:t>       following </a:t>
                      </a:r>
                      <a:r>
                        <a:rPr lang="en-US" sz="1600" b="0" kern="1200" dirty="0">
                          <a:solidFill>
                            <a:schemeClr val="tx1">
                              <a:lumMod val="65000"/>
                              <a:lumOff val="35000"/>
                            </a:schemeClr>
                          </a:solidFill>
                          <a:effectLst/>
                          <a:highlight>
                            <a:srgbClr val="00FF00"/>
                          </a:highlight>
                          <a:latin typeface="Arial" panose="020B0604020202020204" pitchFamily="34" charset="0"/>
                          <a:ea typeface="+mn-ea"/>
                          <a:cs typeface="Arial" panose="020B0604020202020204" pitchFamily="34" charset="0"/>
                        </a:rPr>
                        <a:t>specific</a:t>
                      </a:r>
                      <a:r>
                        <a:rPr lang="en-US" sz="1600" b="0" kern="1200" dirty="0">
                          <a:solidFill>
                            <a:schemeClr val="tx1">
                              <a:lumMod val="65000"/>
                              <a:lumOff val="35000"/>
                            </a:schemeClr>
                          </a:solidFill>
                          <a:effectLst/>
                          <a:latin typeface="Arial" panose="020B0604020202020204" pitchFamily="34" charset="0"/>
                          <a:ea typeface="+mn-ea"/>
                          <a:cs typeface="Arial" panose="020B0604020202020204" pitchFamily="34" charset="0"/>
                        </a:rPr>
                        <a:t> responses:</a:t>
                      </a:r>
                    </a:p>
                    <a:p>
                      <a:pPr marL="347472"/>
                      <a:r>
                        <a:rPr lang="en-US" sz="1600" b="0" kern="1200" dirty="0">
                          <a:solidFill>
                            <a:schemeClr val="tx1">
                              <a:lumMod val="65000"/>
                              <a:lumOff val="35000"/>
                            </a:schemeClr>
                          </a:solidFill>
                          <a:effectLst/>
                          <a:latin typeface="Arial" panose="020B0604020202020204" pitchFamily="34" charset="0"/>
                          <a:ea typeface="+mn-ea"/>
                          <a:cs typeface="Arial" panose="020B0604020202020204" pitchFamily="34" charset="0"/>
                        </a:rPr>
                        <a:t> …</a:t>
                      </a:r>
                    </a:p>
                    <a:p>
                      <a:pPr marL="694944" indent="-342900">
                        <a:buAutoNum type="alphaLcParenBoth" startAt="3"/>
                      </a:pPr>
                      <a:r>
                        <a:rPr lang="en-US" sz="1600" b="0" kern="1200" dirty="0">
                          <a:solidFill>
                            <a:schemeClr val="tx1">
                              <a:lumMod val="65000"/>
                              <a:lumOff val="35000"/>
                            </a:schemeClr>
                          </a:solidFill>
                          <a:effectLst/>
                          <a:latin typeface="Arial" panose="020B0604020202020204" pitchFamily="34" charset="0"/>
                          <a:ea typeface="+mn-ea"/>
                          <a:cs typeface="Arial" panose="020B0604020202020204" pitchFamily="34" charset="0"/>
                        </a:rPr>
                        <a:t>[Moved from 37(e)] </a:t>
                      </a:r>
                      <a:r>
                        <a:rPr lang="en-US" sz="1600" b="0" kern="1200" dirty="0">
                          <a:solidFill>
                            <a:schemeClr val="tx1">
                              <a:lumMod val="65000"/>
                              <a:lumOff val="35000"/>
                            </a:schemeClr>
                          </a:solidFill>
                          <a:effectLst/>
                          <a:highlight>
                            <a:srgbClr val="00FF00"/>
                          </a:highlight>
                          <a:latin typeface="Arial" panose="020B0604020202020204" pitchFamily="34" charset="0"/>
                          <a:ea typeface="+mn-ea"/>
                          <a:cs typeface="Arial" panose="020B0604020202020204" pitchFamily="34" charset="0"/>
                        </a:rPr>
                        <a:t>The firm establishes</a:t>
                      </a:r>
                      <a:r>
                        <a:rPr lang="en-US" sz="1600" b="0" kern="1200" dirty="0">
                          <a:solidFill>
                            <a:schemeClr val="tx1">
                              <a:lumMod val="65000"/>
                              <a:lumOff val="35000"/>
                            </a:schemeClr>
                          </a:solidFill>
                          <a:effectLst/>
                          <a:latin typeface="Arial" panose="020B0604020202020204" pitchFamily="34" charset="0"/>
                          <a:ea typeface="+mn-ea"/>
                          <a:cs typeface="Arial" panose="020B0604020202020204" pitchFamily="34" charset="0"/>
                        </a:rPr>
                        <a:t> policies or procedures addressing engagement quality reviews in accordance with </a:t>
                      </a:r>
                      <a:r>
                        <a:rPr lang="en-US" sz="1600" b="0" kern="1200" dirty="0">
                          <a:solidFill>
                            <a:schemeClr val="tx1">
                              <a:lumMod val="65000"/>
                              <a:lumOff val="35000"/>
                            </a:schemeClr>
                          </a:solidFill>
                          <a:effectLst/>
                          <a:highlight>
                            <a:srgbClr val="00FF00"/>
                          </a:highlight>
                          <a:latin typeface="Arial" panose="020B0604020202020204" pitchFamily="34" charset="0"/>
                          <a:ea typeface="+mn-ea"/>
                          <a:cs typeface="Arial" panose="020B0604020202020204" pitchFamily="34" charset="0"/>
                        </a:rPr>
                        <a:t>proposed</a:t>
                      </a:r>
                      <a:r>
                        <a:rPr lang="en-US" sz="1600" b="0" kern="1200" dirty="0">
                          <a:solidFill>
                            <a:schemeClr val="tx1">
                              <a:lumMod val="65000"/>
                              <a:lumOff val="35000"/>
                            </a:schemeClr>
                          </a:solidFill>
                          <a:effectLst/>
                          <a:latin typeface="Arial" panose="020B0604020202020204" pitchFamily="34" charset="0"/>
                          <a:ea typeface="+mn-ea"/>
                          <a:cs typeface="Arial" panose="020B0604020202020204" pitchFamily="34" charset="0"/>
                        </a:rPr>
                        <a:t> ISQM 2, and </a:t>
                      </a:r>
                      <a:r>
                        <a:rPr lang="en-US" sz="1600" b="0" kern="1200" dirty="0">
                          <a:solidFill>
                            <a:schemeClr val="tx1">
                              <a:lumMod val="65000"/>
                              <a:lumOff val="35000"/>
                            </a:schemeClr>
                          </a:solidFill>
                          <a:effectLst/>
                          <a:highlight>
                            <a:srgbClr val="00FF00"/>
                          </a:highlight>
                          <a:latin typeface="Arial" panose="020B0604020202020204" pitchFamily="34" charset="0"/>
                          <a:ea typeface="+mn-ea"/>
                          <a:cs typeface="Arial" panose="020B0604020202020204" pitchFamily="34" charset="0"/>
                        </a:rPr>
                        <a:t>requiring</a:t>
                      </a:r>
                      <a:r>
                        <a:rPr lang="en-US" sz="1600" b="0" kern="1200" dirty="0">
                          <a:solidFill>
                            <a:schemeClr val="tx1">
                              <a:lumMod val="65000"/>
                              <a:lumOff val="35000"/>
                            </a:schemeClr>
                          </a:solidFill>
                          <a:effectLst/>
                          <a:latin typeface="Arial" panose="020B0604020202020204" pitchFamily="34" charset="0"/>
                          <a:ea typeface="+mn-ea"/>
                          <a:cs typeface="Arial" panose="020B0604020202020204" pitchFamily="34" charset="0"/>
                        </a:rPr>
                        <a:t> an engagement quality review for:</a:t>
                      </a:r>
                    </a:p>
                    <a:p>
                      <a:pPr marL="1042416" indent="-347472">
                        <a:buAutoNum type="romanLcParenBoth"/>
                      </a:pPr>
                      <a:r>
                        <a:rPr lang="en-US" sz="1600" b="0" kern="1200" dirty="0">
                          <a:solidFill>
                            <a:schemeClr val="tx1">
                              <a:lumMod val="65000"/>
                              <a:lumOff val="35000"/>
                            </a:schemeClr>
                          </a:solidFill>
                          <a:effectLst/>
                          <a:latin typeface="Arial" panose="020B0604020202020204" pitchFamily="34" charset="0"/>
                          <a:ea typeface="+mn-ea"/>
                          <a:cs typeface="Arial" panose="020B0604020202020204" pitchFamily="34" charset="0"/>
                        </a:rPr>
                        <a:t>Audits of financial statements of listed entities;</a:t>
                      </a:r>
                    </a:p>
                    <a:p>
                      <a:pPr marL="1042416" indent="-347472">
                        <a:buAutoNum type="romanLcParenBoth"/>
                      </a:pPr>
                      <a:r>
                        <a:rPr lang="en-US" sz="1600" b="0" kern="1200" dirty="0">
                          <a:solidFill>
                            <a:schemeClr val="tx1">
                              <a:lumMod val="65000"/>
                              <a:lumOff val="35000"/>
                            </a:schemeClr>
                          </a:solidFill>
                          <a:effectLst/>
                          <a:latin typeface="Arial" panose="020B0604020202020204" pitchFamily="34" charset="0"/>
                          <a:ea typeface="+mn-ea"/>
                          <a:cs typeface="Arial" panose="020B0604020202020204" pitchFamily="34" charset="0"/>
                        </a:rPr>
                        <a:t>Audits or other engagements for which an engagement quality review is required by law or regulation; and (Ref: Para. A103)</a:t>
                      </a:r>
                    </a:p>
                    <a:p>
                      <a:pPr marL="1042416" indent="-347472">
                        <a:buAutoNum type="romanLcParenBoth"/>
                      </a:pPr>
                      <a:r>
                        <a:rPr lang="en-US" sz="1600" b="0" kern="1200" dirty="0">
                          <a:solidFill>
                            <a:schemeClr val="tx1">
                              <a:lumMod val="65000"/>
                              <a:lumOff val="35000"/>
                            </a:schemeClr>
                          </a:solidFill>
                          <a:effectLst/>
                          <a:latin typeface="Arial" panose="020B0604020202020204" pitchFamily="34" charset="0"/>
                          <a:ea typeface="+mn-ea"/>
                          <a:cs typeface="Arial" panose="020B0604020202020204" pitchFamily="34" charset="0"/>
                        </a:rPr>
                        <a:t>Audits or other engagements for which the firm determines that an engagement quality review is </a:t>
                      </a:r>
                      <a:r>
                        <a:rPr lang="en-US" sz="1600" b="0" kern="1200" dirty="0">
                          <a:solidFill>
                            <a:schemeClr val="tx1">
                              <a:lumMod val="65000"/>
                              <a:lumOff val="35000"/>
                            </a:schemeClr>
                          </a:solidFill>
                          <a:effectLst/>
                          <a:highlight>
                            <a:srgbClr val="00FF00"/>
                          </a:highlight>
                          <a:latin typeface="Arial" panose="020B0604020202020204" pitchFamily="34" charset="0"/>
                          <a:ea typeface="+mn-ea"/>
                          <a:cs typeface="Arial" panose="020B0604020202020204" pitchFamily="34" charset="0"/>
                        </a:rPr>
                        <a:t>appropriate</a:t>
                      </a:r>
                      <a:r>
                        <a:rPr lang="en-US" sz="1600" b="0" kern="1200" dirty="0">
                          <a:solidFill>
                            <a:schemeClr val="tx1">
                              <a:lumMod val="65000"/>
                              <a:lumOff val="35000"/>
                            </a:schemeClr>
                          </a:solidFill>
                          <a:effectLst/>
                          <a:latin typeface="Arial" panose="020B0604020202020204" pitchFamily="34" charset="0"/>
                          <a:ea typeface="+mn-ea"/>
                          <a:cs typeface="Arial" panose="020B0604020202020204" pitchFamily="34" charset="0"/>
                        </a:rPr>
                        <a:t>:</a:t>
                      </a:r>
                    </a:p>
                    <a:p>
                      <a:pPr marL="1389888" indent="-342900">
                        <a:buAutoNum type="alphaLcParenBoth"/>
                      </a:pPr>
                      <a:r>
                        <a:rPr lang="en-US" sz="1600" b="0" kern="1200" dirty="0">
                          <a:solidFill>
                            <a:schemeClr val="tx1">
                              <a:lumMod val="65000"/>
                              <a:lumOff val="35000"/>
                            </a:schemeClr>
                          </a:solidFill>
                          <a:effectLst/>
                          <a:highlight>
                            <a:srgbClr val="00FF00"/>
                          </a:highlight>
                          <a:latin typeface="Arial" panose="020B0604020202020204" pitchFamily="34" charset="0"/>
                          <a:ea typeface="+mn-ea"/>
                          <a:cs typeface="Arial" panose="020B0604020202020204" pitchFamily="34" charset="0"/>
                        </a:rPr>
                        <a:t>As a</a:t>
                      </a:r>
                      <a:r>
                        <a:rPr lang="en-US" sz="1600" b="0" kern="1200" dirty="0">
                          <a:solidFill>
                            <a:schemeClr val="tx1">
                              <a:lumMod val="65000"/>
                              <a:lumOff val="35000"/>
                            </a:schemeClr>
                          </a:solidFill>
                          <a:effectLst/>
                          <a:latin typeface="Arial" panose="020B0604020202020204" pitchFamily="34" charset="0"/>
                          <a:ea typeface="+mn-ea"/>
                          <a:cs typeface="Arial" panose="020B0604020202020204" pitchFamily="34" charset="0"/>
                        </a:rPr>
                        <a:t> response to assessed quality risks, based on the reasons for the assessments given to those risks, or (Ref: Para. A104-</a:t>
                      </a:r>
                      <a:r>
                        <a:rPr lang="en-US" sz="1600" b="0" kern="1200" dirty="0">
                          <a:solidFill>
                            <a:schemeClr val="tx1">
                              <a:lumMod val="65000"/>
                              <a:lumOff val="35000"/>
                            </a:schemeClr>
                          </a:solidFill>
                          <a:effectLst/>
                          <a:highlight>
                            <a:srgbClr val="00FF00"/>
                          </a:highlight>
                          <a:latin typeface="Arial" panose="020B0604020202020204" pitchFamily="34" charset="0"/>
                          <a:ea typeface="+mn-ea"/>
                          <a:cs typeface="Arial" panose="020B0604020202020204" pitchFamily="34" charset="0"/>
                        </a:rPr>
                        <a:t>A105x</a:t>
                      </a:r>
                      <a:r>
                        <a:rPr lang="en-US" sz="1600" b="0" kern="1200" dirty="0">
                          <a:solidFill>
                            <a:schemeClr val="tx1">
                              <a:lumMod val="65000"/>
                              <a:lumOff val="35000"/>
                            </a:schemeClr>
                          </a:solidFill>
                          <a:effectLst/>
                          <a:latin typeface="Arial" panose="020B0604020202020204" pitchFamily="34" charset="0"/>
                          <a:ea typeface="+mn-ea"/>
                          <a:cs typeface="Arial" panose="020B0604020202020204" pitchFamily="34" charset="0"/>
                        </a:rPr>
                        <a:t>)</a:t>
                      </a:r>
                    </a:p>
                    <a:p>
                      <a:pPr marL="1389888" indent="-342900">
                        <a:buAutoNum type="alphaLcParenBoth"/>
                      </a:pPr>
                      <a:r>
                        <a:rPr lang="en-US" sz="1600" b="0" kern="1200" dirty="0">
                          <a:solidFill>
                            <a:schemeClr val="tx1">
                              <a:lumMod val="65000"/>
                              <a:lumOff val="35000"/>
                            </a:schemeClr>
                          </a:solidFill>
                          <a:effectLst/>
                          <a:latin typeface="Arial" panose="020B0604020202020204" pitchFamily="34" charset="0"/>
                          <a:ea typeface="+mn-ea"/>
                          <a:cs typeface="Arial" panose="020B0604020202020204" pitchFamily="34" charset="0"/>
                        </a:rPr>
                        <a:t>Due to the nature </a:t>
                      </a:r>
                      <a:r>
                        <a:rPr lang="en-US" sz="1600" b="0" kern="1200" dirty="0">
                          <a:solidFill>
                            <a:schemeClr val="tx1">
                              <a:lumMod val="65000"/>
                              <a:lumOff val="35000"/>
                            </a:schemeClr>
                          </a:solidFill>
                          <a:effectLst/>
                          <a:highlight>
                            <a:srgbClr val="00FF00"/>
                          </a:highlight>
                          <a:latin typeface="Arial" panose="020B0604020202020204" pitchFamily="34" charset="0"/>
                          <a:ea typeface="+mn-ea"/>
                          <a:cs typeface="Arial" panose="020B0604020202020204" pitchFamily="34" charset="0"/>
                        </a:rPr>
                        <a:t>and circumstances</a:t>
                      </a:r>
                      <a:r>
                        <a:rPr lang="en-US" sz="1600" b="0" kern="1200" dirty="0">
                          <a:solidFill>
                            <a:schemeClr val="tx1">
                              <a:lumMod val="65000"/>
                              <a:lumOff val="35000"/>
                            </a:schemeClr>
                          </a:solidFill>
                          <a:effectLst/>
                          <a:latin typeface="Arial" panose="020B0604020202020204" pitchFamily="34" charset="0"/>
                          <a:ea typeface="+mn-ea"/>
                          <a:cs typeface="Arial" panose="020B0604020202020204" pitchFamily="34" charset="0"/>
                        </a:rPr>
                        <a:t> of the </a:t>
                      </a:r>
                      <a:r>
                        <a:rPr lang="en-US" sz="1600" b="0" kern="1200" dirty="0">
                          <a:solidFill>
                            <a:schemeClr val="tx1">
                              <a:lumMod val="65000"/>
                              <a:lumOff val="35000"/>
                            </a:schemeClr>
                          </a:solidFill>
                          <a:effectLst/>
                          <a:highlight>
                            <a:srgbClr val="00FF00"/>
                          </a:highlight>
                          <a:latin typeface="Arial" panose="020B0604020202020204" pitchFamily="34" charset="0"/>
                          <a:ea typeface="+mn-ea"/>
                          <a:cs typeface="Arial" panose="020B0604020202020204" pitchFamily="34" charset="0"/>
                        </a:rPr>
                        <a:t>engagement or the</a:t>
                      </a:r>
                      <a:r>
                        <a:rPr lang="en-US" sz="1600" b="0" kern="1200" dirty="0">
                          <a:solidFill>
                            <a:schemeClr val="tx1">
                              <a:lumMod val="65000"/>
                              <a:lumOff val="35000"/>
                            </a:schemeClr>
                          </a:solidFill>
                          <a:effectLst/>
                          <a:latin typeface="Arial" panose="020B0604020202020204" pitchFamily="34" charset="0"/>
                          <a:ea typeface="+mn-ea"/>
                          <a:cs typeface="Arial" panose="020B0604020202020204" pitchFamily="34" charset="0"/>
                        </a:rPr>
                        <a:t> entity. (Ref: Para. A105A-</a:t>
                      </a:r>
                      <a:r>
                        <a:rPr lang="en-US" sz="1600" b="0" kern="1200" dirty="0">
                          <a:solidFill>
                            <a:schemeClr val="tx1">
                              <a:lumMod val="65000"/>
                              <a:lumOff val="35000"/>
                            </a:schemeClr>
                          </a:solidFill>
                          <a:effectLst/>
                          <a:highlight>
                            <a:srgbClr val="00FF00"/>
                          </a:highlight>
                          <a:latin typeface="Arial" panose="020B0604020202020204" pitchFamily="34" charset="0"/>
                          <a:ea typeface="+mn-ea"/>
                          <a:cs typeface="Arial" panose="020B0604020202020204" pitchFamily="34" charset="0"/>
                        </a:rPr>
                        <a:t>A106</a:t>
                      </a:r>
                      <a:r>
                        <a:rPr lang="en-US" sz="1600" b="0" kern="1200" dirty="0">
                          <a:solidFill>
                            <a:schemeClr val="tx1">
                              <a:lumMod val="65000"/>
                              <a:lumOff val="35000"/>
                            </a:schemeClr>
                          </a:solidFill>
                          <a:effectLst/>
                          <a:latin typeface="Arial" panose="020B0604020202020204" pitchFamily="34" charset="0"/>
                          <a:ea typeface="+mn-ea"/>
                          <a:cs typeface="Arial" panose="020B0604020202020204" pitchFamily="34" charset="0"/>
                        </a:rPr>
                        <a:t>) </a:t>
                      </a:r>
                    </a:p>
                  </a:txBody>
                  <a:tcPr>
                    <a:noFill/>
                  </a:tcPr>
                </a:tc>
                <a:extLst>
                  <a:ext uri="{0D108BD9-81ED-4DB2-BD59-A6C34878D82A}">
                    <a16:rowId xmlns:a16="http://schemas.microsoft.com/office/drawing/2014/main" val="493788776"/>
                  </a:ext>
                </a:extLst>
              </a:tr>
              <a:tr h="290023">
                <a:tc>
                  <a:txBody>
                    <a:bodyPr/>
                    <a:lstStyle/>
                    <a:p>
                      <a:endParaRPr lang="en-US" sz="1600" b="0" kern="1200" dirty="0">
                        <a:solidFill>
                          <a:schemeClr val="tx1">
                            <a:lumMod val="65000"/>
                            <a:lumOff val="35000"/>
                          </a:schemeClr>
                        </a:solidFill>
                        <a:effectLst/>
                        <a:latin typeface="Arial" panose="020B0604020202020204" pitchFamily="34" charset="0"/>
                        <a:ea typeface="+mn-ea"/>
                        <a:cs typeface="Arial" panose="020B0604020202020204" pitchFamily="34" charset="0"/>
                      </a:endParaRPr>
                    </a:p>
                  </a:txBody>
                  <a:tcPr>
                    <a:noFill/>
                  </a:tcPr>
                </a:tc>
                <a:extLst>
                  <a:ext uri="{0D108BD9-81ED-4DB2-BD59-A6C34878D82A}">
                    <a16:rowId xmlns:a16="http://schemas.microsoft.com/office/drawing/2014/main" val="1875781426"/>
                  </a:ext>
                </a:extLst>
              </a:tr>
            </a:tbl>
          </a:graphicData>
        </a:graphic>
      </p:graphicFrame>
      <p:sp>
        <p:nvSpPr>
          <p:cNvPr id="7" name="Title 1">
            <a:extLst>
              <a:ext uri="{FF2B5EF4-FFF2-40B4-BE49-F238E27FC236}">
                <a16:creationId xmlns:a16="http://schemas.microsoft.com/office/drawing/2014/main" id="{D439250E-CDCA-4F78-813F-31F0129D3CAC}"/>
              </a:ext>
            </a:extLst>
          </p:cNvPr>
          <p:cNvSpPr txBox="1">
            <a:spLocks/>
          </p:cNvSpPr>
          <p:nvPr/>
        </p:nvSpPr>
        <p:spPr>
          <a:xfrm>
            <a:off x="0" y="427038"/>
            <a:ext cx="9144000" cy="404812"/>
          </a:xfrm>
          <a:prstGeom prst="rect">
            <a:avLst/>
          </a:prstGeom>
        </p:spPr>
        <p:txBody>
          <a:bodyPr anchor="ct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Scope of Engagements Subject to EQ Review (Cont.)</a:t>
            </a:r>
          </a:p>
        </p:txBody>
      </p:sp>
      <p:sp>
        <p:nvSpPr>
          <p:cNvPr id="9" name="Slide Number Placeholder 5">
            <a:extLst>
              <a:ext uri="{FF2B5EF4-FFF2-40B4-BE49-F238E27FC236}">
                <a16:creationId xmlns:a16="http://schemas.microsoft.com/office/drawing/2014/main" id="{B310E0CF-E872-40AA-B794-E20D815AF7CD}"/>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4</a:t>
            </a:fld>
            <a:endParaRPr lang="en-US" sz="675" dirty="0">
              <a:solidFill>
                <a:srgbClr val="808080"/>
              </a:solidFill>
              <a:latin typeface="Arial" panose="020B0604020202020204" pitchFamily="34" charset="0"/>
            </a:endParaRPr>
          </a:p>
        </p:txBody>
      </p:sp>
    </p:spTree>
    <p:extLst>
      <p:ext uri="{BB962C8B-B14F-4D97-AF65-F5344CB8AC3E}">
        <p14:creationId xmlns:p14="http://schemas.microsoft.com/office/powerpoint/2010/main" val="14270700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1"/>
          <p:cNvSpPr txBox="1">
            <a:spLocks/>
          </p:cNvSpPr>
          <p:nvPr/>
        </p:nvSpPr>
        <p:spPr>
          <a:xfrm>
            <a:off x="323497" y="1075038"/>
            <a:ext cx="8497006" cy="1867454"/>
          </a:xfrm>
          <a:prstGeom prst="rect">
            <a:avLst/>
          </a:prstGeom>
          <a:noFill/>
          <a:ln w="38100" cap="flat">
            <a:solidFill>
              <a:schemeClr val="tx1">
                <a:lumMod val="65000"/>
                <a:lumOff val="35000"/>
              </a:schemeClr>
            </a:solidFill>
          </a:ln>
        </p:spPr>
        <p:txBody>
          <a:bodyPr anchor="ctr" anchorCtr="0"/>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marL="0" indent="0" algn="just">
              <a:lnSpc>
                <a:spcPts val="2400"/>
              </a:lnSpc>
              <a:spcBef>
                <a:spcPts val="600"/>
              </a:spcBef>
              <a:spcAft>
                <a:spcPts val="0"/>
              </a:spcAft>
              <a:buNone/>
            </a:pPr>
            <a:r>
              <a:rPr lang="en-US" b="1" dirty="0">
                <a:solidFill>
                  <a:schemeClr val="tx1">
                    <a:lumMod val="65000"/>
                    <a:lumOff val="35000"/>
                  </a:schemeClr>
                </a:solidFill>
                <a:latin typeface="Arial" panose="020B0604020202020204" pitchFamily="34" charset="0"/>
                <a:cs typeface="Arial" panose="020B0604020202020204" pitchFamily="34" charset="0"/>
              </a:rPr>
              <a:t>Matter for IAASB Consideration</a:t>
            </a:r>
          </a:p>
          <a:p>
            <a:pPr marL="347472" lvl="0" indent="-347472" algn="just">
              <a:lnSpc>
                <a:spcPts val="2400"/>
              </a:lnSpc>
              <a:spcBef>
                <a:spcPts val="600"/>
              </a:spcBef>
              <a:spcAft>
                <a:spcPts val="0"/>
              </a:spcAft>
              <a:buFont typeface="+mj-lt"/>
              <a:buAutoNum type="arabicPeriod"/>
            </a:pPr>
            <a:r>
              <a:rPr lang="en-US" sz="2000" dirty="0">
                <a:solidFill>
                  <a:schemeClr val="tx1">
                    <a:lumMod val="65000"/>
                    <a:lumOff val="35000"/>
                  </a:schemeClr>
                </a:solidFill>
                <a:latin typeface="Arial" panose="020B0604020202020204" pitchFamily="34" charset="0"/>
                <a:cs typeface="Arial" panose="020B0604020202020204" pitchFamily="34" charset="0"/>
              </a:rPr>
              <a:t>Does the IAASB support the proposed changes to the requirements in paragraph 41A(c) of proposed ISQM 1 and related application material, relating to the scope of engagements subject to an EQ review? </a:t>
            </a:r>
            <a:r>
              <a:rPr lang="en-US" sz="2000" i="1" dirty="0">
                <a:solidFill>
                  <a:schemeClr val="tx1">
                    <a:lumMod val="65000"/>
                    <a:lumOff val="35000"/>
                  </a:schemeClr>
                </a:solidFill>
                <a:latin typeface="Arial" panose="020B0604020202020204" pitchFamily="34" charset="0"/>
                <a:cs typeface="Arial" panose="020B0604020202020204" pitchFamily="34" charset="0"/>
              </a:rPr>
              <a:t>(see Section II-A of </a:t>
            </a:r>
            <a:r>
              <a:rPr lang="en-US" sz="2000" b="1" i="1" dirty="0">
                <a:solidFill>
                  <a:schemeClr val="tx1">
                    <a:lumMod val="65000"/>
                    <a:lumOff val="35000"/>
                  </a:schemeClr>
                </a:solidFill>
                <a:latin typeface="Arial" panose="020B0604020202020204" pitchFamily="34" charset="0"/>
                <a:cs typeface="Arial" panose="020B0604020202020204" pitchFamily="34" charset="0"/>
              </a:rPr>
              <a:t>Agenda Item 8</a:t>
            </a:r>
            <a:r>
              <a:rPr lang="en-US" sz="2000" i="1" dirty="0">
                <a:solidFill>
                  <a:schemeClr val="tx1">
                    <a:lumMod val="65000"/>
                    <a:lumOff val="35000"/>
                  </a:schemeClr>
                </a:solidFill>
                <a:latin typeface="Arial" panose="020B0604020202020204" pitchFamily="34" charset="0"/>
                <a:cs typeface="Arial" panose="020B0604020202020204" pitchFamily="34" charset="0"/>
              </a:rPr>
              <a:t>)</a:t>
            </a:r>
          </a:p>
        </p:txBody>
      </p:sp>
      <p:sp>
        <p:nvSpPr>
          <p:cNvPr id="7" name="Title 1">
            <a:extLst>
              <a:ext uri="{FF2B5EF4-FFF2-40B4-BE49-F238E27FC236}">
                <a16:creationId xmlns:a16="http://schemas.microsoft.com/office/drawing/2014/main" id="{D439250E-CDCA-4F78-813F-31F0129D3CAC}"/>
              </a:ext>
            </a:extLst>
          </p:cNvPr>
          <p:cNvSpPr txBox="1">
            <a:spLocks/>
          </p:cNvSpPr>
          <p:nvPr/>
        </p:nvSpPr>
        <p:spPr>
          <a:xfrm>
            <a:off x="0" y="427038"/>
            <a:ext cx="9144000" cy="404812"/>
          </a:xfrm>
          <a:prstGeom prst="rect">
            <a:avLst/>
          </a:prstGeom>
        </p:spPr>
        <p:txBody>
          <a:bodyPr anchor="ct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Scope of Engagements Subject to EQ Review (Cont.)</a:t>
            </a:r>
          </a:p>
        </p:txBody>
      </p:sp>
      <p:sp>
        <p:nvSpPr>
          <p:cNvPr id="9" name="Slide Number Placeholder 5">
            <a:extLst>
              <a:ext uri="{FF2B5EF4-FFF2-40B4-BE49-F238E27FC236}">
                <a16:creationId xmlns:a16="http://schemas.microsoft.com/office/drawing/2014/main" id="{B310E0CF-E872-40AA-B794-E20D815AF7CD}"/>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5</a:t>
            </a:fld>
            <a:endParaRPr lang="en-US" sz="675" dirty="0">
              <a:solidFill>
                <a:srgbClr val="808080"/>
              </a:solidFill>
              <a:latin typeface="Arial" panose="020B0604020202020204" pitchFamily="34" charset="0"/>
            </a:endParaRPr>
          </a:p>
        </p:txBody>
      </p:sp>
    </p:spTree>
    <p:extLst>
      <p:ext uri="{BB962C8B-B14F-4D97-AF65-F5344CB8AC3E}">
        <p14:creationId xmlns:p14="http://schemas.microsoft.com/office/powerpoint/2010/main" val="29948735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527520874"/>
              </p:ext>
            </p:extLst>
          </p:nvPr>
        </p:nvGraphicFramePr>
        <p:xfrm>
          <a:off x="429437" y="1000897"/>
          <a:ext cx="8340094" cy="3802011"/>
        </p:xfrm>
        <a:graphic>
          <a:graphicData uri="http://schemas.openxmlformats.org/drawingml/2006/table">
            <a:tbl>
              <a:tblPr firstRow="1" bandRow="1">
                <a:tableStyleId>{5C22544A-7EE6-4342-B048-85BDC9FD1C3A}</a:tableStyleId>
              </a:tblPr>
              <a:tblGrid>
                <a:gridCol w="8340094">
                  <a:extLst>
                    <a:ext uri="{9D8B030D-6E8A-4147-A177-3AD203B41FA5}">
                      <a16:colId xmlns:a16="http://schemas.microsoft.com/office/drawing/2014/main" val="713251629"/>
                    </a:ext>
                  </a:extLst>
                </a:gridCol>
              </a:tblGrid>
              <a:tr h="3802011">
                <a:tc>
                  <a:txBody>
                    <a:bodyPr/>
                    <a:lstStyle/>
                    <a:p>
                      <a:pPr algn="l">
                        <a:lnSpc>
                          <a:spcPts val="2400"/>
                        </a:lnSpc>
                        <a:spcBef>
                          <a:spcPts val="600"/>
                        </a:spcBef>
                        <a:spcAft>
                          <a:spcPts val="0"/>
                        </a:spcAft>
                      </a:pPr>
                      <a:r>
                        <a:rPr lang="en-CA" sz="2400" b="1" i="0" kern="1200" dirty="0">
                          <a:solidFill>
                            <a:schemeClr val="tx1">
                              <a:lumMod val="65000"/>
                              <a:lumOff val="35000"/>
                            </a:schemeClr>
                          </a:solidFill>
                          <a:effectLst/>
                          <a:latin typeface="Arial" panose="020B0604020202020204" pitchFamily="34" charset="0"/>
                          <a:ea typeface="+mn-ea"/>
                          <a:cs typeface="Arial" panose="020B0604020202020204" pitchFamily="34" charset="0"/>
                        </a:rPr>
                        <a:t>Task Force’s Revised Proposals: </a:t>
                      </a:r>
                      <a:r>
                        <a:rPr lang="en-US" sz="2400" b="0" i="1" kern="1200" dirty="0">
                          <a:solidFill>
                            <a:schemeClr val="tx1">
                              <a:lumMod val="65000"/>
                              <a:lumOff val="35000"/>
                            </a:schemeClr>
                          </a:solidFill>
                          <a:effectLst/>
                          <a:latin typeface="Arial" panose="020B0604020202020204" pitchFamily="34" charset="0"/>
                          <a:ea typeface="+mn-ea"/>
                          <a:cs typeface="Arial" panose="020B0604020202020204" pitchFamily="34" charset="0"/>
                        </a:rPr>
                        <a:t>(see Section II-B of </a:t>
                      </a:r>
                      <a:r>
                        <a:rPr lang="en-US" sz="2400" b="1" i="1" kern="1200" dirty="0">
                          <a:solidFill>
                            <a:schemeClr val="tx1">
                              <a:lumMod val="65000"/>
                              <a:lumOff val="35000"/>
                            </a:schemeClr>
                          </a:solidFill>
                          <a:effectLst/>
                          <a:latin typeface="Arial" panose="020B0604020202020204" pitchFamily="34" charset="0"/>
                          <a:ea typeface="+mn-ea"/>
                          <a:cs typeface="Arial" panose="020B0604020202020204" pitchFamily="34" charset="0"/>
                        </a:rPr>
                        <a:t>Agenda Item 8</a:t>
                      </a:r>
                      <a:r>
                        <a:rPr lang="en-US" sz="2400" b="0" i="1" kern="1200" dirty="0">
                          <a:solidFill>
                            <a:schemeClr val="tx1">
                              <a:lumMod val="65000"/>
                              <a:lumOff val="35000"/>
                            </a:schemeClr>
                          </a:solidFill>
                          <a:effectLst/>
                          <a:latin typeface="Arial" panose="020B0604020202020204" pitchFamily="34" charset="0"/>
                          <a:ea typeface="+mn-ea"/>
                          <a:cs typeface="Arial" panose="020B0604020202020204" pitchFamily="34" charset="0"/>
                        </a:rPr>
                        <a:t>)</a:t>
                      </a:r>
                      <a:endParaRPr lang="en-CA" sz="2400" b="1" i="1" kern="1200" dirty="0">
                        <a:solidFill>
                          <a:schemeClr val="tx1">
                            <a:lumMod val="65000"/>
                            <a:lumOff val="35000"/>
                          </a:schemeClr>
                        </a:solidFill>
                        <a:effectLst/>
                        <a:latin typeface="Arial" panose="020B0604020202020204" pitchFamily="34" charset="0"/>
                        <a:ea typeface="+mn-ea"/>
                        <a:cs typeface="Arial" panose="020B0604020202020204" pitchFamily="34" charset="0"/>
                      </a:endParaRPr>
                    </a:p>
                    <a:p>
                      <a:pPr marL="347472" lvl="0" indent="-347472" algn="just">
                        <a:lnSpc>
                          <a:spcPts val="2400"/>
                        </a:lnSpc>
                        <a:spcBef>
                          <a:spcPts val="600"/>
                        </a:spcBef>
                        <a:spcAft>
                          <a:spcPts val="0"/>
                        </a:spcAft>
                        <a:buFont typeface="Arial" panose="020B0604020202020204" pitchFamily="34" charset="0"/>
                        <a:buChar char="•"/>
                      </a:pPr>
                      <a:r>
                        <a:rPr lang="en-US" sz="2000" b="0" kern="1200" dirty="0">
                          <a:solidFill>
                            <a:schemeClr val="tx1">
                              <a:lumMod val="65000"/>
                              <a:lumOff val="35000"/>
                            </a:schemeClr>
                          </a:solidFill>
                          <a:effectLst/>
                          <a:latin typeface="Arial" panose="020B0604020202020204" pitchFamily="34" charset="0"/>
                          <a:ea typeface="+mn-ea"/>
                          <a:cs typeface="Arial" panose="020B0604020202020204" pitchFamily="34" charset="0"/>
                        </a:rPr>
                        <a:t>Specify a cooling-off period of two years, or a longer period if required by relevant ethical requirements, before an engagement partner can assume the role of EQ reviewer</a:t>
                      </a:r>
                    </a:p>
                    <a:p>
                      <a:pPr marL="347472" lvl="0" indent="-347472" algn="just">
                        <a:lnSpc>
                          <a:spcPts val="2400"/>
                        </a:lnSpc>
                        <a:spcBef>
                          <a:spcPts val="600"/>
                        </a:spcBef>
                        <a:spcAft>
                          <a:spcPts val="0"/>
                        </a:spcAft>
                        <a:buFont typeface="Arial" panose="020B0604020202020204" pitchFamily="34" charset="0"/>
                        <a:buChar char="•"/>
                      </a:pPr>
                      <a:r>
                        <a:rPr lang="en-US" sz="2000" b="0" kern="1200" dirty="0">
                          <a:solidFill>
                            <a:schemeClr val="tx1">
                              <a:lumMod val="65000"/>
                              <a:lumOff val="35000"/>
                            </a:schemeClr>
                          </a:solidFill>
                          <a:effectLst/>
                          <a:latin typeface="Arial" panose="020B0604020202020204" pitchFamily="34" charset="0"/>
                          <a:ea typeface="+mn-ea"/>
                          <a:cs typeface="Arial" panose="020B0604020202020204" pitchFamily="34" charset="0"/>
                        </a:rPr>
                        <a:t>Apply  such requirement to all engagements for which an EQ review is performed</a:t>
                      </a:r>
                    </a:p>
                    <a:p>
                      <a:pPr marL="347472" lvl="0" indent="-347472" algn="just">
                        <a:lnSpc>
                          <a:spcPts val="2400"/>
                        </a:lnSpc>
                        <a:spcBef>
                          <a:spcPts val="600"/>
                        </a:spcBef>
                        <a:spcAft>
                          <a:spcPts val="0"/>
                        </a:spcAft>
                        <a:buFont typeface="Arial" panose="020B0604020202020204" pitchFamily="34" charset="0"/>
                        <a:buChar char="•"/>
                      </a:pPr>
                      <a:r>
                        <a:rPr lang="en-US" sz="2000" b="0" kern="1200" dirty="0">
                          <a:solidFill>
                            <a:schemeClr val="tx1">
                              <a:lumMod val="65000"/>
                              <a:lumOff val="35000"/>
                            </a:schemeClr>
                          </a:solidFill>
                          <a:effectLst/>
                          <a:latin typeface="Arial" panose="020B0604020202020204" pitchFamily="34" charset="0"/>
                          <a:ea typeface="+mn-ea"/>
                          <a:cs typeface="Arial" panose="020B0604020202020204" pitchFamily="34" charset="0"/>
                        </a:rPr>
                        <a:t>Revise application material supporting the requirement in paragraph 16A</a:t>
                      </a:r>
                    </a:p>
                    <a:p>
                      <a:pPr marL="347472" lvl="0" indent="-347472" algn="just">
                        <a:lnSpc>
                          <a:spcPts val="2400"/>
                        </a:lnSpc>
                        <a:spcBef>
                          <a:spcPts val="600"/>
                        </a:spcBef>
                        <a:spcAft>
                          <a:spcPts val="0"/>
                        </a:spcAft>
                        <a:buFont typeface="Arial" panose="020B0604020202020204" pitchFamily="34" charset="0"/>
                        <a:buChar char="•"/>
                      </a:pPr>
                      <a:r>
                        <a:rPr lang="en-US" sz="2000" b="0" kern="1200" dirty="0">
                          <a:solidFill>
                            <a:schemeClr val="tx1">
                              <a:lumMod val="65000"/>
                              <a:lumOff val="35000"/>
                            </a:schemeClr>
                          </a:solidFill>
                          <a:effectLst/>
                          <a:latin typeface="Arial" panose="020B0604020202020204" pitchFamily="34" charset="0"/>
                          <a:ea typeface="+mn-ea"/>
                          <a:cs typeface="Arial" panose="020B0604020202020204" pitchFamily="34" charset="0"/>
                        </a:rPr>
                        <a:t>Coordinate with and obtain feedback from IESBA Staff and Board representatives</a:t>
                      </a:r>
                    </a:p>
                  </a:txBody>
                  <a:tcPr>
                    <a:noFill/>
                  </a:tcPr>
                </a:tc>
                <a:extLst>
                  <a:ext uri="{0D108BD9-81ED-4DB2-BD59-A6C34878D82A}">
                    <a16:rowId xmlns:a16="http://schemas.microsoft.com/office/drawing/2014/main" val="493788776"/>
                  </a:ext>
                </a:extLst>
              </a:tr>
            </a:tbl>
          </a:graphicData>
        </a:graphic>
      </p:graphicFrame>
      <p:sp>
        <p:nvSpPr>
          <p:cNvPr id="7" name="Title 1">
            <a:extLst>
              <a:ext uri="{FF2B5EF4-FFF2-40B4-BE49-F238E27FC236}">
                <a16:creationId xmlns:a16="http://schemas.microsoft.com/office/drawing/2014/main" id="{D439250E-CDCA-4F78-813F-31F0129D3CAC}"/>
              </a:ext>
            </a:extLst>
          </p:cNvPr>
          <p:cNvSpPr txBox="1">
            <a:spLocks/>
          </p:cNvSpPr>
          <p:nvPr/>
        </p:nvSpPr>
        <p:spPr>
          <a:xfrm>
            <a:off x="0" y="427038"/>
            <a:ext cx="9144000" cy="404812"/>
          </a:xfrm>
          <a:prstGeom prst="rect">
            <a:avLst/>
          </a:prstGeom>
        </p:spPr>
        <p:txBody>
          <a:bodyPr anchor="ct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Objectivity and Cooling-off Period</a:t>
            </a:r>
          </a:p>
        </p:txBody>
      </p:sp>
      <p:sp>
        <p:nvSpPr>
          <p:cNvPr id="9" name="Slide Number Placeholder 5">
            <a:extLst>
              <a:ext uri="{FF2B5EF4-FFF2-40B4-BE49-F238E27FC236}">
                <a16:creationId xmlns:a16="http://schemas.microsoft.com/office/drawing/2014/main" id="{B310E0CF-E872-40AA-B794-E20D815AF7CD}"/>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6</a:t>
            </a:fld>
            <a:endParaRPr lang="en-US" sz="675" dirty="0">
              <a:solidFill>
                <a:srgbClr val="808080"/>
              </a:solidFill>
              <a:latin typeface="Arial" panose="020B0604020202020204" pitchFamily="34" charset="0"/>
            </a:endParaRPr>
          </a:p>
        </p:txBody>
      </p:sp>
    </p:spTree>
    <p:extLst>
      <p:ext uri="{BB962C8B-B14F-4D97-AF65-F5344CB8AC3E}">
        <p14:creationId xmlns:p14="http://schemas.microsoft.com/office/powerpoint/2010/main" val="12878994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518207775"/>
              </p:ext>
            </p:extLst>
          </p:nvPr>
        </p:nvGraphicFramePr>
        <p:xfrm>
          <a:off x="432619" y="841727"/>
          <a:ext cx="8336912" cy="3961181"/>
        </p:xfrm>
        <a:graphic>
          <a:graphicData uri="http://schemas.openxmlformats.org/drawingml/2006/table">
            <a:tbl>
              <a:tblPr firstRow="1" bandRow="1">
                <a:tableStyleId>{5C22544A-7EE6-4342-B048-85BDC9FD1C3A}</a:tableStyleId>
              </a:tblPr>
              <a:tblGrid>
                <a:gridCol w="8336912">
                  <a:extLst>
                    <a:ext uri="{9D8B030D-6E8A-4147-A177-3AD203B41FA5}">
                      <a16:colId xmlns:a16="http://schemas.microsoft.com/office/drawing/2014/main" val="713251629"/>
                    </a:ext>
                  </a:extLst>
                </a:gridCol>
              </a:tblGrid>
              <a:tr h="3961181">
                <a:tc>
                  <a:txBody>
                    <a:bodyPr/>
                    <a:lstStyle/>
                    <a:p>
                      <a:pPr marL="0" lvl="0" indent="0" algn="just">
                        <a:lnSpc>
                          <a:spcPts val="2200"/>
                        </a:lnSpc>
                        <a:spcBef>
                          <a:spcPts val="600"/>
                        </a:spcBef>
                        <a:spcAft>
                          <a:spcPts val="0"/>
                        </a:spcAft>
                        <a:buFont typeface="Arial" panose="020B0604020202020204" pitchFamily="34" charset="0"/>
                        <a:buNone/>
                      </a:pPr>
                      <a:endParaRPr lang="en-US" sz="2000" b="0" kern="1200" dirty="0">
                        <a:solidFill>
                          <a:schemeClr val="tx1">
                            <a:lumMod val="65000"/>
                            <a:lumOff val="35000"/>
                          </a:schemeClr>
                        </a:solidFill>
                        <a:effectLst/>
                        <a:latin typeface="Arial" panose="020B0604020202020204" pitchFamily="34" charset="0"/>
                        <a:ea typeface="+mn-ea"/>
                        <a:cs typeface="Arial" panose="020B0604020202020204" pitchFamily="34" charset="0"/>
                      </a:endParaRPr>
                    </a:p>
                    <a:p>
                      <a:pPr marL="347472" lvl="0" indent="-347472" algn="just">
                        <a:lnSpc>
                          <a:spcPts val="2200"/>
                        </a:lnSpc>
                        <a:spcBef>
                          <a:spcPts val="600"/>
                        </a:spcBef>
                        <a:spcAft>
                          <a:spcPts val="0"/>
                        </a:spcAft>
                        <a:buFont typeface="Arial" panose="020B0604020202020204" pitchFamily="34" charset="0"/>
                        <a:buChar char="•"/>
                      </a:pPr>
                      <a:r>
                        <a:rPr lang="en-US" sz="2000" b="0" kern="1200" dirty="0">
                          <a:solidFill>
                            <a:schemeClr val="tx1">
                              <a:lumMod val="65000"/>
                              <a:lumOff val="35000"/>
                            </a:schemeClr>
                          </a:solidFill>
                          <a:effectLst/>
                          <a:latin typeface="Arial" panose="020B0604020202020204" pitchFamily="34" charset="0"/>
                          <a:ea typeface="+mn-ea"/>
                          <a:cs typeface="Arial" panose="020B0604020202020204" pitchFamily="34" charset="0"/>
                        </a:rPr>
                        <a:t>New ED approved on EQ reviewer objectivity:</a:t>
                      </a:r>
                    </a:p>
                    <a:p>
                      <a:pPr marL="690372" lvl="1" indent="-347472" algn="just">
                        <a:lnSpc>
                          <a:spcPts val="2400"/>
                        </a:lnSpc>
                        <a:spcBef>
                          <a:spcPts val="600"/>
                        </a:spcBef>
                        <a:buFont typeface="Courier New" panose="02070309020205020404" pitchFamily="49" charset="0"/>
                        <a:buChar char="o"/>
                      </a:pPr>
                      <a:r>
                        <a:rPr lang="en-US" sz="1800" b="0" kern="1200" dirty="0">
                          <a:solidFill>
                            <a:schemeClr val="tx1">
                              <a:lumMod val="65000"/>
                              <a:lumOff val="35000"/>
                            </a:schemeClr>
                          </a:solidFill>
                          <a:effectLst/>
                          <a:latin typeface="Arial" panose="020B0604020202020204" pitchFamily="34" charset="0"/>
                          <a:ea typeface="+mn-ea"/>
                          <a:cs typeface="Arial" panose="020B0604020202020204" pitchFamily="34" charset="0"/>
                        </a:rPr>
                        <a:t>Unanimously approved the project proposal and ED to change Section 120 of the IESBA Code to address the EQ reviewer objectivity</a:t>
                      </a:r>
                    </a:p>
                    <a:p>
                      <a:pPr marL="690372" lvl="1" indent="-347472" algn="just">
                        <a:lnSpc>
                          <a:spcPts val="2400"/>
                        </a:lnSpc>
                        <a:spcBef>
                          <a:spcPts val="600"/>
                        </a:spcBef>
                        <a:buFont typeface="Courier New" panose="02070309020205020404" pitchFamily="49" charset="0"/>
                        <a:buChar char="o"/>
                      </a:pPr>
                      <a:r>
                        <a:rPr lang="en-US" sz="1800" b="0" kern="1200" dirty="0">
                          <a:solidFill>
                            <a:schemeClr val="tx1">
                              <a:lumMod val="65000"/>
                              <a:lumOff val="35000"/>
                            </a:schemeClr>
                          </a:solidFill>
                          <a:effectLst/>
                          <a:latin typeface="Arial" panose="020B0604020202020204" pitchFamily="34" charset="0"/>
                          <a:ea typeface="+mn-ea"/>
                          <a:cs typeface="Arial" panose="020B0604020202020204" pitchFamily="34" charset="0"/>
                        </a:rPr>
                        <a:t>Aims to release the ED by end of January 2020 for a 45-day accelerated consultation period</a:t>
                      </a:r>
                    </a:p>
                    <a:p>
                      <a:pPr marL="690372" lvl="1" indent="-347472" algn="just">
                        <a:lnSpc>
                          <a:spcPts val="2400"/>
                        </a:lnSpc>
                        <a:spcBef>
                          <a:spcPts val="600"/>
                        </a:spcBef>
                        <a:buFont typeface="Courier New" panose="02070309020205020404" pitchFamily="49" charset="0"/>
                        <a:buChar char="o"/>
                      </a:pPr>
                      <a:r>
                        <a:rPr lang="en-US" sz="1800" b="0" kern="1200" dirty="0">
                          <a:solidFill>
                            <a:schemeClr val="tx1">
                              <a:lumMod val="65000"/>
                              <a:lumOff val="35000"/>
                            </a:schemeClr>
                          </a:solidFill>
                          <a:effectLst/>
                          <a:latin typeface="Arial" panose="020B0604020202020204" pitchFamily="34" charset="0"/>
                          <a:ea typeface="+mn-ea"/>
                          <a:cs typeface="Arial" panose="020B0604020202020204" pitchFamily="34" charset="0"/>
                        </a:rPr>
                        <a:t>Intent is for the IESBA to be in a position to adopt a final pronouncement in September 2020</a:t>
                      </a:r>
                    </a:p>
                  </a:txBody>
                  <a:tcPr anchor="ctr">
                    <a:noFill/>
                  </a:tcPr>
                </a:tc>
                <a:extLst>
                  <a:ext uri="{0D108BD9-81ED-4DB2-BD59-A6C34878D82A}">
                    <a16:rowId xmlns:a16="http://schemas.microsoft.com/office/drawing/2014/main" val="493788776"/>
                  </a:ext>
                </a:extLst>
              </a:tr>
            </a:tbl>
          </a:graphicData>
        </a:graphic>
      </p:graphicFrame>
      <p:sp>
        <p:nvSpPr>
          <p:cNvPr id="7" name="Title 1">
            <a:extLst>
              <a:ext uri="{FF2B5EF4-FFF2-40B4-BE49-F238E27FC236}">
                <a16:creationId xmlns:a16="http://schemas.microsoft.com/office/drawing/2014/main" id="{D439250E-CDCA-4F78-813F-31F0129D3CAC}"/>
              </a:ext>
            </a:extLst>
          </p:cNvPr>
          <p:cNvSpPr txBox="1">
            <a:spLocks/>
          </p:cNvSpPr>
          <p:nvPr/>
        </p:nvSpPr>
        <p:spPr>
          <a:xfrm>
            <a:off x="0" y="427038"/>
            <a:ext cx="9144000" cy="404812"/>
          </a:xfrm>
          <a:prstGeom prst="rect">
            <a:avLst/>
          </a:prstGeom>
          <a:ln>
            <a:noFill/>
          </a:ln>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IESBA Coordination Update on EQ Reviewer Objectivity</a:t>
            </a:r>
          </a:p>
        </p:txBody>
      </p:sp>
      <p:sp>
        <p:nvSpPr>
          <p:cNvPr id="9" name="Slide Number Placeholder 5">
            <a:extLst>
              <a:ext uri="{FF2B5EF4-FFF2-40B4-BE49-F238E27FC236}">
                <a16:creationId xmlns:a16="http://schemas.microsoft.com/office/drawing/2014/main" id="{B310E0CF-E872-40AA-B794-E20D815AF7CD}"/>
              </a:ext>
            </a:extLst>
          </p:cNvPr>
          <p:cNvSpPr txBox="1">
            <a:spLocks/>
          </p:cNvSpPr>
          <p:nvPr/>
        </p:nvSpPr>
        <p:spPr>
          <a:xfrm>
            <a:off x="5928852" y="4883295"/>
            <a:ext cx="2757948" cy="228309"/>
          </a:xfrm>
          <a:prstGeom prst="rect">
            <a:avLst/>
          </a:prstGeom>
          <a:ln>
            <a:noFill/>
          </a:ln>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7</a:t>
            </a:fld>
            <a:endParaRPr lang="en-US" sz="675" dirty="0">
              <a:solidFill>
                <a:srgbClr val="808080"/>
              </a:solidFill>
              <a:latin typeface="Arial" panose="020B0604020202020204" pitchFamily="34" charset="0"/>
            </a:endParaRPr>
          </a:p>
        </p:txBody>
      </p:sp>
      <p:sp>
        <p:nvSpPr>
          <p:cNvPr id="3" name="Speech Bubble: Rectangle with Corners Rounded 2">
            <a:extLst>
              <a:ext uri="{FF2B5EF4-FFF2-40B4-BE49-F238E27FC236}">
                <a16:creationId xmlns:a16="http://schemas.microsoft.com/office/drawing/2014/main" id="{44B1261E-9936-48B2-90AA-4F830520EE91}"/>
              </a:ext>
            </a:extLst>
          </p:cNvPr>
          <p:cNvSpPr/>
          <p:nvPr/>
        </p:nvSpPr>
        <p:spPr>
          <a:xfrm>
            <a:off x="6200228" y="1052914"/>
            <a:ext cx="2215195" cy="666052"/>
          </a:xfrm>
          <a:prstGeom prst="wedgeRoundRectCallout">
            <a:avLst>
              <a:gd name="adj1" fmla="val -52358"/>
              <a:gd name="adj2" fmla="val 103889"/>
              <a:gd name="adj3" fmla="val 16667"/>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lang="en-US" sz="1800" b="1" dirty="0">
                <a:latin typeface="Arial" panose="020B0604020202020204" pitchFamily="34" charset="0"/>
                <a:cs typeface="Arial" panose="020B0604020202020204" pitchFamily="34" charset="0"/>
              </a:rPr>
              <a:t>Refer to handout.</a:t>
            </a:r>
          </a:p>
        </p:txBody>
      </p:sp>
    </p:spTree>
    <p:extLst>
      <p:ext uri="{BB962C8B-B14F-4D97-AF65-F5344CB8AC3E}">
        <p14:creationId xmlns:p14="http://schemas.microsoft.com/office/powerpoint/2010/main" val="348527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972917461"/>
              </p:ext>
            </p:extLst>
          </p:nvPr>
        </p:nvGraphicFramePr>
        <p:xfrm>
          <a:off x="432619" y="841727"/>
          <a:ext cx="8336912" cy="3961181"/>
        </p:xfrm>
        <a:graphic>
          <a:graphicData uri="http://schemas.openxmlformats.org/drawingml/2006/table">
            <a:tbl>
              <a:tblPr firstRow="1" bandRow="1">
                <a:tableStyleId>{5C22544A-7EE6-4342-B048-85BDC9FD1C3A}</a:tableStyleId>
              </a:tblPr>
              <a:tblGrid>
                <a:gridCol w="8336912">
                  <a:extLst>
                    <a:ext uri="{9D8B030D-6E8A-4147-A177-3AD203B41FA5}">
                      <a16:colId xmlns:a16="http://schemas.microsoft.com/office/drawing/2014/main" val="713251629"/>
                    </a:ext>
                  </a:extLst>
                </a:gridCol>
              </a:tblGrid>
              <a:tr h="3961181">
                <a:tc>
                  <a:txBody>
                    <a:bodyPr/>
                    <a:lstStyle/>
                    <a:p>
                      <a:pPr marL="342900" marR="0" lvl="0" indent="-342900" algn="just" defTabSz="342900" rtl="0" eaLnBrk="1" fontAlgn="auto" latinLnBrk="0" hangingPunct="1">
                        <a:lnSpc>
                          <a:spcPts val="2400"/>
                        </a:lnSpc>
                        <a:spcBef>
                          <a:spcPts val="600"/>
                        </a:spcBef>
                        <a:spcAft>
                          <a:spcPts val="0"/>
                        </a:spcAft>
                        <a:buClrTx/>
                        <a:buSzTx/>
                        <a:buFont typeface="Arial" panose="020B0604020202020204" pitchFamily="34" charset="0"/>
                        <a:buChar char="•"/>
                        <a:tabLst/>
                        <a:defRPr/>
                      </a:pPr>
                      <a:r>
                        <a:rPr lang="en-US" sz="2000" b="0" i="0" u="none" kern="1200" dirty="0">
                          <a:solidFill>
                            <a:schemeClr val="tx1">
                              <a:lumMod val="65000"/>
                              <a:lumOff val="35000"/>
                            </a:schemeClr>
                          </a:solidFill>
                          <a:effectLst/>
                          <a:latin typeface="Arial" panose="020B0604020202020204" pitchFamily="34" charset="0"/>
                          <a:ea typeface="+mn-ea"/>
                          <a:cs typeface="Arial" panose="020B0604020202020204" pitchFamily="34" charset="0"/>
                        </a:rPr>
                        <a:t>Proposed adding application material at the end of Section 120 of the IESBA Code to describe:</a:t>
                      </a:r>
                    </a:p>
                    <a:p>
                      <a:pPr marL="342900" lvl="1" indent="0" algn="just">
                        <a:lnSpc>
                          <a:spcPts val="2400"/>
                        </a:lnSpc>
                        <a:spcBef>
                          <a:spcPts val="600"/>
                        </a:spcBef>
                        <a:spcAft>
                          <a:spcPts val="0"/>
                        </a:spcAft>
                        <a:buFont typeface="Arial" panose="020B0604020202020204" pitchFamily="34" charset="0"/>
                        <a:buNone/>
                      </a:pPr>
                      <a:r>
                        <a:rPr lang="en-US" sz="2000" b="1" i="0" u="none" kern="1200" dirty="0">
                          <a:solidFill>
                            <a:schemeClr val="tx1">
                              <a:lumMod val="65000"/>
                              <a:lumOff val="35000"/>
                            </a:schemeClr>
                          </a:solidFill>
                          <a:effectLst/>
                          <a:latin typeface="Arial" panose="020B0604020202020204" pitchFamily="34" charset="0"/>
                          <a:ea typeface="+mn-ea"/>
                          <a:cs typeface="Arial" panose="020B0604020202020204" pitchFamily="34" charset="0"/>
                        </a:rPr>
                        <a:t>Section 120 The Conceptual Framework</a:t>
                      </a:r>
                      <a:endParaRPr lang="en-US" sz="2400" b="1" i="0" u="none" kern="1200" dirty="0">
                        <a:solidFill>
                          <a:schemeClr val="tx1">
                            <a:lumMod val="65000"/>
                            <a:lumOff val="35000"/>
                          </a:schemeClr>
                        </a:solidFill>
                        <a:effectLst/>
                        <a:latin typeface="Arial" panose="020B0604020202020204" pitchFamily="34" charset="0"/>
                        <a:ea typeface="+mn-ea"/>
                        <a:cs typeface="Arial" panose="020B0604020202020204" pitchFamily="34" charset="0"/>
                      </a:endParaRPr>
                    </a:p>
                    <a:p>
                      <a:pPr marL="342900" lvl="1" indent="0" algn="just">
                        <a:lnSpc>
                          <a:spcPts val="2400"/>
                        </a:lnSpc>
                        <a:spcBef>
                          <a:spcPts val="600"/>
                        </a:spcBef>
                        <a:spcAft>
                          <a:spcPts val="0"/>
                        </a:spcAft>
                        <a:buFont typeface="Arial" panose="020B0604020202020204" pitchFamily="34" charset="0"/>
                        <a:buNone/>
                      </a:pPr>
                      <a:r>
                        <a:rPr lang="en-US" sz="1800" b="0" i="1" u="sng" kern="1200" dirty="0">
                          <a:solidFill>
                            <a:schemeClr val="tx1">
                              <a:lumMod val="65000"/>
                              <a:lumOff val="35000"/>
                            </a:schemeClr>
                          </a:solidFill>
                          <a:effectLst/>
                          <a:latin typeface="Arial" panose="020B0604020202020204" pitchFamily="34" charset="0"/>
                          <a:ea typeface="+mn-ea"/>
                          <a:cs typeface="Arial" panose="020B0604020202020204" pitchFamily="34" charset="0"/>
                        </a:rPr>
                        <a:t>Engagement Quality Reviews</a:t>
                      </a:r>
                      <a:endParaRPr lang="en-US" sz="2000" b="0" i="1" u="sng" kern="1200" dirty="0">
                        <a:solidFill>
                          <a:schemeClr val="tx1">
                            <a:lumMod val="65000"/>
                            <a:lumOff val="35000"/>
                          </a:schemeClr>
                        </a:solidFill>
                        <a:effectLst/>
                        <a:latin typeface="Arial" panose="020B0604020202020204" pitchFamily="34" charset="0"/>
                        <a:ea typeface="+mn-ea"/>
                        <a:cs typeface="Arial" panose="020B0604020202020204" pitchFamily="34" charset="0"/>
                      </a:endParaRPr>
                    </a:p>
                    <a:p>
                      <a:pPr marL="685800" lvl="1" indent="-342900" algn="just">
                        <a:lnSpc>
                          <a:spcPts val="2400"/>
                        </a:lnSpc>
                        <a:spcBef>
                          <a:spcPts val="600"/>
                        </a:spcBef>
                        <a:spcAft>
                          <a:spcPts val="0"/>
                        </a:spcAft>
                        <a:buFont typeface="Courier New" panose="02070309020205020404" pitchFamily="49" charset="0"/>
                        <a:buChar char="o"/>
                      </a:pPr>
                      <a:r>
                        <a:rPr lang="en-US" sz="1800" b="1" u="none" kern="1200" dirty="0">
                          <a:solidFill>
                            <a:schemeClr val="tx1">
                              <a:lumMod val="65000"/>
                              <a:lumOff val="35000"/>
                            </a:schemeClr>
                          </a:solidFill>
                          <a:effectLst/>
                          <a:latin typeface="Arial" panose="020B0604020202020204" pitchFamily="34" charset="0"/>
                          <a:ea typeface="+mn-ea"/>
                          <a:cs typeface="Arial" panose="020B0604020202020204" pitchFamily="34" charset="0"/>
                        </a:rPr>
                        <a:t>120.14 A2 – </a:t>
                      </a:r>
                      <a:r>
                        <a:rPr lang="en-US" sz="1800" b="0" u="none" kern="1200" dirty="0">
                          <a:solidFill>
                            <a:schemeClr val="tx1">
                              <a:lumMod val="65000"/>
                              <a:lumOff val="35000"/>
                            </a:schemeClr>
                          </a:solidFill>
                          <a:effectLst/>
                          <a:latin typeface="Arial" panose="020B0604020202020204" pitchFamily="34" charset="0"/>
                          <a:ea typeface="+mn-ea"/>
                          <a:cs typeface="Arial" panose="020B0604020202020204" pitchFamily="34" charset="0"/>
                        </a:rPr>
                        <a:t>The self-review threat that may be created when an individual is appointed EQ reviewer immediately after having served on the audit engagement team;</a:t>
                      </a:r>
                    </a:p>
                    <a:p>
                      <a:pPr marL="685800" lvl="1" indent="-342900" algn="just">
                        <a:lnSpc>
                          <a:spcPts val="2400"/>
                        </a:lnSpc>
                        <a:spcBef>
                          <a:spcPts val="600"/>
                        </a:spcBef>
                        <a:spcAft>
                          <a:spcPts val="0"/>
                        </a:spcAft>
                        <a:buFont typeface="Courier New" panose="02070309020205020404" pitchFamily="49" charset="0"/>
                        <a:buChar char="o"/>
                      </a:pPr>
                      <a:r>
                        <a:rPr lang="en-US" sz="1800" b="1" u="none" kern="1200" dirty="0">
                          <a:solidFill>
                            <a:schemeClr val="tx1">
                              <a:lumMod val="65000"/>
                              <a:lumOff val="35000"/>
                            </a:schemeClr>
                          </a:solidFill>
                          <a:effectLst/>
                          <a:latin typeface="Arial" panose="020B0604020202020204" pitchFamily="34" charset="0"/>
                          <a:ea typeface="+mn-ea"/>
                          <a:cs typeface="Arial" panose="020B0604020202020204" pitchFamily="34" charset="0"/>
                        </a:rPr>
                        <a:t>120.14 A3 – </a:t>
                      </a:r>
                      <a:r>
                        <a:rPr lang="en-US" sz="1800" b="0" u="none" kern="1200" dirty="0">
                          <a:solidFill>
                            <a:schemeClr val="tx1">
                              <a:lumMod val="65000"/>
                              <a:lumOff val="35000"/>
                            </a:schemeClr>
                          </a:solidFill>
                          <a:effectLst/>
                          <a:latin typeface="Arial" panose="020B0604020202020204" pitchFamily="34" charset="0"/>
                          <a:ea typeface="+mn-ea"/>
                          <a:cs typeface="Arial" panose="020B0604020202020204" pitchFamily="34" charset="0"/>
                        </a:rPr>
                        <a:t>The factors that are relevant in evaluating the level of such threats; and</a:t>
                      </a:r>
                    </a:p>
                    <a:p>
                      <a:pPr marL="685800" lvl="1" indent="-342900" algn="just">
                        <a:lnSpc>
                          <a:spcPts val="2400"/>
                        </a:lnSpc>
                        <a:spcBef>
                          <a:spcPts val="600"/>
                        </a:spcBef>
                        <a:spcAft>
                          <a:spcPts val="0"/>
                        </a:spcAft>
                        <a:buFont typeface="Courier New" panose="02070309020205020404" pitchFamily="49" charset="0"/>
                        <a:buChar char="o"/>
                      </a:pPr>
                      <a:r>
                        <a:rPr lang="en-US" sz="1800" b="1" u="none" kern="1200" dirty="0">
                          <a:solidFill>
                            <a:schemeClr val="tx1">
                              <a:lumMod val="65000"/>
                              <a:lumOff val="35000"/>
                            </a:schemeClr>
                          </a:solidFill>
                          <a:effectLst/>
                          <a:latin typeface="Arial" panose="020B0604020202020204" pitchFamily="34" charset="0"/>
                          <a:ea typeface="+mn-ea"/>
                          <a:cs typeface="Arial" panose="020B0604020202020204" pitchFamily="34" charset="0"/>
                        </a:rPr>
                        <a:t>120.14 A4 – </a:t>
                      </a:r>
                      <a:r>
                        <a:rPr lang="en-US" sz="1800" b="0" u="none" kern="1200" dirty="0">
                          <a:solidFill>
                            <a:schemeClr val="tx1">
                              <a:lumMod val="65000"/>
                              <a:lumOff val="35000"/>
                            </a:schemeClr>
                          </a:solidFill>
                          <a:effectLst/>
                          <a:latin typeface="Arial" panose="020B0604020202020204" pitchFamily="34" charset="0"/>
                          <a:ea typeface="+mn-ea"/>
                          <a:cs typeface="Arial" panose="020B0604020202020204" pitchFamily="34" charset="0"/>
                        </a:rPr>
                        <a:t>The actions that might be safeguards to address the threats.</a:t>
                      </a:r>
                    </a:p>
                  </a:txBody>
                  <a:tcPr anchor="ctr">
                    <a:noFill/>
                  </a:tcPr>
                </a:tc>
                <a:extLst>
                  <a:ext uri="{0D108BD9-81ED-4DB2-BD59-A6C34878D82A}">
                    <a16:rowId xmlns:a16="http://schemas.microsoft.com/office/drawing/2014/main" val="493788776"/>
                  </a:ext>
                </a:extLst>
              </a:tr>
            </a:tbl>
          </a:graphicData>
        </a:graphic>
      </p:graphicFrame>
      <p:sp>
        <p:nvSpPr>
          <p:cNvPr id="7" name="Title 1">
            <a:extLst>
              <a:ext uri="{FF2B5EF4-FFF2-40B4-BE49-F238E27FC236}">
                <a16:creationId xmlns:a16="http://schemas.microsoft.com/office/drawing/2014/main" id="{D439250E-CDCA-4F78-813F-31F0129D3CAC}"/>
              </a:ext>
            </a:extLst>
          </p:cNvPr>
          <p:cNvSpPr txBox="1">
            <a:spLocks/>
          </p:cNvSpPr>
          <p:nvPr/>
        </p:nvSpPr>
        <p:spPr>
          <a:xfrm>
            <a:off x="0" y="427038"/>
            <a:ext cx="9144000"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200" b="1" dirty="0"/>
              <a:t>IESBA Coordination Update on EQ Reviewer Objectivity (Cont.)</a:t>
            </a:r>
          </a:p>
        </p:txBody>
      </p:sp>
      <p:sp>
        <p:nvSpPr>
          <p:cNvPr id="9" name="Slide Number Placeholder 5">
            <a:extLst>
              <a:ext uri="{FF2B5EF4-FFF2-40B4-BE49-F238E27FC236}">
                <a16:creationId xmlns:a16="http://schemas.microsoft.com/office/drawing/2014/main" id="{B310E0CF-E872-40AA-B794-E20D815AF7CD}"/>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8</a:t>
            </a:fld>
            <a:endParaRPr lang="en-US" sz="675" dirty="0">
              <a:solidFill>
                <a:srgbClr val="808080"/>
              </a:solidFill>
              <a:latin typeface="Arial" panose="020B0604020202020204" pitchFamily="34" charset="0"/>
            </a:endParaRPr>
          </a:p>
        </p:txBody>
      </p:sp>
    </p:spTree>
    <p:extLst>
      <p:ext uri="{BB962C8B-B14F-4D97-AF65-F5344CB8AC3E}">
        <p14:creationId xmlns:p14="http://schemas.microsoft.com/office/powerpoint/2010/main" val="22128568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1"/>
          <p:cNvSpPr txBox="1">
            <a:spLocks/>
          </p:cNvSpPr>
          <p:nvPr/>
        </p:nvSpPr>
        <p:spPr>
          <a:xfrm>
            <a:off x="323497" y="1075038"/>
            <a:ext cx="8497006" cy="3192162"/>
          </a:xfrm>
          <a:prstGeom prst="rect">
            <a:avLst/>
          </a:prstGeom>
          <a:noFill/>
          <a:ln w="38100">
            <a:solidFill>
              <a:schemeClr val="tx1">
                <a:lumMod val="65000"/>
                <a:lumOff val="35000"/>
              </a:schemeClr>
            </a:solidFill>
          </a:ln>
        </p:spPr>
        <p:txBody>
          <a:bodyPr anchor="ctr" anchorCtr="0"/>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marL="0" indent="0" algn="just">
              <a:lnSpc>
                <a:spcPts val="2400"/>
              </a:lnSpc>
              <a:spcBef>
                <a:spcPts val="600"/>
              </a:spcBef>
              <a:spcAft>
                <a:spcPts val="0"/>
              </a:spcAft>
              <a:buNone/>
            </a:pPr>
            <a:r>
              <a:rPr lang="en-US" b="1" dirty="0">
                <a:solidFill>
                  <a:schemeClr val="tx1">
                    <a:lumMod val="65000"/>
                    <a:lumOff val="35000"/>
                  </a:schemeClr>
                </a:solidFill>
                <a:latin typeface="Arial" panose="020B0604020202020204" pitchFamily="34" charset="0"/>
                <a:cs typeface="Arial" panose="020B0604020202020204" pitchFamily="34" charset="0"/>
              </a:rPr>
              <a:t>Matters for IAASB Consideration</a:t>
            </a:r>
          </a:p>
          <a:p>
            <a:pPr marL="347472" lvl="0" indent="-347472" algn="just">
              <a:lnSpc>
                <a:spcPts val="2400"/>
              </a:lnSpc>
              <a:spcBef>
                <a:spcPts val="600"/>
              </a:spcBef>
              <a:spcAft>
                <a:spcPts val="0"/>
              </a:spcAft>
              <a:buFont typeface="+mj-lt"/>
              <a:buAutoNum type="arabicPeriod" startAt="2"/>
            </a:pPr>
            <a:r>
              <a:rPr lang="en-US" sz="2000" dirty="0">
                <a:solidFill>
                  <a:schemeClr val="tx1">
                    <a:lumMod val="65000"/>
                    <a:lumOff val="35000"/>
                  </a:schemeClr>
                </a:solidFill>
                <a:latin typeface="Arial" panose="020B0604020202020204" pitchFamily="34" charset="0"/>
                <a:cs typeface="Arial" panose="020B0604020202020204" pitchFamily="34" charset="0"/>
              </a:rPr>
              <a:t>With respect to the proposed requirement in paragraph 16A for firm policies or procedures to specify a mandatory cooling-off period, and the related application material: </a:t>
            </a:r>
            <a:r>
              <a:rPr lang="en-US" sz="2000" i="1" dirty="0">
                <a:solidFill>
                  <a:schemeClr val="tx1">
                    <a:lumMod val="65000"/>
                    <a:lumOff val="35000"/>
                  </a:schemeClr>
                </a:solidFill>
                <a:latin typeface="Arial" panose="020B0604020202020204" pitchFamily="34" charset="0"/>
                <a:cs typeface="Arial" panose="020B0604020202020204" pitchFamily="34" charset="0"/>
              </a:rPr>
              <a:t>(see Section II-B of </a:t>
            </a:r>
            <a:r>
              <a:rPr lang="en-US" sz="2000" b="1" i="1" dirty="0">
                <a:solidFill>
                  <a:schemeClr val="tx1">
                    <a:lumMod val="65000"/>
                    <a:lumOff val="35000"/>
                  </a:schemeClr>
                </a:solidFill>
                <a:latin typeface="Arial" panose="020B0604020202020204" pitchFamily="34" charset="0"/>
                <a:cs typeface="Arial" panose="020B0604020202020204" pitchFamily="34" charset="0"/>
              </a:rPr>
              <a:t>Agenda Item 8</a:t>
            </a:r>
            <a:r>
              <a:rPr lang="en-US" sz="2000" i="1" dirty="0">
                <a:solidFill>
                  <a:schemeClr val="tx1">
                    <a:lumMod val="65000"/>
                    <a:lumOff val="35000"/>
                  </a:schemeClr>
                </a:solidFill>
                <a:latin typeface="Arial" panose="020B0604020202020204" pitchFamily="34" charset="0"/>
                <a:cs typeface="Arial" panose="020B0604020202020204" pitchFamily="34" charset="0"/>
              </a:rPr>
              <a:t>)</a:t>
            </a:r>
          </a:p>
          <a:p>
            <a:pPr marL="690372" lvl="1" indent="-342900" algn="just">
              <a:lnSpc>
                <a:spcPts val="2400"/>
              </a:lnSpc>
              <a:spcBef>
                <a:spcPts val="600"/>
              </a:spcBef>
              <a:spcAft>
                <a:spcPts val="0"/>
              </a:spcAft>
              <a:buAutoNum type="alphaLcParenBoth"/>
            </a:pPr>
            <a:r>
              <a:rPr lang="en-US" sz="1800" dirty="0">
                <a:solidFill>
                  <a:schemeClr val="tx1">
                    <a:lumMod val="65000"/>
                    <a:lumOff val="35000"/>
                  </a:schemeClr>
                </a:solidFill>
                <a:latin typeface="Arial" panose="020B0604020202020204" pitchFamily="34" charset="0"/>
                <a:cs typeface="Arial" panose="020B0604020202020204" pitchFamily="34" charset="0"/>
              </a:rPr>
              <a:t>Is the proposed requirement in the public interest, and appropriate to drive consistency in practice?</a:t>
            </a:r>
          </a:p>
          <a:p>
            <a:pPr marL="690372" lvl="1" indent="-342900" algn="just">
              <a:lnSpc>
                <a:spcPts val="2400"/>
              </a:lnSpc>
              <a:spcBef>
                <a:spcPts val="600"/>
              </a:spcBef>
              <a:spcAft>
                <a:spcPts val="0"/>
              </a:spcAft>
              <a:buAutoNum type="alphaLcParenBoth"/>
            </a:pPr>
            <a:r>
              <a:rPr lang="en-US" sz="1800" dirty="0">
                <a:solidFill>
                  <a:schemeClr val="tx1">
                    <a:lumMod val="65000"/>
                    <a:lumOff val="35000"/>
                  </a:schemeClr>
                </a:solidFill>
                <a:latin typeface="Arial" panose="020B0604020202020204" pitchFamily="34" charset="0"/>
                <a:cs typeface="Arial" panose="020B0604020202020204" pitchFamily="34" charset="0"/>
              </a:rPr>
              <a:t>Does the IAASB agree that the requirement in paragraph 16A could be amended or deleted, depending on the outcome of the IESBA’s planned activities?</a:t>
            </a:r>
          </a:p>
        </p:txBody>
      </p:sp>
      <p:sp>
        <p:nvSpPr>
          <p:cNvPr id="7" name="Title 1">
            <a:extLst>
              <a:ext uri="{FF2B5EF4-FFF2-40B4-BE49-F238E27FC236}">
                <a16:creationId xmlns:a16="http://schemas.microsoft.com/office/drawing/2014/main" id="{D439250E-CDCA-4F78-813F-31F0129D3CAC}"/>
              </a:ext>
            </a:extLst>
          </p:cNvPr>
          <p:cNvSpPr txBox="1">
            <a:spLocks/>
          </p:cNvSpPr>
          <p:nvPr/>
        </p:nvSpPr>
        <p:spPr>
          <a:xfrm>
            <a:off x="0" y="427038"/>
            <a:ext cx="9144000" cy="404812"/>
          </a:xfrm>
          <a:prstGeom prst="rect">
            <a:avLst/>
          </a:prstGeom>
        </p:spPr>
        <p:txBody>
          <a:bodyPr anchor="ct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Objectivity and Cooling-off Period (Cont.)</a:t>
            </a:r>
          </a:p>
        </p:txBody>
      </p:sp>
      <p:sp>
        <p:nvSpPr>
          <p:cNvPr id="9" name="Slide Number Placeholder 5">
            <a:extLst>
              <a:ext uri="{FF2B5EF4-FFF2-40B4-BE49-F238E27FC236}">
                <a16:creationId xmlns:a16="http://schemas.microsoft.com/office/drawing/2014/main" id="{B310E0CF-E872-40AA-B794-E20D815AF7CD}"/>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9</a:t>
            </a:fld>
            <a:endParaRPr lang="en-US" sz="675" dirty="0">
              <a:solidFill>
                <a:srgbClr val="808080"/>
              </a:solidFill>
              <a:latin typeface="Arial" panose="020B0604020202020204" pitchFamily="34" charset="0"/>
            </a:endParaRPr>
          </a:p>
        </p:txBody>
      </p:sp>
    </p:spTree>
    <p:extLst>
      <p:ext uri="{BB962C8B-B14F-4D97-AF65-F5344CB8AC3E}">
        <p14:creationId xmlns:p14="http://schemas.microsoft.com/office/powerpoint/2010/main" val="2278222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hart 6"/>
          <p:cNvGraphicFramePr/>
          <p:nvPr>
            <p:extLst>
              <p:ext uri="{D42A27DB-BD31-4B8C-83A1-F6EECF244321}">
                <p14:modId xmlns:p14="http://schemas.microsoft.com/office/powerpoint/2010/main" val="3865882027"/>
              </p:ext>
            </p:extLst>
          </p:nvPr>
        </p:nvGraphicFramePr>
        <p:xfrm>
          <a:off x="6371770" y="885825"/>
          <a:ext cx="2613203" cy="383063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Table 7">
            <a:extLst>
              <a:ext uri="{FF2B5EF4-FFF2-40B4-BE49-F238E27FC236}">
                <a16:creationId xmlns:a16="http://schemas.microsoft.com/office/drawing/2014/main" id="{DCF21A7A-89E6-4D73-9C9E-20947420A5A0}"/>
              </a:ext>
            </a:extLst>
          </p:cNvPr>
          <p:cNvGraphicFramePr>
            <a:graphicFrameLocks noGrp="1"/>
          </p:cNvGraphicFramePr>
          <p:nvPr>
            <p:extLst>
              <p:ext uri="{D42A27DB-BD31-4B8C-83A1-F6EECF244321}">
                <p14:modId xmlns:p14="http://schemas.microsoft.com/office/powerpoint/2010/main" val="1826991355"/>
              </p:ext>
            </p:extLst>
          </p:nvPr>
        </p:nvGraphicFramePr>
        <p:xfrm>
          <a:off x="426718" y="2840270"/>
          <a:ext cx="6071617" cy="1959608"/>
        </p:xfrm>
        <a:graphic>
          <a:graphicData uri="http://schemas.openxmlformats.org/drawingml/2006/table">
            <a:tbl>
              <a:tblPr firstRow="1" bandRow="1">
                <a:tableStyleId>{5C22544A-7EE6-4342-B048-85BDC9FD1C3A}</a:tableStyleId>
              </a:tblPr>
              <a:tblGrid>
                <a:gridCol w="6071617">
                  <a:extLst>
                    <a:ext uri="{9D8B030D-6E8A-4147-A177-3AD203B41FA5}">
                      <a16:colId xmlns:a16="http://schemas.microsoft.com/office/drawing/2014/main" val="713251629"/>
                    </a:ext>
                  </a:extLst>
                </a:gridCol>
              </a:tblGrid>
              <a:tr h="1959608">
                <a:tc>
                  <a:txBody>
                    <a:bodyPr/>
                    <a:lstStyle/>
                    <a:p>
                      <a:pPr marL="0" indent="0" algn="just">
                        <a:lnSpc>
                          <a:spcPts val="2400"/>
                        </a:lnSpc>
                        <a:spcBef>
                          <a:spcPts val="600"/>
                        </a:spcBef>
                        <a:buFont typeface="Arial" panose="020B0604020202020204" pitchFamily="34" charset="0"/>
                        <a:buNone/>
                      </a:pPr>
                      <a:r>
                        <a:rPr lang="en-US" sz="1800" b="0" i="0" kern="1200" dirty="0">
                          <a:solidFill>
                            <a:schemeClr val="tx1">
                              <a:lumMod val="65000"/>
                              <a:lumOff val="35000"/>
                            </a:schemeClr>
                          </a:solidFill>
                          <a:effectLst/>
                          <a:latin typeface="Arial" panose="020B0604020202020204" pitchFamily="34" charset="0"/>
                          <a:ea typeface="+mn-ea"/>
                          <a:cs typeface="Arial" panose="020B0604020202020204" pitchFamily="34" charset="0"/>
                        </a:rPr>
                        <a:t>Generally agreed that the EQ reviewer’s evaluation of the engagement team’s significant judgments includes evaluating the engagement team’s exercise of professional skepticism.</a:t>
                      </a:r>
                    </a:p>
                  </a:txBody>
                  <a:tcPr anchor="ctr">
                    <a:noFill/>
                  </a:tcPr>
                </a:tc>
                <a:extLst>
                  <a:ext uri="{0D108BD9-81ED-4DB2-BD59-A6C34878D82A}">
                    <a16:rowId xmlns:a16="http://schemas.microsoft.com/office/drawing/2014/main" val="493788776"/>
                  </a:ext>
                </a:extLst>
              </a:tr>
            </a:tbl>
          </a:graphicData>
        </a:graphic>
      </p:graphicFrame>
      <p:sp>
        <p:nvSpPr>
          <p:cNvPr id="9" name="Title 1">
            <a:extLst>
              <a:ext uri="{FF2B5EF4-FFF2-40B4-BE49-F238E27FC236}">
                <a16:creationId xmlns:a16="http://schemas.microsoft.com/office/drawing/2014/main" id="{752309F6-8C96-40B1-B35D-D9A26E7FD27D}"/>
              </a:ext>
            </a:extLst>
          </p:cNvPr>
          <p:cNvSpPr txBox="1">
            <a:spLocks/>
          </p:cNvSpPr>
          <p:nvPr/>
        </p:nvSpPr>
        <p:spPr>
          <a:xfrm>
            <a:off x="0" y="427038"/>
            <a:ext cx="9144000" cy="404812"/>
          </a:xfrm>
          <a:prstGeom prst="rect">
            <a:avLst/>
          </a:prstGeom>
        </p:spPr>
        <p:txBody>
          <a:bodyPr anchor="ct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Professional Skepticism - Engagement Team</a:t>
            </a:r>
          </a:p>
        </p:txBody>
      </p:sp>
      <p:sp>
        <p:nvSpPr>
          <p:cNvPr id="11" name="Slide Number Placeholder 5">
            <a:extLst>
              <a:ext uri="{FF2B5EF4-FFF2-40B4-BE49-F238E27FC236}">
                <a16:creationId xmlns:a16="http://schemas.microsoft.com/office/drawing/2014/main" id="{549D6B13-12B7-41AD-8E12-170B967DCF1A}"/>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10</a:t>
            </a:fld>
            <a:endParaRPr lang="en-US" sz="675" dirty="0">
              <a:solidFill>
                <a:srgbClr val="808080"/>
              </a:solidFill>
              <a:latin typeface="Arial" panose="020B0604020202020204" pitchFamily="34" charset="0"/>
            </a:endParaRPr>
          </a:p>
        </p:txBody>
      </p:sp>
      <p:graphicFrame>
        <p:nvGraphicFramePr>
          <p:cNvPr id="10" name="Table 9">
            <a:extLst>
              <a:ext uri="{FF2B5EF4-FFF2-40B4-BE49-F238E27FC236}">
                <a16:creationId xmlns:a16="http://schemas.microsoft.com/office/drawing/2014/main" id="{AFDAA183-58CC-4581-865A-0C1365FBC233}"/>
              </a:ext>
            </a:extLst>
          </p:cNvPr>
          <p:cNvGraphicFramePr>
            <a:graphicFrameLocks noGrp="1"/>
          </p:cNvGraphicFramePr>
          <p:nvPr>
            <p:extLst>
              <p:ext uri="{D42A27DB-BD31-4B8C-83A1-F6EECF244321}">
                <p14:modId xmlns:p14="http://schemas.microsoft.com/office/powerpoint/2010/main" val="3509911563"/>
              </p:ext>
            </p:extLst>
          </p:nvPr>
        </p:nvGraphicFramePr>
        <p:xfrm>
          <a:off x="426719" y="839550"/>
          <a:ext cx="6071617" cy="2013246"/>
        </p:xfrm>
        <a:graphic>
          <a:graphicData uri="http://schemas.openxmlformats.org/drawingml/2006/table">
            <a:tbl>
              <a:tblPr firstRow="1" bandRow="1">
                <a:tableStyleId>{5C22544A-7EE6-4342-B048-85BDC9FD1C3A}</a:tableStyleId>
              </a:tblPr>
              <a:tblGrid>
                <a:gridCol w="6071617">
                  <a:extLst>
                    <a:ext uri="{9D8B030D-6E8A-4147-A177-3AD203B41FA5}">
                      <a16:colId xmlns:a16="http://schemas.microsoft.com/office/drawing/2014/main" val="713251629"/>
                    </a:ext>
                  </a:extLst>
                </a:gridCol>
              </a:tblGrid>
              <a:tr h="2013246">
                <a:tc>
                  <a:txBody>
                    <a:bodyPr/>
                    <a:lstStyle/>
                    <a:p>
                      <a:pPr marL="0" algn="just">
                        <a:lnSpc>
                          <a:spcPts val="2400"/>
                        </a:lnSpc>
                        <a:spcBef>
                          <a:spcPts val="1200"/>
                        </a:spcBef>
                        <a:spcAft>
                          <a:spcPts val="0"/>
                        </a:spcAft>
                      </a:pPr>
                      <a:r>
                        <a:rPr lang="en-US" sz="1800" b="1" i="0" kern="1200" dirty="0">
                          <a:solidFill>
                            <a:schemeClr val="lt1"/>
                          </a:solidFill>
                          <a:effectLst/>
                          <a:latin typeface="Arial" panose="020B0604020202020204" pitchFamily="34" charset="0"/>
                          <a:ea typeface="+mn-ea"/>
                          <a:cs typeface="Arial" panose="020B0604020202020204" pitchFamily="34" charset="0"/>
                        </a:rPr>
                        <a:t>Question 6(a) in the EM to ED-ISQM 2 asked respondents:</a:t>
                      </a:r>
                    </a:p>
                    <a:p>
                      <a:pPr algn="just">
                        <a:lnSpc>
                          <a:spcPts val="2400"/>
                        </a:lnSpc>
                        <a:spcBef>
                          <a:spcPts val="600"/>
                        </a:spcBef>
                        <a:spcAft>
                          <a:spcPts val="0"/>
                        </a:spcAft>
                      </a:pPr>
                      <a:r>
                        <a:rPr lang="en-US" sz="1800" b="0" i="1" kern="1200" dirty="0">
                          <a:solidFill>
                            <a:schemeClr val="lt1"/>
                          </a:solidFill>
                          <a:effectLst/>
                          <a:latin typeface="Arial" panose="020B0604020202020204" pitchFamily="34" charset="0"/>
                          <a:ea typeface="+mn-ea"/>
                          <a:cs typeface="Arial" panose="020B0604020202020204" pitchFamily="34" charset="0"/>
                        </a:rPr>
                        <a:t>Do you agree that the engagement quality reviewer’s evaluation of the engagement team’s significant judgments includes evaluating the engagement team’s exercise of professional skepticism?</a:t>
                      </a:r>
                      <a:endParaRPr lang="en-US" sz="1800" b="0" i="1" dirty="0">
                        <a:latin typeface="Arial" panose="020B0604020202020204" pitchFamily="34" charset="0"/>
                        <a:cs typeface="Arial" panose="020B0604020202020204" pitchFamily="34" charset="0"/>
                      </a:endParaRPr>
                    </a:p>
                  </a:txBody>
                  <a:tcPr>
                    <a:solidFill>
                      <a:srgbClr val="005BAA"/>
                    </a:solidFill>
                  </a:tcPr>
                </a:tc>
                <a:extLst>
                  <a:ext uri="{0D108BD9-81ED-4DB2-BD59-A6C34878D82A}">
                    <a16:rowId xmlns:a16="http://schemas.microsoft.com/office/drawing/2014/main" val="493788776"/>
                  </a:ext>
                </a:extLst>
              </a:tr>
            </a:tbl>
          </a:graphicData>
        </a:graphic>
      </p:graphicFrame>
    </p:spTree>
    <p:extLst>
      <p:ext uri="{BB962C8B-B14F-4D97-AF65-F5344CB8AC3E}">
        <p14:creationId xmlns:p14="http://schemas.microsoft.com/office/powerpoint/2010/main" val="34981636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hart 6"/>
          <p:cNvGraphicFramePr/>
          <p:nvPr>
            <p:extLst>
              <p:ext uri="{D42A27DB-BD31-4B8C-83A1-F6EECF244321}">
                <p14:modId xmlns:p14="http://schemas.microsoft.com/office/powerpoint/2010/main" val="784013677"/>
              </p:ext>
            </p:extLst>
          </p:nvPr>
        </p:nvGraphicFramePr>
        <p:xfrm>
          <a:off x="6371770" y="885825"/>
          <a:ext cx="2613203" cy="383063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Table 7">
            <a:extLst>
              <a:ext uri="{FF2B5EF4-FFF2-40B4-BE49-F238E27FC236}">
                <a16:creationId xmlns:a16="http://schemas.microsoft.com/office/drawing/2014/main" id="{DCF21A7A-89E6-4D73-9C9E-20947420A5A0}"/>
              </a:ext>
            </a:extLst>
          </p:cNvPr>
          <p:cNvGraphicFramePr>
            <a:graphicFrameLocks noGrp="1"/>
          </p:cNvGraphicFramePr>
          <p:nvPr>
            <p:extLst>
              <p:ext uri="{D42A27DB-BD31-4B8C-83A1-F6EECF244321}">
                <p14:modId xmlns:p14="http://schemas.microsoft.com/office/powerpoint/2010/main" val="1607695494"/>
              </p:ext>
            </p:extLst>
          </p:nvPr>
        </p:nvGraphicFramePr>
        <p:xfrm>
          <a:off x="426718" y="2840270"/>
          <a:ext cx="6071617" cy="1959608"/>
        </p:xfrm>
        <a:graphic>
          <a:graphicData uri="http://schemas.openxmlformats.org/drawingml/2006/table">
            <a:tbl>
              <a:tblPr firstRow="1" bandRow="1">
                <a:tableStyleId>{5C22544A-7EE6-4342-B048-85BDC9FD1C3A}</a:tableStyleId>
              </a:tblPr>
              <a:tblGrid>
                <a:gridCol w="6071617">
                  <a:extLst>
                    <a:ext uri="{9D8B030D-6E8A-4147-A177-3AD203B41FA5}">
                      <a16:colId xmlns:a16="http://schemas.microsoft.com/office/drawing/2014/main" val="713251629"/>
                    </a:ext>
                  </a:extLst>
                </a:gridCol>
              </a:tblGrid>
              <a:tr h="1959608">
                <a:tc>
                  <a:txBody>
                    <a:bodyPr/>
                    <a:lstStyle/>
                    <a:p>
                      <a:pPr marL="0" indent="0" algn="just">
                        <a:lnSpc>
                          <a:spcPts val="2400"/>
                        </a:lnSpc>
                        <a:spcBef>
                          <a:spcPts val="600"/>
                        </a:spcBef>
                        <a:buFont typeface="Arial" panose="020B0604020202020204" pitchFamily="34" charset="0"/>
                        <a:buNone/>
                      </a:pPr>
                      <a:r>
                        <a:rPr lang="en-US" sz="1800" b="0" i="0" kern="1200" dirty="0">
                          <a:solidFill>
                            <a:schemeClr val="tx1">
                              <a:lumMod val="65000"/>
                              <a:lumOff val="35000"/>
                            </a:schemeClr>
                          </a:solidFill>
                          <a:effectLst/>
                          <a:latin typeface="Arial" panose="020B0604020202020204" pitchFamily="34" charset="0"/>
                          <a:ea typeface="+mn-ea"/>
                          <a:cs typeface="Arial" panose="020B0604020202020204" pitchFamily="34" charset="0"/>
                        </a:rPr>
                        <a:t>Mixed views about whether proposed ISQM 2 should further address the exercise of professional skepticism by the EQ reviewer.</a:t>
                      </a:r>
                    </a:p>
                  </a:txBody>
                  <a:tcPr anchor="ctr">
                    <a:noFill/>
                  </a:tcPr>
                </a:tc>
                <a:extLst>
                  <a:ext uri="{0D108BD9-81ED-4DB2-BD59-A6C34878D82A}">
                    <a16:rowId xmlns:a16="http://schemas.microsoft.com/office/drawing/2014/main" val="493788776"/>
                  </a:ext>
                </a:extLst>
              </a:tr>
            </a:tbl>
          </a:graphicData>
        </a:graphic>
      </p:graphicFrame>
      <p:sp>
        <p:nvSpPr>
          <p:cNvPr id="9" name="Title 1">
            <a:extLst>
              <a:ext uri="{FF2B5EF4-FFF2-40B4-BE49-F238E27FC236}">
                <a16:creationId xmlns:a16="http://schemas.microsoft.com/office/drawing/2014/main" id="{752309F6-8C96-40B1-B35D-D9A26E7FD27D}"/>
              </a:ext>
            </a:extLst>
          </p:cNvPr>
          <p:cNvSpPr txBox="1">
            <a:spLocks/>
          </p:cNvSpPr>
          <p:nvPr/>
        </p:nvSpPr>
        <p:spPr>
          <a:xfrm>
            <a:off x="0" y="427038"/>
            <a:ext cx="9144000" cy="404812"/>
          </a:xfrm>
          <a:prstGeom prst="rect">
            <a:avLst/>
          </a:prstGeom>
        </p:spPr>
        <p:txBody>
          <a:bodyPr anchor="ct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Professional Skepticism – EQ Reviewer</a:t>
            </a:r>
          </a:p>
        </p:txBody>
      </p:sp>
      <p:sp>
        <p:nvSpPr>
          <p:cNvPr id="11" name="Slide Number Placeholder 5">
            <a:extLst>
              <a:ext uri="{FF2B5EF4-FFF2-40B4-BE49-F238E27FC236}">
                <a16:creationId xmlns:a16="http://schemas.microsoft.com/office/drawing/2014/main" id="{549D6B13-12B7-41AD-8E12-170B967DCF1A}"/>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11</a:t>
            </a:fld>
            <a:endParaRPr lang="en-US" sz="675" dirty="0">
              <a:solidFill>
                <a:srgbClr val="808080"/>
              </a:solidFill>
              <a:latin typeface="Arial" panose="020B0604020202020204" pitchFamily="34" charset="0"/>
            </a:endParaRPr>
          </a:p>
        </p:txBody>
      </p:sp>
      <p:graphicFrame>
        <p:nvGraphicFramePr>
          <p:cNvPr id="10" name="Table 9">
            <a:extLst>
              <a:ext uri="{FF2B5EF4-FFF2-40B4-BE49-F238E27FC236}">
                <a16:creationId xmlns:a16="http://schemas.microsoft.com/office/drawing/2014/main" id="{AFDAA183-58CC-4581-865A-0C1365FBC233}"/>
              </a:ext>
            </a:extLst>
          </p:cNvPr>
          <p:cNvGraphicFramePr>
            <a:graphicFrameLocks noGrp="1"/>
          </p:cNvGraphicFramePr>
          <p:nvPr>
            <p:extLst>
              <p:ext uri="{D42A27DB-BD31-4B8C-83A1-F6EECF244321}">
                <p14:modId xmlns:p14="http://schemas.microsoft.com/office/powerpoint/2010/main" val="3048435653"/>
              </p:ext>
            </p:extLst>
          </p:nvPr>
        </p:nvGraphicFramePr>
        <p:xfrm>
          <a:off x="426719" y="839550"/>
          <a:ext cx="6071617" cy="2013246"/>
        </p:xfrm>
        <a:graphic>
          <a:graphicData uri="http://schemas.openxmlformats.org/drawingml/2006/table">
            <a:tbl>
              <a:tblPr firstRow="1" bandRow="1">
                <a:tableStyleId>{5C22544A-7EE6-4342-B048-85BDC9FD1C3A}</a:tableStyleId>
              </a:tblPr>
              <a:tblGrid>
                <a:gridCol w="6071617">
                  <a:extLst>
                    <a:ext uri="{9D8B030D-6E8A-4147-A177-3AD203B41FA5}">
                      <a16:colId xmlns:a16="http://schemas.microsoft.com/office/drawing/2014/main" val="713251629"/>
                    </a:ext>
                  </a:extLst>
                </a:gridCol>
              </a:tblGrid>
              <a:tr h="2013246">
                <a:tc>
                  <a:txBody>
                    <a:bodyPr/>
                    <a:lstStyle/>
                    <a:p>
                      <a:pPr marL="0" algn="just">
                        <a:lnSpc>
                          <a:spcPts val="2400"/>
                        </a:lnSpc>
                        <a:spcBef>
                          <a:spcPts val="1200"/>
                        </a:spcBef>
                        <a:spcAft>
                          <a:spcPts val="0"/>
                        </a:spcAft>
                      </a:pPr>
                      <a:r>
                        <a:rPr lang="en-US" sz="1800" b="1" i="0" kern="1200" dirty="0">
                          <a:solidFill>
                            <a:schemeClr val="lt1"/>
                          </a:solidFill>
                          <a:effectLst/>
                          <a:latin typeface="Arial" panose="020B0604020202020204" pitchFamily="34" charset="0"/>
                          <a:ea typeface="+mn-ea"/>
                          <a:cs typeface="Arial" panose="020B0604020202020204" pitchFamily="34" charset="0"/>
                        </a:rPr>
                        <a:t>Question 6(b) in the EM to ED-ISQM 2 asked respondents:</a:t>
                      </a:r>
                    </a:p>
                    <a:p>
                      <a:pPr algn="just">
                        <a:lnSpc>
                          <a:spcPts val="2400"/>
                        </a:lnSpc>
                        <a:spcBef>
                          <a:spcPts val="600"/>
                        </a:spcBef>
                        <a:spcAft>
                          <a:spcPts val="0"/>
                        </a:spcAft>
                      </a:pPr>
                      <a:r>
                        <a:rPr lang="en-US" sz="1800" b="0" i="1" kern="1200" dirty="0">
                          <a:solidFill>
                            <a:schemeClr val="lt1"/>
                          </a:solidFill>
                          <a:effectLst/>
                          <a:latin typeface="Arial" panose="020B0604020202020204" pitchFamily="34" charset="0"/>
                          <a:ea typeface="+mn-ea"/>
                          <a:cs typeface="Arial" panose="020B0604020202020204" pitchFamily="34" charset="0"/>
                        </a:rPr>
                        <a:t>Do you believe that ED-ISQM 2 should further address the exercise of professional skepticism by the engagement quality reviewer? If so, what suggestions do you have in that regard?</a:t>
                      </a:r>
                      <a:endParaRPr lang="en-US" sz="1800" b="0" i="1" dirty="0">
                        <a:latin typeface="Arial" panose="020B0604020202020204" pitchFamily="34" charset="0"/>
                        <a:cs typeface="Arial" panose="020B0604020202020204" pitchFamily="34" charset="0"/>
                      </a:endParaRPr>
                    </a:p>
                  </a:txBody>
                  <a:tcPr>
                    <a:solidFill>
                      <a:srgbClr val="005BAA"/>
                    </a:solidFill>
                  </a:tcPr>
                </a:tc>
                <a:extLst>
                  <a:ext uri="{0D108BD9-81ED-4DB2-BD59-A6C34878D82A}">
                    <a16:rowId xmlns:a16="http://schemas.microsoft.com/office/drawing/2014/main" val="493788776"/>
                  </a:ext>
                </a:extLst>
              </a:tr>
            </a:tbl>
          </a:graphicData>
        </a:graphic>
      </p:graphicFrame>
    </p:spTree>
    <p:extLst>
      <p:ext uri="{BB962C8B-B14F-4D97-AF65-F5344CB8AC3E}">
        <p14:creationId xmlns:p14="http://schemas.microsoft.com/office/powerpoint/2010/main" val="5288730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85730183"/>
              </p:ext>
            </p:extLst>
          </p:nvPr>
        </p:nvGraphicFramePr>
        <p:xfrm>
          <a:off x="429437" y="1000897"/>
          <a:ext cx="8340094" cy="3802011"/>
        </p:xfrm>
        <a:graphic>
          <a:graphicData uri="http://schemas.openxmlformats.org/drawingml/2006/table">
            <a:tbl>
              <a:tblPr firstRow="1" bandRow="1">
                <a:tableStyleId>{5C22544A-7EE6-4342-B048-85BDC9FD1C3A}</a:tableStyleId>
              </a:tblPr>
              <a:tblGrid>
                <a:gridCol w="8340094">
                  <a:extLst>
                    <a:ext uri="{9D8B030D-6E8A-4147-A177-3AD203B41FA5}">
                      <a16:colId xmlns:a16="http://schemas.microsoft.com/office/drawing/2014/main" val="713251629"/>
                    </a:ext>
                  </a:extLst>
                </a:gridCol>
              </a:tblGrid>
              <a:tr h="3802011">
                <a:tc>
                  <a:txBody>
                    <a:bodyPr/>
                    <a:lstStyle/>
                    <a:p>
                      <a:pPr algn="l">
                        <a:lnSpc>
                          <a:spcPts val="2400"/>
                        </a:lnSpc>
                        <a:spcBef>
                          <a:spcPts val="600"/>
                        </a:spcBef>
                        <a:spcAft>
                          <a:spcPts val="0"/>
                        </a:spcAft>
                      </a:pPr>
                      <a:r>
                        <a:rPr lang="en-CA" sz="2400" b="1" i="0" kern="1200" dirty="0">
                          <a:solidFill>
                            <a:schemeClr val="tx1">
                              <a:lumMod val="65000"/>
                              <a:lumOff val="35000"/>
                            </a:schemeClr>
                          </a:solidFill>
                          <a:effectLst/>
                          <a:latin typeface="Arial" panose="020B0604020202020204" pitchFamily="34" charset="0"/>
                          <a:ea typeface="+mn-ea"/>
                          <a:cs typeface="Arial" panose="020B0604020202020204" pitchFamily="34" charset="0"/>
                        </a:rPr>
                        <a:t>Task Force’s Initial Proposals: </a:t>
                      </a:r>
                      <a:r>
                        <a:rPr lang="en-US" sz="2000" b="0" i="1" kern="1200" dirty="0">
                          <a:solidFill>
                            <a:schemeClr val="tx1">
                              <a:lumMod val="65000"/>
                              <a:lumOff val="35000"/>
                            </a:schemeClr>
                          </a:solidFill>
                          <a:effectLst/>
                          <a:latin typeface="Arial" panose="020B0604020202020204" pitchFamily="34" charset="0"/>
                          <a:ea typeface="+mn-ea"/>
                          <a:cs typeface="Arial" panose="020B0604020202020204" pitchFamily="34" charset="0"/>
                        </a:rPr>
                        <a:t>(see Section II-C of </a:t>
                      </a:r>
                      <a:r>
                        <a:rPr lang="en-US" sz="2000" b="1" i="1" kern="1200" dirty="0">
                          <a:solidFill>
                            <a:schemeClr val="tx1">
                              <a:lumMod val="65000"/>
                              <a:lumOff val="35000"/>
                            </a:schemeClr>
                          </a:solidFill>
                          <a:effectLst/>
                          <a:latin typeface="Arial" panose="020B0604020202020204" pitchFamily="34" charset="0"/>
                          <a:ea typeface="+mn-ea"/>
                          <a:cs typeface="Arial" panose="020B0604020202020204" pitchFamily="34" charset="0"/>
                        </a:rPr>
                        <a:t>Agenda Item 8</a:t>
                      </a:r>
                      <a:r>
                        <a:rPr lang="en-US" sz="2000" b="0" i="1" kern="1200" dirty="0">
                          <a:solidFill>
                            <a:schemeClr val="tx1">
                              <a:lumMod val="65000"/>
                              <a:lumOff val="35000"/>
                            </a:schemeClr>
                          </a:solidFill>
                          <a:effectLst/>
                          <a:latin typeface="Arial" panose="020B0604020202020204" pitchFamily="34" charset="0"/>
                          <a:ea typeface="+mn-ea"/>
                          <a:cs typeface="Arial" panose="020B0604020202020204" pitchFamily="34" charset="0"/>
                        </a:rPr>
                        <a:t>)</a:t>
                      </a:r>
                      <a:endParaRPr lang="en-CA" sz="2000" b="1" i="0" kern="1200" dirty="0">
                        <a:solidFill>
                          <a:schemeClr val="tx1">
                            <a:lumMod val="65000"/>
                            <a:lumOff val="35000"/>
                          </a:schemeClr>
                        </a:solidFill>
                        <a:effectLst/>
                        <a:latin typeface="Arial" panose="020B0604020202020204" pitchFamily="34" charset="0"/>
                        <a:ea typeface="+mn-ea"/>
                        <a:cs typeface="Arial" panose="020B0604020202020204" pitchFamily="34" charset="0"/>
                      </a:endParaRPr>
                    </a:p>
                    <a:p>
                      <a:pPr marL="347472" lvl="0" indent="-347472" algn="just">
                        <a:lnSpc>
                          <a:spcPts val="2400"/>
                        </a:lnSpc>
                        <a:spcBef>
                          <a:spcPts val="600"/>
                        </a:spcBef>
                        <a:spcAft>
                          <a:spcPts val="0"/>
                        </a:spcAft>
                        <a:buFont typeface="Arial" panose="020B0604020202020204" pitchFamily="34" charset="0"/>
                        <a:buChar char="•"/>
                      </a:pPr>
                      <a:r>
                        <a:rPr lang="en-US" sz="2000" b="0" kern="1200" dirty="0">
                          <a:solidFill>
                            <a:schemeClr val="tx1">
                              <a:lumMod val="65000"/>
                              <a:lumOff val="35000"/>
                            </a:schemeClr>
                          </a:solidFill>
                          <a:effectLst/>
                          <a:latin typeface="Arial" panose="020B0604020202020204" pitchFamily="34" charset="0"/>
                          <a:ea typeface="+mn-ea"/>
                          <a:cs typeface="Arial" panose="020B0604020202020204" pitchFamily="34" charset="0"/>
                        </a:rPr>
                        <a:t>Focus on the EQ reviewer’s evaluation of the appropriateness of the engagement team’s exercise of professional skepticism in proposed ISQM 2</a:t>
                      </a:r>
                      <a:endParaRPr lang="en-US" sz="2000" b="0" i="1" kern="1200" dirty="0">
                        <a:solidFill>
                          <a:schemeClr val="tx1">
                            <a:lumMod val="65000"/>
                            <a:lumOff val="35000"/>
                          </a:schemeClr>
                        </a:solidFill>
                        <a:effectLst/>
                        <a:latin typeface="Arial" panose="020B0604020202020204" pitchFamily="34" charset="0"/>
                        <a:ea typeface="+mn-ea"/>
                        <a:cs typeface="Arial" panose="020B0604020202020204" pitchFamily="34" charset="0"/>
                      </a:endParaRPr>
                    </a:p>
                    <a:p>
                      <a:pPr marL="0" lvl="0" indent="0" algn="just">
                        <a:lnSpc>
                          <a:spcPts val="2400"/>
                        </a:lnSpc>
                        <a:spcBef>
                          <a:spcPts val="600"/>
                        </a:spcBef>
                        <a:spcAft>
                          <a:spcPts val="0"/>
                        </a:spcAft>
                        <a:buFont typeface="Arial" panose="020B0604020202020204" pitchFamily="34" charset="0"/>
                        <a:buNone/>
                      </a:pPr>
                      <a:endParaRPr lang="en-US" sz="2000" b="0" kern="1200" dirty="0">
                        <a:solidFill>
                          <a:schemeClr val="tx1">
                            <a:lumMod val="65000"/>
                            <a:lumOff val="35000"/>
                          </a:schemeClr>
                        </a:solidFill>
                        <a:effectLst/>
                        <a:latin typeface="Arial" panose="020B0604020202020204" pitchFamily="34" charset="0"/>
                        <a:ea typeface="+mn-ea"/>
                        <a:cs typeface="Arial" panose="020B0604020202020204" pitchFamily="34" charset="0"/>
                      </a:endParaRPr>
                    </a:p>
                    <a:p>
                      <a:pPr marL="347472" lvl="0" indent="-347472" algn="just">
                        <a:lnSpc>
                          <a:spcPts val="2400"/>
                        </a:lnSpc>
                        <a:spcBef>
                          <a:spcPts val="600"/>
                        </a:spcBef>
                        <a:spcAft>
                          <a:spcPts val="0"/>
                        </a:spcAft>
                        <a:buFont typeface="Arial" panose="020B0604020202020204" pitchFamily="34" charset="0"/>
                        <a:buChar char="•"/>
                      </a:pPr>
                      <a:r>
                        <a:rPr lang="en-US" sz="2000" b="0" kern="1200" dirty="0">
                          <a:solidFill>
                            <a:schemeClr val="tx1">
                              <a:lumMod val="65000"/>
                              <a:lumOff val="35000"/>
                            </a:schemeClr>
                          </a:solidFill>
                          <a:effectLst/>
                          <a:latin typeface="Arial" panose="020B0604020202020204" pitchFamily="34" charset="0"/>
                          <a:ea typeface="+mn-ea"/>
                          <a:cs typeface="Arial" panose="020B0604020202020204" pitchFamily="34" charset="0"/>
                        </a:rPr>
                        <a:t>Add application material clarifying how to demonstrate compliance with the requirement, or how to document the EQ reviewer’s evaluation of the exercise of professional skepticism by the engagement team</a:t>
                      </a:r>
                      <a:endParaRPr lang="en-US" sz="2000" b="0" i="1" kern="1200" dirty="0">
                        <a:solidFill>
                          <a:schemeClr val="tx1">
                            <a:lumMod val="65000"/>
                            <a:lumOff val="35000"/>
                          </a:schemeClr>
                        </a:solidFill>
                        <a:effectLst/>
                        <a:latin typeface="Arial" panose="020B0604020202020204" pitchFamily="34" charset="0"/>
                        <a:ea typeface="+mn-ea"/>
                        <a:cs typeface="Arial" panose="020B0604020202020204" pitchFamily="34" charset="0"/>
                      </a:endParaRPr>
                    </a:p>
                  </a:txBody>
                  <a:tcPr>
                    <a:noFill/>
                  </a:tcPr>
                </a:tc>
                <a:extLst>
                  <a:ext uri="{0D108BD9-81ED-4DB2-BD59-A6C34878D82A}">
                    <a16:rowId xmlns:a16="http://schemas.microsoft.com/office/drawing/2014/main" val="493788776"/>
                  </a:ext>
                </a:extLst>
              </a:tr>
            </a:tbl>
          </a:graphicData>
        </a:graphic>
      </p:graphicFrame>
      <p:sp>
        <p:nvSpPr>
          <p:cNvPr id="7" name="Title 1">
            <a:extLst>
              <a:ext uri="{FF2B5EF4-FFF2-40B4-BE49-F238E27FC236}">
                <a16:creationId xmlns:a16="http://schemas.microsoft.com/office/drawing/2014/main" id="{D439250E-CDCA-4F78-813F-31F0129D3CAC}"/>
              </a:ext>
            </a:extLst>
          </p:cNvPr>
          <p:cNvSpPr txBox="1">
            <a:spLocks/>
          </p:cNvSpPr>
          <p:nvPr/>
        </p:nvSpPr>
        <p:spPr>
          <a:xfrm>
            <a:off x="0" y="427038"/>
            <a:ext cx="9144000" cy="404812"/>
          </a:xfrm>
          <a:prstGeom prst="rect">
            <a:avLst/>
          </a:prstGeom>
        </p:spPr>
        <p:txBody>
          <a:bodyPr anchor="ct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Professional Skepticism (Cont.)</a:t>
            </a:r>
          </a:p>
        </p:txBody>
      </p:sp>
      <p:sp>
        <p:nvSpPr>
          <p:cNvPr id="9" name="Slide Number Placeholder 5">
            <a:extLst>
              <a:ext uri="{FF2B5EF4-FFF2-40B4-BE49-F238E27FC236}">
                <a16:creationId xmlns:a16="http://schemas.microsoft.com/office/drawing/2014/main" id="{B310E0CF-E872-40AA-B794-E20D815AF7CD}"/>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12</a:t>
            </a:fld>
            <a:endParaRPr lang="en-US" sz="675" dirty="0">
              <a:solidFill>
                <a:srgbClr val="808080"/>
              </a:solidFill>
              <a:latin typeface="Arial" panose="020B0604020202020204" pitchFamily="34" charset="0"/>
            </a:endParaRPr>
          </a:p>
        </p:txBody>
      </p:sp>
    </p:spTree>
    <p:extLst>
      <p:ext uri="{BB962C8B-B14F-4D97-AF65-F5344CB8AC3E}">
        <p14:creationId xmlns:p14="http://schemas.microsoft.com/office/powerpoint/2010/main" val="34028645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1"/>
          <p:cNvSpPr txBox="1">
            <a:spLocks/>
          </p:cNvSpPr>
          <p:nvPr/>
        </p:nvSpPr>
        <p:spPr>
          <a:xfrm>
            <a:off x="323497" y="877423"/>
            <a:ext cx="8497006" cy="3896101"/>
          </a:xfrm>
          <a:prstGeom prst="rect">
            <a:avLst/>
          </a:prstGeom>
          <a:noFill/>
          <a:ln w="38100">
            <a:solidFill>
              <a:schemeClr val="tx1">
                <a:lumMod val="65000"/>
                <a:lumOff val="35000"/>
              </a:schemeClr>
            </a:solidFill>
          </a:ln>
        </p:spPr>
        <p:txBody>
          <a:bodyPr anchor="t" anchorCtr="0"/>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marL="0" indent="0" algn="just">
              <a:lnSpc>
                <a:spcPts val="2400"/>
              </a:lnSpc>
              <a:spcBef>
                <a:spcPts val="600"/>
              </a:spcBef>
              <a:spcAft>
                <a:spcPts val="0"/>
              </a:spcAft>
              <a:buNone/>
            </a:pPr>
            <a:r>
              <a:rPr lang="en-US" b="1" dirty="0">
                <a:solidFill>
                  <a:schemeClr val="tx1">
                    <a:lumMod val="65000"/>
                    <a:lumOff val="35000"/>
                  </a:schemeClr>
                </a:solidFill>
                <a:latin typeface="Arial" panose="020B0604020202020204" pitchFamily="34" charset="0"/>
                <a:cs typeface="Arial" panose="020B0604020202020204" pitchFamily="34" charset="0"/>
              </a:rPr>
              <a:t>Matters for IAASB Consideration</a:t>
            </a:r>
          </a:p>
          <a:p>
            <a:pPr lvl="0">
              <a:lnSpc>
                <a:spcPts val="2400"/>
              </a:lnSpc>
              <a:spcBef>
                <a:spcPts val="600"/>
              </a:spcBef>
              <a:spcAft>
                <a:spcPts val="0"/>
              </a:spcAft>
              <a:buFont typeface="+mj-lt"/>
              <a:buAutoNum type="arabicPeriod" startAt="3"/>
            </a:pPr>
            <a:r>
              <a:rPr lang="en-US" sz="2000" dirty="0">
                <a:solidFill>
                  <a:schemeClr val="tx1">
                    <a:lumMod val="65000"/>
                    <a:lumOff val="35000"/>
                  </a:schemeClr>
                </a:solidFill>
                <a:latin typeface="Arial" panose="020B0604020202020204" pitchFamily="34" charset="0"/>
                <a:cs typeface="Arial" panose="020B0604020202020204" pitchFamily="34" charset="0"/>
              </a:rPr>
              <a:t>With respect to professional skepticism: </a:t>
            </a:r>
            <a:r>
              <a:rPr lang="en-US" sz="1800" i="1" dirty="0">
                <a:solidFill>
                  <a:schemeClr val="tx1">
                    <a:lumMod val="65000"/>
                    <a:lumOff val="35000"/>
                  </a:schemeClr>
                </a:solidFill>
                <a:latin typeface="Arial" panose="020B0604020202020204" pitchFamily="34" charset="0"/>
                <a:cs typeface="Arial" panose="020B0604020202020204" pitchFamily="34" charset="0"/>
              </a:rPr>
              <a:t>(see Section II-C of </a:t>
            </a:r>
            <a:r>
              <a:rPr lang="en-US" sz="1800" b="1" i="1" dirty="0">
                <a:solidFill>
                  <a:schemeClr val="tx1">
                    <a:lumMod val="65000"/>
                    <a:lumOff val="35000"/>
                  </a:schemeClr>
                </a:solidFill>
                <a:latin typeface="Arial" panose="020B0604020202020204" pitchFamily="34" charset="0"/>
                <a:cs typeface="Arial" panose="020B0604020202020204" pitchFamily="34" charset="0"/>
              </a:rPr>
              <a:t>Agenda Item 8</a:t>
            </a:r>
            <a:r>
              <a:rPr lang="en-US" sz="1800" i="1" dirty="0">
                <a:solidFill>
                  <a:schemeClr val="tx1">
                    <a:lumMod val="65000"/>
                    <a:lumOff val="35000"/>
                  </a:schemeClr>
                </a:solidFill>
                <a:latin typeface="Arial" panose="020B0604020202020204" pitchFamily="34" charset="0"/>
                <a:cs typeface="Arial" panose="020B0604020202020204" pitchFamily="34" charset="0"/>
              </a:rPr>
              <a:t>)</a:t>
            </a:r>
            <a:endParaRPr lang="en-US" sz="1800" dirty="0">
              <a:solidFill>
                <a:schemeClr val="tx1">
                  <a:lumMod val="65000"/>
                  <a:lumOff val="35000"/>
                </a:schemeClr>
              </a:solidFill>
              <a:latin typeface="Arial" panose="020B0604020202020204" pitchFamily="34" charset="0"/>
              <a:cs typeface="Arial" panose="020B0604020202020204" pitchFamily="34" charset="0"/>
            </a:endParaRPr>
          </a:p>
          <a:p>
            <a:pPr marL="690372" lvl="1" indent="-342900" algn="just">
              <a:lnSpc>
                <a:spcPts val="2400"/>
              </a:lnSpc>
              <a:spcBef>
                <a:spcPts val="600"/>
              </a:spcBef>
              <a:spcAft>
                <a:spcPts val="0"/>
              </a:spcAft>
              <a:buAutoNum type="alphaLcParenBoth"/>
            </a:pPr>
            <a:r>
              <a:rPr lang="en-US" sz="1800" dirty="0">
                <a:solidFill>
                  <a:schemeClr val="tx1">
                    <a:lumMod val="65000"/>
                    <a:lumOff val="35000"/>
                  </a:schemeClr>
                </a:solidFill>
                <a:latin typeface="Arial" panose="020B0604020202020204" pitchFamily="34" charset="0"/>
                <a:cs typeface="Arial" panose="020B0604020202020204" pitchFamily="34" charset="0"/>
              </a:rPr>
              <a:t>Does the IAASB agree that proposed ISQM 2 should focus on the EQ reviewer’s evaluation of the appropriateness of the engagement team’s exercise of professional skepticism, when applicable, based on the review of selected engagement documentation as required by paragraph 22(c)(i) of proposed ISQM 2?</a:t>
            </a:r>
            <a:endParaRPr lang="en-US" sz="1800" i="1" dirty="0">
              <a:solidFill>
                <a:schemeClr val="tx1">
                  <a:lumMod val="65000"/>
                  <a:lumOff val="35000"/>
                </a:schemeClr>
              </a:solidFill>
              <a:latin typeface="Arial" panose="020B0604020202020204" pitchFamily="34" charset="0"/>
              <a:cs typeface="Arial" panose="020B0604020202020204" pitchFamily="34" charset="0"/>
            </a:endParaRPr>
          </a:p>
          <a:p>
            <a:pPr marL="690372" lvl="1" indent="-342900" algn="just">
              <a:lnSpc>
                <a:spcPts val="2400"/>
              </a:lnSpc>
              <a:spcBef>
                <a:spcPts val="600"/>
              </a:spcBef>
              <a:spcAft>
                <a:spcPts val="0"/>
              </a:spcAft>
              <a:buAutoNum type="alphaLcParenBoth"/>
            </a:pPr>
            <a:r>
              <a:rPr lang="en-US" sz="1800" dirty="0">
                <a:solidFill>
                  <a:schemeClr val="tx1">
                    <a:lumMod val="65000"/>
                    <a:lumOff val="35000"/>
                  </a:schemeClr>
                </a:solidFill>
                <a:latin typeface="Arial" panose="020B0604020202020204" pitchFamily="34" charset="0"/>
                <a:cs typeface="Arial" panose="020B0604020202020204" pitchFamily="34" charset="0"/>
              </a:rPr>
              <a:t>Is additional application material needed to describe how the EQ reviewer evaluates the exercise of professional skepticism by the engagement team? If so, what suggestions or examples does the IAASB have in this regard?</a:t>
            </a:r>
          </a:p>
        </p:txBody>
      </p:sp>
      <p:sp>
        <p:nvSpPr>
          <p:cNvPr id="7" name="Title 1">
            <a:extLst>
              <a:ext uri="{FF2B5EF4-FFF2-40B4-BE49-F238E27FC236}">
                <a16:creationId xmlns:a16="http://schemas.microsoft.com/office/drawing/2014/main" id="{D439250E-CDCA-4F78-813F-31F0129D3CAC}"/>
              </a:ext>
            </a:extLst>
          </p:cNvPr>
          <p:cNvSpPr txBox="1">
            <a:spLocks/>
          </p:cNvSpPr>
          <p:nvPr/>
        </p:nvSpPr>
        <p:spPr>
          <a:xfrm>
            <a:off x="0" y="427038"/>
            <a:ext cx="9144000" cy="404812"/>
          </a:xfrm>
          <a:prstGeom prst="rect">
            <a:avLst/>
          </a:prstGeom>
        </p:spPr>
        <p:txBody>
          <a:bodyPr anchor="ct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Professional Skepticism (Cont.)</a:t>
            </a:r>
          </a:p>
        </p:txBody>
      </p:sp>
      <p:sp>
        <p:nvSpPr>
          <p:cNvPr id="9" name="Slide Number Placeholder 5">
            <a:extLst>
              <a:ext uri="{FF2B5EF4-FFF2-40B4-BE49-F238E27FC236}">
                <a16:creationId xmlns:a16="http://schemas.microsoft.com/office/drawing/2014/main" id="{B310E0CF-E872-40AA-B794-E20D815AF7CD}"/>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13</a:t>
            </a:fld>
            <a:endParaRPr lang="en-US" sz="675" dirty="0">
              <a:solidFill>
                <a:srgbClr val="808080"/>
              </a:solidFill>
              <a:latin typeface="Arial" panose="020B0604020202020204" pitchFamily="34" charset="0"/>
            </a:endParaRPr>
          </a:p>
        </p:txBody>
      </p:sp>
    </p:spTree>
    <p:extLst>
      <p:ext uri="{BB962C8B-B14F-4D97-AF65-F5344CB8AC3E}">
        <p14:creationId xmlns:p14="http://schemas.microsoft.com/office/powerpoint/2010/main" val="34270544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1"/>
          <p:cNvSpPr txBox="1">
            <a:spLocks/>
          </p:cNvSpPr>
          <p:nvPr/>
        </p:nvSpPr>
        <p:spPr>
          <a:xfrm>
            <a:off x="323497" y="1075038"/>
            <a:ext cx="8497006" cy="3168716"/>
          </a:xfrm>
          <a:prstGeom prst="rect">
            <a:avLst/>
          </a:prstGeom>
          <a:noFill/>
          <a:ln w="38100">
            <a:solidFill>
              <a:schemeClr val="tx1">
                <a:lumMod val="65000"/>
                <a:lumOff val="35000"/>
              </a:schemeClr>
            </a:solidFill>
          </a:ln>
        </p:spPr>
        <p:txBody>
          <a:bodyPr anchor="ctr" anchorCtr="0"/>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marL="0" indent="0" algn="just">
              <a:lnSpc>
                <a:spcPts val="2400"/>
              </a:lnSpc>
              <a:spcBef>
                <a:spcPts val="600"/>
              </a:spcBef>
              <a:spcAft>
                <a:spcPts val="0"/>
              </a:spcAft>
              <a:buNone/>
            </a:pPr>
            <a:r>
              <a:rPr lang="en-US" b="1" dirty="0">
                <a:solidFill>
                  <a:schemeClr val="tx1">
                    <a:lumMod val="65000"/>
                    <a:lumOff val="35000"/>
                  </a:schemeClr>
                </a:solidFill>
                <a:latin typeface="Arial" panose="020B0604020202020204" pitchFamily="34" charset="0"/>
                <a:cs typeface="Arial" panose="020B0604020202020204" pitchFamily="34" charset="0"/>
              </a:rPr>
              <a:t>Matters for IAASB Consideration</a:t>
            </a:r>
          </a:p>
          <a:p>
            <a:pPr lvl="0">
              <a:lnSpc>
                <a:spcPts val="2400"/>
              </a:lnSpc>
              <a:spcBef>
                <a:spcPts val="600"/>
              </a:spcBef>
              <a:spcAft>
                <a:spcPts val="0"/>
              </a:spcAft>
              <a:buFont typeface="+mj-lt"/>
              <a:buAutoNum type="arabicPeriod" startAt="3"/>
            </a:pPr>
            <a:r>
              <a:rPr lang="en-US" sz="2000" dirty="0">
                <a:solidFill>
                  <a:schemeClr val="tx1">
                    <a:lumMod val="65000"/>
                    <a:lumOff val="35000"/>
                  </a:schemeClr>
                </a:solidFill>
                <a:latin typeface="Arial" panose="020B0604020202020204" pitchFamily="34" charset="0"/>
                <a:cs typeface="Arial" panose="020B0604020202020204" pitchFamily="34" charset="0"/>
              </a:rPr>
              <a:t>With respect to professional skepticism: </a:t>
            </a:r>
            <a:r>
              <a:rPr lang="en-US" sz="1800" i="1" dirty="0">
                <a:solidFill>
                  <a:schemeClr val="tx1">
                    <a:lumMod val="65000"/>
                    <a:lumOff val="35000"/>
                  </a:schemeClr>
                </a:solidFill>
                <a:latin typeface="Arial" panose="020B0604020202020204" pitchFamily="34" charset="0"/>
                <a:cs typeface="Arial" panose="020B0604020202020204" pitchFamily="34" charset="0"/>
              </a:rPr>
              <a:t>(see Section II-C of </a:t>
            </a:r>
            <a:r>
              <a:rPr lang="en-US" sz="1800" b="1" i="1" dirty="0">
                <a:solidFill>
                  <a:schemeClr val="tx1">
                    <a:lumMod val="65000"/>
                    <a:lumOff val="35000"/>
                  </a:schemeClr>
                </a:solidFill>
                <a:latin typeface="Arial" panose="020B0604020202020204" pitchFamily="34" charset="0"/>
                <a:cs typeface="Arial" panose="020B0604020202020204" pitchFamily="34" charset="0"/>
              </a:rPr>
              <a:t>Agenda Item 8</a:t>
            </a:r>
            <a:r>
              <a:rPr lang="en-US" sz="1800" i="1" dirty="0">
                <a:solidFill>
                  <a:schemeClr val="tx1">
                    <a:lumMod val="65000"/>
                    <a:lumOff val="35000"/>
                  </a:schemeClr>
                </a:solidFill>
                <a:latin typeface="Arial" panose="020B0604020202020204" pitchFamily="34" charset="0"/>
                <a:cs typeface="Arial" panose="020B0604020202020204" pitchFamily="34" charset="0"/>
              </a:rPr>
              <a:t>)</a:t>
            </a:r>
            <a:endParaRPr lang="en-US" sz="1800" dirty="0">
              <a:solidFill>
                <a:schemeClr val="tx1">
                  <a:lumMod val="65000"/>
                  <a:lumOff val="35000"/>
                </a:schemeClr>
              </a:solidFill>
              <a:latin typeface="Arial" panose="020B0604020202020204" pitchFamily="34" charset="0"/>
              <a:cs typeface="Arial" panose="020B0604020202020204" pitchFamily="34" charset="0"/>
            </a:endParaRPr>
          </a:p>
          <a:p>
            <a:pPr lvl="1" algn="just">
              <a:lnSpc>
                <a:spcPts val="2400"/>
              </a:lnSpc>
              <a:spcBef>
                <a:spcPts val="600"/>
              </a:spcBef>
              <a:spcAft>
                <a:spcPts val="0"/>
              </a:spcAft>
              <a:buNone/>
            </a:pPr>
            <a:r>
              <a:rPr lang="en-US" sz="1800" dirty="0">
                <a:solidFill>
                  <a:schemeClr val="tx1">
                    <a:lumMod val="65000"/>
                    <a:lumOff val="35000"/>
                  </a:schemeClr>
                </a:solidFill>
                <a:latin typeface="Arial" panose="020B0604020202020204" pitchFamily="34" charset="0"/>
                <a:cs typeface="Arial" panose="020B0604020202020204" pitchFamily="34" charset="0"/>
              </a:rPr>
              <a:t>(c) Would application material be helpful in proposed ISQM 2 to address the expected behaviors of the EQ reviewer, as suggested in paragraph 45 of the Issues Paper? </a:t>
            </a:r>
            <a:endParaRPr lang="en-US" sz="1800" i="1" dirty="0">
              <a:solidFill>
                <a:schemeClr val="tx1">
                  <a:lumMod val="65000"/>
                  <a:lumOff val="35000"/>
                </a:schemeClr>
              </a:solidFill>
              <a:latin typeface="Arial" panose="020B0604020202020204" pitchFamily="34" charset="0"/>
              <a:cs typeface="Arial" panose="020B0604020202020204" pitchFamily="34" charset="0"/>
            </a:endParaRPr>
          </a:p>
          <a:p>
            <a:pPr lvl="1" algn="just">
              <a:lnSpc>
                <a:spcPts val="2400"/>
              </a:lnSpc>
              <a:spcBef>
                <a:spcPts val="600"/>
              </a:spcBef>
              <a:spcAft>
                <a:spcPts val="0"/>
              </a:spcAft>
              <a:buNone/>
            </a:pPr>
            <a:r>
              <a:rPr lang="en-US" sz="1800" dirty="0">
                <a:solidFill>
                  <a:schemeClr val="tx1">
                    <a:lumMod val="65000"/>
                    <a:lumOff val="35000"/>
                  </a:schemeClr>
                </a:solidFill>
                <a:latin typeface="Arial" panose="020B0604020202020204" pitchFamily="34" charset="0"/>
                <a:cs typeface="Arial" panose="020B0604020202020204" pitchFamily="34" charset="0"/>
              </a:rPr>
              <a:t>(d) Would reference to the application material in proposed ISA 220 (Revised) be helpful, as suggested in paragraph 46 of the Issues Paper? </a:t>
            </a:r>
            <a:r>
              <a:rPr lang="en-US" sz="1800" i="1" dirty="0">
                <a:solidFill>
                  <a:schemeClr val="tx1">
                    <a:lumMod val="65000"/>
                    <a:lumOff val="35000"/>
                  </a:schemeClr>
                </a:solidFill>
                <a:latin typeface="Arial" panose="020B0604020202020204" pitchFamily="34" charset="0"/>
                <a:cs typeface="Arial" panose="020B0604020202020204" pitchFamily="34" charset="0"/>
              </a:rPr>
              <a:t>(see paragraphs A27-A29 of proposed ISA 220 (Revised))</a:t>
            </a:r>
          </a:p>
        </p:txBody>
      </p:sp>
      <p:sp>
        <p:nvSpPr>
          <p:cNvPr id="7" name="Title 1">
            <a:extLst>
              <a:ext uri="{FF2B5EF4-FFF2-40B4-BE49-F238E27FC236}">
                <a16:creationId xmlns:a16="http://schemas.microsoft.com/office/drawing/2014/main" id="{D439250E-CDCA-4F78-813F-31F0129D3CAC}"/>
              </a:ext>
            </a:extLst>
          </p:cNvPr>
          <p:cNvSpPr txBox="1">
            <a:spLocks/>
          </p:cNvSpPr>
          <p:nvPr/>
        </p:nvSpPr>
        <p:spPr>
          <a:xfrm>
            <a:off x="0" y="427038"/>
            <a:ext cx="9144000" cy="404812"/>
          </a:xfrm>
          <a:prstGeom prst="rect">
            <a:avLst/>
          </a:prstGeom>
        </p:spPr>
        <p:txBody>
          <a:bodyPr anchor="ct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Professional Skepticism (Cont.)</a:t>
            </a:r>
          </a:p>
        </p:txBody>
      </p:sp>
      <p:sp>
        <p:nvSpPr>
          <p:cNvPr id="9" name="Slide Number Placeholder 5">
            <a:extLst>
              <a:ext uri="{FF2B5EF4-FFF2-40B4-BE49-F238E27FC236}">
                <a16:creationId xmlns:a16="http://schemas.microsoft.com/office/drawing/2014/main" id="{B310E0CF-E872-40AA-B794-E20D815AF7CD}"/>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14</a:t>
            </a:fld>
            <a:endParaRPr lang="en-US" sz="675" dirty="0">
              <a:solidFill>
                <a:srgbClr val="808080"/>
              </a:solidFill>
              <a:latin typeface="Arial" panose="020B0604020202020204" pitchFamily="34" charset="0"/>
            </a:endParaRPr>
          </a:p>
        </p:txBody>
      </p:sp>
    </p:spTree>
    <p:extLst>
      <p:ext uri="{BB962C8B-B14F-4D97-AF65-F5344CB8AC3E}">
        <p14:creationId xmlns:p14="http://schemas.microsoft.com/office/powerpoint/2010/main" val="4110404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4143221020"/>
              </p:ext>
            </p:extLst>
          </p:nvPr>
        </p:nvGraphicFramePr>
        <p:xfrm>
          <a:off x="429437" y="1000897"/>
          <a:ext cx="8340094" cy="3802011"/>
        </p:xfrm>
        <a:graphic>
          <a:graphicData uri="http://schemas.openxmlformats.org/drawingml/2006/table">
            <a:tbl>
              <a:tblPr firstRow="1" bandRow="1">
                <a:tableStyleId>{5C22544A-7EE6-4342-B048-85BDC9FD1C3A}</a:tableStyleId>
              </a:tblPr>
              <a:tblGrid>
                <a:gridCol w="8340094">
                  <a:extLst>
                    <a:ext uri="{9D8B030D-6E8A-4147-A177-3AD203B41FA5}">
                      <a16:colId xmlns:a16="http://schemas.microsoft.com/office/drawing/2014/main" val="713251629"/>
                    </a:ext>
                  </a:extLst>
                </a:gridCol>
              </a:tblGrid>
              <a:tr h="3802011">
                <a:tc>
                  <a:txBody>
                    <a:bodyPr/>
                    <a:lstStyle/>
                    <a:p>
                      <a:pPr marL="0" algn="just" defTabSz="342900" rtl="0" eaLnBrk="1" latinLnBrk="0" hangingPunct="1">
                        <a:lnSpc>
                          <a:spcPts val="2400"/>
                        </a:lnSpc>
                        <a:spcBef>
                          <a:spcPts val="600"/>
                        </a:spcBef>
                        <a:spcAft>
                          <a:spcPts val="0"/>
                        </a:spcAft>
                      </a:pPr>
                      <a:r>
                        <a:rPr lang="en-US" sz="2400" b="1" i="0" kern="1200" dirty="0">
                          <a:solidFill>
                            <a:schemeClr val="tx1">
                              <a:lumMod val="65000"/>
                              <a:lumOff val="35000"/>
                            </a:schemeClr>
                          </a:solidFill>
                          <a:effectLst/>
                          <a:latin typeface="Arial" panose="020B0604020202020204" pitchFamily="34" charset="0"/>
                          <a:ea typeface="+mn-ea"/>
                          <a:cs typeface="Arial" panose="020B0604020202020204" pitchFamily="34" charset="0"/>
                        </a:rPr>
                        <a:t>What We Heard in the Responses to ED-ISQM 2:</a:t>
                      </a:r>
                    </a:p>
                    <a:p>
                      <a:pPr marL="342900" indent="-342900" algn="just" defTabSz="342900" rtl="0" eaLnBrk="1" latinLnBrk="0" hangingPunct="1">
                        <a:lnSpc>
                          <a:spcPts val="2400"/>
                        </a:lnSpc>
                        <a:spcBef>
                          <a:spcPts val="600"/>
                        </a:spcBef>
                        <a:spcAft>
                          <a:spcPts val="0"/>
                        </a:spcAft>
                        <a:buFont typeface="Arial" panose="020B0604020202020204" pitchFamily="34" charset="0"/>
                        <a:buChar char="•"/>
                      </a:pPr>
                      <a:r>
                        <a:rPr lang="en-US" sz="2000" b="0" kern="1200" dirty="0">
                          <a:solidFill>
                            <a:schemeClr val="tx1">
                              <a:lumMod val="65000"/>
                              <a:lumOff val="35000"/>
                            </a:schemeClr>
                          </a:solidFill>
                          <a:effectLst/>
                          <a:latin typeface="Arial" panose="020B0604020202020204" pitchFamily="34" charset="0"/>
                          <a:ea typeface="+mn-ea"/>
                          <a:cs typeface="Arial" panose="020B0604020202020204" pitchFamily="34" charset="0"/>
                        </a:rPr>
                        <a:t>Comments or questions about how the requirements and guidance in proposed ISQM 2 would be applied in the context of group audits</a:t>
                      </a:r>
                    </a:p>
                    <a:p>
                      <a:pPr marL="0" indent="0" algn="just" defTabSz="342900" rtl="0" eaLnBrk="1" latinLnBrk="0" hangingPunct="1">
                        <a:lnSpc>
                          <a:spcPts val="2400"/>
                        </a:lnSpc>
                        <a:spcBef>
                          <a:spcPts val="600"/>
                        </a:spcBef>
                        <a:spcAft>
                          <a:spcPts val="0"/>
                        </a:spcAft>
                        <a:buFont typeface="Arial" panose="020B0604020202020204" pitchFamily="34" charset="0"/>
                        <a:buNone/>
                      </a:pPr>
                      <a:endParaRPr lang="en-CA" sz="2000" b="0" kern="1200" dirty="0">
                        <a:solidFill>
                          <a:schemeClr val="tx1">
                            <a:lumMod val="65000"/>
                            <a:lumOff val="35000"/>
                          </a:schemeClr>
                        </a:solidFill>
                        <a:effectLst/>
                        <a:latin typeface="Arial" panose="020B0604020202020204" pitchFamily="34" charset="0"/>
                        <a:ea typeface="+mn-ea"/>
                        <a:cs typeface="Arial" panose="020B0604020202020204" pitchFamily="34" charset="0"/>
                      </a:endParaRPr>
                    </a:p>
                    <a:p>
                      <a:pPr algn="just">
                        <a:lnSpc>
                          <a:spcPts val="2400"/>
                        </a:lnSpc>
                        <a:spcBef>
                          <a:spcPts val="600"/>
                        </a:spcBef>
                        <a:spcAft>
                          <a:spcPts val="0"/>
                        </a:spcAft>
                      </a:pPr>
                      <a:r>
                        <a:rPr lang="en-CA" sz="2400" b="1" i="0" kern="1200" dirty="0">
                          <a:solidFill>
                            <a:schemeClr val="tx1">
                              <a:lumMod val="65000"/>
                              <a:lumOff val="35000"/>
                            </a:schemeClr>
                          </a:solidFill>
                          <a:effectLst/>
                          <a:latin typeface="Arial" panose="020B0604020202020204" pitchFamily="34" charset="0"/>
                          <a:ea typeface="+mn-ea"/>
                          <a:cs typeface="Arial" panose="020B0604020202020204" pitchFamily="34" charset="0"/>
                        </a:rPr>
                        <a:t>Task Force’s Initial Proposals:</a:t>
                      </a:r>
                      <a:endParaRPr lang="en-CA" sz="2000" b="1" i="0" kern="1200" dirty="0">
                        <a:solidFill>
                          <a:schemeClr val="tx1">
                            <a:lumMod val="65000"/>
                            <a:lumOff val="35000"/>
                          </a:schemeClr>
                        </a:solidFill>
                        <a:effectLst/>
                        <a:latin typeface="Arial" panose="020B0604020202020204" pitchFamily="34" charset="0"/>
                        <a:ea typeface="+mn-ea"/>
                        <a:cs typeface="Arial" panose="020B0604020202020204" pitchFamily="34" charset="0"/>
                      </a:endParaRPr>
                    </a:p>
                    <a:p>
                      <a:pPr marL="347472" lvl="0" indent="-347472" algn="just">
                        <a:lnSpc>
                          <a:spcPts val="2400"/>
                        </a:lnSpc>
                        <a:spcBef>
                          <a:spcPts val="600"/>
                        </a:spcBef>
                        <a:spcAft>
                          <a:spcPts val="0"/>
                        </a:spcAft>
                        <a:buFont typeface="Arial" panose="020B0604020202020204" pitchFamily="34" charset="0"/>
                        <a:buChar char="•"/>
                      </a:pPr>
                      <a:r>
                        <a:rPr lang="en-US" sz="2000" b="0" kern="1200" dirty="0">
                          <a:solidFill>
                            <a:schemeClr val="tx1">
                              <a:lumMod val="65000"/>
                              <a:lumOff val="35000"/>
                            </a:schemeClr>
                          </a:solidFill>
                          <a:effectLst/>
                          <a:latin typeface="Arial" panose="020B0604020202020204" pitchFamily="34" charset="0"/>
                          <a:ea typeface="+mn-ea"/>
                          <a:cs typeface="Arial" panose="020B0604020202020204" pitchFamily="34" charset="0"/>
                        </a:rPr>
                        <a:t>Add application material providing guidance for group audit considerations in an EQ review </a:t>
                      </a:r>
                      <a:r>
                        <a:rPr lang="en-US" sz="2000" b="0" i="1" kern="1200" dirty="0">
                          <a:solidFill>
                            <a:schemeClr val="tx1">
                              <a:lumMod val="65000"/>
                              <a:lumOff val="35000"/>
                            </a:schemeClr>
                          </a:solidFill>
                          <a:effectLst/>
                          <a:latin typeface="Arial" panose="020B0604020202020204" pitchFamily="34" charset="0"/>
                          <a:ea typeface="+mn-ea"/>
                          <a:cs typeface="Arial" panose="020B0604020202020204" pitchFamily="34" charset="0"/>
                        </a:rPr>
                        <a:t>(see Section II-D of </a:t>
                      </a:r>
                      <a:r>
                        <a:rPr lang="en-US" sz="2000" b="1" i="1" kern="1200" dirty="0">
                          <a:solidFill>
                            <a:schemeClr val="tx1">
                              <a:lumMod val="65000"/>
                              <a:lumOff val="35000"/>
                            </a:schemeClr>
                          </a:solidFill>
                          <a:effectLst/>
                          <a:latin typeface="Arial" panose="020B0604020202020204" pitchFamily="34" charset="0"/>
                          <a:ea typeface="+mn-ea"/>
                          <a:cs typeface="Arial" panose="020B0604020202020204" pitchFamily="34" charset="0"/>
                        </a:rPr>
                        <a:t>Agenda Item 8</a:t>
                      </a:r>
                      <a:r>
                        <a:rPr lang="en-US" sz="2000" b="0" i="1" kern="1200" dirty="0">
                          <a:solidFill>
                            <a:schemeClr val="tx1">
                              <a:lumMod val="65000"/>
                              <a:lumOff val="35000"/>
                            </a:schemeClr>
                          </a:solidFill>
                          <a:effectLst/>
                          <a:latin typeface="Arial" panose="020B0604020202020204" pitchFamily="34" charset="0"/>
                          <a:ea typeface="+mn-ea"/>
                          <a:cs typeface="Arial" panose="020B0604020202020204" pitchFamily="34" charset="0"/>
                        </a:rPr>
                        <a:t>)</a:t>
                      </a:r>
                    </a:p>
                  </a:txBody>
                  <a:tcPr>
                    <a:noFill/>
                  </a:tcPr>
                </a:tc>
                <a:extLst>
                  <a:ext uri="{0D108BD9-81ED-4DB2-BD59-A6C34878D82A}">
                    <a16:rowId xmlns:a16="http://schemas.microsoft.com/office/drawing/2014/main" val="493788776"/>
                  </a:ext>
                </a:extLst>
              </a:tr>
            </a:tbl>
          </a:graphicData>
        </a:graphic>
      </p:graphicFrame>
      <p:sp>
        <p:nvSpPr>
          <p:cNvPr id="7" name="Title 1">
            <a:extLst>
              <a:ext uri="{FF2B5EF4-FFF2-40B4-BE49-F238E27FC236}">
                <a16:creationId xmlns:a16="http://schemas.microsoft.com/office/drawing/2014/main" id="{D439250E-CDCA-4F78-813F-31F0129D3CAC}"/>
              </a:ext>
            </a:extLst>
          </p:cNvPr>
          <p:cNvSpPr txBox="1">
            <a:spLocks/>
          </p:cNvSpPr>
          <p:nvPr/>
        </p:nvSpPr>
        <p:spPr>
          <a:xfrm>
            <a:off x="0" y="427038"/>
            <a:ext cx="9144000" cy="404812"/>
          </a:xfrm>
          <a:prstGeom prst="rect">
            <a:avLst/>
          </a:prstGeom>
        </p:spPr>
        <p:txBody>
          <a:bodyPr anchor="ct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Group Audit Considerations</a:t>
            </a:r>
          </a:p>
        </p:txBody>
      </p:sp>
      <p:sp>
        <p:nvSpPr>
          <p:cNvPr id="9" name="Slide Number Placeholder 5">
            <a:extLst>
              <a:ext uri="{FF2B5EF4-FFF2-40B4-BE49-F238E27FC236}">
                <a16:creationId xmlns:a16="http://schemas.microsoft.com/office/drawing/2014/main" id="{B310E0CF-E872-40AA-B794-E20D815AF7CD}"/>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15</a:t>
            </a:fld>
            <a:endParaRPr lang="en-US" sz="675" dirty="0">
              <a:solidFill>
                <a:srgbClr val="808080"/>
              </a:solidFill>
              <a:latin typeface="Arial" panose="020B0604020202020204" pitchFamily="34" charset="0"/>
            </a:endParaRPr>
          </a:p>
        </p:txBody>
      </p:sp>
    </p:spTree>
    <p:extLst>
      <p:ext uri="{BB962C8B-B14F-4D97-AF65-F5344CB8AC3E}">
        <p14:creationId xmlns:p14="http://schemas.microsoft.com/office/powerpoint/2010/main" val="34635951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1"/>
          <p:cNvSpPr txBox="1">
            <a:spLocks/>
          </p:cNvSpPr>
          <p:nvPr/>
        </p:nvSpPr>
        <p:spPr>
          <a:xfrm>
            <a:off x="323497" y="1062681"/>
            <a:ext cx="8497006" cy="1633627"/>
          </a:xfrm>
          <a:prstGeom prst="rect">
            <a:avLst/>
          </a:prstGeom>
          <a:noFill/>
          <a:ln w="38100">
            <a:solidFill>
              <a:schemeClr val="tx1">
                <a:lumMod val="65000"/>
                <a:lumOff val="35000"/>
              </a:schemeClr>
            </a:solidFill>
          </a:ln>
        </p:spPr>
        <p:txBody>
          <a:bodyPr anchor="ctr" anchorCtr="0"/>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marL="0" indent="0" algn="just">
              <a:lnSpc>
                <a:spcPts val="2400"/>
              </a:lnSpc>
              <a:spcBef>
                <a:spcPts val="600"/>
              </a:spcBef>
              <a:spcAft>
                <a:spcPts val="0"/>
              </a:spcAft>
              <a:buNone/>
            </a:pPr>
            <a:r>
              <a:rPr lang="en-US" b="1" dirty="0">
                <a:solidFill>
                  <a:schemeClr val="tx1">
                    <a:lumMod val="65000"/>
                    <a:lumOff val="35000"/>
                  </a:schemeClr>
                </a:solidFill>
                <a:latin typeface="Arial" panose="020B0604020202020204" pitchFamily="34" charset="0"/>
                <a:cs typeface="Arial" panose="020B0604020202020204" pitchFamily="34" charset="0"/>
              </a:rPr>
              <a:t>Matter for IAASB Consideration</a:t>
            </a:r>
          </a:p>
          <a:p>
            <a:pPr marL="457200" lvl="0" indent="-457200" algn="just">
              <a:lnSpc>
                <a:spcPts val="2400"/>
              </a:lnSpc>
              <a:spcBef>
                <a:spcPts val="600"/>
              </a:spcBef>
              <a:spcAft>
                <a:spcPts val="0"/>
              </a:spcAft>
              <a:buFont typeface="+mj-lt"/>
              <a:buAutoNum type="arabicPeriod" startAt="4"/>
            </a:pPr>
            <a:r>
              <a:rPr lang="en-US" sz="2000" dirty="0">
                <a:solidFill>
                  <a:schemeClr val="tx1">
                    <a:lumMod val="65000"/>
                    <a:lumOff val="35000"/>
                  </a:schemeClr>
                </a:solidFill>
                <a:latin typeface="Arial" panose="020B0604020202020204" pitchFamily="34" charset="0"/>
                <a:cs typeface="Arial" panose="020B0604020202020204" pitchFamily="34" charset="0"/>
              </a:rPr>
              <a:t>The IAASB is asked for its views on the proposed application material in paragraph A28A regarding guidance for group audit considerations in an EQ review. </a:t>
            </a:r>
            <a:r>
              <a:rPr lang="en-US" sz="2000" i="1" dirty="0">
                <a:solidFill>
                  <a:schemeClr val="tx1">
                    <a:lumMod val="65000"/>
                    <a:lumOff val="35000"/>
                  </a:schemeClr>
                </a:solidFill>
                <a:latin typeface="Arial" panose="020B0604020202020204" pitchFamily="34" charset="0"/>
                <a:cs typeface="Arial" panose="020B0604020202020204" pitchFamily="34" charset="0"/>
              </a:rPr>
              <a:t>(see Section II-D of </a:t>
            </a:r>
            <a:r>
              <a:rPr lang="en-US" sz="2000" b="1" i="1" dirty="0">
                <a:solidFill>
                  <a:schemeClr val="tx1">
                    <a:lumMod val="65000"/>
                    <a:lumOff val="35000"/>
                  </a:schemeClr>
                </a:solidFill>
                <a:latin typeface="Arial" panose="020B0604020202020204" pitchFamily="34" charset="0"/>
                <a:cs typeface="Arial" panose="020B0604020202020204" pitchFamily="34" charset="0"/>
              </a:rPr>
              <a:t>Agenda Item 8</a:t>
            </a:r>
            <a:r>
              <a:rPr lang="en-US" sz="2000" i="1" dirty="0">
                <a:solidFill>
                  <a:schemeClr val="tx1">
                    <a:lumMod val="65000"/>
                    <a:lumOff val="35000"/>
                  </a:schemeClr>
                </a:solidFill>
                <a:latin typeface="Arial" panose="020B0604020202020204" pitchFamily="34" charset="0"/>
                <a:cs typeface="Arial" panose="020B0604020202020204" pitchFamily="34" charset="0"/>
              </a:rPr>
              <a:t>)</a:t>
            </a:r>
          </a:p>
        </p:txBody>
      </p:sp>
      <p:sp>
        <p:nvSpPr>
          <p:cNvPr id="7" name="Title 1">
            <a:extLst>
              <a:ext uri="{FF2B5EF4-FFF2-40B4-BE49-F238E27FC236}">
                <a16:creationId xmlns:a16="http://schemas.microsoft.com/office/drawing/2014/main" id="{D439250E-CDCA-4F78-813F-31F0129D3CAC}"/>
              </a:ext>
            </a:extLst>
          </p:cNvPr>
          <p:cNvSpPr txBox="1">
            <a:spLocks/>
          </p:cNvSpPr>
          <p:nvPr/>
        </p:nvSpPr>
        <p:spPr>
          <a:xfrm>
            <a:off x="0" y="427038"/>
            <a:ext cx="9144000" cy="404812"/>
          </a:xfrm>
          <a:prstGeom prst="rect">
            <a:avLst/>
          </a:prstGeom>
        </p:spPr>
        <p:txBody>
          <a:bodyPr anchor="ct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Group Audit Considerations (Cont.)</a:t>
            </a:r>
          </a:p>
        </p:txBody>
      </p:sp>
      <p:sp>
        <p:nvSpPr>
          <p:cNvPr id="9" name="Slide Number Placeholder 5">
            <a:extLst>
              <a:ext uri="{FF2B5EF4-FFF2-40B4-BE49-F238E27FC236}">
                <a16:creationId xmlns:a16="http://schemas.microsoft.com/office/drawing/2014/main" id="{B310E0CF-E872-40AA-B794-E20D815AF7CD}"/>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16</a:t>
            </a:fld>
            <a:endParaRPr lang="en-US" sz="675" dirty="0">
              <a:solidFill>
                <a:srgbClr val="808080"/>
              </a:solidFill>
              <a:latin typeface="Arial" panose="020B0604020202020204" pitchFamily="34" charset="0"/>
            </a:endParaRPr>
          </a:p>
        </p:txBody>
      </p:sp>
    </p:spTree>
    <p:extLst>
      <p:ext uri="{BB962C8B-B14F-4D97-AF65-F5344CB8AC3E}">
        <p14:creationId xmlns:p14="http://schemas.microsoft.com/office/powerpoint/2010/main" val="7691830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301792"/>
              </p:ext>
            </p:extLst>
          </p:nvPr>
        </p:nvGraphicFramePr>
        <p:xfrm>
          <a:off x="430620" y="869951"/>
          <a:ext cx="8302366" cy="3897312"/>
        </p:xfrm>
        <a:graphic>
          <a:graphicData uri="http://schemas.openxmlformats.org/drawingml/2006/table">
            <a:tbl>
              <a:tblPr firstRow="1" bandRow="1">
                <a:tableStyleId>{5C22544A-7EE6-4342-B048-85BDC9FD1C3A}</a:tableStyleId>
              </a:tblPr>
              <a:tblGrid>
                <a:gridCol w="8302366">
                  <a:extLst>
                    <a:ext uri="{9D8B030D-6E8A-4147-A177-3AD203B41FA5}">
                      <a16:colId xmlns:a16="http://schemas.microsoft.com/office/drawing/2014/main" val="713251629"/>
                    </a:ext>
                  </a:extLst>
                </a:gridCol>
              </a:tblGrid>
              <a:tr h="3897312">
                <a:tc>
                  <a:txBody>
                    <a:bodyPr/>
                    <a:lstStyle/>
                    <a:p>
                      <a:pPr marL="0" indent="0" algn="just">
                        <a:lnSpc>
                          <a:spcPts val="2400"/>
                        </a:lnSpc>
                        <a:spcBef>
                          <a:spcPts val="600"/>
                        </a:spcBef>
                        <a:spcAft>
                          <a:spcPts val="0"/>
                        </a:spcAft>
                        <a:buFont typeface="Arial" panose="020B0604020202020204" pitchFamily="34" charset="0"/>
                        <a:buNone/>
                      </a:pPr>
                      <a:r>
                        <a:rPr lang="en-US" sz="2000" b="1" dirty="0">
                          <a:solidFill>
                            <a:schemeClr val="tx1">
                              <a:lumMod val="65000"/>
                              <a:lumOff val="35000"/>
                            </a:schemeClr>
                          </a:solidFill>
                          <a:latin typeface="Arial" panose="020B0604020202020204" pitchFamily="34" charset="0"/>
                          <a:cs typeface="Arial" panose="020B0604020202020204" pitchFamily="34" charset="0"/>
                        </a:rPr>
                        <a:t>Question 1 - Separate standard:</a:t>
                      </a:r>
                    </a:p>
                    <a:p>
                      <a:pPr marL="342900" indent="-342900" algn="just">
                        <a:lnSpc>
                          <a:spcPts val="2400"/>
                        </a:lnSpc>
                        <a:spcBef>
                          <a:spcPts val="600"/>
                        </a:spcBef>
                        <a:spcAft>
                          <a:spcPts val="0"/>
                        </a:spcAft>
                        <a:buFont typeface="Arial" panose="020B0604020202020204" pitchFamily="34" charset="0"/>
                        <a:buChar char="•"/>
                      </a:pPr>
                      <a:r>
                        <a:rPr lang="en-US" sz="1800" b="1" dirty="0">
                          <a:solidFill>
                            <a:schemeClr val="tx1">
                              <a:lumMod val="65000"/>
                              <a:lumOff val="35000"/>
                            </a:schemeClr>
                          </a:solidFill>
                          <a:latin typeface="Arial" panose="020B0604020202020204" pitchFamily="34" charset="0"/>
                          <a:cs typeface="Arial" panose="020B0604020202020204" pitchFamily="34" charset="0"/>
                        </a:rPr>
                        <a:t>Support for a separate standard</a:t>
                      </a:r>
                      <a:r>
                        <a:rPr lang="en-US" sz="1800" b="0" dirty="0">
                          <a:solidFill>
                            <a:schemeClr val="tx1">
                              <a:lumMod val="65000"/>
                              <a:lumOff val="35000"/>
                            </a:schemeClr>
                          </a:solidFill>
                          <a:latin typeface="Arial" panose="020B0604020202020204" pitchFamily="34" charset="0"/>
                          <a:cs typeface="Arial" panose="020B0604020202020204" pitchFamily="34" charset="0"/>
                        </a:rPr>
                        <a:t> for an EQ review</a:t>
                      </a:r>
                    </a:p>
                    <a:p>
                      <a:pPr marL="342900" indent="-342900" algn="just">
                        <a:lnSpc>
                          <a:spcPts val="2400"/>
                        </a:lnSpc>
                        <a:spcBef>
                          <a:spcPts val="600"/>
                        </a:spcBef>
                        <a:spcAft>
                          <a:spcPts val="0"/>
                        </a:spcAft>
                        <a:buFont typeface="Arial" panose="020B0604020202020204" pitchFamily="34" charset="0"/>
                        <a:buChar char="•"/>
                      </a:pPr>
                      <a:r>
                        <a:rPr lang="en-US" sz="1800" b="0" i="0" dirty="0">
                          <a:solidFill>
                            <a:schemeClr val="tx1">
                              <a:lumMod val="65000"/>
                              <a:lumOff val="35000"/>
                            </a:schemeClr>
                          </a:solidFill>
                          <a:latin typeface="Arial" panose="020B0604020202020204" pitchFamily="34" charset="0"/>
                          <a:cs typeface="Arial" panose="020B0604020202020204" pitchFamily="34" charset="0"/>
                        </a:rPr>
                        <a:t>Concerns over the objective of standard being on the </a:t>
                      </a:r>
                      <a:r>
                        <a:rPr lang="en-US" sz="1800" b="1" i="0" dirty="0">
                          <a:solidFill>
                            <a:schemeClr val="tx1">
                              <a:lumMod val="65000"/>
                              <a:lumOff val="35000"/>
                            </a:schemeClr>
                          </a:solidFill>
                          <a:latin typeface="Arial" panose="020B0604020202020204" pitchFamily="34" charset="0"/>
                          <a:cs typeface="Arial" panose="020B0604020202020204" pitchFamily="34" charset="0"/>
                        </a:rPr>
                        <a:t>firm only</a:t>
                      </a:r>
                      <a:r>
                        <a:rPr lang="en-US" sz="1800" b="0" i="0" dirty="0">
                          <a:solidFill>
                            <a:schemeClr val="tx1">
                              <a:lumMod val="65000"/>
                              <a:lumOff val="35000"/>
                            </a:schemeClr>
                          </a:solidFill>
                          <a:latin typeface="Arial" panose="020B0604020202020204" pitchFamily="34" charset="0"/>
                          <a:cs typeface="Arial" panose="020B0604020202020204" pitchFamily="34" charset="0"/>
                        </a:rPr>
                        <a:t>, and that it is </a:t>
                      </a:r>
                      <a:r>
                        <a:rPr lang="en-US" sz="1800" b="1" i="0" dirty="0">
                          <a:solidFill>
                            <a:schemeClr val="tx1">
                              <a:lumMod val="65000"/>
                              <a:lumOff val="35000"/>
                            </a:schemeClr>
                          </a:solidFill>
                          <a:latin typeface="Arial" panose="020B0604020202020204" pitchFamily="34" charset="0"/>
                          <a:cs typeface="Arial" panose="020B0604020202020204" pitchFamily="34" charset="0"/>
                        </a:rPr>
                        <a:t>not sufficiently outcome-based</a:t>
                      </a:r>
                    </a:p>
                    <a:p>
                      <a:pPr marL="0" indent="0" algn="just">
                        <a:lnSpc>
                          <a:spcPts val="2400"/>
                        </a:lnSpc>
                        <a:spcBef>
                          <a:spcPts val="600"/>
                        </a:spcBef>
                        <a:spcAft>
                          <a:spcPts val="0"/>
                        </a:spcAft>
                        <a:buFont typeface="Arial" panose="020B0604020202020204" pitchFamily="34" charset="0"/>
                        <a:buNone/>
                      </a:pPr>
                      <a:r>
                        <a:rPr lang="en-US" sz="2000" b="1" i="0" dirty="0">
                          <a:solidFill>
                            <a:schemeClr val="tx1">
                              <a:lumMod val="65000"/>
                              <a:lumOff val="35000"/>
                            </a:schemeClr>
                          </a:solidFill>
                          <a:latin typeface="Arial" panose="020B0604020202020204" pitchFamily="34" charset="0"/>
                          <a:cs typeface="Arial" panose="020B0604020202020204" pitchFamily="34" charset="0"/>
                        </a:rPr>
                        <a:t>Question 2 - Linkages:</a:t>
                      </a:r>
                      <a:endParaRPr lang="en-US" sz="2000" b="0" i="0" dirty="0">
                        <a:solidFill>
                          <a:schemeClr val="tx1">
                            <a:lumMod val="65000"/>
                            <a:lumOff val="35000"/>
                          </a:schemeClr>
                        </a:solidFill>
                        <a:latin typeface="Arial" panose="020B0604020202020204" pitchFamily="34" charset="0"/>
                        <a:cs typeface="Arial" panose="020B0604020202020204" pitchFamily="34" charset="0"/>
                      </a:endParaRPr>
                    </a:p>
                    <a:p>
                      <a:pPr marL="342900" indent="-342900" algn="just">
                        <a:lnSpc>
                          <a:spcPts val="2400"/>
                        </a:lnSpc>
                        <a:spcBef>
                          <a:spcPts val="600"/>
                        </a:spcBef>
                        <a:spcAft>
                          <a:spcPts val="0"/>
                        </a:spcAft>
                        <a:buFont typeface="Arial" panose="020B0604020202020204" pitchFamily="34" charset="0"/>
                        <a:buChar char="•"/>
                      </a:pPr>
                      <a:r>
                        <a:rPr lang="en-US" sz="1800" b="0" dirty="0">
                          <a:solidFill>
                            <a:schemeClr val="tx1">
                              <a:lumMod val="65000"/>
                              <a:lumOff val="35000"/>
                            </a:schemeClr>
                          </a:solidFill>
                          <a:latin typeface="Arial" panose="020B0604020202020204" pitchFamily="34" charset="0"/>
                          <a:cs typeface="Arial" panose="020B0604020202020204" pitchFamily="34" charset="0"/>
                        </a:rPr>
                        <a:t>Agree that the </a:t>
                      </a:r>
                      <a:r>
                        <a:rPr lang="en-US" sz="1800" b="1" dirty="0">
                          <a:solidFill>
                            <a:schemeClr val="tx1">
                              <a:lumMod val="65000"/>
                              <a:lumOff val="35000"/>
                            </a:schemeClr>
                          </a:solidFill>
                          <a:latin typeface="Arial" panose="020B0604020202020204" pitchFamily="34" charset="0"/>
                          <a:cs typeface="Arial" panose="020B0604020202020204" pitchFamily="34" charset="0"/>
                        </a:rPr>
                        <a:t>linkages between ED-ISQM 1 and ED-ISQM 2</a:t>
                      </a:r>
                      <a:r>
                        <a:rPr lang="en-US" sz="1800" b="0" dirty="0">
                          <a:solidFill>
                            <a:schemeClr val="tx1">
                              <a:lumMod val="65000"/>
                              <a:lumOff val="35000"/>
                            </a:schemeClr>
                          </a:solidFill>
                          <a:latin typeface="Arial" panose="020B0604020202020204" pitchFamily="34" charset="0"/>
                          <a:cs typeface="Arial" panose="020B0604020202020204" pitchFamily="34" charset="0"/>
                        </a:rPr>
                        <a:t> are appropriate and clear</a:t>
                      </a:r>
                      <a:endParaRPr lang="en-US" sz="1800" b="1" i="0" dirty="0">
                        <a:solidFill>
                          <a:schemeClr val="tx1">
                            <a:lumMod val="65000"/>
                            <a:lumOff val="35000"/>
                          </a:schemeClr>
                        </a:solidFill>
                        <a:latin typeface="Arial" panose="020B0604020202020204" pitchFamily="34" charset="0"/>
                        <a:cs typeface="Arial" panose="020B0604020202020204" pitchFamily="34" charset="0"/>
                      </a:endParaRPr>
                    </a:p>
                    <a:p>
                      <a:pPr marL="0" indent="0" algn="just">
                        <a:lnSpc>
                          <a:spcPts val="2400"/>
                        </a:lnSpc>
                        <a:spcBef>
                          <a:spcPts val="600"/>
                        </a:spcBef>
                        <a:spcAft>
                          <a:spcPts val="0"/>
                        </a:spcAft>
                        <a:buFont typeface="Arial" panose="020B0604020202020204" pitchFamily="34" charset="0"/>
                        <a:buNone/>
                      </a:pPr>
                      <a:r>
                        <a:rPr lang="en-US" sz="2000" b="1" i="0" dirty="0">
                          <a:solidFill>
                            <a:schemeClr val="tx1">
                              <a:lumMod val="65000"/>
                              <a:lumOff val="35000"/>
                            </a:schemeClr>
                          </a:solidFill>
                          <a:latin typeface="Arial" panose="020B0604020202020204" pitchFamily="34" charset="0"/>
                          <a:cs typeface="Arial" panose="020B0604020202020204" pitchFamily="34" charset="0"/>
                        </a:rPr>
                        <a:t>Question 3 - Change in terminology:</a:t>
                      </a:r>
                    </a:p>
                    <a:p>
                      <a:pPr marL="342900" indent="-342900" algn="just">
                        <a:lnSpc>
                          <a:spcPts val="2400"/>
                        </a:lnSpc>
                        <a:spcBef>
                          <a:spcPts val="600"/>
                        </a:spcBef>
                        <a:spcAft>
                          <a:spcPts val="0"/>
                        </a:spcAft>
                        <a:buFont typeface="Arial" panose="020B0604020202020204" pitchFamily="34" charset="0"/>
                        <a:buChar char="•"/>
                      </a:pPr>
                      <a:r>
                        <a:rPr lang="en-US" sz="1800" b="1" i="0" dirty="0">
                          <a:solidFill>
                            <a:schemeClr val="tx1">
                              <a:lumMod val="65000"/>
                              <a:lumOff val="35000"/>
                            </a:schemeClr>
                          </a:solidFill>
                          <a:latin typeface="Arial" panose="020B0604020202020204" pitchFamily="34" charset="0"/>
                          <a:cs typeface="Arial" panose="020B0604020202020204" pitchFamily="34" charset="0"/>
                        </a:rPr>
                        <a:t>Support the change in terminology</a:t>
                      </a:r>
                      <a:r>
                        <a:rPr lang="en-US" sz="1800" b="0" i="0" dirty="0">
                          <a:solidFill>
                            <a:schemeClr val="tx1">
                              <a:lumMod val="65000"/>
                              <a:lumOff val="35000"/>
                            </a:schemeClr>
                          </a:solidFill>
                          <a:latin typeface="Arial" panose="020B0604020202020204" pitchFamily="34" charset="0"/>
                          <a:cs typeface="Arial" panose="020B0604020202020204" pitchFamily="34" charset="0"/>
                        </a:rPr>
                        <a:t> because the emphasis is now on quality management, rather than on quality control. </a:t>
                      </a:r>
                      <a:r>
                        <a:rPr lang="en-US" sz="1800" b="1" i="0" dirty="0">
                          <a:solidFill>
                            <a:schemeClr val="tx1">
                              <a:lumMod val="65000"/>
                              <a:lumOff val="35000"/>
                            </a:schemeClr>
                          </a:solidFill>
                          <a:latin typeface="Arial" panose="020B0604020202020204" pitchFamily="34" charset="0"/>
                          <a:cs typeface="Arial" panose="020B0604020202020204" pitchFamily="34" charset="0"/>
                        </a:rPr>
                        <a:t>Do not anticipate any adverse consequences</a:t>
                      </a:r>
                      <a:r>
                        <a:rPr lang="en-US" sz="1800" b="0" i="0" dirty="0">
                          <a:solidFill>
                            <a:schemeClr val="tx1">
                              <a:lumMod val="65000"/>
                              <a:lumOff val="35000"/>
                            </a:schemeClr>
                          </a:solidFill>
                          <a:latin typeface="Arial" panose="020B0604020202020204" pitchFamily="34" charset="0"/>
                          <a:cs typeface="Arial" panose="020B0604020202020204" pitchFamily="34" charset="0"/>
                        </a:rPr>
                        <a:t> of changing the terminology.</a:t>
                      </a:r>
                    </a:p>
                  </a:txBody>
                  <a:tcPr anchor="ctr">
                    <a:noFill/>
                  </a:tcPr>
                </a:tc>
                <a:extLst>
                  <a:ext uri="{0D108BD9-81ED-4DB2-BD59-A6C34878D82A}">
                    <a16:rowId xmlns:a16="http://schemas.microsoft.com/office/drawing/2014/main" val="493788776"/>
                  </a:ext>
                </a:extLst>
              </a:tr>
            </a:tbl>
          </a:graphicData>
        </a:graphic>
      </p:graphicFrame>
      <p:sp>
        <p:nvSpPr>
          <p:cNvPr id="9" name="Title 1">
            <a:extLst>
              <a:ext uri="{FF2B5EF4-FFF2-40B4-BE49-F238E27FC236}">
                <a16:creationId xmlns:a16="http://schemas.microsoft.com/office/drawing/2014/main" id="{752309F6-8C96-40B1-B35D-D9A26E7FD27D}"/>
              </a:ext>
            </a:extLst>
          </p:cNvPr>
          <p:cNvSpPr txBox="1">
            <a:spLocks/>
          </p:cNvSpPr>
          <p:nvPr/>
        </p:nvSpPr>
        <p:spPr>
          <a:xfrm>
            <a:off x="0" y="427038"/>
            <a:ext cx="9144000" cy="404812"/>
          </a:xfrm>
          <a:prstGeom prst="rect">
            <a:avLst/>
          </a:prstGeom>
        </p:spPr>
        <p:txBody>
          <a:bodyPr anchor="ct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200" b="1" dirty="0"/>
              <a:t>What We Heard in Responses to ED-ISQM 2 – Questions 1 to 3</a:t>
            </a:r>
          </a:p>
        </p:txBody>
      </p:sp>
      <p:sp>
        <p:nvSpPr>
          <p:cNvPr id="11" name="Slide Number Placeholder 5">
            <a:extLst>
              <a:ext uri="{FF2B5EF4-FFF2-40B4-BE49-F238E27FC236}">
                <a16:creationId xmlns:a16="http://schemas.microsoft.com/office/drawing/2014/main" id="{549D6B13-12B7-41AD-8E12-170B967DCF1A}"/>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17</a:t>
            </a:fld>
            <a:endParaRPr lang="en-US" sz="675" dirty="0">
              <a:solidFill>
                <a:srgbClr val="808080"/>
              </a:solidFill>
              <a:latin typeface="Arial" panose="020B0604020202020204" pitchFamily="34" charset="0"/>
            </a:endParaRPr>
          </a:p>
        </p:txBody>
      </p:sp>
    </p:spTree>
    <p:extLst>
      <p:ext uri="{BB962C8B-B14F-4D97-AF65-F5344CB8AC3E}">
        <p14:creationId xmlns:p14="http://schemas.microsoft.com/office/powerpoint/2010/main" val="1104401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226792455"/>
              </p:ext>
            </p:extLst>
          </p:nvPr>
        </p:nvGraphicFramePr>
        <p:xfrm>
          <a:off x="430620" y="1625357"/>
          <a:ext cx="8302366" cy="3091105"/>
        </p:xfrm>
        <a:graphic>
          <a:graphicData uri="http://schemas.openxmlformats.org/drawingml/2006/table">
            <a:tbl>
              <a:tblPr firstRow="1" bandRow="1">
                <a:tableStyleId>{5C22544A-7EE6-4342-B048-85BDC9FD1C3A}</a:tableStyleId>
              </a:tblPr>
              <a:tblGrid>
                <a:gridCol w="8302366">
                  <a:extLst>
                    <a:ext uri="{9D8B030D-6E8A-4147-A177-3AD203B41FA5}">
                      <a16:colId xmlns:a16="http://schemas.microsoft.com/office/drawing/2014/main" val="713251629"/>
                    </a:ext>
                  </a:extLst>
                </a:gridCol>
              </a:tblGrid>
              <a:tr h="3091105">
                <a:tc>
                  <a:txBody>
                    <a:bodyPr/>
                    <a:lstStyle/>
                    <a:p>
                      <a:pPr marL="0" indent="0" algn="just">
                        <a:lnSpc>
                          <a:spcPts val="2400"/>
                        </a:lnSpc>
                        <a:spcBef>
                          <a:spcPts val="600"/>
                        </a:spcBef>
                        <a:spcAft>
                          <a:spcPts val="0"/>
                        </a:spcAft>
                        <a:buFont typeface="Arial" panose="020B0604020202020204" pitchFamily="34" charset="0"/>
                        <a:buNone/>
                      </a:pPr>
                      <a:r>
                        <a:rPr lang="en-US" sz="2000" b="1" i="0" dirty="0">
                          <a:solidFill>
                            <a:schemeClr val="tx1">
                              <a:lumMod val="65000"/>
                              <a:lumOff val="35000"/>
                            </a:schemeClr>
                          </a:solidFill>
                          <a:latin typeface="Arial" panose="020B0604020202020204" pitchFamily="34" charset="0"/>
                          <a:cs typeface="Arial" panose="020B0604020202020204" pitchFamily="34" charset="0"/>
                        </a:rPr>
                        <a:t>Question 4 - Eligibility:</a:t>
                      </a:r>
                    </a:p>
                    <a:p>
                      <a:pPr marL="342900" indent="-342900" algn="just">
                        <a:lnSpc>
                          <a:spcPts val="2400"/>
                        </a:lnSpc>
                        <a:spcBef>
                          <a:spcPts val="600"/>
                        </a:spcBef>
                        <a:spcAft>
                          <a:spcPts val="0"/>
                        </a:spcAft>
                        <a:buFont typeface="Arial" panose="020B0604020202020204" pitchFamily="34" charset="0"/>
                        <a:buChar char="•"/>
                      </a:pPr>
                      <a:r>
                        <a:rPr lang="en-US" sz="1800" b="0" i="0" dirty="0">
                          <a:solidFill>
                            <a:schemeClr val="tx1">
                              <a:lumMod val="65000"/>
                              <a:lumOff val="35000"/>
                            </a:schemeClr>
                          </a:solidFill>
                          <a:latin typeface="Arial" panose="020B0604020202020204" pitchFamily="34" charset="0"/>
                          <a:cs typeface="Arial" panose="020B0604020202020204" pitchFamily="34" charset="0"/>
                        </a:rPr>
                        <a:t>Consider whether the </a:t>
                      </a:r>
                      <a:r>
                        <a:rPr lang="en-US" sz="1800" b="1" i="0" dirty="0">
                          <a:solidFill>
                            <a:schemeClr val="tx1">
                              <a:lumMod val="65000"/>
                              <a:lumOff val="35000"/>
                            </a:schemeClr>
                          </a:solidFill>
                          <a:latin typeface="Arial" panose="020B0604020202020204" pitchFamily="34" charset="0"/>
                          <a:cs typeface="Arial" panose="020B0604020202020204" pitchFamily="34" charset="0"/>
                        </a:rPr>
                        <a:t>limitations on eligibility</a:t>
                      </a:r>
                      <a:r>
                        <a:rPr lang="en-US" sz="1800" b="0" i="0" dirty="0">
                          <a:solidFill>
                            <a:schemeClr val="tx1">
                              <a:lumMod val="65000"/>
                              <a:lumOff val="35000"/>
                            </a:schemeClr>
                          </a:solidFill>
                          <a:latin typeface="Arial" panose="020B0604020202020204" pitchFamily="34" charset="0"/>
                          <a:cs typeface="Arial" panose="020B0604020202020204" pitchFamily="34" charset="0"/>
                        </a:rPr>
                        <a:t> of an engagement partner moving into an EQ reviewer role should also </a:t>
                      </a:r>
                      <a:r>
                        <a:rPr lang="en-US" sz="1800" b="1" i="0" dirty="0">
                          <a:solidFill>
                            <a:schemeClr val="tx1">
                              <a:lumMod val="65000"/>
                              <a:lumOff val="35000"/>
                            </a:schemeClr>
                          </a:solidFill>
                          <a:latin typeface="Arial" panose="020B0604020202020204" pitchFamily="34" charset="0"/>
                          <a:cs typeface="Arial" panose="020B0604020202020204" pitchFamily="34" charset="0"/>
                        </a:rPr>
                        <a:t>apply to other roles on the engagement</a:t>
                      </a:r>
                      <a:endParaRPr lang="en-US" sz="1800" b="0" i="0" dirty="0">
                        <a:solidFill>
                          <a:schemeClr val="tx1">
                            <a:lumMod val="65000"/>
                            <a:lumOff val="35000"/>
                          </a:schemeClr>
                        </a:solidFill>
                        <a:latin typeface="Arial" panose="020B0604020202020204" pitchFamily="34" charset="0"/>
                        <a:cs typeface="Arial" panose="020B0604020202020204" pitchFamily="34" charset="0"/>
                      </a:endParaRPr>
                    </a:p>
                    <a:p>
                      <a:pPr marL="0" indent="0" algn="just">
                        <a:lnSpc>
                          <a:spcPts val="2400"/>
                        </a:lnSpc>
                        <a:spcBef>
                          <a:spcPts val="600"/>
                        </a:spcBef>
                        <a:spcAft>
                          <a:spcPts val="0"/>
                        </a:spcAft>
                        <a:buFont typeface="Arial" panose="020B0604020202020204" pitchFamily="34" charset="0"/>
                        <a:buNone/>
                      </a:pPr>
                      <a:endParaRPr lang="en-US" sz="1800" b="0" i="0" dirty="0">
                        <a:solidFill>
                          <a:schemeClr val="tx1">
                            <a:lumMod val="65000"/>
                            <a:lumOff val="35000"/>
                          </a:schemeClr>
                        </a:solidFill>
                        <a:latin typeface="Arial" panose="020B0604020202020204" pitchFamily="34" charset="0"/>
                        <a:cs typeface="Arial" panose="020B0604020202020204" pitchFamily="34" charset="0"/>
                      </a:endParaRPr>
                    </a:p>
                    <a:p>
                      <a:pPr marL="342900" indent="-342900" algn="just">
                        <a:lnSpc>
                          <a:spcPts val="2400"/>
                        </a:lnSpc>
                        <a:spcBef>
                          <a:spcPts val="600"/>
                        </a:spcBef>
                        <a:spcAft>
                          <a:spcPts val="0"/>
                        </a:spcAft>
                        <a:buFont typeface="Arial" panose="020B0604020202020204" pitchFamily="34" charset="0"/>
                        <a:buChar char="•"/>
                      </a:pPr>
                      <a:r>
                        <a:rPr lang="en-US" sz="1800" b="0" i="0" dirty="0">
                          <a:solidFill>
                            <a:schemeClr val="tx1">
                              <a:lumMod val="65000"/>
                              <a:lumOff val="35000"/>
                            </a:schemeClr>
                          </a:solidFill>
                          <a:latin typeface="Arial" panose="020B0604020202020204" pitchFamily="34" charset="0"/>
                          <a:cs typeface="Arial" panose="020B0604020202020204" pitchFamily="34" charset="0"/>
                        </a:rPr>
                        <a:t>Clarify if the </a:t>
                      </a:r>
                      <a:r>
                        <a:rPr lang="en-US" sz="1800" b="1" i="0" dirty="0">
                          <a:solidFill>
                            <a:schemeClr val="tx1">
                              <a:lumMod val="65000"/>
                              <a:lumOff val="35000"/>
                            </a:schemeClr>
                          </a:solidFill>
                          <a:latin typeface="Arial" panose="020B0604020202020204" pitchFamily="34" charset="0"/>
                          <a:cs typeface="Arial" panose="020B0604020202020204" pitchFamily="34" charset="0"/>
                        </a:rPr>
                        <a:t>principle on threats to objectivity and guidance on cooling-off period</a:t>
                      </a:r>
                      <a:r>
                        <a:rPr lang="en-US" sz="1800" b="0" i="0" dirty="0">
                          <a:solidFill>
                            <a:schemeClr val="tx1">
                              <a:lumMod val="65000"/>
                              <a:lumOff val="35000"/>
                            </a:schemeClr>
                          </a:solidFill>
                          <a:latin typeface="Arial" panose="020B0604020202020204" pitchFamily="34" charset="0"/>
                          <a:cs typeface="Arial" panose="020B0604020202020204" pitchFamily="34" charset="0"/>
                        </a:rPr>
                        <a:t> also </a:t>
                      </a:r>
                      <a:r>
                        <a:rPr lang="en-US" sz="1800" b="1" i="0" dirty="0">
                          <a:solidFill>
                            <a:schemeClr val="tx1">
                              <a:lumMod val="65000"/>
                              <a:lumOff val="35000"/>
                            </a:schemeClr>
                          </a:solidFill>
                          <a:latin typeface="Arial" panose="020B0604020202020204" pitchFamily="34" charset="0"/>
                          <a:cs typeface="Arial" panose="020B0604020202020204" pitchFamily="34" charset="0"/>
                        </a:rPr>
                        <a:t>apply to assistants of the EQ reviewer</a:t>
                      </a:r>
                      <a:endParaRPr lang="en-US" sz="1800" b="0" i="0" dirty="0">
                        <a:solidFill>
                          <a:schemeClr val="tx1">
                            <a:lumMod val="65000"/>
                            <a:lumOff val="35000"/>
                          </a:schemeClr>
                        </a:solidFill>
                        <a:latin typeface="Arial" panose="020B0604020202020204" pitchFamily="34" charset="0"/>
                        <a:cs typeface="Arial" panose="020B0604020202020204" pitchFamily="34" charset="0"/>
                      </a:endParaRPr>
                    </a:p>
                  </a:txBody>
                  <a:tcPr>
                    <a:noFill/>
                  </a:tcPr>
                </a:tc>
                <a:extLst>
                  <a:ext uri="{0D108BD9-81ED-4DB2-BD59-A6C34878D82A}">
                    <a16:rowId xmlns:a16="http://schemas.microsoft.com/office/drawing/2014/main" val="493788776"/>
                  </a:ext>
                </a:extLst>
              </a:tr>
            </a:tbl>
          </a:graphicData>
        </a:graphic>
      </p:graphicFrame>
      <p:sp>
        <p:nvSpPr>
          <p:cNvPr id="9" name="Title 1">
            <a:extLst>
              <a:ext uri="{FF2B5EF4-FFF2-40B4-BE49-F238E27FC236}">
                <a16:creationId xmlns:a16="http://schemas.microsoft.com/office/drawing/2014/main" id="{752309F6-8C96-40B1-B35D-D9A26E7FD27D}"/>
              </a:ext>
            </a:extLst>
          </p:cNvPr>
          <p:cNvSpPr txBox="1">
            <a:spLocks/>
          </p:cNvSpPr>
          <p:nvPr/>
        </p:nvSpPr>
        <p:spPr>
          <a:xfrm>
            <a:off x="0" y="427038"/>
            <a:ext cx="9144000" cy="404812"/>
          </a:xfrm>
          <a:prstGeom prst="rect">
            <a:avLst/>
          </a:prstGeom>
        </p:spPr>
        <p:txBody>
          <a:bodyPr anchor="ct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200" b="1" dirty="0"/>
              <a:t>What We Heard in Responses to ED-ISQM 2 – Question 4</a:t>
            </a:r>
          </a:p>
        </p:txBody>
      </p:sp>
      <p:sp>
        <p:nvSpPr>
          <p:cNvPr id="11" name="Slide Number Placeholder 5">
            <a:extLst>
              <a:ext uri="{FF2B5EF4-FFF2-40B4-BE49-F238E27FC236}">
                <a16:creationId xmlns:a16="http://schemas.microsoft.com/office/drawing/2014/main" id="{549D6B13-12B7-41AD-8E12-170B967DCF1A}"/>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18</a:t>
            </a:fld>
            <a:endParaRPr lang="en-US" sz="675" dirty="0">
              <a:solidFill>
                <a:srgbClr val="808080"/>
              </a:solidFill>
              <a:latin typeface="Arial" panose="020B0604020202020204" pitchFamily="34" charset="0"/>
            </a:endParaRPr>
          </a:p>
        </p:txBody>
      </p:sp>
      <p:sp>
        <p:nvSpPr>
          <p:cNvPr id="3" name="TextBox 2">
            <a:extLst>
              <a:ext uri="{FF2B5EF4-FFF2-40B4-BE49-F238E27FC236}">
                <a16:creationId xmlns:a16="http://schemas.microsoft.com/office/drawing/2014/main" id="{D87EE9A7-C7E8-40B4-88A8-21F5C6E56600}"/>
              </a:ext>
            </a:extLst>
          </p:cNvPr>
          <p:cNvSpPr txBox="1"/>
          <p:nvPr/>
        </p:nvSpPr>
        <p:spPr>
          <a:xfrm>
            <a:off x="430620" y="886693"/>
            <a:ext cx="8282760" cy="738664"/>
          </a:xfrm>
          <a:prstGeom prst="rect">
            <a:avLst/>
          </a:prstGeom>
          <a:noFill/>
        </p:spPr>
        <p:txBody>
          <a:bodyPr wrap="square" rtlCol="0">
            <a:spAutoFit/>
          </a:bodyPr>
          <a:lstStyle/>
          <a:p>
            <a:pPr algn="just"/>
            <a:r>
              <a:rPr lang="en-US" sz="1400" b="1" i="1" dirty="0">
                <a:solidFill>
                  <a:schemeClr val="tx1">
                    <a:lumMod val="65000"/>
                    <a:lumOff val="35000"/>
                  </a:schemeClr>
                </a:solidFill>
                <a:latin typeface="Arial" panose="020B0604020202020204" pitchFamily="34" charset="0"/>
                <a:cs typeface="Arial" panose="020B0604020202020204" pitchFamily="34" charset="0"/>
              </a:rPr>
              <a:t>Note: These points relate to considerations other than those discussed on slides 6 and 9 relating to objectivity and a cooling-off period for an engagement partner moving into the EQ reviewer role.</a:t>
            </a:r>
          </a:p>
        </p:txBody>
      </p:sp>
    </p:spTree>
    <p:extLst>
      <p:ext uri="{BB962C8B-B14F-4D97-AF65-F5344CB8AC3E}">
        <p14:creationId xmlns:p14="http://schemas.microsoft.com/office/powerpoint/2010/main" val="27882514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356110660"/>
              </p:ext>
            </p:extLst>
          </p:nvPr>
        </p:nvGraphicFramePr>
        <p:xfrm>
          <a:off x="430620" y="912239"/>
          <a:ext cx="8441154" cy="3804224"/>
        </p:xfrm>
        <a:graphic>
          <a:graphicData uri="http://schemas.openxmlformats.org/drawingml/2006/table">
            <a:tbl>
              <a:tblPr firstRow="1" bandRow="1">
                <a:tableStyleId>{5C22544A-7EE6-4342-B048-85BDC9FD1C3A}</a:tableStyleId>
              </a:tblPr>
              <a:tblGrid>
                <a:gridCol w="8441154">
                  <a:extLst>
                    <a:ext uri="{9D8B030D-6E8A-4147-A177-3AD203B41FA5}">
                      <a16:colId xmlns:a16="http://schemas.microsoft.com/office/drawing/2014/main" val="713251629"/>
                    </a:ext>
                  </a:extLst>
                </a:gridCol>
              </a:tblGrid>
              <a:tr h="3804224">
                <a:tc>
                  <a:txBody>
                    <a:bodyPr/>
                    <a:lstStyle/>
                    <a:p>
                      <a:pPr marL="0" indent="0" algn="l">
                        <a:lnSpc>
                          <a:spcPts val="2400"/>
                        </a:lnSpc>
                        <a:spcBef>
                          <a:spcPts val="600"/>
                        </a:spcBef>
                        <a:spcAft>
                          <a:spcPts val="0"/>
                        </a:spcAft>
                        <a:buFont typeface="Arial" panose="020B0604020202020204" pitchFamily="34" charset="0"/>
                        <a:buNone/>
                      </a:pPr>
                      <a:r>
                        <a:rPr lang="en-US" sz="2000" b="1" i="0" dirty="0">
                          <a:solidFill>
                            <a:schemeClr val="tx1">
                              <a:lumMod val="65000"/>
                              <a:lumOff val="35000"/>
                            </a:schemeClr>
                          </a:solidFill>
                          <a:latin typeface="Arial" panose="020B0604020202020204" pitchFamily="34" charset="0"/>
                          <a:cs typeface="Arial" panose="020B0604020202020204" pitchFamily="34" charset="0"/>
                        </a:rPr>
                        <a:t>Question 5 - Nature, timing and extent of EQ reviewer’s procedures:</a:t>
                      </a:r>
                    </a:p>
                    <a:p>
                      <a:pPr marL="342900" indent="-342900" algn="just">
                        <a:lnSpc>
                          <a:spcPts val="2400"/>
                        </a:lnSpc>
                        <a:spcBef>
                          <a:spcPts val="600"/>
                        </a:spcBef>
                        <a:spcAft>
                          <a:spcPts val="0"/>
                        </a:spcAft>
                        <a:buFont typeface="Arial" panose="020B0604020202020204" pitchFamily="34" charset="0"/>
                        <a:buChar char="•"/>
                      </a:pPr>
                      <a:r>
                        <a:rPr lang="en-US" sz="1800" b="0" i="0" dirty="0">
                          <a:solidFill>
                            <a:schemeClr val="tx1">
                              <a:lumMod val="65000"/>
                              <a:lumOff val="35000"/>
                            </a:schemeClr>
                          </a:solidFill>
                          <a:latin typeface="Arial" panose="020B0604020202020204" pitchFamily="34" charset="0"/>
                          <a:cs typeface="Arial" panose="020B0604020202020204" pitchFamily="34" charset="0"/>
                        </a:rPr>
                        <a:t>Define, or provide guidance</a:t>
                      </a:r>
                      <a:r>
                        <a:rPr lang="en-US" sz="1800" b="0" i="0" baseline="0" dirty="0">
                          <a:solidFill>
                            <a:schemeClr val="tx1">
                              <a:lumMod val="65000"/>
                              <a:lumOff val="35000"/>
                            </a:schemeClr>
                          </a:solidFill>
                          <a:latin typeface="Arial" panose="020B0604020202020204" pitchFamily="34" charset="0"/>
                          <a:cs typeface="Arial" panose="020B0604020202020204" pitchFamily="34" charset="0"/>
                        </a:rPr>
                        <a:t> on, </a:t>
                      </a:r>
                      <a:r>
                        <a:rPr lang="en-US" sz="1800" b="1" i="0" dirty="0">
                          <a:solidFill>
                            <a:schemeClr val="tx1">
                              <a:lumMod val="65000"/>
                              <a:lumOff val="35000"/>
                            </a:schemeClr>
                          </a:solidFill>
                          <a:latin typeface="Arial" panose="020B0604020202020204" pitchFamily="34" charset="0"/>
                          <a:cs typeface="Arial" panose="020B0604020202020204" pitchFamily="34" charset="0"/>
                        </a:rPr>
                        <a:t>significant matters</a:t>
                      </a:r>
                      <a:r>
                        <a:rPr lang="en-US" sz="1800" b="0" i="0" dirty="0">
                          <a:solidFill>
                            <a:schemeClr val="tx1">
                              <a:lumMod val="65000"/>
                              <a:lumOff val="35000"/>
                            </a:schemeClr>
                          </a:solidFill>
                          <a:latin typeface="Arial" panose="020B0604020202020204" pitchFamily="34" charset="0"/>
                          <a:cs typeface="Arial" panose="020B0604020202020204" pitchFamily="34" charset="0"/>
                        </a:rPr>
                        <a:t> and </a:t>
                      </a:r>
                      <a:r>
                        <a:rPr lang="en-US" sz="1800" b="1" i="0" dirty="0">
                          <a:solidFill>
                            <a:schemeClr val="tx1">
                              <a:lumMod val="65000"/>
                              <a:lumOff val="35000"/>
                            </a:schemeClr>
                          </a:solidFill>
                          <a:latin typeface="Arial" panose="020B0604020202020204" pitchFamily="34" charset="0"/>
                          <a:cs typeface="Arial" panose="020B0604020202020204" pitchFamily="34" charset="0"/>
                        </a:rPr>
                        <a:t>significant judgments</a:t>
                      </a:r>
                      <a:endParaRPr lang="en-US" sz="1800" b="0" i="0" dirty="0">
                        <a:solidFill>
                          <a:schemeClr val="tx1">
                            <a:lumMod val="65000"/>
                            <a:lumOff val="35000"/>
                          </a:schemeClr>
                        </a:solidFill>
                        <a:latin typeface="Arial" panose="020B0604020202020204" pitchFamily="34" charset="0"/>
                        <a:cs typeface="Arial" panose="020B0604020202020204" pitchFamily="34" charset="0"/>
                      </a:endParaRPr>
                    </a:p>
                    <a:p>
                      <a:pPr marL="342900" indent="-342900" algn="just">
                        <a:lnSpc>
                          <a:spcPts val="2400"/>
                        </a:lnSpc>
                        <a:spcBef>
                          <a:spcPts val="600"/>
                        </a:spcBef>
                        <a:spcAft>
                          <a:spcPts val="0"/>
                        </a:spcAft>
                        <a:buFont typeface="Arial" panose="020B0604020202020204" pitchFamily="34" charset="0"/>
                        <a:buChar char="•"/>
                      </a:pPr>
                      <a:r>
                        <a:rPr lang="en-US" sz="1800" b="0" i="0" kern="1200" dirty="0">
                          <a:solidFill>
                            <a:schemeClr val="tx1">
                              <a:lumMod val="65000"/>
                              <a:lumOff val="35000"/>
                            </a:schemeClr>
                          </a:solidFill>
                          <a:latin typeface="Arial" panose="020B0604020202020204" pitchFamily="34" charset="0"/>
                          <a:ea typeface="+mn-ea"/>
                          <a:cs typeface="Arial" panose="020B0604020202020204" pitchFamily="34" charset="0"/>
                        </a:rPr>
                        <a:t>Clarify </a:t>
                      </a:r>
                      <a:r>
                        <a:rPr lang="en-US" sz="1800" b="1" i="0" kern="1200" dirty="0">
                          <a:solidFill>
                            <a:schemeClr val="tx1">
                              <a:lumMod val="65000"/>
                              <a:lumOff val="35000"/>
                            </a:schemeClr>
                          </a:solidFill>
                          <a:latin typeface="Arial" panose="020B0604020202020204" pitchFamily="34" charset="0"/>
                          <a:ea typeface="+mn-ea"/>
                          <a:cs typeface="Arial" panose="020B0604020202020204" pitchFamily="34" charset="0"/>
                        </a:rPr>
                        <a:t>how to demonstrate</a:t>
                      </a:r>
                      <a:r>
                        <a:rPr lang="en-US" sz="1800" b="0" i="0" kern="1200" dirty="0">
                          <a:solidFill>
                            <a:schemeClr val="tx1">
                              <a:lumMod val="65000"/>
                              <a:lumOff val="35000"/>
                            </a:schemeClr>
                          </a:solidFill>
                          <a:latin typeface="Arial" panose="020B0604020202020204" pitchFamily="34" charset="0"/>
                          <a:ea typeface="+mn-ea"/>
                          <a:cs typeface="Arial" panose="020B0604020202020204" pitchFamily="34" charset="0"/>
                        </a:rPr>
                        <a:t>, or </a:t>
                      </a:r>
                      <a:r>
                        <a:rPr lang="en-US" sz="1800" b="1" i="0" kern="1200" dirty="0">
                          <a:solidFill>
                            <a:schemeClr val="tx1">
                              <a:lumMod val="65000"/>
                              <a:lumOff val="35000"/>
                            </a:schemeClr>
                          </a:solidFill>
                          <a:latin typeface="Arial" panose="020B0604020202020204" pitchFamily="34" charset="0"/>
                          <a:ea typeface="+mn-ea"/>
                          <a:cs typeface="Arial" panose="020B0604020202020204" pitchFamily="34" charset="0"/>
                        </a:rPr>
                        <a:t>how to document</a:t>
                      </a:r>
                      <a:r>
                        <a:rPr lang="en-US" sz="1800" b="0" i="0" kern="1200" dirty="0">
                          <a:solidFill>
                            <a:schemeClr val="tx1">
                              <a:lumMod val="65000"/>
                              <a:lumOff val="35000"/>
                            </a:schemeClr>
                          </a:solidFill>
                          <a:latin typeface="Arial" panose="020B0604020202020204" pitchFamily="34" charset="0"/>
                          <a:ea typeface="+mn-ea"/>
                          <a:cs typeface="Arial" panose="020B0604020202020204" pitchFamily="34" charset="0"/>
                        </a:rPr>
                        <a:t> </a:t>
                      </a:r>
                      <a:r>
                        <a:rPr lang="en-US" sz="1800" b="1" i="0" kern="1200" dirty="0">
                          <a:solidFill>
                            <a:schemeClr val="tx1">
                              <a:lumMod val="65000"/>
                              <a:lumOff val="35000"/>
                            </a:schemeClr>
                          </a:solidFill>
                          <a:latin typeface="Arial" panose="020B0604020202020204" pitchFamily="34" charset="0"/>
                          <a:ea typeface="+mn-ea"/>
                          <a:cs typeface="Arial" panose="020B0604020202020204" pitchFamily="34" charset="0"/>
                        </a:rPr>
                        <a:t>compliance </a:t>
                      </a:r>
                      <a:r>
                        <a:rPr lang="en-US" sz="1800" b="0" i="0" kern="1200" dirty="0">
                          <a:solidFill>
                            <a:schemeClr val="tx1">
                              <a:lumMod val="65000"/>
                              <a:lumOff val="35000"/>
                            </a:schemeClr>
                          </a:solidFill>
                          <a:latin typeface="Arial" panose="020B0604020202020204" pitchFamily="34" charset="0"/>
                          <a:ea typeface="+mn-ea"/>
                          <a:cs typeface="Arial" panose="020B0604020202020204" pitchFamily="34" charset="0"/>
                        </a:rPr>
                        <a:t>with the requirements</a:t>
                      </a:r>
                    </a:p>
                    <a:p>
                      <a:pPr marL="342900" indent="-342900" algn="just">
                        <a:lnSpc>
                          <a:spcPts val="2400"/>
                        </a:lnSpc>
                        <a:spcBef>
                          <a:spcPts val="600"/>
                        </a:spcBef>
                        <a:spcAft>
                          <a:spcPts val="0"/>
                        </a:spcAft>
                        <a:buFont typeface="Arial" panose="020B0604020202020204" pitchFamily="34" charset="0"/>
                        <a:buChar char="•"/>
                      </a:pPr>
                      <a:r>
                        <a:rPr lang="en-US" sz="1800" b="0" i="0" dirty="0">
                          <a:solidFill>
                            <a:schemeClr val="tx1">
                              <a:lumMod val="65000"/>
                              <a:lumOff val="35000"/>
                            </a:schemeClr>
                          </a:solidFill>
                          <a:latin typeface="Arial" panose="020B0604020202020204" pitchFamily="34" charset="0"/>
                          <a:cs typeface="Arial" panose="020B0604020202020204" pitchFamily="34" charset="0"/>
                        </a:rPr>
                        <a:t>Clarify the </a:t>
                      </a:r>
                      <a:r>
                        <a:rPr lang="en-US" sz="1800" b="1" i="0" dirty="0">
                          <a:solidFill>
                            <a:schemeClr val="tx1">
                              <a:lumMod val="65000"/>
                              <a:lumOff val="35000"/>
                            </a:schemeClr>
                          </a:solidFill>
                          <a:latin typeface="Arial" panose="020B0604020202020204" pitchFamily="34" charset="0"/>
                          <a:cs typeface="Arial" panose="020B0604020202020204" pitchFamily="34" charset="0"/>
                        </a:rPr>
                        <a:t>replacement EQ reviewer’s responsibilities</a:t>
                      </a:r>
                      <a:r>
                        <a:rPr lang="en-US" sz="1800" b="0" i="0" dirty="0">
                          <a:solidFill>
                            <a:schemeClr val="tx1">
                              <a:lumMod val="65000"/>
                              <a:lumOff val="35000"/>
                            </a:schemeClr>
                          </a:solidFill>
                          <a:latin typeface="Arial" panose="020B0604020202020204" pitchFamily="34" charset="0"/>
                          <a:cs typeface="Arial" panose="020B0604020202020204" pitchFamily="34" charset="0"/>
                        </a:rPr>
                        <a:t> and the </a:t>
                      </a:r>
                      <a:r>
                        <a:rPr lang="en-US" sz="1800" b="1" i="0" dirty="0">
                          <a:solidFill>
                            <a:schemeClr val="tx1">
                              <a:lumMod val="65000"/>
                              <a:lumOff val="35000"/>
                            </a:schemeClr>
                          </a:solidFill>
                          <a:latin typeface="Arial" panose="020B0604020202020204" pitchFamily="34" charset="0"/>
                          <a:cs typeface="Arial" panose="020B0604020202020204" pitchFamily="34" charset="0"/>
                        </a:rPr>
                        <a:t>EQ reviewer assistant’s responsibilities</a:t>
                      </a:r>
                      <a:endParaRPr lang="en-US" sz="1800" b="0" i="0" dirty="0">
                        <a:solidFill>
                          <a:schemeClr val="tx1">
                            <a:lumMod val="65000"/>
                            <a:lumOff val="35000"/>
                          </a:schemeClr>
                        </a:solidFill>
                        <a:latin typeface="Arial" panose="020B0604020202020204" pitchFamily="34" charset="0"/>
                        <a:cs typeface="Arial" panose="020B0604020202020204" pitchFamily="34" charset="0"/>
                      </a:endParaRPr>
                    </a:p>
                    <a:p>
                      <a:pPr marL="342900" indent="-342900" algn="just">
                        <a:lnSpc>
                          <a:spcPts val="2400"/>
                        </a:lnSpc>
                        <a:spcBef>
                          <a:spcPts val="600"/>
                        </a:spcBef>
                        <a:spcAft>
                          <a:spcPts val="0"/>
                        </a:spcAft>
                        <a:buFont typeface="Arial" panose="020B0604020202020204" pitchFamily="34" charset="0"/>
                        <a:buChar char="•"/>
                      </a:pPr>
                      <a:r>
                        <a:rPr lang="en-US" sz="1800" b="0" i="0" dirty="0">
                          <a:solidFill>
                            <a:schemeClr val="tx1">
                              <a:lumMod val="65000"/>
                              <a:lumOff val="35000"/>
                            </a:schemeClr>
                          </a:solidFill>
                          <a:latin typeface="Arial" panose="020B0604020202020204" pitchFamily="34" charset="0"/>
                          <a:cs typeface="Arial" panose="020B0604020202020204" pitchFamily="34" charset="0"/>
                        </a:rPr>
                        <a:t>Consider the EQ reviewer’s responsibility to consider </a:t>
                      </a:r>
                      <a:r>
                        <a:rPr lang="en-US" sz="1800" b="1" i="0" dirty="0">
                          <a:solidFill>
                            <a:schemeClr val="tx1">
                              <a:lumMod val="65000"/>
                              <a:lumOff val="35000"/>
                            </a:schemeClr>
                          </a:solidFill>
                          <a:latin typeface="Arial" panose="020B0604020202020204" pitchFamily="34" charset="0"/>
                          <a:cs typeface="Arial" panose="020B0604020202020204" pitchFamily="34" charset="0"/>
                        </a:rPr>
                        <a:t>independence matters</a:t>
                      </a:r>
                      <a:r>
                        <a:rPr lang="en-US" sz="1800" b="0" i="0" dirty="0">
                          <a:solidFill>
                            <a:schemeClr val="tx1">
                              <a:lumMod val="65000"/>
                              <a:lumOff val="35000"/>
                            </a:schemeClr>
                          </a:solidFill>
                          <a:latin typeface="Arial" panose="020B0604020202020204" pitchFamily="34" charset="0"/>
                          <a:cs typeface="Arial" panose="020B0604020202020204" pitchFamily="34" charset="0"/>
                        </a:rPr>
                        <a:t> (in extant), and to review other specific matters</a:t>
                      </a:r>
                    </a:p>
                  </a:txBody>
                  <a:tcPr>
                    <a:noFill/>
                  </a:tcPr>
                </a:tc>
                <a:extLst>
                  <a:ext uri="{0D108BD9-81ED-4DB2-BD59-A6C34878D82A}">
                    <a16:rowId xmlns:a16="http://schemas.microsoft.com/office/drawing/2014/main" val="493788776"/>
                  </a:ext>
                </a:extLst>
              </a:tr>
            </a:tbl>
          </a:graphicData>
        </a:graphic>
      </p:graphicFrame>
      <p:sp>
        <p:nvSpPr>
          <p:cNvPr id="9" name="Title 1">
            <a:extLst>
              <a:ext uri="{FF2B5EF4-FFF2-40B4-BE49-F238E27FC236}">
                <a16:creationId xmlns:a16="http://schemas.microsoft.com/office/drawing/2014/main" id="{752309F6-8C96-40B1-B35D-D9A26E7FD27D}"/>
              </a:ext>
            </a:extLst>
          </p:cNvPr>
          <p:cNvSpPr txBox="1">
            <a:spLocks/>
          </p:cNvSpPr>
          <p:nvPr/>
        </p:nvSpPr>
        <p:spPr>
          <a:xfrm>
            <a:off x="0" y="427038"/>
            <a:ext cx="9144000" cy="404812"/>
          </a:xfrm>
          <a:prstGeom prst="rect">
            <a:avLst/>
          </a:prstGeom>
        </p:spPr>
        <p:txBody>
          <a:bodyPr anchor="ct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200" b="1" dirty="0"/>
              <a:t>What We Heard in Responses to ED-ISQM 2 – Question 5</a:t>
            </a:r>
          </a:p>
        </p:txBody>
      </p:sp>
      <p:sp>
        <p:nvSpPr>
          <p:cNvPr id="11" name="Slide Number Placeholder 5">
            <a:extLst>
              <a:ext uri="{FF2B5EF4-FFF2-40B4-BE49-F238E27FC236}">
                <a16:creationId xmlns:a16="http://schemas.microsoft.com/office/drawing/2014/main" id="{549D6B13-12B7-41AD-8E12-170B967DCF1A}"/>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19</a:t>
            </a:fld>
            <a:endParaRPr lang="en-US" sz="675" dirty="0">
              <a:solidFill>
                <a:srgbClr val="808080"/>
              </a:solidFill>
              <a:latin typeface="Arial" panose="020B0604020202020204" pitchFamily="34" charset="0"/>
            </a:endParaRPr>
          </a:p>
        </p:txBody>
      </p:sp>
    </p:spTree>
    <p:extLst>
      <p:ext uri="{BB962C8B-B14F-4D97-AF65-F5344CB8AC3E}">
        <p14:creationId xmlns:p14="http://schemas.microsoft.com/office/powerpoint/2010/main" val="37339206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925738272"/>
              </p:ext>
            </p:extLst>
          </p:nvPr>
        </p:nvGraphicFramePr>
        <p:xfrm>
          <a:off x="430620" y="954593"/>
          <a:ext cx="8302366" cy="3761869"/>
        </p:xfrm>
        <a:graphic>
          <a:graphicData uri="http://schemas.openxmlformats.org/drawingml/2006/table">
            <a:tbl>
              <a:tblPr firstRow="1" bandRow="1">
                <a:tableStyleId>{5C22544A-7EE6-4342-B048-85BDC9FD1C3A}</a:tableStyleId>
              </a:tblPr>
              <a:tblGrid>
                <a:gridCol w="8302366">
                  <a:extLst>
                    <a:ext uri="{9D8B030D-6E8A-4147-A177-3AD203B41FA5}">
                      <a16:colId xmlns:a16="http://schemas.microsoft.com/office/drawing/2014/main" val="713251629"/>
                    </a:ext>
                  </a:extLst>
                </a:gridCol>
              </a:tblGrid>
              <a:tr h="3761869">
                <a:tc>
                  <a:txBody>
                    <a:bodyPr/>
                    <a:lstStyle/>
                    <a:p>
                      <a:pPr marL="0" indent="0" algn="just">
                        <a:lnSpc>
                          <a:spcPts val="2400"/>
                        </a:lnSpc>
                        <a:spcBef>
                          <a:spcPts val="600"/>
                        </a:spcBef>
                        <a:spcAft>
                          <a:spcPts val="0"/>
                        </a:spcAft>
                        <a:buFont typeface="Arial" panose="020B0604020202020204" pitchFamily="34" charset="0"/>
                        <a:buNone/>
                      </a:pPr>
                      <a:r>
                        <a:rPr lang="en-US" sz="2000" b="1" i="0" dirty="0">
                          <a:solidFill>
                            <a:schemeClr val="tx1">
                              <a:lumMod val="65000"/>
                              <a:lumOff val="35000"/>
                            </a:schemeClr>
                          </a:solidFill>
                          <a:latin typeface="Arial" panose="020B0604020202020204" pitchFamily="34" charset="0"/>
                          <a:cs typeface="Arial" panose="020B0604020202020204" pitchFamily="34" charset="0"/>
                        </a:rPr>
                        <a:t>Question 7 - Documentation:</a:t>
                      </a:r>
                      <a:endParaRPr lang="en-US" sz="2000" b="0" i="0" dirty="0">
                        <a:solidFill>
                          <a:schemeClr val="tx1">
                            <a:lumMod val="65000"/>
                            <a:lumOff val="35000"/>
                          </a:schemeClr>
                        </a:solidFill>
                        <a:latin typeface="Arial" panose="020B0604020202020204" pitchFamily="34" charset="0"/>
                        <a:cs typeface="Arial" panose="020B0604020202020204" pitchFamily="34" charset="0"/>
                      </a:endParaRPr>
                    </a:p>
                    <a:p>
                      <a:pPr marL="342900" indent="-342900" algn="just">
                        <a:lnSpc>
                          <a:spcPts val="2400"/>
                        </a:lnSpc>
                        <a:spcBef>
                          <a:spcPts val="600"/>
                        </a:spcBef>
                        <a:spcAft>
                          <a:spcPts val="0"/>
                        </a:spcAft>
                        <a:buFont typeface="Arial" panose="020B0604020202020204" pitchFamily="34" charset="0"/>
                        <a:buChar char="•"/>
                      </a:pPr>
                      <a:r>
                        <a:rPr lang="en-US" sz="1800" b="0" i="0" dirty="0">
                          <a:solidFill>
                            <a:schemeClr val="tx1">
                              <a:lumMod val="65000"/>
                              <a:lumOff val="35000"/>
                            </a:schemeClr>
                          </a:solidFill>
                          <a:latin typeface="Arial" panose="020B0604020202020204" pitchFamily="34" charset="0"/>
                          <a:cs typeface="Arial" panose="020B0604020202020204" pitchFamily="34" charset="0"/>
                        </a:rPr>
                        <a:t>Overall, respondents </a:t>
                      </a:r>
                      <a:r>
                        <a:rPr lang="en-US" sz="1800" b="1" i="0" dirty="0">
                          <a:solidFill>
                            <a:schemeClr val="tx1">
                              <a:lumMod val="65000"/>
                              <a:lumOff val="35000"/>
                            </a:schemeClr>
                          </a:solidFill>
                          <a:latin typeface="Arial" panose="020B0604020202020204" pitchFamily="34" charset="0"/>
                          <a:cs typeface="Arial" panose="020B0604020202020204" pitchFamily="34" charset="0"/>
                        </a:rPr>
                        <a:t>generally supported</a:t>
                      </a:r>
                      <a:r>
                        <a:rPr lang="en-US" sz="1800" b="0" i="0" dirty="0">
                          <a:solidFill>
                            <a:schemeClr val="tx1">
                              <a:lumMod val="65000"/>
                              <a:lumOff val="35000"/>
                            </a:schemeClr>
                          </a:solidFill>
                          <a:latin typeface="Arial" panose="020B0604020202020204" pitchFamily="34" charset="0"/>
                          <a:cs typeface="Arial" panose="020B0604020202020204" pitchFamily="34" charset="0"/>
                        </a:rPr>
                        <a:t> the </a:t>
                      </a:r>
                      <a:r>
                        <a:rPr lang="en-US" sz="1800" b="1" i="0" dirty="0">
                          <a:solidFill>
                            <a:schemeClr val="tx1">
                              <a:lumMod val="65000"/>
                              <a:lumOff val="35000"/>
                            </a:schemeClr>
                          </a:solidFill>
                          <a:latin typeface="Arial" panose="020B0604020202020204" pitchFamily="34" charset="0"/>
                          <a:cs typeface="Arial" panose="020B0604020202020204" pitchFamily="34" charset="0"/>
                        </a:rPr>
                        <a:t>enhanced documentation requirements</a:t>
                      </a:r>
                      <a:endParaRPr lang="en-US" sz="1800" b="0" i="0" dirty="0">
                        <a:solidFill>
                          <a:schemeClr val="tx1">
                            <a:lumMod val="65000"/>
                            <a:lumOff val="35000"/>
                          </a:schemeClr>
                        </a:solidFill>
                        <a:latin typeface="Arial" panose="020B0604020202020204" pitchFamily="34" charset="0"/>
                        <a:cs typeface="Arial" panose="020B0604020202020204" pitchFamily="34" charset="0"/>
                      </a:endParaRPr>
                    </a:p>
                    <a:p>
                      <a:pPr marL="0" indent="0" algn="just">
                        <a:lnSpc>
                          <a:spcPts val="2400"/>
                        </a:lnSpc>
                        <a:spcBef>
                          <a:spcPts val="600"/>
                        </a:spcBef>
                        <a:spcAft>
                          <a:spcPts val="0"/>
                        </a:spcAft>
                        <a:buFont typeface="Arial" panose="020B0604020202020204" pitchFamily="34" charset="0"/>
                        <a:buNone/>
                      </a:pPr>
                      <a:endParaRPr lang="en-US" sz="2000" b="1" i="0" dirty="0">
                        <a:solidFill>
                          <a:schemeClr val="tx1">
                            <a:lumMod val="65000"/>
                            <a:lumOff val="35000"/>
                          </a:schemeClr>
                        </a:solidFill>
                        <a:latin typeface="Arial" panose="020B0604020202020204" pitchFamily="34" charset="0"/>
                        <a:cs typeface="Arial" panose="020B0604020202020204" pitchFamily="34" charset="0"/>
                      </a:endParaRPr>
                    </a:p>
                    <a:p>
                      <a:pPr marL="0" indent="0" algn="just">
                        <a:lnSpc>
                          <a:spcPts val="2400"/>
                        </a:lnSpc>
                        <a:spcBef>
                          <a:spcPts val="600"/>
                        </a:spcBef>
                        <a:spcAft>
                          <a:spcPts val="0"/>
                        </a:spcAft>
                        <a:buFont typeface="Arial" panose="020B0604020202020204" pitchFamily="34" charset="0"/>
                        <a:buNone/>
                      </a:pPr>
                      <a:r>
                        <a:rPr lang="en-US" sz="2000" b="1" i="0" dirty="0">
                          <a:solidFill>
                            <a:schemeClr val="tx1">
                              <a:lumMod val="65000"/>
                              <a:lumOff val="35000"/>
                            </a:schemeClr>
                          </a:solidFill>
                          <a:latin typeface="Arial" panose="020B0604020202020204" pitchFamily="34" charset="0"/>
                          <a:cs typeface="Arial" panose="020B0604020202020204" pitchFamily="34" charset="0"/>
                        </a:rPr>
                        <a:t>Question 8 - Scalability</a:t>
                      </a:r>
                      <a:r>
                        <a:rPr lang="en-US" sz="2000" b="0" i="0" dirty="0">
                          <a:solidFill>
                            <a:schemeClr val="tx1">
                              <a:lumMod val="65000"/>
                              <a:lumOff val="35000"/>
                            </a:schemeClr>
                          </a:solidFill>
                          <a:latin typeface="Arial" panose="020B0604020202020204" pitchFamily="34" charset="0"/>
                          <a:cs typeface="Arial" panose="020B0604020202020204" pitchFamily="34" charset="0"/>
                        </a:rPr>
                        <a:t>:</a:t>
                      </a:r>
                    </a:p>
                    <a:p>
                      <a:pPr marL="342900" indent="-342900" algn="just">
                        <a:lnSpc>
                          <a:spcPts val="2400"/>
                        </a:lnSpc>
                        <a:spcBef>
                          <a:spcPts val="600"/>
                        </a:spcBef>
                        <a:spcAft>
                          <a:spcPts val="0"/>
                        </a:spcAft>
                        <a:buFont typeface="Arial" panose="020B0604020202020204" pitchFamily="34" charset="0"/>
                        <a:buChar char="•"/>
                      </a:pPr>
                      <a:r>
                        <a:rPr lang="en-US" sz="1800" b="0" i="0" dirty="0">
                          <a:solidFill>
                            <a:schemeClr val="tx1">
                              <a:lumMod val="65000"/>
                              <a:lumOff val="35000"/>
                            </a:schemeClr>
                          </a:solidFill>
                          <a:latin typeface="Arial" panose="020B0604020202020204" pitchFamily="34" charset="0"/>
                          <a:cs typeface="Arial" panose="020B0604020202020204" pitchFamily="34" charset="0"/>
                        </a:rPr>
                        <a:t>Overall, respondents </a:t>
                      </a:r>
                      <a:r>
                        <a:rPr lang="en-US" sz="1800" b="1" i="0" dirty="0">
                          <a:solidFill>
                            <a:schemeClr val="tx1">
                              <a:lumMod val="65000"/>
                              <a:lumOff val="35000"/>
                            </a:schemeClr>
                          </a:solidFill>
                          <a:latin typeface="Arial" panose="020B0604020202020204" pitchFamily="34" charset="0"/>
                          <a:cs typeface="Arial" panose="020B0604020202020204" pitchFamily="34" charset="0"/>
                        </a:rPr>
                        <a:t>generally agreed</a:t>
                      </a:r>
                      <a:r>
                        <a:rPr lang="en-US" sz="1800" b="0" i="0" dirty="0">
                          <a:solidFill>
                            <a:schemeClr val="tx1">
                              <a:lumMod val="65000"/>
                              <a:lumOff val="35000"/>
                            </a:schemeClr>
                          </a:solidFill>
                          <a:latin typeface="Arial" panose="020B0604020202020204" pitchFamily="34" charset="0"/>
                          <a:cs typeface="Arial" panose="020B0604020202020204" pitchFamily="34" charset="0"/>
                        </a:rPr>
                        <a:t> that the requirements for EQ reviews are </a:t>
                      </a:r>
                      <a:r>
                        <a:rPr lang="en-US" sz="1800" b="1" i="0" dirty="0">
                          <a:solidFill>
                            <a:schemeClr val="tx1">
                              <a:lumMod val="65000"/>
                              <a:lumOff val="35000"/>
                            </a:schemeClr>
                          </a:solidFill>
                          <a:latin typeface="Arial" panose="020B0604020202020204" pitchFamily="34" charset="0"/>
                          <a:cs typeface="Arial" panose="020B0604020202020204" pitchFamily="34" charset="0"/>
                        </a:rPr>
                        <a:t>scalable for firms of varying size and complexity</a:t>
                      </a:r>
                      <a:endParaRPr lang="en-US" sz="1800" b="0" i="0" dirty="0">
                        <a:solidFill>
                          <a:schemeClr val="tx1">
                            <a:lumMod val="65000"/>
                            <a:lumOff val="35000"/>
                          </a:schemeClr>
                        </a:solidFill>
                        <a:latin typeface="Arial" panose="020B0604020202020204" pitchFamily="34" charset="0"/>
                        <a:cs typeface="Arial" panose="020B0604020202020204" pitchFamily="34" charset="0"/>
                      </a:endParaRPr>
                    </a:p>
                    <a:p>
                      <a:pPr marL="0" indent="0" algn="just">
                        <a:lnSpc>
                          <a:spcPts val="2400"/>
                        </a:lnSpc>
                        <a:spcBef>
                          <a:spcPts val="600"/>
                        </a:spcBef>
                        <a:spcAft>
                          <a:spcPts val="0"/>
                        </a:spcAft>
                        <a:buFont typeface="Arial" panose="020B0604020202020204" pitchFamily="34" charset="0"/>
                        <a:buNone/>
                      </a:pPr>
                      <a:endParaRPr lang="en-US" sz="2000" b="0" i="0" dirty="0">
                        <a:solidFill>
                          <a:schemeClr val="tx1">
                            <a:lumMod val="65000"/>
                            <a:lumOff val="35000"/>
                          </a:schemeClr>
                        </a:solidFill>
                        <a:latin typeface="Arial" panose="020B0604020202020204" pitchFamily="34" charset="0"/>
                        <a:cs typeface="Arial" panose="020B0604020202020204" pitchFamily="34" charset="0"/>
                      </a:endParaRPr>
                    </a:p>
                  </a:txBody>
                  <a:tcPr>
                    <a:noFill/>
                  </a:tcPr>
                </a:tc>
                <a:extLst>
                  <a:ext uri="{0D108BD9-81ED-4DB2-BD59-A6C34878D82A}">
                    <a16:rowId xmlns:a16="http://schemas.microsoft.com/office/drawing/2014/main" val="493788776"/>
                  </a:ext>
                </a:extLst>
              </a:tr>
            </a:tbl>
          </a:graphicData>
        </a:graphic>
      </p:graphicFrame>
      <p:sp>
        <p:nvSpPr>
          <p:cNvPr id="9" name="Title 1">
            <a:extLst>
              <a:ext uri="{FF2B5EF4-FFF2-40B4-BE49-F238E27FC236}">
                <a16:creationId xmlns:a16="http://schemas.microsoft.com/office/drawing/2014/main" id="{752309F6-8C96-40B1-B35D-D9A26E7FD27D}"/>
              </a:ext>
            </a:extLst>
          </p:cNvPr>
          <p:cNvSpPr txBox="1">
            <a:spLocks/>
          </p:cNvSpPr>
          <p:nvPr/>
        </p:nvSpPr>
        <p:spPr>
          <a:xfrm>
            <a:off x="0" y="427038"/>
            <a:ext cx="9144000" cy="404812"/>
          </a:xfrm>
          <a:prstGeom prst="rect">
            <a:avLst/>
          </a:prstGeom>
        </p:spPr>
        <p:txBody>
          <a:bodyPr anchor="ct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200" b="1" dirty="0"/>
              <a:t>What We Heard in Responses to ED-ISQM 2 – Questions 7 and 8</a:t>
            </a:r>
          </a:p>
        </p:txBody>
      </p:sp>
      <p:sp>
        <p:nvSpPr>
          <p:cNvPr id="11" name="Slide Number Placeholder 5">
            <a:extLst>
              <a:ext uri="{FF2B5EF4-FFF2-40B4-BE49-F238E27FC236}">
                <a16:creationId xmlns:a16="http://schemas.microsoft.com/office/drawing/2014/main" id="{549D6B13-12B7-41AD-8E12-170B967DCF1A}"/>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20</a:t>
            </a:fld>
            <a:endParaRPr lang="en-US" sz="675" dirty="0">
              <a:solidFill>
                <a:srgbClr val="808080"/>
              </a:solidFill>
              <a:latin typeface="Arial" panose="020B0604020202020204" pitchFamily="34" charset="0"/>
            </a:endParaRPr>
          </a:p>
        </p:txBody>
      </p:sp>
    </p:spTree>
    <p:extLst>
      <p:ext uri="{BB962C8B-B14F-4D97-AF65-F5344CB8AC3E}">
        <p14:creationId xmlns:p14="http://schemas.microsoft.com/office/powerpoint/2010/main" val="16584707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1"/>
          <p:cNvSpPr txBox="1">
            <a:spLocks/>
          </p:cNvSpPr>
          <p:nvPr/>
        </p:nvSpPr>
        <p:spPr>
          <a:xfrm>
            <a:off x="323497" y="1075038"/>
            <a:ext cx="8497006" cy="3641424"/>
          </a:xfrm>
          <a:prstGeom prst="rect">
            <a:avLst/>
          </a:prstGeom>
          <a:noFill/>
          <a:ln w="38100">
            <a:solidFill>
              <a:schemeClr val="tx1">
                <a:lumMod val="65000"/>
                <a:lumOff val="35000"/>
              </a:schemeClr>
            </a:solidFill>
          </a:ln>
        </p:spPr>
        <p:txBody>
          <a:bodyPr anchor="ctr" anchorCtr="0"/>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marL="0" indent="0" algn="just">
              <a:lnSpc>
                <a:spcPts val="2400"/>
              </a:lnSpc>
              <a:spcBef>
                <a:spcPts val="600"/>
              </a:spcBef>
              <a:spcAft>
                <a:spcPts val="0"/>
              </a:spcAft>
              <a:buNone/>
            </a:pPr>
            <a:r>
              <a:rPr lang="en-US" b="1" dirty="0">
                <a:solidFill>
                  <a:schemeClr val="tx1">
                    <a:lumMod val="65000"/>
                    <a:lumOff val="35000"/>
                  </a:schemeClr>
                </a:solidFill>
                <a:latin typeface="Arial" panose="020B0604020202020204" pitchFamily="34" charset="0"/>
                <a:cs typeface="Arial" panose="020B0604020202020204" pitchFamily="34" charset="0"/>
              </a:rPr>
              <a:t>Matters for IAASB Consideration</a:t>
            </a:r>
          </a:p>
          <a:p>
            <a:pPr marL="0" lvl="0" indent="0" algn="just">
              <a:lnSpc>
                <a:spcPts val="2400"/>
              </a:lnSpc>
              <a:spcBef>
                <a:spcPts val="600"/>
              </a:spcBef>
              <a:spcAft>
                <a:spcPts val="0"/>
              </a:spcAft>
              <a:buNone/>
            </a:pPr>
            <a:r>
              <a:rPr lang="en-US" sz="2000" dirty="0">
                <a:solidFill>
                  <a:schemeClr val="tx1">
                    <a:lumMod val="65000"/>
                    <a:lumOff val="35000"/>
                  </a:schemeClr>
                </a:solidFill>
                <a:latin typeface="Arial" panose="020B0604020202020204" pitchFamily="34" charset="0"/>
                <a:cs typeface="Arial" panose="020B0604020202020204" pitchFamily="34" charset="0"/>
              </a:rPr>
              <a:t>The IAASB is asked whether:</a:t>
            </a:r>
          </a:p>
          <a:p>
            <a:pPr marL="347472" lvl="0" indent="-347472" algn="just">
              <a:lnSpc>
                <a:spcPts val="2400"/>
              </a:lnSpc>
              <a:spcBef>
                <a:spcPts val="600"/>
              </a:spcBef>
              <a:spcAft>
                <a:spcPts val="0"/>
              </a:spcAft>
              <a:buFont typeface="+mj-lt"/>
              <a:buAutoNum type="arabicPeriod" startAt="5"/>
            </a:pPr>
            <a:r>
              <a:rPr lang="en-US" sz="2000" dirty="0">
                <a:solidFill>
                  <a:schemeClr val="tx1">
                    <a:lumMod val="65000"/>
                    <a:lumOff val="35000"/>
                  </a:schemeClr>
                </a:solidFill>
                <a:latin typeface="Arial" panose="020B0604020202020204" pitchFamily="34" charset="0"/>
                <a:cs typeface="Arial" panose="020B0604020202020204" pitchFamily="34" charset="0"/>
              </a:rPr>
              <a:t>It has any significant questions or concerns about aspects of the draft of the proposed standard in </a:t>
            </a:r>
            <a:r>
              <a:rPr lang="en-US" sz="2000" b="1" dirty="0">
                <a:solidFill>
                  <a:schemeClr val="tx1">
                    <a:lumMod val="65000"/>
                    <a:lumOff val="35000"/>
                  </a:schemeClr>
                </a:solidFill>
                <a:latin typeface="Arial" panose="020B0604020202020204" pitchFamily="34" charset="0"/>
                <a:cs typeface="Arial" panose="020B0604020202020204" pitchFamily="34" charset="0"/>
              </a:rPr>
              <a:t>Agenda Item 8-D</a:t>
            </a:r>
            <a:r>
              <a:rPr lang="en-US" sz="2000" dirty="0">
                <a:solidFill>
                  <a:schemeClr val="tx1">
                    <a:lumMod val="65000"/>
                    <a:lumOff val="35000"/>
                  </a:schemeClr>
                </a:solidFill>
                <a:latin typeface="Arial" panose="020B0604020202020204" pitchFamily="34" charset="0"/>
                <a:cs typeface="Arial" panose="020B0604020202020204" pitchFamily="34" charset="0"/>
              </a:rPr>
              <a:t>, in particular about the following (also refer to relevant sections of the discussion of significant changes and rationale therefor in </a:t>
            </a:r>
            <a:r>
              <a:rPr lang="en-US" sz="2000" b="1" dirty="0">
                <a:solidFill>
                  <a:schemeClr val="tx1">
                    <a:lumMod val="65000"/>
                    <a:lumOff val="35000"/>
                  </a:schemeClr>
                </a:solidFill>
                <a:latin typeface="Arial" panose="020B0604020202020204" pitchFamily="34" charset="0"/>
                <a:cs typeface="Arial" panose="020B0604020202020204" pitchFamily="34" charset="0"/>
              </a:rPr>
              <a:t>Agenda Item 8-C</a:t>
            </a:r>
            <a:r>
              <a:rPr lang="en-US" sz="2000" dirty="0">
                <a:solidFill>
                  <a:schemeClr val="tx1">
                    <a:lumMod val="65000"/>
                    <a:lumOff val="35000"/>
                  </a:schemeClr>
                </a:solidFill>
                <a:latin typeface="Arial" panose="020B0604020202020204" pitchFamily="34" charset="0"/>
                <a:cs typeface="Arial" panose="020B0604020202020204" pitchFamily="34" charset="0"/>
              </a:rPr>
              <a:t>): </a:t>
            </a:r>
          </a:p>
          <a:p>
            <a:pPr marL="694944" lvl="0" indent="-347472" algn="just">
              <a:lnSpc>
                <a:spcPts val="2400"/>
              </a:lnSpc>
              <a:spcBef>
                <a:spcPts val="600"/>
              </a:spcBef>
              <a:spcAft>
                <a:spcPts val="0"/>
              </a:spcAft>
              <a:buAutoNum type="alphaLcParenBoth"/>
            </a:pPr>
            <a:r>
              <a:rPr lang="en-US" sz="2000" dirty="0">
                <a:solidFill>
                  <a:schemeClr val="tx1">
                    <a:lumMod val="65000"/>
                    <a:lumOff val="35000"/>
                  </a:schemeClr>
                </a:solidFill>
                <a:latin typeface="Arial" panose="020B0604020202020204" pitchFamily="34" charset="0"/>
                <a:cs typeface="Arial" panose="020B0604020202020204" pitchFamily="34" charset="0"/>
              </a:rPr>
              <a:t>The wording of the objective in paragraph 10.</a:t>
            </a:r>
          </a:p>
          <a:p>
            <a:pPr marL="694944" lvl="0" indent="-347472" algn="just">
              <a:lnSpc>
                <a:spcPts val="2400"/>
              </a:lnSpc>
              <a:spcBef>
                <a:spcPts val="600"/>
              </a:spcBef>
              <a:spcAft>
                <a:spcPts val="0"/>
              </a:spcAft>
              <a:buAutoNum type="alphaLcParenBoth"/>
            </a:pPr>
            <a:r>
              <a:rPr lang="en-US" sz="2000" dirty="0">
                <a:solidFill>
                  <a:schemeClr val="tx1">
                    <a:lumMod val="65000"/>
                    <a:lumOff val="35000"/>
                  </a:schemeClr>
                </a:solidFill>
                <a:latin typeface="Arial" panose="020B0604020202020204" pitchFamily="34" charset="0"/>
                <a:cs typeface="Arial" panose="020B0604020202020204" pitchFamily="34" charset="0"/>
              </a:rPr>
              <a:t>The proposed revisions to the requirements in paragraph 22 relating to the EQ reviewer’s performance of the EQ review, and related application material.</a:t>
            </a:r>
          </a:p>
        </p:txBody>
      </p:sp>
      <p:sp>
        <p:nvSpPr>
          <p:cNvPr id="7" name="Title 1">
            <a:extLst>
              <a:ext uri="{FF2B5EF4-FFF2-40B4-BE49-F238E27FC236}">
                <a16:creationId xmlns:a16="http://schemas.microsoft.com/office/drawing/2014/main" id="{D439250E-CDCA-4F78-813F-31F0129D3CAC}"/>
              </a:ext>
            </a:extLst>
          </p:cNvPr>
          <p:cNvSpPr txBox="1">
            <a:spLocks/>
          </p:cNvSpPr>
          <p:nvPr/>
        </p:nvSpPr>
        <p:spPr>
          <a:xfrm>
            <a:off x="0" y="427038"/>
            <a:ext cx="9144000" cy="404812"/>
          </a:xfrm>
          <a:prstGeom prst="rect">
            <a:avLst/>
          </a:prstGeom>
        </p:spPr>
        <p:txBody>
          <a:bodyPr anchor="ct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Additional Discussion and Feedback on Proposed ISQM 2</a:t>
            </a:r>
          </a:p>
        </p:txBody>
      </p:sp>
      <p:sp>
        <p:nvSpPr>
          <p:cNvPr id="9" name="Slide Number Placeholder 5">
            <a:extLst>
              <a:ext uri="{FF2B5EF4-FFF2-40B4-BE49-F238E27FC236}">
                <a16:creationId xmlns:a16="http://schemas.microsoft.com/office/drawing/2014/main" id="{B310E0CF-E872-40AA-B794-E20D815AF7CD}"/>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21</a:t>
            </a:fld>
            <a:endParaRPr lang="en-US" sz="675" dirty="0">
              <a:solidFill>
                <a:srgbClr val="808080"/>
              </a:solidFill>
              <a:latin typeface="Arial" panose="020B0604020202020204" pitchFamily="34" charset="0"/>
            </a:endParaRPr>
          </a:p>
        </p:txBody>
      </p:sp>
    </p:spTree>
    <p:extLst>
      <p:ext uri="{BB962C8B-B14F-4D97-AF65-F5344CB8AC3E}">
        <p14:creationId xmlns:p14="http://schemas.microsoft.com/office/powerpoint/2010/main" val="29604774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1"/>
          <p:cNvSpPr txBox="1">
            <a:spLocks/>
          </p:cNvSpPr>
          <p:nvPr/>
        </p:nvSpPr>
        <p:spPr>
          <a:xfrm>
            <a:off x="334433" y="992691"/>
            <a:ext cx="8497006" cy="2697329"/>
          </a:xfrm>
          <a:prstGeom prst="rect">
            <a:avLst/>
          </a:prstGeom>
          <a:noFill/>
          <a:ln w="38100">
            <a:solidFill>
              <a:schemeClr val="tx1">
                <a:lumMod val="65000"/>
                <a:lumOff val="35000"/>
              </a:schemeClr>
            </a:solidFill>
          </a:ln>
        </p:spPr>
        <p:txBody>
          <a:bodyPr anchor="ctr" anchorCtr="0"/>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marL="0" indent="0" algn="just">
              <a:lnSpc>
                <a:spcPts val="2400"/>
              </a:lnSpc>
              <a:spcBef>
                <a:spcPts val="600"/>
              </a:spcBef>
              <a:spcAft>
                <a:spcPts val="0"/>
              </a:spcAft>
              <a:buNone/>
            </a:pPr>
            <a:r>
              <a:rPr lang="en-US" b="1" dirty="0">
                <a:solidFill>
                  <a:schemeClr val="tx1">
                    <a:lumMod val="65000"/>
                    <a:lumOff val="35000"/>
                  </a:schemeClr>
                </a:solidFill>
                <a:latin typeface="Arial" panose="020B0604020202020204" pitchFamily="34" charset="0"/>
                <a:cs typeface="Arial" panose="020B0604020202020204" pitchFamily="34" charset="0"/>
              </a:rPr>
              <a:t>Matters for IAASB Consideration</a:t>
            </a:r>
          </a:p>
          <a:p>
            <a:pPr marL="0" lvl="0" indent="0" algn="just">
              <a:lnSpc>
                <a:spcPts val="2400"/>
              </a:lnSpc>
              <a:spcBef>
                <a:spcPts val="600"/>
              </a:spcBef>
              <a:spcAft>
                <a:spcPts val="0"/>
              </a:spcAft>
              <a:buNone/>
            </a:pPr>
            <a:r>
              <a:rPr lang="en-US" sz="2000" dirty="0">
                <a:solidFill>
                  <a:schemeClr val="tx1">
                    <a:lumMod val="65000"/>
                    <a:lumOff val="35000"/>
                  </a:schemeClr>
                </a:solidFill>
                <a:latin typeface="Arial" panose="020B0604020202020204" pitchFamily="34" charset="0"/>
                <a:cs typeface="Arial" panose="020B0604020202020204" pitchFamily="34" charset="0"/>
              </a:rPr>
              <a:t>The IAASB is asked whether:</a:t>
            </a:r>
          </a:p>
          <a:p>
            <a:pPr marL="457200" lvl="0" indent="-457200" algn="just">
              <a:lnSpc>
                <a:spcPts val="2400"/>
              </a:lnSpc>
              <a:spcBef>
                <a:spcPts val="600"/>
              </a:spcBef>
              <a:spcAft>
                <a:spcPts val="0"/>
              </a:spcAft>
              <a:buFont typeface="+mj-lt"/>
              <a:buAutoNum type="arabicPeriod" startAt="6"/>
            </a:pPr>
            <a:r>
              <a:rPr lang="en-US" sz="2000" dirty="0">
                <a:solidFill>
                  <a:schemeClr val="tx1">
                    <a:lumMod val="65000"/>
                    <a:lumOff val="35000"/>
                  </a:schemeClr>
                </a:solidFill>
                <a:latin typeface="Arial" panose="020B0604020202020204" pitchFamily="34" charset="0"/>
                <a:cs typeface="Arial" panose="020B0604020202020204" pitchFamily="34" charset="0"/>
              </a:rPr>
              <a:t>There are issues raised by respondents, in addition to those summarized in </a:t>
            </a:r>
            <a:r>
              <a:rPr lang="en-US" sz="2000" b="1" dirty="0">
                <a:solidFill>
                  <a:schemeClr val="tx1">
                    <a:lumMod val="65000"/>
                    <a:lumOff val="35000"/>
                  </a:schemeClr>
                </a:solidFill>
                <a:latin typeface="Arial" panose="020B0604020202020204" pitchFamily="34" charset="0"/>
                <a:cs typeface="Arial" panose="020B0604020202020204" pitchFamily="34" charset="0"/>
              </a:rPr>
              <a:t>Agenda Item 8-F</a:t>
            </a:r>
            <a:r>
              <a:rPr lang="en-US" sz="2000" dirty="0">
                <a:solidFill>
                  <a:schemeClr val="tx1">
                    <a:lumMod val="65000"/>
                    <a:lumOff val="35000"/>
                  </a:schemeClr>
                </a:solidFill>
                <a:latin typeface="Arial" panose="020B0604020202020204" pitchFamily="34" charset="0"/>
                <a:cs typeface="Arial" panose="020B0604020202020204" pitchFamily="34" charset="0"/>
              </a:rPr>
              <a:t>, that should be further explored by the Task Force and discussed with the Board. The IAASB is also asked whether the significant changes made to the proposed standard, as described in </a:t>
            </a:r>
            <a:r>
              <a:rPr lang="en-US" sz="2000" b="1" dirty="0">
                <a:solidFill>
                  <a:schemeClr val="tx1">
                    <a:lumMod val="65000"/>
                    <a:lumOff val="35000"/>
                  </a:schemeClr>
                </a:solidFill>
                <a:latin typeface="Arial" panose="020B0604020202020204" pitchFamily="34" charset="0"/>
                <a:cs typeface="Arial" panose="020B0604020202020204" pitchFamily="34" charset="0"/>
              </a:rPr>
              <a:t>Agenda Item 8-C</a:t>
            </a:r>
            <a:r>
              <a:rPr lang="en-US" sz="2000" dirty="0">
                <a:solidFill>
                  <a:schemeClr val="tx1">
                    <a:lumMod val="65000"/>
                    <a:lumOff val="35000"/>
                  </a:schemeClr>
                </a:solidFill>
                <a:latin typeface="Arial" panose="020B0604020202020204" pitchFamily="34" charset="0"/>
                <a:cs typeface="Arial" panose="020B0604020202020204" pitchFamily="34" charset="0"/>
              </a:rPr>
              <a:t>, appropriately address respondents’ comments summarized in </a:t>
            </a:r>
            <a:r>
              <a:rPr lang="en-US" sz="2000" b="1" dirty="0">
                <a:solidFill>
                  <a:schemeClr val="tx1">
                    <a:lumMod val="65000"/>
                    <a:lumOff val="35000"/>
                  </a:schemeClr>
                </a:solidFill>
                <a:latin typeface="Arial" panose="020B0604020202020204" pitchFamily="34" charset="0"/>
                <a:cs typeface="Arial" panose="020B0604020202020204" pitchFamily="34" charset="0"/>
              </a:rPr>
              <a:t>Agenda Item 8-F</a:t>
            </a:r>
            <a:r>
              <a:rPr lang="en-US" sz="2000" dirty="0">
                <a:solidFill>
                  <a:schemeClr val="tx1">
                    <a:lumMod val="65000"/>
                    <a:lumOff val="35000"/>
                  </a:schemeClr>
                </a:solidFill>
                <a:latin typeface="Arial" panose="020B0604020202020204" pitchFamily="34" charset="0"/>
                <a:cs typeface="Arial" panose="020B0604020202020204" pitchFamily="34" charset="0"/>
              </a:rPr>
              <a:t>.</a:t>
            </a:r>
          </a:p>
        </p:txBody>
      </p:sp>
      <p:sp>
        <p:nvSpPr>
          <p:cNvPr id="7" name="Title 1">
            <a:extLst>
              <a:ext uri="{FF2B5EF4-FFF2-40B4-BE49-F238E27FC236}">
                <a16:creationId xmlns:a16="http://schemas.microsoft.com/office/drawing/2014/main" id="{D439250E-CDCA-4F78-813F-31F0129D3CAC}"/>
              </a:ext>
            </a:extLst>
          </p:cNvPr>
          <p:cNvSpPr txBox="1">
            <a:spLocks/>
          </p:cNvSpPr>
          <p:nvPr/>
        </p:nvSpPr>
        <p:spPr>
          <a:xfrm>
            <a:off x="0" y="427038"/>
            <a:ext cx="9144000" cy="404812"/>
          </a:xfrm>
          <a:prstGeom prst="rect">
            <a:avLst/>
          </a:prstGeom>
        </p:spPr>
        <p:txBody>
          <a:bodyPr anchor="ct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000" b="1" dirty="0"/>
              <a:t>Additional Discussion and Feedback on Proposed ISQM 2 (Cont.)</a:t>
            </a:r>
          </a:p>
        </p:txBody>
      </p:sp>
      <p:sp>
        <p:nvSpPr>
          <p:cNvPr id="9" name="Slide Number Placeholder 5">
            <a:extLst>
              <a:ext uri="{FF2B5EF4-FFF2-40B4-BE49-F238E27FC236}">
                <a16:creationId xmlns:a16="http://schemas.microsoft.com/office/drawing/2014/main" id="{B310E0CF-E872-40AA-B794-E20D815AF7CD}"/>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22</a:t>
            </a:fld>
            <a:endParaRPr lang="en-US" sz="675" dirty="0">
              <a:solidFill>
                <a:srgbClr val="808080"/>
              </a:solidFill>
              <a:latin typeface="Arial" panose="020B0604020202020204" pitchFamily="34" charset="0"/>
            </a:endParaRPr>
          </a:p>
        </p:txBody>
      </p:sp>
      <p:sp>
        <p:nvSpPr>
          <p:cNvPr id="12" name="Rectangle 11">
            <a:extLst>
              <a:ext uri="{FF2B5EF4-FFF2-40B4-BE49-F238E27FC236}">
                <a16:creationId xmlns:a16="http://schemas.microsoft.com/office/drawing/2014/main" id="{81B32D6E-3E58-40D7-9CD4-173D0929601E}"/>
              </a:ext>
            </a:extLst>
          </p:cNvPr>
          <p:cNvSpPr/>
          <p:nvPr/>
        </p:nvSpPr>
        <p:spPr>
          <a:xfrm>
            <a:off x="960120" y="3827649"/>
            <a:ext cx="3213027" cy="234047"/>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1" dirty="0">
                <a:latin typeface="Arial" panose="020B0604020202020204" pitchFamily="34" charset="0"/>
                <a:cs typeface="Arial" panose="020B0604020202020204" pitchFamily="34" charset="0"/>
              </a:rPr>
              <a:t>Requirement</a:t>
            </a:r>
          </a:p>
        </p:txBody>
      </p:sp>
      <p:sp>
        <p:nvSpPr>
          <p:cNvPr id="13" name="Rectangle 12">
            <a:extLst>
              <a:ext uri="{FF2B5EF4-FFF2-40B4-BE49-F238E27FC236}">
                <a16:creationId xmlns:a16="http://schemas.microsoft.com/office/drawing/2014/main" id="{3DFD5790-E7B9-4472-92E3-2A69C657D843}"/>
              </a:ext>
            </a:extLst>
          </p:cNvPr>
          <p:cNvSpPr/>
          <p:nvPr/>
        </p:nvSpPr>
        <p:spPr>
          <a:xfrm>
            <a:off x="960119" y="4061722"/>
            <a:ext cx="3213027" cy="219431"/>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latin typeface="Arial" panose="020B0604020202020204" pitchFamily="34" charset="0"/>
                <a:cs typeface="Arial" panose="020B0604020202020204" pitchFamily="34" charset="0"/>
              </a:rPr>
              <a:t>Paragraphs 1-9, 11</a:t>
            </a:r>
          </a:p>
        </p:txBody>
      </p:sp>
      <p:sp>
        <p:nvSpPr>
          <p:cNvPr id="14" name="Rectangle 13">
            <a:extLst>
              <a:ext uri="{FF2B5EF4-FFF2-40B4-BE49-F238E27FC236}">
                <a16:creationId xmlns:a16="http://schemas.microsoft.com/office/drawing/2014/main" id="{762AF6DA-F32A-4F66-899B-E7794D68FEBC}"/>
              </a:ext>
            </a:extLst>
          </p:cNvPr>
          <p:cNvSpPr/>
          <p:nvPr/>
        </p:nvSpPr>
        <p:spPr>
          <a:xfrm>
            <a:off x="960120" y="4281154"/>
            <a:ext cx="3210414" cy="247554"/>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latin typeface="Arial" panose="020B0604020202020204" pitchFamily="34" charset="0"/>
                <a:cs typeface="Arial" panose="020B0604020202020204" pitchFamily="34" charset="0"/>
              </a:rPr>
              <a:t>Paragraphs 12-16, 17-20</a:t>
            </a:r>
          </a:p>
        </p:txBody>
      </p:sp>
      <p:sp>
        <p:nvSpPr>
          <p:cNvPr id="15" name="Rectangle 14">
            <a:extLst>
              <a:ext uri="{FF2B5EF4-FFF2-40B4-BE49-F238E27FC236}">
                <a16:creationId xmlns:a16="http://schemas.microsoft.com/office/drawing/2014/main" id="{331E5004-625C-499C-9724-AA19298F7A33}"/>
              </a:ext>
            </a:extLst>
          </p:cNvPr>
          <p:cNvSpPr/>
          <p:nvPr/>
        </p:nvSpPr>
        <p:spPr>
          <a:xfrm>
            <a:off x="960121" y="4511620"/>
            <a:ext cx="3210414" cy="234047"/>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latin typeface="Arial" panose="020B0604020202020204" pitchFamily="34" charset="0"/>
                <a:cs typeface="Arial" panose="020B0604020202020204" pitchFamily="34" charset="0"/>
              </a:rPr>
              <a:t>Paragraphs 21, 23-27</a:t>
            </a:r>
          </a:p>
        </p:txBody>
      </p:sp>
      <p:sp>
        <p:nvSpPr>
          <p:cNvPr id="16" name="Rectangle 15">
            <a:extLst>
              <a:ext uri="{FF2B5EF4-FFF2-40B4-BE49-F238E27FC236}">
                <a16:creationId xmlns:a16="http://schemas.microsoft.com/office/drawing/2014/main" id="{1A25ABBB-78B8-43A9-A9DF-E50CF27B9135}"/>
              </a:ext>
            </a:extLst>
          </p:cNvPr>
          <p:cNvSpPr/>
          <p:nvPr/>
        </p:nvSpPr>
        <p:spPr>
          <a:xfrm>
            <a:off x="4170534" y="3827649"/>
            <a:ext cx="4511039" cy="234073"/>
          </a:xfrm>
          <a:prstGeom prst="rect">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1" dirty="0">
                <a:latin typeface="Arial" panose="020B0604020202020204" pitchFamily="34" charset="0"/>
                <a:cs typeface="Arial" panose="020B0604020202020204" pitchFamily="34" charset="0"/>
              </a:rPr>
              <a:t>Application Material</a:t>
            </a:r>
          </a:p>
        </p:txBody>
      </p:sp>
      <p:sp>
        <p:nvSpPr>
          <p:cNvPr id="20" name="Rectangle 19">
            <a:extLst>
              <a:ext uri="{FF2B5EF4-FFF2-40B4-BE49-F238E27FC236}">
                <a16:creationId xmlns:a16="http://schemas.microsoft.com/office/drawing/2014/main" id="{8C9F180A-577C-4326-9E7D-FA6DD86F43FE}"/>
              </a:ext>
            </a:extLst>
          </p:cNvPr>
          <p:cNvSpPr/>
          <p:nvPr/>
        </p:nvSpPr>
        <p:spPr>
          <a:xfrm>
            <a:off x="4170534" y="4040340"/>
            <a:ext cx="4511039" cy="247553"/>
          </a:xfrm>
          <a:prstGeom prst="rect">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latin typeface="Arial" panose="020B0604020202020204" pitchFamily="34" charset="0"/>
                <a:cs typeface="Arial" panose="020B0604020202020204" pitchFamily="34" charset="0"/>
              </a:rPr>
              <a:t>Paragraph A0</a:t>
            </a:r>
          </a:p>
        </p:txBody>
      </p:sp>
      <p:sp>
        <p:nvSpPr>
          <p:cNvPr id="21" name="Rectangle 20">
            <a:extLst>
              <a:ext uri="{FF2B5EF4-FFF2-40B4-BE49-F238E27FC236}">
                <a16:creationId xmlns:a16="http://schemas.microsoft.com/office/drawing/2014/main" id="{18730EF7-1C9D-491A-9B8D-A053593F9F7E}"/>
              </a:ext>
            </a:extLst>
          </p:cNvPr>
          <p:cNvSpPr/>
          <p:nvPr/>
        </p:nvSpPr>
        <p:spPr>
          <a:xfrm>
            <a:off x="4167920" y="4281153"/>
            <a:ext cx="4513653" cy="247554"/>
          </a:xfrm>
          <a:prstGeom prst="rect">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latin typeface="Arial" panose="020B0604020202020204" pitchFamily="34" charset="0"/>
                <a:cs typeface="Arial" panose="020B0604020202020204" pitchFamily="34" charset="0"/>
              </a:rPr>
              <a:t>Paragraphs A1-A17, A18-A21</a:t>
            </a:r>
          </a:p>
        </p:txBody>
      </p:sp>
      <p:sp>
        <p:nvSpPr>
          <p:cNvPr id="22" name="Rectangle 21">
            <a:extLst>
              <a:ext uri="{FF2B5EF4-FFF2-40B4-BE49-F238E27FC236}">
                <a16:creationId xmlns:a16="http://schemas.microsoft.com/office/drawing/2014/main" id="{ED0100D6-C0BD-4815-88CC-2728D4F3D24D}"/>
              </a:ext>
            </a:extLst>
          </p:cNvPr>
          <p:cNvSpPr/>
          <p:nvPr/>
        </p:nvSpPr>
        <p:spPr>
          <a:xfrm>
            <a:off x="4167920" y="4515199"/>
            <a:ext cx="4513653" cy="230468"/>
          </a:xfrm>
          <a:prstGeom prst="rect">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latin typeface="Arial" panose="020B0604020202020204" pitchFamily="34" charset="0"/>
                <a:cs typeface="Arial" panose="020B0604020202020204" pitchFamily="34" charset="0"/>
              </a:rPr>
              <a:t>Paragraphs A22-A24, A35-A39</a:t>
            </a:r>
          </a:p>
        </p:txBody>
      </p:sp>
    </p:spTree>
    <p:extLst>
      <p:ext uri="{BB962C8B-B14F-4D97-AF65-F5344CB8AC3E}">
        <p14:creationId xmlns:p14="http://schemas.microsoft.com/office/powerpoint/2010/main" val="36837350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43A5B861-F232-4025-86B2-CEB63A0AD3B5}"/>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23</a:t>
            </a:fld>
            <a:endParaRPr lang="en-US" sz="675" dirty="0">
              <a:solidFill>
                <a:srgbClr val="808080"/>
              </a:solidFill>
              <a:latin typeface="Arial" panose="020B0604020202020204" pitchFamily="34" charset="0"/>
            </a:endParaRPr>
          </a:p>
        </p:txBody>
      </p:sp>
    </p:spTree>
    <p:extLst>
      <p:ext uri="{BB962C8B-B14F-4D97-AF65-F5344CB8AC3E}">
        <p14:creationId xmlns:p14="http://schemas.microsoft.com/office/powerpoint/2010/main" val="3598102811"/>
      </p:ext>
    </p:extLst>
  </p:cSld>
  <p:clrMapOvr>
    <a:masterClrMapping/>
  </p:clrMapOvr>
</p:sld>
</file>

<file path=ppt/theme/theme1.xml><?xml version="1.0" encoding="utf-8"?>
<a:theme xmlns:a="http://schemas.openxmlformats.org/drawingml/2006/main" name="Office Theme">
  <a:themeElements>
    <a:clrScheme name="Custom 34">
      <a:dk1>
        <a:sysClr val="windowText" lastClr="000000"/>
      </a:dk1>
      <a:lt1>
        <a:sysClr val="window" lastClr="FFFFFF"/>
      </a:lt1>
      <a:dk2>
        <a:srgbClr val="005BAA"/>
      </a:dk2>
      <a:lt2>
        <a:srgbClr val="00C0F3"/>
      </a:lt2>
      <a:accent1>
        <a:srgbClr val="F15A22"/>
      </a:accent1>
      <a:accent2>
        <a:srgbClr val="FAA61A"/>
      </a:accent2>
      <a:accent3>
        <a:srgbClr val="005BAA"/>
      </a:accent3>
      <a:accent4>
        <a:srgbClr val="00C0F3"/>
      </a:accent4>
      <a:accent5>
        <a:srgbClr val="0D9C4A"/>
      </a:accent5>
      <a:accent6>
        <a:srgbClr val="8DC63F"/>
      </a:accent6>
      <a:hlink>
        <a:srgbClr val="005BAA"/>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AASB_Powerpoint_template_2016_Widescreen" id="{551C3455-CE53-451D-A561-326C993C81B9}" vid="{313783E5-FB8C-4610-BC8F-F48741466E0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IAASB_Powerpoint_template_2016_Widescreen</Template>
  <TotalTime>7403</TotalTime>
  <Words>7114</Words>
  <Application>Microsoft Office PowerPoint</Application>
  <PresentationFormat>On-screen Show (16:9)</PresentationFormat>
  <Paragraphs>370</Paragraphs>
  <Slides>23</Slides>
  <Notes>23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Arial Narrow</vt:lpstr>
      <vt:lpstr>Calibri</vt:lpstr>
      <vt:lpstr>Courier New</vt:lpstr>
      <vt:lpstr>Wingdings</vt:lpstr>
      <vt:lpstr>Office Theme</vt:lpstr>
      <vt:lpstr>Proposed ISQM 2, Engagement Quality Reviews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Bradley Williams</dc:creator>
  <cp:lastModifiedBy>Jane Talatala</cp:lastModifiedBy>
  <cp:revision>1207</cp:revision>
  <cp:lastPrinted>2019-12-11T20:28:28Z</cp:lastPrinted>
  <dcterms:created xsi:type="dcterms:W3CDTF">2016-11-09T14:56:20Z</dcterms:created>
  <dcterms:modified xsi:type="dcterms:W3CDTF">2019-12-13T18:40:00Z</dcterms:modified>
</cp:coreProperties>
</file>