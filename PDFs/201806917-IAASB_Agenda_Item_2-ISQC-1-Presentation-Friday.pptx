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374" r:id="rId3"/>
    <p:sldId id="375" r:id="rId4"/>
    <p:sldId id="372" r:id="rId5"/>
    <p:sldId id="259" r:id="rId6"/>
  </p:sldIdLst>
  <p:sldSz cx="9144000" cy="5143500" type="screen16x9"/>
  <p:notesSz cx="6950075" cy="9236075"/>
  <p:defaultTextStyle>
    <a:defPPr>
      <a:defRPr lang="en-US"/>
    </a:defPPr>
    <a:lvl1pPr marL="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ietsman, Megan" initials="MZ" lastIdx="8" clrIdx="0">
    <p:extLst>
      <p:ext uri="{19B8F6BF-5375-455C-9EA6-DF929625EA0E}">
        <p15:presenceInfo xmlns:p15="http://schemas.microsoft.com/office/powerpoint/2012/main" userId="Zietsman, Megan" providerId="None"/>
      </p:ext>
    </p:extLst>
  </p:cmAuthor>
  <p:cmAuthor id="2" name="Kathleen Healy" initials="KH" lastIdx="13" clrIdx="1">
    <p:extLst>
      <p:ext uri="{19B8F6BF-5375-455C-9EA6-DF929625EA0E}">
        <p15:presenceInfo xmlns:p15="http://schemas.microsoft.com/office/powerpoint/2012/main" userId="S-1-5-21-1801674531-1972579041-839522115-4130" providerId="AD"/>
      </p:ext>
    </p:extLst>
  </p:cmAuthor>
  <p:cmAuthor id="3" name="Natalie Klonaridis" initials="NK" lastIdx="12" clrIdx="2">
    <p:extLst>
      <p:ext uri="{19B8F6BF-5375-455C-9EA6-DF929625EA0E}">
        <p15:presenceInfo xmlns:p15="http://schemas.microsoft.com/office/powerpoint/2012/main" userId="S-1-5-21-1801674531-1972579041-839522115-1332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DDEA"/>
    <a:srgbClr val="ACC5DC"/>
    <a:srgbClr val="6398EF"/>
    <a:srgbClr val="96BAF4"/>
    <a:srgbClr val="808080"/>
    <a:srgbClr val="1D9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43" autoAdjust="0"/>
    <p:restoredTop sz="76684" autoAdjust="0"/>
  </p:normalViewPr>
  <p:slideViewPr>
    <p:cSldViewPr snapToGrid="0" snapToObjects="1">
      <p:cViewPr varScale="1">
        <p:scale>
          <a:sx n="86" d="100"/>
          <a:sy n="86" d="100"/>
        </p:scale>
        <p:origin x="1320" y="58"/>
      </p:cViewPr>
      <p:guideLst>
        <p:guide orient="horz" pos="1620"/>
        <p:guide pos="2880"/>
      </p:guideLst>
    </p:cSldViewPr>
  </p:slideViewPr>
  <p:outlineViewPr>
    <p:cViewPr>
      <p:scale>
        <a:sx n="66" d="100"/>
        <a:sy n="66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1" d="100"/>
        <a:sy n="201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798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1E59F908-4FD1-BC49-B361-D833AB0555FC}" type="datetimeFigureOut">
              <a:rPr lang="en-US" smtClean="0"/>
              <a:t>9/20/2018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EA8AE4AE-12A8-4846-97A9-6CB7DEDDF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3285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7745D6F9-5033-7542-84AC-41926A84456D}" type="datetimeFigureOut">
              <a:rPr lang="en-US" smtClean="0"/>
              <a:t>9/20/2018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6875" y="692150"/>
            <a:ext cx="61563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4D410189-AC31-7546-878A-F48FDE4A2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391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193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2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2422420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3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435291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4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846042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://www.iaasb.org/" TargetMode="External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hyperlink" Target="mailto:permissions@ifac.org" TargetMode="External"/><Relationship Id="rId5" Type="http://schemas.openxmlformats.org/officeDocument/2006/relationships/image" Target="../media/image7.png"/><Relationship Id="rId10" Type="http://schemas.openxmlformats.org/officeDocument/2006/relationships/hyperlink" Target="http://www.ifac.org/about-ifac/translations-permissions" TargetMode="External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0519"/>
            <a:ext cx="2790252" cy="490055"/>
          </a:xfrm>
          <a:prstGeom prst="rect">
            <a:avLst/>
          </a:prstGeom>
        </p:spPr>
      </p:pic>
      <p:pic>
        <p:nvPicPr>
          <p:cNvPr id="9" name="Picture 8" descr="Page topper.jpg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7"/>
            <a:ext cx="9144000" cy="234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6370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8" name="Picture 7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0519"/>
            <a:ext cx="2790252" cy="4900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0" t="12331" r="-210" b="13383"/>
          <a:stretch/>
        </p:blipFill>
        <p:spPr>
          <a:xfrm>
            <a:off x="1" y="1"/>
            <a:ext cx="9156700" cy="237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8778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o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2900"/>
            <a:ext cx="2776694" cy="487674"/>
          </a:xfrm>
          <a:prstGeom prst="rect">
            <a:avLst/>
          </a:prstGeom>
        </p:spPr>
      </p:pic>
      <p:pic>
        <p:nvPicPr>
          <p:cNvPr id="9" name="Picture 8" descr="Ribbon_orange_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201152"/>
            <a:ext cx="9144000" cy="1236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25885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808080"/>
                </a:solidFill>
              </a:defRPr>
            </a:lvl1pPr>
            <a:lvl2pPr>
              <a:defRPr>
                <a:solidFill>
                  <a:srgbClr val="808080"/>
                </a:solidFill>
              </a:defRPr>
            </a:lvl2pPr>
            <a:lvl3pPr>
              <a:defRPr>
                <a:solidFill>
                  <a:srgbClr val="808080"/>
                </a:solidFill>
              </a:defRPr>
            </a:lvl3pPr>
            <a:lvl4pPr marL="642938" indent="-171450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928852" y="4883295"/>
            <a:ext cx="2757948" cy="228309"/>
          </a:xfrm>
        </p:spPr>
        <p:txBody>
          <a:bodyPr/>
          <a:lstStyle>
            <a:lvl1pPr marL="0" marR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75">
                <a:solidFill>
                  <a:srgbClr val="808080"/>
                </a:solidFill>
              </a:defRPr>
            </a:lvl1pPr>
          </a:lstStyle>
          <a:p>
            <a:r>
              <a:rPr lang="en-US" dirty="0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 smtClean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6693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208161"/>
            <a:ext cx="9144000" cy="39391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dirty="0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0" y="4299439"/>
            <a:ext cx="914400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0" y="4299438"/>
            <a:ext cx="9144000" cy="40387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1939931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606012" y="4873085"/>
            <a:ext cx="2080788" cy="251831"/>
          </a:xfrm>
        </p:spPr>
        <p:txBody>
          <a:bodyPr/>
          <a:lstStyle/>
          <a:p>
            <a:pPr algn="r"/>
            <a:r>
              <a:rPr lang="en-US" dirty="0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2037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13017"/>
            <a:ext cx="4040188" cy="360497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502736"/>
            <a:ext cx="4040188" cy="2963466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013017"/>
            <a:ext cx="4041775" cy="360497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502736"/>
            <a:ext cx="4041775" cy="2963466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4988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0450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7768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68002" y="1561874"/>
            <a:ext cx="4393108" cy="732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 userDrawn="1"/>
        </p:nvSpPr>
        <p:spPr>
          <a:xfrm>
            <a:off x="3821898" y="3756887"/>
            <a:ext cx="131003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350" u="none" dirty="0" smtClean="0">
                <a:solidFill>
                  <a:srgbClr val="1F497D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www.iaasb.org</a:t>
            </a:r>
            <a:endParaRPr lang="en-US" sz="1500" u="none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 userDrawn="1"/>
        </p:nvSpPr>
        <p:spPr bwMode="auto">
          <a:xfrm flipH="1">
            <a:off x="381000" y="4822821"/>
            <a:ext cx="8763000" cy="3452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559" y="4168326"/>
            <a:ext cx="577805" cy="1931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002" y="4175640"/>
            <a:ext cx="437481" cy="1931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292" y="4165672"/>
            <a:ext cx="577805" cy="1931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897" y="4168326"/>
            <a:ext cx="577805" cy="23442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511" y="4168326"/>
            <a:ext cx="577805" cy="19315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213" y="4165202"/>
            <a:ext cx="577805" cy="193152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698501" y="4608029"/>
            <a:ext cx="812800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900" dirty="0" smtClean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For copyright, trademark, and permissions information, please go to </a:t>
            </a:r>
            <a:r>
              <a:rPr lang="en-US" sz="900" u="sng" dirty="0" smtClean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permissions</a:t>
            </a:r>
            <a:r>
              <a:rPr lang="en-US" sz="900" dirty="0" smtClean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or contact </a:t>
            </a:r>
            <a:r>
              <a:rPr lang="en-US" sz="900" u="sng" dirty="0" smtClean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permissions@ifac.org</a:t>
            </a:r>
            <a:r>
              <a:rPr lang="en-US" sz="900" dirty="0" smtClean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54577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427437"/>
            <a:ext cx="9144000" cy="40387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27437"/>
            <a:ext cx="8229600" cy="40387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1886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4985" y="4883295"/>
            <a:ext cx="2057400" cy="228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AF73A935-0AD8-4B38-AD39-55437B5CA1D2}" type="datetime1">
              <a:rPr lang="en-US" smtClean="0"/>
              <a:t>9/20/2018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16148" y="4883295"/>
            <a:ext cx="3086100" cy="228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06012" y="4883295"/>
            <a:ext cx="2080788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75">
                <a:solidFill>
                  <a:srgbClr val="808080"/>
                </a:solidFill>
                <a:latin typeface="Arial Narrow"/>
                <a:cs typeface="Arial Narrow"/>
              </a:defRPr>
            </a:lvl1pPr>
          </a:lstStyle>
          <a:p>
            <a:pPr algn="r"/>
            <a:r>
              <a:rPr lang="en-US" dirty="0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5"/>
          <p:cNvSpPr>
            <a:spLocks noChangeArrowheads="1"/>
          </p:cNvSpPr>
          <p:nvPr userDrawn="1"/>
        </p:nvSpPr>
        <p:spPr bwMode="auto">
          <a:xfrm flipH="1">
            <a:off x="381000" y="4822228"/>
            <a:ext cx="8763000" cy="3452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 dirty="0"/>
          </a:p>
        </p:txBody>
      </p:sp>
      <p:pic>
        <p:nvPicPr>
          <p:cNvPr id="11" name="Picture 10" descr="IAASB Logo with FullName.jpg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368" y="55409"/>
            <a:ext cx="1787432" cy="31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232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0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342900" rtl="0" eaLnBrk="1" latinLnBrk="0" hangingPunct="1">
        <a:spcBef>
          <a:spcPct val="0"/>
        </a:spcBef>
        <a:buNone/>
        <a:defRPr sz="18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29779" indent="-129779" algn="l" defTabSz="342900" rtl="0" eaLnBrk="1" latinLnBrk="0" hangingPunct="1">
        <a:spcBef>
          <a:spcPts val="900"/>
        </a:spcBef>
        <a:buFont typeface="Arial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42900" indent="-171450" algn="l" defTabSz="342900" rtl="0" eaLnBrk="1" latinLnBrk="0" hangingPunct="1">
        <a:spcBef>
          <a:spcPts val="450"/>
        </a:spcBef>
        <a:spcAft>
          <a:spcPts val="300"/>
        </a:spcAft>
        <a:buFont typeface="Arial"/>
        <a:buChar char="–"/>
        <a:defRPr sz="135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472679" indent="-128588" algn="l" defTabSz="3429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Arial Narrow"/>
          <a:ea typeface="+mn-ea"/>
          <a:cs typeface="Arial Narrow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050" kern="1200">
          <a:solidFill>
            <a:schemeClr val="tx1"/>
          </a:solidFill>
          <a:latin typeface="Arial Narrow"/>
          <a:ea typeface="+mn-ea"/>
          <a:cs typeface="Arial Narrow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Proposed ISQC 1 (Revised)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685801" y="3221372"/>
            <a:ext cx="4732867" cy="1419203"/>
          </a:xfrm>
        </p:spPr>
        <p:txBody>
          <a:bodyPr/>
          <a:lstStyle/>
          <a:p>
            <a:r>
              <a:rPr lang="en-US" dirty="0" smtClean="0"/>
              <a:t>Karin French, Quality Control Task Force Chair</a:t>
            </a:r>
            <a:endParaRPr lang="en-US" dirty="0"/>
          </a:p>
          <a:p>
            <a:r>
              <a:rPr lang="en-US" dirty="0" smtClean="0"/>
              <a:t>IAASB Meeting, New York</a:t>
            </a:r>
          </a:p>
          <a:p>
            <a:r>
              <a:rPr lang="en-US" dirty="0" smtClean="0"/>
              <a:t>Agenda Item 2</a:t>
            </a:r>
          </a:p>
          <a:p>
            <a:r>
              <a:rPr lang="en-US" dirty="0" smtClean="0"/>
              <a:t>September 17, 2018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407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9878" y="427437"/>
            <a:ext cx="8229600" cy="403875"/>
          </a:xfrm>
        </p:spPr>
        <p:txBody>
          <a:bodyPr/>
          <a:lstStyle/>
          <a:p>
            <a:r>
              <a:rPr lang="en-US" dirty="0" smtClean="0"/>
              <a:t>Sections of </a:t>
            </a:r>
            <a:r>
              <a:rPr lang="en-US" dirty="0" smtClean="0"/>
              <a:t>Proposed ISQC 1 (Revised) </a:t>
            </a:r>
            <a:r>
              <a:rPr lang="en-US" dirty="0" smtClean="0"/>
              <a:t>Revised Since Monday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38478" y="4891669"/>
            <a:ext cx="479268" cy="251831"/>
          </a:xfrm>
        </p:spPr>
        <p:txBody>
          <a:bodyPr/>
          <a:lstStyle/>
          <a:p>
            <a:r>
              <a:rPr lang="en-US" sz="750" dirty="0">
                <a:solidFill>
                  <a:schemeClr val="tx1"/>
                </a:solidFill>
                <a:latin typeface="+mn-lt"/>
              </a:rPr>
              <a:t>Page </a:t>
            </a:r>
            <a:fld id="{7F9F5955-1F7F-4661-8A16-F4B0468EE63D}" type="slidenum">
              <a:rPr lang="en-US" sz="750" smtClean="0">
                <a:solidFill>
                  <a:schemeClr val="tx1"/>
                </a:solidFill>
                <a:latin typeface="+mn-lt"/>
              </a:rPr>
              <a:t>2</a:t>
            </a:fld>
            <a:endParaRPr lang="en-US" sz="750" dirty="0">
              <a:solidFill>
                <a:schemeClr val="tx1"/>
              </a:solidFill>
              <a:latin typeface="+mn-lt"/>
            </a:endParaRPr>
          </a:p>
          <a:p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Content Placeholder 1"/>
          <p:cNvSpPr txBox="1">
            <a:spLocks/>
          </p:cNvSpPr>
          <p:nvPr/>
        </p:nvSpPr>
        <p:spPr>
          <a:xfrm>
            <a:off x="343462" y="933934"/>
            <a:ext cx="8374284" cy="31886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29779" indent="-129779" algn="l" defTabSz="342900" rtl="0" eaLnBrk="1" latinLnBrk="0" hangingPunct="1">
              <a:spcBef>
                <a:spcPts val="900"/>
              </a:spcBef>
              <a:buFont typeface="Arial"/>
              <a:buChar char="•"/>
              <a:defRPr sz="1500" kern="120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2900" indent="-171450" algn="l" defTabSz="342900" rtl="0" eaLnBrk="1" latinLnBrk="0" hangingPunct="1">
              <a:spcBef>
                <a:spcPts val="450"/>
              </a:spcBef>
              <a:spcAft>
                <a:spcPts val="300"/>
              </a:spcAft>
              <a:buFont typeface="Arial"/>
              <a:buChar char="–"/>
              <a:defRPr sz="1350" kern="120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72679" indent="-128588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200" kern="120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642938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050" kern="120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13197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050" kern="120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Introduction</a:t>
            </a:r>
          </a:p>
          <a:p>
            <a:r>
              <a:rPr lang="en-US" sz="1800" dirty="0" smtClean="0"/>
              <a:t>Definitions</a:t>
            </a:r>
          </a:p>
          <a:p>
            <a:r>
              <a:rPr lang="en-US" sz="1800" dirty="0"/>
              <a:t>Applying and Complying with Relevant </a:t>
            </a:r>
            <a:r>
              <a:rPr lang="en-US" sz="1800" dirty="0" smtClean="0"/>
              <a:t>Requirements</a:t>
            </a:r>
          </a:p>
          <a:p>
            <a:r>
              <a:rPr lang="en-US" sz="1800" dirty="0" smtClean="0"/>
              <a:t>System </a:t>
            </a:r>
            <a:r>
              <a:rPr lang="en-US" sz="1800" dirty="0"/>
              <a:t>of Quality Management</a:t>
            </a:r>
            <a:endParaRPr lang="en-US" sz="1800" dirty="0" smtClean="0"/>
          </a:p>
          <a:p>
            <a:r>
              <a:rPr lang="en-US" sz="1800" dirty="0" smtClean="0"/>
              <a:t>Firm’s Risk Assessment Process</a:t>
            </a:r>
          </a:p>
          <a:p>
            <a:r>
              <a:rPr lang="en-US" sz="1800" dirty="0" smtClean="0"/>
              <a:t>Information and Communication</a:t>
            </a:r>
          </a:p>
          <a:p>
            <a:r>
              <a:rPr lang="en-US" sz="1800" dirty="0" smtClean="0"/>
              <a:t>Networks</a:t>
            </a:r>
            <a:endParaRPr lang="en-US" sz="1800" dirty="0" smtClean="0"/>
          </a:p>
        </p:txBody>
      </p:sp>
      <p:sp>
        <p:nvSpPr>
          <p:cNvPr id="5" name="Content Placeholder 6"/>
          <p:cNvSpPr>
            <a:spLocks noGrp="1"/>
          </p:cNvSpPr>
          <p:nvPr>
            <p:ph idx="1"/>
          </p:nvPr>
        </p:nvSpPr>
        <p:spPr>
          <a:xfrm>
            <a:off x="329878" y="3663477"/>
            <a:ext cx="8673483" cy="918267"/>
          </a:xfrm>
          <a:prstGeom prst="round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91440" indent="0">
              <a:spcBef>
                <a:spcPts val="800"/>
              </a:spcBef>
              <a:buNone/>
            </a:pPr>
            <a:r>
              <a:rPr lang="en-US" sz="1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IAASB is asked to share their views on the revisions to the above sections, in addition to the specific questions that follow.</a:t>
            </a:r>
            <a:endParaRPr lang="en-US" sz="1600" dirty="0" smtClean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363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57451" y="427437"/>
            <a:ext cx="8229600" cy="403875"/>
          </a:xfrm>
        </p:spPr>
        <p:txBody>
          <a:bodyPr/>
          <a:lstStyle/>
          <a:p>
            <a:r>
              <a:rPr lang="en-US" dirty="0" smtClean="0"/>
              <a:t>Definitions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38478" y="4891669"/>
            <a:ext cx="479268" cy="251831"/>
          </a:xfrm>
        </p:spPr>
        <p:txBody>
          <a:bodyPr/>
          <a:lstStyle/>
          <a:p>
            <a:r>
              <a:rPr lang="en-US" sz="750" dirty="0">
                <a:solidFill>
                  <a:schemeClr val="tx1"/>
                </a:solidFill>
                <a:latin typeface="+mn-lt"/>
              </a:rPr>
              <a:t>Page </a:t>
            </a:r>
            <a:fld id="{7F9F5955-1F7F-4661-8A16-F4B0468EE63D}" type="slidenum">
              <a:rPr lang="en-US" sz="750" smtClean="0">
                <a:solidFill>
                  <a:schemeClr val="tx1"/>
                </a:solidFill>
                <a:latin typeface="+mn-lt"/>
              </a:rPr>
              <a:t>3</a:t>
            </a:fld>
            <a:endParaRPr lang="en-US" sz="750" dirty="0">
              <a:solidFill>
                <a:schemeClr val="tx1"/>
              </a:solidFill>
              <a:latin typeface="+mn-lt"/>
            </a:endParaRPr>
          </a:p>
          <a:p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57451" y="1003177"/>
            <a:ext cx="8673483" cy="1464816"/>
          </a:xfrm>
          <a:prstGeom prst="round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91440" indent="0">
              <a:spcBef>
                <a:spcPts val="800"/>
              </a:spcBef>
              <a:buNone/>
            </a:pPr>
            <a:r>
              <a: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  <a:r>
              <a:rPr lang="en-US" sz="1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18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34340" lvl="0" indent="-342900">
              <a:spcBef>
                <a:spcPts val="800"/>
              </a:spcBef>
              <a:buAutoNum type="alphaLcParenBoth"/>
            </a:pPr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alternative for the definition of “deficiencies” does the IAASB prefer?</a:t>
            </a:r>
          </a:p>
          <a:p>
            <a:pPr marL="434340" lvl="0" indent="-342900">
              <a:spcBef>
                <a:spcPts val="800"/>
              </a:spcBef>
              <a:buAutoNum type="alphaLcParenBoth"/>
            </a:pPr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there any further revisions to the preferred definition for consideration by the QCTF?</a:t>
            </a:r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84086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57451" y="427437"/>
            <a:ext cx="8229600" cy="403875"/>
          </a:xfrm>
        </p:spPr>
        <p:txBody>
          <a:bodyPr/>
          <a:lstStyle/>
          <a:p>
            <a:r>
              <a:rPr lang="en-US" dirty="0" smtClean="0"/>
              <a:t>Monitoring and Remediation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38478" y="4891669"/>
            <a:ext cx="479268" cy="251831"/>
          </a:xfrm>
        </p:spPr>
        <p:txBody>
          <a:bodyPr/>
          <a:lstStyle/>
          <a:p>
            <a:r>
              <a:rPr lang="en-US" sz="750" dirty="0">
                <a:solidFill>
                  <a:schemeClr val="tx1"/>
                </a:solidFill>
                <a:latin typeface="+mn-lt"/>
              </a:rPr>
              <a:t>Page </a:t>
            </a:r>
            <a:fld id="{7F9F5955-1F7F-4661-8A16-F4B0468EE63D}" type="slidenum">
              <a:rPr lang="en-US" sz="750" smtClean="0">
                <a:solidFill>
                  <a:schemeClr val="tx1"/>
                </a:solidFill>
                <a:latin typeface="+mn-lt"/>
              </a:rPr>
              <a:t>4</a:t>
            </a:fld>
            <a:endParaRPr lang="en-US" sz="750" dirty="0">
              <a:solidFill>
                <a:schemeClr val="tx1"/>
              </a:solidFill>
              <a:latin typeface="+mn-lt"/>
            </a:endParaRPr>
          </a:p>
          <a:p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57451" y="966107"/>
            <a:ext cx="8673483" cy="3641404"/>
          </a:xfrm>
          <a:prstGeom prst="round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91440" indent="0">
              <a:spcBef>
                <a:spcPts val="800"/>
              </a:spcBef>
              <a:buNone/>
            </a:pPr>
            <a:r>
              <a: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</a:t>
            </a:r>
            <a:r>
              <a:rPr lang="en-US" sz="1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2:</a:t>
            </a:r>
            <a:endParaRPr lang="en-US" sz="18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" lvl="0" indent="0">
              <a:spcBef>
                <a:spcPts val="800"/>
              </a:spcBef>
              <a:buNone/>
            </a:pPr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IAASB </a:t>
            </a:r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the view that the monitoring and remediation component should be reduced, and if so, which </a:t>
            </a:r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 should be reduced or simplified</a:t>
            </a:r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dirty="0" smtClean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" indent="0">
              <a:spcBef>
                <a:spcPts val="800"/>
              </a:spcBef>
              <a:buNone/>
            </a:pPr>
            <a:r>
              <a: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</a:t>
            </a:r>
            <a:r>
              <a: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" lvl="0" indent="0">
              <a:spcBef>
                <a:spcPts val="800"/>
              </a:spcBef>
              <a:buNone/>
            </a:pPr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 IAASB of the view that the requirement to perform the inspection of completed engagements on a cyclical basis should be removed?</a:t>
            </a:r>
          </a:p>
          <a:p>
            <a:pPr marL="91440" indent="0">
              <a:spcBef>
                <a:spcPts val="800"/>
              </a:spcBef>
              <a:buNone/>
            </a:pPr>
            <a:r>
              <a: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  <a:r>
              <a:rPr lang="en-US" sz="1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" lvl="0" indent="0">
              <a:spcBef>
                <a:spcPts val="800"/>
              </a:spcBef>
              <a:buNone/>
            </a:pPr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IAASB of the view that </a:t>
            </a:r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in-process reviews should be explicitly recognized in the requirement in paragraph 49?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864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6737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34">
      <a:dk1>
        <a:sysClr val="windowText" lastClr="000000"/>
      </a:dk1>
      <a:lt1>
        <a:sysClr val="window" lastClr="FFFFFF"/>
      </a:lt1>
      <a:dk2>
        <a:srgbClr val="005BAA"/>
      </a:dk2>
      <a:lt2>
        <a:srgbClr val="00C0F3"/>
      </a:lt2>
      <a:accent1>
        <a:srgbClr val="F15A22"/>
      </a:accent1>
      <a:accent2>
        <a:srgbClr val="FAA61A"/>
      </a:accent2>
      <a:accent3>
        <a:srgbClr val="005BAA"/>
      </a:accent3>
      <a:accent4>
        <a:srgbClr val="00C0F3"/>
      </a:accent4>
      <a:accent5>
        <a:srgbClr val="0D9C4A"/>
      </a:accent5>
      <a:accent6>
        <a:srgbClr val="8DC63F"/>
      </a:accent6>
      <a:hlink>
        <a:srgbClr val="005BA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AASB_Powerpoint_template_2016_Widescreen" id="{551C3455-CE53-451D-A561-326C993C81B9}" vid="{313783E5-FB8C-4610-BC8F-F48741466E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IAASB_Powerpoint_template_2016_Widescreen</Template>
  <TotalTime>10730</TotalTime>
  <Words>209</Words>
  <Application>Microsoft Office PowerPoint</Application>
  <PresentationFormat>On-screen Show (16:9)</PresentationFormat>
  <Paragraphs>32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MS PGothic</vt:lpstr>
      <vt:lpstr>MS PGothic</vt:lpstr>
      <vt:lpstr>Arial</vt:lpstr>
      <vt:lpstr>Arial Narrow</vt:lpstr>
      <vt:lpstr>Calibri</vt:lpstr>
      <vt:lpstr>Times New Roman</vt:lpstr>
      <vt:lpstr>ヒラギノ角ゴ Pro W3</vt:lpstr>
      <vt:lpstr>Office Theme</vt:lpstr>
      <vt:lpstr>Proposed ISQC 1 (Revised)</vt:lpstr>
      <vt:lpstr>Sections of Proposed ISQC 1 (Revised) Revised Since Monday</vt:lpstr>
      <vt:lpstr>Definitions</vt:lpstr>
      <vt:lpstr>Monitoring and Remediation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Bradley Williams</dc:creator>
  <cp:lastModifiedBy>Natalie Klonaridis</cp:lastModifiedBy>
  <cp:revision>169</cp:revision>
  <cp:lastPrinted>2016-03-04T17:09:52Z</cp:lastPrinted>
  <dcterms:created xsi:type="dcterms:W3CDTF">2016-11-09T14:56:20Z</dcterms:created>
  <dcterms:modified xsi:type="dcterms:W3CDTF">2018-09-20T19:05:23Z</dcterms:modified>
</cp:coreProperties>
</file>