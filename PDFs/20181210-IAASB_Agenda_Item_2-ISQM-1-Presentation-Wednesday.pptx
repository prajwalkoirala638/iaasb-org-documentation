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handoutMasterIdLst>
    <p:handoutMasterId r:id="rId10"/>
  </p:handoutMasterIdLst>
  <p:sldIdLst>
    <p:sldId id="256" r:id="rId2"/>
    <p:sldId id="396" r:id="rId3"/>
    <p:sldId id="352" r:id="rId4"/>
    <p:sldId id="393" r:id="rId5"/>
    <p:sldId id="390" r:id="rId6"/>
    <p:sldId id="398" r:id="rId7"/>
    <p:sldId id="259" r:id="rId8"/>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25"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Natalie Klonaridis" initials="NK" lastIdx="16" clrIdx="2">
    <p:extLst>
      <p:ext uri="{19B8F6BF-5375-455C-9EA6-DF929625EA0E}">
        <p15:presenceInfo xmlns:p15="http://schemas.microsoft.com/office/powerpoint/2012/main" userId="S-1-5-21-1801674531-1972579041-839522115-13323" providerId="AD"/>
      </p:ext>
    </p:extLst>
  </p:cmAuthor>
  <p:cmAuthor id="4" name="Beverley Bahlmann" initials="BB" lastIdx="18" clrIdx="3">
    <p:extLst>
      <p:ext uri="{19B8F6BF-5375-455C-9EA6-DF929625EA0E}">
        <p15:presenceInfo xmlns:p15="http://schemas.microsoft.com/office/powerpoint/2012/main" userId="S-1-5-21-1801674531-1972579041-839522115-4280" providerId="AD"/>
      </p:ext>
    </p:extLst>
  </p:cmAuthor>
  <p:cmAuthor id="5" name="French, Karin (GTI)" initials="FK(" lastIdx="1" clrIdx="4">
    <p:extLst>
      <p:ext uri="{19B8F6BF-5375-455C-9EA6-DF929625EA0E}">
        <p15:presenceInfo xmlns:p15="http://schemas.microsoft.com/office/powerpoint/2012/main" userId="S-1-5-21-507921405-362288127-725345543-30428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9EFF"/>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43" autoAdjust="0"/>
    <p:restoredTop sz="76684" autoAdjust="0"/>
  </p:normalViewPr>
  <p:slideViewPr>
    <p:cSldViewPr snapToGrid="0" snapToObjects="1">
      <p:cViewPr varScale="1">
        <p:scale>
          <a:sx n="86" d="100"/>
          <a:sy n="86" d="100"/>
        </p:scale>
        <p:origin x="1320" y="58"/>
      </p:cViewPr>
      <p:guideLst>
        <p:guide orient="horz" pos="1620"/>
        <p:guide pos="2880"/>
      </p:guideLst>
    </p:cSldViewPr>
  </p:slideViewPr>
  <p:outlineViewPr>
    <p:cViewPr>
      <p:scale>
        <a:sx n="66" d="100"/>
        <a:sy n="66" d="100"/>
      </p:scale>
      <p:origin x="0" y="0"/>
    </p:cViewPr>
  </p:outlineViewPr>
  <p:notesTextViewPr>
    <p:cViewPr>
      <p:scale>
        <a:sx n="100" d="100"/>
        <a:sy n="100" d="100"/>
      </p:scale>
      <p:origin x="0" y="0"/>
    </p:cViewPr>
  </p:notesTextViewPr>
  <p:sorterViewPr>
    <p:cViewPr>
      <p:scale>
        <a:sx n="201" d="100"/>
        <a:sy n="201" d="100"/>
      </p:scale>
      <p:origin x="0" y="0"/>
    </p:cViewPr>
  </p:sorterViewPr>
  <p:notesViewPr>
    <p:cSldViewPr snapToGrid="0" snapToObjects="1">
      <p:cViewPr varScale="1">
        <p:scale>
          <a:sx n="88" d="100"/>
          <a:sy n="88" d="100"/>
        </p:scale>
        <p:origin x="3798"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12/11/2018</a:t>
            </a:fld>
            <a:endParaRPr lang="en-US"/>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12/11/2018</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410189-AC31-7546-878A-F48FDE4A29F5}" type="slidenum">
              <a:rPr lang="en-US" smtClean="0"/>
              <a:t>1</a:t>
            </a:fld>
            <a:endParaRPr lang="en-US"/>
          </a:p>
        </p:txBody>
      </p:sp>
    </p:spTree>
    <p:extLst>
      <p:ext uri="{BB962C8B-B14F-4D97-AF65-F5344CB8AC3E}">
        <p14:creationId xmlns:p14="http://schemas.microsoft.com/office/powerpoint/2010/main" val="4171193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342900" rtl="0" eaLnBrk="1" fontAlgn="auto" latinLnBrk="0" hangingPunct="1">
              <a:lnSpc>
                <a:spcPct val="100000"/>
              </a:lnSpc>
              <a:spcBef>
                <a:spcPts val="0"/>
              </a:spcBef>
              <a:spcAft>
                <a:spcPts val="0"/>
              </a:spcAft>
              <a:buClrTx/>
              <a:buSzTx/>
              <a:buFontTx/>
              <a:buNone/>
              <a:tabLst/>
              <a:defRPr/>
            </a:pPr>
            <a:fld id="{4D410189-AC31-7546-878A-F48FDE4A29F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3429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14195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3</a:t>
            </a:fld>
            <a:endParaRPr lang="en-US"/>
          </a:p>
        </p:txBody>
      </p:sp>
    </p:spTree>
    <p:extLst>
      <p:ext uri="{BB962C8B-B14F-4D97-AF65-F5344CB8AC3E}">
        <p14:creationId xmlns:p14="http://schemas.microsoft.com/office/powerpoint/2010/main" val="1168338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4</a:t>
            </a:fld>
            <a:endParaRPr lang="en-US"/>
          </a:p>
        </p:txBody>
      </p:sp>
    </p:spTree>
    <p:extLst>
      <p:ext uri="{BB962C8B-B14F-4D97-AF65-F5344CB8AC3E}">
        <p14:creationId xmlns:p14="http://schemas.microsoft.com/office/powerpoint/2010/main" val="2774020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2869300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900" kern="1200" dirty="0" smtClean="0">
                <a:solidFill>
                  <a:schemeClr val="tx1"/>
                </a:solidFill>
                <a:effectLst/>
                <a:latin typeface="+mn-lt"/>
                <a:ea typeface="+mn-ea"/>
                <a:cs typeface="+mn-cs"/>
              </a:rPr>
              <a:t>33.	The firm shall design and implement responses to address the assessed quality risks, including the responses required by this ISQM. The design of the responses shall be based on, and responsive to, the reasons for the assessments given to the quality risks. (Ref: Para. A46–A47, A57–A62) </a:t>
            </a:r>
          </a:p>
          <a:p>
            <a:r>
              <a:rPr lang="en-US" baseline="0" dirty="0" smtClean="0"/>
              <a:t>The red items represent deficiencies in the initial analysis:</a:t>
            </a:r>
          </a:p>
          <a:p>
            <a:pPr marL="0" marR="0" lvl="0" indent="0" algn="l" defTabSz="342900" rtl="0" eaLnBrk="1" fontAlgn="auto" latinLnBrk="0" hangingPunct="1">
              <a:lnSpc>
                <a:spcPct val="100000"/>
              </a:lnSpc>
              <a:spcBef>
                <a:spcPts val="0"/>
              </a:spcBef>
              <a:spcAft>
                <a:spcPts val="0"/>
              </a:spcAft>
              <a:buClrTx/>
              <a:buSzTx/>
              <a:buFontTx/>
              <a:buNone/>
              <a:tabLst/>
              <a:defRPr/>
            </a:pPr>
            <a:r>
              <a:rPr lang="en-US" dirty="0" smtClean="0"/>
              <a:t>Resp. I was found to be</a:t>
            </a:r>
            <a:r>
              <a:rPr lang="en-US" baseline="0" dirty="0" smtClean="0"/>
              <a:t> inadequately designed </a:t>
            </a:r>
          </a:p>
          <a:p>
            <a:pPr marL="0" marR="0" lvl="0" indent="0" algn="l" defTabSz="342900" rtl="0" eaLnBrk="1" fontAlgn="auto" latinLnBrk="0" hangingPunct="1">
              <a:lnSpc>
                <a:spcPct val="100000"/>
              </a:lnSpc>
              <a:spcBef>
                <a:spcPts val="0"/>
              </a:spcBef>
              <a:spcAft>
                <a:spcPts val="0"/>
              </a:spcAft>
              <a:buClrTx/>
              <a:buSzTx/>
              <a:buFontTx/>
              <a:buNone/>
              <a:tabLst/>
              <a:defRPr/>
            </a:pPr>
            <a:r>
              <a:rPr lang="en-US" baseline="0" dirty="0" smtClean="0"/>
              <a:t>Resp. I alone did not adequately address QR 1, therefore an additional response was added</a:t>
            </a:r>
          </a:p>
          <a:p>
            <a:pPr marL="0" marR="0" lvl="0" indent="0" algn="l" defTabSz="342900" rtl="0" eaLnBrk="1" fontAlgn="auto" latinLnBrk="0" hangingPunct="1">
              <a:lnSpc>
                <a:spcPct val="100000"/>
              </a:lnSpc>
              <a:spcBef>
                <a:spcPts val="0"/>
              </a:spcBef>
              <a:spcAft>
                <a:spcPts val="0"/>
              </a:spcAft>
              <a:buClrTx/>
              <a:buSzTx/>
              <a:buFontTx/>
              <a:buNone/>
              <a:tabLst/>
              <a:defRPr/>
            </a:pPr>
            <a:r>
              <a:rPr lang="en-US" baseline="0" dirty="0" smtClean="0"/>
              <a:t>A QR and Response were not identified / assessed / designed</a:t>
            </a:r>
          </a:p>
          <a:p>
            <a:pPr marL="0" marR="0" lvl="0" indent="0" algn="l" defTabSz="342900" rtl="0" eaLnBrk="1" fontAlgn="auto" latinLnBrk="0" hangingPunct="1">
              <a:lnSpc>
                <a:spcPct val="100000"/>
              </a:lnSpc>
              <a:spcBef>
                <a:spcPts val="0"/>
              </a:spcBef>
              <a:spcAft>
                <a:spcPts val="0"/>
              </a:spcAft>
              <a:buClrTx/>
              <a:buSzTx/>
              <a:buFontTx/>
              <a:buNone/>
              <a:tabLst/>
              <a:defRPr/>
            </a:pPr>
            <a:r>
              <a:rPr lang="en-US" baseline="0" dirty="0" smtClean="0"/>
              <a:t>QO 8, the related risks, and the related responses were omitted</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4D410189-AC31-7546-878A-F48FDE4A29F5}" type="slidenum">
              <a:rPr lang="en-US" smtClean="0"/>
              <a:t>6</a:t>
            </a:fld>
            <a:endParaRPr lang="en-US"/>
          </a:p>
        </p:txBody>
      </p:sp>
    </p:spTree>
    <p:extLst>
      <p:ext uri="{BB962C8B-B14F-4D97-AF65-F5344CB8AC3E}">
        <p14:creationId xmlns:p14="http://schemas.microsoft.com/office/powerpoint/2010/main" val="22430369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www.iaasb.org/" TargetMode="External"/><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hyperlink" Target="mailto:permissions@ifac.org" TargetMode="External"/><Relationship Id="rId5" Type="http://schemas.openxmlformats.org/officeDocument/2006/relationships/image" Target="../media/image7.png"/><Relationship Id="rId10" Type="http://schemas.openxmlformats.org/officeDocument/2006/relationships/hyperlink" Target="http://www.ifac.org/about-ifac/translations-permissions" TargetMode="External"/><Relationship Id="rId4" Type="http://schemas.openxmlformats.org/officeDocument/2006/relationships/image" Target="../media/image6.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smtClean="0"/>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smtClean="0"/>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smtClean="0"/>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smtClean="0">
              <a:latin typeface="Arial" panose="020B0604020202020204" pitchFamily="34" charset="0"/>
              <a:cs typeface="MS PGothic" charset="0"/>
            </a:endParaRPr>
          </a:p>
        </p:txBody>
      </p:sp>
    </p:spTree>
    <p:extLst>
      <p:ext uri="{BB962C8B-B14F-4D97-AF65-F5344CB8AC3E}">
        <p14:creationId xmlns:p14="http://schemas.microsoft.com/office/powerpoint/2010/main" val="257666932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Slide Number Placeholder 5"/>
          <p:cNvSpPr>
            <a:spLocks noGrp="1"/>
          </p:cNvSpPr>
          <p:nvPr>
            <p:ph type="sldNum" sz="quarter" idx="12"/>
          </p:nvPr>
        </p:nvSpPr>
        <p:spPr/>
        <p:txBody>
          <a:bodyPr/>
          <a:lstStyle>
            <a:lvl1pPr algn="r">
              <a:defRPr/>
            </a:lvl1pPr>
          </a:lstStyle>
          <a:p>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93993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Slide Number Placeholder 8"/>
          <p:cNvSpPr>
            <a:spLocks noGrp="1"/>
          </p:cNvSpPr>
          <p:nvPr>
            <p:ph type="sldNum" sz="quarter" idx="12"/>
          </p:nvPr>
        </p:nvSpPr>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smtClean="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9559"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68002"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0292"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875897"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78511"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35213"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smtClean="0">
                <a:effectLst/>
                <a:latin typeface="Arial" panose="020B0604020202020204" pitchFamily="34" charset="0"/>
                <a:ea typeface="Calibri" panose="020F0502020204030204" pitchFamily="34" charset="0"/>
              </a:rPr>
              <a:t>For copyright, trademark, and permissions information, please go to </a:t>
            </a:r>
            <a:r>
              <a:rPr lang="en-US" sz="900" u="sng" dirty="0" smtClean="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smtClean="0">
                <a:effectLst/>
                <a:latin typeface="Arial" panose="020B0604020202020204" pitchFamily="34" charset="0"/>
                <a:ea typeface="Calibri" panose="020F0502020204030204" pitchFamily="34" charset="0"/>
              </a:rPr>
              <a:t> or contact </a:t>
            </a:r>
            <a:r>
              <a:rPr lang="en-US" sz="900" u="sng" dirty="0" smtClean="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smtClean="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fld id="{AF73A935-0AD8-4B38-AD39-55437B5CA1D2}" type="datetime1">
              <a:rPr lang="en-US" smtClean="0"/>
              <a:t>12/11/2018</a:t>
            </a:fld>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smtClean="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timing>
    <p:tnLst>
      <p:par>
        <p:cTn id="1" dur="indefinite" restart="never" nodeType="tmRoot"/>
      </p:par>
    </p:tnLst>
  </p:timing>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Quality Management (Firm Level)</a:t>
            </a:r>
            <a:endParaRPr lang="en-US" dirty="0"/>
          </a:p>
        </p:txBody>
      </p:sp>
      <p:sp>
        <p:nvSpPr>
          <p:cNvPr id="6" name="Subtitle 5"/>
          <p:cNvSpPr>
            <a:spLocks noGrp="1"/>
          </p:cNvSpPr>
          <p:nvPr>
            <p:ph type="subTitle" idx="1"/>
          </p:nvPr>
        </p:nvSpPr>
        <p:spPr>
          <a:xfrm>
            <a:off x="685801" y="3221372"/>
            <a:ext cx="4732867" cy="1419203"/>
          </a:xfrm>
        </p:spPr>
        <p:txBody>
          <a:bodyPr/>
          <a:lstStyle/>
          <a:p>
            <a:r>
              <a:rPr lang="en-US" dirty="0" smtClean="0"/>
              <a:t>New York</a:t>
            </a:r>
          </a:p>
          <a:p>
            <a:r>
              <a:rPr lang="en-US" dirty="0" smtClean="0"/>
              <a:t>December 12, 2018</a:t>
            </a:r>
          </a:p>
          <a:p>
            <a:endParaRPr lang="en-US" dirty="0"/>
          </a:p>
        </p:txBody>
      </p:sp>
    </p:spTree>
    <p:extLst>
      <p:ext uri="{BB962C8B-B14F-4D97-AF65-F5344CB8AC3E}">
        <p14:creationId xmlns:p14="http://schemas.microsoft.com/office/powerpoint/2010/main" val="4240407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Identification </a:t>
            </a:r>
            <a:r>
              <a:rPr lang="en-US" dirty="0" smtClean="0"/>
              <a:t>of </a:t>
            </a:r>
            <a:r>
              <a:rPr lang="en-US" dirty="0" smtClean="0"/>
              <a:t>Quality Risks</a:t>
            </a:r>
            <a:endParaRPr lang="en-US" dirty="0"/>
          </a:p>
        </p:txBody>
      </p:sp>
      <p:sp>
        <p:nvSpPr>
          <p:cNvPr id="20" name="Slide Number Placeholder 4"/>
          <p:cNvSpPr>
            <a:spLocks noGrp="1"/>
          </p:cNvSpPr>
          <p:nvPr>
            <p:ph type="sldNum" sz="quarter" idx="12"/>
          </p:nvPr>
        </p:nvSpPr>
        <p:spPr>
          <a:xfrm>
            <a:off x="8238478" y="4891669"/>
            <a:ext cx="479268" cy="251831"/>
          </a:xfrm>
        </p:spPr>
        <p:txBody>
          <a:bodyPr/>
          <a:lstStyle/>
          <a:p>
            <a:pPr marL="0" marR="0" lvl="0" indent="0" algn="r" defTabSz="3429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prstClr val="black"/>
                </a:solidFill>
                <a:effectLst/>
                <a:uLnTx/>
                <a:uFillTx/>
                <a:latin typeface="Calibri"/>
                <a:ea typeface="+mn-ea"/>
              </a:rPr>
              <a:t>Page </a:t>
            </a:r>
            <a:fld id="{1D8F2CCE-4F5B-45FE-857C-239A2B21CCCD}" type="slidenum">
              <a:rPr kumimoji="0" lang="en-US" sz="750" b="0" i="0" u="none" strike="noStrike" kern="1200" cap="none" spc="0" normalizeH="0" baseline="0" noProof="0" smtClean="0">
                <a:ln>
                  <a:noFill/>
                </a:ln>
                <a:solidFill>
                  <a:prstClr val="black"/>
                </a:solidFill>
                <a:effectLst/>
                <a:uLnTx/>
                <a:uFillTx/>
                <a:latin typeface="Calibri"/>
                <a:ea typeface="+mn-ea"/>
              </a:rPr>
              <a:pPr marL="0" marR="0" lvl="0" indent="0" algn="r" defTabSz="342900" rtl="0" eaLnBrk="1" fontAlgn="auto" latinLnBrk="0" hangingPunct="1">
                <a:lnSpc>
                  <a:spcPct val="100000"/>
                </a:lnSpc>
                <a:spcBef>
                  <a:spcPts val="0"/>
                </a:spcBef>
                <a:spcAft>
                  <a:spcPts val="0"/>
                </a:spcAft>
                <a:buClrTx/>
                <a:buSzTx/>
                <a:buFontTx/>
                <a:buNone/>
                <a:tabLst/>
                <a:defRPr/>
              </a:pPr>
              <a:t>2</a:t>
            </a:fld>
            <a:endParaRPr kumimoji="0" lang="en-US" sz="750" b="0" i="0" u="none" strike="noStrike" kern="1200" cap="none" spc="0" normalizeH="0" baseline="0" noProof="0" dirty="0">
              <a:ln>
                <a:noFill/>
              </a:ln>
              <a:solidFill>
                <a:prstClr val="black"/>
              </a:solidFill>
              <a:effectLst/>
              <a:uLnTx/>
              <a:uFillTx/>
              <a:latin typeface="Calibri"/>
              <a:ea typeface="+mn-ea"/>
            </a:endParaRPr>
          </a:p>
          <a:p>
            <a:pPr marL="0" marR="0" lvl="0" indent="0" algn="r" defTabSz="342900" rtl="0" eaLnBrk="1" fontAlgn="auto" latinLnBrk="0" hangingPunct="1">
              <a:lnSpc>
                <a:spcPct val="100000"/>
              </a:lnSpc>
              <a:spcBef>
                <a:spcPts val="0"/>
              </a:spcBef>
              <a:spcAft>
                <a:spcPts val="0"/>
              </a:spcAft>
              <a:buClrTx/>
              <a:buSzTx/>
              <a:buFontTx/>
              <a:buNone/>
              <a:tabLst/>
              <a:defRPr/>
            </a:pPr>
            <a:endParaRPr kumimoji="0" lang="en-US" sz="750" b="0" i="0" u="none" strike="noStrike" kern="1200" cap="none" spc="0" normalizeH="0" baseline="0" noProof="0" dirty="0">
              <a:ln>
                <a:noFill/>
              </a:ln>
              <a:solidFill>
                <a:prstClr val="black"/>
              </a:solidFill>
              <a:effectLst/>
              <a:uLnTx/>
              <a:uFillTx/>
              <a:latin typeface="Calibri"/>
              <a:ea typeface="+mn-ea"/>
            </a:endParaRPr>
          </a:p>
        </p:txBody>
      </p:sp>
      <p:sp>
        <p:nvSpPr>
          <p:cNvPr id="97" name="Flowchart: Manual Operation 96"/>
          <p:cNvSpPr/>
          <p:nvPr/>
        </p:nvSpPr>
        <p:spPr>
          <a:xfrm>
            <a:off x="193888" y="1570480"/>
            <a:ext cx="1931550" cy="1734113"/>
          </a:xfrm>
          <a:prstGeom prst="flowChartManualOperati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98" name="TextBox 97"/>
          <p:cNvSpPr txBox="1"/>
          <p:nvPr/>
        </p:nvSpPr>
        <p:spPr>
          <a:xfrm>
            <a:off x="626824" y="1833286"/>
            <a:ext cx="1040732" cy="1077218"/>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Quality risks (whole universe)</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99" name="Flowchart: Manual Operation 98"/>
          <p:cNvSpPr/>
          <p:nvPr/>
        </p:nvSpPr>
        <p:spPr>
          <a:xfrm>
            <a:off x="2341222" y="1563193"/>
            <a:ext cx="1834152" cy="1793278"/>
          </a:xfrm>
          <a:prstGeom prst="flowChartManualOperati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cxnSp>
        <p:nvCxnSpPr>
          <p:cNvPr id="100" name="Straight Connector 99"/>
          <p:cNvCxnSpPr/>
          <p:nvPr/>
        </p:nvCxnSpPr>
        <p:spPr>
          <a:xfrm>
            <a:off x="2522732" y="2465902"/>
            <a:ext cx="1469946" cy="0"/>
          </a:xfrm>
          <a:prstGeom prst="line">
            <a:avLst/>
          </a:prstGeom>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2486895" y="1697467"/>
            <a:ext cx="1471009" cy="523220"/>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Reasonably possible</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02" name="TextBox 101"/>
          <p:cNvSpPr txBox="1"/>
          <p:nvPr/>
        </p:nvSpPr>
        <p:spPr>
          <a:xfrm>
            <a:off x="2629392" y="2563015"/>
            <a:ext cx="1186016" cy="946413"/>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Not reasonably </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possible</a:t>
            </a:r>
          </a:p>
          <a:p>
            <a:pPr marL="0" marR="0" lvl="0" indent="0" algn="l"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a:ea typeface="+mn-ea"/>
              <a:cs typeface="+mn-cs"/>
            </a:endParaRPr>
          </a:p>
        </p:txBody>
      </p:sp>
      <p:sp>
        <p:nvSpPr>
          <p:cNvPr id="103" name="Flowchart: Manual Operation 102"/>
          <p:cNvSpPr/>
          <p:nvPr/>
        </p:nvSpPr>
        <p:spPr>
          <a:xfrm>
            <a:off x="4530388" y="1563193"/>
            <a:ext cx="1914724" cy="1793278"/>
          </a:xfrm>
          <a:prstGeom prst="flowChartManualOperati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cxnSp>
        <p:nvCxnSpPr>
          <p:cNvPr id="104" name="Straight Connector 103"/>
          <p:cNvCxnSpPr/>
          <p:nvPr/>
        </p:nvCxnSpPr>
        <p:spPr>
          <a:xfrm>
            <a:off x="4668253" y="2040556"/>
            <a:ext cx="1638524" cy="100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4806207" y="2702687"/>
            <a:ext cx="1388770" cy="1"/>
          </a:xfrm>
          <a:prstGeom prst="line">
            <a:avLst/>
          </a:prstGeom>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4550666" y="1642047"/>
            <a:ext cx="1938351" cy="307777"/>
          </a:xfrm>
          <a:prstGeom prst="rect">
            <a:avLst/>
          </a:prstGeom>
          <a:noFill/>
        </p:spPr>
        <p:txBody>
          <a:bodyPr wrap="none" rtlCol="0">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Significant individually</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07" name="TextBox 106"/>
          <p:cNvSpPr txBox="1"/>
          <p:nvPr/>
        </p:nvSpPr>
        <p:spPr>
          <a:xfrm>
            <a:off x="4819745" y="2751889"/>
            <a:ext cx="1249933" cy="523220"/>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Not significant</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08" name="TextBox 107"/>
          <p:cNvSpPr txBox="1"/>
          <p:nvPr/>
        </p:nvSpPr>
        <p:spPr>
          <a:xfrm>
            <a:off x="4840165" y="2139615"/>
            <a:ext cx="1249933" cy="523220"/>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Significant in combination</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09" name="Flowchart: Manual Operation 108"/>
          <p:cNvSpPr/>
          <p:nvPr/>
        </p:nvSpPr>
        <p:spPr>
          <a:xfrm>
            <a:off x="6853465" y="1544298"/>
            <a:ext cx="1957391" cy="1802197"/>
          </a:xfrm>
          <a:prstGeom prst="flowChartManualOperati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10" name="TextBox 109"/>
          <p:cNvSpPr txBox="1"/>
          <p:nvPr/>
        </p:nvSpPr>
        <p:spPr>
          <a:xfrm>
            <a:off x="7097411" y="1832002"/>
            <a:ext cx="1455014" cy="584775"/>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Identified quality risks</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5" name="Right Arrow 114"/>
          <p:cNvSpPr/>
          <p:nvPr/>
        </p:nvSpPr>
        <p:spPr>
          <a:xfrm>
            <a:off x="2051507" y="2336222"/>
            <a:ext cx="357226" cy="2472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16" name="Right Arrow 115"/>
          <p:cNvSpPr/>
          <p:nvPr/>
        </p:nvSpPr>
        <p:spPr>
          <a:xfrm>
            <a:off x="4251879" y="2050560"/>
            <a:ext cx="357226" cy="2472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19" name="Right Arrow 118"/>
          <p:cNvSpPr/>
          <p:nvPr/>
        </p:nvSpPr>
        <p:spPr>
          <a:xfrm>
            <a:off x="6609520" y="2218683"/>
            <a:ext cx="357226" cy="2472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cxnSp>
        <p:nvCxnSpPr>
          <p:cNvPr id="120" name="Straight Connector 119"/>
          <p:cNvCxnSpPr/>
          <p:nvPr/>
        </p:nvCxnSpPr>
        <p:spPr>
          <a:xfrm>
            <a:off x="3222400" y="3356471"/>
            <a:ext cx="0" cy="649351"/>
          </a:xfrm>
          <a:prstGeom prst="line">
            <a:avLst/>
          </a:prstGeom>
        </p:spPr>
        <p:style>
          <a:lnRef idx="2">
            <a:schemeClr val="accent1"/>
          </a:lnRef>
          <a:fillRef idx="0">
            <a:schemeClr val="accent1"/>
          </a:fillRef>
          <a:effectRef idx="1">
            <a:schemeClr val="accent1"/>
          </a:effectRef>
          <a:fontRef idx="minor">
            <a:schemeClr val="tx1"/>
          </a:fontRef>
        </p:style>
      </p:cxnSp>
      <p:cxnSp>
        <p:nvCxnSpPr>
          <p:cNvPr id="121" name="Straight Arrow Connector 120"/>
          <p:cNvCxnSpPr/>
          <p:nvPr/>
        </p:nvCxnSpPr>
        <p:spPr>
          <a:xfrm flipH="1">
            <a:off x="5165996" y="3946327"/>
            <a:ext cx="32175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2" name="Right Brace 121"/>
          <p:cNvSpPr/>
          <p:nvPr/>
        </p:nvSpPr>
        <p:spPr>
          <a:xfrm>
            <a:off x="6456691" y="1576002"/>
            <a:ext cx="232365" cy="112668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19" name="Rectangle 18"/>
          <p:cNvSpPr/>
          <p:nvPr/>
        </p:nvSpPr>
        <p:spPr>
          <a:xfrm>
            <a:off x="542634" y="872032"/>
            <a:ext cx="1031674" cy="40259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6" name="TextBox 45"/>
          <p:cNvSpPr txBox="1"/>
          <p:nvPr/>
        </p:nvSpPr>
        <p:spPr>
          <a:xfrm>
            <a:off x="572111" y="944025"/>
            <a:ext cx="1002197" cy="300082"/>
          </a:xfrm>
          <a:prstGeom prst="rect">
            <a:avLst/>
          </a:prstGeom>
          <a:noFill/>
        </p:spPr>
        <p:txBody>
          <a:bodyPr wrap="none" rtlCol="0">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Para 22(q)</a:t>
            </a:r>
            <a:endParaRPr kumimoji="0" lang="en-US" sz="135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49" name="Rectangle 48"/>
          <p:cNvSpPr/>
          <p:nvPr/>
        </p:nvSpPr>
        <p:spPr>
          <a:xfrm>
            <a:off x="2802164" y="880390"/>
            <a:ext cx="1031674" cy="40259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0" name="Rectangle 49"/>
          <p:cNvSpPr/>
          <p:nvPr/>
        </p:nvSpPr>
        <p:spPr>
          <a:xfrm>
            <a:off x="5004004" y="897167"/>
            <a:ext cx="1031674" cy="40259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2" name="TextBox 51"/>
          <p:cNvSpPr txBox="1"/>
          <p:nvPr/>
        </p:nvSpPr>
        <p:spPr>
          <a:xfrm>
            <a:off x="2831641" y="931646"/>
            <a:ext cx="1002197" cy="300082"/>
          </a:xfrm>
          <a:prstGeom prst="rect">
            <a:avLst/>
          </a:prstGeom>
          <a:noFill/>
        </p:spPr>
        <p:txBody>
          <a:bodyPr wrap="none" rtlCol="0">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Para 31(a)</a:t>
            </a:r>
            <a:endParaRPr kumimoji="0" lang="en-US" sz="135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53" name="TextBox 52"/>
          <p:cNvSpPr txBox="1"/>
          <p:nvPr/>
        </p:nvSpPr>
        <p:spPr>
          <a:xfrm>
            <a:off x="5033481" y="957426"/>
            <a:ext cx="1002197" cy="300082"/>
          </a:xfrm>
          <a:prstGeom prst="rect">
            <a:avLst/>
          </a:prstGeom>
          <a:noFill/>
        </p:spPr>
        <p:txBody>
          <a:bodyPr wrap="none" rtlCol="0">
            <a:spAutoFit/>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Para 31(b)</a:t>
            </a:r>
            <a:endParaRPr kumimoji="0" lang="en-US" sz="135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21" name="Rectangle 20"/>
          <p:cNvSpPr/>
          <p:nvPr/>
        </p:nvSpPr>
        <p:spPr>
          <a:xfrm>
            <a:off x="3464268" y="3599104"/>
            <a:ext cx="1713297" cy="914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5" name="TextBox 54"/>
          <p:cNvSpPr txBox="1"/>
          <p:nvPr/>
        </p:nvSpPr>
        <p:spPr>
          <a:xfrm>
            <a:off x="3613619" y="3698222"/>
            <a:ext cx="1422583" cy="738664"/>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No further procedures required</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cxnSp>
        <p:nvCxnSpPr>
          <p:cNvPr id="59" name="Straight Connector 58"/>
          <p:cNvCxnSpPr/>
          <p:nvPr/>
        </p:nvCxnSpPr>
        <p:spPr>
          <a:xfrm>
            <a:off x="5487750" y="3375354"/>
            <a:ext cx="0" cy="547433"/>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a:off x="3222400" y="4005822"/>
            <a:ext cx="2291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8" name="Right Arrow 67"/>
          <p:cNvSpPr/>
          <p:nvPr/>
        </p:nvSpPr>
        <p:spPr>
          <a:xfrm>
            <a:off x="8683090" y="2220123"/>
            <a:ext cx="357226" cy="2472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7478535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 </a:t>
            </a:r>
            <a:r>
              <a:rPr lang="en-US" dirty="0"/>
              <a:t>of Quality Risks</a:t>
            </a:r>
          </a:p>
        </p:txBody>
      </p:sp>
      <p:sp>
        <p:nvSpPr>
          <p:cNvPr id="20"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1D8F2CCE-4F5B-45FE-857C-239A2B21CCCD}" type="slidenum">
              <a:rPr lang="en-US" sz="750" smtClean="0">
                <a:solidFill>
                  <a:schemeClr val="tx1"/>
                </a:solidFill>
                <a:latin typeface="+mn-lt"/>
              </a:rPr>
              <a:t>3</a:t>
            </a:fld>
            <a:endParaRPr lang="en-US" sz="750" dirty="0">
              <a:solidFill>
                <a:schemeClr val="tx1"/>
              </a:solidFill>
              <a:latin typeface="+mn-lt"/>
            </a:endParaRPr>
          </a:p>
          <a:p>
            <a:endParaRPr lang="en-US" sz="750" dirty="0">
              <a:solidFill>
                <a:schemeClr val="tx1"/>
              </a:solidFill>
              <a:latin typeface="+mn-lt"/>
            </a:endParaRPr>
          </a:p>
        </p:txBody>
      </p:sp>
      <p:sp>
        <p:nvSpPr>
          <p:cNvPr id="109" name="Flowchart: Manual Operation 108"/>
          <p:cNvSpPr/>
          <p:nvPr/>
        </p:nvSpPr>
        <p:spPr>
          <a:xfrm>
            <a:off x="656590" y="1308806"/>
            <a:ext cx="1270534" cy="1068634"/>
          </a:xfrm>
          <a:prstGeom prst="flowChartManualOperati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p:cNvSpPr txBox="1"/>
          <p:nvPr/>
        </p:nvSpPr>
        <p:spPr>
          <a:xfrm>
            <a:off x="648152" y="1440170"/>
            <a:ext cx="1270534" cy="523220"/>
          </a:xfrm>
          <a:prstGeom prst="rect">
            <a:avLst/>
          </a:prstGeom>
          <a:noFill/>
        </p:spPr>
        <p:txBody>
          <a:bodyPr wrap="square" rtlCol="0">
            <a:spAutoFit/>
          </a:bodyPr>
          <a:lstStyle/>
          <a:p>
            <a:pPr algn="ctr"/>
            <a:r>
              <a:rPr lang="en-US" sz="1400" dirty="0" smtClean="0">
                <a:latin typeface="Arial" panose="020B0604020202020204" pitchFamily="34" charset="0"/>
                <a:cs typeface="Arial" panose="020B0604020202020204" pitchFamily="34" charset="0"/>
              </a:rPr>
              <a:t>Identified quality risks</a:t>
            </a:r>
            <a:endParaRPr lang="en-US" sz="1400" dirty="0">
              <a:latin typeface="Arial" panose="020B0604020202020204" pitchFamily="34" charset="0"/>
              <a:cs typeface="Arial" panose="020B0604020202020204" pitchFamily="34" charset="0"/>
            </a:endParaRPr>
          </a:p>
        </p:txBody>
      </p:sp>
      <p:sp>
        <p:nvSpPr>
          <p:cNvPr id="30" name="Right Arrow 29"/>
          <p:cNvSpPr/>
          <p:nvPr/>
        </p:nvSpPr>
        <p:spPr>
          <a:xfrm>
            <a:off x="1993817" y="1893476"/>
            <a:ext cx="357226" cy="2472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31" name="Right Arrow 30"/>
          <p:cNvSpPr/>
          <p:nvPr/>
        </p:nvSpPr>
        <p:spPr>
          <a:xfrm>
            <a:off x="233392" y="1528414"/>
            <a:ext cx="357226" cy="247219"/>
          </a:xfrm>
          <a:prstGeom prst="rightArrow">
            <a:avLst>
              <a:gd name="adj1" fmla="val 50000"/>
              <a:gd name="adj2" fmla="val 4221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9" name="Isosceles Triangle 68"/>
          <p:cNvSpPr>
            <a:spLocks/>
          </p:cNvSpPr>
          <p:nvPr/>
        </p:nvSpPr>
        <p:spPr>
          <a:xfrm rot="10800000">
            <a:off x="3108210" y="4388655"/>
            <a:ext cx="230670" cy="125826"/>
          </a:xfrm>
          <a:prstGeom prst="triangl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4" name="Isosceles Triangle 83"/>
          <p:cNvSpPr>
            <a:spLocks/>
          </p:cNvSpPr>
          <p:nvPr/>
        </p:nvSpPr>
        <p:spPr>
          <a:xfrm rot="16200000">
            <a:off x="2625109" y="3877666"/>
            <a:ext cx="215103" cy="111260"/>
          </a:xfrm>
          <a:prstGeom prst="triangl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3" name="TextBox 92"/>
          <p:cNvSpPr txBox="1"/>
          <p:nvPr/>
        </p:nvSpPr>
        <p:spPr>
          <a:xfrm>
            <a:off x="2159897" y="815489"/>
            <a:ext cx="763687" cy="523220"/>
          </a:xfrm>
          <a:prstGeom prst="rect">
            <a:avLst/>
          </a:prstGeom>
          <a:noFill/>
        </p:spPr>
        <p:txBody>
          <a:bodyPr wrap="square" rtlCol="0">
            <a:spAutoFit/>
          </a:bodyPr>
          <a:lstStyle/>
          <a:p>
            <a:r>
              <a:rPr lang="en-US" sz="1400" dirty="0" smtClean="0">
                <a:solidFill>
                  <a:schemeClr val="accent3">
                    <a:lumMod val="75000"/>
                  </a:schemeClr>
                </a:solidFill>
                <a:latin typeface="Arial" panose="020B0604020202020204" pitchFamily="34" charset="0"/>
                <a:cs typeface="Arial" panose="020B0604020202020204" pitchFamily="34" charset="0"/>
              </a:rPr>
              <a:t>Highly Likely</a:t>
            </a:r>
            <a:endParaRPr lang="en-US" sz="1400" dirty="0">
              <a:solidFill>
                <a:schemeClr val="accent3">
                  <a:lumMod val="75000"/>
                </a:schemeClr>
              </a:solidFill>
              <a:latin typeface="Arial" panose="020B0604020202020204" pitchFamily="34" charset="0"/>
              <a:cs typeface="Arial" panose="020B0604020202020204" pitchFamily="34" charset="0"/>
            </a:endParaRPr>
          </a:p>
        </p:txBody>
      </p:sp>
      <p:sp>
        <p:nvSpPr>
          <p:cNvPr id="61" name="Right Arrow 60"/>
          <p:cNvSpPr>
            <a:spLocks/>
          </p:cNvSpPr>
          <p:nvPr/>
        </p:nvSpPr>
        <p:spPr>
          <a:xfrm rot="16200000">
            <a:off x="1367085" y="2453860"/>
            <a:ext cx="3218882" cy="321118"/>
          </a:xfrm>
          <a:prstGeom prst="rightArrow">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62" name="Right Arrow 61"/>
          <p:cNvSpPr>
            <a:spLocks/>
          </p:cNvSpPr>
          <p:nvPr/>
        </p:nvSpPr>
        <p:spPr>
          <a:xfrm>
            <a:off x="2893549" y="4020345"/>
            <a:ext cx="4691158" cy="333238"/>
          </a:xfrm>
          <a:prstGeom prst="rightArrow">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63" name="TextBox 62"/>
          <p:cNvSpPr txBox="1">
            <a:spLocks/>
          </p:cNvSpPr>
          <p:nvPr/>
        </p:nvSpPr>
        <p:spPr>
          <a:xfrm>
            <a:off x="3069710" y="1213086"/>
            <a:ext cx="145130" cy="2845759"/>
          </a:xfrm>
          <a:prstGeom prst="rect">
            <a:avLst/>
          </a:prstGeom>
        </p:spPr>
        <p:style>
          <a:lnRef idx="1">
            <a:schemeClr val="dk1"/>
          </a:lnRef>
          <a:fillRef idx="2">
            <a:schemeClr val="dk1"/>
          </a:fillRef>
          <a:effectRef idx="1">
            <a:schemeClr val="dk1"/>
          </a:effectRef>
          <a:fontRef idx="minor">
            <a:schemeClr val="dk1"/>
          </a:fontRef>
        </p:style>
        <p:txBody>
          <a:bodyPr wrap="square" rtlCol="0">
            <a:noAutofit/>
          </a:bodyPr>
          <a:lstStyle/>
          <a:p>
            <a:endParaRPr lang="en-US" dirty="0"/>
          </a:p>
        </p:txBody>
      </p:sp>
      <p:sp>
        <p:nvSpPr>
          <p:cNvPr id="64" name="TextBox 63"/>
          <p:cNvSpPr txBox="1">
            <a:spLocks/>
          </p:cNvSpPr>
          <p:nvPr/>
        </p:nvSpPr>
        <p:spPr>
          <a:xfrm rot="5400000">
            <a:off x="5155269" y="1832656"/>
            <a:ext cx="167718" cy="4357928"/>
          </a:xfrm>
          <a:prstGeom prst="rect">
            <a:avLst/>
          </a:prstGeom>
        </p:spPr>
        <p:style>
          <a:lnRef idx="1">
            <a:schemeClr val="dk1"/>
          </a:lnRef>
          <a:fillRef idx="2">
            <a:schemeClr val="dk1"/>
          </a:fillRef>
          <a:effectRef idx="1">
            <a:schemeClr val="dk1"/>
          </a:effectRef>
          <a:fontRef idx="minor">
            <a:schemeClr val="dk1"/>
          </a:fontRef>
        </p:style>
        <p:txBody>
          <a:bodyPr wrap="square" rtlCol="0">
            <a:noAutofit/>
          </a:bodyPr>
          <a:lstStyle/>
          <a:p>
            <a:endParaRPr lang="en-US" dirty="0"/>
          </a:p>
        </p:txBody>
      </p:sp>
      <p:cxnSp>
        <p:nvCxnSpPr>
          <p:cNvPr id="65" name="Straight Connector 64"/>
          <p:cNvCxnSpPr>
            <a:cxnSpLocks/>
          </p:cNvCxnSpPr>
          <p:nvPr/>
        </p:nvCxnSpPr>
        <p:spPr>
          <a:xfrm>
            <a:off x="3223278" y="1203461"/>
            <a:ext cx="267" cy="3223694"/>
          </a:xfrm>
          <a:prstGeom prst="line">
            <a:avLst/>
          </a:prstGeom>
          <a:ln/>
        </p:spPr>
        <p:style>
          <a:lnRef idx="2">
            <a:schemeClr val="accent3"/>
          </a:lnRef>
          <a:fillRef idx="0">
            <a:schemeClr val="accent3"/>
          </a:fillRef>
          <a:effectRef idx="1">
            <a:schemeClr val="accent3"/>
          </a:effectRef>
          <a:fontRef idx="minor">
            <a:schemeClr val="tx1"/>
          </a:fontRef>
        </p:style>
      </p:cxnSp>
      <p:sp>
        <p:nvSpPr>
          <p:cNvPr id="75" name="TextBox 74"/>
          <p:cNvSpPr txBox="1">
            <a:spLocks/>
          </p:cNvSpPr>
          <p:nvPr/>
        </p:nvSpPr>
        <p:spPr>
          <a:xfrm rot="16200000">
            <a:off x="1320744" y="2200847"/>
            <a:ext cx="2800438" cy="338554"/>
          </a:xfrm>
          <a:prstGeom prst="rect">
            <a:avLst/>
          </a:prstGeom>
          <a:noFill/>
        </p:spPr>
        <p:txBody>
          <a:bodyPr wrap="square" rtlCol="0">
            <a:spAutoFit/>
          </a:bodyPr>
          <a:lstStyle/>
          <a:p>
            <a:pPr algn="ctr"/>
            <a:r>
              <a:rPr lang="en-US" sz="1600" dirty="0" smtClean="0">
                <a:latin typeface="Arial" panose="020B0604020202020204" pitchFamily="34" charset="0"/>
                <a:cs typeface="Arial" panose="020B0604020202020204" pitchFamily="34" charset="0"/>
              </a:rPr>
              <a:t>Possibility of occurrence</a:t>
            </a:r>
            <a:endParaRPr lang="en-US" sz="1600" dirty="0">
              <a:latin typeface="Arial" panose="020B0604020202020204" pitchFamily="34" charset="0"/>
              <a:cs typeface="Arial" panose="020B0604020202020204" pitchFamily="34" charset="0"/>
            </a:endParaRPr>
          </a:p>
        </p:txBody>
      </p:sp>
      <p:sp>
        <p:nvSpPr>
          <p:cNvPr id="78" name="TextBox 77"/>
          <p:cNvSpPr txBox="1">
            <a:spLocks/>
          </p:cNvSpPr>
          <p:nvPr/>
        </p:nvSpPr>
        <p:spPr>
          <a:xfrm>
            <a:off x="3416463" y="4282291"/>
            <a:ext cx="4004615" cy="584775"/>
          </a:xfrm>
          <a:prstGeom prst="rect">
            <a:avLst/>
          </a:prstGeom>
          <a:noFill/>
        </p:spPr>
        <p:txBody>
          <a:bodyPr wrap="square" rtlCol="0">
            <a:spAutoFit/>
          </a:bodyPr>
          <a:lstStyle/>
          <a:p>
            <a:pPr algn="ctr"/>
            <a:r>
              <a:rPr lang="en-US" sz="1600" dirty="0" smtClean="0">
                <a:latin typeface="Arial" panose="020B0604020202020204" pitchFamily="34" charset="0"/>
                <a:cs typeface="Arial" panose="020B0604020202020204" pitchFamily="34" charset="0"/>
              </a:rPr>
              <a:t>Effect of quality risk on quality objective (magnitude)</a:t>
            </a:r>
            <a:endParaRPr lang="en-US" sz="1600" dirty="0">
              <a:latin typeface="Arial" panose="020B0604020202020204" pitchFamily="34" charset="0"/>
              <a:cs typeface="Arial" panose="020B0604020202020204" pitchFamily="34" charset="0"/>
            </a:endParaRPr>
          </a:p>
        </p:txBody>
      </p:sp>
      <p:cxnSp>
        <p:nvCxnSpPr>
          <p:cNvPr id="82" name="Straight Connector 81"/>
          <p:cNvCxnSpPr>
            <a:cxnSpLocks/>
          </p:cNvCxnSpPr>
          <p:nvPr/>
        </p:nvCxnSpPr>
        <p:spPr>
          <a:xfrm flipH="1" flipV="1">
            <a:off x="2726074" y="3924758"/>
            <a:ext cx="4692020" cy="5493"/>
          </a:xfrm>
          <a:prstGeom prst="line">
            <a:avLst/>
          </a:prstGeom>
          <a:ln/>
        </p:spPr>
        <p:style>
          <a:lnRef idx="2">
            <a:schemeClr val="accent3"/>
          </a:lnRef>
          <a:fillRef idx="0">
            <a:schemeClr val="accent3"/>
          </a:fillRef>
          <a:effectRef idx="1">
            <a:schemeClr val="accent3"/>
          </a:effectRef>
          <a:fontRef idx="minor">
            <a:schemeClr val="tx1"/>
          </a:fontRef>
        </p:style>
      </p:cxnSp>
      <p:sp>
        <p:nvSpPr>
          <p:cNvPr id="88" name="Oval 87"/>
          <p:cNvSpPr>
            <a:spLocks/>
          </p:cNvSpPr>
          <p:nvPr/>
        </p:nvSpPr>
        <p:spPr>
          <a:xfrm>
            <a:off x="3523239" y="2243320"/>
            <a:ext cx="608607" cy="51784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QR1</a:t>
            </a:r>
            <a:endParaRPr lang="en-US" dirty="0"/>
          </a:p>
        </p:txBody>
      </p:sp>
      <p:sp>
        <p:nvSpPr>
          <p:cNvPr id="90" name="Oval 89"/>
          <p:cNvSpPr>
            <a:spLocks/>
          </p:cNvSpPr>
          <p:nvPr/>
        </p:nvSpPr>
        <p:spPr>
          <a:xfrm>
            <a:off x="4952290" y="2815308"/>
            <a:ext cx="608607" cy="51784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QR2</a:t>
            </a:r>
            <a:endParaRPr lang="en-US" dirty="0"/>
          </a:p>
        </p:txBody>
      </p:sp>
      <p:sp>
        <p:nvSpPr>
          <p:cNvPr id="91" name="Oval 90"/>
          <p:cNvSpPr>
            <a:spLocks/>
          </p:cNvSpPr>
          <p:nvPr/>
        </p:nvSpPr>
        <p:spPr>
          <a:xfrm>
            <a:off x="6215704" y="1528414"/>
            <a:ext cx="608607" cy="51784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QR3</a:t>
            </a:r>
            <a:endParaRPr lang="en-US" dirty="0"/>
          </a:p>
        </p:txBody>
      </p:sp>
      <p:sp>
        <p:nvSpPr>
          <p:cNvPr id="92" name="TextBox 91"/>
          <p:cNvSpPr txBox="1">
            <a:spLocks/>
          </p:cNvSpPr>
          <p:nvPr/>
        </p:nvSpPr>
        <p:spPr>
          <a:xfrm>
            <a:off x="287103" y="4204695"/>
            <a:ext cx="2802477" cy="523220"/>
          </a:xfrm>
          <a:prstGeom prst="rect">
            <a:avLst/>
          </a:prstGeom>
          <a:noFill/>
        </p:spPr>
        <p:txBody>
          <a:bodyPr wrap="square" rtlCol="0">
            <a:spAutoFit/>
          </a:bodyPr>
          <a:lstStyle/>
          <a:p>
            <a:pPr algn="ctr"/>
            <a:r>
              <a:rPr lang="en-US" sz="1400" dirty="0" smtClean="0">
                <a:solidFill>
                  <a:schemeClr val="accent3">
                    <a:lumMod val="75000"/>
                  </a:schemeClr>
                </a:solidFill>
                <a:latin typeface="Arial" panose="020B0604020202020204" pitchFamily="34" charset="0"/>
                <a:cs typeface="Arial" panose="020B0604020202020204" pitchFamily="34" charset="0"/>
              </a:rPr>
              <a:t>May have a significant effect on the achievement of a QO</a:t>
            </a:r>
            <a:endParaRPr lang="en-US" sz="1400" dirty="0">
              <a:solidFill>
                <a:schemeClr val="accent3">
                  <a:lumMod val="75000"/>
                </a:schemeClr>
              </a:solidFill>
              <a:latin typeface="Arial" panose="020B0604020202020204" pitchFamily="34" charset="0"/>
              <a:cs typeface="Arial" panose="020B0604020202020204" pitchFamily="34" charset="0"/>
            </a:endParaRPr>
          </a:p>
        </p:txBody>
      </p:sp>
      <p:sp>
        <p:nvSpPr>
          <p:cNvPr id="94" name="TextBox 93"/>
          <p:cNvSpPr txBox="1"/>
          <p:nvPr/>
        </p:nvSpPr>
        <p:spPr>
          <a:xfrm>
            <a:off x="7492994" y="4199694"/>
            <a:ext cx="1420325" cy="307777"/>
          </a:xfrm>
          <a:prstGeom prst="rect">
            <a:avLst/>
          </a:prstGeom>
          <a:noFill/>
        </p:spPr>
        <p:txBody>
          <a:bodyPr wrap="none" rtlCol="0">
            <a:spAutoFit/>
          </a:bodyPr>
          <a:lstStyle/>
          <a:p>
            <a:r>
              <a:rPr lang="en-US" sz="1400" dirty="0" smtClean="0">
                <a:solidFill>
                  <a:schemeClr val="accent3">
                    <a:lumMod val="75000"/>
                  </a:schemeClr>
                </a:solidFill>
                <a:latin typeface="Arial" panose="020B0604020202020204" pitchFamily="34" charset="0"/>
                <a:cs typeface="Arial" panose="020B0604020202020204" pitchFamily="34" charset="0"/>
              </a:rPr>
              <a:t>Very Significant</a:t>
            </a:r>
            <a:endParaRPr lang="en-US" sz="1400" dirty="0">
              <a:solidFill>
                <a:schemeClr val="accent3">
                  <a:lumMod val="75000"/>
                </a:schemeClr>
              </a:solidFill>
              <a:latin typeface="Arial" panose="020B0604020202020204" pitchFamily="34" charset="0"/>
              <a:cs typeface="Arial" panose="020B0604020202020204" pitchFamily="34" charset="0"/>
            </a:endParaRPr>
          </a:p>
        </p:txBody>
      </p:sp>
      <p:sp>
        <p:nvSpPr>
          <p:cNvPr id="96" name="Rectangle 95"/>
          <p:cNvSpPr/>
          <p:nvPr/>
        </p:nvSpPr>
        <p:spPr>
          <a:xfrm>
            <a:off x="4718521" y="919931"/>
            <a:ext cx="1031674" cy="28353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Para 32</a:t>
            </a:r>
            <a:endParaRPr lang="en-US" dirty="0">
              <a:latin typeface="Arial" panose="020B0604020202020204" pitchFamily="34" charset="0"/>
              <a:cs typeface="Arial" panose="020B0604020202020204" pitchFamily="34" charset="0"/>
            </a:endParaRPr>
          </a:p>
        </p:txBody>
      </p:sp>
      <p:sp>
        <p:nvSpPr>
          <p:cNvPr id="111" name="Rectangle 110"/>
          <p:cNvSpPr/>
          <p:nvPr/>
        </p:nvSpPr>
        <p:spPr>
          <a:xfrm>
            <a:off x="746592" y="929556"/>
            <a:ext cx="1031674" cy="28353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Para 31</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71549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Designing Responses</a:t>
            </a:r>
            <a:endParaRPr lang="en-US" dirty="0"/>
          </a:p>
        </p:txBody>
      </p:sp>
      <p:sp>
        <p:nvSpPr>
          <p:cNvPr id="20"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1D8F2CCE-4F5B-45FE-857C-239A2B21CCCD}" type="slidenum">
              <a:rPr lang="en-US" sz="750" smtClean="0">
                <a:solidFill>
                  <a:schemeClr val="tx1"/>
                </a:solidFill>
                <a:latin typeface="+mn-lt"/>
              </a:rPr>
              <a:t>4</a:t>
            </a:fld>
            <a:endParaRPr lang="en-US" sz="750" dirty="0">
              <a:solidFill>
                <a:schemeClr val="tx1"/>
              </a:solidFill>
              <a:latin typeface="+mn-lt"/>
            </a:endParaRPr>
          </a:p>
          <a:p>
            <a:endParaRPr lang="en-US" sz="750" dirty="0">
              <a:solidFill>
                <a:schemeClr val="tx1"/>
              </a:solidFill>
              <a:latin typeface="+mn-lt"/>
            </a:endParaRPr>
          </a:p>
        </p:txBody>
      </p:sp>
      <p:sp>
        <p:nvSpPr>
          <p:cNvPr id="9" name="TextBox 8"/>
          <p:cNvSpPr txBox="1"/>
          <p:nvPr/>
        </p:nvSpPr>
        <p:spPr>
          <a:xfrm>
            <a:off x="337267" y="1218489"/>
            <a:ext cx="1675451" cy="830997"/>
          </a:xfrm>
          <a:prstGeom prst="rect">
            <a:avLst/>
          </a:prstGeom>
          <a:noFill/>
        </p:spPr>
        <p:txBody>
          <a:bodyPr wrap="square" rtlCol="0">
            <a:spAutoFit/>
          </a:bodyPr>
          <a:lstStyle/>
          <a:p>
            <a:r>
              <a:rPr lang="en-US" sz="1600" b="1" dirty="0" smtClean="0">
                <a:solidFill>
                  <a:schemeClr val="bg1"/>
                </a:solidFill>
                <a:latin typeface="Arial" panose="020B0604020202020204" pitchFamily="34" charset="0"/>
                <a:cs typeface="Arial" panose="020B0604020202020204" pitchFamily="34" charset="0"/>
              </a:rPr>
              <a:t>Establish quality objectives</a:t>
            </a:r>
            <a:endParaRPr lang="en-US" sz="1600" b="1" dirty="0">
              <a:solidFill>
                <a:schemeClr val="bg1"/>
              </a:solidFill>
              <a:latin typeface="Arial" panose="020B0604020202020204" pitchFamily="34" charset="0"/>
              <a:cs typeface="Arial" panose="020B0604020202020204" pitchFamily="34" charset="0"/>
            </a:endParaRPr>
          </a:p>
        </p:txBody>
      </p:sp>
      <p:sp>
        <p:nvSpPr>
          <p:cNvPr id="14" name="Rounded Rectangle 13"/>
          <p:cNvSpPr/>
          <p:nvPr/>
        </p:nvSpPr>
        <p:spPr>
          <a:xfrm>
            <a:off x="837131" y="1665166"/>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1</a:t>
            </a:r>
            <a:endParaRPr lang="en-US" dirty="0">
              <a:latin typeface="Arial" panose="020B0604020202020204" pitchFamily="34" charset="0"/>
              <a:cs typeface="Arial" panose="020B0604020202020204" pitchFamily="34" charset="0"/>
            </a:endParaRPr>
          </a:p>
        </p:txBody>
      </p:sp>
      <p:sp>
        <p:nvSpPr>
          <p:cNvPr id="22" name="Rounded Rectangle 21"/>
          <p:cNvSpPr/>
          <p:nvPr/>
        </p:nvSpPr>
        <p:spPr>
          <a:xfrm>
            <a:off x="1916101" y="1665166"/>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2</a:t>
            </a:r>
            <a:endParaRPr lang="en-US" dirty="0">
              <a:latin typeface="Arial" panose="020B0604020202020204" pitchFamily="34" charset="0"/>
              <a:cs typeface="Arial" panose="020B0604020202020204" pitchFamily="34" charset="0"/>
            </a:endParaRPr>
          </a:p>
        </p:txBody>
      </p:sp>
      <p:sp>
        <p:nvSpPr>
          <p:cNvPr id="23" name="Rounded Rectangle 22"/>
          <p:cNvSpPr/>
          <p:nvPr/>
        </p:nvSpPr>
        <p:spPr>
          <a:xfrm>
            <a:off x="2960767" y="1661226"/>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3</a:t>
            </a:r>
            <a:endParaRPr lang="en-US" dirty="0">
              <a:latin typeface="Arial" panose="020B0604020202020204" pitchFamily="34" charset="0"/>
              <a:cs typeface="Arial" panose="020B0604020202020204" pitchFamily="34" charset="0"/>
            </a:endParaRPr>
          </a:p>
        </p:txBody>
      </p:sp>
      <p:sp>
        <p:nvSpPr>
          <p:cNvPr id="28" name="Rounded Rectangle 27"/>
          <p:cNvSpPr/>
          <p:nvPr/>
        </p:nvSpPr>
        <p:spPr>
          <a:xfrm>
            <a:off x="2718724" y="3078317"/>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QR 1</a:t>
            </a:r>
            <a:endParaRPr lang="en-US" dirty="0">
              <a:latin typeface="Arial" panose="020B0604020202020204" pitchFamily="34" charset="0"/>
              <a:cs typeface="Arial" panose="020B0604020202020204" pitchFamily="34" charset="0"/>
            </a:endParaRPr>
          </a:p>
        </p:txBody>
      </p:sp>
      <p:sp>
        <p:nvSpPr>
          <p:cNvPr id="33" name="Rounded Rectangle 32"/>
          <p:cNvSpPr/>
          <p:nvPr/>
        </p:nvSpPr>
        <p:spPr>
          <a:xfrm>
            <a:off x="4133968" y="3069891"/>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QR 2</a:t>
            </a:r>
            <a:endParaRPr lang="en-US" dirty="0">
              <a:latin typeface="Arial" panose="020B0604020202020204" pitchFamily="34" charset="0"/>
              <a:cs typeface="Arial" panose="020B0604020202020204" pitchFamily="34" charset="0"/>
            </a:endParaRPr>
          </a:p>
        </p:txBody>
      </p:sp>
      <p:sp>
        <p:nvSpPr>
          <p:cNvPr id="34" name="Rounded Rectangle 33"/>
          <p:cNvSpPr/>
          <p:nvPr/>
        </p:nvSpPr>
        <p:spPr>
          <a:xfrm>
            <a:off x="5779385" y="3070145"/>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QR 3</a:t>
            </a:r>
            <a:endParaRPr lang="en-US" dirty="0">
              <a:latin typeface="Arial" panose="020B0604020202020204" pitchFamily="34" charset="0"/>
              <a:cs typeface="Arial" panose="020B0604020202020204" pitchFamily="34" charset="0"/>
            </a:endParaRPr>
          </a:p>
        </p:txBody>
      </p:sp>
      <p:cxnSp>
        <p:nvCxnSpPr>
          <p:cNvPr id="55" name="Straight Connector 54"/>
          <p:cNvCxnSpPr/>
          <p:nvPr/>
        </p:nvCxnSpPr>
        <p:spPr>
          <a:xfrm>
            <a:off x="4542986" y="2280403"/>
            <a:ext cx="0" cy="425981"/>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flipH="1">
            <a:off x="3147827" y="2491292"/>
            <a:ext cx="1399914"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flipH="1">
            <a:off x="4542986" y="2492368"/>
            <a:ext cx="1625286" cy="1349"/>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602853" y="916214"/>
            <a:ext cx="8114893" cy="310342"/>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smtClean="0">
                <a:latin typeface="Arial" panose="020B0604020202020204" pitchFamily="34" charset="0"/>
                <a:cs typeface="Arial" panose="020B0604020202020204" pitchFamily="34" charset="0"/>
              </a:rPr>
              <a:t>Objective of the Standard</a:t>
            </a:r>
            <a:endParaRPr lang="en-US" sz="1800" dirty="0">
              <a:latin typeface="Arial" panose="020B0604020202020204" pitchFamily="34" charset="0"/>
              <a:cs typeface="Arial" panose="020B0604020202020204" pitchFamily="34" charset="0"/>
            </a:endParaRPr>
          </a:p>
        </p:txBody>
      </p:sp>
      <p:sp>
        <p:nvSpPr>
          <p:cNvPr id="68" name="Rounded Rectangle 67"/>
          <p:cNvSpPr/>
          <p:nvPr/>
        </p:nvSpPr>
        <p:spPr>
          <a:xfrm>
            <a:off x="4043331" y="1469710"/>
            <a:ext cx="1008820" cy="784796"/>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4</a:t>
            </a:r>
            <a:endParaRPr lang="en-US" dirty="0">
              <a:latin typeface="Arial" panose="020B0604020202020204" pitchFamily="34" charset="0"/>
              <a:cs typeface="Arial" panose="020B0604020202020204" pitchFamily="34" charset="0"/>
            </a:endParaRPr>
          </a:p>
        </p:txBody>
      </p:sp>
      <p:sp>
        <p:nvSpPr>
          <p:cNvPr id="71" name="Rounded Rectangle 70"/>
          <p:cNvSpPr/>
          <p:nvPr/>
        </p:nvSpPr>
        <p:spPr>
          <a:xfrm>
            <a:off x="5254844" y="1665165"/>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a:t>
            </a:r>
            <a:r>
              <a:rPr lang="en-US" dirty="0">
                <a:latin typeface="Arial" panose="020B0604020202020204" pitchFamily="34" charset="0"/>
                <a:cs typeface="Arial" panose="020B0604020202020204" pitchFamily="34" charset="0"/>
              </a:rPr>
              <a:t>5</a:t>
            </a:r>
          </a:p>
        </p:txBody>
      </p:sp>
      <p:sp>
        <p:nvSpPr>
          <p:cNvPr id="72" name="Rounded Rectangle 71"/>
          <p:cNvSpPr/>
          <p:nvPr/>
        </p:nvSpPr>
        <p:spPr>
          <a:xfrm>
            <a:off x="6263664" y="1666940"/>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6</a:t>
            </a:r>
            <a:endParaRPr lang="en-US" dirty="0">
              <a:latin typeface="Arial" panose="020B0604020202020204" pitchFamily="34" charset="0"/>
              <a:cs typeface="Arial" panose="020B0604020202020204" pitchFamily="34" charset="0"/>
            </a:endParaRPr>
          </a:p>
        </p:txBody>
      </p:sp>
      <p:sp>
        <p:nvSpPr>
          <p:cNvPr id="75" name="Rounded Rectangle 74"/>
          <p:cNvSpPr/>
          <p:nvPr/>
        </p:nvSpPr>
        <p:spPr>
          <a:xfrm>
            <a:off x="7284393" y="1661226"/>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7</a:t>
            </a:r>
            <a:endParaRPr lang="en-US" dirty="0">
              <a:latin typeface="Arial" panose="020B0604020202020204" pitchFamily="34" charset="0"/>
              <a:cs typeface="Arial" panose="020B0604020202020204" pitchFamily="34" charset="0"/>
            </a:endParaRPr>
          </a:p>
        </p:txBody>
      </p:sp>
      <p:cxnSp>
        <p:nvCxnSpPr>
          <p:cNvPr id="19" name="Straight Arrow Connector 18"/>
          <p:cNvCxnSpPr/>
          <p:nvPr/>
        </p:nvCxnSpPr>
        <p:spPr>
          <a:xfrm>
            <a:off x="3147827" y="2484091"/>
            <a:ext cx="0" cy="578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a:off x="4542986" y="2499464"/>
            <a:ext cx="0" cy="578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a:off x="6159528" y="2491292"/>
            <a:ext cx="0" cy="578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a:off x="5663885" y="3666814"/>
            <a:ext cx="0" cy="2603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a:off x="3127008" y="3452942"/>
            <a:ext cx="0" cy="4655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6" name="Rounded Rectangle 95"/>
          <p:cNvSpPr/>
          <p:nvPr/>
        </p:nvSpPr>
        <p:spPr>
          <a:xfrm>
            <a:off x="2717990" y="3938103"/>
            <a:ext cx="818036" cy="553365"/>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Resp. 1</a:t>
            </a:r>
            <a:endParaRPr lang="en-US" dirty="0">
              <a:latin typeface="Arial" panose="020B0604020202020204" pitchFamily="34" charset="0"/>
              <a:cs typeface="Arial" panose="020B0604020202020204" pitchFamily="34" charset="0"/>
            </a:endParaRPr>
          </a:p>
        </p:txBody>
      </p:sp>
      <p:sp>
        <p:nvSpPr>
          <p:cNvPr id="104" name="Rounded Rectangle 103"/>
          <p:cNvSpPr/>
          <p:nvPr/>
        </p:nvSpPr>
        <p:spPr>
          <a:xfrm>
            <a:off x="4138723" y="3923554"/>
            <a:ext cx="818036" cy="553365"/>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Resp. 2</a:t>
            </a:r>
            <a:endParaRPr lang="en-US" dirty="0">
              <a:latin typeface="Arial" panose="020B0604020202020204" pitchFamily="34" charset="0"/>
              <a:cs typeface="Arial" panose="020B0604020202020204" pitchFamily="34" charset="0"/>
            </a:endParaRPr>
          </a:p>
        </p:txBody>
      </p:sp>
      <p:sp>
        <p:nvSpPr>
          <p:cNvPr id="105" name="Rounded Rectangle 104"/>
          <p:cNvSpPr/>
          <p:nvPr/>
        </p:nvSpPr>
        <p:spPr>
          <a:xfrm>
            <a:off x="5257423" y="3938103"/>
            <a:ext cx="818036" cy="553365"/>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Resp. 3</a:t>
            </a:r>
            <a:endParaRPr lang="en-US" dirty="0">
              <a:latin typeface="Arial" panose="020B0604020202020204" pitchFamily="34" charset="0"/>
              <a:cs typeface="Arial" panose="020B0604020202020204" pitchFamily="34" charset="0"/>
            </a:endParaRPr>
          </a:p>
        </p:txBody>
      </p:sp>
      <p:sp>
        <p:nvSpPr>
          <p:cNvPr id="106" name="Rounded Rectangle 105"/>
          <p:cNvSpPr/>
          <p:nvPr/>
        </p:nvSpPr>
        <p:spPr>
          <a:xfrm>
            <a:off x="6371012" y="3918520"/>
            <a:ext cx="818036" cy="553365"/>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Resp. 4</a:t>
            </a:r>
            <a:endParaRPr lang="en-US" dirty="0">
              <a:latin typeface="Arial" panose="020B0604020202020204" pitchFamily="34" charset="0"/>
              <a:cs typeface="Arial" panose="020B0604020202020204" pitchFamily="34" charset="0"/>
            </a:endParaRPr>
          </a:p>
        </p:txBody>
      </p:sp>
      <p:cxnSp>
        <p:nvCxnSpPr>
          <p:cNvPr id="107" name="Straight Arrow Connector 106"/>
          <p:cNvCxnSpPr/>
          <p:nvPr/>
        </p:nvCxnSpPr>
        <p:spPr>
          <a:xfrm>
            <a:off x="4542986" y="3452942"/>
            <a:ext cx="0" cy="4655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6213606" y="3444885"/>
            <a:ext cx="0" cy="231221"/>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a:off x="5663885" y="3676439"/>
            <a:ext cx="111614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Straight Arrow Connector 109"/>
          <p:cNvCxnSpPr/>
          <p:nvPr/>
        </p:nvCxnSpPr>
        <p:spPr>
          <a:xfrm>
            <a:off x="6770405" y="3669779"/>
            <a:ext cx="0" cy="2603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7962275" y="4500002"/>
            <a:ext cx="1031674" cy="28353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Para 32/33</a:t>
            </a:r>
            <a:endParaRPr lang="en-US" dirty="0">
              <a:latin typeface="Arial" panose="020B0604020202020204" pitchFamily="34" charset="0"/>
              <a:cs typeface="Arial" panose="020B0604020202020204" pitchFamily="34" charset="0"/>
            </a:endParaRPr>
          </a:p>
        </p:txBody>
      </p:sp>
      <p:sp>
        <p:nvSpPr>
          <p:cNvPr id="51" name="TextBox 50"/>
          <p:cNvSpPr txBox="1"/>
          <p:nvPr/>
        </p:nvSpPr>
        <p:spPr>
          <a:xfrm>
            <a:off x="3064473" y="3452942"/>
            <a:ext cx="694421" cy="30008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Lower</a:t>
            </a:r>
            <a:endParaRPr lang="en-US" b="1" dirty="0">
              <a:latin typeface="Arial" panose="020B0604020202020204" pitchFamily="34" charset="0"/>
              <a:cs typeface="Arial" panose="020B0604020202020204" pitchFamily="34" charset="0"/>
            </a:endParaRPr>
          </a:p>
        </p:txBody>
      </p:sp>
      <p:sp>
        <p:nvSpPr>
          <p:cNvPr id="112" name="TextBox 111"/>
          <p:cNvSpPr txBox="1"/>
          <p:nvPr/>
        </p:nvSpPr>
        <p:spPr>
          <a:xfrm>
            <a:off x="4594093" y="3410454"/>
            <a:ext cx="694421" cy="30008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Lower</a:t>
            </a:r>
            <a:endParaRPr lang="en-US" b="1" dirty="0">
              <a:latin typeface="Arial" panose="020B0604020202020204" pitchFamily="34" charset="0"/>
              <a:cs typeface="Arial" panose="020B0604020202020204" pitchFamily="34" charset="0"/>
            </a:endParaRPr>
          </a:p>
        </p:txBody>
      </p:sp>
      <p:sp>
        <p:nvSpPr>
          <p:cNvPr id="113" name="TextBox 112"/>
          <p:cNvSpPr txBox="1"/>
          <p:nvPr/>
        </p:nvSpPr>
        <p:spPr>
          <a:xfrm>
            <a:off x="6258497" y="3392275"/>
            <a:ext cx="732893" cy="30008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Higher</a:t>
            </a:r>
            <a:endParaRPr lang="en-US" b="1" dirty="0">
              <a:latin typeface="Arial" panose="020B0604020202020204" pitchFamily="34" charset="0"/>
              <a:cs typeface="Arial" panose="020B0604020202020204" pitchFamily="34" charset="0"/>
            </a:endParaRPr>
          </a:p>
        </p:txBody>
      </p:sp>
      <p:grpSp>
        <p:nvGrpSpPr>
          <p:cNvPr id="136" name="Group 135"/>
          <p:cNvGrpSpPr/>
          <p:nvPr/>
        </p:nvGrpSpPr>
        <p:grpSpPr>
          <a:xfrm>
            <a:off x="1174992" y="1218489"/>
            <a:ext cx="6518419" cy="469122"/>
            <a:chOff x="1174992" y="1218489"/>
            <a:chExt cx="6518419" cy="469122"/>
          </a:xfrm>
        </p:grpSpPr>
        <p:cxnSp>
          <p:nvCxnSpPr>
            <p:cNvPr id="114" name="Straight Connector 113"/>
            <p:cNvCxnSpPr/>
            <p:nvPr/>
          </p:nvCxnSpPr>
          <p:spPr>
            <a:xfrm flipV="1">
              <a:off x="1174992" y="1339684"/>
              <a:ext cx="6518419" cy="86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20" name="Straight Arrow Connector 119"/>
            <p:cNvCxnSpPr/>
            <p:nvPr/>
          </p:nvCxnSpPr>
          <p:spPr>
            <a:xfrm>
              <a:off x="1184617" y="1348293"/>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3" name="Straight Arrow Connector 122"/>
            <p:cNvCxnSpPr/>
            <p:nvPr/>
          </p:nvCxnSpPr>
          <p:spPr>
            <a:xfrm>
              <a:off x="2324224" y="1339684"/>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4" name="Straight Arrow Connector 123"/>
            <p:cNvCxnSpPr/>
            <p:nvPr/>
          </p:nvCxnSpPr>
          <p:spPr>
            <a:xfrm>
              <a:off x="6672682" y="1349608"/>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5" name="Straight Arrow Connector 124"/>
            <p:cNvCxnSpPr/>
            <p:nvPr/>
          </p:nvCxnSpPr>
          <p:spPr>
            <a:xfrm>
              <a:off x="3356057" y="1349608"/>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6" name="Straight Arrow Connector 125"/>
            <p:cNvCxnSpPr/>
            <p:nvPr/>
          </p:nvCxnSpPr>
          <p:spPr>
            <a:xfrm>
              <a:off x="5663862" y="1349608"/>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7" name="Straight Arrow Connector 126"/>
            <p:cNvCxnSpPr/>
            <p:nvPr/>
          </p:nvCxnSpPr>
          <p:spPr>
            <a:xfrm>
              <a:off x="7683786" y="1339983"/>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8" name="Straight Arrow Connector 127"/>
            <p:cNvCxnSpPr/>
            <p:nvPr/>
          </p:nvCxnSpPr>
          <p:spPr>
            <a:xfrm>
              <a:off x="4542986" y="1218489"/>
              <a:ext cx="0" cy="305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910142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9"/>
          <p:cNvSpPr txBox="1">
            <a:spLocks/>
          </p:cNvSpPr>
          <p:nvPr/>
        </p:nvSpPr>
        <p:spPr>
          <a:xfrm>
            <a:off x="193589" y="420057"/>
            <a:ext cx="8229600" cy="403875"/>
          </a:xfrm>
          <a:prstGeom prst="rect">
            <a:avLst/>
          </a:prstGeom>
        </p:spPr>
        <p:txBody>
          <a:bodyPr vert="horz" lIns="0" tIns="0" rIns="0" bIns="0" rtlCol="0" anchor="ctr">
            <a:noAutofit/>
          </a:bodyP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r>
              <a:rPr lang="en-US" dirty="0" smtClean="0"/>
              <a:t>Determining Whether a Finding is a Deficiency</a:t>
            </a:r>
            <a:endParaRPr lang="en-US" dirty="0"/>
          </a:p>
        </p:txBody>
      </p:sp>
      <p:cxnSp>
        <p:nvCxnSpPr>
          <p:cNvPr id="60" name="Straight Connector 59"/>
          <p:cNvCxnSpPr/>
          <p:nvPr/>
        </p:nvCxnSpPr>
        <p:spPr>
          <a:xfrm>
            <a:off x="3452218" y="3272585"/>
            <a:ext cx="0" cy="106396"/>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sp>
        <p:nvSpPr>
          <p:cNvPr id="42" name="Slide Number Placeholder 4"/>
          <p:cNvSpPr>
            <a:spLocks noGrp="1"/>
          </p:cNvSpPr>
          <p:nvPr>
            <p:ph type="sldNum" sz="quarter" idx="12"/>
          </p:nvPr>
        </p:nvSpPr>
        <p:spPr>
          <a:xfrm>
            <a:off x="5959801" y="4909135"/>
            <a:ext cx="479268" cy="251831"/>
          </a:xfrm>
        </p:spPr>
        <p:txBody>
          <a:bodyPr/>
          <a:lstStyle/>
          <a:p>
            <a:r>
              <a:rPr lang="en-US" sz="750" dirty="0">
                <a:solidFill>
                  <a:schemeClr val="tx1"/>
                </a:solidFill>
                <a:latin typeface="+mn-lt"/>
              </a:rPr>
              <a:t>Page </a:t>
            </a:r>
            <a:fld id="{564ECF51-436B-44C1-8DDE-50CC09FBA431}" type="slidenum">
              <a:rPr lang="en-US" sz="750" smtClean="0">
                <a:solidFill>
                  <a:schemeClr val="tx1"/>
                </a:solidFill>
                <a:latin typeface="+mn-lt"/>
              </a:rPr>
              <a:t>5</a:t>
            </a:fld>
            <a:endParaRPr lang="en-US" sz="750" dirty="0">
              <a:solidFill>
                <a:schemeClr val="tx1"/>
              </a:solidFill>
              <a:latin typeface="+mn-lt"/>
            </a:endParaRPr>
          </a:p>
          <a:p>
            <a:endParaRPr lang="en-US" sz="750" dirty="0">
              <a:solidFill>
                <a:schemeClr val="tx1"/>
              </a:solidFill>
              <a:latin typeface="+mn-lt"/>
            </a:endParaRPr>
          </a:p>
        </p:txBody>
      </p:sp>
      <p:sp>
        <p:nvSpPr>
          <p:cNvPr id="6" name="Freeform 5"/>
          <p:cNvSpPr/>
          <p:nvPr/>
        </p:nvSpPr>
        <p:spPr>
          <a:xfrm>
            <a:off x="999473" y="1743751"/>
            <a:ext cx="4149987" cy="390536"/>
          </a:xfrm>
          <a:custGeom>
            <a:avLst/>
            <a:gdLst>
              <a:gd name="connsiteX0" fmla="*/ 0 w 1107390"/>
              <a:gd name="connsiteY0" fmla="*/ 72673 h 726725"/>
              <a:gd name="connsiteX1" fmla="*/ 72673 w 1107390"/>
              <a:gd name="connsiteY1" fmla="*/ 0 h 726725"/>
              <a:gd name="connsiteX2" fmla="*/ 1034718 w 1107390"/>
              <a:gd name="connsiteY2" fmla="*/ 0 h 726725"/>
              <a:gd name="connsiteX3" fmla="*/ 1107391 w 1107390"/>
              <a:gd name="connsiteY3" fmla="*/ 72673 h 726725"/>
              <a:gd name="connsiteX4" fmla="*/ 1107390 w 1107390"/>
              <a:gd name="connsiteY4" fmla="*/ 654053 h 726725"/>
              <a:gd name="connsiteX5" fmla="*/ 1034717 w 1107390"/>
              <a:gd name="connsiteY5" fmla="*/ 726726 h 726725"/>
              <a:gd name="connsiteX6" fmla="*/ 72673 w 1107390"/>
              <a:gd name="connsiteY6" fmla="*/ 726725 h 726725"/>
              <a:gd name="connsiteX7" fmla="*/ 0 w 1107390"/>
              <a:gd name="connsiteY7" fmla="*/ 654052 h 726725"/>
              <a:gd name="connsiteX8" fmla="*/ 0 w 1107390"/>
              <a:gd name="connsiteY8" fmla="*/ 72673 h 72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7390" h="726725">
                <a:moveTo>
                  <a:pt x="0" y="72673"/>
                </a:moveTo>
                <a:cubicBezTo>
                  <a:pt x="0" y="32537"/>
                  <a:pt x="32537" y="0"/>
                  <a:pt x="72673" y="0"/>
                </a:cubicBezTo>
                <a:lnTo>
                  <a:pt x="1034718" y="0"/>
                </a:lnTo>
                <a:cubicBezTo>
                  <a:pt x="1074854" y="0"/>
                  <a:pt x="1107391" y="32537"/>
                  <a:pt x="1107391" y="72673"/>
                </a:cubicBezTo>
                <a:cubicBezTo>
                  <a:pt x="1107391" y="266466"/>
                  <a:pt x="1107390" y="460260"/>
                  <a:pt x="1107390" y="654053"/>
                </a:cubicBezTo>
                <a:cubicBezTo>
                  <a:pt x="1107390" y="694189"/>
                  <a:pt x="1074853" y="726726"/>
                  <a:pt x="1034717" y="726726"/>
                </a:cubicBezTo>
                <a:lnTo>
                  <a:pt x="72673" y="726725"/>
                </a:lnTo>
                <a:cubicBezTo>
                  <a:pt x="32537" y="726725"/>
                  <a:pt x="0" y="694188"/>
                  <a:pt x="0" y="654052"/>
                </a:cubicBezTo>
                <a:lnTo>
                  <a:pt x="0" y="72673"/>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25" tIns="74625" rIns="74625" bIns="74625" numCol="1" spcCol="1270" anchor="ctr" anchorCtr="0">
            <a:noAutofit/>
          </a:bodyPr>
          <a:lstStyle/>
          <a:p>
            <a:pPr lvl="0" algn="ctr" defTabSz="622300">
              <a:lnSpc>
                <a:spcPct val="90000"/>
              </a:lnSpc>
              <a:spcBef>
                <a:spcPct val="0"/>
              </a:spcBef>
              <a:spcAft>
                <a:spcPct val="35000"/>
              </a:spcAft>
            </a:pPr>
            <a:r>
              <a:rPr lang="en-US" sz="1400" kern="1200" dirty="0" smtClean="0">
                <a:latin typeface="Arial" panose="020B0604020202020204" pitchFamily="34" charset="0"/>
                <a:cs typeface="Arial" panose="020B0604020202020204" pitchFamily="34" charset="0"/>
              </a:rPr>
              <a:t>Findings </a:t>
            </a:r>
            <a:r>
              <a:rPr lang="en-US" sz="1100" kern="1200" dirty="0" smtClean="0">
                <a:latin typeface="Arial" panose="020B0604020202020204" pitchFamily="34" charset="0"/>
                <a:cs typeface="Arial" panose="020B0604020202020204" pitchFamily="34" charset="0"/>
              </a:rPr>
              <a:t>(Para 49)</a:t>
            </a:r>
            <a:endParaRPr lang="en-US" sz="1100" kern="1200" dirty="0">
              <a:latin typeface="Arial" panose="020B0604020202020204" pitchFamily="34" charset="0"/>
              <a:cs typeface="Arial" panose="020B0604020202020204" pitchFamily="34" charset="0"/>
            </a:endParaRPr>
          </a:p>
        </p:txBody>
      </p:sp>
      <p:grpSp>
        <p:nvGrpSpPr>
          <p:cNvPr id="46" name="Group 45"/>
          <p:cNvGrpSpPr/>
          <p:nvPr/>
        </p:nvGrpSpPr>
        <p:grpSpPr>
          <a:xfrm>
            <a:off x="1151174" y="3806789"/>
            <a:ext cx="3868156" cy="883691"/>
            <a:chOff x="4649136" y="3441341"/>
            <a:chExt cx="3868156" cy="883691"/>
          </a:xfrm>
        </p:grpSpPr>
        <p:sp>
          <p:nvSpPr>
            <p:cNvPr id="47" name="Freeform 46"/>
            <p:cNvSpPr/>
            <p:nvPr/>
          </p:nvSpPr>
          <p:spPr>
            <a:xfrm>
              <a:off x="4649136" y="3441341"/>
              <a:ext cx="1645005" cy="375797"/>
            </a:xfrm>
            <a:custGeom>
              <a:avLst/>
              <a:gdLst>
                <a:gd name="connsiteX0" fmla="*/ 0 w 1091155"/>
                <a:gd name="connsiteY0" fmla="*/ 77745 h 777448"/>
                <a:gd name="connsiteX1" fmla="*/ 77745 w 1091155"/>
                <a:gd name="connsiteY1" fmla="*/ 0 h 777448"/>
                <a:gd name="connsiteX2" fmla="*/ 1013410 w 1091155"/>
                <a:gd name="connsiteY2" fmla="*/ 0 h 777448"/>
                <a:gd name="connsiteX3" fmla="*/ 1091155 w 1091155"/>
                <a:gd name="connsiteY3" fmla="*/ 77745 h 777448"/>
                <a:gd name="connsiteX4" fmla="*/ 1091155 w 1091155"/>
                <a:gd name="connsiteY4" fmla="*/ 699703 h 777448"/>
                <a:gd name="connsiteX5" fmla="*/ 1013410 w 1091155"/>
                <a:gd name="connsiteY5" fmla="*/ 777448 h 777448"/>
                <a:gd name="connsiteX6" fmla="*/ 77745 w 1091155"/>
                <a:gd name="connsiteY6" fmla="*/ 777448 h 777448"/>
                <a:gd name="connsiteX7" fmla="*/ 0 w 1091155"/>
                <a:gd name="connsiteY7" fmla="*/ 699703 h 777448"/>
                <a:gd name="connsiteX8" fmla="*/ 0 w 1091155"/>
                <a:gd name="connsiteY8" fmla="*/ 77745 h 77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1155" h="777448">
                  <a:moveTo>
                    <a:pt x="0" y="77745"/>
                  </a:moveTo>
                  <a:cubicBezTo>
                    <a:pt x="0" y="34808"/>
                    <a:pt x="34808" y="0"/>
                    <a:pt x="77745" y="0"/>
                  </a:cubicBezTo>
                  <a:lnTo>
                    <a:pt x="1013410" y="0"/>
                  </a:lnTo>
                  <a:cubicBezTo>
                    <a:pt x="1056347" y="0"/>
                    <a:pt x="1091155" y="34808"/>
                    <a:pt x="1091155" y="77745"/>
                  </a:cubicBezTo>
                  <a:lnTo>
                    <a:pt x="1091155" y="699703"/>
                  </a:lnTo>
                  <a:cubicBezTo>
                    <a:pt x="1091155" y="742640"/>
                    <a:pt x="1056347" y="777448"/>
                    <a:pt x="1013410" y="777448"/>
                  </a:cubicBezTo>
                  <a:lnTo>
                    <a:pt x="77745" y="777448"/>
                  </a:lnTo>
                  <a:cubicBezTo>
                    <a:pt x="34808" y="777448"/>
                    <a:pt x="0" y="742640"/>
                    <a:pt x="0" y="699703"/>
                  </a:cubicBezTo>
                  <a:lnTo>
                    <a:pt x="0" y="77745"/>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111" tIns="76111" rIns="76111" bIns="76111" numCol="1" spcCol="1270" anchor="ctr" anchorCtr="0">
              <a:noAutofit/>
            </a:bodyPr>
            <a:lstStyle/>
            <a:p>
              <a:pPr lvl="0" algn="ctr" defTabSz="622300">
                <a:lnSpc>
                  <a:spcPct val="90000"/>
                </a:lnSpc>
                <a:spcBef>
                  <a:spcPct val="0"/>
                </a:spcBef>
                <a:spcAft>
                  <a:spcPct val="35000"/>
                </a:spcAft>
              </a:pPr>
              <a:r>
                <a:rPr lang="en-US" sz="1400" kern="1200" dirty="0" smtClean="0">
                  <a:latin typeface="Arial" panose="020B0604020202020204" pitchFamily="34" charset="0"/>
                  <a:cs typeface="Arial" panose="020B0604020202020204" pitchFamily="34" charset="0"/>
                </a:rPr>
                <a:t>Root cause</a:t>
              </a:r>
              <a:endParaRPr lang="en-US" sz="1400" kern="1200" dirty="0">
                <a:latin typeface="Arial" panose="020B0604020202020204" pitchFamily="34" charset="0"/>
                <a:cs typeface="Arial" panose="020B0604020202020204" pitchFamily="34" charset="0"/>
              </a:endParaRPr>
            </a:p>
          </p:txBody>
        </p:sp>
        <p:sp>
          <p:nvSpPr>
            <p:cNvPr id="49" name="Freeform 48"/>
            <p:cNvSpPr/>
            <p:nvPr/>
          </p:nvSpPr>
          <p:spPr>
            <a:xfrm>
              <a:off x="6666286" y="3441341"/>
              <a:ext cx="1851006" cy="375797"/>
            </a:xfrm>
            <a:custGeom>
              <a:avLst/>
              <a:gdLst>
                <a:gd name="connsiteX0" fmla="*/ 0 w 1091155"/>
                <a:gd name="connsiteY0" fmla="*/ 77745 h 777448"/>
                <a:gd name="connsiteX1" fmla="*/ 77745 w 1091155"/>
                <a:gd name="connsiteY1" fmla="*/ 0 h 777448"/>
                <a:gd name="connsiteX2" fmla="*/ 1013410 w 1091155"/>
                <a:gd name="connsiteY2" fmla="*/ 0 h 777448"/>
                <a:gd name="connsiteX3" fmla="*/ 1091155 w 1091155"/>
                <a:gd name="connsiteY3" fmla="*/ 77745 h 777448"/>
                <a:gd name="connsiteX4" fmla="*/ 1091155 w 1091155"/>
                <a:gd name="connsiteY4" fmla="*/ 699703 h 777448"/>
                <a:gd name="connsiteX5" fmla="*/ 1013410 w 1091155"/>
                <a:gd name="connsiteY5" fmla="*/ 777448 h 777448"/>
                <a:gd name="connsiteX6" fmla="*/ 77745 w 1091155"/>
                <a:gd name="connsiteY6" fmla="*/ 777448 h 777448"/>
                <a:gd name="connsiteX7" fmla="*/ 0 w 1091155"/>
                <a:gd name="connsiteY7" fmla="*/ 699703 h 777448"/>
                <a:gd name="connsiteX8" fmla="*/ 0 w 1091155"/>
                <a:gd name="connsiteY8" fmla="*/ 77745 h 77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1155" h="777448">
                  <a:moveTo>
                    <a:pt x="0" y="77745"/>
                  </a:moveTo>
                  <a:cubicBezTo>
                    <a:pt x="0" y="34808"/>
                    <a:pt x="34808" y="0"/>
                    <a:pt x="77745" y="0"/>
                  </a:cubicBezTo>
                  <a:lnTo>
                    <a:pt x="1013410" y="0"/>
                  </a:lnTo>
                  <a:cubicBezTo>
                    <a:pt x="1056347" y="0"/>
                    <a:pt x="1091155" y="34808"/>
                    <a:pt x="1091155" y="77745"/>
                  </a:cubicBezTo>
                  <a:lnTo>
                    <a:pt x="1091155" y="699703"/>
                  </a:lnTo>
                  <a:cubicBezTo>
                    <a:pt x="1091155" y="742640"/>
                    <a:pt x="1056347" y="777448"/>
                    <a:pt x="1013410" y="777448"/>
                  </a:cubicBezTo>
                  <a:lnTo>
                    <a:pt x="77745" y="777448"/>
                  </a:lnTo>
                  <a:cubicBezTo>
                    <a:pt x="34808" y="777448"/>
                    <a:pt x="0" y="742640"/>
                    <a:pt x="0" y="699703"/>
                  </a:cubicBezTo>
                  <a:lnTo>
                    <a:pt x="0" y="77745"/>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111" tIns="76111" rIns="76111" bIns="76111" numCol="1" spcCol="1270" anchor="ctr" anchorCtr="0">
              <a:noAutofit/>
            </a:bodyPr>
            <a:lstStyle/>
            <a:p>
              <a:pPr lvl="0" algn="ctr" defTabSz="622300">
                <a:lnSpc>
                  <a:spcPct val="90000"/>
                </a:lnSpc>
                <a:spcBef>
                  <a:spcPct val="0"/>
                </a:spcBef>
                <a:spcAft>
                  <a:spcPct val="35000"/>
                </a:spcAft>
              </a:pPr>
              <a:r>
                <a:rPr lang="en-US" sz="1400" kern="1200" dirty="0" smtClean="0">
                  <a:latin typeface="Arial" panose="020B0604020202020204" pitchFamily="34" charset="0"/>
                  <a:cs typeface="Arial" panose="020B0604020202020204" pitchFamily="34" charset="0"/>
                </a:rPr>
                <a:t>Effect</a:t>
              </a:r>
              <a:r>
                <a:rPr lang="en-US" sz="1400" dirty="0">
                  <a:latin typeface="Arial" panose="020B0604020202020204" pitchFamily="34" charset="0"/>
                  <a:cs typeface="Arial" panose="020B0604020202020204" pitchFamily="34" charset="0"/>
                </a:rPr>
                <a:t> </a:t>
              </a:r>
              <a:r>
                <a:rPr lang="en-US" sz="1400" kern="1200" dirty="0" smtClean="0">
                  <a:latin typeface="Arial" panose="020B0604020202020204" pitchFamily="34" charset="0"/>
                  <a:cs typeface="Arial" panose="020B0604020202020204" pitchFamily="34" charset="0"/>
                </a:rPr>
                <a:t> of deficiencies</a:t>
              </a:r>
              <a:endParaRPr lang="en-US" sz="1400" kern="1200" dirty="0">
                <a:latin typeface="Arial" panose="020B0604020202020204" pitchFamily="34" charset="0"/>
                <a:cs typeface="Arial" panose="020B0604020202020204" pitchFamily="34" charset="0"/>
              </a:endParaRPr>
            </a:p>
          </p:txBody>
        </p:sp>
        <p:sp>
          <p:nvSpPr>
            <p:cNvPr id="51" name="Freeform 50"/>
            <p:cNvSpPr/>
            <p:nvPr/>
          </p:nvSpPr>
          <p:spPr>
            <a:xfrm>
              <a:off x="4902494" y="4031979"/>
              <a:ext cx="3275947" cy="293053"/>
            </a:xfrm>
            <a:custGeom>
              <a:avLst/>
              <a:gdLst>
                <a:gd name="connsiteX0" fmla="*/ 0 w 1091155"/>
                <a:gd name="connsiteY0" fmla="*/ 77745 h 777448"/>
                <a:gd name="connsiteX1" fmla="*/ 77745 w 1091155"/>
                <a:gd name="connsiteY1" fmla="*/ 0 h 777448"/>
                <a:gd name="connsiteX2" fmla="*/ 1013410 w 1091155"/>
                <a:gd name="connsiteY2" fmla="*/ 0 h 777448"/>
                <a:gd name="connsiteX3" fmla="*/ 1091155 w 1091155"/>
                <a:gd name="connsiteY3" fmla="*/ 77745 h 777448"/>
                <a:gd name="connsiteX4" fmla="*/ 1091155 w 1091155"/>
                <a:gd name="connsiteY4" fmla="*/ 699703 h 777448"/>
                <a:gd name="connsiteX5" fmla="*/ 1013410 w 1091155"/>
                <a:gd name="connsiteY5" fmla="*/ 777448 h 777448"/>
                <a:gd name="connsiteX6" fmla="*/ 77745 w 1091155"/>
                <a:gd name="connsiteY6" fmla="*/ 777448 h 777448"/>
                <a:gd name="connsiteX7" fmla="*/ 0 w 1091155"/>
                <a:gd name="connsiteY7" fmla="*/ 699703 h 777448"/>
                <a:gd name="connsiteX8" fmla="*/ 0 w 1091155"/>
                <a:gd name="connsiteY8" fmla="*/ 77745 h 77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1155" h="777448">
                  <a:moveTo>
                    <a:pt x="0" y="77745"/>
                  </a:moveTo>
                  <a:cubicBezTo>
                    <a:pt x="0" y="34808"/>
                    <a:pt x="34808" y="0"/>
                    <a:pt x="77745" y="0"/>
                  </a:cubicBezTo>
                  <a:lnTo>
                    <a:pt x="1013410" y="0"/>
                  </a:lnTo>
                  <a:cubicBezTo>
                    <a:pt x="1056347" y="0"/>
                    <a:pt x="1091155" y="34808"/>
                    <a:pt x="1091155" y="77745"/>
                  </a:cubicBezTo>
                  <a:lnTo>
                    <a:pt x="1091155" y="699703"/>
                  </a:lnTo>
                  <a:cubicBezTo>
                    <a:pt x="1091155" y="742640"/>
                    <a:pt x="1056347" y="777448"/>
                    <a:pt x="1013410" y="777448"/>
                  </a:cubicBezTo>
                  <a:lnTo>
                    <a:pt x="77745" y="777448"/>
                  </a:lnTo>
                  <a:cubicBezTo>
                    <a:pt x="34808" y="777448"/>
                    <a:pt x="0" y="742640"/>
                    <a:pt x="0" y="699703"/>
                  </a:cubicBezTo>
                  <a:lnTo>
                    <a:pt x="0" y="77745"/>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6111" tIns="76111" rIns="76111" bIns="76111" numCol="1" spcCol="1270" anchor="ctr" anchorCtr="0">
              <a:noAutofit/>
            </a:bodyPr>
            <a:lstStyle/>
            <a:p>
              <a:pPr lvl="0" algn="ctr" defTabSz="622300">
                <a:lnSpc>
                  <a:spcPct val="90000"/>
                </a:lnSpc>
                <a:spcBef>
                  <a:spcPct val="0"/>
                </a:spcBef>
                <a:spcAft>
                  <a:spcPct val="35000"/>
                </a:spcAft>
              </a:pPr>
              <a:r>
                <a:rPr lang="en-US" sz="1400" kern="1200" dirty="0" smtClean="0">
                  <a:latin typeface="Arial" panose="020B0604020202020204" pitchFamily="34" charset="0"/>
                  <a:cs typeface="Arial" panose="020B0604020202020204" pitchFamily="34" charset="0"/>
                </a:rPr>
                <a:t>Remedial action </a:t>
              </a:r>
              <a:r>
                <a:rPr lang="en-US" sz="1100" kern="1200" dirty="0" smtClean="0">
                  <a:latin typeface="Arial" panose="020B0604020202020204" pitchFamily="34" charset="0"/>
                  <a:cs typeface="Arial" panose="020B0604020202020204" pitchFamily="34" charset="0"/>
                </a:rPr>
                <a:t>(Para 50)</a:t>
              </a:r>
              <a:endParaRPr lang="en-US" sz="1100" kern="1200" dirty="0">
                <a:latin typeface="Arial" panose="020B0604020202020204" pitchFamily="34" charset="0"/>
                <a:cs typeface="Arial" panose="020B0604020202020204" pitchFamily="34" charset="0"/>
              </a:endParaRPr>
            </a:p>
          </p:txBody>
        </p:sp>
      </p:grpSp>
      <p:sp>
        <p:nvSpPr>
          <p:cNvPr id="38" name="TextBox 37"/>
          <p:cNvSpPr txBox="1"/>
          <p:nvPr/>
        </p:nvSpPr>
        <p:spPr>
          <a:xfrm>
            <a:off x="1015184" y="2374481"/>
            <a:ext cx="4127724" cy="523220"/>
          </a:xfrm>
          <a:prstGeom prst="rect">
            <a:avLst/>
          </a:prstGeom>
          <a:noFill/>
          <a:ln>
            <a:solidFill>
              <a:srgbClr val="0070C0"/>
            </a:solidFill>
          </a:ln>
        </p:spPr>
        <p:txBody>
          <a:bodyPr wrap="square" rtlCol="0">
            <a:spAutoFit/>
          </a:bodyPr>
          <a:lstStyle/>
          <a:p>
            <a:pPr algn="ctr"/>
            <a:r>
              <a:rPr lang="en-ZA" sz="1400" dirty="0" smtClean="0">
                <a:solidFill>
                  <a:schemeClr val="tx1">
                    <a:lumMod val="65000"/>
                    <a:lumOff val="35000"/>
                  </a:schemeClr>
                </a:solidFill>
                <a:latin typeface="Arial" panose="020B0604020202020204" pitchFamily="34" charset="0"/>
                <a:cs typeface="Arial" panose="020B0604020202020204" pitchFamily="34" charset="0"/>
              </a:rPr>
              <a:t>Negative findings – </a:t>
            </a:r>
            <a:r>
              <a:rPr lang="en-US" sz="1400" dirty="0" smtClean="0">
                <a:solidFill>
                  <a:schemeClr val="tx1">
                    <a:lumMod val="65000"/>
                    <a:lumOff val="35000"/>
                  </a:schemeClr>
                </a:solidFill>
                <a:latin typeface="Arial" panose="020B0604020202020204" pitchFamily="34" charset="0"/>
                <a:cs typeface="Arial" panose="020B0604020202020204" pitchFamily="34" charset="0"/>
              </a:rPr>
              <a:t>evaluate to </a:t>
            </a:r>
            <a:r>
              <a:rPr lang="en-US" sz="1400" dirty="0">
                <a:solidFill>
                  <a:schemeClr val="tx1">
                    <a:lumMod val="65000"/>
                    <a:lumOff val="35000"/>
                  </a:schemeClr>
                </a:solidFill>
                <a:latin typeface="Arial" panose="020B0604020202020204" pitchFamily="34" charset="0"/>
                <a:cs typeface="Arial" panose="020B0604020202020204" pitchFamily="34" charset="0"/>
              </a:rPr>
              <a:t>determine whether deficiencies exist </a:t>
            </a:r>
            <a:r>
              <a:rPr lang="en-ZA" sz="1100" dirty="0" smtClean="0">
                <a:solidFill>
                  <a:schemeClr val="tx1">
                    <a:lumMod val="65000"/>
                    <a:lumOff val="35000"/>
                  </a:schemeClr>
                </a:solidFill>
                <a:latin typeface="Arial" panose="020B0604020202020204" pitchFamily="34" charset="0"/>
                <a:cs typeface="Arial" panose="020B0604020202020204" pitchFamily="34" charset="0"/>
              </a:rPr>
              <a:t>(Para 49A) </a:t>
            </a:r>
            <a:endParaRPr lang="en-ZA" sz="1100" dirty="0">
              <a:solidFill>
                <a:schemeClr val="tx1">
                  <a:lumMod val="65000"/>
                  <a:lumOff val="35000"/>
                </a:schemeClr>
              </a:solidFill>
              <a:latin typeface="Arial" panose="020B0604020202020204" pitchFamily="34" charset="0"/>
              <a:cs typeface="Arial" panose="020B0604020202020204" pitchFamily="34" charset="0"/>
            </a:endParaRPr>
          </a:p>
        </p:txBody>
      </p:sp>
      <p:grpSp>
        <p:nvGrpSpPr>
          <p:cNvPr id="7" name="Group 6"/>
          <p:cNvGrpSpPr/>
          <p:nvPr/>
        </p:nvGrpSpPr>
        <p:grpSpPr>
          <a:xfrm>
            <a:off x="989990" y="1008709"/>
            <a:ext cx="4165706" cy="523221"/>
            <a:chOff x="989990" y="1153113"/>
            <a:chExt cx="4165706" cy="523221"/>
          </a:xfrm>
        </p:grpSpPr>
        <p:sp>
          <p:nvSpPr>
            <p:cNvPr id="40" name="TextBox 39"/>
            <p:cNvSpPr txBox="1"/>
            <p:nvPr/>
          </p:nvSpPr>
          <p:spPr>
            <a:xfrm>
              <a:off x="989990" y="1153114"/>
              <a:ext cx="1514527" cy="523220"/>
            </a:xfrm>
            <a:prstGeom prst="rect">
              <a:avLst/>
            </a:prstGeom>
            <a:noFill/>
            <a:ln>
              <a:solidFill>
                <a:srgbClr val="0070C0"/>
              </a:solidFill>
            </a:ln>
          </p:spPr>
          <p:txBody>
            <a:bodyPr wrap="square" rtlCol="0">
              <a:spAutoFit/>
            </a:bodyPr>
            <a:lstStyle/>
            <a:p>
              <a:pPr algn="ctr"/>
              <a:r>
                <a:rPr lang="en-ZA" sz="1400" dirty="0">
                  <a:solidFill>
                    <a:schemeClr val="tx1">
                      <a:lumMod val="65000"/>
                      <a:lumOff val="35000"/>
                    </a:schemeClr>
                  </a:solidFill>
                  <a:latin typeface="Arial" panose="020B0604020202020204" pitchFamily="34" charset="0"/>
                  <a:cs typeface="Arial" panose="020B0604020202020204" pitchFamily="34" charset="0"/>
                </a:rPr>
                <a:t>Monitoring </a:t>
              </a:r>
              <a:r>
                <a:rPr lang="en-ZA" sz="1400" dirty="0" smtClean="0">
                  <a:solidFill>
                    <a:schemeClr val="tx1">
                      <a:lumMod val="65000"/>
                      <a:lumOff val="35000"/>
                    </a:schemeClr>
                  </a:solidFill>
                  <a:latin typeface="Arial" panose="020B0604020202020204" pitchFamily="34" charset="0"/>
                  <a:cs typeface="Arial" panose="020B0604020202020204" pitchFamily="34" charset="0"/>
                </a:rPr>
                <a:t>activities</a:t>
              </a:r>
              <a:r>
                <a:rPr lang="en-ZA" dirty="0" smtClean="0">
                  <a:solidFill>
                    <a:schemeClr val="tx1">
                      <a:lumMod val="65000"/>
                      <a:lumOff val="35000"/>
                    </a:schemeClr>
                  </a:solidFill>
                  <a:latin typeface="Arial" panose="020B0604020202020204" pitchFamily="34" charset="0"/>
                  <a:cs typeface="Arial" panose="020B0604020202020204" pitchFamily="34" charset="0"/>
                </a:rPr>
                <a:t> </a:t>
              </a:r>
              <a:r>
                <a:rPr lang="en-ZA" sz="1100" dirty="0" smtClean="0">
                  <a:solidFill>
                    <a:schemeClr val="tx1">
                      <a:lumMod val="65000"/>
                      <a:lumOff val="35000"/>
                    </a:schemeClr>
                  </a:solidFill>
                  <a:latin typeface="Arial" panose="020B0604020202020204" pitchFamily="34" charset="0"/>
                  <a:cs typeface="Arial" panose="020B0604020202020204" pitchFamily="34" charset="0"/>
                </a:rPr>
                <a:t>(Para 46)</a:t>
              </a:r>
              <a:endParaRPr lang="en-ZA" sz="11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41" name="TextBox 40"/>
            <p:cNvSpPr txBox="1"/>
            <p:nvPr/>
          </p:nvSpPr>
          <p:spPr>
            <a:xfrm>
              <a:off x="2581858" y="1153114"/>
              <a:ext cx="1305808" cy="523220"/>
            </a:xfrm>
            <a:prstGeom prst="rect">
              <a:avLst/>
            </a:prstGeom>
            <a:noFill/>
            <a:ln>
              <a:solidFill>
                <a:srgbClr val="0070C0"/>
              </a:solidFill>
            </a:ln>
          </p:spPr>
          <p:txBody>
            <a:bodyPr wrap="square" rtlCol="0">
              <a:spAutoFit/>
            </a:bodyPr>
            <a:lstStyle/>
            <a:p>
              <a:pPr algn="ctr"/>
              <a:r>
                <a:rPr lang="en-ZA" sz="1400" dirty="0">
                  <a:solidFill>
                    <a:schemeClr val="tx1">
                      <a:lumMod val="65000"/>
                      <a:lumOff val="35000"/>
                    </a:schemeClr>
                  </a:solidFill>
                  <a:latin typeface="Arial" panose="020B0604020202020204" pitchFamily="34" charset="0"/>
                  <a:cs typeface="Arial" panose="020B0604020202020204" pitchFamily="34" charset="0"/>
                </a:rPr>
                <a:t>External inspection</a:t>
              </a:r>
            </a:p>
          </p:txBody>
        </p:sp>
        <p:sp>
          <p:nvSpPr>
            <p:cNvPr id="28" name="TextBox 27"/>
            <p:cNvSpPr txBox="1"/>
            <p:nvPr/>
          </p:nvSpPr>
          <p:spPr>
            <a:xfrm>
              <a:off x="3973909" y="1153113"/>
              <a:ext cx="1181787" cy="515526"/>
            </a:xfrm>
            <a:prstGeom prst="rect">
              <a:avLst/>
            </a:prstGeom>
            <a:noFill/>
            <a:ln>
              <a:solidFill>
                <a:srgbClr val="0070C0"/>
              </a:solidFill>
            </a:ln>
          </p:spPr>
          <p:txBody>
            <a:bodyPr wrap="square" rtlCol="0">
              <a:spAutoFit/>
            </a:bodyPr>
            <a:lstStyle/>
            <a:p>
              <a:pPr algn="ctr"/>
              <a:r>
                <a:rPr lang="en-ZA" dirty="0" smtClean="0">
                  <a:solidFill>
                    <a:schemeClr val="tx1">
                      <a:lumMod val="65000"/>
                      <a:lumOff val="35000"/>
                    </a:schemeClr>
                  </a:solidFill>
                  <a:latin typeface="Arial" panose="020B0604020202020204" pitchFamily="34" charset="0"/>
                  <a:cs typeface="Arial" panose="020B0604020202020204" pitchFamily="34" charset="0"/>
                </a:rPr>
                <a:t>Other </a:t>
              </a:r>
              <a:r>
                <a:rPr lang="en-ZA" sz="1400" dirty="0" smtClean="0">
                  <a:solidFill>
                    <a:schemeClr val="tx1">
                      <a:lumMod val="65000"/>
                      <a:lumOff val="35000"/>
                    </a:schemeClr>
                  </a:solidFill>
                  <a:latin typeface="Arial" panose="020B0604020202020204" pitchFamily="34" charset="0"/>
                  <a:cs typeface="Arial" panose="020B0604020202020204" pitchFamily="34" charset="0"/>
                </a:rPr>
                <a:t>sources</a:t>
              </a:r>
              <a:endParaRPr lang="en-ZA" sz="1400" dirty="0">
                <a:solidFill>
                  <a:schemeClr val="tx1">
                    <a:lumMod val="65000"/>
                    <a:lumOff val="35000"/>
                  </a:schemeClr>
                </a:solidFill>
                <a:latin typeface="Arial" panose="020B0604020202020204" pitchFamily="34" charset="0"/>
                <a:cs typeface="Arial" panose="020B0604020202020204" pitchFamily="34" charset="0"/>
              </a:endParaRPr>
            </a:p>
          </p:txBody>
        </p:sp>
      </p:grpSp>
      <p:grpSp>
        <p:nvGrpSpPr>
          <p:cNvPr id="8" name="Group 7"/>
          <p:cNvGrpSpPr/>
          <p:nvPr/>
        </p:nvGrpSpPr>
        <p:grpSpPr>
          <a:xfrm>
            <a:off x="1618188" y="1536203"/>
            <a:ext cx="3062291" cy="194748"/>
            <a:chOff x="1669738" y="1670570"/>
            <a:chExt cx="3062291" cy="194748"/>
          </a:xfrm>
        </p:grpSpPr>
        <p:sp>
          <p:nvSpPr>
            <p:cNvPr id="35" name="Down Arrow 34"/>
            <p:cNvSpPr/>
            <p:nvPr/>
          </p:nvSpPr>
          <p:spPr>
            <a:xfrm>
              <a:off x="1669738" y="1678009"/>
              <a:ext cx="173245" cy="185576"/>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Down Arrow 42"/>
            <p:cNvSpPr/>
            <p:nvPr/>
          </p:nvSpPr>
          <p:spPr>
            <a:xfrm>
              <a:off x="3163494" y="1670570"/>
              <a:ext cx="173245" cy="185576"/>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Down Arrow 43"/>
            <p:cNvSpPr/>
            <p:nvPr/>
          </p:nvSpPr>
          <p:spPr>
            <a:xfrm>
              <a:off x="4558784" y="1679742"/>
              <a:ext cx="173245" cy="185576"/>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5" name="Down Arrow 44"/>
          <p:cNvSpPr/>
          <p:nvPr/>
        </p:nvSpPr>
        <p:spPr>
          <a:xfrm>
            <a:off x="3074466" y="2158820"/>
            <a:ext cx="173245" cy="185576"/>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Down Arrow 51"/>
          <p:cNvSpPr/>
          <p:nvPr/>
        </p:nvSpPr>
        <p:spPr>
          <a:xfrm>
            <a:off x="1844210" y="3593617"/>
            <a:ext cx="173245" cy="185576"/>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Down Arrow 52"/>
          <p:cNvSpPr/>
          <p:nvPr/>
        </p:nvSpPr>
        <p:spPr>
          <a:xfrm>
            <a:off x="4110697" y="3593617"/>
            <a:ext cx="173245" cy="185576"/>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Left-Right Arrow 54"/>
          <p:cNvSpPr/>
          <p:nvPr/>
        </p:nvSpPr>
        <p:spPr>
          <a:xfrm>
            <a:off x="2788513" y="3922875"/>
            <a:ext cx="379924" cy="159661"/>
          </a:xfrm>
          <a:prstGeom prst="leftRight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Down Arrow 55"/>
          <p:cNvSpPr/>
          <p:nvPr/>
        </p:nvSpPr>
        <p:spPr>
          <a:xfrm>
            <a:off x="2919762" y="4228532"/>
            <a:ext cx="173245" cy="185576"/>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8" name="Straight Connector 57"/>
          <p:cNvCxnSpPr/>
          <p:nvPr/>
        </p:nvCxnSpPr>
        <p:spPr>
          <a:xfrm>
            <a:off x="1837067" y="4212379"/>
            <a:ext cx="2448531" cy="0"/>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403734" y="1730951"/>
            <a:ext cx="1211877" cy="523220"/>
          </a:xfrm>
          <a:prstGeom prst="rect">
            <a:avLst/>
          </a:prstGeom>
          <a:noFill/>
          <a:ln>
            <a:solidFill>
              <a:srgbClr val="0070C0"/>
            </a:solidFill>
          </a:ln>
        </p:spPr>
        <p:txBody>
          <a:bodyPr wrap="square" rtlCol="0">
            <a:spAutoFit/>
          </a:bodyPr>
          <a:lstStyle/>
          <a:p>
            <a:pPr algn="ctr"/>
            <a:r>
              <a:rPr lang="en-ZA" sz="1400" dirty="0" smtClean="0">
                <a:solidFill>
                  <a:schemeClr val="tx1">
                    <a:lumMod val="65000"/>
                    <a:lumOff val="35000"/>
                  </a:schemeClr>
                </a:solidFill>
                <a:latin typeface="Arial" panose="020B0604020202020204" pitchFamily="34" charset="0"/>
                <a:cs typeface="Arial" panose="020B0604020202020204" pitchFamily="34" charset="0"/>
              </a:rPr>
              <a:t>Positive findings</a:t>
            </a:r>
            <a:endParaRPr lang="en-ZA" sz="14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70" name="Right Arrow 69"/>
          <p:cNvSpPr/>
          <p:nvPr/>
        </p:nvSpPr>
        <p:spPr>
          <a:xfrm>
            <a:off x="5168001" y="1843433"/>
            <a:ext cx="191210" cy="245426"/>
          </a:xfrm>
          <a:prstGeom prst="right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Freeform 70"/>
          <p:cNvSpPr/>
          <p:nvPr/>
        </p:nvSpPr>
        <p:spPr>
          <a:xfrm>
            <a:off x="1018014" y="3213195"/>
            <a:ext cx="4149987" cy="390536"/>
          </a:xfrm>
          <a:custGeom>
            <a:avLst/>
            <a:gdLst>
              <a:gd name="connsiteX0" fmla="*/ 0 w 1107390"/>
              <a:gd name="connsiteY0" fmla="*/ 72673 h 726725"/>
              <a:gd name="connsiteX1" fmla="*/ 72673 w 1107390"/>
              <a:gd name="connsiteY1" fmla="*/ 0 h 726725"/>
              <a:gd name="connsiteX2" fmla="*/ 1034718 w 1107390"/>
              <a:gd name="connsiteY2" fmla="*/ 0 h 726725"/>
              <a:gd name="connsiteX3" fmla="*/ 1107391 w 1107390"/>
              <a:gd name="connsiteY3" fmla="*/ 72673 h 726725"/>
              <a:gd name="connsiteX4" fmla="*/ 1107390 w 1107390"/>
              <a:gd name="connsiteY4" fmla="*/ 654053 h 726725"/>
              <a:gd name="connsiteX5" fmla="*/ 1034717 w 1107390"/>
              <a:gd name="connsiteY5" fmla="*/ 726726 h 726725"/>
              <a:gd name="connsiteX6" fmla="*/ 72673 w 1107390"/>
              <a:gd name="connsiteY6" fmla="*/ 726725 h 726725"/>
              <a:gd name="connsiteX7" fmla="*/ 0 w 1107390"/>
              <a:gd name="connsiteY7" fmla="*/ 654052 h 726725"/>
              <a:gd name="connsiteX8" fmla="*/ 0 w 1107390"/>
              <a:gd name="connsiteY8" fmla="*/ 72673 h 72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7390" h="726725">
                <a:moveTo>
                  <a:pt x="0" y="72673"/>
                </a:moveTo>
                <a:cubicBezTo>
                  <a:pt x="0" y="32537"/>
                  <a:pt x="32537" y="0"/>
                  <a:pt x="72673" y="0"/>
                </a:cubicBezTo>
                <a:lnTo>
                  <a:pt x="1034718" y="0"/>
                </a:lnTo>
                <a:cubicBezTo>
                  <a:pt x="1074854" y="0"/>
                  <a:pt x="1107391" y="32537"/>
                  <a:pt x="1107391" y="72673"/>
                </a:cubicBezTo>
                <a:cubicBezTo>
                  <a:pt x="1107391" y="266466"/>
                  <a:pt x="1107390" y="460260"/>
                  <a:pt x="1107390" y="654053"/>
                </a:cubicBezTo>
                <a:cubicBezTo>
                  <a:pt x="1107390" y="694189"/>
                  <a:pt x="1074853" y="726726"/>
                  <a:pt x="1034717" y="726726"/>
                </a:cubicBezTo>
                <a:lnTo>
                  <a:pt x="72673" y="726725"/>
                </a:lnTo>
                <a:cubicBezTo>
                  <a:pt x="32537" y="726725"/>
                  <a:pt x="0" y="694188"/>
                  <a:pt x="0" y="654052"/>
                </a:cubicBezTo>
                <a:lnTo>
                  <a:pt x="0" y="72673"/>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25" tIns="74625" rIns="74625" bIns="74625" numCol="1" spcCol="1270" anchor="ctr" anchorCtr="0">
            <a:noAutofit/>
          </a:bodyPr>
          <a:lstStyle/>
          <a:p>
            <a:pPr lvl="0" algn="ctr" defTabSz="622300">
              <a:lnSpc>
                <a:spcPct val="90000"/>
              </a:lnSpc>
              <a:spcBef>
                <a:spcPct val="0"/>
              </a:spcBef>
              <a:spcAft>
                <a:spcPct val="35000"/>
              </a:spcAft>
            </a:pPr>
            <a:r>
              <a:rPr lang="en-US" sz="1400" kern="1200" dirty="0" smtClean="0">
                <a:latin typeface="Arial" panose="020B0604020202020204" pitchFamily="34" charset="0"/>
                <a:cs typeface="Arial" panose="020B0604020202020204" pitchFamily="34" charset="0"/>
              </a:rPr>
              <a:t>Deficiencies</a:t>
            </a:r>
            <a:endParaRPr lang="en-US" sz="1400" kern="1200" dirty="0">
              <a:latin typeface="Arial" panose="020B0604020202020204" pitchFamily="34" charset="0"/>
              <a:cs typeface="Arial" panose="020B0604020202020204" pitchFamily="34" charset="0"/>
            </a:endParaRPr>
          </a:p>
        </p:txBody>
      </p:sp>
      <p:sp>
        <p:nvSpPr>
          <p:cNvPr id="73" name="Down Arrow 72"/>
          <p:cNvSpPr/>
          <p:nvPr/>
        </p:nvSpPr>
        <p:spPr>
          <a:xfrm>
            <a:off x="3061517" y="2961318"/>
            <a:ext cx="173245" cy="185576"/>
          </a:xfrm>
          <a:prstGeom prst="down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5403734" y="2807781"/>
            <a:ext cx="3518885" cy="188269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2" name="TextBox 31"/>
          <p:cNvSpPr txBox="1"/>
          <p:nvPr/>
        </p:nvSpPr>
        <p:spPr>
          <a:xfrm>
            <a:off x="5438542" y="2860425"/>
            <a:ext cx="3518885" cy="1777410"/>
          </a:xfrm>
          <a:prstGeom prst="rect">
            <a:avLst/>
          </a:prstGeom>
          <a:noFill/>
        </p:spPr>
        <p:txBody>
          <a:bodyPr wrap="square" rtlCol="0">
            <a:spAutoFit/>
          </a:bodyPr>
          <a:lstStyle/>
          <a:p>
            <a:r>
              <a:rPr lang="en-US" dirty="0" smtClean="0">
                <a:latin typeface="Arial" panose="020B0604020202020204" pitchFamily="34" charset="0"/>
                <a:cs typeface="Arial" panose="020B0604020202020204" pitchFamily="34" charset="0"/>
              </a:rPr>
              <a:t>Factors to consider: </a:t>
            </a:r>
            <a:r>
              <a:rPr lang="en-US" sz="1100" dirty="0" smtClean="0">
                <a:latin typeface="Arial" panose="020B0604020202020204" pitchFamily="34" charset="0"/>
                <a:cs typeface="Arial" panose="020B0604020202020204" pitchFamily="34" charset="0"/>
              </a:rPr>
              <a:t>(Para A174)</a:t>
            </a:r>
          </a:p>
          <a:p>
            <a:pPr marL="285750" indent="-285750">
              <a:buFont typeface="Arial" panose="020B0604020202020204" pitchFamily="34" charset="0"/>
              <a:buChar char="•"/>
            </a:pPr>
            <a:r>
              <a:rPr lang="en-US" sz="1200" dirty="0" smtClean="0">
                <a:latin typeface="Arial" panose="020B0604020202020204" pitchFamily="34" charset="0"/>
                <a:cs typeface="Arial" panose="020B0604020202020204" pitchFamily="34" charset="0"/>
              </a:rPr>
              <a:t>Nature of finding</a:t>
            </a:r>
          </a:p>
          <a:p>
            <a:pPr marL="285750" indent="-285750">
              <a:buFont typeface="Arial" panose="020B0604020202020204" pitchFamily="34" charset="0"/>
              <a:buChar char="•"/>
            </a:pPr>
            <a:r>
              <a:rPr lang="en-US" sz="1200" dirty="0" smtClean="0">
                <a:latin typeface="Arial" panose="020B0604020202020204" pitchFamily="34" charset="0"/>
                <a:cs typeface="Arial" panose="020B0604020202020204" pitchFamily="34" charset="0"/>
              </a:rPr>
              <a:t>Design of monitoring activity</a:t>
            </a:r>
          </a:p>
          <a:p>
            <a:pPr marL="285750" indent="-285750">
              <a:buFont typeface="Arial" panose="020B0604020202020204" pitchFamily="34" charset="0"/>
              <a:buChar char="•"/>
            </a:pPr>
            <a:r>
              <a:rPr lang="en-US" sz="1200" dirty="0" smtClean="0">
                <a:latin typeface="Arial" panose="020B0604020202020204" pitchFamily="34" charset="0"/>
                <a:cs typeface="Arial" panose="020B0604020202020204" pitchFamily="34" charset="0"/>
              </a:rPr>
              <a:t>Extent of monitoring activity</a:t>
            </a:r>
          </a:p>
          <a:p>
            <a:pPr marL="285750" indent="-285750">
              <a:buFont typeface="Arial" panose="020B0604020202020204" pitchFamily="34" charset="0"/>
              <a:buChar char="•"/>
            </a:pPr>
            <a:r>
              <a:rPr lang="en-US" sz="1200" dirty="0" smtClean="0">
                <a:latin typeface="Arial" panose="020B0604020202020204" pitchFamily="34" charset="0"/>
                <a:cs typeface="Arial" panose="020B0604020202020204" pitchFamily="34" charset="0"/>
              </a:rPr>
              <a:t>Extent of findings in relation to population</a:t>
            </a:r>
          </a:p>
          <a:p>
            <a:pPr marL="285750" indent="-285750">
              <a:buFont typeface="Arial" panose="020B0604020202020204" pitchFamily="34" charset="0"/>
              <a:buChar char="•"/>
            </a:pPr>
            <a:r>
              <a:rPr lang="en-US" sz="1200" dirty="0" smtClean="0">
                <a:latin typeface="Arial" panose="020B0604020202020204" pitchFamily="34" charset="0"/>
                <a:cs typeface="Arial" panose="020B0604020202020204" pitchFamily="34" charset="0"/>
              </a:rPr>
              <a:t>If finding relates to a response:</a:t>
            </a:r>
          </a:p>
          <a:p>
            <a:pPr marL="628650" lvl="1" indent="-285750">
              <a:buFont typeface="Arial" panose="020B0604020202020204" pitchFamily="34" charset="0"/>
              <a:buChar char="•"/>
            </a:pPr>
            <a:r>
              <a:rPr lang="en-US" sz="1200" dirty="0" smtClean="0">
                <a:latin typeface="Arial" panose="020B0604020202020204" pitchFamily="34" charset="0"/>
                <a:cs typeface="Arial" panose="020B0604020202020204" pitchFamily="34" charset="0"/>
              </a:rPr>
              <a:t>Nature of quality risk</a:t>
            </a:r>
          </a:p>
          <a:p>
            <a:pPr marL="628650" lvl="1" indent="-285750">
              <a:buFont typeface="Arial" panose="020B0604020202020204" pitchFamily="34" charset="0"/>
              <a:buChar char="•"/>
            </a:pPr>
            <a:r>
              <a:rPr lang="en-US" sz="1200" dirty="0" smtClean="0">
                <a:latin typeface="Arial" panose="020B0604020202020204" pitchFamily="34" charset="0"/>
                <a:cs typeface="Arial" panose="020B0604020202020204" pitchFamily="34" charset="0"/>
              </a:rPr>
              <a:t>Other responses addressing quality risk</a:t>
            </a:r>
          </a:p>
          <a:p>
            <a:pPr marL="285750" indent="-285750">
              <a:buFont typeface="Arial" panose="020B0604020202020204" pitchFamily="34" charset="0"/>
              <a:buChar char="•"/>
            </a:pPr>
            <a:r>
              <a:rPr lang="en-US" sz="1200" dirty="0" smtClean="0">
                <a:latin typeface="Arial" panose="020B0604020202020204" pitchFamily="34" charset="0"/>
                <a:cs typeface="Arial" panose="020B0604020202020204" pitchFamily="34" charset="0"/>
              </a:rPr>
              <a:t>Indication of a trend or systemic issue</a:t>
            </a:r>
            <a:endParaRPr lang="en-US" sz="1200" dirty="0">
              <a:latin typeface="Arial" panose="020B0604020202020204" pitchFamily="34" charset="0"/>
              <a:cs typeface="Arial" panose="020B0604020202020204" pitchFamily="34" charset="0"/>
            </a:endParaRPr>
          </a:p>
        </p:txBody>
      </p:sp>
      <p:sp>
        <p:nvSpPr>
          <p:cNvPr id="33" name="Right Arrow 32"/>
          <p:cNvSpPr/>
          <p:nvPr/>
        </p:nvSpPr>
        <p:spPr>
          <a:xfrm>
            <a:off x="5177716" y="2764711"/>
            <a:ext cx="191210" cy="245426"/>
          </a:xfrm>
          <a:prstGeom prst="rightArrow">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48601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Deficiencies</a:t>
            </a:r>
            <a:endParaRPr lang="en-US" dirty="0"/>
          </a:p>
        </p:txBody>
      </p:sp>
      <p:sp>
        <p:nvSpPr>
          <p:cNvPr id="20" name="Slide Number Placeholder 4"/>
          <p:cNvSpPr>
            <a:spLocks noGrp="1"/>
          </p:cNvSpPr>
          <p:nvPr>
            <p:ph type="sldNum" sz="quarter" idx="12"/>
          </p:nvPr>
        </p:nvSpPr>
        <p:spPr>
          <a:xfrm>
            <a:off x="8238478" y="4891669"/>
            <a:ext cx="479268" cy="251831"/>
          </a:xfrm>
        </p:spPr>
        <p:txBody>
          <a:bodyPr/>
          <a:lstStyle/>
          <a:p>
            <a:r>
              <a:rPr lang="en-US" sz="750" dirty="0">
                <a:solidFill>
                  <a:schemeClr val="tx1"/>
                </a:solidFill>
                <a:latin typeface="+mn-lt"/>
              </a:rPr>
              <a:t>Page </a:t>
            </a:r>
            <a:fld id="{1D8F2CCE-4F5B-45FE-857C-239A2B21CCCD}" type="slidenum">
              <a:rPr lang="en-US" sz="750" smtClean="0">
                <a:solidFill>
                  <a:schemeClr val="tx1"/>
                </a:solidFill>
                <a:latin typeface="+mn-lt"/>
              </a:rPr>
              <a:t>6</a:t>
            </a:fld>
            <a:endParaRPr lang="en-US" sz="750" dirty="0">
              <a:solidFill>
                <a:schemeClr val="tx1"/>
              </a:solidFill>
              <a:latin typeface="+mn-lt"/>
            </a:endParaRPr>
          </a:p>
          <a:p>
            <a:endParaRPr lang="en-US" sz="750" dirty="0">
              <a:solidFill>
                <a:schemeClr val="tx1"/>
              </a:solidFill>
              <a:latin typeface="+mn-lt"/>
            </a:endParaRPr>
          </a:p>
        </p:txBody>
      </p:sp>
      <p:sp>
        <p:nvSpPr>
          <p:cNvPr id="9" name="TextBox 8"/>
          <p:cNvSpPr txBox="1"/>
          <p:nvPr/>
        </p:nvSpPr>
        <p:spPr>
          <a:xfrm>
            <a:off x="337267" y="1218489"/>
            <a:ext cx="1675451" cy="830997"/>
          </a:xfrm>
          <a:prstGeom prst="rect">
            <a:avLst/>
          </a:prstGeom>
          <a:noFill/>
        </p:spPr>
        <p:txBody>
          <a:bodyPr wrap="square" rtlCol="0">
            <a:spAutoFit/>
          </a:bodyPr>
          <a:lstStyle/>
          <a:p>
            <a:r>
              <a:rPr lang="en-US" sz="1600" b="1" dirty="0" smtClean="0">
                <a:solidFill>
                  <a:schemeClr val="bg1"/>
                </a:solidFill>
                <a:latin typeface="Arial" panose="020B0604020202020204" pitchFamily="34" charset="0"/>
                <a:cs typeface="Arial" panose="020B0604020202020204" pitchFamily="34" charset="0"/>
              </a:rPr>
              <a:t>Establish quality objectives</a:t>
            </a:r>
            <a:endParaRPr lang="en-US" sz="1600" b="1" dirty="0">
              <a:solidFill>
                <a:schemeClr val="bg1"/>
              </a:solidFill>
              <a:latin typeface="Arial" panose="020B0604020202020204" pitchFamily="34" charset="0"/>
              <a:cs typeface="Arial" panose="020B0604020202020204" pitchFamily="34" charset="0"/>
            </a:endParaRPr>
          </a:p>
        </p:txBody>
      </p:sp>
      <p:cxnSp>
        <p:nvCxnSpPr>
          <p:cNvPr id="55" name="Straight Connector 54"/>
          <p:cNvCxnSpPr/>
          <p:nvPr/>
        </p:nvCxnSpPr>
        <p:spPr>
          <a:xfrm>
            <a:off x="4032847" y="2231921"/>
            <a:ext cx="0" cy="425981"/>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flipH="1">
            <a:off x="1183379" y="2491292"/>
            <a:ext cx="2854224" cy="1076"/>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7" name="Straight Arrow Connector 106"/>
          <p:cNvCxnSpPr/>
          <p:nvPr/>
        </p:nvCxnSpPr>
        <p:spPr>
          <a:xfrm>
            <a:off x="4032847" y="3461605"/>
            <a:ext cx="0" cy="4655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5711818" y="3435593"/>
            <a:ext cx="0" cy="231221"/>
          </a:xfrm>
          <a:prstGeom prst="line">
            <a:avLst/>
          </a:prstGeom>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7962275" y="4514248"/>
            <a:ext cx="1031674" cy="26928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latin typeface="Arial" panose="020B0604020202020204" pitchFamily="34" charset="0"/>
                <a:cs typeface="Arial" panose="020B0604020202020204" pitchFamily="34" charset="0"/>
              </a:rPr>
              <a:t>Para 50</a:t>
            </a:r>
            <a:endParaRPr lang="en-US" dirty="0">
              <a:latin typeface="Arial" panose="020B0604020202020204" pitchFamily="34" charset="0"/>
              <a:cs typeface="Arial" panose="020B0604020202020204" pitchFamily="34" charset="0"/>
            </a:endParaRPr>
          </a:p>
        </p:txBody>
      </p:sp>
      <p:sp>
        <p:nvSpPr>
          <p:cNvPr id="14" name="Rounded Rectangle 13"/>
          <p:cNvSpPr/>
          <p:nvPr/>
        </p:nvSpPr>
        <p:spPr>
          <a:xfrm>
            <a:off x="326992" y="1665166"/>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1</a:t>
            </a:r>
            <a:endParaRPr lang="en-US" dirty="0">
              <a:latin typeface="Arial" panose="020B0604020202020204" pitchFamily="34" charset="0"/>
              <a:cs typeface="Arial" panose="020B0604020202020204" pitchFamily="34" charset="0"/>
            </a:endParaRPr>
          </a:p>
        </p:txBody>
      </p:sp>
      <p:sp>
        <p:nvSpPr>
          <p:cNvPr id="22" name="Rounded Rectangle 21"/>
          <p:cNvSpPr/>
          <p:nvPr/>
        </p:nvSpPr>
        <p:spPr>
          <a:xfrm>
            <a:off x="1405962" y="1665166"/>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2</a:t>
            </a:r>
            <a:endParaRPr lang="en-US" dirty="0">
              <a:latin typeface="Arial" panose="020B0604020202020204" pitchFamily="34" charset="0"/>
              <a:cs typeface="Arial" panose="020B0604020202020204" pitchFamily="34" charset="0"/>
            </a:endParaRPr>
          </a:p>
        </p:txBody>
      </p:sp>
      <p:sp>
        <p:nvSpPr>
          <p:cNvPr id="23" name="Rounded Rectangle 22"/>
          <p:cNvSpPr/>
          <p:nvPr/>
        </p:nvSpPr>
        <p:spPr>
          <a:xfrm>
            <a:off x="2450628" y="1661226"/>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3</a:t>
            </a:r>
            <a:endParaRPr lang="en-US" dirty="0">
              <a:latin typeface="Arial" panose="020B0604020202020204" pitchFamily="34" charset="0"/>
              <a:cs typeface="Arial" panose="020B0604020202020204" pitchFamily="34" charset="0"/>
            </a:endParaRPr>
          </a:p>
        </p:txBody>
      </p:sp>
      <p:sp>
        <p:nvSpPr>
          <p:cNvPr id="28" name="Rounded Rectangle 27"/>
          <p:cNvSpPr/>
          <p:nvPr/>
        </p:nvSpPr>
        <p:spPr>
          <a:xfrm>
            <a:off x="2208585" y="3078317"/>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QR 1</a:t>
            </a:r>
            <a:endParaRPr lang="en-US" dirty="0">
              <a:latin typeface="Arial" panose="020B0604020202020204" pitchFamily="34" charset="0"/>
              <a:cs typeface="Arial" panose="020B0604020202020204" pitchFamily="34" charset="0"/>
            </a:endParaRPr>
          </a:p>
        </p:txBody>
      </p:sp>
      <p:sp>
        <p:nvSpPr>
          <p:cNvPr id="33" name="Rounded Rectangle 32"/>
          <p:cNvSpPr/>
          <p:nvPr/>
        </p:nvSpPr>
        <p:spPr>
          <a:xfrm>
            <a:off x="3623829" y="3069891"/>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QR 2</a:t>
            </a:r>
            <a:endParaRPr lang="en-US" dirty="0">
              <a:latin typeface="Arial" panose="020B0604020202020204" pitchFamily="34" charset="0"/>
              <a:cs typeface="Arial" panose="020B0604020202020204" pitchFamily="34" charset="0"/>
            </a:endParaRPr>
          </a:p>
        </p:txBody>
      </p:sp>
      <p:sp>
        <p:nvSpPr>
          <p:cNvPr id="34" name="Rounded Rectangle 33"/>
          <p:cNvSpPr/>
          <p:nvPr/>
        </p:nvSpPr>
        <p:spPr>
          <a:xfrm>
            <a:off x="5269246" y="3070145"/>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QR 3</a:t>
            </a:r>
            <a:endParaRPr lang="en-US" dirty="0">
              <a:latin typeface="Arial" panose="020B0604020202020204" pitchFamily="34" charset="0"/>
              <a:cs typeface="Arial" panose="020B0604020202020204" pitchFamily="34" charset="0"/>
            </a:endParaRPr>
          </a:p>
        </p:txBody>
      </p:sp>
      <p:cxnSp>
        <p:nvCxnSpPr>
          <p:cNvPr id="86" name="Straight Connector 85"/>
          <p:cNvCxnSpPr/>
          <p:nvPr/>
        </p:nvCxnSpPr>
        <p:spPr>
          <a:xfrm flipH="1">
            <a:off x="4032847" y="2492368"/>
            <a:ext cx="1625286" cy="1349"/>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201333" y="887515"/>
            <a:ext cx="8114893" cy="310342"/>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smtClean="0">
                <a:latin typeface="Arial" panose="020B0604020202020204" pitchFamily="34" charset="0"/>
                <a:cs typeface="Arial" panose="020B0604020202020204" pitchFamily="34" charset="0"/>
              </a:rPr>
              <a:t>Objective of the Standard</a:t>
            </a:r>
            <a:endParaRPr lang="en-US" sz="1800" dirty="0">
              <a:latin typeface="Arial" panose="020B0604020202020204" pitchFamily="34" charset="0"/>
              <a:cs typeface="Arial" panose="020B0604020202020204" pitchFamily="34" charset="0"/>
            </a:endParaRPr>
          </a:p>
        </p:txBody>
      </p:sp>
      <p:sp>
        <p:nvSpPr>
          <p:cNvPr id="68" name="Rounded Rectangle 67"/>
          <p:cNvSpPr/>
          <p:nvPr/>
        </p:nvSpPr>
        <p:spPr>
          <a:xfrm>
            <a:off x="3533192" y="1469710"/>
            <a:ext cx="1008820" cy="784796"/>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4</a:t>
            </a:r>
            <a:endParaRPr lang="en-US" dirty="0">
              <a:latin typeface="Arial" panose="020B0604020202020204" pitchFamily="34" charset="0"/>
              <a:cs typeface="Arial" panose="020B0604020202020204" pitchFamily="34" charset="0"/>
            </a:endParaRPr>
          </a:p>
        </p:txBody>
      </p:sp>
      <p:sp>
        <p:nvSpPr>
          <p:cNvPr id="71" name="Rounded Rectangle 70"/>
          <p:cNvSpPr/>
          <p:nvPr/>
        </p:nvSpPr>
        <p:spPr>
          <a:xfrm>
            <a:off x="4744705" y="1665165"/>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a:t>
            </a:r>
            <a:r>
              <a:rPr lang="en-US" dirty="0">
                <a:latin typeface="Arial" panose="020B0604020202020204" pitchFamily="34" charset="0"/>
                <a:cs typeface="Arial" panose="020B0604020202020204" pitchFamily="34" charset="0"/>
              </a:rPr>
              <a:t>5</a:t>
            </a:r>
          </a:p>
        </p:txBody>
      </p:sp>
      <p:sp>
        <p:nvSpPr>
          <p:cNvPr id="72" name="Rounded Rectangle 71"/>
          <p:cNvSpPr/>
          <p:nvPr/>
        </p:nvSpPr>
        <p:spPr>
          <a:xfrm>
            <a:off x="5753525" y="1666940"/>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6</a:t>
            </a:r>
            <a:endParaRPr lang="en-US" dirty="0">
              <a:latin typeface="Arial" panose="020B0604020202020204" pitchFamily="34" charset="0"/>
              <a:cs typeface="Arial" panose="020B0604020202020204" pitchFamily="34" charset="0"/>
            </a:endParaRPr>
          </a:p>
        </p:txBody>
      </p:sp>
      <p:sp>
        <p:nvSpPr>
          <p:cNvPr id="75" name="Rounded Rectangle 74"/>
          <p:cNvSpPr/>
          <p:nvPr/>
        </p:nvSpPr>
        <p:spPr>
          <a:xfrm>
            <a:off x="6774254" y="1661226"/>
            <a:ext cx="818036" cy="358661"/>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7</a:t>
            </a:r>
            <a:endParaRPr lang="en-US" dirty="0">
              <a:latin typeface="Arial" panose="020B0604020202020204" pitchFamily="34" charset="0"/>
              <a:cs typeface="Arial" panose="020B0604020202020204" pitchFamily="34" charset="0"/>
            </a:endParaRPr>
          </a:p>
        </p:txBody>
      </p:sp>
      <p:cxnSp>
        <p:nvCxnSpPr>
          <p:cNvPr id="19" name="Straight Arrow Connector 18"/>
          <p:cNvCxnSpPr/>
          <p:nvPr/>
        </p:nvCxnSpPr>
        <p:spPr>
          <a:xfrm>
            <a:off x="2637688" y="2484091"/>
            <a:ext cx="0" cy="578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a:off x="4032847" y="2499464"/>
            <a:ext cx="0" cy="578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a:off x="5649389" y="2491292"/>
            <a:ext cx="0" cy="578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a:off x="5153746" y="3666814"/>
            <a:ext cx="0" cy="2603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a:off x="2616869" y="3452942"/>
            <a:ext cx="8077" cy="6471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6" name="Rounded Rectangle 95"/>
          <p:cNvSpPr/>
          <p:nvPr/>
        </p:nvSpPr>
        <p:spPr>
          <a:xfrm>
            <a:off x="1920387" y="4172553"/>
            <a:ext cx="818036" cy="480804"/>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Resp. 1</a:t>
            </a:r>
            <a:endParaRPr lang="en-US" dirty="0">
              <a:latin typeface="Arial" panose="020B0604020202020204" pitchFamily="34" charset="0"/>
              <a:cs typeface="Arial" panose="020B0604020202020204" pitchFamily="34" charset="0"/>
            </a:endParaRPr>
          </a:p>
        </p:txBody>
      </p:sp>
      <p:sp>
        <p:nvSpPr>
          <p:cNvPr id="104" name="Rounded Rectangle 103"/>
          <p:cNvSpPr/>
          <p:nvPr/>
        </p:nvSpPr>
        <p:spPr>
          <a:xfrm>
            <a:off x="3698316" y="3923554"/>
            <a:ext cx="818036" cy="553365"/>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Resp. 2</a:t>
            </a:r>
            <a:endParaRPr lang="en-US" dirty="0">
              <a:latin typeface="Arial" panose="020B0604020202020204" pitchFamily="34" charset="0"/>
              <a:cs typeface="Arial" panose="020B0604020202020204" pitchFamily="34" charset="0"/>
            </a:endParaRPr>
          </a:p>
        </p:txBody>
      </p:sp>
      <p:sp>
        <p:nvSpPr>
          <p:cNvPr id="105" name="Rounded Rectangle 104"/>
          <p:cNvSpPr/>
          <p:nvPr/>
        </p:nvSpPr>
        <p:spPr>
          <a:xfrm>
            <a:off x="4730349" y="3918852"/>
            <a:ext cx="818036" cy="553365"/>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Resp. 3</a:t>
            </a:r>
            <a:endParaRPr lang="en-US" dirty="0">
              <a:latin typeface="Arial" panose="020B0604020202020204" pitchFamily="34" charset="0"/>
              <a:cs typeface="Arial" panose="020B0604020202020204" pitchFamily="34" charset="0"/>
            </a:endParaRPr>
          </a:p>
        </p:txBody>
      </p:sp>
      <p:sp>
        <p:nvSpPr>
          <p:cNvPr id="106" name="Rounded Rectangle 105"/>
          <p:cNvSpPr/>
          <p:nvPr/>
        </p:nvSpPr>
        <p:spPr>
          <a:xfrm>
            <a:off x="5777707" y="3918520"/>
            <a:ext cx="818036" cy="553365"/>
          </a:xfrm>
          <a:prstGeom prst="roundRect">
            <a:avLst/>
          </a:prstGeom>
          <a:solidFill>
            <a:schemeClr val="accent3">
              <a:lumMod val="75000"/>
            </a:schemeClr>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Resp. 4</a:t>
            </a:r>
            <a:endParaRPr lang="en-US" dirty="0">
              <a:latin typeface="Arial" panose="020B0604020202020204" pitchFamily="34" charset="0"/>
              <a:cs typeface="Arial" panose="020B0604020202020204" pitchFamily="34" charset="0"/>
            </a:endParaRPr>
          </a:p>
        </p:txBody>
      </p:sp>
      <p:cxnSp>
        <p:nvCxnSpPr>
          <p:cNvPr id="40" name="Straight Connector 39"/>
          <p:cNvCxnSpPr/>
          <p:nvPr/>
        </p:nvCxnSpPr>
        <p:spPr>
          <a:xfrm>
            <a:off x="5153746" y="3676439"/>
            <a:ext cx="111614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Straight Arrow Connector 109"/>
          <p:cNvCxnSpPr/>
          <p:nvPr/>
        </p:nvCxnSpPr>
        <p:spPr>
          <a:xfrm>
            <a:off x="6260266" y="3669779"/>
            <a:ext cx="0" cy="2603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554334" y="3452942"/>
            <a:ext cx="694421" cy="30008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Lower</a:t>
            </a:r>
            <a:endParaRPr lang="en-US" b="1" dirty="0">
              <a:latin typeface="Arial" panose="020B0604020202020204" pitchFamily="34" charset="0"/>
              <a:cs typeface="Arial" panose="020B0604020202020204" pitchFamily="34" charset="0"/>
            </a:endParaRPr>
          </a:p>
        </p:txBody>
      </p:sp>
      <p:sp>
        <p:nvSpPr>
          <p:cNvPr id="112" name="TextBox 111"/>
          <p:cNvSpPr txBox="1"/>
          <p:nvPr/>
        </p:nvSpPr>
        <p:spPr>
          <a:xfrm>
            <a:off x="4083954" y="3410454"/>
            <a:ext cx="694421" cy="30008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Lower</a:t>
            </a:r>
            <a:endParaRPr lang="en-US" b="1" dirty="0">
              <a:latin typeface="Arial" panose="020B0604020202020204" pitchFamily="34" charset="0"/>
              <a:cs typeface="Arial" panose="020B0604020202020204" pitchFamily="34" charset="0"/>
            </a:endParaRPr>
          </a:p>
        </p:txBody>
      </p:sp>
      <p:sp>
        <p:nvSpPr>
          <p:cNvPr id="113" name="TextBox 112"/>
          <p:cNvSpPr txBox="1"/>
          <p:nvPr/>
        </p:nvSpPr>
        <p:spPr>
          <a:xfrm>
            <a:off x="5785631" y="3391053"/>
            <a:ext cx="732893" cy="30008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Higher</a:t>
            </a:r>
            <a:endParaRPr lang="en-US" b="1" dirty="0">
              <a:latin typeface="Arial" panose="020B0604020202020204" pitchFamily="34" charset="0"/>
              <a:cs typeface="Arial" panose="020B0604020202020204" pitchFamily="34" charset="0"/>
            </a:endParaRPr>
          </a:p>
        </p:txBody>
      </p:sp>
      <p:sp>
        <p:nvSpPr>
          <p:cNvPr id="37" name="Rounded Rectangle 36"/>
          <p:cNvSpPr/>
          <p:nvPr/>
        </p:nvSpPr>
        <p:spPr>
          <a:xfrm>
            <a:off x="7753320" y="1654500"/>
            <a:ext cx="818036" cy="358661"/>
          </a:xfrm>
          <a:prstGeom prst="roundRect">
            <a:avLst/>
          </a:prstGeom>
          <a:solidFill>
            <a:srgbClr val="FF0000"/>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QO </a:t>
            </a:r>
            <a:r>
              <a:rPr lang="en-US" dirty="0">
                <a:latin typeface="Arial" panose="020B0604020202020204" pitchFamily="34" charset="0"/>
                <a:cs typeface="Arial" panose="020B0604020202020204" pitchFamily="34" charset="0"/>
              </a:rPr>
              <a:t>8</a:t>
            </a:r>
          </a:p>
        </p:txBody>
      </p:sp>
      <p:sp>
        <p:nvSpPr>
          <p:cNvPr id="39" name="Rounded Rectangle 38"/>
          <p:cNvSpPr/>
          <p:nvPr/>
        </p:nvSpPr>
        <p:spPr>
          <a:xfrm>
            <a:off x="6719592" y="2401680"/>
            <a:ext cx="818036" cy="466778"/>
          </a:xfrm>
          <a:prstGeom prst="roundRect">
            <a:avLst/>
          </a:prstGeom>
          <a:solidFill>
            <a:srgbClr val="FF0000"/>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Missing QR</a:t>
            </a:r>
            <a:endParaRPr lang="en-US" dirty="0">
              <a:latin typeface="Arial" panose="020B0604020202020204" pitchFamily="34" charset="0"/>
              <a:cs typeface="Arial" panose="020B0604020202020204" pitchFamily="34" charset="0"/>
            </a:endParaRPr>
          </a:p>
        </p:txBody>
      </p:sp>
      <p:sp>
        <p:nvSpPr>
          <p:cNvPr id="41" name="Rounded Rectangle 40"/>
          <p:cNvSpPr/>
          <p:nvPr/>
        </p:nvSpPr>
        <p:spPr>
          <a:xfrm>
            <a:off x="8152112" y="2383147"/>
            <a:ext cx="818036" cy="466778"/>
          </a:xfrm>
          <a:prstGeom prst="roundRect">
            <a:avLst/>
          </a:prstGeom>
          <a:solidFill>
            <a:srgbClr val="FF0000"/>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Missing QR</a:t>
            </a:r>
            <a:endParaRPr lang="en-US" dirty="0">
              <a:latin typeface="Arial" panose="020B0604020202020204" pitchFamily="34" charset="0"/>
              <a:cs typeface="Arial" panose="020B0604020202020204" pitchFamily="34" charset="0"/>
            </a:endParaRPr>
          </a:p>
        </p:txBody>
      </p:sp>
      <p:sp>
        <p:nvSpPr>
          <p:cNvPr id="42" name="Rounded Rectangle 41"/>
          <p:cNvSpPr/>
          <p:nvPr/>
        </p:nvSpPr>
        <p:spPr>
          <a:xfrm>
            <a:off x="815937" y="4176234"/>
            <a:ext cx="818036" cy="466778"/>
          </a:xfrm>
          <a:prstGeom prst="roundRect">
            <a:avLst/>
          </a:prstGeom>
          <a:solidFill>
            <a:srgbClr val="FF0000"/>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Missing Resp.</a:t>
            </a:r>
            <a:endParaRPr lang="en-US" dirty="0">
              <a:latin typeface="Arial" panose="020B0604020202020204" pitchFamily="34" charset="0"/>
              <a:cs typeface="Arial" panose="020B0604020202020204" pitchFamily="34" charset="0"/>
            </a:endParaRPr>
          </a:p>
        </p:txBody>
      </p:sp>
      <p:sp>
        <p:nvSpPr>
          <p:cNvPr id="43" name="Rounded Rectangle 42"/>
          <p:cNvSpPr/>
          <p:nvPr/>
        </p:nvSpPr>
        <p:spPr>
          <a:xfrm>
            <a:off x="7307625" y="3710536"/>
            <a:ext cx="818036" cy="466778"/>
          </a:xfrm>
          <a:prstGeom prst="roundRect">
            <a:avLst/>
          </a:prstGeom>
          <a:solidFill>
            <a:srgbClr val="FF0000"/>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Missing Resp.</a:t>
            </a:r>
            <a:endParaRPr lang="en-US" dirty="0">
              <a:latin typeface="Arial" panose="020B0604020202020204" pitchFamily="34" charset="0"/>
              <a:cs typeface="Arial" panose="020B0604020202020204" pitchFamily="34" charset="0"/>
            </a:endParaRPr>
          </a:p>
        </p:txBody>
      </p:sp>
      <p:sp>
        <p:nvSpPr>
          <p:cNvPr id="44" name="Rounded Rectangle 43"/>
          <p:cNvSpPr/>
          <p:nvPr/>
        </p:nvSpPr>
        <p:spPr>
          <a:xfrm>
            <a:off x="8308728" y="3680390"/>
            <a:ext cx="818036" cy="466778"/>
          </a:xfrm>
          <a:prstGeom prst="roundRect">
            <a:avLst/>
          </a:prstGeom>
          <a:solidFill>
            <a:srgbClr val="FF0000"/>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Missing Resp.</a:t>
            </a:r>
            <a:endParaRPr lang="en-US" dirty="0">
              <a:latin typeface="Arial" panose="020B0604020202020204" pitchFamily="34" charset="0"/>
              <a:cs typeface="Arial" panose="020B0604020202020204" pitchFamily="34" charset="0"/>
            </a:endParaRPr>
          </a:p>
        </p:txBody>
      </p:sp>
      <p:cxnSp>
        <p:nvCxnSpPr>
          <p:cNvPr id="45" name="Straight Arrow Connector 44"/>
          <p:cNvCxnSpPr/>
          <p:nvPr/>
        </p:nvCxnSpPr>
        <p:spPr>
          <a:xfrm>
            <a:off x="7181230" y="2223236"/>
            <a:ext cx="2042" cy="1908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8686800" y="3097568"/>
            <a:ext cx="0" cy="5743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a:off x="7753320" y="3107399"/>
            <a:ext cx="0" cy="5729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a:off x="7033249" y="2868458"/>
            <a:ext cx="0" cy="2389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8162338" y="1983409"/>
            <a:ext cx="0" cy="216896"/>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flipV="1">
            <a:off x="7181230" y="2223236"/>
            <a:ext cx="1221563" cy="7215"/>
          </a:xfrm>
          <a:prstGeom prst="line">
            <a:avLst/>
          </a:prstGeom>
        </p:spPr>
        <p:style>
          <a:lnRef idx="2">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flipH="1">
            <a:off x="8404015" y="2215315"/>
            <a:ext cx="7498" cy="1692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8520487" y="2865298"/>
            <a:ext cx="0" cy="216896"/>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7753320" y="3097567"/>
            <a:ext cx="933480" cy="1"/>
          </a:xfrm>
          <a:prstGeom prst="line">
            <a:avLst/>
          </a:prstGeom>
        </p:spPr>
        <p:style>
          <a:lnRef idx="2">
            <a:schemeClr val="accent1"/>
          </a:lnRef>
          <a:fillRef idx="0">
            <a:schemeClr val="accent1"/>
          </a:fillRef>
          <a:effectRef idx="1">
            <a:schemeClr val="accent1"/>
          </a:effectRef>
          <a:fontRef idx="minor">
            <a:schemeClr val="tx1"/>
          </a:fontRef>
        </p:style>
      </p:cxnSp>
      <p:sp>
        <p:nvSpPr>
          <p:cNvPr id="74" name="Rounded Rectangle 73"/>
          <p:cNvSpPr/>
          <p:nvPr/>
        </p:nvSpPr>
        <p:spPr>
          <a:xfrm>
            <a:off x="815937" y="3093717"/>
            <a:ext cx="818036" cy="466778"/>
          </a:xfrm>
          <a:prstGeom prst="roundRect">
            <a:avLst/>
          </a:prstGeom>
          <a:solidFill>
            <a:srgbClr val="FF0000"/>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Missing QR</a:t>
            </a:r>
            <a:endParaRPr lang="en-US" dirty="0">
              <a:latin typeface="Arial" panose="020B0604020202020204" pitchFamily="34" charset="0"/>
              <a:cs typeface="Arial" panose="020B0604020202020204" pitchFamily="34" charset="0"/>
            </a:endParaRPr>
          </a:p>
        </p:txBody>
      </p:sp>
      <p:cxnSp>
        <p:nvCxnSpPr>
          <p:cNvPr id="77" name="Straight Arrow Connector 76"/>
          <p:cNvCxnSpPr/>
          <p:nvPr/>
        </p:nvCxnSpPr>
        <p:spPr>
          <a:xfrm>
            <a:off x="1193004" y="2499465"/>
            <a:ext cx="0" cy="578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a:off x="1174992" y="3578938"/>
            <a:ext cx="0" cy="578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1" name="Rounded Rectangle 80"/>
          <p:cNvSpPr/>
          <p:nvPr/>
        </p:nvSpPr>
        <p:spPr>
          <a:xfrm>
            <a:off x="6667019" y="3136205"/>
            <a:ext cx="818036" cy="466778"/>
          </a:xfrm>
          <a:prstGeom prst="roundRect">
            <a:avLst/>
          </a:prstGeom>
          <a:solidFill>
            <a:srgbClr val="FF0000"/>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Missing Resp.</a:t>
            </a:r>
            <a:endParaRPr lang="en-US" dirty="0">
              <a:latin typeface="Arial" panose="020B0604020202020204" pitchFamily="34" charset="0"/>
              <a:cs typeface="Arial" panose="020B0604020202020204" pitchFamily="34" charset="0"/>
            </a:endParaRPr>
          </a:p>
        </p:txBody>
      </p:sp>
      <p:grpSp>
        <p:nvGrpSpPr>
          <p:cNvPr id="62" name="Group 61"/>
          <p:cNvGrpSpPr/>
          <p:nvPr/>
        </p:nvGrpSpPr>
        <p:grpSpPr>
          <a:xfrm>
            <a:off x="2698758" y="3503624"/>
            <a:ext cx="360965" cy="212510"/>
            <a:chOff x="1729818" y="3157084"/>
            <a:chExt cx="360965" cy="212510"/>
          </a:xfrm>
        </p:grpSpPr>
        <p:cxnSp>
          <p:nvCxnSpPr>
            <p:cNvPr id="46" name="Straight Connector 45"/>
            <p:cNvCxnSpPr/>
            <p:nvPr/>
          </p:nvCxnSpPr>
          <p:spPr>
            <a:xfrm>
              <a:off x="1729818" y="3189160"/>
              <a:ext cx="352463" cy="13794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p:cNvCxnSpPr/>
            <p:nvPr/>
          </p:nvCxnSpPr>
          <p:spPr>
            <a:xfrm flipV="1">
              <a:off x="1746650" y="3157084"/>
              <a:ext cx="344133" cy="21251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64" name="TextBox 63"/>
          <p:cNvSpPr txBox="1"/>
          <p:nvPr/>
        </p:nvSpPr>
        <p:spPr>
          <a:xfrm>
            <a:off x="2959290" y="3241968"/>
            <a:ext cx="732893" cy="300082"/>
          </a:xfrm>
          <a:prstGeom prst="rect">
            <a:avLst/>
          </a:prstGeom>
          <a:noFill/>
        </p:spPr>
        <p:txBody>
          <a:bodyPr wrap="none" rtlCol="0">
            <a:spAutoFit/>
          </a:bodyPr>
          <a:lstStyle/>
          <a:p>
            <a:r>
              <a:rPr lang="en-US" b="1" dirty="0" smtClean="0">
                <a:latin typeface="Arial" panose="020B0604020202020204" pitchFamily="34" charset="0"/>
                <a:cs typeface="Arial" panose="020B0604020202020204" pitchFamily="34" charset="0"/>
              </a:rPr>
              <a:t>Higher</a:t>
            </a:r>
            <a:endParaRPr lang="en-US" b="1" dirty="0">
              <a:latin typeface="Arial" panose="020B0604020202020204" pitchFamily="34" charset="0"/>
              <a:cs typeface="Arial" panose="020B0604020202020204" pitchFamily="34" charset="0"/>
            </a:endParaRPr>
          </a:p>
        </p:txBody>
      </p:sp>
      <p:sp>
        <p:nvSpPr>
          <p:cNvPr id="94" name="Rounded Rectangle 93"/>
          <p:cNvSpPr/>
          <p:nvPr/>
        </p:nvSpPr>
        <p:spPr>
          <a:xfrm>
            <a:off x="2839737" y="4186578"/>
            <a:ext cx="818036" cy="466778"/>
          </a:xfrm>
          <a:prstGeom prst="roundRect">
            <a:avLst/>
          </a:prstGeom>
          <a:solidFill>
            <a:srgbClr val="FF0000"/>
          </a:solidFill>
          <a:ln w="1905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Missing Resp.</a:t>
            </a:r>
            <a:endParaRPr lang="en-US" dirty="0">
              <a:latin typeface="Arial" panose="020B0604020202020204" pitchFamily="34" charset="0"/>
              <a:cs typeface="Arial" panose="020B0604020202020204" pitchFamily="34" charset="0"/>
            </a:endParaRPr>
          </a:p>
        </p:txBody>
      </p:sp>
      <p:cxnSp>
        <p:nvCxnSpPr>
          <p:cNvPr id="70" name="Straight Connector 69"/>
          <p:cNvCxnSpPr/>
          <p:nvPr/>
        </p:nvCxnSpPr>
        <p:spPr>
          <a:xfrm>
            <a:off x="2603925" y="3795119"/>
            <a:ext cx="716453" cy="8587"/>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p:nvPr/>
        </p:nvCxnSpPr>
        <p:spPr>
          <a:xfrm>
            <a:off x="3320378" y="3803700"/>
            <a:ext cx="0" cy="3918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843039" y="4257885"/>
            <a:ext cx="1910281" cy="461665"/>
          </a:xfrm>
          <a:prstGeom prst="rect">
            <a:avLst/>
          </a:prstGeom>
          <a:noFill/>
        </p:spPr>
        <p:txBody>
          <a:bodyPr wrap="square" rtlCol="0">
            <a:spAutoFit/>
          </a:bodyPr>
          <a:lstStyle/>
          <a:p>
            <a:pPr algn="ctr"/>
            <a:r>
              <a:rPr lang="en-US" sz="1200" b="1" dirty="0" smtClean="0">
                <a:solidFill>
                  <a:srgbClr val="FF0000"/>
                </a:solidFill>
                <a:latin typeface="Arial" panose="020B0604020202020204" pitchFamily="34" charset="0"/>
                <a:cs typeface="Arial" panose="020B0604020202020204" pitchFamily="34" charset="0"/>
              </a:rPr>
              <a:t>Inadequately</a:t>
            </a:r>
            <a:endParaRPr lang="en-US" sz="1200" b="1" dirty="0" smtClean="0">
              <a:solidFill>
                <a:srgbClr val="FF0000"/>
              </a:solidFill>
              <a:latin typeface="Arial" panose="020B0604020202020204" pitchFamily="34" charset="0"/>
              <a:cs typeface="Arial" panose="020B0604020202020204" pitchFamily="34" charset="0"/>
            </a:endParaRPr>
          </a:p>
          <a:p>
            <a:pPr algn="ctr"/>
            <a:r>
              <a:rPr lang="en-US" sz="1200" b="1" dirty="0" smtClean="0">
                <a:solidFill>
                  <a:srgbClr val="FF0000"/>
                </a:solidFill>
                <a:latin typeface="Arial" panose="020B0604020202020204" pitchFamily="34" charset="0"/>
                <a:cs typeface="Arial" panose="020B0604020202020204" pitchFamily="34" charset="0"/>
              </a:rPr>
              <a:t>d</a:t>
            </a:r>
            <a:r>
              <a:rPr lang="en-US" sz="1200" b="1" dirty="0" smtClean="0">
                <a:solidFill>
                  <a:srgbClr val="FF0000"/>
                </a:solidFill>
                <a:latin typeface="Arial" panose="020B0604020202020204" pitchFamily="34" charset="0"/>
                <a:cs typeface="Arial" panose="020B0604020202020204" pitchFamily="34" charset="0"/>
              </a:rPr>
              <a:t>esigned / not effective</a:t>
            </a:r>
            <a:endParaRPr lang="en-US" sz="1200" b="1" dirty="0">
              <a:solidFill>
                <a:srgbClr val="FF0000"/>
              </a:solidFill>
              <a:latin typeface="Arial" panose="020B0604020202020204" pitchFamily="34" charset="0"/>
              <a:cs typeface="Arial" panose="020B0604020202020204" pitchFamily="34" charset="0"/>
            </a:endParaRPr>
          </a:p>
        </p:txBody>
      </p:sp>
      <p:cxnSp>
        <p:nvCxnSpPr>
          <p:cNvPr id="114" name="Straight Connector 113"/>
          <p:cNvCxnSpPr/>
          <p:nvPr/>
        </p:nvCxnSpPr>
        <p:spPr>
          <a:xfrm flipV="1">
            <a:off x="664853" y="1327661"/>
            <a:ext cx="7460808"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115" name="Straight Arrow Connector 114"/>
          <p:cNvCxnSpPr/>
          <p:nvPr/>
        </p:nvCxnSpPr>
        <p:spPr>
          <a:xfrm>
            <a:off x="674478" y="1327661"/>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Straight Arrow Connector 115"/>
          <p:cNvCxnSpPr/>
          <p:nvPr/>
        </p:nvCxnSpPr>
        <p:spPr>
          <a:xfrm>
            <a:off x="1814085" y="1319052"/>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7" name="Straight Arrow Connector 116"/>
          <p:cNvCxnSpPr/>
          <p:nvPr/>
        </p:nvCxnSpPr>
        <p:spPr>
          <a:xfrm>
            <a:off x="6162543" y="1328976"/>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8" name="Straight Arrow Connector 117"/>
          <p:cNvCxnSpPr/>
          <p:nvPr/>
        </p:nvCxnSpPr>
        <p:spPr>
          <a:xfrm>
            <a:off x="2845918" y="1328976"/>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Straight Arrow Connector 118"/>
          <p:cNvCxnSpPr/>
          <p:nvPr/>
        </p:nvCxnSpPr>
        <p:spPr>
          <a:xfrm>
            <a:off x="5153723" y="1328976"/>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0" name="Straight Arrow Connector 119"/>
          <p:cNvCxnSpPr/>
          <p:nvPr/>
        </p:nvCxnSpPr>
        <p:spPr>
          <a:xfrm>
            <a:off x="7173647" y="1319351"/>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1" name="Straight Arrow Connector 120"/>
          <p:cNvCxnSpPr/>
          <p:nvPr/>
        </p:nvCxnSpPr>
        <p:spPr>
          <a:xfrm>
            <a:off x="4032847" y="1197857"/>
            <a:ext cx="0" cy="305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2" name="Straight Arrow Connector 121"/>
          <p:cNvCxnSpPr/>
          <p:nvPr/>
        </p:nvCxnSpPr>
        <p:spPr>
          <a:xfrm>
            <a:off x="8121094" y="1331582"/>
            <a:ext cx="0" cy="3380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41716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7371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6802</TotalTime>
  <Words>328</Words>
  <Application>Microsoft Office PowerPoint</Application>
  <PresentationFormat>On-screen Show (16:9)</PresentationFormat>
  <Paragraphs>119</Paragraphs>
  <Slides>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MS PGothic</vt:lpstr>
      <vt:lpstr>Arial</vt:lpstr>
      <vt:lpstr>Arial Narrow</vt:lpstr>
      <vt:lpstr>Calibri</vt:lpstr>
      <vt:lpstr>Times New Roman</vt:lpstr>
      <vt:lpstr>Office Theme</vt:lpstr>
      <vt:lpstr>Quality Management (Firm Level)</vt:lpstr>
      <vt:lpstr>Identification of Quality Risks</vt:lpstr>
      <vt:lpstr>Assessment of Quality Risks</vt:lpstr>
      <vt:lpstr>Designing Responses</vt:lpstr>
      <vt:lpstr>PowerPoint Presentation</vt:lpstr>
      <vt:lpstr>Deficiencies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Natalie Klonaridis</cp:lastModifiedBy>
  <cp:revision>250</cp:revision>
  <cp:lastPrinted>2016-03-04T17:09:52Z</cp:lastPrinted>
  <dcterms:created xsi:type="dcterms:W3CDTF">2016-11-09T14:56:20Z</dcterms:created>
  <dcterms:modified xsi:type="dcterms:W3CDTF">2018-12-12T02:40:16Z</dcterms:modified>
</cp:coreProperties>
</file>