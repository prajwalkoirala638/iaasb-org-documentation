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3"/>
  </p:notesMasterIdLst>
  <p:handoutMasterIdLst>
    <p:handoutMasterId r:id="rId34"/>
  </p:handoutMasterIdLst>
  <p:sldIdLst>
    <p:sldId id="271" r:id="rId2"/>
    <p:sldId id="273" r:id="rId3"/>
    <p:sldId id="277" r:id="rId4"/>
    <p:sldId id="547" r:id="rId5"/>
    <p:sldId id="346" r:id="rId6"/>
    <p:sldId id="532" r:id="rId7"/>
    <p:sldId id="279" r:id="rId8"/>
    <p:sldId id="548" r:id="rId9"/>
    <p:sldId id="531" r:id="rId10"/>
    <p:sldId id="545" r:id="rId11"/>
    <p:sldId id="281" r:id="rId12"/>
    <p:sldId id="533" r:id="rId13"/>
    <p:sldId id="526" r:id="rId14"/>
    <p:sldId id="549" r:id="rId15"/>
    <p:sldId id="534" r:id="rId16"/>
    <p:sldId id="521" r:id="rId17"/>
    <p:sldId id="530" r:id="rId18"/>
    <p:sldId id="523" r:id="rId19"/>
    <p:sldId id="550" r:id="rId20"/>
    <p:sldId id="529" r:id="rId21"/>
    <p:sldId id="524" r:id="rId22"/>
    <p:sldId id="544" r:id="rId23"/>
    <p:sldId id="535" r:id="rId24"/>
    <p:sldId id="536" r:id="rId25"/>
    <p:sldId id="537" r:id="rId26"/>
    <p:sldId id="540" r:id="rId27"/>
    <p:sldId id="539" r:id="rId28"/>
    <p:sldId id="541" r:id="rId29"/>
    <p:sldId id="543" r:id="rId30"/>
    <p:sldId id="491" r:id="rId31"/>
    <p:sldId id="294" r:id="rId32"/>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etsman, Megan" initials="MZ" lastIdx="8" clrIdx="0">
    <p:extLst>
      <p:ext uri="{19B8F6BF-5375-455C-9EA6-DF929625EA0E}">
        <p15:presenceInfo xmlns:p15="http://schemas.microsoft.com/office/powerpoint/2012/main" userId="Zietsman, Megan" providerId="Non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005BAA"/>
    <a:srgbClr val="F15A22"/>
    <a:srgbClr val="00C0F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3" autoAdjust="0"/>
    <p:restoredTop sz="76332" autoAdjust="0"/>
  </p:normalViewPr>
  <p:slideViewPr>
    <p:cSldViewPr snapToGrid="0" snapToObjects="1">
      <p:cViewPr varScale="1">
        <p:scale>
          <a:sx n="82" d="100"/>
          <a:sy n="82" d="100"/>
        </p:scale>
        <p:origin x="1382" y="67"/>
      </p:cViewPr>
      <p:guideLst>
        <p:guide orient="horz" pos="1620"/>
        <p:guide pos="2880"/>
      </p:guideLst>
    </p:cSldViewPr>
  </p:slideViewPr>
  <p:outlineViewPr>
    <p:cViewPr>
      <p:scale>
        <a:sx n="66" d="100"/>
        <a:sy n="66" d="100"/>
      </p:scale>
      <p:origin x="0" y="0"/>
    </p:cViewPr>
  </p:outlineViewPr>
  <p:notesTextViewPr>
    <p:cViewPr>
      <p:scale>
        <a:sx n="3" d="2"/>
        <a:sy n="3" d="2"/>
      </p:scale>
      <p:origin x="0" y="0"/>
    </p:cViewPr>
  </p:notesTextViewPr>
  <p:sorterViewPr>
    <p:cViewPr varScale="1">
      <p:scale>
        <a:sx n="1" d="1"/>
        <a:sy n="1" d="1"/>
      </p:scale>
      <p:origin x="0" y="-606"/>
    </p:cViewPr>
  </p:sorterViewPr>
  <p:notesViewPr>
    <p:cSldViewPr snapToGrid="0" snapToObjects="1">
      <p:cViewPr varScale="1">
        <p:scale>
          <a:sx n="65" d="100"/>
          <a:sy n="65" d="100"/>
        </p:scale>
        <p:origin x="3134" y="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Ifac-vmfs01\profiles\JThurgood\My%20Documents\CAG\201909\Respondents%20Breakdow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'CAG Charts'!$A$3:$A$11</c:f>
              <c:strCache>
                <c:ptCount val="9"/>
                <c:pt idx="0">
                  <c:v>Individuals and Others</c:v>
                </c:pt>
                <c:pt idx="1">
                  <c:v>Academics</c:v>
                </c:pt>
                <c:pt idx="2">
                  <c:v>Member Bodies and Other Professional Organizations</c:v>
                </c:pt>
                <c:pt idx="3">
                  <c:v>Public Sector Organizations</c:v>
                </c:pt>
                <c:pt idx="4">
                  <c:v>Accounting Firms</c:v>
                </c:pt>
                <c:pt idx="5">
                  <c:v>National Auditing Standard Setters</c:v>
                </c:pt>
                <c:pt idx="6">
                  <c:v>Regulators and Audit Oversight Authorities</c:v>
                </c:pt>
                <c:pt idx="7">
                  <c:v>Investors and Analysts</c:v>
                </c:pt>
                <c:pt idx="8">
                  <c:v>Monitoring Group</c:v>
                </c:pt>
              </c:strCache>
            </c:strRef>
          </c:cat>
          <c:val>
            <c:numRef>
              <c:f>'CAG Charts'!$B$3:$B$11</c:f>
              <c:numCache>
                <c:formatCode>General</c:formatCode>
                <c:ptCount val="9"/>
                <c:pt idx="0">
                  <c:v>3</c:v>
                </c:pt>
                <c:pt idx="1">
                  <c:v>2</c:v>
                </c:pt>
                <c:pt idx="2">
                  <c:v>31</c:v>
                </c:pt>
                <c:pt idx="3">
                  <c:v>9</c:v>
                </c:pt>
                <c:pt idx="4">
                  <c:v>24</c:v>
                </c:pt>
                <c:pt idx="5">
                  <c:v>12</c:v>
                </c:pt>
                <c:pt idx="6">
                  <c:v>5</c:v>
                </c:pt>
                <c:pt idx="7">
                  <c:v>1</c:v>
                </c:pt>
                <c:pt idx="8">
                  <c:v>4</c:v>
                </c:pt>
              </c:numCache>
            </c:numRef>
          </c:val>
          <c:extLst>
            <c:ext xmlns:c16="http://schemas.microsoft.com/office/drawing/2014/chart" uri="{C3380CC4-5D6E-409C-BE32-E72D297353CC}">
              <c16:uniqueId val="{00000000-AF95-43B1-B26E-B688EC497B1A}"/>
            </c:ext>
          </c:extLst>
        </c:ser>
        <c:dLbls>
          <c:showLegendKey val="0"/>
          <c:showVal val="0"/>
          <c:showCatName val="0"/>
          <c:showSerName val="0"/>
          <c:showPercent val="0"/>
          <c:showBubbleSize val="0"/>
        </c:dLbls>
        <c:gapWidth val="182"/>
        <c:axId val="453302128"/>
        <c:axId val="453314528"/>
      </c:barChart>
      <c:catAx>
        <c:axId val="45330212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453314528"/>
        <c:crosses val="autoZero"/>
        <c:auto val="1"/>
        <c:lblAlgn val="ctr"/>
        <c:lblOffset val="100"/>
        <c:noMultiLvlLbl val="0"/>
      </c:catAx>
      <c:valAx>
        <c:axId val="4533145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4533021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09229057214459"/>
          <c:y val="0.17008554974016071"/>
          <c:w val="0.76635990391867759"/>
          <c:h val="0.52279921067958146"/>
        </c:manualLayout>
      </c:layout>
      <c:doughnutChart>
        <c:varyColors val="1"/>
        <c:ser>
          <c:idx val="0"/>
          <c:order val="0"/>
          <c:tx>
            <c:strRef>
              <c:f>Sheet1!$B$1</c:f>
              <c:strCache>
                <c:ptCount val="1"/>
                <c:pt idx="0">
                  <c:v>Column1</c:v>
                </c:pt>
              </c:strCache>
            </c:strRef>
          </c:tx>
          <c:spPr>
            <a:solidFill>
              <a:srgbClr val="00B050"/>
            </a:solidFill>
          </c:spPr>
          <c:dPt>
            <c:idx val="0"/>
            <c:bubble3D val="0"/>
            <c:spPr>
              <a:solidFill>
                <a:srgbClr val="00B050"/>
              </a:solidFill>
              <a:ln w="19050">
                <a:solidFill>
                  <a:schemeClr val="lt1"/>
                </a:solidFill>
              </a:ln>
              <a:effectLst/>
            </c:spPr>
            <c:extLst>
              <c:ext xmlns:c16="http://schemas.microsoft.com/office/drawing/2014/chart" uri="{C3380CC4-5D6E-409C-BE32-E72D297353CC}">
                <c16:uniqueId val="{00000001-541C-4404-B57C-0FCDAABB3A06}"/>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3-541C-4404-B57C-0FCDAABB3A06}"/>
              </c:ext>
            </c:extLst>
          </c:dPt>
          <c:dPt>
            <c:idx val="2"/>
            <c:bubble3D val="0"/>
            <c:spPr>
              <a:solidFill>
                <a:srgbClr val="FF0000"/>
              </a:solidFill>
              <a:ln w="19050">
                <a:solidFill>
                  <a:schemeClr val="lt1"/>
                </a:solidFill>
              </a:ln>
              <a:effectLst/>
            </c:spPr>
            <c:extLst>
              <c:ext xmlns:c16="http://schemas.microsoft.com/office/drawing/2014/chart" uri="{C3380CC4-5D6E-409C-BE32-E72D297353CC}">
                <c16:uniqueId val="{00000005-541C-4404-B57C-0FCDAABB3A06}"/>
              </c:ext>
            </c:extLst>
          </c:dPt>
          <c:dPt>
            <c:idx val="3"/>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7-541C-4404-B57C-0FCDAABB3A06}"/>
              </c:ext>
            </c:extLst>
          </c:dPt>
          <c:dLbls>
            <c:delete val="1"/>
          </c:dLbls>
          <c:cat>
            <c:strRef>
              <c:f>Sheet1!$A$2:$A$4</c:f>
              <c:strCache>
                <c:ptCount val="3"/>
                <c:pt idx="0">
                  <c:v>Agree</c:v>
                </c:pt>
                <c:pt idx="1">
                  <c:v>Agree but with further comments</c:v>
                </c:pt>
                <c:pt idx="2">
                  <c:v>Disagree</c:v>
                </c:pt>
              </c:strCache>
            </c:strRef>
          </c:cat>
          <c:val>
            <c:numRef>
              <c:f>Sheet1!$B$2:$B$4</c:f>
              <c:numCache>
                <c:formatCode>General</c:formatCode>
                <c:ptCount val="3"/>
                <c:pt idx="0">
                  <c:v>26</c:v>
                </c:pt>
                <c:pt idx="1">
                  <c:v>42</c:v>
                </c:pt>
                <c:pt idx="2">
                  <c:v>0</c:v>
                </c:pt>
              </c:numCache>
            </c:numRef>
          </c:val>
          <c:extLst>
            <c:ext xmlns:c16="http://schemas.microsoft.com/office/drawing/2014/chart" uri="{C3380CC4-5D6E-409C-BE32-E72D297353CC}">
              <c16:uniqueId val="{00000008-541C-4404-B57C-0FCDAABB3A06}"/>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2295965396877859"/>
          <c:w val="1"/>
          <c:h val="0.2770403460312214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09229057214459"/>
          <c:y val="0.17008554974016071"/>
          <c:w val="0.76635990391867759"/>
          <c:h val="0.52279921067958146"/>
        </c:manualLayout>
      </c:layout>
      <c:doughnutChart>
        <c:varyColors val="1"/>
        <c:ser>
          <c:idx val="0"/>
          <c:order val="0"/>
          <c:tx>
            <c:strRef>
              <c:f>Sheet1!$B$1</c:f>
              <c:strCache>
                <c:ptCount val="1"/>
                <c:pt idx="0">
                  <c:v>Column1</c:v>
                </c:pt>
              </c:strCache>
            </c:strRef>
          </c:tx>
          <c:spPr>
            <a:solidFill>
              <a:srgbClr val="00B050"/>
            </a:solidFill>
          </c:spPr>
          <c:dPt>
            <c:idx val="0"/>
            <c:bubble3D val="0"/>
            <c:spPr>
              <a:solidFill>
                <a:srgbClr val="00B050"/>
              </a:solidFill>
              <a:ln w="19050">
                <a:solidFill>
                  <a:schemeClr val="lt1"/>
                </a:solidFill>
              </a:ln>
              <a:effectLst/>
            </c:spPr>
            <c:extLst>
              <c:ext xmlns:c16="http://schemas.microsoft.com/office/drawing/2014/chart" uri="{C3380CC4-5D6E-409C-BE32-E72D297353CC}">
                <c16:uniqueId val="{00000001-6BCA-4D10-98A8-94B350D3A3BF}"/>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3-6BCA-4D10-98A8-94B350D3A3BF}"/>
              </c:ext>
            </c:extLst>
          </c:dPt>
          <c:dPt>
            <c:idx val="2"/>
            <c:bubble3D val="0"/>
            <c:spPr>
              <a:solidFill>
                <a:srgbClr val="FF0000"/>
              </a:solidFill>
              <a:ln w="19050">
                <a:solidFill>
                  <a:schemeClr val="lt1"/>
                </a:solidFill>
              </a:ln>
              <a:effectLst/>
            </c:spPr>
            <c:extLst>
              <c:ext xmlns:c16="http://schemas.microsoft.com/office/drawing/2014/chart" uri="{C3380CC4-5D6E-409C-BE32-E72D297353CC}">
                <c16:uniqueId val="{00000005-6BCA-4D10-98A8-94B350D3A3BF}"/>
              </c:ext>
            </c:extLst>
          </c:dPt>
          <c:dPt>
            <c:idx val="3"/>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7-6BCA-4D10-98A8-94B350D3A3BF}"/>
              </c:ext>
            </c:extLst>
          </c:dPt>
          <c:dLbls>
            <c:delete val="1"/>
          </c:dLbls>
          <c:cat>
            <c:strRef>
              <c:f>Sheet1!$A$2:$A$5</c:f>
              <c:strCache>
                <c:ptCount val="4"/>
                <c:pt idx="0">
                  <c:v>Agree</c:v>
                </c:pt>
                <c:pt idx="1">
                  <c:v>Agree but with further comments</c:v>
                </c:pt>
                <c:pt idx="2">
                  <c:v>Needs clarity</c:v>
                </c:pt>
                <c:pt idx="3">
                  <c:v>Disagree</c:v>
                </c:pt>
              </c:strCache>
            </c:strRef>
          </c:cat>
          <c:val>
            <c:numRef>
              <c:f>Sheet1!$B$2:$B$5</c:f>
              <c:numCache>
                <c:formatCode>General</c:formatCode>
                <c:ptCount val="4"/>
                <c:pt idx="0">
                  <c:v>3</c:v>
                </c:pt>
                <c:pt idx="1">
                  <c:v>16</c:v>
                </c:pt>
                <c:pt idx="2">
                  <c:v>8</c:v>
                </c:pt>
                <c:pt idx="3">
                  <c:v>11</c:v>
                </c:pt>
              </c:numCache>
            </c:numRef>
          </c:val>
          <c:extLst>
            <c:ext xmlns:c16="http://schemas.microsoft.com/office/drawing/2014/chart" uri="{C3380CC4-5D6E-409C-BE32-E72D297353CC}">
              <c16:uniqueId val="{00000008-6BCA-4D10-98A8-94B350D3A3BF}"/>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2295965396877859"/>
          <c:w val="1"/>
          <c:h val="0.2770403460312214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09229057214459"/>
          <c:y val="0.17008554974016071"/>
          <c:w val="0.76635990391867759"/>
          <c:h val="0.52279921067958146"/>
        </c:manualLayout>
      </c:layout>
      <c:doughnutChart>
        <c:varyColors val="1"/>
        <c:ser>
          <c:idx val="0"/>
          <c:order val="0"/>
          <c:tx>
            <c:strRef>
              <c:f>Sheet1!$B$1</c:f>
              <c:strCache>
                <c:ptCount val="1"/>
                <c:pt idx="0">
                  <c:v>Column1</c:v>
                </c:pt>
              </c:strCache>
            </c:strRef>
          </c:tx>
          <c:spPr>
            <a:solidFill>
              <a:srgbClr val="00B050"/>
            </a:solidFill>
          </c:spPr>
          <c:dPt>
            <c:idx val="0"/>
            <c:bubble3D val="0"/>
            <c:spPr>
              <a:solidFill>
                <a:srgbClr val="00B050"/>
              </a:solidFill>
              <a:ln w="19050">
                <a:solidFill>
                  <a:schemeClr val="lt1"/>
                </a:solidFill>
              </a:ln>
              <a:effectLst/>
            </c:spPr>
            <c:extLst>
              <c:ext xmlns:c16="http://schemas.microsoft.com/office/drawing/2014/chart" uri="{C3380CC4-5D6E-409C-BE32-E72D297353CC}">
                <c16:uniqueId val="{00000001-6BCA-4D10-98A8-94B350D3A3BF}"/>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3-6BCA-4D10-98A8-94B350D3A3BF}"/>
              </c:ext>
            </c:extLst>
          </c:dPt>
          <c:dPt>
            <c:idx val="2"/>
            <c:bubble3D val="0"/>
            <c:spPr>
              <a:solidFill>
                <a:srgbClr val="FF0000"/>
              </a:solidFill>
              <a:ln w="19050">
                <a:solidFill>
                  <a:schemeClr val="lt1"/>
                </a:solidFill>
              </a:ln>
              <a:effectLst/>
            </c:spPr>
            <c:extLst>
              <c:ext xmlns:c16="http://schemas.microsoft.com/office/drawing/2014/chart" uri="{C3380CC4-5D6E-409C-BE32-E72D297353CC}">
                <c16:uniqueId val="{00000005-6BCA-4D10-98A8-94B350D3A3BF}"/>
              </c:ext>
            </c:extLst>
          </c:dPt>
          <c:dPt>
            <c:idx val="3"/>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7-6BCA-4D10-98A8-94B350D3A3BF}"/>
              </c:ext>
            </c:extLst>
          </c:dPt>
          <c:dLbls>
            <c:delete val="1"/>
          </c:dLbls>
          <c:cat>
            <c:strRef>
              <c:f>Sheet1!$A$2:$A$4</c:f>
              <c:strCache>
                <c:ptCount val="3"/>
                <c:pt idx="0">
                  <c:v>Agree</c:v>
                </c:pt>
                <c:pt idx="1">
                  <c:v>Agree but with further comments</c:v>
                </c:pt>
                <c:pt idx="2">
                  <c:v>Disagree</c:v>
                </c:pt>
              </c:strCache>
            </c:strRef>
          </c:cat>
          <c:val>
            <c:numRef>
              <c:f>Sheet1!$B$2:$B$4</c:f>
              <c:numCache>
                <c:formatCode>General</c:formatCode>
                <c:ptCount val="3"/>
                <c:pt idx="0">
                  <c:v>22</c:v>
                </c:pt>
                <c:pt idx="1">
                  <c:v>55</c:v>
                </c:pt>
                <c:pt idx="2">
                  <c:v>3</c:v>
                </c:pt>
              </c:numCache>
            </c:numRef>
          </c:val>
          <c:extLst>
            <c:ext xmlns:c16="http://schemas.microsoft.com/office/drawing/2014/chart" uri="{C3380CC4-5D6E-409C-BE32-E72D297353CC}">
              <c16:uniqueId val="{00000008-6BCA-4D10-98A8-94B350D3A3BF}"/>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2295965396877859"/>
          <c:w val="1"/>
          <c:h val="0.2770403460312214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09229057214459"/>
          <c:y val="0.17008554974016071"/>
          <c:w val="0.76635990391867759"/>
          <c:h val="0.52279921067958146"/>
        </c:manualLayout>
      </c:layout>
      <c:doughnutChart>
        <c:varyColors val="1"/>
        <c:ser>
          <c:idx val="0"/>
          <c:order val="0"/>
          <c:tx>
            <c:strRef>
              <c:f>Sheet1!$B$1</c:f>
              <c:strCache>
                <c:ptCount val="1"/>
                <c:pt idx="0">
                  <c:v>Column1</c:v>
                </c:pt>
              </c:strCache>
            </c:strRef>
          </c:tx>
          <c:spPr>
            <a:solidFill>
              <a:srgbClr val="00B050"/>
            </a:solidFill>
          </c:spPr>
          <c:dPt>
            <c:idx val="0"/>
            <c:bubble3D val="0"/>
            <c:spPr>
              <a:solidFill>
                <a:srgbClr val="00B050"/>
              </a:solidFill>
              <a:ln w="19050">
                <a:solidFill>
                  <a:schemeClr val="lt1"/>
                </a:solidFill>
              </a:ln>
              <a:effectLst/>
            </c:spPr>
            <c:extLst>
              <c:ext xmlns:c16="http://schemas.microsoft.com/office/drawing/2014/chart" uri="{C3380CC4-5D6E-409C-BE32-E72D297353CC}">
                <c16:uniqueId val="{00000001-6BCA-4D10-98A8-94B350D3A3BF}"/>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3-6BCA-4D10-98A8-94B350D3A3BF}"/>
              </c:ext>
            </c:extLst>
          </c:dPt>
          <c:dPt>
            <c:idx val="2"/>
            <c:bubble3D val="0"/>
            <c:spPr>
              <a:solidFill>
                <a:srgbClr val="FF0000"/>
              </a:solidFill>
              <a:ln w="19050">
                <a:solidFill>
                  <a:schemeClr val="lt1"/>
                </a:solidFill>
              </a:ln>
              <a:effectLst/>
            </c:spPr>
            <c:extLst>
              <c:ext xmlns:c16="http://schemas.microsoft.com/office/drawing/2014/chart" uri="{C3380CC4-5D6E-409C-BE32-E72D297353CC}">
                <c16:uniqueId val="{00000005-6BCA-4D10-98A8-94B350D3A3BF}"/>
              </c:ext>
            </c:extLst>
          </c:dPt>
          <c:dPt>
            <c:idx val="3"/>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7-6BCA-4D10-98A8-94B350D3A3BF}"/>
              </c:ext>
            </c:extLst>
          </c:dPt>
          <c:dLbls>
            <c:delete val="1"/>
          </c:dLbls>
          <c:cat>
            <c:strRef>
              <c:f>Sheet1!$A$2:$A$3</c:f>
              <c:strCache>
                <c:ptCount val="2"/>
                <c:pt idx="0">
                  <c:v>Agree</c:v>
                </c:pt>
                <c:pt idx="1">
                  <c:v>Agree but with further comments</c:v>
                </c:pt>
              </c:strCache>
            </c:strRef>
          </c:cat>
          <c:val>
            <c:numRef>
              <c:f>Sheet1!$B$2:$B$3</c:f>
              <c:numCache>
                <c:formatCode>General</c:formatCode>
                <c:ptCount val="2"/>
                <c:pt idx="0">
                  <c:v>49</c:v>
                </c:pt>
                <c:pt idx="1">
                  <c:v>27</c:v>
                </c:pt>
              </c:numCache>
            </c:numRef>
          </c:val>
          <c:extLst>
            <c:ext xmlns:c16="http://schemas.microsoft.com/office/drawing/2014/chart" uri="{C3380CC4-5D6E-409C-BE32-E72D297353CC}">
              <c16:uniqueId val="{00000008-6BCA-4D10-98A8-94B350D3A3BF}"/>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2295965396877859"/>
          <c:w val="1"/>
          <c:h val="0.2770403460312214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09229057214459"/>
          <c:y val="0.17008554974016071"/>
          <c:w val="0.76635990391867759"/>
          <c:h val="0.52279921067958146"/>
        </c:manualLayout>
      </c:layout>
      <c:doughnutChart>
        <c:varyColors val="1"/>
        <c:ser>
          <c:idx val="0"/>
          <c:order val="0"/>
          <c:tx>
            <c:strRef>
              <c:f>Sheet1!$B$1</c:f>
              <c:strCache>
                <c:ptCount val="1"/>
                <c:pt idx="0">
                  <c:v>Column1</c:v>
                </c:pt>
              </c:strCache>
            </c:strRef>
          </c:tx>
          <c:spPr>
            <a:solidFill>
              <a:srgbClr val="00B050"/>
            </a:solidFill>
          </c:spPr>
          <c:dPt>
            <c:idx val="0"/>
            <c:bubble3D val="0"/>
            <c:spPr>
              <a:solidFill>
                <a:srgbClr val="00B050"/>
              </a:solidFill>
              <a:ln w="19050">
                <a:solidFill>
                  <a:schemeClr val="lt1"/>
                </a:solidFill>
              </a:ln>
              <a:effectLst/>
            </c:spPr>
            <c:extLst>
              <c:ext xmlns:c16="http://schemas.microsoft.com/office/drawing/2014/chart" uri="{C3380CC4-5D6E-409C-BE32-E72D297353CC}">
                <c16:uniqueId val="{00000001-6BCA-4D10-98A8-94B350D3A3BF}"/>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3-6BCA-4D10-98A8-94B350D3A3BF}"/>
              </c:ext>
            </c:extLst>
          </c:dPt>
          <c:dPt>
            <c:idx val="2"/>
            <c:bubble3D val="0"/>
            <c:spPr>
              <a:solidFill>
                <a:srgbClr val="FF0000"/>
              </a:solidFill>
              <a:ln w="19050">
                <a:solidFill>
                  <a:schemeClr val="lt1"/>
                </a:solidFill>
              </a:ln>
              <a:effectLst/>
            </c:spPr>
            <c:extLst>
              <c:ext xmlns:c16="http://schemas.microsoft.com/office/drawing/2014/chart" uri="{C3380CC4-5D6E-409C-BE32-E72D297353CC}">
                <c16:uniqueId val="{00000005-6BCA-4D10-98A8-94B350D3A3BF}"/>
              </c:ext>
            </c:extLst>
          </c:dPt>
          <c:dPt>
            <c:idx val="3"/>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7-6BCA-4D10-98A8-94B350D3A3BF}"/>
              </c:ext>
            </c:extLst>
          </c:dPt>
          <c:dLbls>
            <c:delete val="1"/>
          </c:dLbls>
          <c:cat>
            <c:strRef>
              <c:f>Sheet1!$A$2:$A$4</c:f>
              <c:strCache>
                <c:ptCount val="3"/>
                <c:pt idx="0">
                  <c:v>Agree</c:v>
                </c:pt>
                <c:pt idx="1">
                  <c:v>Agree but with further comments</c:v>
                </c:pt>
                <c:pt idx="2">
                  <c:v>Disagree</c:v>
                </c:pt>
              </c:strCache>
            </c:strRef>
          </c:cat>
          <c:val>
            <c:numRef>
              <c:f>Sheet1!$B$2:$B$4</c:f>
              <c:numCache>
                <c:formatCode>General</c:formatCode>
                <c:ptCount val="3"/>
                <c:pt idx="0">
                  <c:v>25</c:v>
                </c:pt>
                <c:pt idx="1">
                  <c:v>58</c:v>
                </c:pt>
                <c:pt idx="2">
                  <c:v>3</c:v>
                </c:pt>
              </c:numCache>
            </c:numRef>
          </c:val>
          <c:extLst>
            <c:ext xmlns:c16="http://schemas.microsoft.com/office/drawing/2014/chart" uri="{C3380CC4-5D6E-409C-BE32-E72D297353CC}">
              <c16:uniqueId val="{00000008-6BCA-4D10-98A8-94B350D3A3BF}"/>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2295965396877859"/>
          <c:w val="1"/>
          <c:h val="0.2770403460312214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78C749C1-C883-4DFB-9C5B-4E3228FCEF81}">
      <dgm:prSet phldrT="[Text]" custT="1"/>
      <dgm:spPr>
        <a:solidFill>
          <a:srgbClr val="005BAA"/>
        </a:solidFill>
      </dgm:spPr>
      <dgm:t>
        <a:bodyPr/>
        <a:lstStyle/>
        <a:p>
          <a:pPr marL="571500" indent="-457200" algn="l"/>
          <a:r>
            <a:rPr lang="en-US" sz="2000" b="1" dirty="0">
              <a:latin typeface="Arial" panose="020B0604020202020204" pitchFamily="34" charset="0"/>
              <a:cs typeface="Arial" panose="020B0604020202020204" pitchFamily="34" charset="0"/>
            </a:rPr>
            <a:t>1. 	Engagement partner’s responsibility for managing and achieving audit quality</a:t>
          </a:r>
        </a:p>
      </dgm:t>
    </dgm:pt>
    <dgm:pt modelId="{C652904B-26BE-45F0-9E8B-D5236E1D1B4C}" type="parTrans" cxnId="{C1EA6960-D01B-4872-AF8D-E46506D1E362}">
      <dgm:prSet/>
      <dgm:spPr/>
      <dgm:t>
        <a:bodyPr/>
        <a:lstStyle/>
        <a:p>
          <a:endParaRPr lang="en-US"/>
        </a:p>
      </dgm:t>
    </dgm:pt>
    <dgm:pt modelId="{DC6BC910-A94E-4716-881B-63FEF61AA658}" type="sibTrans" cxnId="{C1EA6960-D01B-4872-AF8D-E46506D1E362}">
      <dgm:prSet/>
      <dgm:spPr/>
      <dgm:t>
        <a:bodyPr/>
        <a:lstStyle/>
        <a:p>
          <a:endParaRPr lang="en-US"/>
        </a:p>
      </dgm:t>
    </dgm:pt>
    <dgm:pt modelId="{4E57C338-51D3-4B1F-B4F8-9C66609F5D9E}">
      <dgm:prSet phldrT="[Text]" custT="1"/>
      <dgm:spPr>
        <a:solidFill>
          <a:srgbClr val="F15A22"/>
        </a:solidFill>
      </dgm:spPr>
      <dgm:t>
        <a:bodyPr/>
        <a:lstStyle/>
        <a:p>
          <a:pPr marL="571500" indent="-457200" algn="l"/>
          <a:r>
            <a:rPr lang="en-US" sz="2000" b="1" dirty="0">
              <a:latin typeface="Arial" panose="020B0604020202020204" pitchFamily="34" charset="0"/>
              <a:cs typeface="Arial" panose="020B0604020202020204" pitchFamily="34" charset="0"/>
            </a:rPr>
            <a:t>2. 	Engagement team definition</a:t>
          </a:r>
        </a:p>
      </dgm:t>
    </dgm:pt>
    <dgm:pt modelId="{ADC42DB5-B686-4B81-9DDE-65AA6D8D786E}" type="parTrans" cxnId="{BB8F9127-6199-4C01-BC50-348447405C04}">
      <dgm:prSet/>
      <dgm:spPr/>
      <dgm:t>
        <a:bodyPr/>
        <a:lstStyle/>
        <a:p>
          <a:endParaRPr lang="en-US"/>
        </a:p>
      </dgm:t>
    </dgm:pt>
    <dgm:pt modelId="{41425E7F-A94C-4EE9-8688-3D40A29C50CF}" type="sibTrans" cxnId="{BB8F9127-6199-4C01-BC50-348447405C04}">
      <dgm:prSet/>
      <dgm:spPr/>
      <dgm:t>
        <a:bodyPr/>
        <a:lstStyle/>
        <a:p>
          <a:endParaRPr lang="en-US"/>
        </a:p>
      </dgm:t>
    </dgm:pt>
    <dgm:pt modelId="{14D66D36-AC0A-4928-9000-4FBB86066A19}">
      <dgm:prSet phldrT="[Text]" custT="1"/>
      <dgm:spPr>
        <a:solidFill>
          <a:schemeClr val="bg1">
            <a:lumMod val="50000"/>
          </a:schemeClr>
        </a:solidFill>
      </dgm:spPr>
      <dgm:t>
        <a:bodyPr/>
        <a:lstStyle/>
        <a:p>
          <a:pPr marL="571500" indent="-457200" algn="l"/>
          <a:r>
            <a:rPr lang="en-US" sz="2000" b="1" dirty="0">
              <a:latin typeface="Arial" panose="020B0604020202020204" pitchFamily="34" charset="0"/>
              <a:cs typeface="Arial" panose="020B0604020202020204" pitchFamily="34" charset="0"/>
            </a:rPr>
            <a:t>3.	 Scalability</a:t>
          </a:r>
        </a:p>
      </dgm:t>
    </dgm:pt>
    <dgm:pt modelId="{D84F1B13-CA57-44A0-965B-0D9B2DF84F4E}" type="parTrans" cxnId="{9D5061A6-3419-41B3-B557-D56C3D7DB54E}">
      <dgm:prSet/>
      <dgm:spPr/>
      <dgm:t>
        <a:bodyPr/>
        <a:lstStyle/>
        <a:p>
          <a:endParaRPr lang="en-US"/>
        </a:p>
      </dgm:t>
    </dgm:pt>
    <dgm:pt modelId="{847B85FB-DC48-4CB2-843E-B4BCDD265C1E}" type="sibTrans" cxnId="{9D5061A6-3419-41B3-B557-D56C3D7DB54E}">
      <dgm:prSet/>
      <dgm:spPr/>
      <dgm:t>
        <a:bodyPr/>
        <a:lstStyle/>
        <a:p>
          <a:endParaRPr lang="en-US"/>
        </a:p>
      </dgm:t>
    </dgm:pt>
    <dgm:pt modelId="{F2318C3E-10F9-4BC8-99F4-A3AF8D1D7150}" type="pres">
      <dgm:prSet presAssocID="{62E99C36-7D1C-4387-AF44-E7FCB3F4E37E}" presName="diagram" presStyleCnt="0">
        <dgm:presLayoutVars>
          <dgm:dir/>
          <dgm:resizeHandles val="exact"/>
        </dgm:presLayoutVars>
      </dgm:prSet>
      <dgm:spPr/>
    </dgm:pt>
    <dgm:pt modelId="{B1BD8CE7-C8A6-4C7C-8241-DCD3520C3BAF}" type="pres">
      <dgm:prSet presAssocID="{78C749C1-C883-4DFB-9C5B-4E3228FCEF81}" presName="node" presStyleLbl="node1" presStyleIdx="0" presStyleCnt="3" custScaleX="61768" custScaleY="102947" custLinFactNeighborX="4676" custLinFactNeighborY="555">
        <dgm:presLayoutVars>
          <dgm:bulletEnabled val="1"/>
        </dgm:presLayoutVars>
      </dgm:prSet>
      <dgm:spPr/>
    </dgm:pt>
    <dgm:pt modelId="{41EEBF90-6B61-4922-A150-77C658C44CA0}" type="pres">
      <dgm:prSet presAssocID="{DC6BC910-A94E-4716-881B-63FEF61AA658}" presName="sibTrans" presStyleCnt="0"/>
      <dgm:spPr/>
    </dgm:pt>
    <dgm:pt modelId="{E630A20F-770E-4E25-A30C-BB5415705EC8}" type="pres">
      <dgm:prSet presAssocID="{4E57C338-51D3-4B1F-B4F8-9C66609F5D9E}" presName="node" presStyleLbl="node1" presStyleIdx="1" presStyleCnt="3" custScaleX="60976" custScaleY="102947" custLinFactNeighborX="-718" custLinFactNeighborY="1002">
        <dgm:presLayoutVars>
          <dgm:bulletEnabled val="1"/>
        </dgm:presLayoutVars>
      </dgm:prSet>
      <dgm:spPr/>
    </dgm:pt>
    <dgm:pt modelId="{92909CBE-D462-48CC-8FAE-E110ACF0631A}" type="pres">
      <dgm:prSet presAssocID="{41425E7F-A94C-4EE9-8688-3D40A29C50CF}" presName="sibTrans" presStyleCnt="0"/>
      <dgm:spPr/>
    </dgm:pt>
    <dgm:pt modelId="{D79E0748-81E0-4C07-A961-2B4358D62810}" type="pres">
      <dgm:prSet presAssocID="{14D66D36-AC0A-4928-9000-4FBB86066A19}" presName="node" presStyleLbl="node1" presStyleIdx="2" presStyleCnt="3" custScaleX="61954" custScaleY="102947" custLinFactNeighborX="-6728" custLinFactNeighborY="926">
        <dgm:presLayoutVars>
          <dgm:bulletEnabled val="1"/>
        </dgm:presLayoutVars>
      </dgm:prSet>
      <dgm:spPr/>
    </dgm:pt>
  </dgm:ptLst>
  <dgm:cxnLst>
    <dgm:cxn modelId="{75622C04-480A-44DC-AF71-FE07A2C6FED9}" type="presOf" srcId="{4E57C338-51D3-4B1F-B4F8-9C66609F5D9E}" destId="{E630A20F-770E-4E25-A30C-BB5415705EC8}" srcOrd="0" destOrd="0" presId="urn:microsoft.com/office/officeart/2005/8/layout/default"/>
    <dgm:cxn modelId="{51B4E00C-0A62-46FC-8341-59DC5FCEE371}" type="presOf" srcId="{78C749C1-C883-4DFB-9C5B-4E3228FCEF81}" destId="{B1BD8CE7-C8A6-4C7C-8241-DCD3520C3BAF}" srcOrd="0" destOrd="0" presId="urn:microsoft.com/office/officeart/2005/8/layout/default"/>
    <dgm:cxn modelId="{BB8F9127-6199-4C01-BC50-348447405C04}" srcId="{62E99C36-7D1C-4387-AF44-E7FCB3F4E37E}" destId="{4E57C338-51D3-4B1F-B4F8-9C66609F5D9E}" srcOrd="1" destOrd="0" parTransId="{ADC42DB5-B686-4B81-9DDE-65AA6D8D786E}" sibTransId="{41425E7F-A94C-4EE9-8688-3D40A29C50CF}"/>
    <dgm:cxn modelId="{C1EA6960-D01B-4872-AF8D-E46506D1E362}" srcId="{62E99C36-7D1C-4387-AF44-E7FCB3F4E37E}" destId="{78C749C1-C883-4DFB-9C5B-4E3228FCEF81}" srcOrd="0" destOrd="0" parTransId="{C652904B-26BE-45F0-9E8B-D5236E1D1B4C}" sibTransId="{DC6BC910-A94E-4716-881B-63FEF61AA658}"/>
    <dgm:cxn modelId="{DEDD5951-B788-49F7-93C3-CD69455561CB}" type="presOf" srcId="{62E99C36-7D1C-4387-AF44-E7FCB3F4E37E}" destId="{F2318C3E-10F9-4BC8-99F4-A3AF8D1D7150}" srcOrd="0" destOrd="0" presId="urn:microsoft.com/office/officeart/2005/8/layout/default"/>
    <dgm:cxn modelId="{9D5061A6-3419-41B3-B557-D56C3D7DB54E}" srcId="{62E99C36-7D1C-4387-AF44-E7FCB3F4E37E}" destId="{14D66D36-AC0A-4928-9000-4FBB86066A19}" srcOrd="2" destOrd="0" parTransId="{D84F1B13-CA57-44A0-965B-0D9B2DF84F4E}" sibTransId="{847B85FB-DC48-4CB2-843E-B4BCDD265C1E}"/>
    <dgm:cxn modelId="{02F351F2-45A0-417A-81DE-D5E1F6A2DE6D}" type="presOf" srcId="{14D66D36-AC0A-4928-9000-4FBB86066A19}" destId="{D79E0748-81E0-4C07-A961-2B4358D62810}" srcOrd="0" destOrd="0" presId="urn:microsoft.com/office/officeart/2005/8/layout/default"/>
    <dgm:cxn modelId="{6754DF4E-E6DA-44B4-88B2-483D8A58B923}" type="presParOf" srcId="{F2318C3E-10F9-4BC8-99F4-A3AF8D1D7150}" destId="{B1BD8CE7-C8A6-4C7C-8241-DCD3520C3BAF}" srcOrd="0" destOrd="0" presId="urn:microsoft.com/office/officeart/2005/8/layout/default"/>
    <dgm:cxn modelId="{8B99F33E-E7F1-4754-AB57-B36184988CD5}" type="presParOf" srcId="{F2318C3E-10F9-4BC8-99F4-A3AF8D1D7150}" destId="{41EEBF90-6B61-4922-A150-77C658C44CA0}" srcOrd="1" destOrd="0" presId="urn:microsoft.com/office/officeart/2005/8/layout/default"/>
    <dgm:cxn modelId="{F5CD138D-0EDD-4E67-AF9E-C638B2DADC56}" type="presParOf" srcId="{F2318C3E-10F9-4BC8-99F4-A3AF8D1D7150}" destId="{E630A20F-770E-4E25-A30C-BB5415705EC8}" srcOrd="2" destOrd="0" presId="urn:microsoft.com/office/officeart/2005/8/layout/default"/>
    <dgm:cxn modelId="{8FF77DEF-D9D3-4202-97AD-7C896A4722A0}" type="presParOf" srcId="{F2318C3E-10F9-4BC8-99F4-A3AF8D1D7150}" destId="{92909CBE-D462-48CC-8FAE-E110ACF0631A}" srcOrd="3" destOrd="0" presId="urn:microsoft.com/office/officeart/2005/8/layout/default"/>
    <dgm:cxn modelId="{486DD68B-552C-4151-8A08-471009613C05}" type="presParOf" srcId="{F2318C3E-10F9-4BC8-99F4-A3AF8D1D7150}" destId="{D79E0748-81E0-4C07-A961-2B4358D62810}"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78C749C1-C883-4DFB-9C5B-4E3228FCEF81}">
      <dgm:prSet phldrT="[Text]" custT="1"/>
      <dgm:spPr>
        <a:solidFill>
          <a:srgbClr val="005BAA"/>
        </a:solidFill>
      </dgm:spPr>
      <dgm:t>
        <a:bodyPr/>
        <a:lstStyle/>
        <a:p>
          <a:pPr marL="571500" indent="-457200" algn="l"/>
          <a:r>
            <a:rPr lang="en-US" sz="2000" b="1" dirty="0">
              <a:latin typeface="Arial" panose="020B0604020202020204" pitchFamily="34" charset="0"/>
              <a:cs typeface="Arial" panose="020B0604020202020204" pitchFamily="34" charset="0"/>
            </a:rPr>
            <a:t>4. 	Direction, supervision and review</a:t>
          </a:r>
        </a:p>
      </dgm:t>
    </dgm:pt>
    <dgm:pt modelId="{C652904B-26BE-45F0-9E8B-D5236E1D1B4C}" type="parTrans" cxnId="{C1EA6960-D01B-4872-AF8D-E46506D1E362}">
      <dgm:prSet/>
      <dgm:spPr/>
      <dgm:t>
        <a:bodyPr/>
        <a:lstStyle/>
        <a:p>
          <a:endParaRPr lang="en-US"/>
        </a:p>
      </dgm:t>
    </dgm:pt>
    <dgm:pt modelId="{DC6BC910-A94E-4716-881B-63FEF61AA658}" type="sibTrans" cxnId="{C1EA6960-D01B-4872-AF8D-E46506D1E362}">
      <dgm:prSet/>
      <dgm:spPr/>
      <dgm:t>
        <a:bodyPr/>
        <a:lstStyle/>
        <a:p>
          <a:endParaRPr lang="en-US"/>
        </a:p>
      </dgm:t>
    </dgm:pt>
    <dgm:pt modelId="{4E57C338-51D3-4B1F-B4F8-9C66609F5D9E}">
      <dgm:prSet phldrT="[Text]" custT="1"/>
      <dgm:spPr>
        <a:solidFill>
          <a:srgbClr val="F15A22"/>
        </a:solidFill>
      </dgm:spPr>
      <dgm:t>
        <a:bodyPr/>
        <a:lstStyle/>
        <a:p>
          <a:pPr marL="571500" indent="-457200" algn="l"/>
          <a:r>
            <a:rPr lang="en-US" sz="2000" b="1" dirty="0">
              <a:latin typeface="Arial" panose="020B0604020202020204" pitchFamily="34" charset="0"/>
              <a:cs typeface="Arial" panose="020B0604020202020204" pitchFamily="34" charset="0"/>
            </a:rPr>
            <a:t>5. 	Ability to depend on a firm’s system of quality management</a:t>
          </a:r>
        </a:p>
      </dgm:t>
    </dgm:pt>
    <dgm:pt modelId="{ADC42DB5-B686-4B81-9DDE-65AA6D8D786E}" type="parTrans" cxnId="{BB8F9127-6199-4C01-BC50-348447405C04}">
      <dgm:prSet/>
      <dgm:spPr/>
      <dgm:t>
        <a:bodyPr/>
        <a:lstStyle/>
        <a:p>
          <a:endParaRPr lang="en-US"/>
        </a:p>
      </dgm:t>
    </dgm:pt>
    <dgm:pt modelId="{41425E7F-A94C-4EE9-8688-3D40A29C50CF}" type="sibTrans" cxnId="{BB8F9127-6199-4C01-BC50-348447405C04}">
      <dgm:prSet/>
      <dgm:spPr/>
      <dgm:t>
        <a:bodyPr/>
        <a:lstStyle/>
        <a:p>
          <a:endParaRPr lang="en-US"/>
        </a:p>
      </dgm:t>
    </dgm:pt>
    <dgm:pt modelId="{F2318C3E-10F9-4BC8-99F4-A3AF8D1D7150}" type="pres">
      <dgm:prSet presAssocID="{62E99C36-7D1C-4387-AF44-E7FCB3F4E37E}" presName="diagram" presStyleCnt="0">
        <dgm:presLayoutVars>
          <dgm:dir/>
          <dgm:resizeHandles val="exact"/>
        </dgm:presLayoutVars>
      </dgm:prSet>
      <dgm:spPr/>
    </dgm:pt>
    <dgm:pt modelId="{B1BD8CE7-C8A6-4C7C-8241-DCD3520C3BAF}" type="pres">
      <dgm:prSet presAssocID="{78C749C1-C883-4DFB-9C5B-4E3228FCEF81}" presName="node" presStyleLbl="node1" presStyleIdx="0" presStyleCnt="2" custScaleX="61768" custScaleY="102947" custLinFactNeighborX="4676" custLinFactNeighborY="555">
        <dgm:presLayoutVars>
          <dgm:bulletEnabled val="1"/>
        </dgm:presLayoutVars>
      </dgm:prSet>
      <dgm:spPr/>
    </dgm:pt>
    <dgm:pt modelId="{41EEBF90-6B61-4922-A150-77C658C44CA0}" type="pres">
      <dgm:prSet presAssocID="{DC6BC910-A94E-4716-881B-63FEF61AA658}" presName="sibTrans" presStyleCnt="0"/>
      <dgm:spPr/>
    </dgm:pt>
    <dgm:pt modelId="{E630A20F-770E-4E25-A30C-BB5415705EC8}" type="pres">
      <dgm:prSet presAssocID="{4E57C338-51D3-4B1F-B4F8-9C66609F5D9E}" presName="node" presStyleLbl="node1" presStyleIdx="1" presStyleCnt="2" custScaleX="60976" custScaleY="102947" custLinFactNeighborX="-718" custLinFactNeighborY="1002">
        <dgm:presLayoutVars>
          <dgm:bulletEnabled val="1"/>
        </dgm:presLayoutVars>
      </dgm:prSet>
      <dgm:spPr/>
    </dgm:pt>
  </dgm:ptLst>
  <dgm:cxnLst>
    <dgm:cxn modelId="{75622C04-480A-44DC-AF71-FE07A2C6FED9}" type="presOf" srcId="{4E57C338-51D3-4B1F-B4F8-9C66609F5D9E}" destId="{E630A20F-770E-4E25-A30C-BB5415705EC8}" srcOrd="0" destOrd="0" presId="urn:microsoft.com/office/officeart/2005/8/layout/default"/>
    <dgm:cxn modelId="{51B4E00C-0A62-46FC-8341-59DC5FCEE371}" type="presOf" srcId="{78C749C1-C883-4DFB-9C5B-4E3228FCEF81}" destId="{B1BD8CE7-C8A6-4C7C-8241-DCD3520C3BAF}" srcOrd="0" destOrd="0" presId="urn:microsoft.com/office/officeart/2005/8/layout/default"/>
    <dgm:cxn modelId="{BB8F9127-6199-4C01-BC50-348447405C04}" srcId="{62E99C36-7D1C-4387-AF44-E7FCB3F4E37E}" destId="{4E57C338-51D3-4B1F-B4F8-9C66609F5D9E}" srcOrd="1" destOrd="0" parTransId="{ADC42DB5-B686-4B81-9DDE-65AA6D8D786E}" sibTransId="{41425E7F-A94C-4EE9-8688-3D40A29C50CF}"/>
    <dgm:cxn modelId="{C1EA6960-D01B-4872-AF8D-E46506D1E362}" srcId="{62E99C36-7D1C-4387-AF44-E7FCB3F4E37E}" destId="{78C749C1-C883-4DFB-9C5B-4E3228FCEF81}" srcOrd="0" destOrd="0" parTransId="{C652904B-26BE-45F0-9E8B-D5236E1D1B4C}" sibTransId="{DC6BC910-A94E-4716-881B-63FEF61AA658}"/>
    <dgm:cxn modelId="{DEDD5951-B788-49F7-93C3-CD69455561CB}" type="presOf" srcId="{62E99C36-7D1C-4387-AF44-E7FCB3F4E37E}" destId="{F2318C3E-10F9-4BC8-99F4-A3AF8D1D7150}" srcOrd="0" destOrd="0" presId="urn:microsoft.com/office/officeart/2005/8/layout/default"/>
    <dgm:cxn modelId="{6754DF4E-E6DA-44B4-88B2-483D8A58B923}" type="presParOf" srcId="{F2318C3E-10F9-4BC8-99F4-A3AF8D1D7150}" destId="{B1BD8CE7-C8A6-4C7C-8241-DCD3520C3BAF}" srcOrd="0" destOrd="0" presId="urn:microsoft.com/office/officeart/2005/8/layout/default"/>
    <dgm:cxn modelId="{8B99F33E-E7F1-4754-AB57-B36184988CD5}" type="presParOf" srcId="{F2318C3E-10F9-4BC8-99F4-A3AF8D1D7150}" destId="{41EEBF90-6B61-4922-A150-77C658C44CA0}" srcOrd="1" destOrd="0" presId="urn:microsoft.com/office/officeart/2005/8/layout/default"/>
    <dgm:cxn modelId="{F5CD138D-0EDD-4E67-AF9E-C638B2DADC56}" type="presParOf" srcId="{F2318C3E-10F9-4BC8-99F4-A3AF8D1D7150}" destId="{E630A20F-770E-4E25-A30C-BB5415705EC8}"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BD8CE7-C8A6-4C7C-8241-DCD3520C3BAF}">
      <dsp:nvSpPr>
        <dsp:cNvPr id="0" name=""/>
        <dsp:cNvSpPr/>
      </dsp:nvSpPr>
      <dsp:spPr>
        <a:xfrm>
          <a:off x="195936" y="615031"/>
          <a:ext cx="2560308" cy="2560316"/>
        </a:xfrm>
        <a:prstGeom prst="rect">
          <a:avLst/>
        </a:prstGeom>
        <a:solidFill>
          <a:srgbClr val="005BA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571500" lvl="0" indent="-457200" algn="l" defTabSz="889000">
            <a:lnSpc>
              <a:spcPct val="90000"/>
            </a:lnSpc>
            <a:spcBef>
              <a:spcPct val="0"/>
            </a:spcBef>
            <a:spcAft>
              <a:spcPct val="35000"/>
            </a:spcAft>
            <a:buNone/>
          </a:pPr>
          <a:r>
            <a:rPr lang="en-US" sz="2000" b="1" kern="1200" dirty="0">
              <a:latin typeface="Arial" panose="020B0604020202020204" pitchFamily="34" charset="0"/>
              <a:cs typeface="Arial" panose="020B0604020202020204" pitchFamily="34" charset="0"/>
            </a:rPr>
            <a:t>1. 	Engagement partner’s responsibility for managing and achieving audit quality</a:t>
          </a:r>
        </a:p>
      </dsp:txBody>
      <dsp:txXfrm>
        <a:off x="195936" y="615031"/>
        <a:ext cx="2560308" cy="2560316"/>
      </dsp:txXfrm>
    </dsp:sp>
    <dsp:sp modelId="{E630A20F-770E-4E25-A30C-BB5415705EC8}">
      <dsp:nvSpPr>
        <dsp:cNvPr id="0" name=""/>
        <dsp:cNvSpPr/>
      </dsp:nvSpPr>
      <dsp:spPr>
        <a:xfrm>
          <a:off x="2947164" y="626148"/>
          <a:ext cx="2527479" cy="2560316"/>
        </a:xfrm>
        <a:prstGeom prst="rect">
          <a:avLst/>
        </a:prstGeom>
        <a:solidFill>
          <a:srgbClr val="F15A2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571500" lvl="0" indent="-457200" algn="l" defTabSz="889000">
            <a:lnSpc>
              <a:spcPct val="90000"/>
            </a:lnSpc>
            <a:spcBef>
              <a:spcPct val="0"/>
            </a:spcBef>
            <a:spcAft>
              <a:spcPct val="35000"/>
            </a:spcAft>
            <a:buNone/>
          </a:pPr>
          <a:r>
            <a:rPr lang="en-US" sz="2000" b="1" kern="1200" dirty="0">
              <a:latin typeface="Arial" panose="020B0604020202020204" pitchFamily="34" charset="0"/>
              <a:cs typeface="Arial" panose="020B0604020202020204" pitchFamily="34" charset="0"/>
            </a:rPr>
            <a:t>2. 	Engagement team definition</a:t>
          </a:r>
        </a:p>
      </dsp:txBody>
      <dsp:txXfrm>
        <a:off x="2947164" y="626148"/>
        <a:ext cx="2527479" cy="2560316"/>
      </dsp:txXfrm>
    </dsp:sp>
    <dsp:sp modelId="{D79E0748-81E0-4C07-A961-2B4358D62810}">
      <dsp:nvSpPr>
        <dsp:cNvPr id="0" name=""/>
        <dsp:cNvSpPr/>
      </dsp:nvSpPr>
      <dsp:spPr>
        <a:xfrm>
          <a:off x="5640031" y="624258"/>
          <a:ext cx="2568018" cy="2560316"/>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571500" lvl="0" indent="-457200" algn="l" defTabSz="889000">
            <a:lnSpc>
              <a:spcPct val="90000"/>
            </a:lnSpc>
            <a:spcBef>
              <a:spcPct val="0"/>
            </a:spcBef>
            <a:spcAft>
              <a:spcPct val="35000"/>
            </a:spcAft>
            <a:buNone/>
          </a:pPr>
          <a:r>
            <a:rPr lang="en-US" sz="2000" b="1" kern="1200" dirty="0">
              <a:latin typeface="Arial" panose="020B0604020202020204" pitchFamily="34" charset="0"/>
              <a:cs typeface="Arial" panose="020B0604020202020204" pitchFamily="34" charset="0"/>
            </a:rPr>
            <a:t>3.	 Scalability</a:t>
          </a:r>
        </a:p>
      </dsp:txBody>
      <dsp:txXfrm>
        <a:off x="5640031" y="624258"/>
        <a:ext cx="2568018" cy="25603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BD8CE7-C8A6-4C7C-8241-DCD3520C3BAF}">
      <dsp:nvSpPr>
        <dsp:cNvPr id="0" name=""/>
        <dsp:cNvSpPr/>
      </dsp:nvSpPr>
      <dsp:spPr>
        <a:xfrm>
          <a:off x="490369" y="4228"/>
          <a:ext cx="3758532" cy="3758544"/>
        </a:xfrm>
        <a:prstGeom prst="rect">
          <a:avLst/>
        </a:prstGeom>
        <a:solidFill>
          <a:srgbClr val="005BA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571500" lvl="0" indent="-457200" algn="l" defTabSz="889000">
            <a:lnSpc>
              <a:spcPct val="90000"/>
            </a:lnSpc>
            <a:spcBef>
              <a:spcPct val="0"/>
            </a:spcBef>
            <a:spcAft>
              <a:spcPct val="35000"/>
            </a:spcAft>
            <a:buNone/>
          </a:pPr>
          <a:r>
            <a:rPr lang="en-US" sz="2000" b="1" kern="1200" dirty="0">
              <a:latin typeface="Arial" panose="020B0604020202020204" pitchFamily="34" charset="0"/>
              <a:cs typeface="Arial" panose="020B0604020202020204" pitchFamily="34" charset="0"/>
            </a:rPr>
            <a:t>4. 	Direction, supervision and review</a:t>
          </a:r>
        </a:p>
      </dsp:txBody>
      <dsp:txXfrm>
        <a:off x="490369" y="4228"/>
        <a:ext cx="3758532" cy="3758544"/>
      </dsp:txXfrm>
    </dsp:sp>
    <dsp:sp modelId="{E630A20F-770E-4E25-A30C-BB5415705EC8}">
      <dsp:nvSpPr>
        <dsp:cNvPr id="0" name=""/>
        <dsp:cNvSpPr/>
      </dsp:nvSpPr>
      <dsp:spPr>
        <a:xfrm>
          <a:off x="4529173" y="4228"/>
          <a:ext cx="3710340" cy="3758544"/>
        </a:xfrm>
        <a:prstGeom prst="rect">
          <a:avLst/>
        </a:prstGeom>
        <a:solidFill>
          <a:srgbClr val="F15A2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571500" lvl="0" indent="-457200" algn="l" defTabSz="889000">
            <a:lnSpc>
              <a:spcPct val="90000"/>
            </a:lnSpc>
            <a:spcBef>
              <a:spcPct val="0"/>
            </a:spcBef>
            <a:spcAft>
              <a:spcPct val="35000"/>
            </a:spcAft>
            <a:buNone/>
          </a:pPr>
          <a:r>
            <a:rPr lang="en-US" sz="2000" b="1" kern="1200" dirty="0">
              <a:latin typeface="Arial" panose="020B0604020202020204" pitchFamily="34" charset="0"/>
              <a:cs typeface="Arial" panose="020B0604020202020204" pitchFamily="34" charset="0"/>
            </a:rPr>
            <a:t>5. 	Ability to depend on a firm’s system of quality management</a:t>
          </a:r>
        </a:p>
      </dsp:txBody>
      <dsp:txXfrm>
        <a:off x="4529173" y="4228"/>
        <a:ext cx="3710340" cy="375854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9/17/2019</a:t>
            </a:fld>
            <a:endParaRPr lang="en-US" dirty="0"/>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dirty="0"/>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9/17/2019</a:t>
            </a:fld>
            <a:endParaRPr lang="en-US" dirty="0"/>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dirty="0"/>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dirty="0"/>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1</a:t>
            </a:fld>
            <a:endParaRPr lang="en-US" dirty="0"/>
          </a:p>
        </p:txBody>
      </p:sp>
    </p:spTree>
    <p:extLst>
      <p:ext uri="{BB962C8B-B14F-4D97-AF65-F5344CB8AC3E}">
        <p14:creationId xmlns:p14="http://schemas.microsoft.com/office/powerpoint/2010/main" val="3815391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2</a:t>
            </a:fld>
            <a:endParaRPr lang="en-US" dirty="0"/>
          </a:p>
        </p:txBody>
      </p:sp>
    </p:spTree>
    <p:extLst>
      <p:ext uri="{BB962C8B-B14F-4D97-AF65-F5344CB8AC3E}">
        <p14:creationId xmlns:p14="http://schemas.microsoft.com/office/powerpoint/2010/main" val="275304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2" indent="0" algn="l" defTabSz="342900" rtl="0" eaLnBrk="1" latinLnBrk="0" hangingPunct="1">
              <a:buFont typeface="Courier New" panose="02070309020205020404" pitchFamily="49" charset="0"/>
              <a:buNone/>
            </a:pP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3</a:t>
            </a:fld>
            <a:endParaRPr lang="en-US" dirty="0"/>
          </a:p>
        </p:txBody>
      </p:sp>
    </p:spTree>
    <p:extLst>
      <p:ext uri="{BB962C8B-B14F-4D97-AF65-F5344CB8AC3E}">
        <p14:creationId xmlns:p14="http://schemas.microsoft.com/office/powerpoint/2010/main" val="1350307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4</a:t>
            </a:fld>
            <a:endParaRPr lang="en-US" dirty="0"/>
          </a:p>
        </p:txBody>
      </p:sp>
    </p:spTree>
    <p:extLst>
      <p:ext uri="{BB962C8B-B14F-4D97-AF65-F5344CB8AC3E}">
        <p14:creationId xmlns:p14="http://schemas.microsoft.com/office/powerpoint/2010/main" val="1714656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875" y="4262511"/>
            <a:ext cx="6156325" cy="4510157"/>
          </a:xfrm>
        </p:spPr>
        <p:txBody>
          <a:bodyPr>
            <a:noAutofit/>
          </a:bodyPr>
          <a:lstStyle/>
          <a:p>
            <a:pPr marL="0" indent="0">
              <a:buFont typeface="Arial" panose="020B0604020202020204" pitchFamily="34" charset="0"/>
              <a:buNone/>
            </a:pPr>
            <a:endParaRPr lang="en-US" sz="1200" dirty="0"/>
          </a:p>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5</a:t>
            </a:fld>
            <a:endParaRPr lang="en-US" dirty="0"/>
          </a:p>
        </p:txBody>
      </p:sp>
    </p:spTree>
    <p:extLst>
      <p:ext uri="{BB962C8B-B14F-4D97-AF65-F5344CB8AC3E}">
        <p14:creationId xmlns:p14="http://schemas.microsoft.com/office/powerpoint/2010/main" val="108541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6</a:t>
            </a:fld>
            <a:endParaRPr lang="en-US" dirty="0"/>
          </a:p>
        </p:txBody>
      </p:sp>
    </p:spTree>
    <p:extLst>
      <p:ext uri="{BB962C8B-B14F-4D97-AF65-F5344CB8AC3E}">
        <p14:creationId xmlns:p14="http://schemas.microsoft.com/office/powerpoint/2010/main" val="3008244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2300" b="0" kern="1200" dirty="0">
              <a:solidFill>
                <a:schemeClr val="bg1"/>
              </a:solidFill>
              <a:latin typeface="Arial" panose="020B0604020202020204" pitchFamily="34" charset="0"/>
              <a:ea typeface="+mj-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7</a:t>
            </a:fld>
            <a:endParaRPr lang="en-US" dirty="0"/>
          </a:p>
        </p:txBody>
      </p:sp>
    </p:spTree>
    <p:extLst>
      <p:ext uri="{BB962C8B-B14F-4D97-AF65-F5344CB8AC3E}">
        <p14:creationId xmlns:p14="http://schemas.microsoft.com/office/powerpoint/2010/main" val="3559584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8</a:t>
            </a:fld>
            <a:endParaRPr lang="en-US" dirty="0"/>
          </a:p>
        </p:txBody>
      </p:sp>
    </p:spTree>
    <p:extLst>
      <p:ext uri="{BB962C8B-B14F-4D97-AF65-F5344CB8AC3E}">
        <p14:creationId xmlns:p14="http://schemas.microsoft.com/office/powerpoint/2010/main" val="5298694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9</a:t>
            </a:fld>
            <a:endParaRPr lang="en-US" dirty="0"/>
          </a:p>
        </p:txBody>
      </p:sp>
    </p:spTree>
    <p:extLst>
      <p:ext uri="{BB962C8B-B14F-4D97-AF65-F5344CB8AC3E}">
        <p14:creationId xmlns:p14="http://schemas.microsoft.com/office/powerpoint/2010/main" val="41210447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10</a:t>
            </a:fld>
            <a:endParaRPr lang="en-US" dirty="0"/>
          </a:p>
        </p:txBody>
      </p:sp>
    </p:spTree>
    <p:extLst>
      <p:ext uri="{BB962C8B-B14F-4D97-AF65-F5344CB8AC3E}">
        <p14:creationId xmlns:p14="http://schemas.microsoft.com/office/powerpoint/2010/main" val="2930935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11</a:t>
            </a:fld>
            <a:endParaRPr lang="en-US" dirty="0"/>
          </a:p>
        </p:txBody>
      </p:sp>
    </p:spTree>
    <p:extLst>
      <p:ext uri="{BB962C8B-B14F-4D97-AF65-F5344CB8AC3E}">
        <p14:creationId xmlns:p14="http://schemas.microsoft.com/office/powerpoint/2010/main" val="1320658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b="0" dirty="0"/>
          </a:p>
        </p:txBody>
      </p:sp>
      <p:sp>
        <p:nvSpPr>
          <p:cNvPr id="4" name="Slide Number Placeholder 3"/>
          <p:cNvSpPr>
            <a:spLocks noGrp="1"/>
          </p:cNvSpPr>
          <p:nvPr>
            <p:ph type="sldNum" sz="quarter" idx="5"/>
          </p:nvPr>
        </p:nvSpPr>
        <p:spPr/>
        <p:txBody>
          <a:bodyPr/>
          <a:lstStyle/>
          <a:p>
            <a:fld id="{4D410189-AC31-7546-878A-F48FDE4A29F5}" type="slidenum">
              <a:rPr lang="en-US" smtClean="0"/>
              <a:t>12</a:t>
            </a:fld>
            <a:endParaRPr lang="en-US" dirty="0"/>
          </a:p>
        </p:txBody>
      </p:sp>
    </p:spTree>
    <p:extLst>
      <p:ext uri="{BB962C8B-B14F-4D97-AF65-F5344CB8AC3E}">
        <p14:creationId xmlns:p14="http://schemas.microsoft.com/office/powerpoint/2010/main" val="4240874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13</a:t>
            </a:fld>
            <a:endParaRPr lang="en-US" dirty="0"/>
          </a:p>
        </p:txBody>
      </p:sp>
    </p:spTree>
    <p:extLst>
      <p:ext uri="{BB962C8B-B14F-4D97-AF65-F5344CB8AC3E}">
        <p14:creationId xmlns:p14="http://schemas.microsoft.com/office/powerpoint/2010/main" val="12979603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defTabSz="342900" rtl="0" eaLnBrk="1" latinLnBrk="0" hangingPunct="1">
              <a:buFont typeface="Arial" panose="020B0604020202020204" pitchFamily="34" charset="0"/>
              <a:buNone/>
            </a:pPr>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14</a:t>
            </a:fld>
            <a:endParaRPr lang="en-US" dirty="0"/>
          </a:p>
        </p:txBody>
      </p:sp>
    </p:spTree>
    <p:extLst>
      <p:ext uri="{BB962C8B-B14F-4D97-AF65-F5344CB8AC3E}">
        <p14:creationId xmlns:p14="http://schemas.microsoft.com/office/powerpoint/2010/main" val="1614817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2" indent="0" algn="l" defTabSz="342900" rtl="0" eaLnBrk="1" latinLnBrk="0" hangingPunct="1">
              <a:buFont typeface="Courier New" panose="02070309020205020404" pitchFamily="49" charset="0"/>
              <a:buNone/>
            </a:pP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15</a:t>
            </a:fld>
            <a:endParaRPr lang="en-US" dirty="0"/>
          </a:p>
        </p:txBody>
      </p:sp>
    </p:spTree>
    <p:extLst>
      <p:ext uri="{BB962C8B-B14F-4D97-AF65-F5344CB8AC3E}">
        <p14:creationId xmlns:p14="http://schemas.microsoft.com/office/powerpoint/2010/main" val="1284209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indent="0" algn="l" defTabSz="342900" rtl="0" eaLnBrk="1" latinLnBrk="0" hangingPunct="1">
              <a:buFont typeface="Arial" panose="020B0604020202020204" pitchFamily="34" charset="0"/>
              <a:buNone/>
            </a:pPr>
            <a:endParaRPr lang="en-US" sz="12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16</a:t>
            </a:fld>
            <a:endParaRPr lang="en-US" dirty="0"/>
          </a:p>
        </p:txBody>
      </p:sp>
    </p:spTree>
    <p:extLst>
      <p:ext uri="{BB962C8B-B14F-4D97-AF65-F5344CB8AC3E}">
        <p14:creationId xmlns:p14="http://schemas.microsoft.com/office/powerpoint/2010/main" val="33448501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17</a:t>
            </a:fld>
            <a:endParaRPr lang="en-US" dirty="0"/>
          </a:p>
        </p:txBody>
      </p:sp>
    </p:spTree>
    <p:extLst>
      <p:ext uri="{BB962C8B-B14F-4D97-AF65-F5344CB8AC3E}">
        <p14:creationId xmlns:p14="http://schemas.microsoft.com/office/powerpoint/2010/main" val="24841851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18</a:t>
            </a:fld>
            <a:endParaRPr lang="en-US" dirty="0"/>
          </a:p>
        </p:txBody>
      </p:sp>
    </p:spTree>
    <p:extLst>
      <p:ext uri="{BB962C8B-B14F-4D97-AF65-F5344CB8AC3E}">
        <p14:creationId xmlns:p14="http://schemas.microsoft.com/office/powerpoint/2010/main" val="3111967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19</a:t>
            </a:fld>
            <a:endParaRPr lang="en-US" dirty="0"/>
          </a:p>
        </p:txBody>
      </p:sp>
    </p:spTree>
    <p:extLst>
      <p:ext uri="{BB962C8B-B14F-4D97-AF65-F5344CB8AC3E}">
        <p14:creationId xmlns:p14="http://schemas.microsoft.com/office/powerpoint/2010/main" val="8621404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600" b="0" kern="1200" dirty="0">
              <a:solidFill>
                <a:schemeClr val="lt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20</a:t>
            </a:fld>
            <a:endParaRPr lang="en-US" dirty="0"/>
          </a:p>
        </p:txBody>
      </p:sp>
    </p:spTree>
    <p:extLst>
      <p:ext uri="{BB962C8B-B14F-4D97-AF65-F5344CB8AC3E}">
        <p14:creationId xmlns:p14="http://schemas.microsoft.com/office/powerpoint/2010/main" val="9854384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b="0" kern="1200" dirty="0">
              <a:solidFill>
                <a:schemeClr val="lt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21</a:t>
            </a:fld>
            <a:endParaRPr lang="en-US" dirty="0"/>
          </a:p>
        </p:txBody>
      </p:sp>
    </p:spTree>
    <p:extLst>
      <p:ext uri="{BB962C8B-B14F-4D97-AF65-F5344CB8AC3E}">
        <p14:creationId xmlns:p14="http://schemas.microsoft.com/office/powerpoint/2010/main" val="19887608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875" y="4262511"/>
            <a:ext cx="6156325" cy="4510157"/>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22</a:t>
            </a:fld>
            <a:endParaRPr lang="en-US" dirty="0"/>
          </a:p>
        </p:txBody>
      </p:sp>
    </p:spTree>
    <p:extLst>
      <p:ext uri="{BB962C8B-B14F-4D97-AF65-F5344CB8AC3E}">
        <p14:creationId xmlns:p14="http://schemas.microsoft.com/office/powerpoint/2010/main" val="39479515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23</a:t>
            </a:fld>
            <a:endParaRPr lang="en-US" dirty="0"/>
          </a:p>
        </p:txBody>
      </p:sp>
    </p:spTree>
    <p:extLst>
      <p:ext uri="{BB962C8B-B14F-4D97-AF65-F5344CB8AC3E}">
        <p14:creationId xmlns:p14="http://schemas.microsoft.com/office/powerpoint/2010/main" val="4464599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600" b="0" kern="1200" dirty="0">
              <a:solidFill>
                <a:schemeClr val="lt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24</a:t>
            </a:fld>
            <a:endParaRPr lang="en-US" dirty="0"/>
          </a:p>
        </p:txBody>
      </p:sp>
    </p:spTree>
    <p:extLst>
      <p:ext uri="{BB962C8B-B14F-4D97-AF65-F5344CB8AC3E}">
        <p14:creationId xmlns:p14="http://schemas.microsoft.com/office/powerpoint/2010/main" val="42293025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600" b="0" kern="1200" dirty="0">
              <a:solidFill>
                <a:schemeClr val="lt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25</a:t>
            </a:fld>
            <a:endParaRPr lang="en-US" dirty="0"/>
          </a:p>
        </p:txBody>
      </p:sp>
    </p:spTree>
    <p:extLst>
      <p:ext uri="{BB962C8B-B14F-4D97-AF65-F5344CB8AC3E}">
        <p14:creationId xmlns:p14="http://schemas.microsoft.com/office/powerpoint/2010/main" val="12480664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b="0" dirty="0"/>
          </a:p>
        </p:txBody>
      </p:sp>
      <p:sp>
        <p:nvSpPr>
          <p:cNvPr id="4" name="Slide Number Placeholder 3"/>
          <p:cNvSpPr>
            <a:spLocks noGrp="1"/>
          </p:cNvSpPr>
          <p:nvPr>
            <p:ph type="sldNum" sz="quarter" idx="5"/>
          </p:nvPr>
        </p:nvSpPr>
        <p:spPr/>
        <p:txBody>
          <a:bodyPr/>
          <a:lstStyle/>
          <a:p>
            <a:fld id="{4D410189-AC31-7546-878A-F48FDE4A29F5}" type="slidenum">
              <a:rPr lang="en-US" smtClean="0"/>
              <a:t>26</a:t>
            </a:fld>
            <a:endParaRPr lang="en-US" dirty="0"/>
          </a:p>
        </p:txBody>
      </p:sp>
    </p:spTree>
    <p:extLst>
      <p:ext uri="{BB962C8B-B14F-4D97-AF65-F5344CB8AC3E}">
        <p14:creationId xmlns:p14="http://schemas.microsoft.com/office/powerpoint/2010/main" val="27013496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27</a:t>
            </a:fld>
            <a:endParaRPr lang="en-US" dirty="0"/>
          </a:p>
        </p:txBody>
      </p:sp>
    </p:spTree>
    <p:extLst>
      <p:ext uri="{BB962C8B-B14F-4D97-AF65-F5344CB8AC3E}">
        <p14:creationId xmlns:p14="http://schemas.microsoft.com/office/powerpoint/2010/main" val="26891634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600" b="0" kern="1200" dirty="0">
              <a:solidFill>
                <a:schemeClr val="lt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28</a:t>
            </a:fld>
            <a:endParaRPr lang="en-US" dirty="0"/>
          </a:p>
        </p:txBody>
      </p:sp>
    </p:spTree>
    <p:extLst>
      <p:ext uri="{BB962C8B-B14F-4D97-AF65-F5344CB8AC3E}">
        <p14:creationId xmlns:p14="http://schemas.microsoft.com/office/powerpoint/2010/main" val="19110143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b="0" kern="1200" dirty="0">
              <a:solidFill>
                <a:schemeClr val="lt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29</a:t>
            </a:fld>
            <a:endParaRPr lang="en-US" dirty="0"/>
          </a:p>
        </p:txBody>
      </p:sp>
    </p:spTree>
    <p:extLst>
      <p:ext uri="{BB962C8B-B14F-4D97-AF65-F5344CB8AC3E}">
        <p14:creationId xmlns:p14="http://schemas.microsoft.com/office/powerpoint/2010/main" val="4264853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p>
          <a:p>
            <a:endParaRPr lang="en-US" sz="1200" dirty="0"/>
          </a:p>
          <a:p>
            <a:endParaRPr lang="en-US" sz="1200" dirty="0"/>
          </a:p>
        </p:txBody>
      </p:sp>
      <p:sp>
        <p:nvSpPr>
          <p:cNvPr id="4" name="Slide Number Placeholder 3"/>
          <p:cNvSpPr>
            <a:spLocks noGrp="1"/>
          </p:cNvSpPr>
          <p:nvPr>
            <p:ph type="sldNum" sz="quarter" idx="10"/>
          </p:nvPr>
        </p:nvSpPr>
        <p:spPr/>
        <p:txBody>
          <a:bodyPr/>
          <a:lstStyle/>
          <a:p>
            <a:fld id="{4D410189-AC31-7546-878A-F48FDE4A29F5}" type="slidenum">
              <a:rPr lang="en-US" smtClean="0"/>
              <a:t>30</a:t>
            </a:fld>
            <a:endParaRPr lang="en-US" dirty="0"/>
          </a:p>
        </p:txBody>
      </p:sp>
    </p:spTree>
    <p:extLst>
      <p:ext uri="{BB962C8B-B14F-4D97-AF65-F5344CB8AC3E}">
        <p14:creationId xmlns:p14="http://schemas.microsoft.com/office/powerpoint/2010/main" val="34627231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31</a:t>
            </a:fld>
            <a:endParaRPr lang="en-US" dirty="0"/>
          </a:p>
        </p:txBody>
      </p:sp>
      <p:sp>
        <p:nvSpPr>
          <p:cNvPr id="5" name="Date Placeholder 4"/>
          <p:cNvSpPr>
            <a:spLocks noGrp="1"/>
          </p:cNvSpPr>
          <p:nvPr>
            <p:ph type="dt" idx="11"/>
          </p:nvPr>
        </p:nvSpPr>
        <p:spPr/>
        <p:txBody>
          <a:bodyPr/>
          <a:lstStyle/>
          <a:p>
            <a:pPr>
              <a:defRPr/>
            </a:pPr>
            <a:r>
              <a:rPr lang="en-US" dirty="0"/>
              <a:t>March 2014</a:t>
            </a:r>
          </a:p>
        </p:txBody>
      </p:sp>
      <p:sp>
        <p:nvSpPr>
          <p:cNvPr id="6" name="Header Placeholder 5"/>
          <p:cNvSpPr>
            <a:spLocks noGrp="1"/>
          </p:cNvSpPr>
          <p:nvPr>
            <p:ph type="hdr" sz="quarter" idx="12"/>
          </p:nvPr>
        </p:nvSpPr>
        <p:spPr/>
        <p:txBody>
          <a:bodyPr/>
          <a:lstStyle/>
          <a:p>
            <a:pPr>
              <a:defRPr/>
            </a:pPr>
            <a:r>
              <a:rPr lang="en-US" dirty="0"/>
              <a:t>IAASB Agenda Item 6</a:t>
            </a:r>
          </a:p>
        </p:txBody>
      </p:sp>
    </p:spTree>
    <p:extLst>
      <p:ext uri="{BB962C8B-B14F-4D97-AF65-F5344CB8AC3E}">
        <p14:creationId xmlns:p14="http://schemas.microsoft.com/office/powerpoint/2010/main" val="19337556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www.iaasb.org/" TargetMode="External"/><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mailto:permissions@ifac.org" TargetMode="External"/><Relationship Id="rId5" Type="http://schemas.openxmlformats.org/officeDocument/2006/relationships/image" Target="../media/image8.png"/><Relationship Id="rId10" Type="http://schemas.openxmlformats.org/officeDocument/2006/relationships/hyperlink" Target="http://www.ifac.org/about-ifac/translations-permissions" TargetMode="External"/><Relationship Id="rId4" Type="http://schemas.openxmlformats.org/officeDocument/2006/relationships/image" Target="../media/image7.png"/><Relationship Id="rId9"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l="-76"/>
          <a:stretch/>
        </p:blipFill>
        <p:spPr>
          <a:xfrm>
            <a:off x="-12701" y="-26572"/>
            <a:ext cx="9156701" cy="2405255"/>
          </a:xfrm>
          <a:prstGeom prst="rect">
            <a:avLst/>
          </a:prstGeom>
        </p:spPr>
      </p:pic>
    </p:spTree>
    <p:extLst>
      <p:ext uri="{BB962C8B-B14F-4D97-AF65-F5344CB8AC3E}">
        <p14:creationId xmlns:p14="http://schemas.microsoft.com/office/powerpoint/2010/main" val="579527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r>
              <a:rPr lang="en-US" dirty="0">
                <a:latin typeface="Arial" panose="020B0604020202020204" pitchFamily="34" charset="0"/>
                <a:cs typeface="MS PGothic" charset="0"/>
              </a:rPr>
              <a:t>  |  Confidential and Proprietary Information</a:t>
            </a:r>
          </a:p>
        </p:txBody>
      </p:sp>
    </p:spTree>
    <p:extLst>
      <p:ext uri="{BB962C8B-B14F-4D97-AF65-F5344CB8AC3E}">
        <p14:creationId xmlns:p14="http://schemas.microsoft.com/office/powerpoint/2010/main" val="2576669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193993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83130"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149166"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74878"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940914"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406950"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872984"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143500"/>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2" name="Rectangle 5"/>
          <p:cNvSpPr>
            <a:spLocks noChangeArrowheads="1"/>
          </p:cNvSpPr>
          <p:nvPr userDrawn="1"/>
        </p:nvSpPr>
        <p:spPr bwMode="auto">
          <a:xfrm>
            <a:off x="0" y="1198961"/>
            <a:ext cx="9144000" cy="3950208"/>
          </a:xfrm>
          <a:prstGeom prst="rect">
            <a:avLst/>
          </a:prstGeom>
          <a:gradFill rotWithShape="0">
            <a:gsLst>
              <a:gs pos="0">
                <a:srgbClr val="18276E"/>
              </a:gs>
              <a:gs pos="100000">
                <a:srgbClr val="0092D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dirty="0"/>
          </a:p>
        </p:txBody>
      </p:sp>
      <p:pic>
        <p:nvPicPr>
          <p:cNvPr id="13" name="Picture 6" descr="Ribbon_orange_1.25in_width.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14600" y="1198961"/>
            <a:ext cx="6629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267200" y="1398986"/>
            <a:ext cx="4648200" cy="742950"/>
          </a:xfrm>
        </p:spPr>
        <p:txBody>
          <a:bodyPr anchor="ctr"/>
          <a:lstStyle/>
          <a:p>
            <a:r>
              <a:rPr lang="en-US"/>
              <a:t>Click to edit Master title style</a:t>
            </a:r>
            <a:endParaRPr lang="en-US" dirty="0"/>
          </a:p>
        </p:txBody>
      </p:sp>
      <p:sp>
        <p:nvSpPr>
          <p:cNvPr id="8" name="Subtitle 2"/>
          <p:cNvSpPr>
            <a:spLocks noGrp="1"/>
          </p:cNvSpPr>
          <p:nvPr>
            <p:ph type="subTitle" idx="1"/>
          </p:nvPr>
        </p:nvSpPr>
        <p:spPr>
          <a:xfrm>
            <a:off x="4267200" y="2484835"/>
            <a:ext cx="3060700" cy="131445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14185" y="384188"/>
            <a:ext cx="2056917" cy="600560"/>
          </a:xfrm>
          <a:prstGeom prst="rect">
            <a:avLst/>
          </a:prstGeom>
        </p:spPr>
      </p:pic>
    </p:spTree>
    <p:extLst>
      <p:ext uri="{BB962C8B-B14F-4D97-AF65-F5344CB8AC3E}">
        <p14:creationId xmlns:p14="http://schemas.microsoft.com/office/powerpoint/2010/main" val="3877791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016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61"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62" r:id="rId12"/>
    <p:sldLayoutId id="2147483663" r:id="rId13"/>
  </p:sldLayoutIdLst>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5.xml"/><Relationship Id="rId7" Type="http://schemas.openxmlformats.org/officeDocument/2006/relationships/diagramColors" Target="../diagrams/colors1.xml"/><Relationship Id="rId2" Type="http://schemas.openxmlformats.org/officeDocument/2006/relationships/slideLayout" Target="../slideLayouts/slideLayout5.xml"/><Relationship Id="rId1" Type="http://schemas.openxmlformats.org/officeDocument/2006/relationships/themeOverride" Target="../theme/themeOverride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ctrTitle"/>
          </p:nvPr>
        </p:nvSpPr>
        <p:spPr>
          <a:xfrm>
            <a:off x="685800" y="2568724"/>
            <a:ext cx="7893383" cy="867000"/>
          </a:xfrm>
        </p:spPr>
        <p:txBody>
          <a:bodyPr>
            <a:normAutofit/>
          </a:bodyPr>
          <a:lstStyle/>
          <a:p>
            <a:r>
              <a:rPr lang="en-US" sz="2800" b="1" dirty="0"/>
              <a:t>Proposed ISA 220, </a:t>
            </a:r>
            <a:r>
              <a:rPr lang="en-US" sz="2800" b="1" i="1" dirty="0"/>
              <a:t>Quality Management for an Audit of Financial Statements </a:t>
            </a:r>
            <a:r>
              <a:rPr lang="en-US" sz="2800" b="1" dirty="0"/>
              <a:t>(ED-220)</a:t>
            </a:r>
          </a:p>
        </p:txBody>
      </p:sp>
      <p:sp>
        <p:nvSpPr>
          <p:cNvPr id="3" name="Subtitle 2"/>
          <p:cNvSpPr>
            <a:spLocks noGrp="1"/>
          </p:cNvSpPr>
          <p:nvPr>
            <p:ph type="subTitle" idx="1"/>
          </p:nvPr>
        </p:nvSpPr>
        <p:spPr>
          <a:xfrm>
            <a:off x="685801" y="3576918"/>
            <a:ext cx="5123328" cy="1238475"/>
          </a:xfrm>
        </p:spPr>
        <p:txBody>
          <a:bodyPr/>
          <a:lstStyle/>
          <a:p>
            <a:pPr>
              <a:spcBef>
                <a:spcPts val="600"/>
              </a:spcBef>
            </a:pPr>
            <a:r>
              <a:rPr lang="en-US" sz="1600" b="1" dirty="0"/>
              <a:t>Lyn Provost, IAASB Member and Task Force Chair</a:t>
            </a:r>
          </a:p>
          <a:p>
            <a:pPr>
              <a:spcBef>
                <a:spcPts val="600"/>
              </a:spcBef>
            </a:pPr>
            <a:r>
              <a:rPr lang="en-US" sz="1600" b="1" dirty="0"/>
              <a:t>IAASB Meeting</a:t>
            </a:r>
          </a:p>
          <a:p>
            <a:pPr>
              <a:spcBef>
                <a:spcPts val="600"/>
              </a:spcBef>
            </a:pPr>
            <a:r>
              <a:rPr lang="en-US" sz="1600" b="1" dirty="0"/>
              <a:t>September 18, 2019</a:t>
            </a:r>
          </a:p>
          <a:p>
            <a:pPr>
              <a:spcBef>
                <a:spcPts val="600"/>
              </a:spcBef>
            </a:pPr>
            <a:r>
              <a:rPr lang="en-US" sz="1600" b="1" dirty="0"/>
              <a:t>Agenda Item 8</a:t>
            </a:r>
          </a:p>
        </p:txBody>
      </p:sp>
    </p:spTree>
    <p:extLst>
      <p:ext uri="{BB962C8B-B14F-4D97-AF65-F5344CB8AC3E}">
        <p14:creationId xmlns:p14="http://schemas.microsoft.com/office/powerpoint/2010/main" val="3497635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498343" y="1054122"/>
            <a:ext cx="5188457" cy="2369880"/>
          </a:xfrm>
          <a:prstGeom prst="rect">
            <a:avLst/>
          </a:prstGeom>
          <a:noFill/>
        </p:spPr>
        <p:txBody>
          <a:bodyPr wrap="square" rtlCol="0">
            <a:spAutoFit/>
          </a:bodyPr>
          <a:lstStyle/>
          <a:p>
            <a:pPr algn="just">
              <a:spcBef>
                <a:spcPts val="600"/>
              </a:spcBef>
            </a:pPr>
            <a:endParaRPr lang="en-CA" sz="240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gn="just">
              <a:spcBef>
                <a:spcPts val="600"/>
              </a:spcBef>
              <a:buFont typeface="Arial" panose="020B0604020202020204" pitchFamily="34" charset="0"/>
              <a:buChar char="•"/>
            </a:pPr>
            <a:r>
              <a:rPr lang="en-CA" sz="2400" dirty="0">
                <a:solidFill>
                  <a:schemeClr val="tx1">
                    <a:lumMod val="65000"/>
                    <a:lumOff val="35000"/>
                  </a:schemeClr>
                </a:solidFill>
                <a:latin typeface="Arial" panose="020B0604020202020204" pitchFamily="34" charset="0"/>
                <a:cs typeface="Arial" panose="020B0604020202020204" pitchFamily="34" charset="0"/>
              </a:rPr>
              <a:t>Objectives of this session are to:</a:t>
            </a:r>
          </a:p>
          <a:p>
            <a:pPr marL="685800" lvl="1" indent="-342900" algn="just">
              <a:spcBef>
                <a:spcPts val="600"/>
              </a:spcBef>
              <a:buFont typeface="Arial" panose="020B0604020202020204" pitchFamily="34" charset="0"/>
              <a:buChar char="̶"/>
            </a:pPr>
            <a:r>
              <a:rPr lang="en-CA" sz="2000" dirty="0">
                <a:solidFill>
                  <a:schemeClr val="tx1">
                    <a:lumMod val="65000"/>
                    <a:lumOff val="35000"/>
                  </a:schemeClr>
                </a:solidFill>
                <a:latin typeface="Arial" panose="020B0604020202020204" pitchFamily="34" charset="0"/>
                <a:cs typeface="Arial" panose="020B0604020202020204" pitchFamily="34" charset="0"/>
              </a:rPr>
              <a:t>Provide an overview of the feedback received on ED-220</a:t>
            </a:r>
          </a:p>
          <a:p>
            <a:pPr marL="685800" lvl="1" indent="-342900" algn="just">
              <a:spcBef>
                <a:spcPts val="600"/>
              </a:spcBef>
              <a:buFont typeface="Arial" panose="020B0604020202020204" pitchFamily="34" charset="0"/>
              <a:buChar char="̶"/>
            </a:pPr>
            <a:r>
              <a:rPr lang="en-CA" sz="2000" dirty="0">
                <a:solidFill>
                  <a:schemeClr val="tx1">
                    <a:lumMod val="65000"/>
                    <a:lumOff val="35000"/>
                  </a:schemeClr>
                </a:solidFill>
                <a:latin typeface="Arial" panose="020B0604020202020204" pitchFamily="34" charset="0"/>
                <a:cs typeface="Arial" panose="020B0604020202020204" pitchFamily="34" charset="0"/>
              </a:rPr>
              <a:t>Obtain views on three key issues</a:t>
            </a:r>
          </a:p>
          <a:p>
            <a:pPr marL="685800" lvl="1" indent="-342900" algn="just">
              <a:spcBef>
                <a:spcPts val="600"/>
              </a:spcBef>
              <a:buFont typeface="Arial" panose="020B0604020202020204" pitchFamily="34" charset="0"/>
              <a:buChar char="̶"/>
            </a:pPr>
            <a:r>
              <a:rPr lang="en-CA" sz="2000" dirty="0">
                <a:solidFill>
                  <a:schemeClr val="tx1">
                    <a:lumMod val="65000"/>
                    <a:lumOff val="35000"/>
                  </a:schemeClr>
                </a:solidFill>
                <a:latin typeface="Arial" panose="020B0604020202020204" pitchFamily="34" charset="0"/>
                <a:cs typeface="Arial" panose="020B0604020202020204" pitchFamily="34" charset="0"/>
              </a:rPr>
              <a:t>And potentially two other issues</a:t>
            </a: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Introduction</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2</a:t>
            </a:fld>
            <a:r>
              <a:rPr lang="en-US" sz="675" dirty="0">
                <a:solidFill>
                  <a:srgbClr val="808080"/>
                </a:solidFill>
                <a:latin typeface="Arial" panose="020B0604020202020204" pitchFamily="34" charset="0"/>
              </a:rPr>
              <a:t>  |</a:t>
            </a:r>
          </a:p>
        </p:txBody>
      </p:sp>
      <p:pic>
        <p:nvPicPr>
          <p:cNvPr id="1028" name="Picture 4" descr="https://www.ifac.org/phpthumb/phpThumb.php?src=/sites/default/files/publications/files/iaasb-proposed-isa-220-revised-explanatory-memorandum.jpg&amp;w=430&amp;h=554&amp;zc=T&amp;q=100">
            <a:extLst>
              <a:ext uri="{FF2B5EF4-FFF2-40B4-BE49-F238E27FC236}">
                <a16:creationId xmlns:a16="http://schemas.microsoft.com/office/drawing/2014/main" id="{F7D80EF4-24EE-4AC4-AE39-80E49EDBD8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812" y="892820"/>
            <a:ext cx="2546495" cy="3884751"/>
          </a:xfrm>
          <a:prstGeom prst="rect">
            <a:avLst/>
          </a:prstGeom>
          <a:ln w="3175">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6503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089" y="1271200"/>
            <a:ext cx="4325017" cy="3276600"/>
          </a:xfrm>
          <a:prstGeom prst="rect">
            <a:avLst/>
          </a:prstGeom>
        </p:spPr>
      </p:pic>
      <p:sp>
        <p:nvSpPr>
          <p:cNvPr id="3" name="TextBox 2"/>
          <p:cNvSpPr txBox="1"/>
          <p:nvPr/>
        </p:nvSpPr>
        <p:spPr>
          <a:xfrm>
            <a:off x="2232213" y="2508493"/>
            <a:ext cx="1295400" cy="276999"/>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Europe: 26</a:t>
            </a:r>
          </a:p>
        </p:txBody>
      </p:sp>
      <p:sp>
        <p:nvSpPr>
          <p:cNvPr id="6" name="TextBox 5"/>
          <p:cNvSpPr txBox="1"/>
          <p:nvPr/>
        </p:nvSpPr>
        <p:spPr>
          <a:xfrm>
            <a:off x="287545" y="2601723"/>
            <a:ext cx="1588320" cy="276999"/>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North America: 17</a:t>
            </a:r>
          </a:p>
        </p:txBody>
      </p:sp>
      <p:sp>
        <p:nvSpPr>
          <p:cNvPr id="8" name="TextBox 7"/>
          <p:cNvSpPr txBox="1"/>
          <p:nvPr/>
        </p:nvSpPr>
        <p:spPr>
          <a:xfrm>
            <a:off x="647700" y="3893984"/>
            <a:ext cx="1485900" cy="276999"/>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South America: 5</a:t>
            </a:r>
          </a:p>
        </p:txBody>
      </p:sp>
      <p:sp>
        <p:nvSpPr>
          <p:cNvPr id="9" name="TextBox 8"/>
          <p:cNvSpPr txBox="1"/>
          <p:nvPr/>
        </p:nvSpPr>
        <p:spPr>
          <a:xfrm>
            <a:off x="2058797" y="3270355"/>
            <a:ext cx="952500" cy="646331"/>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Middle East and Africa: 8</a:t>
            </a:r>
          </a:p>
        </p:txBody>
      </p:sp>
      <p:sp>
        <p:nvSpPr>
          <p:cNvPr id="10" name="TextBox 9"/>
          <p:cNvSpPr txBox="1"/>
          <p:nvPr/>
        </p:nvSpPr>
        <p:spPr>
          <a:xfrm>
            <a:off x="2155941" y="1618444"/>
            <a:ext cx="1295400" cy="276999"/>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Global: 22</a:t>
            </a:r>
          </a:p>
        </p:txBody>
      </p:sp>
      <p:sp>
        <p:nvSpPr>
          <p:cNvPr id="11" name="TextBox 10"/>
          <p:cNvSpPr txBox="1"/>
          <p:nvPr/>
        </p:nvSpPr>
        <p:spPr>
          <a:xfrm>
            <a:off x="3118361" y="3006178"/>
            <a:ext cx="1676400" cy="276999"/>
          </a:xfrm>
          <a:prstGeom prst="rect">
            <a:avLst/>
          </a:prstGeom>
          <a:noFill/>
        </p:spPr>
        <p:txBody>
          <a:bodyPr wrap="square" rtlCol="0">
            <a:spAutoFit/>
          </a:bodyPr>
          <a:lstStyle/>
          <a:p>
            <a:r>
              <a:rPr lang="en-US" sz="1200" b="1" dirty="0">
                <a:solidFill>
                  <a:schemeClr val="tx1">
                    <a:lumMod val="65000"/>
                    <a:lumOff val="35000"/>
                  </a:schemeClr>
                </a:solidFill>
                <a:latin typeface="Arial" panose="020B0604020202020204" pitchFamily="34" charset="0"/>
                <a:cs typeface="Arial" panose="020B0604020202020204" pitchFamily="34" charset="0"/>
              </a:rPr>
              <a:t>Asia Pacific: 13</a:t>
            </a:r>
          </a:p>
        </p:txBody>
      </p:sp>
      <p:sp>
        <p:nvSpPr>
          <p:cNvPr id="13" name="Title 1">
            <a:extLst>
              <a:ext uri="{FF2B5EF4-FFF2-40B4-BE49-F238E27FC236}">
                <a16:creationId xmlns:a16="http://schemas.microsoft.com/office/drawing/2014/main" id="{3963EEC5-5C95-4E48-AC8C-76AC59C05DB4}"/>
              </a:ext>
            </a:extLst>
          </p:cNvPr>
          <p:cNvSpPr txBox="1">
            <a:spLocks/>
          </p:cNvSpPr>
          <p:nvPr/>
        </p:nvSpPr>
        <p:spPr>
          <a:xfrm>
            <a:off x="0" y="427437"/>
            <a:ext cx="9144000" cy="403875"/>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Overview of Responses on ED-220</a:t>
            </a:r>
          </a:p>
        </p:txBody>
      </p:sp>
      <p:sp>
        <p:nvSpPr>
          <p:cNvPr id="15" name="TextBox 14">
            <a:extLst>
              <a:ext uri="{FF2B5EF4-FFF2-40B4-BE49-F238E27FC236}">
                <a16:creationId xmlns:a16="http://schemas.microsoft.com/office/drawing/2014/main" id="{5EF81291-0C8E-454E-9A6F-8287932612E9}"/>
              </a:ext>
            </a:extLst>
          </p:cNvPr>
          <p:cNvSpPr txBox="1"/>
          <p:nvPr/>
        </p:nvSpPr>
        <p:spPr>
          <a:xfrm>
            <a:off x="895505" y="1005394"/>
            <a:ext cx="2938183" cy="276999"/>
          </a:xfrm>
          <a:prstGeom prst="rect">
            <a:avLst/>
          </a:prstGeom>
          <a:noFill/>
        </p:spPr>
        <p:txBody>
          <a:bodyPr wrap="square" rtlCol="0">
            <a:spAutoFit/>
          </a:bodyPr>
          <a:lstStyle/>
          <a:p>
            <a:pPr algn="ctr"/>
            <a:r>
              <a:rPr lang="en-US" sz="1200" b="1" dirty="0">
                <a:solidFill>
                  <a:schemeClr val="tx1">
                    <a:lumMod val="65000"/>
                    <a:lumOff val="35000"/>
                  </a:schemeClr>
                </a:solidFill>
                <a:latin typeface="Arial" panose="020B0604020202020204" pitchFamily="34" charset="0"/>
                <a:cs typeface="Arial" panose="020B0604020202020204" pitchFamily="34" charset="0"/>
              </a:rPr>
              <a:t>Respondents by Region</a:t>
            </a:r>
          </a:p>
        </p:txBody>
      </p:sp>
      <p:sp>
        <p:nvSpPr>
          <p:cNvPr id="16" name="Slide Number Placeholder 5">
            <a:extLst>
              <a:ext uri="{FF2B5EF4-FFF2-40B4-BE49-F238E27FC236}">
                <a16:creationId xmlns:a16="http://schemas.microsoft.com/office/drawing/2014/main" id="{8CE99280-C696-4F2A-AA1C-3432E58A2AF4}"/>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3</a:t>
            </a:fld>
            <a:r>
              <a:rPr lang="en-US" sz="675" dirty="0">
                <a:solidFill>
                  <a:srgbClr val="808080"/>
                </a:solidFill>
                <a:latin typeface="Arial" panose="020B0604020202020204" pitchFamily="34" charset="0"/>
              </a:rPr>
              <a:t>  |</a:t>
            </a:r>
          </a:p>
        </p:txBody>
      </p:sp>
      <p:graphicFrame>
        <p:nvGraphicFramePr>
          <p:cNvPr id="18" name="Chart 17">
            <a:extLst>
              <a:ext uri="{FF2B5EF4-FFF2-40B4-BE49-F238E27FC236}">
                <a16:creationId xmlns:a16="http://schemas.microsoft.com/office/drawing/2014/main" id="{B5C1DEF2-ECDA-448A-835C-2D30EFFBB8C7}"/>
              </a:ext>
            </a:extLst>
          </p:cNvPr>
          <p:cNvGraphicFramePr>
            <a:graphicFrameLocks/>
          </p:cNvGraphicFramePr>
          <p:nvPr>
            <p:extLst>
              <p:ext uri="{D42A27DB-BD31-4B8C-83A1-F6EECF244321}">
                <p14:modId xmlns:p14="http://schemas.microsoft.com/office/powerpoint/2010/main" val="2850928902"/>
              </p:ext>
            </p:extLst>
          </p:nvPr>
        </p:nvGraphicFramePr>
        <p:xfrm>
          <a:off x="4672271" y="1299068"/>
          <a:ext cx="4325017" cy="3248732"/>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a:extLst>
              <a:ext uri="{FF2B5EF4-FFF2-40B4-BE49-F238E27FC236}">
                <a16:creationId xmlns:a16="http://schemas.microsoft.com/office/drawing/2014/main" id="{64915A27-3038-4B53-B5FC-FFFB55B4E816}"/>
              </a:ext>
            </a:extLst>
          </p:cNvPr>
          <p:cNvSpPr txBox="1"/>
          <p:nvPr/>
        </p:nvSpPr>
        <p:spPr>
          <a:xfrm>
            <a:off x="5271247" y="1008109"/>
            <a:ext cx="3039035" cy="276999"/>
          </a:xfrm>
          <a:prstGeom prst="rect">
            <a:avLst/>
          </a:prstGeom>
          <a:noFill/>
        </p:spPr>
        <p:txBody>
          <a:bodyPr wrap="square" rtlCol="0">
            <a:spAutoFit/>
          </a:bodyPr>
          <a:lstStyle/>
          <a:p>
            <a:pPr algn="ctr">
              <a:defRPr sz="1200" b="0" i="0" u="none" strike="noStrike" kern="1200" spc="0" baseline="0">
                <a:solidFill>
                  <a:prstClr val="black">
                    <a:lumMod val="65000"/>
                    <a:lumOff val="35000"/>
                  </a:prstClr>
                </a:solidFill>
                <a:latin typeface="+mn-lt"/>
                <a:ea typeface="+mn-ea"/>
                <a:cs typeface="+mn-cs"/>
              </a:defRPr>
            </a:pPr>
            <a:r>
              <a:rPr lang="en-US" sz="1200" b="1" dirty="0">
                <a:solidFill>
                  <a:schemeClr val="tx1">
                    <a:lumMod val="65000"/>
                    <a:lumOff val="35000"/>
                  </a:schemeClr>
                </a:solidFill>
                <a:latin typeface="Arial" panose="020B0604020202020204" pitchFamily="34" charset="0"/>
                <a:cs typeface="Arial" panose="020B0604020202020204" pitchFamily="34" charset="0"/>
              </a:rPr>
              <a:t>Respondents by Stakeholder Groups</a:t>
            </a:r>
          </a:p>
        </p:txBody>
      </p:sp>
    </p:spTree>
    <p:extLst>
      <p:ext uri="{BB962C8B-B14F-4D97-AF65-F5344CB8AC3E}">
        <p14:creationId xmlns:p14="http://schemas.microsoft.com/office/powerpoint/2010/main" val="3873306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273F7-70C1-6846-9289-32B1DBD9EF1C}"/>
              </a:ext>
            </a:extLst>
          </p:cNvPr>
          <p:cNvSpPr txBox="1"/>
          <p:nvPr/>
        </p:nvSpPr>
        <p:spPr>
          <a:xfrm>
            <a:off x="180345" y="366400"/>
            <a:ext cx="5455345" cy="669414"/>
          </a:xfrm>
          <a:prstGeom prst="rect">
            <a:avLst/>
          </a:prstGeom>
          <a:noFill/>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Overall  Feedback Received </a:t>
            </a:r>
          </a:p>
          <a:p>
            <a:endParaRPr lang="en-US" dirty="0"/>
          </a:p>
        </p:txBody>
      </p:sp>
      <p:sp>
        <p:nvSpPr>
          <p:cNvPr id="4" name="Content Placeholder 1">
            <a:extLst>
              <a:ext uri="{FF2B5EF4-FFF2-40B4-BE49-F238E27FC236}">
                <a16:creationId xmlns:a16="http://schemas.microsoft.com/office/drawing/2014/main" id="{9B97F64C-F077-4195-8724-2D1DE4CA4A4E}"/>
              </a:ext>
            </a:extLst>
          </p:cNvPr>
          <p:cNvSpPr txBox="1">
            <a:spLocks/>
          </p:cNvSpPr>
          <p:nvPr/>
        </p:nvSpPr>
        <p:spPr>
          <a:xfrm>
            <a:off x="245659" y="940642"/>
            <a:ext cx="8497006" cy="4468958"/>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algn="just">
              <a:spcAft>
                <a:spcPts val="600"/>
              </a:spcAft>
            </a:pPr>
            <a:r>
              <a:rPr lang="en-US" sz="2200" dirty="0">
                <a:solidFill>
                  <a:schemeClr val="tx1"/>
                </a:solidFill>
                <a:latin typeface="Arial" panose="020B0604020202020204" pitchFamily="34" charset="0"/>
                <a:cs typeface="Arial" panose="020B0604020202020204" pitchFamily="34" charset="0"/>
              </a:rPr>
              <a:t>Comments were generally positive, but raised some issues</a:t>
            </a:r>
          </a:p>
          <a:p>
            <a:pPr algn="just">
              <a:spcAft>
                <a:spcPts val="600"/>
              </a:spcAft>
            </a:pPr>
            <a:r>
              <a:rPr lang="en-US" sz="2200" dirty="0">
                <a:solidFill>
                  <a:schemeClr val="tx1"/>
                </a:solidFill>
                <a:latin typeface="Arial" panose="020B0604020202020204" pitchFamily="34" charset="0"/>
                <a:cs typeface="Arial" panose="020B0604020202020204" pitchFamily="34" charset="0"/>
              </a:rPr>
              <a:t>Key issues will be discussed in this session</a:t>
            </a:r>
          </a:p>
          <a:p>
            <a:pPr algn="just">
              <a:spcAft>
                <a:spcPts val="600"/>
              </a:spcAft>
            </a:pPr>
            <a:r>
              <a:rPr lang="en-US" sz="2200" dirty="0">
                <a:solidFill>
                  <a:schemeClr val="tx1"/>
                </a:solidFill>
                <a:latin typeface="Arial" panose="020B0604020202020204" pitchFamily="34" charset="0"/>
                <a:cs typeface="Arial" panose="020B0604020202020204" pitchFamily="34" charset="0"/>
              </a:rPr>
              <a:t>Other issues will be discussed at future meetings:</a:t>
            </a:r>
          </a:p>
          <a:p>
            <a:pPr lvl="1" algn="just">
              <a:spcAft>
                <a:spcPts val="600"/>
              </a:spcAft>
              <a:buFont typeface="Courier New" panose="02070309020205020404" pitchFamily="49" charset="0"/>
              <a:buChar char="o"/>
            </a:pPr>
            <a:r>
              <a:rPr lang="en-US" sz="1800" dirty="0">
                <a:solidFill>
                  <a:schemeClr val="tx1"/>
                </a:solidFill>
                <a:latin typeface="Arial" panose="020B0604020202020204" pitchFamily="34" charset="0"/>
                <a:cs typeface="Arial" panose="020B0604020202020204" pitchFamily="34" charset="0"/>
              </a:rPr>
              <a:t>Professional skepticism</a:t>
            </a:r>
          </a:p>
          <a:p>
            <a:pPr lvl="1" algn="just">
              <a:spcAft>
                <a:spcPts val="600"/>
              </a:spcAft>
              <a:buFont typeface="Courier New" panose="02070309020205020404" pitchFamily="49" charset="0"/>
              <a:buChar char="o"/>
            </a:pPr>
            <a:r>
              <a:rPr lang="en-US" sz="1800" dirty="0">
                <a:solidFill>
                  <a:schemeClr val="tx1"/>
                </a:solidFill>
                <a:latin typeface="Arial" panose="020B0604020202020204" pitchFamily="34" charset="0"/>
                <a:cs typeface="Arial" panose="020B0604020202020204" pitchFamily="34" charset="0"/>
              </a:rPr>
              <a:t>Modern auditing environment </a:t>
            </a:r>
          </a:p>
          <a:p>
            <a:pPr lvl="1" algn="just">
              <a:spcAft>
                <a:spcPts val="600"/>
              </a:spcAft>
              <a:buFont typeface="Courier New" panose="02070309020205020404" pitchFamily="49" charset="0"/>
              <a:buChar char="o"/>
            </a:pPr>
            <a:r>
              <a:rPr lang="en-US" sz="1800" dirty="0">
                <a:solidFill>
                  <a:schemeClr val="tx1"/>
                </a:solidFill>
                <a:latin typeface="Arial" panose="020B0604020202020204" pitchFamily="34" charset="0"/>
                <a:cs typeface="Arial" panose="020B0604020202020204" pitchFamily="34" charset="0"/>
              </a:rPr>
              <a:t>Documentation</a:t>
            </a:r>
          </a:p>
          <a:p>
            <a:pPr lvl="1" algn="just">
              <a:spcAft>
                <a:spcPts val="600"/>
              </a:spcAft>
              <a:buFont typeface="Courier New" panose="02070309020205020404" pitchFamily="49" charset="0"/>
              <a:buChar char="o"/>
            </a:pPr>
            <a:r>
              <a:rPr lang="en-US" sz="1800" dirty="0">
                <a:solidFill>
                  <a:schemeClr val="tx1"/>
                </a:solidFill>
                <a:latin typeface="Arial" panose="020B0604020202020204" pitchFamily="34" charset="0"/>
                <a:cs typeface="Arial" panose="020B0604020202020204" pitchFamily="34" charset="0"/>
              </a:rPr>
              <a:t>Other matters e.g. the objective, stand-back provision, terminology, shared service centers, more guidance, overlaps, and editorial comments</a:t>
            </a:r>
          </a:p>
          <a:p>
            <a:pPr marL="347472" lvl="1" indent="0" algn="just">
              <a:spcAft>
                <a:spcPts val="600"/>
              </a:spcAft>
              <a:buNone/>
            </a:pPr>
            <a:r>
              <a:rPr lang="en-US" dirty="0">
                <a:solidFill>
                  <a:schemeClr val="tx1"/>
                </a:solidFill>
                <a:latin typeface="Arial" panose="020B0604020202020204" pitchFamily="34" charset="0"/>
                <a:cs typeface="Arial" panose="020B0604020202020204" pitchFamily="34" charset="0"/>
              </a:rPr>
              <a:t> </a:t>
            </a:r>
          </a:p>
          <a:p>
            <a:pPr algn="just">
              <a:spcAft>
                <a:spcPts val="600"/>
              </a:spcAft>
            </a:pPr>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8672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4A09D6E-E118-4148-8EA1-5AC4A04F6729}"/>
              </a:ext>
            </a:extLst>
          </p:cNvPr>
          <p:cNvSpPr txBox="1">
            <a:spLocks noGrp="1"/>
          </p:cNvSpPr>
          <p:nvPr>
            <p:ph type="title"/>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Analysis of Key Issues to be Discussed at this Meeting</a:t>
            </a:r>
          </a:p>
        </p:txBody>
      </p:sp>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1105510949"/>
              </p:ext>
            </p:extLst>
          </p:nvPr>
        </p:nvGraphicFramePr>
        <p:xfrm>
          <a:off x="342902" y="831850"/>
          <a:ext cx="8489042" cy="376277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Slide Number Placeholder 5">
            <a:extLst>
              <a:ext uri="{FF2B5EF4-FFF2-40B4-BE49-F238E27FC236}">
                <a16:creationId xmlns:a16="http://schemas.microsoft.com/office/drawing/2014/main" id="{5C22CE8F-9B8C-4BF7-B7EA-FDF950632F42}"/>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5</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711969715"/>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298777" y="414337"/>
            <a:ext cx="8497006" cy="4468958"/>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buNone/>
            </a:pPr>
            <a:endParaRPr lang="en-US" b="1" dirty="0">
              <a:solidFill>
                <a:schemeClr val="tx1"/>
              </a:solidFill>
              <a:latin typeface="Arial" panose="020B0604020202020204" pitchFamily="34" charset="0"/>
              <a:cs typeface="Arial" panose="020B0604020202020204" pitchFamily="34" charset="0"/>
            </a:endParaRPr>
          </a:p>
          <a:p>
            <a:pPr marL="0" indent="0" algn="just">
              <a:spcAft>
                <a:spcPts val="600"/>
              </a:spcAft>
              <a:buNone/>
            </a:pPr>
            <a:r>
              <a:rPr lang="en-US" sz="2800" b="1" dirty="0">
                <a:solidFill>
                  <a:schemeClr val="tx1"/>
                </a:solidFill>
                <a:latin typeface="Arial" panose="020B0604020202020204" pitchFamily="34" charset="0"/>
                <a:cs typeface="Arial" panose="020B0604020202020204" pitchFamily="34" charset="0"/>
              </a:rPr>
              <a:t>Question 1 of the Explanatory Memorandum (EM) to ED-220 asked:</a:t>
            </a:r>
          </a:p>
          <a:p>
            <a:pPr marL="0" lvl="0" algn="just">
              <a:spcAft>
                <a:spcPts val="600"/>
              </a:spcAft>
              <a:buNone/>
            </a:pPr>
            <a:r>
              <a:rPr lang="en-US" i="1" dirty="0">
                <a:solidFill>
                  <a:schemeClr val="tx1"/>
                </a:solidFill>
                <a:latin typeface="Arial" panose="020B0604020202020204" pitchFamily="34" charset="0"/>
                <a:cs typeface="Arial" panose="020B0604020202020204" pitchFamily="34" charset="0"/>
              </a:rPr>
              <a:t>Do you support the focus on the sufficient and appropriate involvement of the engagement partner (see particularly paragraphs 11–13 and 37 of ED-220)?</a:t>
            </a:r>
          </a:p>
          <a:p>
            <a:pPr marL="0" lvl="0" algn="just">
              <a:spcBef>
                <a:spcPts val="700"/>
              </a:spcBef>
              <a:spcAft>
                <a:spcPts val="600"/>
              </a:spcAft>
              <a:buNone/>
            </a:pPr>
            <a:r>
              <a:rPr lang="en-US" i="1" dirty="0">
                <a:solidFill>
                  <a:schemeClr val="tx1"/>
                </a:solidFill>
                <a:latin typeface="Arial" panose="020B0604020202020204" pitchFamily="34" charset="0"/>
                <a:cs typeface="Arial" panose="020B0604020202020204" pitchFamily="34" charset="0"/>
              </a:rPr>
              <a:t>Does the proposed ISA appropriately reflect the role of other senior members of the engagement team? </a:t>
            </a:r>
            <a:r>
              <a:rPr lang="en-US" sz="2800" i="1" dirty="0">
                <a:solidFill>
                  <a:schemeClr val="bg1"/>
                </a:solidFill>
                <a:latin typeface="Arial" panose="020B0604020202020204" pitchFamily="34" charset="0"/>
                <a:cs typeface="Arial" panose="020B0604020202020204" pitchFamily="34" charset="0"/>
              </a:rPr>
              <a:t> other partners?</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304746" y="391114"/>
            <a:ext cx="9399494"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lvl="0"/>
            <a:r>
              <a:rPr lang="en-US" sz="2400" b="1" dirty="0"/>
              <a:t>Engagement Partner’s Responsibility for Audit Quality</a:t>
            </a:r>
            <a:endParaRPr lang="en-US" sz="2400" dirty="0"/>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6</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3308236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DCF21A7A-89E6-4D73-9C9E-20947420A5A0}"/>
              </a:ext>
            </a:extLst>
          </p:cNvPr>
          <p:cNvGraphicFramePr>
            <a:graphicFrameLocks noGrp="1"/>
          </p:cNvGraphicFramePr>
          <p:nvPr>
            <p:extLst>
              <p:ext uri="{D42A27DB-BD31-4B8C-83A1-F6EECF244321}">
                <p14:modId xmlns:p14="http://schemas.microsoft.com/office/powerpoint/2010/main" val="1295499531"/>
              </p:ext>
            </p:extLst>
          </p:nvPr>
        </p:nvGraphicFramePr>
        <p:xfrm>
          <a:off x="344229" y="824674"/>
          <a:ext cx="6079461" cy="3494152"/>
        </p:xfrm>
        <a:graphic>
          <a:graphicData uri="http://schemas.openxmlformats.org/drawingml/2006/table">
            <a:tbl>
              <a:tblPr firstRow="1" bandRow="1">
                <a:tableStyleId>{5C22544A-7EE6-4342-B048-85BDC9FD1C3A}</a:tableStyleId>
              </a:tblPr>
              <a:tblGrid>
                <a:gridCol w="6079461">
                  <a:extLst>
                    <a:ext uri="{9D8B030D-6E8A-4147-A177-3AD203B41FA5}">
                      <a16:colId xmlns:a16="http://schemas.microsoft.com/office/drawing/2014/main" val="713251629"/>
                    </a:ext>
                  </a:extLst>
                </a:gridCol>
              </a:tblGrid>
              <a:tr h="3494152">
                <a:tc>
                  <a:txBody>
                    <a:bodyPr/>
                    <a:lstStyle/>
                    <a:p>
                      <a:pPr algn="just">
                        <a:spcBef>
                          <a:spcPts val="0"/>
                        </a:spcBef>
                        <a:spcAft>
                          <a:spcPts val="600"/>
                        </a:spcAft>
                      </a:pPr>
                      <a:r>
                        <a:rPr lang="en-CA" sz="2800" b="1" i="0" kern="1200" dirty="0">
                          <a:solidFill>
                            <a:schemeClr val="tx1"/>
                          </a:solidFill>
                          <a:effectLst/>
                          <a:latin typeface="Arial" panose="020B0604020202020204" pitchFamily="34" charset="0"/>
                          <a:ea typeface="+mn-ea"/>
                          <a:cs typeface="Arial" panose="020B0604020202020204" pitchFamily="34" charset="0"/>
                        </a:rPr>
                        <a:t>What We Heard in Responses to ED-220 (Q1)</a:t>
                      </a:r>
                    </a:p>
                    <a:p>
                      <a:pPr marL="342900" indent="-342900" algn="just">
                        <a:spcAft>
                          <a:spcPts val="600"/>
                        </a:spcAft>
                        <a:buFont typeface="Arial" panose="020B0604020202020204" pitchFamily="34" charset="0"/>
                        <a:buChar char="•"/>
                      </a:pPr>
                      <a:r>
                        <a:rPr lang="en-US" sz="2200" b="0" i="0" kern="1200" dirty="0">
                          <a:solidFill>
                            <a:schemeClr val="tx1"/>
                          </a:solidFill>
                          <a:effectLst/>
                          <a:latin typeface="Arial" panose="020B0604020202020204" pitchFamily="34" charset="0"/>
                          <a:ea typeface="+mn-ea"/>
                          <a:cs typeface="Arial" panose="020B0604020202020204" pitchFamily="34" charset="0"/>
                        </a:rPr>
                        <a:t>Overall support across stakeholder groups</a:t>
                      </a:r>
                    </a:p>
                    <a:p>
                      <a:pPr marL="342900" indent="-342900" algn="just">
                        <a:spcAft>
                          <a:spcPts val="600"/>
                        </a:spcAft>
                        <a:buFont typeface="Arial" panose="020B0604020202020204" pitchFamily="34" charset="0"/>
                        <a:buChar char="•"/>
                      </a:pPr>
                      <a:r>
                        <a:rPr lang="en-US" sz="2200" b="0" i="0" kern="1200" dirty="0">
                          <a:solidFill>
                            <a:schemeClr val="tx1"/>
                          </a:solidFill>
                          <a:effectLst/>
                          <a:latin typeface="Arial" panose="020B0604020202020204" pitchFamily="34" charset="0"/>
                          <a:ea typeface="+mn-ea"/>
                          <a:cs typeface="Arial" panose="020B0604020202020204" pitchFamily="34" charset="0"/>
                        </a:rPr>
                        <a:t>Challenges in fulfilling the requirements ‒ “upward scalability” and whether it was feasible for the EP to perform all the requirements</a:t>
                      </a:r>
                    </a:p>
                    <a:p>
                      <a:pPr marL="342900" indent="-342900" algn="just">
                        <a:spcAft>
                          <a:spcPts val="600"/>
                        </a:spcAft>
                        <a:buFont typeface="Arial" panose="020B0604020202020204" pitchFamily="34" charset="0"/>
                        <a:buChar char="•"/>
                      </a:pPr>
                      <a:r>
                        <a:rPr lang="en-CA" sz="2200" b="0" i="0" kern="1200" dirty="0">
                          <a:solidFill>
                            <a:schemeClr val="tx1"/>
                          </a:solidFill>
                          <a:effectLst/>
                          <a:latin typeface="Arial" panose="020B0604020202020204" pitchFamily="34" charset="0"/>
                          <a:ea typeface="+mn-ea"/>
                          <a:cs typeface="Arial" panose="020B0604020202020204" pitchFamily="34" charset="0"/>
                        </a:rPr>
                        <a:t>Paragraph 13 is neither clear nor feasible</a:t>
                      </a:r>
                    </a:p>
                  </a:txBody>
                  <a:tcPr anchor="ct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397597"/>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lvl="0"/>
            <a:r>
              <a:rPr lang="en-US" sz="2400" b="1" dirty="0"/>
              <a:t>Engagement Partner’s Responsibility for Audit Quality (Cont.)</a:t>
            </a:r>
            <a:endParaRPr lang="en-US" sz="2400" dirty="0"/>
          </a:p>
        </p:txBody>
      </p:sp>
      <p:sp>
        <p:nvSpPr>
          <p:cNvPr id="10" name="Slide Number Placeholder 5">
            <a:extLst>
              <a:ext uri="{FF2B5EF4-FFF2-40B4-BE49-F238E27FC236}">
                <a16:creationId xmlns:a16="http://schemas.microsoft.com/office/drawing/2014/main" id="{F449B8D5-1BEE-473E-A06D-F49FAD0D5855}"/>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7</a:t>
            </a:fld>
            <a:r>
              <a:rPr lang="en-US" sz="675" dirty="0">
                <a:solidFill>
                  <a:srgbClr val="808080"/>
                </a:solidFill>
                <a:latin typeface="Arial" panose="020B0604020202020204" pitchFamily="34" charset="0"/>
              </a:rPr>
              <a:t>  |</a:t>
            </a:r>
          </a:p>
        </p:txBody>
      </p:sp>
      <p:graphicFrame>
        <p:nvGraphicFramePr>
          <p:cNvPr id="11" name="Chart 10">
            <a:extLst>
              <a:ext uri="{FF2B5EF4-FFF2-40B4-BE49-F238E27FC236}">
                <a16:creationId xmlns:a16="http://schemas.microsoft.com/office/drawing/2014/main" id="{E46C8245-28C0-45F3-B814-0D4EE2E947BA}"/>
              </a:ext>
            </a:extLst>
          </p:cNvPr>
          <p:cNvGraphicFramePr/>
          <p:nvPr>
            <p:extLst>
              <p:ext uri="{D42A27DB-BD31-4B8C-83A1-F6EECF244321}">
                <p14:modId xmlns:p14="http://schemas.microsoft.com/office/powerpoint/2010/main" val="3655093478"/>
              </p:ext>
            </p:extLst>
          </p:nvPr>
        </p:nvGraphicFramePr>
        <p:xfrm>
          <a:off x="6530797" y="885825"/>
          <a:ext cx="2613203" cy="38306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33427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880868"/>
            <a:ext cx="8497006" cy="4468958"/>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spcAft>
                <a:spcPts val="600"/>
              </a:spcAft>
              <a:buNone/>
            </a:pPr>
            <a:r>
              <a:rPr lang="en-US" sz="2800" b="1" dirty="0">
                <a:solidFill>
                  <a:schemeClr val="tx1"/>
                </a:solidFill>
                <a:latin typeface="Arial" panose="020B0604020202020204" pitchFamily="34" charset="0"/>
                <a:cs typeface="Arial" panose="020B0604020202020204" pitchFamily="34" charset="0"/>
              </a:rPr>
              <a:t>What We Heard from the CAG</a:t>
            </a:r>
          </a:p>
          <a:p>
            <a:pPr algn="just">
              <a:spcBef>
                <a:spcPct val="0"/>
              </a:spcBef>
            </a:pPr>
            <a:r>
              <a:rPr lang="en-US" sz="2800" dirty="0">
                <a:solidFill>
                  <a:schemeClr val="tx1"/>
                </a:solidFill>
                <a:latin typeface="Arial" panose="020B0604020202020204" pitchFamily="34" charset="0"/>
                <a:cs typeface="Arial" panose="020B0604020202020204" pitchFamily="34" charset="0"/>
              </a:rPr>
              <a:t>Support for the engagement partner’s overall responsibility for audit quality</a:t>
            </a:r>
          </a:p>
          <a:p>
            <a:pPr algn="just">
              <a:spcBef>
                <a:spcPct val="0"/>
              </a:spcBef>
            </a:pPr>
            <a:r>
              <a:rPr lang="en-US" sz="2800" dirty="0">
                <a:solidFill>
                  <a:schemeClr val="tx1"/>
                </a:solidFill>
                <a:latin typeface="Arial" panose="020B0604020202020204" pitchFamily="34" charset="0"/>
                <a:cs typeface="Arial" panose="020B0604020202020204" pitchFamily="34" charset="0"/>
              </a:rPr>
              <a:t>Concerns that the table in Appendix 6 might undermine that overall responsibility</a:t>
            </a:r>
          </a:p>
          <a:p>
            <a:pPr algn="just">
              <a:spcBef>
                <a:spcPct val="0"/>
              </a:spcBef>
            </a:pPr>
            <a:r>
              <a:rPr lang="en-US" sz="2800" dirty="0">
                <a:solidFill>
                  <a:schemeClr val="tx1"/>
                </a:solidFill>
                <a:latin typeface="Arial" panose="020B0604020202020204" pitchFamily="34" charset="0"/>
                <a:cs typeface="Arial" panose="020B0604020202020204" pitchFamily="34" charset="0"/>
              </a:rPr>
              <a:t>Support for the indicative wording in Appendix 5</a:t>
            </a:r>
          </a:p>
          <a:p>
            <a:pPr algn="just">
              <a:spcBef>
                <a:spcPct val="0"/>
              </a:spcBef>
            </a:pPr>
            <a:r>
              <a:rPr lang="en-US" sz="2800" dirty="0">
                <a:solidFill>
                  <a:schemeClr val="tx1"/>
                </a:solidFill>
                <a:latin typeface="Arial" panose="020B0604020202020204" pitchFamily="34" charset="0"/>
                <a:cs typeface="Arial" panose="020B0604020202020204" pitchFamily="34" charset="0"/>
              </a:rPr>
              <a:t>No support for notion of “shared responsibility” raised by some respondents</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362257"/>
            <a:ext cx="9399494"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lvl="0"/>
            <a:r>
              <a:rPr lang="en-US" sz="2400" b="1" dirty="0"/>
              <a:t>Engagement Partner’s Responsibility for Audit Quality (Cont.)</a:t>
            </a:r>
            <a:endParaRPr lang="en-US" sz="2400" dirty="0"/>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8</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1299358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920617"/>
            <a:ext cx="8497006" cy="3837986"/>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spcAft>
                <a:spcPts val="600"/>
              </a:spcAft>
              <a:buNone/>
            </a:pPr>
            <a:r>
              <a:rPr lang="en-CA" sz="2800" b="1" dirty="0">
                <a:solidFill>
                  <a:schemeClr val="tx1"/>
                </a:solidFill>
                <a:latin typeface="Arial" panose="020B0604020202020204" pitchFamily="34" charset="0"/>
                <a:cs typeface="Arial" panose="020B0604020202020204" pitchFamily="34" charset="0"/>
              </a:rPr>
              <a:t>Task Force’s Preliminary Views</a:t>
            </a:r>
          </a:p>
          <a:p>
            <a:pPr marL="347472" lvl="0" indent="-347472" algn="just">
              <a:lnSpc>
                <a:spcPts val="2400"/>
              </a:lnSpc>
              <a:spcAft>
                <a:spcPts val="600"/>
              </a:spcAft>
              <a:buFont typeface="Arial" panose="020B0604020202020204" pitchFamily="34" charset="0"/>
              <a:buChar char="•"/>
            </a:pPr>
            <a:r>
              <a:rPr lang="en-US" dirty="0">
                <a:solidFill>
                  <a:schemeClr val="tx1"/>
                </a:solidFill>
                <a:latin typeface="Arial" panose="020B0604020202020204" pitchFamily="34" charset="0"/>
                <a:cs typeface="Arial" panose="020B0604020202020204" pitchFamily="34" charset="0"/>
              </a:rPr>
              <a:t>Amend requirements on “leadership responsibilities” (Appendix 5)</a:t>
            </a:r>
          </a:p>
          <a:p>
            <a:pPr marL="347472" lvl="0" indent="-347472" algn="just">
              <a:lnSpc>
                <a:spcPts val="2400"/>
              </a:lnSpc>
              <a:spcAft>
                <a:spcPts val="600"/>
              </a:spcAft>
              <a:buFont typeface="Arial" panose="020B0604020202020204" pitchFamily="34" charset="0"/>
              <a:buChar char="•"/>
            </a:pPr>
            <a:r>
              <a:rPr lang="en-US" dirty="0">
                <a:solidFill>
                  <a:schemeClr val="tx1"/>
                </a:solidFill>
                <a:latin typeface="Arial" panose="020B0604020202020204" pitchFamily="34" charset="0"/>
                <a:cs typeface="Arial" panose="020B0604020202020204" pitchFamily="34" charset="0"/>
              </a:rPr>
              <a:t>Clarify which requirements the engagement partner may assign to other engagement team members (Appendix 6 of issues paper)</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74645" y="384897"/>
            <a:ext cx="9564281"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lvl="0"/>
            <a:r>
              <a:rPr lang="en-US" sz="2400" b="1" dirty="0"/>
              <a:t>Engagement Partner’s Responsibility for Audit Quality (Cont.)</a:t>
            </a:r>
            <a:endParaRPr lang="en-US" sz="2400" dirty="0"/>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9</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1255974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914400"/>
            <a:ext cx="8497006" cy="3837986"/>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spcAft>
                <a:spcPts val="600"/>
              </a:spcAft>
              <a:buNone/>
            </a:pPr>
            <a:r>
              <a:rPr lang="en-US" b="1" dirty="0">
                <a:solidFill>
                  <a:schemeClr val="tx1"/>
                </a:solidFill>
                <a:latin typeface="Arial" panose="020B0604020202020204" pitchFamily="34" charset="0"/>
                <a:cs typeface="Arial" panose="020B0604020202020204" pitchFamily="34" charset="0"/>
              </a:rPr>
              <a:t>Indicative Wording for Paragraph 13</a:t>
            </a:r>
          </a:p>
          <a:p>
            <a:pPr marL="0" indent="0">
              <a:buNone/>
            </a:pPr>
            <a:r>
              <a:rPr lang="en-US" sz="1600" dirty="0">
                <a:solidFill>
                  <a:schemeClr val="tx1"/>
                </a:solidFill>
                <a:latin typeface="Arial" panose="020B0604020202020204" pitchFamily="34" charset="0"/>
                <a:cs typeface="Arial" panose="020B0604020202020204" pitchFamily="34" charset="0"/>
              </a:rPr>
              <a:t>13.	If the engagement partner assigns procedures, tasks or actions to other members of the engagement team to assist the engagement partner in complying with the requirements of this ISA, the engagement partner shall continue to take overall responsibility for managing and achieving quality on the audit engagement</a:t>
            </a:r>
            <a:r>
              <a:rPr lang="en-US" sz="1600" u="sng" dirty="0">
                <a:solidFill>
                  <a:schemeClr val="tx1"/>
                </a:solidFill>
                <a:latin typeface="Arial" panose="020B0604020202020204" pitchFamily="34" charset="0"/>
                <a:cs typeface="Arial" panose="020B0604020202020204" pitchFamily="34" charset="0"/>
              </a:rPr>
              <a:t>, and remains accountable for managing and achieving quality on the engagement through direction and supervision of members of the engagement team, and review of their work, as required by paragraph 27 </a:t>
            </a:r>
            <a:r>
              <a:rPr lang="en-US" sz="1600" dirty="0">
                <a:solidFill>
                  <a:schemeClr val="tx1"/>
                </a:solidFill>
                <a:latin typeface="Arial" panose="020B0604020202020204" pitchFamily="34" charset="0"/>
                <a:cs typeface="Arial" panose="020B0604020202020204" pitchFamily="34" charset="0"/>
              </a:rPr>
              <a:t>. </a:t>
            </a:r>
            <a:r>
              <a:rPr lang="en-US" sz="1600" strike="sngStrike" dirty="0">
                <a:solidFill>
                  <a:schemeClr val="tx1"/>
                </a:solidFill>
                <a:latin typeface="Arial" panose="020B0604020202020204" pitchFamily="34" charset="0"/>
                <a:cs typeface="Arial" panose="020B0604020202020204" pitchFamily="34" charset="0"/>
              </a:rPr>
              <a:t>When assigning procedures, tasks or actions to other members of the engagement team, the engagement partner shall: </a:t>
            </a:r>
            <a:r>
              <a:rPr lang="en-US" sz="1600" dirty="0">
                <a:solidFill>
                  <a:schemeClr val="tx1"/>
                </a:solidFill>
                <a:latin typeface="Arial" panose="020B0604020202020204" pitchFamily="34" charset="0"/>
                <a:cs typeface="Arial" panose="020B0604020202020204" pitchFamily="34" charset="0"/>
              </a:rPr>
              <a:t>(Ref: Para. A30)</a:t>
            </a:r>
          </a:p>
          <a:p>
            <a:pPr marL="0" indent="0">
              <a:buNone/>
            </a:pPr>
            <a:r>
              <a:rPr lang="en-US" sz="1600" strike="sngStrike" dirty="0">
                <a:solidFill>
                  <a:schemeClr val="tx1"/>
                </a:solidFill>
                <a:latin typeface="Arial" panose="020B0604020202020204" pitchFamily="34" charset="0"/>
                <a:cs typeface="Arial" panose="020B0604020202020204" pitchFamily="34" charset="0"/>
              </a:rPr>
              <a:t>(a) 	Appropriately inform assignees about the nature of their responsibilities and authority, the scope of the work being assigned, the objectives thereof and any other necessary instructions and relevant information; and </a:t>
            </a:r>
            <a:endParaRPr lang="en-US" sz="1600" dirty="0">
              <a:solidFill>
                <a:schemeClr val="tx1"/>
              </a:solidFill>
              <a:latin typeface="Arial" panose="020B0604020202020204" pitchFamily="34" charset="0"/>
              <a:cs typeface="Arial" panose="020B0604020202020204" pitchFamily="34" charset="0"/>
            </a:endParaRPr>
          </a:p>
          <a:p>
            <a:pPr marL="0" indent="0">
              <a:buNone/>
            </a:pPr>
            <a:r>
              <a:rPr lang="en-US" sz="1600" strike="sngStrike" dirty="0">
                <a:solidFill>
                  <a:schemeClr val="tx1"/>
                </a:solidFill>
                <a:latin typeface="Arial" panose="020B0604020202020204" pitchFamily="34" charset="0"/>
                <a:cs typeface="Arial" panose="020B0604020202020204" pitchFamily="34" charset="0"/>
              </a:rPr>
              <a:t>(b)	Monitor the performance of the work of assignees and review selected related documentation in order to evaluate the conclusions reached. </a:t>
            </a:r>
            <a:endParaRPr lang="en-US" sz="1600" dirty="0">
              <a:solidFill>
                <a:schemeClr val="tx1"/>
              </a:solidFill>
              <a:latin typeface="Arial" panose="020B0604020202020204" pitchFamily="34" charset="0"/>
              <a:cs typeface="Arial" panose="020B0604020202020204" pitchFamily="34" charset="0"/>
            </a:endParaRPr>
          </a:p>
          <a:p>
            <a:pPr marL="0" indent="0" algn="just">
              <a:spcAft>
                <a:spcPts val="600"/>
              </a:spcAft>
              <a:buNone/>
            </a:pPr>
            <a:endParaRPr lang="en-US" dirty="0">
              <a:solidFill>
                <a:schemeClr val="tx1"/>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83976" y="391114"/>
            <a:ext cx="9620264"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lvl="0"/>
            <a:r>
              <a:rPr lang="en-US" sz="2400" b="1" dirty="0"/>
              <a:t>Engagement Partner’s Responsibility for Audit Quality (Cont.)</a:t>
            </a:r>
            <a:endParaRPr lang="en-US" sz="2400" dirty="0"/>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10</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1743922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920617"/>
            <a:ext cx="8497006" cy="3837986"/>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spcAft>
                <a:spcPts val="600"/>
              </a:spcAft>
              <a:buNone/>
            </a:pPr>
            <a:r>
              <a:rPr lang="en-US" sz="2800" b="1" dirty="0">
                <a:solidFill>
                  <a:schemeClr val="tx1"/>
                </a:solidFill>
                <a:latin typeface="Arial" panose="020B0604020202020204" pitchFamily="34" charset="0"/>
                <a:cs typeface="Arial" panose="020B0604020202020204" pitchFamily="34" charset="0"/>
              </a:rPr>
              <a:t>Matters for IAASB Consideration</a:t>
            </a:r>
            <a:endParaRPr lang="en-US" sz="2800" i="1" dirty="0">
              <a:solidFill>
                <a:schemeClr val="tx1"/>
              </a:solidFill>
              <a:latin typeface="Arial" panose="020B0604020202020204" pitchFamily="34" charset="0"/>
              <a:cs typeface="Arial" panose="020B0604020202020204" pitchFamily="34" charset="0"/>
            </a:endParaRPr>
          </a:p>
          <a:p>
            <a:pPr marL="457200" indent="-457200" algn="just">
              <a:buNone/>
            </a:pPr>
            <a:r>
              <a:rPr lang="en-US" sz="2000" i="1" dirty="0">
                <a:solidFill>
                  <a:schemeClr val="tx1"/>
                </a:solidFill>
                <a:latin typeface="Arial" panose="020B0604020202020204" pitchFamily="34" charset="0"/>
                <a:ea typeface="+mn-ea"/>
                <a:cs typeface="Arial" panose="020B0604020202020204" pitchFamily="34" charset="0"/>
              </a:rPr>
              <a:t>1.	</a:t>
            </a:r>
            <a:r>
              <a:rPr lang="en-US" sz="2100" i="1" dirty="0">
                <a:solidFill>
                  <a:schemeClr val="tx1"/>
                </a:solidFill>
                <a:latin typeface="Arial" panose="020B0604020202020204" pitchFamily="34" charset="0"/>
                <a:ea typeface="+mn-ea"/>
                <a:cs typeface="Arial" panose="020B0604020202020204" pitchFamily="34" charset="0"/>
              </a:rPr>
              <a:t>Does the IAASB support the proposed changes to paragraph 13 set out in Appendix 5?</a:t>
            </a:r>
          </a:p>
          <a:p>
            <a:pPr marL="457200" indent="-457200" algn="just">
              <a:buNone/>
            </a:pPr>
            <a:r>
              <a:rPr lang="en-US" sz="2100" i="1" dirty="0">
                <a:solidFill>
                  <a:schemeClr val="tx1"/>
                </a:solidFill>
                <a:latin typeface="Arial" panose="020B0604020202020204" pitchFamily="34" charset="0"/>
                <a:ea typeface="+mn-ea"/>
                <a:cs typeface="Arial" panose="020B0604020202020204" pitchFamily="34" charset="0"/>
              </a:rPr>
              <a:t>2.	Does the IAASB agree with the Task Force’s assessment (in Appendix 6), of the requirements in ED-220:</a:t>
            </a:r>
          </a:p>
          <a:p>
            <a:pPr marL="800100" algn="just">
              <a:buNone/>
            </a:pPr>
            <a:r>
              <a:rPr lang="en-US" sz="2100" i="1" dirty="0">
                <a:solidFill>
                  <a:schemeClr val="tx1"/>
                </a:solidFill>
                <a:latin typeface="Arial" panose="020B0604020202020204" pitchFamily="34" charset="0"/>
                <a:ea typeface="+mn-ea"/>
                <a:cs typeface="Arial" panose="020B0604020202020204" pitchFamily="34" charset="0"/>
              </a:rPr>
              <a:t>(a)	That the engagement partner must personally perform; and </a:t>
            </a:r>
          </a:p>
          <a:p>
            <a:pPr marL="800100" algn="just">
              <a:buNone/>
            </a:pPr>
            <a:r>
              <a:rPr lang="en-US" sz="2100" i="1" dirty="0">
                <a:solidFill>
                  <a:schemeClr val="tx1"/>
                </a:solidFill>
                <a:latin typeface="Arial" panose="020B0604020202020204" pitchFamily="34" charset="0"/>
                <a:ea typeface="+mn-ea"/>
                <a:cs typeface="Arial" panose="020B0604020202020204" pitchFamily="34" charset="0"/>
              </a:rPr>
              <a:t>(b)	Those procedures, tasks or actions that the engagement partner may assign to other members of the engagement team to assist the engagement partner in complying with the requirement?</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139959" y="391114"/>
            <a:ext cx="9564281"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lvl="0"/>
            <a:r>
              <a:rPr lang="en-US" sz="2400" b="1" dirty="0"/>
              <a:t>Engagement Partner’s Responsibility for Audit Quality (Cont.)</a:t>
            </a:r>
            <a:endParaRPr lang="en-US" sz="2400" dirty="0"/>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11</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2673473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920617"/>
            <a:ext cx="8497006" cy="3837986"/>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spcAft>
                <a:spcPts val="600"/>
              </a:spcAft>
              <a:buNone/>
            </a:pPr>
            <a:r>
              <a:rPr lang="en-US" sz="2800" b="1" dirty="0">
                <a:solidFill>
                  <a:schemeClr val="tx1"/>
                </a:solidFill>
                <a:latin typeface="Arial" panose="020B0604020202020204" pitchFamily="34" charset="0"/>
                <a:cs typeface="Arial" panose="020B0604020202020204" pitchFamily="34" charset="0"/>
              </a:rPr>
              <a:t>Question 4 of the EM to ED-220 asked:</a:t>
            </a:r>
          </a:p>
          <a:p>
            <a:pPr marL="0" algn="just">
              <a:spcAft>
                <a:spcPts val="600"/>
              </a:spcAft>
              <a:buNone/>
            </a:pPr>
            <a:r>
              <a:rPr lang="en-US" i="1" dirty="0">
                <a:solidFill>
                  <a:schemeClr val="tx1"/>
                </a:solidFill>
                <a:latin typeface="Arial" panose="020B0604020202020204" pitchFamily="34" charset="0"/>
                <a:cs typeface="Arial" panose="020B0604020202020204" pitchFamily="34" charset="0"/>
              </a:rPr>
              <a:t>Does ED-220 deal adequately with the modern auditing environment, including the use of different audit delivery models and technology? </a:t>
            </a:r>
          </a:p>
          <a:p>
            <a:pPr algn="just"/>
            <a:endParaRPr lang="en-US" i="1" dirty="0">
              <a:solidFill>
                <a:schemeClr val="tx1"/>
              </a:solidFill>
              <a:latin typeface="Arial" panose="020B0604020202020204" pitchFamily="34" charset="0"/>
              <a:cs typeface="Arial" panose="020B0604020202020204" pitchFamily="34" charset="0"/>
            </a:endParaRPr>
          </a:p>
          <a:p>
            <a:pPr algn="just"/>
            <a:endParaRPr lang="en-US" i="1" dirty="0">
              <a:solidFill>
                <a:schemeClr val="tx1"/>
              </a:solidFill>
              <a:latin typeface="Arial" panose="020B0604020202020204" pitchFamily="34" charset="0"/>
              <a:cs typeface="Arial" panose="020B0604020202020204" pitchFamily="34" charset="0"/>
            </a:endParaRPr>
          </a:p>
          <a:p>
            <a:pPr marL="0" indent="0" algn="just">
              <a:buNone/>
            </a:pPr>
            <a:r>
              <a:rPr lang="en-US" sz="2000" i="1" dirty="0">
                <a:solidFill>
                  <a:schemeClr val="tx1"/>
                </a:solidFill>
                <a:latin typeface="Arial" panose="020B0604020202020204" pitchFamily="34" charset="0"/>
                <a:cs typeface="Arial" panose="020B0604020202020204" pitchFamily="34" charset="0"/>
              </a:rPr>
              <a:t>(Note: This discussion will focus on the engagement team definition in addressing ADMs.)</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304746" y="453459"/>
            <a:ext cx="9399494"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a:lnSpc>
                <a:spcPts val="2400"/>
              </a:lnSpc>
            </a:pPr>
            <a:r>
              <a:rPr lang="en-US" sz="2400" b="1" dirty="0"/>
              <a:t>Engagement Team Definition</a:t>
            </a:r>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12</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3999913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DCF21A7A-89E6-4D73-9C9E-20947420A5A0}"/>
              </a:ext>
            </a:extLst>
          </p:cNvPr>
          <p:cNvGraphicFramePr>
            <a:graphicFrameLocks noGrp="1"/>
          </p:cNvGraphicFramePr>
          <p:nvPr>
            <p:extLst>
              <p:ext uri="{D42A27DB-BD31-4B8C-83A1-F6EECF244321}">
                <p14:modId xmlns:p14="http://schemas.microsoft.com/office/powerpoint/2010/main" val="3968880252"/>
              </p:ext>
            </p:extLst>
          </p:nvPr>
        </p:nvGraphicFramePr>
        <p:xfrm>
          <a:off x="402644" y="886691"/>
          <a:ext cx="6095692" cy="3996604"/>
        </p:xfrm>
        <a:graphic>
          <a:graphicData uri="http://schemas.openxmlformats.org/drawingml/2006/table">
            <a:tbl>
              <a:tblPr firstRow="1" bandRow="1">
                <a:tableStyleId>{5C22544A-7EE6-4342-B048-85BDC9FD1C3A}</a:tableStyleId>
              </a:tblPr>
              <a:tblGrid>
                <a:gridCol w="6095692">
                  <a:extLst>
                    <a:ext uri="{9D8B030D-6E8A-4147-A177-3AD203B41FA5}">
                      <a16:colId xmlns:a16="http://schemas.microsoft.com/office/drawing/2014/main" val="713251629"/>
                    </a:ext>
                  </a:extLst>
                </a:gridCol>
              </a:tblGrid>
              <a:tr h="3996604">
                <a:tc>
                  <a:txBody>
                    <a:bodyPr/>
                    <a:lstStyle/>
                    <a:p>
                      <a:pPr algn="just">
                        <a:spcAft>
                          <a:spcPts val="600"/>
                        </a:spcAft>
                      </a:pPr>
                      <a:r>
                        <a:rPr lang="en-CA" sz="2800" b="1" i="0" kern="1200" dirty="0">
                          <a:solidFill>
                            <a:schemeClr val="tx1"/>
                          </a:solidFill>
                          <a:effectLst/>
                          <a:latin typeface="Arial" panose="020B0604020202020204" pitchFamily="34" charset="0"/>
                          <a:ea typeface="+mn-ea"/>
                          <a:cs typeface="Arial" panose="020B0604020202020204" pitchFamily="34" charset="0"/>
                        </a:rPr>
                        <a:t>What we heard in responses to ED-220 on the Engagement Team Definition (ADM part of Q4)</a:t>
                      </a:r>
                    </a:p>
                    <a:p>
                      <a:pPr marL="285750" indent="-285750" algn="just">
                        <a:spcAft>
                          <a:spcPts val="600"/>
                        </a:spcAft>
                        <a:buFont typeface="Arial" panose="020B0604020202020204" pitchFamily="34" charset="0"/>
                        <a:buChar char="•"/>
                      </a:pPr>
                      <a:r>
                        <a:rPr lang="en-CA" sz="2200" b="0" i="0" kern="1200" dirty="0">
                          <a:solidFill>
                            <a:schemeClr val="tx1"/>
                          </a:solidFill>
                          <a:effectLst/>
                          <a:latin typeface="Arial" panose="020B0604020202020204" pitchFamily="34" charset="0"/>
                          <a:ea typeface="+mn-ea"/>
                          <a:cs typeface="Arial" panose="020B0604020202020204" pitchFamily="34" charset="0"/>
                        </a:rPr>
                        <a:t>Consistency with the IESBA code</a:t>
                      </a:r>
                    </a:p>
                    <a:p>
                      <a:pPr marL="285750" indent="-285750" algn="just">
                        <a:spcAft>
                          <a:spcPts val="600"/>
                        </a:spcAft>
                        <a:buFont typeface="Arial" panose="020B0604020202020204" pitchFamily="34" charset="0"/>
                        <a:buChar char="•"/>
                      </a:pPr>
                      <a:r>
                        <a:rPr lang="en-CA" sz="2200" b="0" i="0" kern="1200" dirty="0">
                          <a:solidFill>
                            <a:schemeClr val="tx1"/>
                          </a:solidFill>
                          <a:effectLst/>
                          <a:latin typeface="Arial" panose="020B0604020202020204" pitchFamily="34" charset="0"/>
                          <a:ea typeface="+mn-ea"/>
                          <a:cs typeface="Arial" panose="020B0604020202020204" pitchFamily="34" charset="0"/>
                        </a:rPr>
                        <a:t>Clarity of the  definition</a:t>
                      </a:r>
                    </a:p>
                    <a:p>
                      <a:pPr marL="285750" indent="-285750" algn="just">
                        <a:spcAft>
                          <a:spcPts val="600"/>
                        </a:spcAft>
                        <a:buFont typeface="Arial" panose="020B0604020202020204" pitchFamily="34" charset="0"/>
                        <a:buChar char="•"/>
                      </a:pPr>
                      <a:r>
                        <a:rPr lang="en-CA" sz="2200" b="0" i="0" kern="1200" dirty="0">
                          <a:solidFill>
                            <a:schemeClr val="tx1"/>
                          </a:solidFill>
                          <a:effectLst/>
                          <a:latin typeface="Arial" panose="020B0604020202020204" pitchFamily="34" charset="0"/>
                          <a:ea typeface="+mn-ea"/>
                          <a:cs typeface="Arial" panose="020B0604020202020204" pitchFamily="34" charset="0"/>
                        </a:rPr>
                        <a:t>Practical implications of the definition</a:t>
                      </a: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Engagement Team Definition (Cont.)</a:t>
            </a:r>
          </a:p>
        </p:txBody>
      </p:sp>
      <p:sp>
        <p:nvSpPr>
          <p:cNvPr id="6" name="Slide Number Placeholder 5">
            <a:extLst>
              <a:ext uri="{FF2B5EF4-FFF2-40B4-BE49-F238E27FC236}">
                <a16:creationId xmlns:a16="http://schemas.microsoft.com/office/drawing/2014/main" id="{EDE42470-1E1D-467C-ADBB-DDEF12AB6F7E}"/>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13</a:t>
            </a:fld>
            <a:r>
              <a:rPr lang="en-US" sz="675" dirty="0">
                <a:solidFill>
                  <a:srgbClr val="808080"/>
                </a:solidFill>
                <a:latin typeface="Arial" panose="020B0604020202020204" pitchFamily="34" charset="0"/>
              </a:rPr>
              <a:t>  |</a:t>
            </a:r>
          </a:p>
          <a:p>
            <a:pPr algn="r"/>
            <a:endParaRPr lang="en-US" sz="675" dirty="0">
              <a:solidFill>
                <a:srgbClr val="808080"/>
              </a:solidFill>
              <a:latin typeface="Arial" panose="020B0604020202020204" pitchFamily="34" charset="0"/>
            </a:endParaRPr>
          </a:p>
        </p:txBody>
      </p:sp>
      <p:graphicFrame>
        <p:nvGraphicFramePr>
          <p:cNvPr id="10" name="Chart 9">
            <a:extLst>
              <a:ext uri="{FF2B5EF4-FFF2-40B4-BE49-F238E27FC236}">
                <a16:creationId xmlns:a16="http://schemas.microsoft.com/office/drawing/2014/main" id="{7F676E67-51AF-4AF5-858A-B85CC65C2B57}"/>
              </a:ext>
            </a:extLst>
          </p:cNvPr>
          <p:cNvGraphicFramePr/>
          <p:nvPr>
            <p:extLst>
              <p:ext uri="{D42A27DB-BD31-4B8C-83A1-F6EECF244321}">
                <p14:modId xmlns:p14="http://schemas.microsoft.com/office/powerpoint/2010/main" val="563878851"/>
              </p:ext>
            </p:extLst>
          </p:nvPr>
        </p:nvGraphicFramePr>
        <p:xfrm>
          <a:off x="6530797" y="885825"/>
          <a:ext cx="2613203" cy="38306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69824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189794" y="414337"/>
            <a:ext cx="8497006" cy="4468958"/>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buNone/>
            </a:pPr>
            <a:endParaRPr lang="en-US" b="1" dirty="0">
              <a:solidFill>
                <a:schemeClr val="tx1"/>
              </a:solidFill>
              <a:latin typeface="Arial" panose="020B0604020202020204" pitchFamily="34" charset="0"/>
              <a:cs typeface="Arial" panose="020B0604020202020204" pitchFamily="34" charset="0"/>
            </a:endParaRPr>
          </a:p>
          <a:p>
            <a:pPr marL="0" indent="0" algn="just">
              <a:spcAft>
                <a:spcPts val="600"/>
              </a:spcAft>
              <a:buNone/>
            </a:pPr>
            <a:r>
              <a:rPr lang="en-US" sz="2800" b="1" dirty="0">
                <a:solidFill>
                  <a:schemeClr val="tx1"/>
                </a:solidFill>
                <a:latin typeface="Arial" panose="020B0604020202020204" pitchFamily="34" charset="0"/>
                <a:cs typeface="Arial" panose="020B0604020202020204" pitchFamily="34" charset="0"/>
              </a:rPr>
              <a:t>What We Heard from the CAG</a:t>
            </a:r>
          </a:p>
          <a:p>
            <a:pPr algn="just">
              <a:spcBef>
                <a:spcPct val="0"/>
              </a:spcBef>
            </a:pPr>
            <a:r>
              <a:rPr lang="en-US" sz="2800" dirty="0">
                <a:solidFill>
                  <a:schemeClr val="tx1"/>
                </a:solidFill>
                <a:latin typeface="Arial" panose="020B0604020202020204" pitchFamily="34" charset="0"/>
                <a:cs typeface="Arial" panose="020B0604020202020204" pitchFamily="34" charset="0"/>
              </a:rPr>
              <a:t>Support for retaining the engagement team definition</a:t>
            </a:r>
          </a:p>
          <a:p>
            <a:pPr algn="just">
              <a:spcBef>
                <a:spcPct val="0"/>
              </a:spcBef>
            </a:pPr>
            <a:r>
              <a:rPr lang="en-US" sz="2800" dirty="0">
                <a:solidFill>
                  <a:schemeClr val="tx1"/>
                </a:solidFill>
                <a:latin typeface="Arial" panose="020B0604020202020204" pitchFamily="34" charset="0"/>
                <a:cs typeface="Arial" panose="020B0604020202020204" pitchFamily="34" charset="0"/>
              </a:rPr>
              <a:t>Assigning responsibilities to engagement team members does not absolve engagement partner of overall responsibility for audit quality</a:t>
            </a:r>
            <a:endParaRPr lang="en-US" dirty="0">
              <a:solidFill>
                <a:schemeClr val="tx1"/>
              </a:solidFill>
              <a:latin typeface="Arial" panose="020B0604020202020204" pitchFamily="34" charset="0"/>
              <a:cs typeface="Arial" panose="020B0604020202020204" pitchFamily="34" charset="0"/>
            </a:endParaRPr>
          </a:p>
          <a:p>
            <a:pPr algn="just">
              <a:spcBef>
                <a:spcPct val="0"/>
              </a:spcBef>
            </a:pPr>
            <a:endParaRPr lang="en-US" sz="2800" dirty="0">
              <a:solidFill>
                <a:schemeClr val="tx1"/>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189794" y="391114"/>
            <a:ext cx="9399494"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lvl="0"/>
            <a:r>
              <a:rPr lang="en-US" sz="2400" b="1" dirty="0"/>
              <a:t>Engagement Team Definition (Cont.)</a:t>
            </a:r>
            <a:endParaRPr lang="en-US" sz="2400" dirty="0"/>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14</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368505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1045309"/>
            <a:ext cx="8497006" cy="3837986"/>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lnSpc>
                <a:spcPts val="1800"/>
              </a:lnSpc>
              <a:spcAft>
                <a:spcPts val="600"/>
              </a:spcAft>
              <a:buNone/>
            </a:pPr>
            <a:r>
              <a:rPr lang="en-CA" sz="2800" b="1" dirty="0">
                <a:solidFill>
                  <a:schemeClr val="tx1"/>
                </a:solidFill>
                <a:latin typeface="Arial" panose="020B0604020202020204" pitchFamily="34" charset="0"/>
                <a:cs typeface="Arial" panose="020B0604020202020204" pitchFamily="34" charset="0"/>
              </a:rPr>
              <a:t>Task Force’s Preliminary Views</a:t>
            </a:r>
          </a:p>
          <a:p>
            <a:pPr marL="346075" lvl="0" indent="-346075" algn="just" fontAlgn="auto">
              <a:spcBef>
                <a:spcPts val="0"/>
              </a:spcBef>
              <a:spcAft>
                <a:spcPts val="600"/>
              </a:spcAft>
              <a:buFont typeface="Arial" panose="020B0604020202020204" pitchFamily="34" charset="0"/>
              <a:buChar char="•"/>
              <a:defRPr/>
            </a:pPr>
            <a:r>
              <a:rPr lang="en-US" dirty="0">
                <a:solidFill>
                  <a:schemeClr val="tx1"/>
                </a:solidFill>
                <a:latin typeface="Arial" panose="020B0604020202020204" pitchFamily="34" charset="0"/>
                <a:cs typeface="Arial" panose="020B0604020202020204" pitchFamily="34" charset="0"/>
              </a:rPr>
              <a:t>Retain component auditors in the  revised definition in ED-220 </a:t>
            </a:r>
          </a:p>
          <a:p>
            <a:pPr marL="346075" lvl="0" indent="-346075" algn="just" fontAlgn="auto">
              <a:spcBef>
                <a:spcPts val="0"/>
              </a:spcBef>
              <a:spcAft>
                <a:spcPts val="600"/>
              </a:spcAft>
              <a:buFont typeface="Arial" panose="020B0604020202020204" pitchFamily="34" charset="0"/>
              <a:buChar char="•"/>
              <a:defRPr/>
            </a:pPr>
            <a:r>
              <a:rPr lang="en-US" dirty="0">
                <a:solidFill>
                  <a:schemeClr val="tx1"/>
                </a:solidFill>
                <a:latin typeface="Arial" panose="020B0604020202020204" pitchFamily="34" charset="0"/>
                <a:cs typeface="Arial" panose="020B0604020202020204" pitchFamily="34" charset="0"/>
              </a:rPr>
              <a:t>Address the practical issues </a:t>
            </a:r>
          </a:p>
          <a:p>
            <a:pPr marL="346075" lvl="0" indent="-346075" algn="just" fontAlgn="auto">
              <a:spcBef>
                <a:spcPts val="0"/>
              </a:spcBef>
              <a:spcAft>
                <a:spcPts val="600"/>
              </a:spcAft>
              <a:buFont typeface="Arial" panose="020B0604020202020204" pitchFamily="34" charset="0"/>
              <a:buChar char="•"/>
              <a:defRPr/>
            </a:pPr>
            <a:r>
              <a:rPr lang="en-US" dirty="0">
                <a:solidFill>
                  <a:schemeClr val="tx1"/>
                </a:solidFill>
                <a:latin typeface="Arial" panose="020B0604020202020204" pitchFamily="34" charset="0"/>
                <a:cs typeface="Arial" panose="020B0604020202020204" pitchFamily="34" charset="0"/>
              </a:rPr>
              <a:t>Coordinate with IESBA on the engagement team definition</a:t>
            </a:r>
          </a:p>
          <a:p>
            <a:pPr marL="346075" lvl="0" indent="-346075" algn="just" fontAlgn="auto">
              <a:spcBef>
                <a:spcPts val="0"/>
              </a:spcBef>
              <a:spcAft>
                <a:spcPts val="600"/>
              </a:spcAft>
              <a:buFont typeface="Arial" panose="020B0604020202020204" pitchFamily="34" charset="0"/>
              <a:buChar char="•"/>
              <a:defRPr/>
            </a:pPr>
            <a:r>
              <a:rPr lang="en-US" dirty="0">
                <a:solidFill>
                  <a:schemeClr val="tx1"/>
                </a:solidFill>
                <a:latin typeface="Arial" panose="020B0604020202020204" pitchFamily="34" charset="0"/>
                <a:cs typeface="Arial" panose="020B0604020202020204" pitchFamily="34" charset="0"/>
              </a:rPr>
              <a:t>Coordinate with the ISA 600 Task Force</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304746" y="412188"/>
            <a:ext cx="9399494"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a:lnSpc>
                <a:spcPts val="2400"/>
              </a:lnSpc>
            </a:pPr>
            <a:r>
              <a:rPr lang="en-US" sz="2400" b="1" dirty="0"/>
              <a:t>Engagement Team Definition (Cont.)</a:t>
            </a:r>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15</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1343105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436694" y="1054110"/>
            <a:ext cx="8497006" cy="3943339"/>
          </a:xfrm>
          <a:prstGeom prst="rect">
            <a:avLst/>
          </a:prstGeom>
          <a:noFill/>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lnSpc>
                <a:spcPts val="1800"/>
              </a:lnSpc>
              <a:spcAft>
                <a:spcPts val="600"/>
              </a:spcAft>
              <a:buNone/>
            </a:pPr>
            <a:r>
              <a:rPr lang="en-US" sz="2800" b="1" dirty="0">
                <a:solidFill>
                  <a:schemeClr val="tx1"/>
                </a:solidFill>
                <a:latin typeface="Arial" panose="020B0604020202020204" pitchFamily="34" charset="0"/>
                <a:cs typeface="Arial" panose="020B0604020202020204" pitchFamily="34" charset="0"/>
              </a:rPr>
              <a:t>Matters for IAASB Consideration</a:t>
            </a:r>
          </a:p>
          <a:p>
            <a:pPr marL="457200" indent="-457200">
              <a:buNone/>
            </a:pPr>
            <a:r>
              <a:rPr lang="en-US" i="1" dirty="0">
                <a:solidFill>
                  <a:schemeClr val="tx1"/>
                </a:solidFill>
                <a:latin typeface="Arial" panose="020B0604020202020204" pitchFamily="34" charset="0"/>
                <a:cs typeface="Arial" panose="020B0604020202020204" pitchFamily="34" charset="0"/>
              </a:rPr>
              <a:t>3.	Does the IAASB agree, in light of the responses and analysis in Appendix 7, and subject to further input from the IESBA representatives, that the engagement team definition should include component auditors as they perform audit procedures on the engagement? </a:t>
            </a:r>
          </a:p>
          <a:p>
            <a:pPr marL="457200" indent="-457200">
              <a:buNone/>
            </a:pPr>
            <a:r>
              <a:rPr lang="en-US" i="1" dirty="0">
                <a:solidFill>
                  <a:schemeClr val="tx1"/>
                </a:solidFill>
                <a:latin typeface="Arial" panose="020B0604020202020204" pitchFamily="34" charset="0"/>
                <a:cs typeface="Arial" panose="020B0604020202020204" pitchFamily="34" charset="0"/>
              </a:rPr>
              <a:t>4.	Does the IAASB agree with the Task Force’s proposals to clarify the scope of the definition with additional application material?</a:t>
            </a:r>
            <a:endParaRPr lang="en-US" sz="1100" i="1" dirty="0">
              <a:solidFill>
                <a:schemeClr val="tx1"/>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130628" y="427038"/>
            <a:ext cx="9013371"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Engagement Team Definition (Cont.)</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16</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1430018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654440629"/>
              </p:ext>
            </p:extLst>
          </p:nvPr>
        </p:nvGraphicFramePr>
        <p:xfrm>
          <a:off x="310731" y="1112837"/>
          <a:ext cx="8282763" cy="3884612"/>
        </p:xfrm>
        <a:graphic>
          <a:graphicData uri="http://schemas.openxmlformats.org/drawingml/2006/table">
            <a:tbl>
              <a:tblPr firstRow="1" bandRow="1">
                <a:tableStyleId>{5C22544A-7EE6-4342-B048-85BDC9FD1C3A}</a:tableStyleId>
              </a:tblPr>
              <a:tblGrid>
                <a:gridCol w="8282763">
                  <a:extLst>
                    <a:ext uri="{9D8B030D-6E8A-4147-A177-3AD203B41FA5}">
                      <a16:colId xmlns:a16="http://schemas.microsoft.com/office/drawing/2014/main" val="713251629"/>
                    </a:ext>
                  </a:extLst>
                </a:gridCol>
              </a:tblGrid>
              <a:tr h="3884612">
                <a:tc>
                  <a:txBody>
                    <a:bodyPr/>
                    <a:lstStyle/>
                    <a:p>
                      <a:pPr marL="0" indent="0" algn="just" defTabSz="342900" rtl="0" eaLnBrk="1" fontAlgn="base" latinLnBrk="0" hangingPunct="1">
                        <a:lnSpc>
                          <a:spcPts val="1800"/>
                        </a:lnSpc>
                        <a:spcBef>
                          <a:spcPts val="776"/>
                        </a:spcBef>
                        <a:spcAft>
                          <a:spcPts val="600"/>
                        </a:spcAft>
                        <a:buNone/>
                      </a:pPr>
                      <a:r>
                        <a:rPr lang="en-US" sz="2800" b="1" kern="1200" dirty="0">
                          <a:solidFill>
                            <a:schemeClr val="tx1"/>
                          </a:solidFill>
                          <a:latin typeface="Arial" panose="020B0604020202020204" pitchFamily="34" charset="0"/>
                          <a:ea typeface="ＭＳ Ｐゴシック" charset="0"/>
                          <a:cs typeface="Arial" panose="020B0604020202020204" pitchFamily="34" charset="0"/>
                        </a:rPr>
                        <a:t>Question 7 of the EM to ED-220 asked:</a:t>
                      </a:r>
                    </a:p>
                    <a:p>
                      <a:pPr marL="0" lvl="0" indent="-342900" algn="just" defTabSz="342900" rtl="0" eaLnBrk="1" fontAlgn="base" latinLnBrk="0" hangingPunct="1">
                        <a:spcBef>
                          <a:spcPts val="776"/>
                        </a:spcBef>
                        <a:spcAft>
                          <a:spcPts val="600"/>
                        </a:spcAft>
                        <a:buNone/>
                      </a:pPr>
                      <a:r>
                        <a:rPr lang="en-US" sz="2400" b="0" i="1" kern="1200" dirty="0">
                          <a:solidFill>
                            <a:schemeClr val="tx1"/>
                          </a:solidFill>
                          <a:latin typeface="Arial" panose="020B0604020202020204" pitchFamily="34" charset="0"/>
                          <a:ea typeface="ＭＳ Ｐゴシック" charset="0"/>
                          <a:cs typeface="Arial" panose="020B0604020202020204" pitchFamily="34" charset="0"/>
                        </a:rPr>
                        <a:t>Is ED-220 appropriately scalable to engagements of different sizes and complexity, including through the focus on the nature and circumstances of the engagement in the requirements? </a:t>
                      </a: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Scalability</a:t>
            </a:r>
          </a:p>
        </p:txBody>
      </p:sp>
      <p:sp>
        <p:nvSpPr>
          <p:cNvPr id="6" name="Slide Number Placeholder 5">
            <a:extLst>
              <a:ext uri="{FF2B5EF4-FFF2-40B4-BE49-F238E27FC236}">
                <a16:creationId xmlns:a16="http://schemas.microsoft.com/office/drawing/2014/main" id="{EDE42470-1E1D-467C-ADBB-DDEF12AB6F7E}"/>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17</a:t>
            </a:fld>
            <a:r>
              <a:rPr lang="en-US" sz="675" dirty="0">
                <a:solidFill>
                  <a:srgbClr val="808080"/>
                </a:solidFill>
                <a:latin typeface="Arial" panose="020B0604020202020204" pitchFamily="34" charset="0"/>
              </a:rPr>
              <a:t>  |</a:t>
            </a:r>
          </a:p>
          <a:p>
            <a:pPr algn="r"/>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44495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DCF21A7A-89E6-4D73-9C9E-20947420A5A0}"/>
              </a:ext>
            </a:extLst>
          </p:cNvPr>
          <p:cNvGraphicFramePr>
            <a:graphicFrameLocks noGrp="1"/>
          </p:cNvGraphicFramePr>
          <p:nvPr>
            <p:extLst>
              <p:ext uri="{D42A27DB-BD31-4B8C-83A1-F6EECF244321}">
                <p14:modId xmlns:p14="http://schemas.microsoft.com/office/powerpoint/2010/main" val="1018312158"/>
              </p:ext>
            </p:extLst>
          </p:nvPr>
        </p:nvGraphicFramePr>
        <p:xfrm>
          <a:off x="436498" y="885825"/>
          <a:ext cx="6094299" cy="3830637"/>
        </p:xfrm>
        <a:graphic>
          <a:graphicData uri="http://schemas.openxmlformats.org/drawingml/2006/table">
            <a:tbl>
              <a:tblPr firstRow="1" bandRow="1">
                <a:tableStyleId>{5C22544A-7EE6-4342-B048-85BDC9FD1C3A}</a:tableStyleId>
              </a:tblPr>
              <a:tblGrid>
                <a:gridCol w="6094299">
                  <a:extLst>
                    <a:ext uri="{9D8B030D-6E8A-4147-A177-3AD203B41FA5}">
                      <a16:colId xmlns:a16="http://schemas.microsoft.com/office/drawing/2014/main" val="713251629"/>
                    </a:ext>
                  </a:extLst>
                </a:gridCol>
              </a:tblGrid>
              <a:tr h="3830637">
                <a:tc>
                  <a:txBody>
                    <a:bodyPr/>
                    <a:lstStyle/>
                    <a:p>
                      <a:pPr algn="just">
                        <a:spcAft>
                          <a:spcPts val="600"/>
                        </a:spcAft>
                      </a:pPr>
                      <a:r>
                        <a:rPr lang="en-CA" sz="2800" b="1" i="0" kern="1200" dirty="0">
                          <a:solidFill>
                            <a:schemeClr val="tx1"/>
                          </a:solidFill>
                          <a:effectLst/>
                          <a:latin typeface="Arial" panose="020B0604020202020204" pitchFamily="34" charset="0"/>
                          <a:ea typeface="+mn-ea"/>
                          <a:cs typeface="Arial" panose="020B0604020202020204" pitchFamily="34" charset="0"/>
                        </a:rPr>
                        <a:t>What We Heard in Responses to ED-220 (Q7)</a:t>
                      </a:r>
                    </a:p>
                    <a:p>
                      <a:pPr marL="342900" marR="0" lvl="0" indent="-342900" algn="just" defTabSz="3429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CA" sz="2400" b="0" i="0" kern="1200" dirty="0">
                          <a:solidFill>
                            <a:schemeClr val="tx1"/>
                          </a:solidFill>
                          <a:effectLst/>
                          <a:latin typeface="Arial" panose="020B0604020202020204" pitchFamily="34" charset="0"/>
                          <a:ea typeface="+mn-ea"/>
                          <a:cs typeface="Arial" panose="020B0604020202020204" pitchFamily="34" charset="0"/>
                        </a:rPr>
                        <a:t>Positive responses overall</a:t>
                      </a:r>
                    </a:p>
                    <a:p>
                      <a:pPr marL="342900" marR="0" lvl="0" indent="-342900" algn="just" defTabSz="3429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CA" sz="2400" b="0" i="0" kern="1200" dirty="0">
                          <a:solidFill>
                            <a:schemeClr val="tx1"/>
                          </a:solidFill>
                          <a:effectLst/>
                          <a:latin typeface="Arial" panose="020B0604020202020204" pitchFamily="34" charset="0"/>
                          <a:ea typeface="+mn-ea"/>
                          <a:cs typeface="Arial" panose="020B0604020202020204" pitchFamily="34" charset="0"/>
                        </a:rPr>
                        <a:t>Questions about whether the engagement partner can personally fulfil all requirements (“upward scalability”)</a:t>
                      </a:r>
                    </a:p>
                    <a:p>
                      <a:pPr marL="342900" marR="0" lvl="0" indent="-342900" algn="just" defTabSz="3429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CA" sz="2400" b="0" i="0" kern="1200" dirty="0">
                          <a:solidFill>
                            <a:schemeClr val="tx1"/>
                          </a:solidFill>
                          <a:effectLst/>
                          <a:latin typeface="Arial" panose="020B0604020202020204" pitchFamily="34" charset="0"/>
                          <a:ea typeface="+mn-ea"/>
                          <a:cs typeface="Arial" panose="020B0604020202020204" pitchFamily="34" charset="0"/>
                        </a:rPr>
                        <a:t>Closely linked to other key issues</a:t>
                      </a:r>
                    </a:p>
                    <a:p>
                      <a:pPr marL="342900" marR="0" lvl="0" indent="-342900" algn="just" defTabSz="3429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CA" sz="2400" b="0" i="0" kern="1200" dirty="0">
                          <a:solidFill>
                            <a:schemeClr val="tx1"/>
                          </a:solidFill>
                          <a:effectLst/>
                          <a:latin typeface="Arial" panose="020B0604020202020204" pitchFamily="34" charset="0"/>
                          <a:ea typeface="+mn-ea"/>
                          <a:cs typeface="Arial" panose="020B0604020202020204" pitchFamily="34" charset="0"/>
                        </a:rPr>
                        <a:t>Desire for appendix on LCE scalability to be in the ISA</a:t>
                      </a: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65314" y="427038"/>
            <a:ext cx="9078686"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Scalability (Cont.)</a:t>
            </a:r>
          </a:p>
        </p:txBody>
      </p:sp>
      <p:sp>
        <p:nvSpPr>
          <p:cNvPr id="6" name="Slide Number Placeholder 5">
            <a:extLst>
              <a:ext uri="{FF2B5EF4-FFF2-40B4-BE49-F238E27FC236}">
                <a16:creationId xmlns:a16="http://schemas.microsoft.com/office/drawing/2014/main" id="{EDE42470-1E1D-467C-ADBB-DDEF12AB6F7E}"/>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18</a:t>
            </a:fld>
            <a:r>
              <a:rPr lang="en-US" sz="675" dirty="0">
                <a:solidFill>
                  <a:srgbClr val="808080"/>
                </a:solidFill>
                <a:latin typeface="Arial" panose="020B0604020202020204" pitchFamily="34" charset="0"/>
              </a:rPr>
              <a:t>  |</a:t>
            </a:r>
          </a:p>
        </p:txBody>
      </p:sp>
      <p:graphicFrame>
        <p:nvGraphicFramePr>
          <p:cNvPr id="10" name="Chart 9">
            <a:extLst>
              <a:ext uri="{FF2B5EF4-FFF2-40B4-BE49-F238E27FC236}">
                <a16:creationId xmlns:a16="http://schemas.microsoft.com/office/drawing/2014/main" id="{7F676E67-51AF-4AF5-858A-B85CC65C2B57}"/>
              </a:ext>
            </a:extLst>
          </p:cNvPr>
          <p:cNvGraphicFramePr/>
          <p:nvPr/>
        </p:nvGraphicFramePr>
        <p:xfrm>
          <a:off x="6530797" y="885825"/>
          <a:ext cx="2613203" cy="38306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33525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936852"/>
            <a:ext cx="8497006" cy="3065982"/>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spcBef>
                <a:spcPts val="0"/>
              </a:spcBef>
              <a:spcAft>
                <a:spcPts val="600"/>
              </a:spcAft>
              <a:buNone/>
            </a:pPr>
            <a:r>
              <a:rPr lang="en-US" sz="2800" b="1" dirty="0">
                <a:solidFill>
                  <a:schemeClr val="tx1"/>
                </a:solidFill>
                <a:latin typeface="Arial" panose="020B0604020202020204" pitchFamily="34" charset="0"/>
                <a:cs typeface="Arial" panose="020B0604020202020204" pitchFamily="34" charset="0"/>
              </a:rPr>
              <a:t>What We Heard from the CAG</a:t>
            </a:r>
          </a:p>
          <a:p>
            <a:pPr algn="just">
              <a:spcBef>
                <a:spcPct val="0"/>
              </a:spcBef>
            </a:pPr>
            <a:r>
              <a:rPr lang="en-US" sz="2800" dirty="0">
                <a:solidFill>
                  <a:schemeClr val="tx1"/>
                </a:solidFill>
                <a:latin typeface="Arial" panose="020B0604020202020204" pitchFamily="34" charset="0"/>
                <a:cs typeface="Arial" panose="020B0604020202020204" pitchFamily="34" charset="0"/>
              </a:rPr>
              <a:t>Important to retain a principles-based approach</a:t>
            </a:r>
          </a:p>
          <a:p>
            <a:pPr algn="just">
              <a:spcBef>
                <a:spcPct val="0"/>
              </a:spcBef>
            </a:pPr>
            <a:r>
              <a:rPr lang="en-US" sz="2800" dirty="0">
                <a:solidFill>
                  <a:schemeClr val="tx1"/>
                </a:solidFill>
                <a:latin typeface="Arial" panose="020B0604020202020204" pitchFamily="34" charset="0"/>
                <a:cs typeface="Arial" panose="020B0604020202020204" pitchFamily="34" charset="0"/>
              </a:rPr>
              <a:t>Need to retain a balance between appropriate assignment of procedures, tasks or actions to engagement team members and overall responsibility for audit quality</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59307"/>
            <a:ext cx="9747908"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Scalability (Cont.)</a:t>
            </a:r>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19</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1526400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88566519"/>
              </p:ext>
            </p:extLst>
          </p:nvPr>
        </p:nvGraphicFramePr>
        <p:xfrm>
          <a:off x="457200" y="883290"/>
          <a:ext cx="8469243" cy="3833171"/>
        </p:xfrm>
        <a:graphic>
          <a:graphicData uri="http://schemas.openxmlformats.org/drawingml/2006/table">
            <a:tbl>
              <a:tblPr firstRow="1" bandRow="1">
                <a:tableStyleId>{5C22544A-7EE6-4342-B048-85BDC9FD1C3A}</a:tableStyleId>
              </a:tblPr>
              <a:tblGrid>
                <a:gridCol w="8469243">
                  <a:extLst>
                    <a:ext uri="{9D8B030D-6E8A-4147-A177-3AD203B41FA5}">
                      <a16:colId xmlns:a16="http://schemas.microsoft.com/office/drawing/2014/main" val="713251629"/>
                    </a:ext>
                  </a:extLst>
                </a:gridCol>
              </a:tblGrid>
              <a:tr h="3833171">
                <a:tc>
                  <a:txBody>
                    <a:bodyPr/>
                    <a:lstStyle/>
                    <a:p>
                      <a:pPr marL="0" indent="0" algn="just" defTabSz="342900" rtl="0" eaLnBrk="1" fontAlgn="base" latinLnBrk="0" hangingPunct="1">
                        <a:lnSpc>
                          <a:spcPts val="1800"/>
                        </a:lnSpc>
                        <a:spcBef>
                          <a:spcPts val="776"/>
                        </a:spcBef>
                        <a:spcAft>
                          <a:spcPct val="0"/>
                        </a:spcAft>
                        <a:buNone/>
                      </a:pPr>
                      <a:endParaRPr lang="en-CA" sz="2800" b="1" kern="1200" dirty="0">
                        <a:solidFill>
                          <a:schemeClr val="tx1"/>
                        </a:solidFill>
                        <a:latin typeface="Arial" panose="020B0604020202020204" pitchFamily="34" charset="0"/>
                        <a:ea typeface="ＭＳ Ｐゴシック" charset="0"/>
                        <a:cs typeface="Arial" panose="020B0604020202020204" pitchFamily="34" charset="0"/>
                      </a:endParaRPr>
                    </a:p>
                    <a:p>
                      <a:pPr marL="0" indent="0" algn="just" defTabSz="342900" rtl="0" eaLnBrk="1" fontAlgn="base" latinLnBrk="0" hangingPunct="1">
                        <a:lnSpc>
                          <a:spcPts val="1800"/>
                        </a:lnSpc>
                        <a:spcBef>
                          <a:spcPts val="0"/>
                        </a:spcBef>
                        <a:spcAft>
                          <a:spcPts val="600"/>
                        </a:spcAft>
                        <a:buNone/>
                      </a:pPr>
                      <a:r>
                        <a:rPr lang="en-CA" sz="2800" b="1" kern="1200" baseline="0" dirty="0">
                          <a:solidFill>
                            <a:schemeClr val="tx1"/>
                          </a:solidFill>
                          <a:latin typeface="Arial" panose="020B0604020202020204" pitchFamily="34" charset="0"/>
                          <a:ea typeface="ＭＳ Ｐゴシック" charset="0"/>
                          <a:cs typeface="Arial" panose="020B0604020202020204" pitchFamily="34" charset="0"/>
                        </a:rPr>
                        <a:t>Task Force’s Preliminary Views</a:t>
                      </a:r>
                    </a:p>
                    <a:p>
                      <a:pPr marL="347472" marR="0" lvl="0" indent="-347472" algn="just" defTabSz="342900" rtl="0" eaLnBrk="1" fontAlgn="auto" latinLnBrk="0" hangingPunct="1">
                        <a:lnSpc>
                          <a:spcPts val="2400"/>
                        </a:lnSpc>
                        <a:spcBef>
                          <a:spcPts val="776"/>
                        </a:spcBef>
                        <a:spcAft>
                          <a:spcPts val="600"/>
                        </a:spcAft>
                        <a:buClrTx/>
                        <a:buSzTx/>
                        <a:buFont typeface="Arial" panose="020B0604020202020204" pitchFamily="34" charset="0"/>
                        <a:buChar char="•"/>
                        <a:tabLst/>
                        <a:defRPr/>
                      </a:pPr>
                      <a:r>
                        <a:rPr lang="en-US" sz="2400" b="0" kern="1200" dirty="0">
                          <a:solidFill>
                            <a:schemeClr val="tx1"/>
                          </a:solidFill>
                          <a:effectLst/>
                          <a:latin typeface="Arial" panose="020B0604020202020204" pitchFamily="34" charset="0"/>
                          <a:ea typeface="+mn-ea"/>
                          <a:cs typeface="Arial" panose="020B0604020202020204" pitchFamily="34" charset="0"/>
                        </a:rPr>
                        <a:t>Clarify responsibilities the engagement partner may assign to other engagement team members</a:t>
                      </a:r>
                    </a:p>
                    <a:p>
                      <a:pPr marL="347472" marR="0" lvl="0" indent="-347472" algn="just" defTabSz="342900" rtl="0" eaLnBrk="1" fontAlgn="auto" latinLnBrk="0" hangingPunct="1">
                        <a:lnSpc>
                          <a:spcPts val="2400"/>
                        </a:lnSpc>
                        <a:spcBef>
                          <a:spcPts val="0"/>
                        </a:spcBef>
                        <a:spcAft>
                          <a:spcPts val="600"/>
                        </a:spcAft>
                        <a:buClrTx/>
                        <a:buSzTx/>
                        <a:buFont typeface="Arial" panose="020B0604020202020204" pitchFamily="34" charset="0"/>
                        <a:buChar char="•"/>
                        <a:tabLst/>
                        <a:defRPr/>
                      </a:pPr>
                      <a:r>
                        <a:rPr lang="en-US" sz="2400" b="0" kern="1200" dirty="0">
                          <a:solidFill>
                            <a:schemeClr val="tx1"/>
                          </a:solidFill>
                          <a:effectLst/>
                          <a:latin typeface="Arial" panose="020B0604020202020204" pitchFamily="34" charset="0"/>
                          <a:ea typeface="+mn-ea"/>
                          <a:cs typeface="Arial" panose="020B0604020202020204" pitchFamily="34" charset="0"/>
                        </a:rPr>
                        <a:t>For audits of less complex entities (LCEs), put current guidance in a prominent and accessible place</a:t>
                      </a:r>
                    </a:p>
                    <a:p>
                      <a:r>
                        <a:rPr lang="en-US" sz="1350" b="1" kern="1200" baseline="30000" dirty="0">
                          <a:solidFill>
                            <a:schemeClr val="lt1"/>
                          </a:solidFill>
                          <a:effectLst/>
                          <a:latin typeface="+mn-lt"/>
                          <a:ea typeface="+mn-ea"/>
                          <a:cs typeface="+mn-cs"/>
                        </a:rPr>
                        <a:t>	</a:t>
                      </a:r>
                      <a:r>
                        <a:rPr lang="en-US" sz="1350" b="1" kern="1200" dirty="0">
                          <a:solidFill>
                            <a:schemeClr val="lt1"/>
                          </a:solidFill>
                          <a:effectLst/>
                          <a:latin typeface="+mn-lt"/>
                          <a:ea typeface="+mn-ea"/>
                          <a:cs typeface="+mn-cs"/>
                        </a:rPr>
                        <a:t> </a:t>
                      </a:r>
                    </a:p>
                    <a:p>
                      <a:pPr marL="347472" marR="0" lvl="0" indent="-347472" algn="just" defTabSz="342900" rtl="0" eaLnBrk="1" fontAlgn="auto" latinLnBrk="0" hangingPunct="1">
                        <a:lnSpc>
                          <a:spcPts val="1800"/>
                        </a:lnSpc>
                        <a:spcBef>
                          <a:spcPts val="0"/>
                        </a:spcBef>
                        <a:spcAft>
                          <a:spcPts val="0"/>
                        </a:spcAft>
                        <a:buClrTx/>
                        <a:buSzTx/>
                        <a:buFont typeface="Arial" panose="020B0604020202020204" pitchFamily="34" charset="0"/>
                        <a:buChar char="•"/>
                        <a:tabLst/>
                        <a:defRPr/>
                      </a:pPr>
                      <a:endParaRPr lang="en-US" sz="1400" b="0" kern="1200" dirty="0">
                        <a:solidFill>
                          <a:schemeClr val="lt1"/>
                        </a:solidFill>
                        <a:effectLst/>
                        <a:latin typeface="Arial" panose="020B0604020202020204" pitchFamily="34" charset="0"/>
                        <a:ea typeface="+mn-ea"/>
                        <a:cs typeface="Arial" panose="020B0604020202020204" pitchFamily="34" charset="0"/>
                      </a:endParaRPr>
                    </a:p>
                  </a:txBody>
                  <a:tcPr>
                    <a:noFill/>
                  </a:tcPr>
                </a:tc>
                <a:extLst>
                  <a:ext uri="{0D108BD9-81ED-4DB2-BD59-A6C34878D82A}">
                    <a16:rowId xmlns:a16="http://schemas.microsoft.com/office/drawing/2014/main" val="49378877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83976" y="427038"/>
            <a:ext cx="9060024"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Scalability (Cont.)</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20</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3613083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436694" y="831850"/>
            <a:ext cx="8497006" cy="3943339"/>
          </a:xfrm>
          <a:prstGeom prst="rect">
            <a:avLst/>
          </a:prstGeom>
          <a:noFill/>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lnSpc>
                <a:spcPts val="1800"/>
              </a:lnSpc>
              <a:buNone/>
            </a:pPr>
            <a:endParaRPr lang="en-US" sz="2800" b="1" dirty="0">
              <a:solidFill>
                <a:schemeClr val="tx1"/>
              </a:solidFill>
              <a:latin typeface="Arial" panose="020B0604020202020204" pitchFamily="34" charset="0"/>
              <a:cs typeface="Arial" panose="020B0604020202020204" pitchFamily="34" charset="0"/>
            </a:endParaRPr>
          </a:p>
          <a:p>
            <a:pPr marL="0" indent="0" algn="just">
              <a:lnSpc>
                <a:spcPts val="1800"/>
              </a:lnSpc>
              <a:buNone/>
            </a:pPr>
            <a:r>
              <a:rPr lang="en-US" sz="2800" b="1" dirty="0">
                <a:solidFill>
                  <a:schemeClr val="tx1"/>
                </a:solidFill>
                <a:latin typeface="Arial" panose="020B0604020202020204" pitchFamily="34" charset="0"/>
                <a:cs typeface="Arial" panose="020B0604020202020204" pitchFamily="34" charset="0"/>
              </a:rPr>
              <a:t>Matter for IAASB Consideration</a:t>
            </a:r>
          </a:p>
          <a:p>
            <a:pPr marL="457200" lvl="0" indent="-457200">
              <a:buNone/>
            </a:pPr>
            <a:r>
              <a:rPr lang="en-US" i="1" dirty="0">
                <a:solidFill>
                  <a:schemeClr val="tx1"/>
                </a:solidFill>
                <a:latin typeface="Arial" panose="020B0604020202020204" pitchFamily="34" charset="0"/>
                <a:cs typeface="Arial" panose="020B0604020202020204" pitchFamily="34" charset="0"/>
              </a:rPr>
              <a:t>5.	Does the IAASB agree with the Task Force’s proposals improving the upward scalability of ED‑220 for larger, more complex engagements?</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Scalability (Cont.)</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21</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7232856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4A09D6E-E118-4148-8EA1-5AC4A04F6729}"/>
              </a:ext>
            </a:extLst>
          </p:cNvPr>
          <p:cNvSpPr txBox="1">
            <a:spLocks noGrp="1"/>
          </p:cNvSpPr>
          <p:nvPr>
            <p:ph type="title"/>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Other Matters</a:t>
            </a:r>
          </a:p>
        </p:txBody>
      </p:sp>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2337901154"/>
              </p:ext>
            </p:extLst>
          </p:nvPr>
        </p:nvGraphicFramePr>
        <p:xfrm>
          <a:off x="342902" y="831850"/>
          <a:ext cx="8489042" cy="3762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5">
            <a:extLst>
              <a:ext uri="{FF2B5EF4-FFF2-40B4-BE49-F238E27FC236}">
                <a16:creationId xmlns:a16="http://schemas.microsoft.com/office/drawing/2014/main" id="{5C22CE8F-9B8C-4BF7-B7EA-FDF950632F42}"/>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22</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146486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952589039"/>
              </p:ext>
            </p:extLst>
          </p:nvPr>
        </p:nvGraphicFramePr>
        <p:xfrm>
          <a:off x="337313" y="1087018"/>
          <a:ext cx="8282763" cy="4065813"/>
        </p:xfrm>
        <a:graphic>
          <a:graphicData uri="http://schemas.openxmlformats.org/drawingml/2006/table">
            <a:tbl>
              <a:tblPr firstRow="1" bandRow="1">
                <a:tableStyleId>{5C22544A-7EE6-4342-B048-85BDC9FD1C3A}</a:tableStyleId>
              </a:tblPr>
              <a:tblGrid>
                <a:gridCol w="8282763">
                  <a:extLst>
                    <a:ext uri="{9D8B030D-6E8A-4147-A177-3AD203B41FA5}">
                      <a16:colId xmlns:a16="http://schemas.microsoft.com/office/drawing/2014/main" val="713251629"/>
                    </a:ext>
                  </a:extLst>
                </a:gridCol>
              </a:tblGrid>
              <a:tr h="4065813">
                <a:tc>
                  <a:txBody>
                    <a:bodyPr/>
                    <a:lstStyle/>
                    <a:p>
                      <a:pPr marL="0" indent="0" algn="just" defTabSz="342900" rtl="0" eaLnBrk="1" fontAlgn="base" latinLnBrk="0" hangingPunct="1">
                        <a:lnSpc>
                          <a:spcPts val="1800"/>
                        </a:lnSpc>
                        <a:spcBef>
                          <a:spcPts val="0"/>
                        </a:spcBef>
                        <a:spcAft>
                          <a:spcPts val="600"/>
                        </a:spcAft>
                        <a:buNone/>
                      </a:pPr>
                      <a:r>
                        <a:rPr lang="en-US" sz="2800" b="1" kern="1200" dirty="0">
                          <a:solidFill>
                            <a:schemeClr val="tx1"/>
                          </a:solidFill>
                          <a:latin typeface="Arial" panose="020B0604020202020204" pitchFamily="34" charset="0"/>
                          <a:ea typeface="ＭＳ Ｐゴシック" charset="0"/>
                          <a:cs typeface="Arial" panose="020B0604020202020204" pitchFamily="34" charset="0"/>
                        </a:rPr>
                        <a:t>Question 5 of the EM to ED-220 asked:</a:t>
                      </a:r>
                      <a:r>
                        <a:rPr lang="en-US" sz="1200" b="1" kern="1200" dirty="0">
                          <a:solidFill>
                            <a:schemeClr val="lt1"/>
                          </a:solidFill>
                          <a:effectLst/>
                          <a:latin typeface="+mn-lt"/>
                          <a:ea typeface="+mn-ea"/>
                          <a:cs typeface="+mn-cs"/>
                        </a:rPr>
                        <a:t>0 have appropriate linkages with the ISQMs? Do you support the requirements to follow the firm’s </a:t>
                      </a:r>
                    </a:p>
                    <a:p>
                      <a:pPr marL="0" marR="0" lvl="0" indent="-342900" algn="just" defTabSz="342900" rtl="0" eaLnBrk="1" fontAlgn="base" latinLnBrk="0" hangingPunct="1">
                        <a:lnSpc>
                          <a:spcPct val="100000"/>
                        </a:lnSpc>
                        <a:spcBef>
                          <a:spcPts val="776"/>
                        </a:spcBef>
                        <a:spcAft>
                          <a:spcPts val="600"/>
                        </a:spcAft>
                        <a:buClrTx/>
                        <a:buSzTx/>
                        <a:buFontTx/>
                        <a:buNone/>
                        <a:tabLst/>
                        <a:defRPr/>
                      </a:pPr>
                      <a:r>
                        <a:rPr lang="en-US" sz="2400" b="0" i="1" kern="1200" dirty="0">
                          <a:solidFill>
                            <a:schemeClr val="tx1"/>
                          </a:solidFill>
                          <a:latin typeface="Arial" panose="020B0604020202020204" pitchFamily="34" charset="0"/>
                          <a:ea typeface="ＭＳ Ｐゴシック" charset="0"/>
                          <a:cs typeface="Arial" panose="020B0604020202020204" pitchFamily="34" charset="0"/>
                        </a:rPr>
                        <a:t>Do you support the revised requirements and guidance on direction, supervision and review? (See paragraphs 27–31 and A68–A80 of ED-220)</a:t>
                      </a:r>
                    </a:p>
                    <a:p>
                      <a:pPr lvl="0">
                        <a:lnSpc>
                          <a:spcPts val="1800"/>
                        </a:lnSpc>
                        <a:spcAft>
                          <a:spcPts val="600"/>
                        </a:spcAft>
                      </a:pPr>
                      <a:endParaRPr lang="en-US" sz="2000" b="1" kern="1200" dirty="0">
                        <a:solidFill>
                          <a:schemeClr val="tx1"/>
                        </a:solidFill>
                        <a:effectLst/>
                        <a:latin typeface="Arial" panose="020B0604020202020204" pitchFamily="34" charset="0"/>
                        <a:ea typeface="+mn-ea"/>
                        <a:cs typeface="Arial" panose="020B0604020202020204" pitchFamily="34" charset="0"/>
                      </a:endParaRP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Direction, Supervision and Review</a:t>
            </a:r>
          </a:p>
        </p:txBody>
      </p:sp>
      <p:sp>
        <p:nvSpPr>
          <p:cNvPr id="6" name="Slide Number Placeholder 5">
            <a:extLst>
              <a:ext uri="{FF2B5EF4-FFF2-40B4-BE49-F238E27FC236}">
                <a16:creationId xmlns:a16="http://schemas.microsoft.com/office/drawing/2014/main" id="{EDE42470-1E1D-467C-ADBB-DDEF12AB6F7E}"/>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23</a:t>
            </a:fld>
            <a:r>
              <a:rPr lang="en-US" sz="675" dirty="0">
                <a:solidFill>
                  <a:srgbClr val="808080"/>
                </a:solidFill>
                <a:latin typeface="Arial" panose="020B0604020202020204" pitchFamily="34" charset="0"/>
              </a:rPr>
              <a:t>  |</a:t>
            </a:r>
          </a:p>
          <a:p>
            <a:pPr algn="r"/>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266347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DCF21A7A-89E6-4D73-9C9E-20947420A5A0}"/>
              </a:ext>
            </a:extLst>
          </p:cNvPr>
          <p:cNvGraphicFramePr>
            <a:graphicFrameLocks noGrp="1"/>
          </p:cNvGraphicFramePr>
          <p:nvPr>
            <p:extLst>
              <p:ext uri="{D42A27DB-BD31-4B8C-83A1-F6EECF244321}">
                <p14:modId xmlns:p14="http://schemas.microsoft.com/office/powerpoint/2010/main" val="22977643"/>
              </p:ext>
            </p:extLst>
          </p:nvPr>
        </p:nvGraphicFramePr>
        <p:xfrm>
          <a:off x="436498" y="885825"/>
          <a:ext cx="6094299" cy="4084320"/>
        </p:xfrm>
        <a:graphic>
          <a:graphicData uri="http://schemas.openxmlformats.org/drawingml/2006/table">
            <a:tbl>
              <a:tblPr firstRow="1" bandRow="1">
                <a:tableStyleId>{5C22544A-7EE6-4342-B048-85BDC9FD1C3A}</a:tableStyleId>
              </a:tblPr>
              <a:tblGrid>
                <a:gridCol w="6094299">
                  <a:extLst>
                    <a:ext uri="{9D8B030D-6E8A-4147-A177-3AD203B41FA5}">
                      <a16:colId xmlns:a16="http://schemas.microsoft.com/office/drawing/2014/main" val="713251629"/>
                    </a:ext>
                  </a:extLst>
                </a:gridCol>
              </a:tblGrid>
              <a:tr h="3830637">
                <a:tc>
                  <a:txBody>
                    <a:bodyPr/>
                    <a:lstStyle/>
                    <a:p>
                      <a:pPr algn="just">
                        <a:spcAft>
                          <a:spcPts val="600"/>
                        </a:spcAft>
                      </a:pPr>
                      <a:r>
                        <a:rPr lang="en-CA" sz="2800" b="1" i="0" kern="1200" dirty="0">
                          <a:solidFill>
                            <a:schemeClr val="tx1"/>
                          </a:solidFill>
                          <a:effectLst/>
                          <a:latin typeface="Arial" panose="020B0604020202020204" pitchFamily="34" charset="0"/>
                          <a:ea typeface="+mn-ea"/>
                          <a:cs typeface="Arial" panose="020B0604020202020204" pitchFamily="34" charset="0"/>
                        </a:rPr>
                        <a:t>What We Heard in Responses to ED-220 (Q5)</a:t>
                      </a:r>
                    </a:p>
                    <a:p>
                      <a:pPr marL="342900" marR="0" lvl="0" indent="-342900" algn="just" defTabSz="3429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CA" sz="2200" b="0" i="0" kern="1200" dirty="0">
                          <a:solidFill>
                            <a:schemeClr val="tx1"/>
                          </a:solidFill>
                          <a:effectLst/>
                          <a:latin typeface="Arial" panose="020B0604020202020204" pitchFamily="34" charset="0"/>
                          <a:ea typeface="+mn-ea"/>
                          <a:cs typeface="Arial" panose="020B0604020202020204" pitchFamily="34" charset="0"/>
                        </a:rPr>
                        <a:t>Positive responses overall</a:t>
                      </a:r>
                    </a:p>
                    <a:p>
                      <a:pPr marL="692150" marR="0" lvl="0" indent="-342900" algn="just" defTabSz="342900" rtl="0" eaLnBrk="1" fontAlgn="auto" latinLnBrk="0" hangingPunct="1">
                        <a:lnSpc>
                          <a:spcPct val="100000"/>
                        </a:lnSpc>
                        <a:spcBef>
                          <a:spcPts val="0"/>
                        </a:spcBef>
                        <a:spcAft>
                          <a:spcPts val="600"/>
                        </a:spcAft>
                        <a:buClrTx/>
                        <a:buSzTx/>
                        <a:buFont typeface="Courier New" panose="02070309020205020404" pitchFamily="49" charset="0"/>
                        <a:buChar char="o"/>
                        <a:tabLst/>
                        <a:defRPr/>
                      </a:pPr>
                      <a:r>
                        <a:rPr lang="en-CA" sz="2200" b="0" i="0" kern="1200" dirty="0">
                          <a:solidFill>
                            <a:schemeClr val="tx1"/>
                          </a:solidFill>
                          <a:effectLst/>
                          <a:latin typeface="Arial" panose="020B0604020202020204" pitchFamily="34" charset="0"/>
                          <a:ea typeface="+mn-ea"/>
                          <a:cs typeface="Arial" panose="020B0604020202020204" pitchFamily="34" charset="0"/>
                        </a:rPr>
                        <a:t>Support for level of specificity</a:t>
                      </a:r>
                    </a:p>
                    <a:p>
                      <a:pPr marL="692150" marR="0" lvl="0" indent="-342900" algn="just" defTabSz="342900" rtl="0" eaLnBrk="1" fontAlgn="auto" latinLnBrk="0" hangingPunct="1">
                        <a:lnSpc>
                          <a:spcPct val="100000"/>
                        </a:lnSpc>
                        <a:spcBef>
                          <a:spcPts val="0"/>
                        </a:spcBef>
                        <a:spcAft>
                          <a:spcPts val="600"/>
                        </a:spcAft>
                        <a:buClrTx/>
                        <a:buSzTx/>
                        <a:buFont typeface="Courier New" panose="02070309020205020404" pitchFamily="49" charset="0"/>
                        <a:buChar char="o"/>
                        <a:tabLst/>
                        <a:defRPr/>
                      </a:pPr>
                      <a:r>
                        <a:rPr lang="en-CA" sz="2200" b="0" i="0" kern="1200" dirty="0">
                          <a:solidFill>
                            <a:schemeClr val="tx1"/>
                          </a:solidFill>
                          <a:effectLst/>
                          <a:latin typeface="Arial" panose="020B0604020202020204" pitchFamily="34" charset="0"/>
                          <a:ea typeface="+mn-ea"/>
                          <a:cs typeface="Arial" panose="020B0604020202020204" pitchFamily="34" charset="0"/>
                        </a:rPr>
                        <a:t>Represent a significant enhancement to extant ISA 220</a:t>
                      </a:r>
                    </a:p>
                    <a:p>
                      <a:pPr marL="692150" marR="0" lvl="0" indent="-342900" algn="just" defTabSz="342900" rtl="0" eaLnBrk="1" fontAlgn="auto" latinLnBrk="0" hangingPunct="1">
                        <a:lnSpc>
                          <a:spcPct val="100000"/>
                        </a:lnSpc>
                        <a:spcBef>
                          <a:spcPts val="0"/>
                        </a:spcBef>
                        <a:spcAft>
                          <a:spcPts val="600"/>
                        </a:spcAft>
                        <a:buClrTx/>
                        <a:buSzTx/>
                        <a:buFont typeface="Courier New" panose="02070309020205020404" pitchFamily="49" charset="0"/>
                        <a:buChar char="o"/>
                        <a:tabLst/>
                        <a:defRPr/>
                      </a:pPr>
                      <a:r>
                        <a:rPr lang="en-CA" sz="2200" b="0" i="0" kern="1200" dirty="0">
                          <a:solidFill>
                            <a:schemeClr val="tx1"/>
                          </a:solidFill>
                          <a:effectLst/>
                          <a:latin typeface="Arial" panose="020B0604020202020204" pitchFamily="34" charset="0"/>
                          <a:ea typeface="+mn-ea"/>
                          <a:cs typeface="Arial" panose="020B0604020202020204" pitchFamily="34" charset="0"/>
                        </a:rPr>
                        <a:t>Support high-quality audits</a:t>
                      </a:r>
                    </a:p>
                    <a:p>
                      <a:pPr marL="342900" marR="0" lvl="0" indent="-342900" algn="just" defTabSz="3429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CA" sz="2200" b="0" i="0" kern="1200" dirty="0">
                          <a:solidFill>
                            <a:schemeClr val="tx1"/>
                          </a:solidFill>
                          <a:effectLst/>
                          <a:latin typeface="Arial" panose="020B0604020202020204" pitchFamily="34" charset="0"/>
                          <a:ea typeface="+mn-ea"/>
                          <a:cs typeface="Arial" panose="020B0604020202020204" pitchFamily="34" charset="0"/>
                        </a:rPr>
                        <a:t>Practical issues linked to engagement team definition</a:t>
                      </a:r>
                    </a:p>
                    <a:p>
                      <a:pPr marL="342900" marR="0" lvl="0" indent="-342900" algn="just" defTabSz="3429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lang="en-CA" sz="2200" b="0" i="0" kern="1200" dirty="0">
                        <a:solidFill>
                          <a:schemeClr val="tx1"/>
                        </a:solidFill>
                        <a:effectLst/>
                        <a:latin typeface="Arial" panose="020B0604020202020204" pitchFamily="34" charset="0"/>
                        <a:ea typeface="+mn-ea"/>
                        <a:cs typeface="Arial" panose="020B0604020202020204" pitchFamily="34" charset="0"/>
                      </a:endParaRP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Direction, Supervision and Review (Cont.)</a:t>
            </a:r>
          </a:p>
        </p:txBody>
      </p:sp>
      <p:sp>
        <p:nvSpPr>
          <p:cNvPr id="6" name="Slide Number Placeholder 5">
            <a:extLst>
              <a:ext uri="{FF2B5EF4-FFF2-40B4-BE49-F238E27FC236}">
                <a16:creationId xmlns:a16="http://schemas.microsoft.com/office/drawing/2014/main" id="{EDE42470-1E1D-467C-ADBB-DDEF12AB6F7E}"/>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24</a:t>
            </a:fld>
            <a:r>
              <a:rPr lang="en-US" sz="675" dirty="0">
                <a:solidFill>
                  <a:srgbClr val="808080"/>
                </a:solidFill>
                <a:latin typeface="Arial" panose="020B0604020202020204" pitchFamily="34" charset="0"/>
              </a:rPr>
              <a:t>  |</a:t>
            </a:r>
          </a:p>
        </p:txBody>
      </p:sp>
      <p:graphicFrame>
        <p:nvGraphicFramePr>
          <p:cNvPr id="10" name="Chart 9">
            <a:extLst>
              <a:ext uri="{FF2B5EF4-FFF2-40B4-BE49-F238E27FC236}">
                <a16:creationId xmlns:a16="http://schemas.microsoft.com/office/drawing/2014/main" id="{7F676E67-51AF-4AF5-858A-B85CC65C2B57}"/>
              </a:ext>
            </a:extLst>
          </p:cNvPr>
          <p:cNvGraphicFramePr/>
          <p:nvPr>
            <p:extLst>
              <p:ext uri="{D42A27DB-BD31-4B8C-83A1-F6EECF244321}">
                <p14:modId xmlns:p14="http://schemas.microsoft.com/office/powerpoint/2010/main" val="728066368"/>
              </p:ext>
            </p:extLst>
          </p:nvPr>
        </p:nvGraphicFramePr>
        <p:xfrm>
          <a:off x="6530797" y="885825"/>
          <a:ext cx="2613203" cy="38306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021394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93771711"/>
              </p:ext>
            </p:extLst>
          </p:nvPr>
        </p:nvGraphicFramePr>
        <p:xfrm>
          <a:off x="323497" y="1132451"/>
          <a:ext cx="8497006" cy="3963480"/>
        </p:xfrm>
        <a:graphic>
          <a:graphicData uri="http://schemas.openxmlformats.org/drawingml/2006/table">
            <a:tbl>
              <a:tblPr firstRow="1" bandRow="1">
                <a:tableStyleId>{5C22544A-7EE6-4342-B048-85BDC9FD1C3A}</a:tableStyleId>
              </a:tblPr>
              <a:tblGrid>
                <a:gridCol w="8497006">
                  <a:extLst>
                    <a:ext uri="{9D8B030D-6E8A-4147-A177-3AD203B41FA5}">
                      <a16:colId xmlns:a16="http://schemas.microsoft.com/office/drawing/2014/main" val="713251629"/>
                    </a:ext>
                  </a:extLst>
                </a:gridCol>
              </a:tblGrid>
              <a:tr h="3833171">
                <a:tc>
                  <a:txBody>
                    <a:bodyPr/>
                    <a:lstStyle/>
                    <a:p>
                      <a:pPr marL="0" algn="just" defTabSz="342900" rtl="0" eaLnBrk="1" latinLnBrk="0" hangingPunct="1">
                        <a:lnSpc>
                          <a:spcPts val="1800"/>
                        </a:lnSpc>
                        <a:spcBef>
                          <a:spcPts val="0"/>
                        </a:spcBef>
                        <a:spcAft>
                          <a:spcPts val="600"/>
                        </a:spcAft>
                      </a:pPr>
                      <a:r>
                        <a:rPr lang="en-CA" sz="2800" b="1" i="0" kern="1200" dirty="0">
                          <a:solidFill>
                            <a:schemeClr val="tx1"/>
                          </a:solidFill>
                          <a:effectLst/>
                          <a:latin typeface="Arial" panose="020B0604020202020204" pitchFamily="34" charset="0"/>
                          <a:ea typeface="+mn-ea"/>
                          <a:cs typeface="Arial" panose="020B0604020202020204" pitchFamily="34" charset="0"/>
                        </a:rPr>
                        <a:t>Task Force’s Preliminary Views</a:t>
                      </a:r>
                    </a:p>
                    <a:p>
                      <a:pPr marL="347472" marR="0" lvl="0" indent="-347472" algn="just" defTabSz="342900" rtl="0" eaLnBrk="1" fontAlgn="auto" latinLnBrk="0" hangingPunct="1">
                        <a:lnSpc>
                          <a:spcPts val="2400"/>
                        </a:lnSpc>
                        <a:spcBef>
                          <a:spcPts val="776"/>
                        </a:spcBef>
                        <a:spcAft>
                          <a:spcPts val="600"/>
                        </a:spcAft>
                        <a:buClrTx/>
                        <a:buSzTx/>
                        <a:buFont typeface="Arial" panose="020B0604020202020204" pitchFamily="34" charset="0"/>
                        <a:buChar char="•"/>
                        <a:tabLst/>
                        <a:defRPr/>
                      </a:pPr>
                      <a:r>
                        <a:rPr lang="en-US" sz="2400" b="0" kern="1200" dirty="0">
                          <a:solidFill>
                            <a:schemeClr val="tx1"/>
                          </a:solidFill>
                          <a:effectLst/>
                          <a:latin typeface="Arial" panose="020B0604020202020204" pitchFamily="34" charset="0"/>
                          <a:ea typeface="+mn-ea"/>
                          <a:cs typeface="Arial" panose="020B0604020202020204" pitchFamily="34" charset="0"/>
                        </a:rPr>
                        <a:t>Consider an explicit requirement for the engagement partner to set out planned level of direction, supervision and review</a:t>
                      </a:r>
                    </a:p>
                    <a:p>
                      <a:pPr marL="347472" marR="0" lvl="0" indent="-347472" algn="just" defTabSz="342900" rtl="0" eaLnBrk="1" fontAlgn="auto" latinLnBrk="0" hangingPunct="1">
                        <a:lnSpc>
                          <a:spcPts val="2400"/>
                        </a:lnSpc>
                        <a:spcBef>
                          <a:spcPts val="0"/>
                        </a:spcBef>
                        <a:spcAft>
                          <a:spcPts val="600"/>
                        </a:spcAft>
                        <a:buClrTx/>
                        <a:buSzTx/>
                        <a:buFont typeface="Arial" panose="020B0604020202020204" pitchFamily="34" charset="0"/>
                        <a:buChar char="•"/>
                        <a:tabLst/>
                        <a:defRPr/>
                      </a:pPr>
                      <a:r>
                        <a:rPr lang="en-US" sz="2400" b="0" kern="1200" dirty="0">
                          <a:solidFill>
                            <a:schemeClr val="tx1"/>
                          </a:solidFill>
                          <a:effectLst/>
                          <a:latin typeface="Arial" panose="020B0604020202020204" pitchFamily="34" charset="0"/>
                          <a:ea typeface="+mn-ea"/>
                          <a:cs typeface="Arial" panose="020B0604020202020204" pitchFamily="34" charset="0"/>
                        </a:rPr>
                        <a:t>Clarify responsibilities the engagement partner may assign to other engagement team members</a:t>
                      </a:r>
                    </a:p>
                    <a:p>
                      <a:pPr marL="347472" marR="0" lvl="0" indent="-347472" algn="just" defTabSz="342900" rtl="0" eaLnBrk="1" fontAlgn="auto" latinLnBrk="0" hangingPunct="1">
                        <a:lnSpc>
                          <a:spcPts val="2400"/>
                        </a:lnSpc>
                        <a:spcBef>
                          <a:spcPts val="0"/>
                        </a:spcBef>
                        <a:spcAft>
                          <a:spcPts val="600"/>
                        </a:spcAft>
                        <a:buClrTx/>
                        <a:buSzTx/>
                        <a:buFont typeface="Arial" panose="020B0604020202020204" pitchFamily="34" charset="0"/>
                        <a:buChar char="•"/>
                        <a:tabLst/>
                        <a:defRPr/>
                      </a:pPr>
                      <a:r>
                        <a:rPr lang="en-US" sz="2400" b="0" kern="1200" dirty="0">
                          <a:solidFill>
                            <a:schemeClr val="tx1"/>
                          </a:solidFill>
                          <a:effectLst/>
                          <a:latin typeface="Arial" panose="020B0604020202020204" pitchFamily="34" charset="0"/>
                          <a:ea typeface="+mn-ea"/>
                          <a:cs typeface="Arial" panose="020B0604020202020204" pitchFamily="34" charset="0"/>
                        </a:rPr>
                        <a:t>Consider application material related to the definition of the engagement team</a:t>
                      </a:r>
                    </a:p>
                    <a:p>
                      <a:pPr marL="347472" marR="0" lvl="0" indent="-347472" algn="just" defTabSz="342900" rtl="0" eaLnBrk="1" fontAlgn="auto" latinLnBrk="0" hangingPunct="1">
                        <a:lnSpc>
                          <a:spcPts val="2400"/>
                        </a:lnSpc>
                        <a:spcBef>
                          <a:spcPts val="0"/>
                        </a:spcBef>
                        <a:spcAft>
                          <a:spcPts val="600"/>
                        </a:spcAft>
                        <a:buClrTx/>
                        <a:buSzTx/>
                        <a:buFont typeface="Arial" panose="020B0604020202020204" pitchFamily="34" charset="0"/>
                        <a:buChar char="•"/>
                        <a:tabLst/>
                        <a:defRPr/>
                      </a:pPr>
                      <a:r>
                        <a:rPr lang="en-US" sz="2400" b="0" kern="1200" dirty="0">
                          <a:solidFill>
                            <a:schemeClr val="tx1"/>
                          </a:solidFill>
                          <a:effectLst/>
                          <a:latin typeface="Arial" panose="020B0604020202020204" pitchFamily="34" charset="0"/>
                          <a:ea typeface="+mn-ea"/>
                          <a:cs typeface="Arial" panose="020B0604020202020204" pitchFamily="34" charset="0"/>
                        </a:rPr>
                        <a:t>Coordinate with ISA 600 Task Force on the application of the requirements in group audits</a:t>
                      </a:r>
                    </a:p>
                    <a:p>
                      <a:r>
                        <a:rPr lang="en-US" sz="1350" b="1" kern="1200" baseline="30000" dirty="0">
                          <a:solidFill>
                            <a:schemeClr val="lt1"/>
                          </a:solidFill>
                          <a:effectLst/>
                          <a:latin typeface="+mn-lt"/>
                          <a:ea typeface="+mn-ea"/>
                          <a:cs typeface="+mn-cs"/>
                        </a:rPr>
                        <a:t>	</a:t>
                      </a:r>
                      <a:r>
                        <a:rPr lang="en-US" sz="1350" b="1" kern="1200" dirty="0">
                          <a:solidFill>
                            <a:schemeClr val="lt1"/>
                          </a:solidFill>
                          <a:effectLst/>
                          <a:latin typeface="+mn-lt"/>
                          <a:ea typeface="+mn-ea"/>
                          <a:cs typeface="+mn-cs"/>
                        </a:rPr>
                        <a:t> </a:t>
                      </a:r>
                    </a:p>
                    <a:p>
                      <a:pPr marL="347472" marR="0" lvl="0" indent="-347472" algn="just" defTabSz="342900" rtl="0" eaLnBrk="1" fontAlgn="auto" latinLnBrk="0" hangingPunct="1">
                        <a:lnSpc>
                          <a:spcPts val="1800"/>
                        </a:lnSpc>
                        <a:spcBef>
                          <a:spcPts val="0"/>
                        </a:spcBef>
                        <a:spcAft>
                          <a:spcPts val="0"/>
                        </a:spcAft>
                        <a:buClrTx/>
                        <a:buSzTx/>
                        <a:buFont typeface="Arial" panose="020B0604020202020204" pitchFamily="34" charset="0"/>
                        <a:buChar char="•"/>
                        <a:tabLst/>
                        <a:defRPr/>
                      </a:pPr>
                      <a:endParaRPr lang="en-US" sz="1400" b="0" kern="1200" dirty="0">
                        <a:solidFill>
                          <a:schemeClr val="lt1"/>
                        </a:solidFill>
                        <a:effectLst/>
                        <a:latin typeface="Arial" panose="020B0604020202020204" pitchFamily="34" charset="0"/>
                        <a:ea typeface="+mn-ea"/>
                        <a:cs typeface="Arial" panose="020B0604020202020204" pitchFamily="34" charset="0"/>
                      </a:endParaRPr>
                    </a:p>
                  </a:txBody>
                  <a:tcPr>
                    <a:noFill/>
                  </a:tcPr>
                </a:tc>
                <a:extLst>
                  <a:ext uri="{0D108BD9-81ED-4DB2-BD59-A6C34878D82A}">
                    <a16:rowId xmlns:a16="http://schemas.microsoft.com/office/drawing/2014/main" val="49378877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Direction, Supervision and Review (Cont.)</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25</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11140988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96346721"/>
              </p:ext>
            </p:extLst>
          </p:nvPr>
        </p:nvGraphicFramePr>
        <p:xfrm>
          <a:off x="430619" y="876820"/>
          <a:ext cx="8282763" cy="3884612"/>
        </p:xfrm>
        <a:graphic>
          <a:graphicData uri="http://schemas.openxmlformats.org/drawingml/2006/table">
            <a:tbl>
              <a:tblPr firstRow="1" bandRow="1">
                <a:tableStyleId>{5C22544A-7EE6-4342-B048-85BDC9FD1C3A}</a:tableStyleId>
              </a:tblPr>
              <a:tblGrid>
                <a:gridCol w="8282763">
                  <a:extLst>
                    <a:ext uri="{9D8B030D-6E8A-4147-A177-3AD203B41FA5}">
                      <a16:colId xmlns:a16="http://schemas.microsoft.com/office/drawing/2014/main" val="713251629"/>
                    </a:ext>
                  </a:extLst>
                </a:gridCol>
              </a:tblGrid>
              <a:tr h="3884612">
                <a:tc>
                  <a:txBody>
                    <a:bodyPr/>
                    <a:lstStyle/>
                    <a:p>
                      <a:pPr algn="just">
                        <a:spcAft>
                          <a:spcPts val="600"/>
                        </a:spcAft>
                      </a:pPr>
                      <a:r>
                        <a:rPr lang="en-US" sz="2800" b="1" i="0" kern="1200" dirty="0">
                          <a:solidFill>
                            <a:schemeClr val="tx1"/>
                          </a:solidFill>
                          <a:effectLst/>
                          <a:latin typeface="Arial" panose="020B0604020202020204" pitchFamily="34" charset="0"/>
                          <a:ea typeface="+mn-ea"/>
                          <a:cs typeface="Arial" panose="020B0604020202020204" pitchFamily="34" charset="0"/>
                        </a:rPr>
                        <a:t>Question 2 of the EM to ED-220 asked:</a:t>
                      </a:r>
                    </a:p>
                    <a:p>
                      <a:pPr marL="0" marR="0" lvl="0" indent="-342900" algn="just" defTabSz="342900" rtl="0" eaLnBrk="1" fontAlgn="base" latinLnBrk="0" hangingPunct="1">
                        <a:lnSpc>
                          <a:spcPct val="100000"/>
                        </a:lnSpc>
                        <a:spcBef>
                          <a:spcPts val="776"/>
                        </a:spcBef>
                        <a:spcAft>
                          <a:spcPts val="600"/>
                        </a:spcAft>
                        <a:buClrTx/>
                        <a:buSzTx/>
                        <a:buFontTx/>
                        <a:buNone/>
                        <a:tabLst/>
                        <a:defRPr/>
                      </a:pPr>
                      <a:r>
                        <a:rPr lang="en-US" sz="1350" b="1" kern="1200" dirty="0">
                          <a:solidFill>
                            <a:schemeClr val="lt1"/>
                          </a:solidFill>
                          <a:effectLst/>
                          <a:latin typeface="+mn-lt"/>
                          <a:ea typeface="+mn-ea"/>
                          <a:cs typeface="+mn-cs"/>
                        </a:rPr>
                        <a:t>Does ED-220 have appropriate linkages with the ISQMs? Do you support the requirements to follow the firm’s </a:t>
                      </a:r>
                      <a:r>
                        <a:rPr lang="en-US" sz="2400" b="0" i="1" kern="1200" dirty="0">
                          <a:solidFill>
                            <a:schemeClr val="tx1"/>
                          </a:solidFill>
                          <a:latin typeface="Arial" panose="020B0604020202020204" pitchFamily="34" charset="0"/>
                          <a:ea typeface="ＭＳ Ｐゴシック" charset="0"/>
                          <a:cs typeface="Arial" panose="020B0604020202020204" pitchFamily="34" charset="0"/>
                        </a:rPr>
                        <a:t>Does ED-220 have appropriate linkages with the ISQMs?</a:t>
                      </a:r>
                    </a:p>
                    <a:p>
                      <a:pPr marL="0" marR="0" lvl="0" indent="-342900" algn="just" defTabSz="342900" rtl="0" eaLnBrk="1" fontAlgn="base" latinLnBrk="0" hangingPunct="1">
                        <a:lnSpc>
                          <a:spcPct val="100000"/>
                        </a:lnSpc>
                        <a:spcBef>
                          <a:spcPts val="776"/>
                        </a:spcBef>
                        <a:spcAft>
                          <a:spcPts val="600"/>
                        </a:spcAft>
                        <a:buClrTx/>
                        <a:buSzTx/>
                        <a:buFontTx/>
                        <a:buNone/>
                        <a:tabLst/>
                        <a:defRPr/>
                      </a:pPr>
                      <a:r>
                        <a:rPr lang="en-US" sz="2400" b="0" i="1" kern="1200" dirty="0">
                          <a:solidFill>
                            <a:schemeClr val="tx1"/>
                          </a:solidFill>
                          <a:latin typeface="Arial" panose="020B0604020202020204" pitchFamily="34" charset="0"/>
                          <a:ea typeface="ＭＳ Ｐゴシック" charset="0"/>
                          <a:cs typeface="Arial" panose="020B0604020202020204" pitchFamily="34" charset="0"/>
                        </a:rPr>
                        <a:t>Do you support the requirements to follow the firm’s policies and procedures and the material referring to when the engagement partner may depend on the firm’s policies or procedures?</a:t>
                      </a: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200" b="1" dirty="0"/>
              <a:t>Ability to Depend on the Firm’s System of Quality Management </a:t>
            </a:r>
          </a:p>
        </p:txBody>
      </p:sp>
      <p:sp>
        <p:nvSpPr>
          <p:cNvPr id="6" name="Slide Number Placeholder 5">
            <a:extLst>
              <a:ext uri="{FF2B5EF4-FFF2-40B4-BE49-F238E27FC236}">
                <a16:creationId xmlns:a16="http://schemas.microsoft.com/office/drawing/2014/main" id="{EDE42470-1E1D-467C-ADBB-DDEF12AB6F7E}"/>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26</a:t>
            </a:fld>
            <a:r>
              <a:rPr lang="en-US" sz="675" dirty="0">
                <a:solidFill>
                  <a:srgbClr val="808080"/>
                </a:solidFill>
                <a:latin typeface="Arial" panose="020B0604020202020204" pitchFamily="34" charset="0"/>
              </a:rPr>
              <a:t>  |</a:t>
            </a:r>
          </a:p>
          <a:p>
            <a:pPr algn="r"/>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23008735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DCF21A7A-89E6-4D73-9C9E-20947420A5A0}"/>
              </a:ext>
            </a:extLst>
          </p:cNvPr>
          <p:cNvGraphicFramePr>
            <a:graphicFrameLocks noGrp="1"/>
          </p:cNvGraphicFramePr>
          <p:nvPr>
            <p:extLst>
              <p:ext uri="{D42A27DB-BD31-4B8C-83A1-F6EECF244321}">
                <p14:modId xmlns:p14="http://schemas.microsoft.com/office/powerpoint/2010/main" val="2835494669"/>
              </p:ext>
            </p:extLst>
          </p:nvPr>
        </p:nvGraphicFramePr>
        <p:xfrm>
          <a:off x="354563" y="831850"/>
          <a:ext cx="6176234" cy="4069080"/>
        </p:xfrm>
        <a:graphic>
          <a:graphicData uri="http://schemas.openxmlformats.org/drawingml/2006/table">
            <a:tbl>
              <a:tblPr firstRow="1" bandRow="1">
                <a:tableStyleId>{5C22544A-7EE6-4342-B048-85BDC9FD1C3A}</a:tableStyleId>
              </a:tblPr>
              <a:tblGrid>
                <a:gridCol w="6176234">
                  <a:extLst>
                    <a:ext uri="{9D8B030D-6E8A-4147-A177-3AD203B41FA5}">
                      <a16:colId xmlns:a16="http://schemas.microsoft.com/office/drawing/2014/main" val="713251629"/>
                    </a:ext>
                  </a:extLst>
                </a:gridCol>
              </a:tblGrid>
              <a:tr h="3830637">
                <a:tc>
                  <a:txBody>
                    <a:bodyPr/>
                    <a:lstStyle/>
                    <a:p>
                      <a:pPr algn="just">
                        <a:spcAft>
                          <a:spcPts val="600"/>
                        </a:spcAft>
                      </a:pPr>
                      <a:r>
                        <a:rPr lang="en-CA" sz="2800" b="1" i="0" kern="1200" dirty="0">
                          <a:solidFill>
                            <a:schemeClr val="tx1"/>
                          </a:solidFill>
                          <a:effectLst/>
                          <a:latin typeface="Arial" panose="020B0604020202020204" pitchFamily="34" charset="0"/>
                          <a:ea typeface="+mn-ea"/>
                          <a:cs typeface="Arial" panose="020B0604020202020204" pitchFamily="34" charset="0"/>
                        </a:rPr>
                        <a:t>What We Heard in Responses to ED-220 (Q2)</a:t>
                      </a:r>
                    </a:p>
                    <a:p>
                      <a:pPr marL="342900" marR="0" lvl="0" indent="-342900" algn="just" defTabSz="3429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CA" sz="2000" b="0" i="0" kern="1200" dirty="0">
                          <a:solidFill>
                            <a:schemeClr val="tx1"/>
                          </a:solidFill>
                          <a:effectLst/>
                          <a:latin typeface="Arial" panose="020B0604020202020204" pitchFamily="34" charset="0"/>
                          <a:ea typeface="+mn-ea"/>
                          <a:cs typeface="Arial" panose="020B0604020202020204" pitchFamily="34" charset="0"/>
                        </a:rPr>
                        <a:t>Positive responses overall</a:t>
                      </a:r>
                    </a:p>
                    <a:p>
                      <a:pPr marL="342900" marR="0" lvl="0" indent="-342900" algn="just" defTabSz="3429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CA" sz="2000" b="0" i="0" kern="1200" dirty="0">
                          <a:solidFill>
                            <a:schemeClr val="tx1"/>
                          </a:solidFill>
                          <a:effectLst/>
                          <a:latin typeface="Arial" panose="020B0604020202020204" pitchFamily="34" charset="0"/>
                          <a:ea typeface="+mn-ea"/>
                          <a:cs typeface="Arial" panose="020B0604020202020204" pitchFamily="34" charset="0"/>
                        </a:rPr>
                        <a:t>Agreement that the engagement partner should not “blindly rely” on the firm’s system of quality management</a:t>
                      </a:r>
                    </a:p>
                    <a:p>
                      <a:pPr marL="342900" marR="0" lvl="0" indent="-342900" algn="just" defTabSz="3429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CA" sz="2000" b="0" i="0" kern="1200" dirty="0">
                          <a:solidFill>
                            <a:schemeClr val="tx1"/>
                          </a:solidFill>
                          <a:effectLst/>
                          <a:latin typeface="Arial" panose="020B0604020202020204" pitchFamily="34" charset="0"/>
                          <a:ea typeface="+mn-ea"/>
                          <a:cs typeface="Arial" panose="020B0604020202020204" pitchFamily="34" charset="0"/>
                        </a:rPr>
                        <a:t>Clarity sought on, among other matters:</a:t>
                      </a:r>
                    </a:p>
                    <a:p>
                      <a:pPr marL="692150" marR="0" lvl="0" indent="-342900" algn="just" defTabSz="342900" rtl="0" eaLnBrk="1" fontAlgn="auto" latinLnBrk="0" hangingPunct="1">
                        <a:lnSpc>
                          <a:spcPct val="100000"/>
                        </a:lnSpc>
                        <a:spcBef>
                          <a:spcPts val="0"/>
                        </a:spcBef>
                        <a:spcAft>
                          <a:spcPts val="600"/>
                        </a:spcAft>
                        <a:buClrTx/>
                        <a:buSzTx/>
                        <a:buFont typeface="Courier New" panose="02070309020205020404" pitchFamily="49" charset="0"/>
                        <a:buChar char="o"/>
                        <a:tabLst/>
                        <a:defRPr/>
                      </a:pPr>
                      <a:r>
                        <a:rPr lang="en-CA" sz="2000" b="0" i="0" kern="1200" dirty="0">
                          <a:solidFill>
                            <a:schemeClr val="tx1"/>
                          </a:solidFill>
                          <a:effectLst/>
                          <a:latin typeface="Arial" panose="020B0604020202020204" pitchFamily="34" charset="0"/>
                          <a:ea typeface="+mn-ea"/>
                          <a:cs typeface="Arial" panose="020B0604020202020204" pitchFamily="34" charset="0"/>
                        </a:rPr>
                        <a:t>Interaction between group auditor and component auditor</a:t>
                      </a:r>
                    </a:p>
                    <a:p>
                      <a:pPr marL="692150" marR="0" lvl="0" indent="-342900" algn="just" defTabSz="342900" rtl="0" eaLnBrk="1" fontAlgn="auto" latinLnBrk="0" hangingPunct="1">
                        <a:lnSpc>
                          <a:spcPct val="100000"/>
                        </a:lnSpc>
                        <a:spcBef>
                          <a:spcPts val="0"/>
                        </a:spcBef>
                        <a:spcAft>
                          <a:spcPts val="600"/>
                        </a:spcAft>
                        <a:buClrTx/>
                        <a:buSzTx/>
                        <a:buFont typeface="Courier New" panose="02070309020205020404" pitchFamily="49" charset="0"/>
                        <a:buChar char="o"/>
                        <a:tabLst/>
                        <a:defRPr/>
                      </a:pPr>
                      <a:r>
                        <a:rPr lang="en-CA" sz="2000" b="0" i="0" kern="1200" dirty="0">
                          <a:solidFill>
                            <a:schemeClr val="tx1"/>
                          </a:solidFill>
                          <a:effectLst/>
                          <a:latin typeface="Arial" panose="020B0604020202020204" pitchFamily="34" charset="0"/>
                          <a:ea typeface="+mn-ea"/>
                          <a:cs typeface="Arial" panose="020B0604020202020204" pitchFamily="34" charset="0"/>
                        </a:rPr>
                        <a:t>Factors the engagement partner may take into account in determining reliance</a:t>
                      </a: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Ability to Depend on the Firm’s SOQM (Cont.)</a:t>
            </a:r>
          </a:p>
        </p:txBody>
      </p:sp>
      <p:sp>
        <p:nvSpPr>
          <p:cNvPr id="6" name="Slide Number Placeholder 5">
            <a:extLst>
              <a:ext uri="{FF2B5EF4-FFF2-40B4-BE49-F238E27FC236}">
                <a16:creationId xmlns:a16="http://schemas.microsoft.com/office/drawing/2014/main" id="{EDE42470-1E1D-467C-ADBB-DDEF12AB6F7E}"/>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27</a:t>
            </a:fld>
            <a:r>
              <a:rPr lang="en-US" sz="675" dirty="0">
                <a:solidFill>
                  <a:srgbClr val="808080"/>
                </a:solidFill>
                <a:latin typeface="Arial" panose="020B0604020202020204" pitchFamily="34" charset="0"/>
              </a:rPr>
              <a:t>  |</a:t>
            </a:r>
          </a:p>
        </p:txBody>
      </p:sp>
      <p:graphicFrame>
        <p:nvGraphicFramePr>
          <p:cNvPr id="10" name="Chart 9">
            <a:extLst>
              <a:ext uri="{FF2B5EF4-FFF2-40B4-BE49-F238E27FC236}">
                <a16:creationId xmlns:a16="http://schemas.microsoft.com/office/drawing/2014/main" id="{7F676E67-51AF-4AF5-858A-B85CC65C2B57}"/>
              </a:ext>
            </a:extLst>
          </p:cNvPr>
          <p:cNvGraphicFramePr/>
          <p:nvPr>
            <p:extLst>
              <p:ext uri="{D42A27DB-BD31-4B8C-83A1-F6EECF244321}">
                <p14:modId xmlns:p14="http://schemas.microsoft.com/office/powerpoint/2010/main" val="917762232"/>
              </p:ext>
            </p:extLst>
          </p:nvPr>
        </p:nvGraphicFramePr>
        <p:xfrm>
          <a:off x="6530797" y="885825"/>
          <a:ext cx="2613203" cy="38306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20429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392327819"/>
              </p:ext>
            </p:extLst>
          </p:nvPr>
        </p:nvGraphicFramePr>
        <p:xfrm>
          <a:off x="323497" y="1027627"/>
          <a:ext cx="8497006" cy="3963480"/>
        </p:xfrm>
        <a:graphic>
          <a:graphicData uri="http://schemas.openxmlformats.org/drawingml/2006/table">
            <a:tbl>
              <a:tblPr firstRow="1" bandRow="1">
                <a:tableStyleId>{5C22544A-7EE6-4342-B048-85BDC9FD1C3A}</a:tableStyleId>
              </a:tblPr>
              <a:tblGrid>
                <a:gridCol w="8497006">
                  <a:extLst>
                    <a:ext uri="{9D8B030D-6E8A-4147-A177-3AD203B41FA5}">
                      <a16:colId xmlns:a16="http://schemas.microsoft.com/office/drawing/2014/main" val="713251629"/>
                    </a:ext>
                  </a:extLst>
                </a:gridCol>
              </a:tblGrid>
              <a:tr h="3833171">
                <a:tc>
                  <a:txBody>
                    <a:bodyPr/>
                    <a:lstStyle/>
                    <a:p>
                      <a:pPr marL="0" algn="just" defTabSz="342900" rtl="0" eaLnBrk="1" latinLnBrk="0" hangingPunct="1">
                        <a:lnSpc>
                          <a:spcPts val="1800"/>
                        </a:lnSpc>
                        <a:spcBef>
                          <a:spcPts val="0"/>
                        </a:spcBef>
                        <a:spcAft>
                          <a:spcPts val="600"/>
                        </a:spcAft>
                      </a:pPr>
                      <a:r>
                        <a:rPr lang="en-CA" sz="2800" b="1" i="0" kern="1200" dirty="0">
                          <a:solidFill>
                            <a:schemeClr val="tx1"/>
                          </a:solidFill>
                          <a:effectLst/>
                          <a:latin typeface="Arial" panose="020B0604020202020204" pitchFamily="34" charset="0"/>
                          <a:ea typeface="+mn-ea"/>
                          <a:cs typeface="Arial" panose="020B0604020202020204" pitchFamily="34" charset="0"/>
                        </a:rPr>
                        <a:t>Task Force’s Preliminary Views</a:t>
                      </a:r>
                    </a:p>
                    <a:p>
                      <a:pPr marL="347472" marR="0" lvl="0" indent="-347472" algn="just" defTabSz="342900" rtl="0" eaLnBrk="1" fontAlgn="auto" latinLnBrk="0" hangingPunct="1">
                        <a:lnSpc>
                          <a:spcPts val="2400"/>
                        </a:lnSpc>
                        <a:spcBef>
                          <a:spcPts val="776"/>
                        </a:spcBef>
                        <a:spcAft>
                          <a:spcPts val="600"/>
                        </a:spcAft>
                        <a:buClrTx/>
                        <a:buSzTx/>
                        <a:buFont typeface="Arial" panose="020B0604020202020204" pitchFamily="34" charset="0"/>
                        <a:buChar char="•"/>
                        <a:tabLst/>
                        <a:defRPr/>
                      </a:pPr>
                      <a:r>
                        <a:rPr lang="en-CA" sz="2400" b="0" kern="1200" dirty="0">
                          <a:solidFill>
                            <a:schemeClr val="tx1"/>
                          </a:solidFill>
                          <a:effectLst/>
                          <a:latin typeface="Arial" panose="020B0604020202020204" pitchFamily="34" charset="0"/>
                          <a:ea typeface="+mn-ea"/>
                          <a:cs typeface="Arial" panose="020B0604020202020204" pitchFamily="34" charset="0"/>
                        </a:rPr>
                        <a:t>Provide guidance on factors the engagement partner may take into account in determining reliance on the firm’s system of quality management</a:t>
                      </a:r>
                    </a:p>
                    <a:p>
                      <a:pPr marL="347472" marR="0" lvl="0" indent="-347472" algn="just" defTabSz="342900" rtl="0" eaLnBrk="1" fontAlgn="auto" latinLnBrk="0" hangingPunct="1">
                        <a:lnSpc>
                          <a:spcPts val="2400"/>
                        </a:lnSpc>
                        <a:spcBef>
                          <a:spcPts val="0"/>
                        </a:spcBef>
                        <a:spcAft>
                          <a:spcPts val="600"/>
                        </a:spcAft>
                        <a:buClrTx/>
                        <a:buSzTx/>
                        <a:buFont typeface="Arial" panose="020B0604020202020204" pitchFamily="34" charset="0"/>
                        <a:buChar char="•"/>
                        <a:tabLst/>
                        <a:defRPr/>
                      </a:pPr>
                      <a:r>
                        <a:rPr lang="en-CA" sz="2400" b="0" kern="1200" dirty="0">
                          <a:solidFill>
                            <a:schemeClr val="tx1"/>
                          </a:solidFill>
                          <a:effectLst/>
                          <a:latin typeface="Arial" panose="020B0604020202020204" pitchFamily="34" charset="0"/>
                          <a:ea typeface="+mn-ea"/>
                          <a:cs typeface="Arial" panose="020B0604020202020204" pitchFamily="34" charset="0"/>
                        </a:rPr>
                        <a:t>Clarify that quality management is implemented throughout the audit engagement (i.e., single entity or group entity)</a:t>
                      </a:r>
                    </a:p>
                    <a:p>
                      <a:pPr marL="347472" marR="0" lvl="0" indent="-347472" algn="just" defTabSz="342900" rtl="0" eaLnBrk="1" fontAlgn="auto" latinLnBrk="0" hangingPunct="1">
                        <a:lnSpc>
                          <a:spcPts val="2400"/>
                        </a:lnSpc>
                        <a:spcBef>
                          <a:spcPts val="0"/>
                        </a:spcBef>
                        <a:spcAft>
                          <a:spcPts val="600"/>
                        </a:spcAft>
                        <a:buClrTx/>
                        <a:buSzTx/>
                        <a:buFont typeface="Arial" panose="020B0604020202020204" pitchFamily="34" charset="0"/>
                        <a:buChar char="•"/>
                        <a:tabLst/>
                        <a:defRPr/>
                      </a:pPr>
                      <a:r>
                        <a:rPr lang="en-CA" sz="2400" b="0" kern="1200" dirty="0">
                          <a:solidFill>
                            <a:schemeClr val="tx1"/>
                          </a:solidFill>
                          <a:effectLst/>
                          <a:latin typeface="Arial" panose="020B0604020202020204" pitchFamily="34" charset="0"/>
                          <a:ea typeface="+mn-ea"/>
                          <a:cs typeface="Arial" panose="020B0604020202020204" pitchFamily="34" charset="0"/>
                        </a:rPr>
                        <a:t>Consider developing application material to set out interaction of group auditor and component auditor</a:t>
                      </a:r>
                    </a:p>
                    <a:p>
                      <a:pPr marL="692150" marR="0" lvl="0" indent="-346075" algn="just" defTabSz="342900" rtl="0" eaLnBrk="1" fontAlgn="auto" latinLnBrk="0" hangingPunct="1">
                        <a:lnSpc>
                          <a:spcPts val="2400"/>
                        </a:lnSpc>
                        <a:spcBef>
                          <a:spcPts val="0"/>
                        </a:spcBef>
                        <a:spcAft>
                          <a:spcPts val="600"/>
                        </a:spcAft>
                        <a:buClrTx/>
                        <a:buSzTx/>
                        <a:buFont typeface="Courier New" panose="02070309020205020404" pitchFamily="49" charset="0"/>
                        <a:buChar char="o"/>
                        <a:tabLst/>
                        <a:defRPr/>
                      </a:pPr>
                      <a:r>
                        <a:rPr lang="en-CA" sz="2200" b="0" i="0" kern="1200" dirty="0">
                          <a:solidFill>
                            <a:schemeClr val="tx1"/>
                          </a:solidFill>
                          <a:effectLst/>
                          <a:latin typeface="Arial" panose="020B0604020202020204" pitchFamily="34" charset="0"/>
                          <a:ea typeface="+mn-ea"/>
                          <a:cs typeface="Arial" panose="020B0604020202020204" pitchFamily="34" charset="0"/>
                        </a:rPr>
                        <a:t>Coordinate with ISA 600 Task Force</a:t>
                      </a:r>
                    </a:p>
                    <a:p>
                      <a:r>
                        <a:rPr lang="en-US" sz="1350" b="1" kern="1200" baseline="30000" dirty="0">
                          <a:solidFill>
                            <a:schemeClr val="lt1"/>
                          </a:solidFill>
                          <a:effectLst/>
                          <a:latin typeface="+mn-lt"/>
                          <a:ea typeface="+mn-ea"/>
                          <a:cs typeface="+mn-cs"/>
                        </a:rPr>
                        <a:t>	</a:t>
                      </a:r>
                      <a:r>
                        <a:rPr lang="en-US" sz="1350" b="1" kern="1200" dirty="0">
                          <a:solidFill>
                            <a:schemeClr val="lt1"/>
                          </a:solidFill>
                          <a:effectLst/>
                          <a:latin typeface="+mn-lt"/>
                          <a:ea typeface="+mn-ea"/>
                          <a:cs typeface="+mn-cs"/>
                        </a:rPr>
                        <a:t> </a:t>
                      </a:r>
                    </a:p>
                    <a:p>
                      <a:pPr marL="347472" marR="0" lvl="0" indent="-347472" algn="just" defTabSz="342900" rtl="0" eaLnBrk="1" fontAlgn="auto" latinLnBrk="0" hangingPunct="1">
                        <a:lnSpc>
                          <a:spcPts val="1800"/>
                        </a:lnSpc>
                        <a:spcBef>
                          <a:spcPts val="0"/>
                        </a:spcBef>
                        <a:spcAft>
                          <a:spcPts val="0"/>
                        </a:spcAft>
                        <a:buClrTx/>
                        <a:buSzTx/>
                        <a:buFont typeface="Arial" panose="020B0604020202020204" pitchFamily="34" charset="0"/>
                        <a:buChar char="•"/>
                        <a:tabLst/>
                        <a:defRPr/>
                      </a:pPr>
                      <a:endParaRPr lang="en-US" sz="1400" b="0" kern="1200" dirty="0">
                        <a:solidFill>
                          <a:schemeClr val="lt1"/>
                        </a:solidFill>
                        <a:effectLst/>
                        <a:latin typeface="Arial" panose="020B0604020202020204" pitchFamily="34" charset="0"/>
                        <a:ea typeface="+mn-ea"/>
                        <a:cs typeface="Arial" panose="020B0604020202020204" pitchFamily="34" charset="0"/>
                      </a:endParaRPr>
                    </a:p>
                  </a:txBody>
                  <a:tcPr>
                    <a:noFill/>
                  </a:tcPr>
                </a:tc>
                <a:extLst>
                  <a:ext uri="{0D108BD9-81ED-4DB2-BD59-A6C34878D82A}">
                    <a16:rowId xmlns:a16="http://schemas.microsoft.com/office/drawing/2014/main" val="49378877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Ability to Depend on the Firm’s SOQM (Cont.)</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28</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11843087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1079656"/>
            <a:ext cx="8497006" cy="3803639"/>
          </a:xfrm>
          <a:prstGeom prst="rect">
            <a:avLst/>
          </a:prstGeom>
          <a:noFill/>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lnSpc>
                <a:spcPts val="1800"/>
              </a:lnSpc>
              <a:spcBef>
                <a:spcPts val="0"/>
              </a:spcBef>
              <a:spcAft>
                <a:spcPts val="600"/>
              </a:spcAft>
              <a:buNone/>
            </a:pPr>
            <a:r>
              <a:rPr lang="en-US" sz="2800" b="1" dirty="0">
                <a:solidFill>
                  <a:schemeClr val="tx1"/>
                </a:solidFill>
                <a:latin typeface="Arial" panose="020B0604020202020204" pitchFamily="34" charset="0"/>
                <a:ea typeface="+mn-ea"/>
                <a:cs typeface="Arial" panose="020B0604020202020204" pitchFamily="34" charset="0"/>
              </a:rPr>
              <a:t>Matters for IAASB Consideration</a:t>
            </a:r>
          </a:p>
          <a:p>
            <a:pPr marL="457200" indent="-457200" algn="just">
              <a:buNone/>
            </a:pPr>
            <a:r>
              <a:rPr lang="en-US" i="1" dirty="0">
                <a:solidFill>
                  <a:schemeClr val="tx1"/>
                </a:solidFill>
                <a:latin typeface="Arial" panose="020B0604020202020204" pitchFamily="34" charset="0"/>
                <a:cs typeface="Arial" panose="020B0604020202020204" pitchFamily="34" charset="0"/>
              </a:rPr>
              <a:t>6.	Do you agree with the Task Force’s preliminary thoughts on direction, supervision and review; and the engagement partner’s ability to depend on the firm’s policies or procedures before the Task Force develops them further for the December 2019 IAASB meeting? </a:t>
            </a:r>
          </a:p>
          <a:p>
            <a:pPr marL="457200" indent="-457200" algn="just">
              <a:buNone/>
            </a:pPr>
            <a:r>
              <a:rPr lang="en-US" i="1" dirty="0">
                <a:solidFill>
                  <a:schemeClr val="tx1"/>
                </a:solidFill>
                <a:latin typeface="Arial" panose="020B0604020202020204" pitchFamily="34" charset="0"/>
                <a:cs typeface="Arial" panose="020B0604020202020204" pitchFamily="34" charset="0"/>
              </a:rPr>
              <a:t>7.	Are there any other significant matters in the comment letters related to the topics addressed that the Task force should address?</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Other Matters</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29</a:t>
            </a:fld>
            <a:r>
              <a:rPr lang="en-US" sz="675" dirty="0">
                <a:solidFill>
                  <a:srgbClr val="808080"/>
                </a:solidFill>
                <a:latin typeface="Arial" panose="020B0604020202020204" pitchFamily="34" charset="0"/>
              </a:rPr>
              <a:t>  |</a:t>
            </a:r>
          </a:p>
        </p:txBody>
      </p:sp>
    </p:spTree>
    <p:extLst>
      <p:ext uri="{BB962C8B-B14F-4D97-AF65-F5344CB8AC3E}">
        <p14:creationId xmlns:p14="http://schemas.microsoft.com/office/powerpoint/2010/main" val="11086491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txBox="1">
            <a:spLocks/>
          </p:cNvSpPr>
          <p:nvPr/>
        </p:nvSpPr>
        <p:spPr>
          <a:xfrm>
            <a:off x="7126209" y="4883295"/>
            <a:ext cx="1560591" cy="228309"/>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675" dirty="0">
                <a:latin typeface="Arial" panose="020B0604020202020204" pitchFamily="34" charset="0"/>
              </a:rPr>
              <a:t>Page </a:t>
            </a:r>
            <a:fld id="{95158037-59F0-9C4B-B231-1C776117AADA}" type="slidenum">
              <a:rPr lang="en-US" sz="675">
                <a:latin typeface="Arial" panose="020B0604020202020204" pitchFamily="34" charset="0"/>
              </a:rPr>
              <a:pPr algn="r"/>
              <a:t>30</a:t>
            </a:fld>
            <a:r>
              <a:rPr lang="en-US" sz="675" dirty="0">
                <a:latin typeface="Arial" panose="020B0604020202020204" pitchFamily="34" charset="0"/>
              </a:rPr>
              <a:t>  |</a:t>
            </a:r>
          </a:p>
          <a:p>
            <a:pPr algn="r"/>
            <a:endParaRPr lang="en-US" sz="675" dirty="0">
              <a:latin typeface="Arial" panose="020B0604020202020204" pitchFamily="34" charset="0"/>
              <a:cs typeface="Arial" panose="020B0604020202020204" pitchFamily="34" charset="0"/>
            </a:endParaRPr>
          </a:p>
        </p:txBody>
      </p:sp>
      <p:sp>
        <p:nvSpPr>
          <p:cNvPr id="5" name="Content Placeholder 1"/>
          <p:cNvSpPr>
            <a:spLocks noGrp="1"/>
          </p:cNvSpPr>
          <p:nvPr>
            <p:ph idx="1"/>
          </p:nvPr>
        </p:nvSpPr>
        <p:spPr>
          <a:xfrm>
            <a:off x="229798" y="831312"/>
            <a:ext cx="8233790" cy="3902266"/>
          </a:xfrm>
        </p:spPr>
        <p:txBody>
          <a:bodyPr/>
          <a:lstStyle/>
          <a:p>
            <a:pPr marL="347472" indent="-347472" algn="just">
              <a:spcBef>
                <a:spcPts val="300"/>
              </a:spcBef>
              <a:buNone/>
            </a:pPr>
            <a:endParaRPr lang="en-US" sz="400" dirty="0"/>
          </a:p>
          <a:p>
            <a:pPr marL="1397" indent="0" algn="just">
              <a:spcBef>
                <a:spcPts val="600"/>
              </a:spcBef>
              <a:buNone/>
            </a:pPr>
            <a:endParaRPr lang="en-US" sz="1700" dirty="0">
              <a:solidFill>
                <a:schemeClr val="tx1">
                  <a:lumMod val="65000"/>
                  <a:lumOff val="35000"/>
                </a:schemeClr>
              </a:solidFill>
            </a:endParaRPr>
          </a:p>
          <a:p>
            <a:pPr marL="1397" indent="0" algn="just">
              <a:spcBef>
                <a:spcPts val="600"/>
              </a:spcBef>
              <a:buNone/>
            </a:pPr>
            <a:endParaRPr lang="en-US" sz="1700" dirty="0">
              <a:solidFill>
                <a:schemeClr val="tx1">
                  <a:lumMod val="65000"/>
                  <a:lumOff val="35000"/>
                </a:schemeClr>
              </a:solidFill>
            </a:endParaRPr>
          </a:p>
        </p:txBody>
      </p:sp>
      <p:grpSp>
        <p:nvGrpSpPr>
          <p:cNvPr id="8" name="Group 7"/>
          <p:cNvGrpSpPr/>
          <p:nvPr/>
        </p:nvGrpSpPr>
        <p:grpSpPr>
          <a:xfrm>
            <a:off x="420913" y="2039871"/>
            <a:ext cx="7496630" cy="2682874"/>
            <a:chOff x="-28575" y="1898650"/>
            <a:chExt cx="9956800" cy="4429126"/>
          </a:xfrm>
          <a:solidFill>
            <a:schemeClr val="tx1">
              <a:lumMod val="75000"/>
              <a:lumOff val="25000"/>
            </a:schemeClr>
          </a:solidFill>
        </p:grpSpPr>
        <p:sp>
          <p:nvSpPr>
            <p:cNvPr id="9" name="Freeform 5"/>
            <p:cNvSpPr>
              <a:spLocks/>
            </p:cNvSpPr>
            <p:nvPr/>
          </p:nvSpPr>
          <p:spPr bwMode="auto">
            <a:xfrm>
              <a:off x="3052763" y="2152650"/>
              <a:ext cx="3460750" cy="3467100"/>
            </a:xfrm>
            <a:custGeom>
              <a:avLst/>
              <a:gdLst>
                <a:gd name="T0" fmla="*/ 522 w 1204"/>
                <a:gd name="T1" fmla="*/ 1077 h 1205"/>
                <a:gd name="T2" fmla="*/ 463 w 1204"/>
                <a:gd name="T3" fmla="*/ 602 h 1205"/>
                <a:gd name="T4" fmla="*/ 692 w 1204"/>
                <a:gd name="T5" fmla="*/ 106 h 1205"/>
                <a:gd name="T6" fmla="*/ 268 w 1204"/>
                <a:gd name="T7" fmla="*/ 0 h 1205"/>
                <a:gd name="T8" fmla="*/ 237 w 1204"/>
                <a:gd name="T9" fmla="*/ 28 h 1205"/>
                <a:gd name="T10" fmla="*/ 616 w 1204"/>
                <a:gd name="T11" fmla="*/ 123 h 1205"/>
                <a:gd name="T12" fmla="*/ 718 w 1204"/>
                <a:gd name="T13" fmla="*/ 427 h 1205"/>
                <a:gd name="T14" fmla="*/ 26 w 1204"/>
                <a:gd name="T15" fmla="*/ 845 h 1205"/>
                <a:gd name="T16" fmla="*/ 475 w 1204"/>
                <a:gd name="T17" fmla="*/ 1205 h 1205"/>
                <a:gd name="T18" fmla="*/ 662 w 1204"/>
                <a:gd name="T19" fmla="*/ 1119 h 1205"/>
                <a:gd name="T20" fmla="*/ 522 w 1204"/>
                <a:gd name="T21" fmla="*/ 1077 h 1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04" h="1205">
                  <a:moveTo>
                    <a:pt x="522" y="1077"/>
                  </a:moveTo>
                  <a:cubicBezTo>
                    <a:pt x="0" y="897"/>
                    <a:pt x="260" y="682"/>
                    <a:pt x="463" y="602"/>
                  </a:cubicBezTo>
                  <a:cubicBezTo>
                    <a:pt x="666" y="522"/>
                    <a:pt x="1204" y="330"/>
                    <a:pt x="692" y="106"/>
                  </a:cubicBezTo>
                  <a:cubicBezTo>
                    <a:pt x="692" y="106"/>
                    <a:pt x="513" y="40"/>
                    <a:pt x="268" y="0"/>
                  </a:cubicBezTo>
                  <a:cubicBezTo>
                    <a:pt x="237" y="28"/>
                    <a:pt x="237" y="28"/>
                    <a:pt x="237" y="28"/>
                  </a:cubicBezTo>
                  <a:cubicBezTo>
                    <a:pt x="415" y="59"/>
                    <a:pt x="519" y="90"/>
                    <a:pt x="616" y="123"/>
                  </a:cubicBezTo>
                  <a:cubicBezTo>
                    <a:pt x="774" y="177"/>
                    <a:pt x="930" y="311"/>
                    <a:pt x="718" y="427"/>
                  </a:cubicBezTo>
                  <a:cubicBezTo>
                    <a:pt x="506" y="543"/>
                    <a:pt x="44" y="661"/>
                    <a:pt x="26" y="845"/>
                  </a:cubicBezTo>
                  <a:cubicBezTo>
                    <a:pt x="13" y="972"/>
                    <a:pt x="185" y="1108"/>
                    <a:pt x="475" y="1205"/>
                  </a:cubicBezTo>
                  <a:cubicBezTo>
                    <a:pt x="662" y="1119"/>
                    <a:pt x="662" y="1119"/>
                    <a:pt x="662" y="1119"/>
                  </a:cubicBezTo>
                  <a:cubicBezTo>
                    <a:pt x="613" y="1106"/>
                    <a:pt x="566" y="1092"/>
                    <a:pt x="522" y="1077"/>
                  </a:cubicBez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endParaRPr lang="en-US" sz="1013" dirty="0"/>
            </a:p>
          </p:txBody>
        </p:sp>
        <p:sp>
          <p:nvSpPr>
            <p:cNvPr id="10" name="Freeform 6"/>
            <p:cNvSpPr>
              <a:spLocks/>
            </p:cNvSpPr>
            <p:nvPr/>
          </p:nvSpPr>
          <p:spPr bwMode="auto">
            <a:xfrm>
              <a:off x="-28575" y="1898650"/>
              <a:ext cx="1481138" cy="87313"/>
            </a:xfrm>
            <a:custGeom>
              <a:avLst/>
              <a:gdLst>
                <a:gd name="T0" fmla="*/ 0 w 515"/>
                <a:gd name="T1" fmla="*/ 2 h 30"/>
                <a:gd name="T2" fmla="*/ 0 w 515"/>
                <a:gd name="T3" fmla="*/ 23 h 30"/>
                <a:gd name="T4" fmla="*/ 504 w 515"/>
                <a:gd name="T5" fmla="*/ 30 h 30"/>
                <a:gd name="T6" fmla="*/ 515 w 515"/>
                <a:gd name="T7" fmla="*/ 18 h 30"/>
                <a:gd name="T8" fmla="*/ 0 w 515"/>
                <a:gd name="T9" fmla="*/ 2 h 30"/>
              </a:gdLst>
              <a:ahLst/>
              <a:cxnLst>
                <a:cxn ang="0">
                  <a:pos x="T0" y="T1"/>
                </a:cxn>
                <a:cxn ang="0">
                  <a:pos x="T2" y="T3"/>
                </a:cxn>
                <a:cxn ang="0">
                  <a:pos x="T4" y="T5"/>
                </a:cxn>
                <a:cxn ang="0">
                  <a:pos x="T6" y="T7"/>
                </a:cxn>
                <a:cxn ang="0">
                  <a:pos x="T8" y="T9"/>
                </a:cxn>
              </a:cxnLst>
              <a:rect l="0" t="0" r="r" b="b"/>
              <a:pathLst>
                <a:path w="515" h="30">
                  <a:moveTo>
                    <a:pt x="0" y="2"/>
                  </a:moveTo>
                  <a:cubicBezTo>
                    <a:pt x="0" y="23"/>
                    <a:pt x="0" y="23"/>
                    <a:pt x="0" y="23"/>
                  </a:cubicBezTo>
                  <a:cubicBezTo>
                    <a:pt x="0" y="23"/>
                    <a:pt x="200" y="14"/>
                    <a:pt x="504" y="30"/>
                  </a:cubicBezTo>
                  <a:cubicBezTo>
                    <a:pt x="515" y="18"/>
                    <a:pt x="515" y="18"/>
                    <a:pt x="515" y="18"/>
                  </a:cubicBezTo>
                  <a:cubicBezTo>
                    <a:pt x="323" y="7"/>
                    <a:pt x="138" y="0"/>
                    <a:pt x="0" y="2"/>
                  </a:cubicBez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endParaRPr lang="en-US" sz="1013" dirty="0"/>
            </a:p>
          </p:txBody>
        </p:sp>
        <p:sp>
          <p:nvSpPr>
            <p:cNvPr id="11" name="Freeform 7"/>
            <p:cNvSpPr>
              <a:spLocks/>
            </p:cNvSpPr>
            <p:nvPr/>
          </p:nvSpPr>
          <p:spPr bwMode="auto">
            <a:xfrm>
              <a:off x="1581150" y="1958975"/>
              <a:ext cx="2084388" cy="247650"/>
            </a:xfrm>
            <a:custGeom>
              <a:avLst/>
              <a:gdLst>
                <a:gd name="T0" fmla="*/ 595 w 725"/>
                <a:gd name="T1" fmla="*/ 43 h 86"/>
                <a:gd name="T2" fmla="*/ 13 w 725"/>
                <a:gd name="T3" fmla="*/ 0 h 86"/>
                <a:gd name="T4" fmla="*/ 0 w 725"/>
                <a:gd name="T5" fmla="*/ 12 h 86"/>
                <a:gd name="T6" fmla="*/ 298 w 725"/>
                <a:gd name="T7" fmla="*/ 36 h 86"/>
                <a:gd name="T8" fmla="*/ 695 w 725"/>
                <a:gd name="T9" fmla="*/ 86 h 86"/>
                <a:gd name="T10" fmla="*/ 725 w 725"/>
                <a:gd name="T11" fmla="*/ 58 h 86"/>
                <a:gd name="T12" fmla="*/ 595 w 725"/>
                <a:gd name="T13" fmla="*/ 43 h 86"/>
              </a:gdLst>
              <a:ahLst/>
              <a:cxnLst>
                <a:cxn ang="0">
                  <a:pos x="T0" y="T1"/>
                </a:cxn>
                <a:cxn ang="0">
                  <a:pos x="T2" y="T3"/>
                </a:cxn>
                <a:cxn ang="0">
                  <a:pos x="T4" y="T5"/>
                </a:cxn>
                <a:cxn ang="0">
                  <a:pos x="T6" y="T7"/>
                </a:cxn>
                <a:cxn ang="0">
                  <a:pos x="T8" y="T9"/>
                </a:cxn>
                <a:cxn ang="0">
                  <a:pos x="T10" y="T11"/>
                </a:cxn>
                <a:cxn ang="0">
                  <a:pos x="T12" y="T13"/>
                </a:cxn>
              </a:cxnLst>
              <a:rect l="0" t="0" r="r" b="b"/>
              <a:pathLst>
                <a:path w="725" h="86">
                  <a:moveTo>
                    <a:pt x="595" y="43"/>
                  </a:moveTo>
                  <a:cubicBezTo>
                    <a:pt x="430" y="28"/>
                    <a:pt x="220" y="12"/>
                    <a:pt x="13" y="0"/>
                  </a:cubicBezTo>
                  <a:cubicBezTo>
                    <a:pt x="0" y="12"/>
                    <a:pt x="0" y="12"/>
                    <a:pt x="0" y="12"/>
                  </a:cubicBezTo>
                  <a:cubicBezTo>
                    <a:pt x="92" y="18"/>
                    <a:pt x="192" y="25"/>
                    <a:pt x="298" y="36"/>
                  </a:cubicBezTo>
                  <a:cubicBezTo>
                    <a:pt x="461" y="53"/>
                    <a:pt x="590" y="69"/>
                    <a:pt x="695" y="86"/>
                  </a:cubicBezTo>
                  <a:cubicBezTo>
                    <a:pt x="725" y="58"/>
                    <a:pt x="725" y="58"/>
                    <a:pt x="725" y="58"/>
                  </a:cubicBezTo>
                  <a:cubicBezTo>
                    <a:pt x="683" y="52"/>
                    <a:pt x="639" y="47"/>
                    <a:pt x="595" y="43"/>
                  </a:cubicBez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endParaRPr lang="en-US" sz="1013" dirty="0"/>
            </a:p>
          </p:txBody>
        </p:sp>
        <p:sp>
          <p:nvSpPr>
            <p:cNvPr id="12" name="Freeform 8"/>
            <p:cNvSpPr>
              <a:spLocks/>
            </p:cNvSpPr>
            <p:nvPr/>
          </p:nvSpPr>
          <p:spPr bwMode="auto">
            <a:xfrm>
              <a:off x="4826000" y="5472113"/>
              <a:ext cx="5102225" cy="855663"/>
            </a:xfrm>
            <a:custGeom>
              <a:avLst/>
              <a:gdLst>
                <a:gd name="T0" fmla="*/ 1775 w 1775"/>
                <a:gd name="T1" fmla="*/ 213 h 297"/>
                <a:gd name="T2" fmla="*/ 1443 w 1775"/>
                <a:gd name="T3" fmla="*/ 57 h 297"/>
                <a:gd name="T4" fmla="*/ 1397 w 1775"/>
                <a:gd name="T5" fmla="*/ 95 h 297"/>
                <a:gd name="T6" fmla="*/ 205 w 1775"/>
                <a:gd name="T7" fmla="*/ 0 h 297"/>
                <a:gd name="T8" fmla="*/ 0 w 1775"/>
                <a:gd name="T9" fmla="*/ 93 h 297"/>
                <a:gd name="T10" fmla="*/ 309 w 1775"/>
                <a:gd name="T11" fmla="*/ 153 h 297"/>
                <a:gd name="T12" fmla="*/ 1225 w 1775"/>
                <a:gd name="T13" fmla="*/ 235 h 297"/>
                <a:gd name="T14" fmla="*/ 1153 w 1775"/>
                <a:gd name="T15" fmla="*/ 297 h 297"/>
                <a:gd name="T16" fmla="*/ 1775 w 1775"/>
                <a:gd name="T17" fmla="*/ 21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75" h="297">
                  <a:moveTo>
                    <a:pt x="1775" y="213"/>
                  </a:moveTo>
                  <a:cubicBezTo>
                    <a:pt x="1443" y="57"/>
                    <a:pt x="1443" y="57"/>
                    <a:pt x="1443" y="57"/>
                  </a:cubicBezTo>
                  <a:cubicBezTo>
                    <a:pt x="1397" y="95"/>
                    <a:pt x="1397" y="95"/>
                    <a:pt x="1397" y="95"/>
                  </a:cubicBezTo>
                  <a:cubicBezTo>
                    <a:pt x="1397" y="95"/>
                    <a:pt x="730" y="100"/>
                    <a:pt x="205" y="0"/>
                  </a:cubicBezTo>
                  <a:cubicBezTo>
                    <a:pt x="0" y="93"/>
                    <a:pt x="0" y="93"/>
                    <a:pt x="0" y="93"/>
                  </a:cubicBezTo>
                  <a:cubicBezTo>
                    <a:pt x="95" y="117"/>
                    <a:pt x="198" y="138"/>
                    <a:pt x="309" y="153"/>
                  </a:cubicBezTo>
                  <a:cubicBezTo>
                    <a:pt x="859" y="229"/>
                    <a:pt x="1225" y="235"/>
                    <a:pt x="1225" y="235"/>
                  </a:cubicBezTo>
                  <a:cubicBezTo>
                    <a:pt x="1153" y="297"/>
                    <a:pt x="1153" y="297"/>
                    <a:pt x="1153" y="297"/>
                  </a:cubicBezTo>
                  <a:lnTo>
                    <a:pt x="1775" y="213"/>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endParaRPr lang="en-US" sz="1013" dirty="0"/>
            </a:p>
          </p:txBody>
        </p:sp>
      </p:grpSp>
      <p:grpSp>
        <p:nvGrpSpPr>
          <p:cNvPr id="13" name="Group 12"/>
          <p:cNvGrpSpPr/>
          <p:nvPr/>
        </p:nvGrpSpPr>
        <p:grpSpPr>
          <a:xfrm>
            <a:off x="1208919" y="992488"/>
            <a:ext cx="767249" cy="1100092"/>
            <a:chOff x="6285507" y="4056652"/>
            <a:chExt cx="1361612" cy="1952296"/>
          </a:xfrm>
        </p:grpSpPr>
        <p:grpSp>
          <p:nvGrpSpPr>
            <p:cNvPr id="14" name="Group 13"/>
            <p:cNvGrpSpPr/>
            <p:nvPr/>
          </p:nvGrpSpPr>
          <p:grpSpPr>
            <a:xfrm>
              <a:off x="6285507" y="4056652"/>
              <a:ext cx="1361612" cy="1952296"/>
              <a:chOff x="5808789" y="2272281"/>
              <a:chExt cx="1993536" cy="2858355"/>
            </a:xfrm>
          </p:grpSpPr>
          <p:sp>
            <p:nvSpPr>
              <p:cNvPr id="16" name="Rectangle 15"/>
              <p:cNvSpPr/>
              <p:nvPr/>
            </p:nvSpPr>
            <p:spPr>
              <a:xfrm>
                <a:off x="6718887" y="4188899"/>
                <a:ext cx="191914" cy="941737"/>
              </a:xfrm>
              <a:prstGeom prst="rect">
                <a:avLst/>
              </a:prstGeom>
              <a:gradFill>
                <a:gsLst>
                  <a:gs pos="0">
                    <a:sysClr val="windowText" lastClr="000000">
                      <a:lumMod val="75000"/>
                      <a:lumOff val="25000"/>
                      <a:shade val="30000"/>
                      <a:satMod val="115000"/>
                    </a:sysClr>
                  </a:gs>
                  <a:gs pos="50000">
                    <a:sysClr val="window" lastClr="FFFFFF"/>
                  </a:gs>
                  <a:gs pos="100000">
                    <a:sysClr val="windowText" lastClr="000000">
                      <a:lumMod val="75000"/>
                      <a:lumOff val="25000"/>
                      <a:shade val="100000"/>
                      <a:satMod val="115000"/>
                    </a:sysClr>
                  </a:gs>
                </a:gsLst>
                <a:lin ang="0" scaled="0"/>
              </a:gradFill>
              <a:ln w="25400" cap="flat" cmpd="sng" algn="ctr">
                <a:noFill/>
                <a:prstDash val="solid"/>
              </a:ln>
              <a:effectLst/>
            </p:spPr>
            <p:txBody>
              <a:bodyPr rtlCol="0" anchor="ctr"/>
              <a:lstStyle/>
              <a:p>
                <a:pPr algn="ctr" defTabSz="685800">
                  <a:defRPr/>
                </a:pPr>
                <a:endParaRPr lang="en-US" kern="0" dirty="0">
                  <a:solidFill>
                    <a:prstClr val="white"/>
                  </a:solidFill>
                  <a:latin typeface="Calibri"/>
                </a:endParaRPr>
              </a:p>
            </p:txBody>
          </p:sp>
          <p:grpSp>
            <p:nvGrpSpPr>
              <p:cNvPr id="17" name="Group 16"/>
              <p:cNvGrpSpPr/>
              <p:nvPr/>
            </p:nvGrpSpPr>
            <p:grpSpPr>
              <a:xfrm>
                <a:off x="5808789" y="2272281"/>
                <a:ext cx="1993536" cy="1989348"/>
                <a:chOff x="8140701" y="1890712"/>
                <a:chExt cx="1511300" cy="1508125"/>
              </a:xfrm>
            </p:grpSpPr>
            <p:sp>
              <p:nvSpPr>
                <p:cNvPr id="18" name="Freeform 25"/>
                <p:cNvSpPr>
                  <a:spLocks/>
                </p:cNvSpPr>
                <p:nvPr/>
              </p:nvSpPr>
              <p:spPr bwMode="auto">
                <a:xfrm>
                  <a:off x="8140701" y="1890712"/>
                  <a:ext cx="1511300" cy="1508125"/>
                </a:xfrm>
                <a:custGeom>
                  <a:avLst/>
                  <a:gdLst>
                    <a:gd name="T0" fmla="*/ 385 w 402"/>
                    <a:gd name="T1" fmla="*/ 171 h 401"/>
                    <a:gd name="T2" fmla="*/ 385 w 402"/>
                    <a:gd name="T3" fmla="*/ 231 h 401"/>
                    <a:gd name="T4" fmla="*/ 231 w 402"/>
                    <a:gd name="T5" fmla="*/ 385 h 401"/>
                    <a:gd name="T6" fmla="*/ 171 w 402"/>
                    <a:gd name="T7" fmla="*/ 385 h 401"/>
                    <a:gd name="T8" fmla="*/ 17 w 402"/>
                    <a:gd name="T9" fmla="*/ 231 h 401"/>
                    <a:gd name="T10" fmla="*/ 17 w 402"/>
                    <a:gd name="T11" fmla="*/ 171 h 401"/>
                    <a:gd name="T12" fmla="*/ 171 w 402"/>
                    <a:gd name="T13" fmla="*/ 17 h 401"/>
                    <a:gd name="T14" fmla="*/ 231 w 402"/>
                    <a:gd name="T15" fmla="*/ 17 h 401"/>
                    <a:gd name="T16" fmla="*/ 385 w 402"/>
                    <a:gd name="T17" fmla="*/ 17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1">
                      <a:moveTo>
                        <a:pt x="385" y="171"/>
                      </a:moveTo>
                      <a:cubicBezTo>
                        <a:pt x="402" y="187"/>
                        <a:pt x="402" y="214"/>
                        <a:pt x="385" y="231"/>
                      </a:cubicBezTo>
                      <a:cubicBezTo>
                        <a:pt x="231" y="385"/>
                        <a:pt x="231" y="385"/>
                        <a:pt x="231" y="385"/>
                      </a:cubicBezTo>
                      <a:cubicBezTo>
                        <a:pt x="214" y="401"/>
                        <a:pt x="187" y="401"/>
                        <a:pt x="171" y="385"/>
                      </a:cubicBezTo>
                      <a:cubicBezTo>
                        <a:pt x="17" y="231"/>
                        <a:pt x="17" y="231"/>
                        <a:pt x="17" y="231"/>
                      </a:cubicBezTo>
                      <a:cubicBezTo>
                        <a:pt x="0" y="214"/>
                        <a:pt x="0" y="187"/>
                        <a:pt x="17" y="171"/>
                      </a:cubicBezTo>
                      <a:cubicBezTo>
                        <a:pt x="171" y="17"/>
                        <a:pt x="171" y="17"/>
                        <a:pt x="171" y="17"/>
                      </a:cubicBezTo>
                      <a:cubicBezTo>
                        <a:pt x="187" y="0"/>
                        <a:pt x="214" y="0"/>
                        <a:pt x="231" y="17"/>
                      </a:cubicBezTo>
                      <a:lnTo>
                        <a:pt x="385" y="171"/>
                      </a:lnTo>
                      <a:close/>
                    </a:path>
                  </a:pathLst>
                </a:custGeom>
                <a:solidFill>
                  <a:srgbClr val="F1C96C">
                    <a:lumMod val="75000"/>
                  </a:srgb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dirty="0">
                    <a:solidFill>
                      <a:prstClr val="black"/>
                    </a:solidFill>
                  </a:endParaRPr>
                </a:p>
              </p:txBody>
            </p:sp>
            <p:sp>
              <p:nvSpPr>
                <p:cNvPr id="19" name="Freeform 26"/>
                <p:cNvSpPr>
                  <a:spLocks noEditPoints="1"/>
                </p:cNvSpPr>
                <p:nvPr/>
              </p:nvSpPr>
              <p:spPr bwMode="auto">
                <a:xfrm>
                  <a:off x="8283576" y="2033588"/>
                  <a:ext cx="1225550" cy="1227138"/>
                </a:xfrm>
                <a:custGeom>
                  <a:avLst/>
                  <a:gdLst>
                    <a:gd name="T0" fmla="*/ 323 w 326"/>
                    <a:gd name="T1" fmla="*/ 157 h 326"/>
                    <a:gd name="T2" fmla="*/ 169 w 326"/>
                    <a:gd name="T3" fmla="*/ 2 h 326"/>
                    <a:gd name="T4" fmla="*/ 163 w 326"/>
                    <a:gd name="T5" fmla="*/ 0 h 326"/>
                    <a:gd name="T6" fmla="*/ 157 w 326"/>
                    <a:gd name="T7" fmla="*/ 2 h 326"/>
                    <a:gd name="T8" fmla="*/ 3 w 326"/>
                    <a:gd name="T9" fmla="*/ 157 h 326"/>
                    <a:gd name="T10" fmla="*/ 0 w 326"/>
                    <a:gd name="T11" fmla="*/ 163 h 326"/>
                    <a:gd name="T12" fmla="*/ 3 w 326"/>
                    <a:gd name="T13" fmla="*/ 169 h 326"/>
                    <a:gd name="T14" fmla="*/ 157 w 326"/>
                    <a:gd name="T15" fmla="*/ 323 h 326"/>
                    <a:gd name="T16" fmla="*/ 163 w 326"/>
                    <a:gd name="T17" fmla="*/ 326 h 326"/>
                    <a:gd name="T18" fmla="*/ 169 w 326"/>
                    <a:gd name="T19" fmla="*/ 323 h 326"/>
                    <a:gd name="T20" fmla="*/ 323 w 326"/>
                    <a:gd name="T21" fmla="*/ 169 h 326"/>
                    <a:gd name="T22" fmla="*/ 326 w 326"/>
                    <a:gd name="T23" fmla="*/ 163 h 326"/>
                    <a:gd name="T24" fmla="*/ 323 w 326"/>
                    <a:gd name="T25" fmla="*/ 157 h 326"/>
                    <a:gd name="T26" fmla="*/ 306 w 326"/>
                    <a:gd name="T27" fmla="*/ 168 h 326"/>
                    <a:gd name="T28" fmla="*/ 168 w 326"/>
                    <a:gd name="T29" fmla="*/ 306 h 326"/>
                    <a:gd name="T30" fmla="*/ 163 w 326"/>
                    <a:gd name="T31" fmla="*/ 308 h 326"/>
                    <a:gd name="T32" fmla="*/ 157 w 326"/>
                    <a:gd name="T33" fmla="*/ 306 h 326"/>
                    <a:gd name="T34" fmla="*/ 20 w 326"/>
                    <a:gd name="T35" fmla="*/ 168 h 326"/>
                    <a:gd name="T36" fmla="*/ 17 w 326"/>
                    <a:gd name="T37" fmla="*/ 163 h 326"/>
                    <a:gd name="T38" fmla="*/ 20 w 326"/>
                    <a:gd name="T39" fmla="*/ 157 h 326"/>
                    <a:gd name="T40" fmla="*/ 157 w 326"/>
                    <a:gd name="T41" fmla="*/ 19 h 326"/>
                    <a:gd name="T42" fmla="*/ 163 w 326"/>
                    <a:gd name="T43" fmla="*/ 17 h 326"/>
                    <a:gd name="T44" fmla="*/ 168 w 326"/>
                    <a:gd name="T45" fmla="*/ 19 h 326"/>
                    <a:gd name="T46" fmla="*/ 306 w 326"/>
                    <a:gd name="T47" fmla="*/ 157 h 326"/>
                    <a:gd name="T48" fmla="*/ 309 w 326"/>
                    <a:gd name="T49" fmla="*/ 163 h 326"/>
                    <a:gd name="T50" fmla="*/ 306 w 326"/>
                    <a:gd name="T51" fmla="*/ 16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6" h="326">
                      <a:moveTo>
                        <a:pt x="323" y="157"/>
                      </a:moveTo>
                      <a:cubicBezTo>
                        <a:pt x="169" y="2"/>
                        <a:pt x="169" y="2"/>
                        <a:pt x="169" y="2"/>
                      </a:cubicBezTo>
                      <a:cubicBezTo>
                        <a:pt x="167" y="0"/>
                        <a:pt x="164" y="0"/>
                        <a:pt x="163" y="0"/>
                      </a:cubicBezTo>
                      <a:cubicBezTo>
                        <a:pt x="162" y="0"/>
                        <a:pt x="159" y="0"/>
                        <a:pt x="157" y="2"/>
                      </a:cubicBezTo>
                      <a:cubicBezTo>
                        <a:pt x="3" y="157"/>
                        <a:pt x="3" y="157"/>
                        <a:pt x="3" y="157"/>
                      </a:cubicBezTo>
                      <a:cubicBezTo>
                        <a:pt x="1" y="158"/>
                        <a:pt x="0" y="160"/>
                        <a:pt x="0" y="163"/>
                      </a:cubicBezTo>
                      <a:cubicBezTo>
                        <a:pt x="0" y="165"/>
                        <a:pt x="1" y="167"/>
                        <a:pt x="3" y="169"/>
                      </a:cubicBezTo>
                      <a:cubicBezTo>
                        <a:pt x="157" y="323"/>
                        <a:pt x="157" y="323"/>
                        <a:pt x="157" y="323"/>
                      </a:cubicBezTo>
                      <a:cubicBezTo>
                        <a:pt x="159" y="325"/>
                        <a:pt x="162" y="326"/>
                        <a:pt x="163" y="326"/>
                      </a:cubicBezTo>
                      <a:cubicBezTo>
                        <a:pt x="164" y="326"/>
                        <a:pt x="167" y="325"/>
                        <a:pt x="169" y="323"/>
                      </a:cubicBezTo>
                      <a:cubicBezTo>
                        <a:pt x="323" y="169"/>
                        <a:pt x="323" y="169"/>
                        <a:pt x="323" y="169"/>
                      </a:cubicBezTo>
                      <a:cubicBezTo>
                        <a:pt x="325" y="167"/>
                        <a:pt x="326" y="164"/>
                        <a:pt x="326" y="163"/>
                      </a:cubicBezTo>
                      <a:cubicBezTo>
                        <a:pt x="326" y="161"/>
                        <a:pt x="325" y="159"/>
                        <a:pt x="323" y="157"/>
                      </a:cubicBezTo>
                      <a:close/>
                      <a:moveTo>
                        <a:pt x="306" y="168"/>
                      </a:moveTo>
                      <a:cubicBezTo>
                        <a:pt x="168" y="306"/>
                        <a:pt x="168" y="306"/>
                        <a:pt x="168" y="306"/>
                      </a:cubicBezTo>
                      <a:cubicBezTo>
                        <a:pt x="167" y="308"/>
                        <a:pt x="164" y="308"/>
                        <a:pt x="163" y="308"/>
                      </a:cubicBezTo>
                      <a:cubicBezTo>
                        <a:pt x="162" y="308"/>
                        <a:pt x="159" y="308"/>
                        <a:pt x="157" y="306"/>
                      </a:cubicBezTo>
                      <a:cubicBezTo>
                        <a:pt x="20" y="168"/>
                        <a:pt x="20" y="168"/>
                        <a:pt x="20" y="168"/>
                      </a:cubicBezTo>
                      <a:cubicBezTo>
                        <a:pt x="18" y="167"/>
                        <a:pt x="17" y="165"/>
                        <a:pt x="17" y="163"/>
                      </a:cubicBezTo>
                      <a:cubicBezTo>
                        <a:pt x="17" y="161"/>
                        <a:pt x="18" y="159"/>
                        <a:pt x="20" y="157"/>
                      </a:cubicBezTo>
                      <a:cubicBezTo>
                        <a:pt x="157" y="19"/>
                        <a:pt x="157" y="19"/>
                        <a:pt x="157" y="19"/>
                      </a:cubicBezTo>
                      <a:cubicBezTo>
                        <a:pt x="159" y="17"/>
                        <a:pt x="162" y="17"/>
                        <a:pt x="163" y="17"/>
                      </a:cubicBezTo>
                      <a:cubicBezTo>
                        <a:pt x="164" y="17"/>
                        <a:pt x="167" y="17"/>
                        <a:pt x="168" y="19"/>
                      </a:cubicBezTo>
                      <a:cubicBezTo>
                        <a:pt x="306" y="157"/>
                        <a:pt x="306" y="157"/>
                        <a:pt x="306" y="157"/>
                      </a:cubicBezTo>
                      <a:cubicBezTo>
                        <a:pt x="308" y="159"/>
                        <a:pt x="309" y="161"/>
                        <a:pt x="309" y="163"/>
                      </a:cubicBezTo>
                      <a:cubicBezTo>
                        <a:pt x="309" y="164"/>
                        <a:pt x="308" y="166"/>
                        <a:pt x="306" y="168"/>
                      </a:cubicBezTo>
                      <a:close/>
                    </a:path>
                  </a:pathLst>
                </a:custGeom>
                <a:solidFill>
                  <a:sysClr val="windowText" lastClr="000000">
                    <a:lumMod val="85000"/>
                    <a:lumOff val="15000"/>
                  </a:sys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dirty="0">
                    <a:solidFill>
                      <a:prstClr val="black"/>
                    </a:solidFill>
                  </a:endParaRPr>
                </a:p>
              </p:txBody>
            </p:sp>
          </p:grpSp>
        </p:grpSp>
        <p:sp>
          <p:nvSpPr>
            <p:cNvPr id="15" name="TextBox 14"/>
            <p:cNvSpPr txBox="1"/>
            <p:nvPr/>
          </p:nvSpPr>
          <p:spPr>
            <a:xfrm>
              <a:off x="6371735" y="4565165"/>
              <a:ext cx="1189155" cy="409650"/>
            </a:xfrm>
            <a:prstGeom prst="rect">
              <a:avLst/>
            </a:prstGeom>
            <a:noFill/>
          </p:spPr>
          <p:txBody>
            <a:bodyPr wrap="square" rtlCol="0" anchor="ctr">
              <a:spAutoFit/>
            </a:bodyPr>
            <a:lstStyle/>
            <a:p>
              <a:pPr algn="ctr"/>
              <a:r>
                <a:rPr lang="en-US" sz="900" b="1" kern="0" dirty="0">
                  <a:latin typeface="Arial" panose="020B0604020202020204" pitchFamily="34" charset="0"/>
                  <a:cs typeface="Arial" panose="020B0604020202020204" pitchFamily="34" charset="0"/>
                </a:rPr>
                <a:t>Q3 2019</a:t>
              </a:r>
              <a:endParaRPr lang="en-US" sz="900" b="1" dirty="0"/>
            </a:p>
          </p:txBody>
        </p:sp>
      </p:grpSp>
      <p:grpSp>
        <p:nvGrpSpPr>
          <p:cNvPr id="20" name="Group 19"/>
          <p:cNvGrpSpPr/>
          <p:nvPr/>
        </p:nvGrpSpPr>
        <p:grpSpPr>
          <a:xfrm>
            <a:off x="298110" y="2171447"/>
            <a:ext cx="3045282" cy="1569660"/>
            <a:chOff x="4027694" y="1669969"/>
            <a:chExt cx="1891580" cy="2092881"/>
          </a:xfrm>
        </p:grpSpPr>
        <p:sp>
          <p:nvSpPr>
            <p:cNvPr id="21" name="TextBox 20"/>
            <p:cNvSpPr txBox="1"/>
            <p:nvPr/>
          </p:nvSpPr>
          <p:spPr>
            <a:xfrm>
              <a:off x="4027695" y="2057400"/>
              <a:ext cx="1708668" cy="369332"/>
            </a:xfrm>
            <a:prstGeom prst="rect">
              <a:avLst/>
            </a:prstGeom>
            <a:noFill/>
          </p:spPr>
          <p:txBody>
            <a:bodyPr wrap="square" rtlCol="0">
              <a:spAutoFit/>
            </a:bodyPr>
            <a:lstStyle/>
            <a:p>
              <a:endParaRPr lang="en-US" sz="1200" dirty="0">
                <a:solidFill>
                  <a:schemeClr val="tx1">
                    <a:lumMod val="75000"/>
                    <a:lumOff val="25000"/>
                  </a:schemeClr>
                </a:solidFill>
              </a:endParaRPr>
            </a:p>
          </p:txBody>
        </p:sp>
        <p:sp>
          <p:nvSpPr>
            <p:cNvPr id="22" name="TextBox 21"/>
            <p:cNvSpPr txBox="1"/>
            <p:nvPr/>
          </p:nvSpPr>
          <p:spPr>
            <a:xfrm>
              <a:off x="4027694" y="1669969"/>
              <a:ext cx="1891580" cy="2092881"/>
            </a:xfrm>
            <a:prstGeom prst="rect">
              <a:avLst/>
            </a:prstGeom>
            <a:noFill/>
          </p:spPr>
          <p:txBody>
            <a:bodyPr wrap="square" rtlCol="0">
              <a:spAutoFit/>
            </a:bodyPr>
            <a:lstStyle/>
            <a:p>
              <a:pPr marL="347472" indent="-347472">
                <a:buFont typeface="Arial" panose="020B0604020202020204" pitchFamily="34" charset="0"/>
                <a:buChar char="•"/>
              </a:pPr>
              <a:r>
                <a:rPr lang="en-US" sz="1600" dirty="0">
                  <a:solidFill>
                    <a:schemeClr val="tx1">
                      <a:lumMod val="75000"/>
                      <a:lumOff val="25000"/>
                    </a:schemeClr>
                  </a:solidFill>
                  <a:latin typeface="Arial" panose="020B0604020202020204" pitchFamily="34" charset="0"/>
                  <a:cs typeface="Arial" panose="020B0604020202020204" pitchFamily="34" charset="0"/>
                </a:rPr>
                <a:t>Analysis of stakeholders’ comments and identification of key issues</a:t>
              </a:r>
            </a:p>
            <a:p>
              <a:pPr marL="347472" indent="-347472">
                <a:buFont typeface="Arial" panose="020B0604020202020204" pitchFamily="34" charset="0"/>
                <a:buChar char="•"/>
              </a:pPr>
              <a:r>
                <a:rPr lang="en-US" sz="1600" dirty="0">
                  <a:solidFill>
                    <a:schemeClr val="tx1">
                      <a:lumMod val="75000"/>
                      <a:lumOff val="25000"/>
                    </a:schemeClr>
                  </a:solidFill>
                  <a:latin typeface="Arial" panose="020B0604020202020204" pitchFamily="34" charset="0"/>
                  <a:cs typeface="Arial" panose="020B0604020202020204" pitchFamily="34" charset="0"/>
                </a:rPr>
                <a:t>Coordination with IESBA representatives and other IAASB Task Forces</a:t>
              </a:r>
            </a:p>
          </p:txBody>
        </p:sp>
      </p:grpSp>
      <p:grpSp>
        <p:nvGrpSpPr>
          <p:cNvPr id="23" name="Group 22"/>
          <p:cNvGrpSpPr/>
          <p:nvPr/>
        </p:nvGrpSpPr>
        <p:grpSpPr>
          <a:xfrm>
            <a:off x="2718468" y="905635"/>
            <a:ext cx="1021209" cy="1317421"/>
            <a:chOff x="6285507" y="4056652"/>
            <a:chExt cx="1361612" cy="1952296"/>
          </a:xfrm>
        </p:grpSpPr>
        <p:grpSp>
          <p:nvGrpSpPr>
            <p:cNvPr id="24" name="Group 23"/>
            <p:cNvGrpSpPr/>
            <p:nvPr/>
          </p:nvGrpSpPr>
          <p:grpSpPr>
            <a:xfrm>
              <a:off x="6285507" y="4056652"/>
              <a:ext cx="1361612" cy="1952296"/>
              <a:chOff x="5808789" y="2272281"/>
              <a:chExt cx="1993536" cy="2858355"/>
            </a:xfrm>
          </p:grpSpPr>
          <p:sp>
            <p:nvSpPr>
              <p:cNvPr id="26" name="Rectangle 25"/>
              <p:cNvSpPr/>
              <p:nvPr/>
            </p:nvSpPr>
            <p:spPr>
              <a:xfrm>
                <a:off x="6718887" y="4188899"/>
                <a:ext cx="191914" cy="941737"/>
              </a:xfrm>
              <a:prstGeom prst="rect">
                <a:avLst/>
              </a:prstGeom>
              <a:gradFill>
                <a:gsLst>
                  <a:gs pos="0">
                    <a:sysClr val="windowText" lastClr="000000">
                      <a:lumMod val="75000"/>
                      <a:lumOff val="25000"/>
                      <a:shade val="30000"/>
                      <a:satMod val="115000"/>
                    </a:sysClr>
                  </a:gs>
                  <a:gs pos="50000">
                    <a:sysClr val="window" lastClr="FFFFFF"/>
                  </a:gs>
                  <a:gs pos="100000">
                    <a:sysClr val="windowText" lastClr="000000">
                      <a:lumMod val="75000"/>
                      <a:lumOff val="25000"/>
                      <a:shade val="100000"/>
                      <a:satMod val="115000"/>
                    </a:sysClr>
                  </a:gs>
                </a:gsLst>
                <a:lin ang="0" scaled="0"/>
              </a:gradFill>
              <a:ln w="25400" cap="flat" cmpd="sng" algn="ctr">
                <a:noFill/>
                <a:prstDash val="solid"/>
              </a:ln>
              <a:effectLst/>
            </p:spPr>
            <p:txBody>
              <a:bodyPr rtlCol="0" anchor="ctr"/>
              <a:lstStyle/>
              <a:p>
                <a:pPr algn="ctr" defTabSz="685800">
                  <a:defRPr/>
                </a:pPr>
                <a:endParaRPr lang="en-US" kern="0" dirty="0">
                  <a:solidFill>
                    <a:prstClr val="white"/>
                  </a:solidFill>
                  <a:latin typeface="Calibri"/>
                </a:endParaRPr>
              </a:p>
            </p:txBody>
          </p:sp>
          <p:grpSp>
            <p:nvGrpSpPr>
              <p:cNvPr id="27" name="Group 26"/>
              <p:cNvGrpSpPr/>
              <p:nvPr/>
            </p:nvGrpSpPr>
            <p:grpSpPr>
              <a:xfrm>
                <a:off x="5808789" y="2272281"/>
                <a:ext cx="1993536" cy="1989348"/>
                <a:chOff x="8140701" y="1890712"/>
                <a:chExt cx="1511300" cy="1508125"/>
              </a:xfrm>
            </p:grpSpPr>
            <p:sp>
              <p:nvSpPr>
                <p:cNvPr id="28" name="Freeform 25"/>
                <p:cNvSpPr>
                  <a:spLocks/>
                </p:cNvSpPr>
                <p:nvPr/>
              </p:nvSpPr>
              <p:spPr bwMode="auto">
                <a:xfrm>
                  <a:off x="8140701" y="1890712"/>
                  <a:ext cx="1511300" cy="1508125"/>
                </a:xfrm>
                <a:custGeom>
                  <a:avLst/>
                  <a:gdLst>
                    <a:gd name="T0" fmla="*/ 385 w 402"/>
                    <a:gd name="T1" fmla="*/ 171 h 401"/>
                    <a:gd name="T2" fmla="*/ 385 w 402"/>
                    <a:gd name="T3" fmla="*/ 231 h 401"/>
                    <a:gd name="T4" fmla="*/ 231 w 402"/>
                    <a:gd name="T5" fmla="*/ 385 h 401"/>
                    <a:gd name="T6" fmla="*/ 171 w 402"/>
                    <a:gd name="T7" fmla="*/ 385 h 401"/>
                    <a:gd name="T8" fmla="*/ 17 w 402"/>
                    <a:gd name="T9" fmla="*/ 231 h 401"/>
                    <a:gd name="T10" fmla="*/ 17 w 402"/>
                    <a:gd name="T11" fmla="*/ 171 h 401"/>
                    <a:gd name="T12" fmla="*/ 171 w 402"/>
                    <a:gd name="T13" fmla="*/ 17 h 401"/>
                    <a:gd name="T14" fmla="*/ 231 w 402"/>
                    <a:gd name="T15" fmla="*/ 17 h 401"/>
                    <a:gd name="T16" fmla="*/ 385 w 402"/>
                    <a:gd name="T17" fmla="*/ 17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1">
                      <a:moveTo>
                        <a:pt x="385" y="171"/>
                      </a:moveTo>
                      <a:cubicBezTo>
                        <a:pt x="402" y="187"/>
                        <a:pt x="402" y="214"/>
                        <a:pt x="385" y="231"/>
                      </a:cubicBezTo>
                      <a:cubicBezTo>
                        <a:pt x="231" y="385"/>
                        <a:pt x="231" y="385"/>
                        <a:pt x="231" y="385"/>
                      </a:cubicBezTo>
                      <a:cubicBezTo>
                        <a:pt x="214" y="401"/>
                        <a:pt x="187" y="401"/>
                        <a:pt x="171" y="385"/>
                      </a:cubicBezTo>
                      <a:cubicBezTo>
                        <a:pt x="17" y="231"/>
                        <a:pt x="17" y="231"/>
                        <a:pt x="17" y="231"/>
                      </a:cubicBezTo>
                      <a:cubicBezTo>
                        <a:pt x="0" y="214"/>
                        <a:pt x="0" y="187"/>
                        <a:pt x="17" y="171"/>
                      </a:cubicBezTo>
                      <a:cubicBezTo>
                        <a:pt x="171" y="17"/>
                        <a:pt x="171" y="17"/>
                        <a:pt x="171" y="17"/>
                      </a:cubicBezTo>
                      <a:cubicBezTo>
                        <a:pt x="187" y="0"/>
                        <a:pt x="214" y="0"/>
                        <a:pt x="231" y="17"/>
                      </a:cubicBezTo>
                      <a:lnTo>
                        <a:pt x="385" y="171"/>
                      </a:lnTo>
                      <a:close/>
                    </a:path>
                  </a:pathLst>
                </a:custGeom>
                <a:solidFill>
                  <a:srgbClr val="F1C96C">
                    <a:lumMod val="75000"/>
                  </a:srgb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dirty="0">
                    <a:solidFill>
                      <a:prstClr val="black"/>
                    </a:solidFill>
                  </a:endParaRPr>
                </a:p>
              </p:txBody>
            </p:sp>
            <p:sp>
              <p:nvSpPr>
                <p:cNvPr id="29" name="Freeform 26"/>
                <p:cNvSpPr>
                  <a:spLocks noEditPoints="1"/>
                </p:cNvSpPr>
                <p:nvPr/>
              </p:nvSpPr>
              <p:spPr bwMode="auto">
                <a:xfrm>
                  <a:off x="8283576" y="2033588"/>
                  <a:ext cx="1225550" cy="1227138"/>
                </a:xfrm>
                <a:custGeom>
                  <a:avLst/>
                  <a:gdLst>
                    <a:gd name="T0" fmla="*/ 323 w 326"/>
                    <a:gd name="T1" fmla="*/ 157 h 326"/>
                    <a:gd name="T2" fmla="*/ 169 w 326"/>
                    <a:gd name="T3" fmla="*/ 2 h 326"/>
                    <a:gd name="T4" fmla="*/ 163 w 326"/>
                    <a:gd name="T5" fmla="*/ 0 h 326"/>
                    <a:gd name="T6" fmla="*/ 157 w 326"/>
                    <a:gd name="T7" fmla="*/ 2 h 326"/>
                    <a:gd name="T8" fmla="*/ 3 w 326"/>
                    <a:gd name="T9" fmla="*/ 157 h 326"/>
                    <a:gd name="T10" fmla="*/ 0 w 326"/>
                    <a:gd name="T11" fmla="*/ 163 h 326"/>
                    <a:gd name="T12" fmla="*/ 3 w 326"/>
                    <a:gd name="T13" fmla="*/ 169 h 326"/>
                    <a:gd name="T14" fmla="*/ 157 w 326"/>
                    <a:gd name="T15" fmla="*/ 323 h 326"/>
                    <a:gd name="T16" fmla="*/ 163 w 326"/>
                    <a:gd name="T17" fmla="*/ 326 h 326"/>
                    <a:gd name="T18" fmla="*/ 169 w 326"/>
                    <a:gd name="T19" fmla="*/ 323 h 326"/>
                    <a:gd name="T20" fmla="*/ 323 w 326"/>
                    <a:gd name="T21" fmla="*/ 169 h 326"/>
                    <a:gd name="T22" fmla="*/ 326 w 326"/>
                    <a:gd name="T23" fmla="*/ 163 h 326"/>
                    <a:gd name="T24" fmla="*/ 323 w 326"/>
                    <a:gd name="T25" fmla="*/ 157 h 326"/>
                    <a:gd name="T26" fmla="*/ 306 w 326"/>
                    <a:gd name="T27" fmla="*/ 168 h 326"/>
                    <a:gd name="T28" fmla="*/ 168 w 326"/>
                    <a:gd name="T29" fmla="*/ 306 h 326"/>
                    <a:gd name="T30" fmla="*/ 163 w 326"/>
                    <a:gd name="T31" fmla="*/ 308 h 326"/>
                    <a:gd name="T32" fmla="*/ 157 w 326"/>
                    <a:gd name="T33" fmla="*/ 306 h 326"/>
                    <a:gd name="T34" fmla="*/ 20 w 326"/>
                    <a:gd name="T35" fmla="*/ 168 h 326"/>
                    <a:gd name="T36" fmla="*/ 17 w 326"/>
                    <a:gd name="T37" fmla="*/ 163 h 326"/>
                    <a:gd name="T38" fmla="*/ 20 w 326"/>
                    <a:gd name="T39" fmla="*/ 157 h 326"/>
                    <a:gd name="T40" fmla="*/ 157 w 326"/>
                    <a:gd name="T41" fmla="*/ 19 h 326"/>
                    <a:gd name="T42" fmla="*/ 163 w 326"/>
                    <a:gd name="T43" fmla="*/ 17 h 326"/>
                    <a:gd name="T44" fmla="*/ 168 w 326"/>
                    <a:gd name="T45" fmla="*/ 19 h 326"/>
                    <a:gd name="T46" fmla="*/ 306 w 326"/>
                    <a:gd name="T47" fmla="*/ 157 h 326"/>
                    <a:gd name="T48" fmla="*/ 309 w 326"/>
                    <a:gd name="T49" fmla="*/ 163 h 326"/>
                    <a:gd name="T50" fmla="*/ 306 w 326"/>
                    <a:gd name="T51" fmla="*/ 16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6" h="326">
                      <a:moveTo>
                        <a:pt x="323" y="157"/>
                      </a:moveTo>
                      <a:cubicBezTo>
                        <a:pt x="169" y="2"/>
                        <a:pt x="169" y="2"/>
                        <a:pt x="169" y="2"/>
                      </a:cubicBezTo>
                      <a:cubicBezTo>
                        <a:pt x="167" y="0"/>
                        <a:pt x="164" y="0"/>
                        <a:pt x="163" y="0"/>
                      </a:cubicBezTo>
                      <a:cubicBezTo>
                        <a:pt x="162" y="0"/>
                        <a:pt x="159" y="0"/>
                        <a:pt x="157" y="2"/>
                      </a:cubicBezTo>
                      <a:cubicBezTo>
                        <a:pt x="3" y="157"/>
                        <a:pt x="3" y="157"/>
                        <a:pt x="3" y="157"/>
                      </a:cubicBezTo>
                      <a:cubicBezTo>
                        <a:pt x="1" y="158"/>
                        <a:pt x="0" y="160"/>
                        <a:pt x="0" y="163"/>
                      </a:cubicBezTo>
                      <a:cubicBezTo>
                        <a:pt x="0" y="165"/>
                        <a:pt x="1" y="167"/>
                        <a:pt x="3" y="169"/>
                      </a:cubicBezTo>
                      <a:cubicBezTo>
                        <a:pt x="157" y="323"/>
                        <a:pt x="157" y="323"/>
                        <a:pt x="157" y="323"/>
                      </a:cubicBezTo>
                      <a:cubicBezTo>
                        <a:pt x="159" y="325"/>
                        <a:pt x="162" y="326"/>
                        <a:pt x="163" y="326"/>
                      </a:cubicBezTo>
                      <a:cubicBezTo>
                        <a:pt x="164" y="326"/>
                        <a:pt x="167" y="325"/>
                        <a:pt x="169" y="323"/>
                      </a:cubicBezTo>
                      <a:cubicBezTo>
                        <a:pt x="323" y="169"/>
                        <a:pt x="323" y="169"/>
                        <a:pt x="323" y="169"/>
                      </a:cubicBezTo>
                      <a:cubicBezTo>
                        <a:pt x="325" y="167"/>
                        <a:pt x="326" y="164"/>
                        <a:pt x="326" y="163"/>
                      </a:cubicBezTo>
                      <a:cubicBezTo>
                        <a:pt x="326" y="161"/>
                        <a:pt x="325" y="159"/>
                        <a:pt x="323" y="157"/>
                      </a:cubicBezTo>
                      <a:close/>
                      <a:moveTo>
                        <a:pt x="306" y="168"/>
                      </a:moveTo>
                      <a:cubicBezTo>
                        <a:pt x="168" y="306"/>
                        <a:pt x="168" y="306"/>
                        <a:pt x="168" y="306"/>
                      </a:cubicBezTo>
                      <a:cubicBezTo>
                        <a:pt x="167" y="308"/>
                        <a:pt x="164" y="308"/>
                        <a:pt x="163" y="308"/>
                      </a:cubicBezTo>
                      <a:cubicBezTo>
                        <a:pt x="162" y="308"/>
                        <a:pt x="159" y="308"/>
                        <a:pt x="157" y="306"/>
                      </a:cubicBezTo>
                      <a:cubicBezTo>
                        <a:pt x="20" y="168"/>
                        <a:pt x="20" y="168"/>
                        <a:pt x="20" y="168"/>
                      </a:cubicBezTo>
                      <a:cubicBezTo>
                        <a:pt x="18" y="167"/>
                        <a:pt x="17" y="165"/>
                        <a:pt x="17" y="163"/>
                      </a:cubicBezTo>
                      <a:cubicBezTo>
                        <a:pt x="17" y="161"/>
                        <a:pt x="18" y="159"/>
                        <a:pt x="20" y="157"/>
                      </a:cubicBezTo>
                      <a:cubicBezTo>
                        <a:pt x="157" y="19"/>
                        <a:pt x="157" y="19"/>
                        <a:pt x="157" y="19"/>
                      </a:cubicBezTo>
                      <a:cubicBezTo>
                        <a:pt x="159" y="17"/>
                        <a:pt x="162" y="17"/>
                        <a:pt x="163" y="17"/>
                      </a:cubicBezTo>
                      <a:cubicBezTo>
                        <a:pt x="164" y="17"/>
                        <a:pt x="167" y="17"/>
                        <a:pt x="168" y="19"/>
                      </a:cubicBezTo>
                      <a:cubicBezTo>
                        <a:pt x="306" y="157"/>
                        <a:pt x="306" y="157"/>
                        <a:pt x="306" y="157"/>
                      </a:cubicBezTo>
                      <a:cubicBezTo>
                        <a:pt x="308" y="159"/>
                        <a:pt x="309" y="161"/>
                        <a:pt x="309" y="163"/>
                      </a:cubicBezTo>
                      <a:cubicBezTo>
                        <a:pt x="309" y="164"/>
                        <a:pt x="308" y="166"/>
                        <a:pt x="306" y="168"/>
                      </a:cubicBezTo>
                      <a:close/>
                    </a:path>
                  </a:pathLst>
                </a:custGeom>
                <a:solidFill>
                  <a:sysClr val="windowText" lastClr="000000">
                    <a:lumMod val="85000"/>
                    <a:lumOff val="15000"/>
                  </a:sys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dirty="0">
                    <a:solidFill>
                      <a:prstClr val="black"/>
                    </a:solidFill>
                  </a:endParaRPr>
                </a:p>
              </p:txBody>
            </p:sp>
          </p:grpSp>
        </p:grpSp>
        <p:sp>
          <p:nvSpPr>
            <p:cNvPr id="25" name="TextBox 24"/>
            <p:cNvSpPr txBox="1"/>
            <p:nvPr/>
          </p:nvSpPr>
          <p:spPr>
            <a:xfrm>
              <a:off x="6371735" y="4565165"/>
              <a:ext cx="1189155" cy="409650"/>
            </a:xfrm>
            <a:prstGeom prst="rect">
              <a:avLst/>
            </a:prstGeom>
            <a:noFill/>
          </p:spPr>
          <p:txBody>
            <a:bodyPr wrap="square" rtlCol="0" anchor="ctr">
              <a:spAutoFit/>
            </a:bodyPr>
            <a:lstStyle/>
            <a:p>
              <a:pPr algn="ctr"/>
              <a:r>
                <a:rPr lang="en-US" sz="900" b="1" dirty="0">
                  <a:latin typeface="Arial" panose="020B0604020202020204" pitchFamily="34" charset="0"/>
                  <a:cs typeface="Arial" panose="020B0604020202020204" pitchFamily="34" charset="0"/>
                </a:rPr>
                <a:t>Q4 2019</a:t>
              </a:r>
            </a:p>
          </p:txBody>
        </p:sp>
      </p:grpSp>
      <p:grpSp>
        <p:nvGrpSpPr>
          <p:cNvPr id="30" name="Group 29"/>
          <p:cNvGrpSpPr/>
          <p:nvPr/>
        </p:nvGrpSpPr>
        <p:grpSpPr>
          <a:xfrm>
            <a:off x="4241450" y="1468369"/>
            <a:ext cx="4413192" cy="1354217"/>
            <a:chOff x="4017265" y="1669969"/>
            <a:chExt cx="1708668" cy="4038233"/>
          </a:xfrm>
        </p:grpSpPr>
        <p:sp>
          <p:nvSpPr>
            <p:cNvPr id="31" name="TextBox 30"/>
            <p:cNvSpPr txBox="1"/>
            <p:nvPr/>
          </p:nvSpPr>
          <p:spPr>
            <a:xfrm>
              <a:off x="4017265" y="2312204"/>
              <a:ext cx="1708668" cy="369332"/>
            </a:xfrm>
            <a:prstGeom prst="rect">
              <a:avLst/>
            </a:prstGeom>
            <a:noFill/>
          </p:spPr>
          <p:txBody>
            <a:bodyPr wrap="square" rtlCol="0">
              <a:spAutoFit/>
            </a:bodyPr>
            <a:lstStyle/>
            <a:p>
              <a:endParaRPr lang="en-US" sz="1200" dirty="0">
                <a:solidFill>
                  <a:schemeClr val="tx1">
                    <a:lumMod val="75000"/>
                    <a:lumOff val="25000"/>
                  </a:schemeClr>
                </a:solidFill>
              </a:endParaRPr>
            </a:p>
          </p:txBody>
        </p:sp>
        <p:sp>
          <p:nvSpPr>
            <p:cNvPr id="32" name="TextBox 31"/>
            <p:cNvSpPr txBox="1"/>
            <p:nvPr/>
          </p:nvSpPr>
          <p:spPr>
            <a:xfrm>
              <a:off x="4027695" y="1669969"/>
              <a:ext cx="1628521" cy="4038233"/>
            </a:xfrm>
            <a:prstGeom prst="rect">
              <a:avLst/>
            </a:prstGeom>
            <a:noFill/>
          </p:spPr>
          <p:txBody>
            <a:bodyPr wrap="square" rtlCol="0">
              <a:spAutoFit/>
            </a:bodyPr>
            <a:lstStyle/>
            <a:p>
              <a:pPr marL="347472" indent="-347472">
                <a:buFont typeface="Arial" panose="020B0604020202020204" pitchFamily="34" charset="0"/>
                <a:buChar char="•"/>
              </a:pPr>
              <a:r>
                <a:rPr lang="en-US" sz="1600" dirty="0">
                  <a:solidFill>
                    <a:schemeClr val="tx1">
                      <a:lumMod val="75000"/>
                      <a:lumOff val="25000"/>
                    </a:schemeClr>
                  </a:solidFill>
                  <a:latin typeface="Arial" panose="020B0604020202020204" pitchFamily="34" charset="0"/>
                  <a:cs typeface="Arial" panose="020B0604020202020204" pitchFamily="34" charset="0"/>
                </a:rPr>
                <a:t>1st full draft of post ED-220</a:t>
              </a:r>
            </a:p>
            <a:p>
              <a:pPr marL="347472" indent="-347472">
                <a:buFont typeface="Arial" panose="020B0604020202020204" pitchFamily="34" charset="0"/>
                <a:buChar char="•"/>
              </a:pPr>
              <a:r>
                <a:rPr lang="en-US" sz="1600" dirty="0">
                  <a:solidFill>
                    <a:schemeClr val="tx1">
                      <a:lumMod val="75000"/>
                      <a:lumOff val="25000"/>
                    </a:schemeClr>
                  </a:solidFill>
                  <a:latin typeface="Arial" panose="020B0604020202020204" pitchFamily="34" charset="0"/>
                  <a:cs typeface="Arial" panose="020B0604020202020204" pitchFamily="34" charset="0"/>
                </a:rPr>
                <a:t>Coordination with IESBA representatives and other IAASB Task Forces (ISQM 1, ISQM 2 and ISA 600)</a:t>
              </a:r>
            </a:p>
            <a:p>
              <a:endParaRPr lang="en-US" sz="1800" b="1" dirty="0">
                <a:solidFill>
                  <a:schemeClr val="tx1">
                    <a:lumMod val="75000"/>
                    <a:lumOff val="25000"/>
                  </a:schemeClr>
                </a:solidFill>
                <a:latin typeface="Arial" panose="020B0604020202020204" pitchFamily="34" charset="0"/>
                <a:cs typeface="Arial" panose="020B0604020202020204" pitchFamily="34" charset="0"/>
              </a:endParaRPr>
            </a:p>
          </p:txBody>
        </p:sp>
      </p:grpSp>
      <p:grpSp>
        <p:nvGrpSpPr>
          <p:cNvPr id="43" name="Group 42"/>
          <p:cNvGrpSpPr/>
          <p:nvPr/>
        </p:nvGrpSpPr>
        <p:grpSpPr>
          <a:xfrm>
            <a:off x="3451545" y="2500016"/>
            <a:ext cx="1235663" cy="1771709"/>
            <a:chOff x="6285507" y="4056652"/>
            <a:chExt cx="1361612" cy="1952296"/>
          </a:xfrm>
        </p:grpSpPr>
        <p:grpSp>
          <p:nvGrpSpPr>
            <p:cNvPr id="44" name="Group 43"/>
            <p:cNvGrpSpPr/>
            <p:nvPr/>
          </p:nvGrpSpPr>
          <p:grpSpPr>
            <a:xfrm>
              <a:off x="6285507" y="4056652"/>
              <a:ext cx="1361612" cy="1952296"/>
              <a:chOff x="5808789" y="2272281"/>
              <a:chExt cx="1993536" cy="2858355"/>
            </a:xfrm>
          </p:grpSpPr>
          <p:sp>
            <p:nvSpPr>
              <p:cNvPr id="46" name="Rectangle 45"/>
              <p:cNvSpPr/>
              <p:nvPr/>
            </p:nvSpPr>
            <p:spPr>
              <a:xfrm>
                <a:off x="6718887" y="4188899"/>
                <a:ext cx="191914" cy="941737"/>
              </a:xfrm>
              <a:prstGeom prst="rect">
                <a:avLst/>
              </a:prstGeom>
              <a:gradFill>
                <a:gsLst>
                  <a:gs pos="0">
                    <a:sysClr val="windowText" lastClr="000000">
                      <a:lumMod val="75000"/>
                      <a:lumOff val="25000"/>
                      <a:shade val="30000"/>
                      <a:satMod val="115000"/>
                    </a:sysClr>
                  </a:gs>
                  <a:gs pos="50000">
                    <a:sysClr val="window" lastClr="FFFFFF"/>
                  </a:gs>
                  <a:gs pos="100000">
                    <a:sysClr val="windowText" lastClr="000000">
                      <a:lumMod val="75000"/>
                      <a:lumOff val="25000"/>
                      <a:shade val="100000"/>
                      <a:satMod val="115000"/>
                    </a:sysClr>
                  </a:gs>
                </a:gsLst>
                <a:lin ang="0" scaled="0"/>
              </a:gradFill>
              <a:ln w="25400" cap="flat" cmpd="sng" algn="ctr">
                <a:noFill/>
                <a:prstDash val="solid"/>
              </a:ln>
              <a:effectLst/>
            </p:spPr>
            <p:txBody>
              <a:bodyPr rtlCol="0" anchor="ctr"/>
              <a:lstStyle/>
              <a:p>
                <a:pPr algn="ctr" defTabSz="685800">
                  <a:defRPr/>
                </a:pPr>
                <a:endParaRPr lang="en-US" kern="0" dirty="0">
                  <a:solidFill>
                    <a:prstClr val="white"/>
                  </a:solidFill>
                  <a:latin typeface="Calibri"/>
                </a:endParaRPr>
              </a:p>
            </p:txBody>
          </p:sp>
          <p:grpSp>
            <p:nvGrpSpPr>
              <p:cNvPr id="47" name="Group 46"/>
              <p:cNvGrpSpPr/>
              <p:nvPr/>
            </p:nvGrpSpPr>
            <p:grpSpPr>
              <a:xfrm>
                <a:off x="5808789" y="2272281"/>
                <a:ext cx="1993536" cy="1989348"/>
                <a:chOff x="8140701" y="1890712"/>
                <a:chExt cx="1511300" cy="1508125"/>
              </a:xfrm>
            </p:grpSpPr>
            <p:sp>
              <p:nvSpPr>
                <p:cNvPr id="48" name="Freeform 25"/>
                <p:cNvSpPr>
                  <a:spLocks/>
                </p:cNvSpPr>
                <p:nvPr/>
              </p:nvSpPr>
              <p:spPr bwMode="auto">
                <a:xfrm>
                  <a:off x="8140701" y="1890712"/>
                  <a:ext cx="1511300" cy="1508125"/>
                </a:xfrm>
                <a:custGeom>
                  <a:avLst/>
                  <a:gdLst>
                    <a:gd name="T0" fmla="*/ 385 w 402"/>
                    <a:gd name="T1" fmla="*/ 171 h 401"/>
                    <a:gd name="T2" fmla="*/ 385 w 402"/>
                    <a:gd name="T3" fmla="*/ 231 h 401"/>
                    <a:gd name="T4" fmla="*/ 231 w 402"/>
                    <a:gd name="T5" fmla="*/ 385 h 401"/>
                    <a:gd name="T6" fmla="*/ 171 w 402"/>
                    <a:gd name="T7" fmla="*/ 385 h 401"/>
                    <a:gd name="T8" fmla="*/ 17 w 402"/>
                    <a:gd name="T9" fmla="*/ 231 h 401"/>
                    <a:gd name="T10" fmla="*/ 17 w 402"/>
                    <a:gd name="T11" fmla="*/ 171 h 401"/>
                    <a:gd name="T12" fmla="*/ 171 w 402"/>
                    <a:gd name="T13" fmla="*/ 17 h 401"/>
                    <a:gd name="T14" fmla="*/ 231 w 402"/>
                    <a:gd name="T15" fmla="*/ 17 h 401"/>
                    <a:gd name="T16" fmla="*/ 385 w 402"/>
                    <a:gd name="T17" fmla="*/ 17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1">
                      <a:moveTo>
                        <a:pt x="385" y="171"/>
                      </a:moveTo>
                      <a:cubicBezTo>
                        <a:pt x="402" y="187"/>
                        <a:pt x="402" y="214"/>
                        <a:pt x="385" y="231"/>
                      </a:cubicBezTo>
                      <a:cubicBezTo>
                        <a:pt x="231" y="385"/>
                        <a:pt x="231" y="385"/>
                        <a:pt x="231" y="385"/>
                      </a:cubicBezTo>
                      <a:cubicBezTo>
                        <a:pt x="214" y="401"/>
                        <a:pt x="187" y="401"/>
                        <a:pt x="171" y="385"/>
                      </a:cubicBezTo>
                      <a:cubicBezTo>
                        <a:pt x="17" y="231"/>
                        <a:pt x="17" y="231"/>
                        <a:pt x="17" y="231"/>
                      </a:cubicBezTo>
                      <a:cubicBezTo>
                        <a:pt x="0" y="214"/>
                        <a:pt x="0" y="187"/>
                        <a:pt x="17" y="171"/>
                      </a:cubicBezTo>
                      <a:cubicBezTo>
                        <a:pt x="171" y="17"/>
                        <a:pt x="171" y="17"/>
                        <a:pt x="171" y="17"/>
                      </a:cubicBezTo>
                      <a:cubicBezTo>
                        <a:pt x="187" y="0"/>
                        <a:pt x="214" y="0"/>
                        <a:pt x="231" y="17"/>
                      </a:cubicBezTo>
                      <a:lnTo>
                        <a:pt x="385" y="171"/>
                      </a:lnTo>
                      <a:close/>
                    </a:path>
                  </a:pathLst>
                </a:custGeom>
                <a:solidFill>
                  <a:srgbClr val="F1C96C">
                    <a:lumMod val="75000"/>
                  </a:srgb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dirty="0">
                    <a:solidFill>
                      <a:prstClr val="black"/>
                    </a:solidFill>
                  </a:endParaRPr>
                </a:p>
              </p:txBody>
            </p:sp>
            <p:sp>
              <p:nvSpPr>
                <p:cNvPr id="49" name="Freeform 26"/>
                <p:cNvSpPr>
                  <a:spLocks noEditPoints="1"/>
                </p:cNvSpPr>
                <p:nvPr/>
              </p:nvSpPr>
              <p:spPr bwMode="auto">
                <a:xfrm>
                  <a:off x="8283576" y="2033588"/>
                  <a:ext cx="1225550" cy="1227138"/>
                </a:xfrm>
                <a:custGeom>
                  <a:avLst/>
                  <a:gdLst>
                    <a:gd name="T0" fmla="*/ 323 w 326"/>
                    <a:gd name="T1" fmla="*/ 157 h 326"/>
                    <a:gd name="T2" fmla="*/ 169 w 326"/>
                    <a:gd name="T3" fmla="*/ 2 h 326"/>
                    <a:gd name="T4" fmla="*/ 163 w 326"/>
                    <a:gd name="T5" fmla="*/ 0 h 326"/>
                    <a:gd name="T6" fmla="*/ 157 w 326"/>
                    <a:gd name="T7" fmla="*/ 2 h 326"/>
                    <a:gd name="T8" fmla="*/ 3 w 326"/>
                    <a:gd name="T9" fmla="*/ 157 h 326"/>
                    <a:gd name="T10" fmla="*/ 0 w 326"/>
                    <a:gd name="T11" fmla="*/ 163 h 326"/>
                    <a:gd name="T12" fmla="*/ 3 w 326"/>
                    <a:gd name="T13" fmla="*/ 169 h 326"/>
                    <a:gd name="T14" fmla="*/ 157 w 326"/>
                    <a:gd name="T15" fmla="*/ 323 h 326"/>
                    <a:gd name="T16" fmla="*/ 163 w 326"/>
                    <a:gd name="T17" fmla="*/ 326 h 326"/>
                    <a:gd name="T18" fmla="*/ 169 w 326"/>
                    <a:gd name="T19" fmla="*/ 323 h 326"/>
                    <a:gd name="T20" fmla="*/ 323 w 326"/>
                    <a:gd name="T21" fmla="*/ 169 h 326"/>
                    <a:gd name="T22" fmla="*/ 326 w 326"/>
                    <a:gd name="T23" fmla="*/ 163 h 326"/>
                    <a:gd name="T24" fmla="*/ 323 w 326"/>
                    <a:gd name="T25" fmla="*/ 157 h 326"/>
                    <a:gd name="T26" fmla="*/ 306 w 326"/>
                    <a:gd name="T27" fmla="*/ 168 h 326"/>
                    <a:gd name="T28" fmla="*/ 168 w 326"/>
                    <a:gd name="T29" fmla="*/ 306 h 326"/>
                    <a:gd name="T30" fmla="*/ 163 w 326"/>
                    <a:gd name="T31" fmla="*/ 308 h 326"/>
                    <a:gd name="T32" fmla="*/ 157 w 326"/>
                    <a:gd name="T33" fmla="*/ 306 h 326"/>
                    <a:gd name="T34" fmla="*/ 20 w 326"/>
                    <a:gd name="T35" fmla="*/ 168 h 326"/>
                    <a:gd name="T36" fmla="*/ 17 w 326"/>
                    <a:gd name="T37" fmla="*/ 163 h 326"/>
                    <a:gd name="T38" fmla="*/ 20 w 326"/>
                    <a:gd name="T39" fmla="*/ 157 h 326"/>
                    <a:gd name="T40" fmla="*/ 157 w 326"/>
                    <a:gd name="T41" fmla="*/ 19 h 326"/>
                    <a:gd name="T42" fmla="*/ 163 w 326"/>
                    <a:gd name="T43" fmla="*/ 17 h 326"/>
                    <a:gd name="T44" fmla="*/ 168 w 326"/>
                    <a:gd name="T45" fmla="*/ 19 h 326"/>
                    <a:gd name="T46" fmla="*/ 306 w 326"/>
                    <a:gd name="T47" fmla="*/ 157 h 326"/>
                    <a:gd name="T48" fmla="*/ 309 w 326"/>
                    <a:gd name="T49" fmla="*/ 163 h 326"/>
                    <a:gd name="T50" fmla="*/ 306 w 326"/>
                    <a:gd name="T51" fmla="*/ 16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6" h="326">
                      <a:moveTo>
                        <a:pt x="323" y="157"/>
                      </a:moveTo>
                      <a:cubicBezTo>
                        <a:pt x="169" y="2"/>
                        <a:pt x="169" y="2"/>
                        <a:pt x="169" y="2"/>
                      </a:cubicBezTo>
                      <a:cubicBezTo>
                        <a:pt x="167" y="0"/>
                        <a:pt x="164" y="0"/>
                        <a:pt x="163" y="0"/>
                      </a:cubicBezTo>
                      <a:cubicBezTo>
                        <a:pt x="162" y="0"/>
                        <a:pt x="159" y="0"/>
                        <a:pt x="157" y="2"/>
                      </a:cubicBezTo>
                      <a:cubicBezTo>
                        <a:pt x="3" y="157"/>
                        <a:pt x="3" y="157"/>
                        <a:pt x="3" y="157"/>
                      </a:cubicBezTo>
                      <a:cubicBezTo>
                        <a:pt x="1" y="158"/>
                        <a:pt x="0" y="160"/>
                        <a:pt x="0" y="163"/>
                      </a:cubicBezTo>
                      <a:cubicBezTo>
                        <a:pt x="0" y="165"/>
                        <a:pt x="1" y="167"/>
                        <a:pt x="3" y="169"/>
                      </a:cubicBezTo>
                      <a:cubicBezTo>
                        <a:pt x="157" y="323"/>
                        <a:pt x="157" y="323"/>
                        <a:pt x="157" y="323"/>
                      </a:cubicBezTo>
                      <a:cubicBezTo>
                        <a:pt x="159" y="325"/>
                        <a:pt x="162" y="326"/>
                        <a:pt x="163" y="326"/>
                      </a:cubicBezTo>
                      <a:cubicBezTo>
                        <a:pt x="164" y="326"/>
                        <a:pt x="167" y="325"/>
                        <a:pt x="169" y="323"/>
                      </a:cubicBezTo>
                      <a:cubicBezTo>
                        <a:pt x="323" y="169"/>
                        <a:pt x="323" y="169"/>
                        <a:pt x="323" y="169"/>
                      </a:cubicBezTo>
                      <a:cubicBezTo>
                        <a:pt x="325" y="167"/>
                        <a:pt x="326" y="164"/>
                        <a:pt x="326" y="163"/>
                      </a:cubicBezTo>
                      <a:cubicBezTo>
                        <a:pt x="326" y="161"/>
                        <a:pt x="325" y="159"/>
                        <a:pt x="323" y="157"/>
                      </a:cubicBezTo>
                      <a:close/>
                      <a:moveTo>
                        <a:pt x="306" y="168"/>
                      </a:moveTo>
                      <a:cubicBezTo>
                        <a:pt x="168" y="306"/>
                        <a:pt x="168" y="306"/>
                        <a:pt x="168" y="306"/>
                      </a:cubicBezTo>
                      <a:cubicBezTo>
                        <a:pt x="167" y="308"/>
                        <a:pt x="164" y="308"/>
                        <a:pt x="163" y="308"/>
                      </a:cubicBezTo>
                      <a:cubicBezTo>
                        <a:pt x="162" y="308"/>
                        <a:pt x="159" y="308"/>
                        <a:pt x="157" y="306"/>
                      </a:cubicBezTo>
                      <a:cubicBezTo>
                        <a:pt x="20" y="168"/>
                        <a:pt x="20" y="168"/>
                        <a:pt x="20" y="168"/>
                      </a:cubicBezTo>
                      <a:cubicBezTo>
                        <a:pt x="18" y="167"/>
                        <a:pt x="17" y="165"/>
                        <a:pt x="17" y="163"/>
                      </a:cubicBezTo>
                      <a:cubicBezTo>
                        <a:pt x="17" y="161"/>
                        <a:pt x="18" y="159"/>
                        <a:pt x="20" y="157"/>
                      </a:cubicBezTo>
                      <a:cubicBezTo>
                        <a:pt x="157" y="19"/>
                        <a:pt x="157" y="19"/>
                        <a:pt x="157" y="19"/>
                      </a:cubicBezTo>
                      <a:cubicBezTo>
                        <a:pt x="159" y="17"/>
                        <a:pt x="162" y="17"/>
                        <a:pt x="163" y="17"/>
                      </a:cubicBezTo>
                      <a:cubicBezTo>
                        <a:pt x="164" y="17"/>
                        <a:pt x="167" y="17"/>
                        <a:pt x="168" y="19"/>
                      </a:cubicBezTo>
                      <a:cubicBezTo>
                        <a:pt x="306" y="157"/>
                        <a:pt x="306" y="157"/>
                        <a:pt x="306" y="157"/>
                      </a:cubicBezTo>
                      <a:cubicBezTo>
                        <a:pt x="308" y="159"/>
                        <a:pt x="309" y="161"/>
                        <a:pt x="309" y="163"/>
                      </a:cubicBezTo>
                      <a:cubicBezTo>
                        <a:pt x="309" y="164"/>
                        <a:pt x="308" y="166"/>
                        <a:pt x="306" y="168"/>
                      </a:cubicBezTo>
                      <a:close/>
                    </a:path>
                  </a:pathLst>
                </a:custGeom>
                <a:solidFill>
                  <a:sysClr val="windowText" lastClr="000000">
                    <a:lumMod val="85000"/>
                    <a:lumOff val="15000"/>
                  </a:sys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dirty="0">
                    <a:solidFill>
                      <a:prstClr val="black"/>
                    </a:solidFill>
                  </a:endParaRPr>
                </a:p>
              </p:txBody>
            </p:sp>
          </p:grpSp>
        </p:grpSp>
        <p:sp>
          <p:nvSpPr>
            <p:cNvPr id="45" name="TextBox 44"/>
            <p:cNvSpPr txBox="1"/>
            <p:nvPr/>
          </p:nvSpPr>
          <p:spPr>
            <a:xfrm>
              <a:off x="6371735" y="4597951"/>
              <a:ext cx="1189156" cy="305233"/>
            </a:xfrm>
            <a:prstGeom prst="rect">
              <a:avLst/>
            </a:prstGeom>
            <a:noFill/>
          </p:spPr>
          <p:txBody>
            <a:bodyPr wrap="square" rtlCol="0" anchor="ctr">
              <a:spAutoFit/>
            </a:bodyPr>
            <a:lstStyle/>
            <a:p>
              <a:pPr algn="ctr"/>
              <a:r>
                <a:rPr lang="en-US" sz="1200" b="1" kern="0" dirty="0">
                  <a:latin typeface="Arial" panose="020B0604020202020204" pitchFamily="34" charset="0"/>
                  <a:cs typeface="Arial" panose="020B0604020202020204" pitchFamily="34" charset="0"/>
                </a:rPr>
                <a:t>Q2 2020</a:t>
              </a:r>
            </a:p>
          </p:txBody>
        </p:sp>
      </p:grpSp>
      <p:grpSp>
        <p:nvGrpSpPr>
          <p:cNvPr id="50" name="Group 49"/>
          <p:cNvGrpSpPr/>
          <p:nvPr/>
        </p:nvGrpSpPr>
        <p:grpSpPr>
          <a:xfrm>
            <a:off x="4687208" y="2851730"/>
            <a:ext cx="4206187" cy="1354217"/>
            <a:chOff x="3787623" y="1994923"/>
            <a:chExt cx="2011200" cy="2429908"/>
          </a:xfrm>
        </p:grpSpPr>
        <p:sp>
          <p:nvSpPr>
            <p:cNvPr id="51" name="TextBox 50"/>
            <p:cNvSpPr txBox="1"/>
            <p:nvPr/>
          </p:nvSpPr>
          <p:spPr>
            <a:xfrm>
              <a:off x="4027695" y="2057399"/>
              <a:ext cx="1708668" cy="369332"/>
            </a:xfrm>
            <a:prstGeom prst="rect">
              <a:avLst/>
            </a:prstGeom>
            <a:noFill/>
          </p:spPr>
          <p:txBody>
            <a:bodyPr wrap="square" rtlCol="0">
              <a:spAutoFit/>
            </a:bodyPr>
            <a:lstStyle/>
            <a:p>
              <a:endParaRPr lang="en-US" sz="1200" kern="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52" name="TextBox 51"/>
            <p:cNvSpPr txBox="1"/>
            <p:nvPr/>
          </p:nvSpPr>
          <p:spPr>
            <a:xfrm>
              <a:off x="3787623" y="1994923"/>
              <a:ext cx="2011200" cy="2429908"/>
            </a:xfrm>
            <a:prstGeom prst="rect">
              <a:avLst/>
            </a:prstGeom>
            <a:noFill/>
          </p:spPr>
          <p:txBody>
            <a:bodyPr wrap="square" rtlCol="0">
              <a:spAutoFit/>
            </a:bodyPr>
            <a:lstStyle/>
            <a:p>
              <a:pPr marL="347472" indent="-347472">
                <a:buFont typeface="Arial" panose="020B0604020202020204" pitchFamily="34" charset="0"/>
                <a:buChar char="•"/>
              </a:pPr>
              <a:r>
                <a:rPr lang="en-US" sz="1600" dirty="0">
                  <a:solidFill>
                    <a:schemeClr val="tx1">
                      <a:lumMod val="75000"/>
                      <a:lumOff val="25000"/>
                    </a:schemeClr>
                  </a:solidFill>
                  <a:latin typeface="Arial" panose="020B0604020202020204" pitchFamily="34" charset="0"/>
                  <a:cs typeface="Arial" panose="020B0604020202020204" pitchFamily="34" charset="0"/>
                </a:rPr>
                <a:t>Penultimate board agreement for ISA 220 (Revised)</a:t>
              </a:r>
            </a:p>
            <a:p>
              <a:pPr marL="347472" indent="-347472">
                <a:buFont typeface="Arial" panose="020B0604020202020204" pitchFamily="34" charset="0"/>
                <a:buChar char="•"/>
              </a:pPr>
              <a:r>
                <a:rPr lang="en-US" sz="1600" dirty="0">
                  <a:solidFill>
                    <a:schemeClr val="tx1">
                      <a:lumMod val="75000"/>
                      <a:lumOff val="25000"/>
                    </a:schemeClr>
                  </a:solidFill>
                  <a:latin typeface="Arial" panose="020B0604020202020204" pitchFamily="34" charset="0"/>
                  <a:cs typeface="Arial" panose="020B0604020202020204" pitchFamily="34" charset="0"/>
                </a:rPr>
                <a:t>Coordination with IESBA representatives and other IAASB Task Forces</a:t>
              </a:r>
            </a:p>
            <a:p>
              <a:endParaRPr lang="en-US" sz="1800" b="1" dirty="0">
                <a:solidFill>
                  <a:schemeClr val="tx1">
                    <a:lumMod val="75000"/>
                    <a:lumOff val="25000"/>
                  </a:schemeClr>
                </a:solidFill>
                <a:latin typeface="Arial" panose="020B0604020202020204" pitchFamily="34" charset="0"/>
                <a:cs typeface="Arial" panose="020B0604020202020204" pitchFamily="34" charset="0"/>
              </a:endParaRPr>
            </a:p>
          </p:txBody>
        </p:sp>
      </p:grpSp>
      <p:sp>
        <p:nvSpPr>
          <p:cNvPr id="53" name="Title 1">
            <a:extLst>
              <a:ext uri="{FF2B5EF4-FFF2-40B4-BE49-F238E27FC236}">
                <a16:creationId xmlns:a16="http://schemas.microsoft.com/office/drawing/2014/main" id="{B215E862-CC3F-4208-96F8-EF3141D7BC13}"/>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The Way Forward</a:t>
            </a:r>
          </a:p>
        </p:txBody>
      </p:sp>
    </p:spTree>
    <p:extLst>
      <p:ext uri="{BB962C8B-B14F-4D97-AF65-F5344CB8AC3E}">
        <p14:creationId xmlns:p14="http://schemas.microsoft.com/office/powerpoint/2010/main" val="1183467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1E06E6C1-0004-4D6E-B327-D086E539BD5F}"/>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31</a:t>
            </a:fld>
            <a:r>
              <a:rPr lang="en-US" sz="675" dirty="0">
                <a:solidFill>
                  <a:srgbClr val="808080"/>
                </a:solidFill>
                <a:latin typeface="Arial" panose="020B0604020202020204" pitchFamily="34" charset="0"/>
              </a:rPr>
              <a:t>  |</a:t>
            </a:r>
          </a:p>
        </p:txBody>
      </p:sp>
      <p:sp>
        <p:nvSpPr>
          <p:cNvPr id="3" name="TextBox 2">
            <a:extLst>
              <a:ext uri="{FF2B5EF4-FFF2-40B4-BE49-F238E27FC236}">
                <a16:creationId xmlns:a16="http://schemas.microsoft.com/office/drawing/2014/main" id="{7C39092A-899D-A645-A3C5-5099C5456E32}"/>
              </a:ext>
            </a:extLst>
          </p:cNvPr>
          <p:cNvSpPr txBox="1"/>
          <p:nvPr/>
        </p:nvSpPr>
        <p:spPr>
          <a:xfrm>
            <a:off x="3556000" y="2319867"/>
            <a:ext cx="184731" cy="300082"/>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83A4972C-E057-FC40-878E-703EBE3B2027}"/>
              </a:ext>
            </a:extLst>
          </p:cNvPr>
          <p:cNvSpPr txBox="1"/>
          <p:nvPr/>
        </p:nvSpPr>
        <p:spPr>
          <a:xfrm>
            <a:off x="3522133" y="1557867"/>
            <a:ext cx="184731" cy="30008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598102811"/>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6938</TotalTime>
  <Words>1372</Words>
  <Application>Microsoft Office PowerPoint</Application>
  <PresentationFormat>On-screen Show (16:9)</PresentationFormat>
  <Paragraphs>229</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Arial Narrow</vt:lpstr>
      <vt:lpstr>Calibri</vt:lpstr>
      <vt:lpstr>Courier New</vt:lpstr>
      <vt:lpstr>Office Theme</vt:lpstr>
      <vt:lpstr>Proposed ISA 220, Quality Management for an Audit of Financial Statements (ED-220)</vt:lpstr>
      <vt:lpstr>PowerPoint Presentation</vt:lpstr>
      <vt:lpstr>PowerPoint Presentation</vt:lpstr>
      <vt:lpstr>PowerPoint Presentation</vt:lpstr>
      <vt:lpstr>Analysis of Key Issues to be Discussed at this Meeting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Other Matters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Joy Thurgood</cp:lastModifiedBy>
  <cp:revision>597</cp:revision>
  <cp:lastPrinted>2019-09-17T19:06:34Z</cp:lastPrinted>
  <dcterms:created xsi:type="dcterms:W3CDTF">2016-11-09T14:56:20Z</dcterms:created>
  <dcterms:modified xsi:type="dcterms:W3CDTF">2019-09-17T19:13:39Z</dcterms:modified>
</cp:coreProperties>
</file>