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84" r:id="rId1"/>
    <p:sldMasterId id="2147483672" r:id="rId2"/>
    <p:sldMasterId id="2147483696" r:id="rId3"/>
    <p:sldMasterId id="2147483708" r:id="rId4"/>
    <p:sldMasterId id="2147483816" r:id="rId5"/>
    <p:sldMasterId id="2147483844" r:id="rId6"/>
    <p:sldMasterId id="2147483856" r:id="rId7"/>
  </p:sldMasterIdLst>
  <p:notesMasterIdLst>
    <p:notesMasterId r:id="rId23"/>
  </p:notesMasterIdLst>
  <p:sldIdLst>
    <p:sldId id="419" r:id="rId8"/>
    <p:sldId id="524" r:id="rId9"/>
    <p:sldId id="531" r:id="rId10"/>
    <p:sldId id="532" r:id="rId11"/>
    <p:sldId id="539" r:id="rId12"/>
    <p:sldId id="540" r:id="rId13"/>
    <p:sldId id="533" r:id="rId14"/>
    <p:sldId id="527" r:id="rId15"/>
    <p:sldId id="534" r:id="rId16"/>
    <p:sldId id="535" r:id="rId17"/>
    <p:sldId id="536" r:id="rId18"/>
    <p:sldId id="537" r:id="rId19"/>
    <p:sldId id="538" r:id="rId20"/>
    <p:sldId id="518" r:id="rId21"/>
    <p:sldId id="394" r:id="rId22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Jasper van den Hout" initials="JvdH" lastIdx="1" clrIdx="6">
    <p:extLst>
      <p:ext uri="{19B8F6BF-5375-455C-9EA6-DF929625EA0E}">
        <p15:presenceInfo xmlns:p15="http://schemas.microsoft.com/office/powerpoint/2012/main" userId="S::JaspervandenHout@iaasb.org::055bbbd2-5046-47f6-8263-b7d8da73be0a" providerId="AD"/>
      </p:ext>
    </p:extLst>
  </p:cmAuthor>
  <p:cmAuthor id="1" name="Megan Zietsman" initials="MZ" lastIdx="62" clrIdx="0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2" name="Dan Montgomery" initials="DM" lastIdx="2" clrIdx="1">
    <p:extLst>
      <p:ext uri="{19B8F6BF-5375-455C-9EA6-DF929625EA0E}">
        <p15:presenceInfo xmlns:p15="http://schemas.microsoft.com/office/powerpoint/2012/main" userId="8ba5e3d143c5e0b2" providerId="Windows Live"/>
      </p:ext>
    </p:extLst>
  </p:cmAuthor>
  <p:cmAuthor id="3" name="Natalie Klonaridis" initials="NK" lastIdx="14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ames Grosvenor" initials="JG" lastIdx="2" clrIdx="3">
    <p:extLst>
      <p:ext uri="{19B8F6BF-5375-455C-9EA6-DF929625EA0E}">
        <p15:presenceInfo xmlns:p15="http://schemas.microsoft.com/office/powerpoint/2012/main" userId="S-1-5-21-1801674531-1972579041-839522115-17641" providerId="AD"/>
      </p:ext>
    </p:extLst>
  </p:cmAuthor>
  <p:cmAuthor id="5" name="BJ" initials="BJ" lastIdx="4" clrIdx="4">
    <p:extLst>
      <p:ext uri="{19B8F6BF-5375-455C-9EA6-DF929625EA0E}">
        <p15:presenceInfo xmlns:p15="http://schemas.microsoft.com/office/powerpoint/2012/main" userId="BJ" providerId="None"/>
      </p:ext>
    </p:extLst>
  </p:cmAuthor>
  <p:cmAuthor id="6" name="Willie Botha" initials="WB" lastIdx="2" clrIdx="5">
    <p:extLst>
      <p:ext uri="{19B8F6BF-5375-455C-9EA6-DF929625EA0E}">
        <p15:presenceInfo xmlns:p15="http://schemas.microsoft.com/office/powerpoint/2012/main" userId="S::WillieBotha@iaasb.org::1d64e684-352d-424c-a1f4-5d6d7c4ec4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E1"/>
    <a:srgbClr val="0089CF"/>
    <a:srgbClr val="0071BC"/>
    <a:srgbClr val="005BAA"/>
    <a:srgbClr val="0079C2"/>
    <a:srgbClr val="009AD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87304" autoAdjust="0"/>
  </p:normalViewPr>
  <p:slideViewPr>
    <p:cSldViewPr snapToGrid="0">
      <p:cViewPr varScale="1">
        <p:scale>
          <a:sx n="58" d="100"/>
          <a:sy n="58" d="100"/>
        </p:scale>
        <p:origin x="9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E99C36-7D1C-4387-AF44-E7FCB3F4E37E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E57C338-51D3-4B1F-B4F8-9C66609F5D9E}">
      <dgm:prSet phldrT="[Text]" custT="1"/>
      <dgm:spPr>
        <a:solidFill>
          <a:srgbClr val="0089CF"/>
        </a:solidFill>
      </dgm:spPr>
      <dgm:t>
        <a:bodyPr/>
        <a:lstStyle/>
        <a:p>
          <a:r>
            <a:rPr lang="en-US" sz="4000" b="1" dirty="0">
              <a:latin typeface="Arial" panose="020B0604020202020204" pitchFamily="34" charset="0"/>
              <a:cs typeface="Arial" panose="020B0604020202020204" pitchFamily="34" charset="0"/>
            </a:rPr>
            <a:t>Framework for Activities</a:t>
          </a:r>
        </a:p>
      </dgm:t>
    </dgm:pt>
    <dgm:pt modelId="{ADC42DB5-B686-4B81-9DDE-65AA6D8D786E}" type="parTrans" cxnId="{BB8F9127-6199-4C01-BC50-348447405C04}">
      <dgm:prSet/>
      <dgm:spPr/>
      <dgm:t>
        <a:bodyPr/>
        <a:lstStyle/>
        <a:p>
          <a:endParaRPr lang="en-US"/>
        </a:p>
      </dgm:t>
    </dgm:pt>
    <dgm:pt modelId="{41425E7F-A94C-4EE9-8688-3D40A29C50CF}" type="sibTrans" cxnId="{BB8F9127-6199-4C01-BC50-348447405C04}">
      <dgm:prSet/>
      <dgm:spPr/>
      <dgm:t>
        <a:bodyPr/>
        <a:lstStyle/>
        <a:p>
          <a:endParaRPr lang="en-US"/>
        </a:p>
      </dgm:t>
    </dgm:pt>
    <dgm:pt modelId="{83E5B1CA-B483-457E-A8F0-C5E51F759FA7}" type="pres">
      <dgm:prSet presAssocID="{62E99C36-7D1C-4387-AF44-E7FCB3F4E37E}" presName="diagram" presStyleCnt="0">
        <dgm:presLayoutVars>
          <dgm:dir/>
          <dgm:resizeHandles val="exact"/>
        </dgm:presLayoutVars>
      </dgm:prSet>
      <dgm:spPr/>
    </dgm:pt>
    <dgm:pt modelId="{DB9B51CC-1A90-42FA-858E-E568DD86B563}" type="pres">
      <dgm:prSet presAssocID="{4E57C338-51D3-4B1F-B4F8-9C66609F5D9E}" presName="node" presStyleLbl="node1" presStyleIdx="0" presStyleCnt="1" custScaleX="57955" custScaleY="48296" custLinFactNeighborX="-3467" custLinFactNeighborY="-1017">
        <dgm:presLayoutVars>
          <dgm:bulletEnabled val="1"/>
        </dgm:presLayoutVars>
      </dgm:prSet>
      <dgm:spPr/>
    </dgm:pt>
  </dgm:ptLst>
  <dgm:cxnLst>
    <dgm:cxn modelId="{BB8F9127-6199-4C01-BC50-348447405C04}" srcId="{62E99C36-7D1C-4387-AF44-E7FCB3F4E37E}" destId="{4E57C338-51D3-4B1F-B4F8-9C66609F5D9E}" srcOrd="0" destOrd="0" parTransId="{ADC42DB5-B686-4B81-9DDE-65AA6D8D786E}" sibTransId="{41425E7F-A94C-4EE9-8688-3D40A29C50CF}"/>
    <dgm:cxn modelId="{1BD7F253-246C-44DE-B0DF-D3D86882A1AD}" type="presOf" srcId="{62E99C36-7D1C-4387-AF44-E7FCB3F4E37E}" destId="{83E5B1CA-B483-457E-A8F0-C5E51F759FA7}" srcOrd="0" destOrd="0" presId="urn:microsoft.com/office/officeart/2005/8/layout/default"/>
    <dgm:cxn modelId="{7D07A8FB-32A6-4C4D-B439-CA2E080666EC}" type="presOf" srcId="{4E57C338-51D3-4B1F-B4F8-9C66609F5D9E}" destId="{DB9B51CC-1A90-42FA-858E-E568DD86B563}" srcOrd="0" destOrd="0" presId="urn:microsoft.com/office/officeart/2005/8/layout/default"/>
    <dgm:cxn modelId="{CA3613F7-52C0-4260-9E77-7FF4C08A6950}" type="presParOf" srcId="{83E5B1CA-B483-457E-A8F0-C5E51F759FA7}" destId="{DB9B51CC-1A90-42FA-858E-E568DD86B56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B51CC-1A90-42FA-858E-E568DD86B563}">
      <dsp:nvSpPr>
        <dsp:cNvPr id="0" name=""/>
        <dsp:cNvSpPr/>
      </dsp:nvSpPr>
      <dsp:spPr>
        <a:xfrm>
          <a:off x="1938900" y="765567"/>
          <a:ext cx="6400785" cy="3200403"/>
        </a:xfrm>
        <a:prstGeom prst="rect">
          <a:avLst/>
        </a:prstGeom>
        <a:solidFill>
          <a:srgbClr val="0089C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Arial" panose="020B0604020202020204" pitchFamily="34" charset="0"/>
              <a:cs typeface="Arial" panose="020B0604020202020204" pitchFamily="34" charset="0"/>
            </a:rPr>
            <a:t>Framework for Activities</a:t>
          </a:r>
        </a:p>
      </dsp:txBody>
      <dsp:txXfrm>
        <a:off x="1938900" y="765567"/>
        <a:ext cx="6400785" cy="3200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8217F18B-FBA3-4F6B-97D9-EA188CD16FE5}" type="datetimeFigureOut">
              <a:rPr lang="en-US" smtClean="0"/>
              <a:t>12/9/2019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AD342E5-AFF1-4E5D-BEDB-B5261E7DAD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7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875" y="4262511"/>
            <a:ext cx="6156325" cy="4510157"/>
          </a:xfrm>
        </p:spPr>
        <p:txBody>
          <a:bodyPr>
            <a:noAutofit/>
          </a:bodyPr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1F99D-8DB6-499A-A5BE-D707899593C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5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9BED-9370-4C69-8B19-DF5364062FE8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4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0B73-8C76-4707-80F8-3963866B81ED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72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C273B-D08E-4382-AC60-9B5464EA60A9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8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5696-183B-49B5-AC88-D34FC4452DEE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62864-BFD7-472A-B17C-B9A242BBF5D0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5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0F75-C365-4794-9298-176CBB056E2F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6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030E-23EE-4B6F-A577-FFA754F6F221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9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B20F4-4371-48A2-A1C5-564A141E18FA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4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E5E0-6B3C-4B70-BA81-DF7E8E12A50B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7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2743C-A172-4B79-957C-A37D69B35244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0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5299-30FF-4207-93B4-7A9215AAF387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80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EC16-5153-4444-ADE5-376764F9317A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06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7036-7F39-45B7-B8E7-90186E26FD34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3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F55C-F0A0-40C2-92AA-13448C1B6DE2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55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1662-97DA-482D-BB44-A5E7E1463580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06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3B72-01DD-4123-ABCF-B71DC3DF9A35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1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D7D7D-1F9A-439A-9B1F-FAD176DAAE95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47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D415-7CDF-4724-8022-A789958CE2B4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61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48A9-3F54-4B3A-97B0-C24F2AA0F49B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60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5935-DE68-40A0-AD95-3EF9318A5653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8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BD7C1-6C21-4A0C-AB04-28957353C253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AAA40-D496-4BA5-94BC-EC2395AF4BA1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14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FA47-1DBD-4C30-88B4-1AA2876CD950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723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B669-7C2F-4EE4-B944-62950FE6507F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11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AF38-C557-41C9-8FF5-BEDE134E17EE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80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6C26-B280-45A4-847B-175DFD0A3F0F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65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1335-23B7-4ACE-8A39-51D3C834FF8A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63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56E5-0DA9-479C-BCFC-7EE8D0DE2A8E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712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7FDF-1E42-4280-A018-ACBA192297BC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13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A5003-1A61-4041-91CF-BE3D4D09EBF1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26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7D3B-67DA-40FC-B2AC-DA938EAA2F72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13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7F13-E155-42CD-A20C-B277FF788E23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48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F6321-C77C-49CA-83B2-29284D793B25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849E-A96C-479D-999D-26024B301EF2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29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7697-44BE-464F-8981-C5EF3A124C23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688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7D8D-BF23-4BCF-8EBC-861A1B1DE27C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57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2379-2070-4859-82B4-0B6BF96F6750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23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5070-400A-40B5-8F3B-79E375432C4D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5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35FA3-A859-46EE-9DBA-3396054253CC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39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04EDA-4DB0-43F1-8DF2-E50A41E978FD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78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60095-03E6-49D1-8FE2-66640AD7D839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84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D9738-EE9C-4FC1-8835-2C036BE91A2B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808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346-6166-4BF4-867B-66F542385138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0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F4C4-52B4-4181-878C-D87ACB1BAF46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876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548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91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847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839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01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8865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457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382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6723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7278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211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489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3392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502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198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6522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930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0182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5007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4799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10058400" cy="5334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44499" y="6326390"/>
            <a:ext cx="852032" cy="335775"/>
          </a:xfrm>
        </p:spPr>
        <p:txBody>
          <a:bodyPr/>
          <a:lstStyle/>
          <a:p>
            <a:fld id="{605F50E8-FD69-1B47-8B62-FEC05D1615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1330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68D7C-8822-4144-868B-B6EFA480259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4553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BFDA1-892D-475D-A681-5E1B87AA4CC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520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B08FF-86A9-489B-9293-6DAA81CF55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6665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77F70-787D-4334-ABBD-4BEE84081B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972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4004-8839-470E-98FD-2398CB0038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305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DBE43-71DC-4CB5-9DC9-86D083825D1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72827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6410-D2D8-4C53-8D73-7FAB926DC67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25341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7214-0AB1-49E6-A7A9-395C2525D2C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49580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15EC8-B9E7-4675-8613-1CB4C2CB49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6056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143D-A714-4C9D-9075-7EC3BC78008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438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81AF-C2C2-42FA-ACA9-4469AE7646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7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6.xml"/><Relationship Id="rId21" Type="http://schemas.openxmlformats.org/officeDocument/2006/relationships/hyperlink" Target="http://www.iaasb.org/" TargetMode="Externa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6.png"/><Relationship Id="rId20" Type="http://schemas.openxmlformats.org/officeDocument/2006/relationships/hyperlink" Target="mailto:permissions@ifac.org" TargetMode="Externa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43.xml"/><Relationship Id="rId19" Type="http://schemas.openxmlformats.org/officeDocument/2006/relationships/hyperlink" Target="http://www.ifac.org/about-ifac/translations-permissions" TargetMode="Externa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4.png"/><Relationship Id="rId22" Type="http://schemas.openxmlformats.org/officeDocument/2006/relationships/image" Target="../media/image9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6EE5-B36E-4704-9EC0-BD21A5BAD421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878278"/>
              </p:ext>
            </p:extLst>
          </p:nvPr>
        </p:nvGraphicFramePr>
        <p:xfrm>
          <a:off x="838200" y="291549"/>
          <a:ext cx="10515600" cy="5910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04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9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B8EE7-8247-42AD-8E12-DC9551FCB683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33845"/>
            <a:ext cx="12192000" cy="447208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384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1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6B8DE-675F-4831-9241-FE2F5CAD1845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2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C7CB0-694A-4CF9-A877-F97EB51B4CF3}" type="datetime1">
              <a:rPr lang="en-US" smtClean="0"/>
              <a:t>12/9/2019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746" y="5520048"/>
            <a:ext cx="770407" cy="193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3" y="5527362"/>
            <a:ext cx="583308" cy="193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723" y="5517394"/>
            <a:ext cx="770407" cy="1931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97" y="5520048"/>
            <a:ext cx="770407" cy="2344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015" y="5520048"/>
            <a:ext cx="770407" cy="1931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285" y="5516924"/>
            <a:ext cx="770407" cy="19315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931335" y="5827229"/>
            <a:ext cx="1083733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139681" y="4870068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1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399" y="2461794"/>
            <a:ext cx="4326783" cy="759918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0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8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fld id="{AF73A935-0AD8-4B38-AD39-55437B5CA1D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89"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2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E7E7A-EFDA-4F96-BA3A-43C7E3A490F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12/9/2019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F10E-3CFE-4C50-9C04-3D38C47A13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 userDrawn="1"/>
        </p:nvGraphicFramePr>
        <p:xfrm>
          <a:off x="838200" y="1225605"/>
          <a:ext cx="2006600" cy="129147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017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39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59">
                <a:tc>
                  <a:txBody>
                    <a:bodyPr/>
                    <a:lstStyle/>
                    <a:p>
                      <a:endParaRPr lang="en-US" sz="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>
                    <a:lnL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38100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en-US" sz="1350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4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5782" y="1543017"/>
            <a:ext cx="909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IAASB’s Strategy for 2020‒2023 and Work Plan for 2020‒2021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570" y="3892804"/>
            <a:ext cx="77820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 Seidenstein, IAASB Chair</a:t>
            </a: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Willie Botha, IAASB Technical Director </a:t>
            </a: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Beverley Bahlmann, IAASB Deputy Director</a:t>
            </a: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IAASB Meeting December 2019</a:t>
            </a:r>
          </a:p>
        </p:txBody>
      </p:sp>
    </p:spTree>
    <p:extLst>
      <p:ext uri="{BB962C8B-B14F-4D97-AF65-F5344CB8AC3E}">
        <p14:creationId xmlns:p14="http://schemas.microsoft.com/office/powerpoint/2010/main" val="189882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48640" y="568411"/>
            <a:ext cx="11643360" cy="531048"/>
          </a:xfrm>
        </p:spPr>
        <p:txBody>
          <a:bodyPr/>
          <a:lstStyle/>
          <a:p>
            <a:pPr marL="347472"/>
            <a:r>
              <a:rPr lang="en-US" sz="2400" b="1" dirty="0">
                <a:ln w="0"/>
              </a:rPr>
              <a:t>Objective</a:t>
            </a:r>
            <a:endParaRPr lang="en-US" sz="24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484B08-BFC1-4FD0-ACDB-93C0FE31F09C}"/>
              </a:ext>
            </a:extLst>
          </p:cNvPr>
          <p:cNvSpPr txBox="1">
            <a:spLocks/>
          </p:cNvSpPr>
          <p:nvPr/>
        </p:nvSpPr>
        <p:spPr>
          <a:xfrm>
            <a:off x="3779520" y="1950720"/>
            <a:ext cx="8303393" cy="4338868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Approve</a:t>
            </a:r>
            <a:endParaRPr lang="en-CA" sz="3200" dirty="0"/>
          </a:p>
          <a:p>
            <a:pPr marL="914377" lvl="1" indent="-457189" algn="just">
              <a:spcBef>
                <a:spcPts val="800"/>
              </a:spcBef>
              <a:buFont typeface="Arial" panose="020B0604020202020204" pitchFamily="34" charset="0"/>
              <a:buChar char="̶"/>
            </a:pPr>
            <a:r>
              <a:rPr lang="en-US" sz="3200" dirty="0"/>
              <a:t>IAASB’s Strategy for 2020–2023</a:t>
            </a:r>
          </a:p>
          <a:p>
            <a:pPr marL="914377" lvl="1" indent="-457189" algn="just">
              <a:spcBef>
                <a:spcPts val="800"/>
              </a:spcBef>
              <a:buFont typeface="Arial" panose="020B0604020202020204" pitchFamily="34" charset="0"/>
              <a:buChar char="̶"/>
            </a:pPr>
            <a:r>
              <a:rPr lang="en-US" sz="3200" dirty="0"/>
              <a:t>Work Plan for 2020–2021</a:t>
            </a:r>
          </a:p>
          <a:p>
            <a:pPr marL="914377" lvl="1" indent="-457189" algn="just">
              <a:spcBef>
                <a:spcPts val="800"/>
              </a:spcBef>
              <a:buFont typeface="Arial" panose="020B0604020202020204" pitchFamily="34" charset="0"/>
              <a:buChar char="̶"/>
            </a:pPr>
            <a:r>
              <a:rPr lang="en-US" sz="3200" dirty="0"/>
              <a:t>Discuss any substantial issues relating to the </a:t>
            </a:r>
            <a:r>
              <a:rPr lang="en-US" sz="3200" i="1" dirty="0"/>
              <a:t>Framework for Activities</a:t>
            </a:r>
            <a:endParaRPr lang="en-CA" sz="3200" i="1" dirty="0"/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62E3C-3575-4F9A-828A-A3A429055D70}"/>
              </a:ext>
            </a:extLst>
          </p:cNvPr>
          <p:cNvSpPr txBox="1">
            <a:spLocks/>
          </p:cNvSpPr>
          <p:nvPr/>
        </p:nvSpPr>
        <p:spPr>
          <a:xfrm>
            <a:off x="238799" y="3647440"/>
            <a:ext cx="11844115" cy="3958634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7978" lvl="2" indent="-347472">
              <a:spcAft>
                <a:spcPts val="300"/>
              </a:spcAft>
            </a:pPr>
            <a:endParaRPr lang="en-US" dirty="0"/>
          </a:p>
          <a:p>
            <a:pPr marL="694944" lvl="1" indent="-347472">
              <a:lnSpc>
                <a:spcPts val="2400"/>
              </a:lnSpc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pic>
        <p:nvPicPr>
          <p:cNvPr id="7" name="Picture 6" descr="A picture containing indoor&#10;&#10;Description automatically generated">
            <a:extLst>
              <a:ext uri="{FF2B5EF4-FFF2-40B4-BE49-F238E27FC236}">
                <a16:creationId xmlns:a16="http://schemas.microsoft.com/office/drawing/2014/main" id="{73F53D3A-BF3A-4D07-A7B0-64FE68A77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7582">
            <a:off x="368828" y="1757679"/>
            <a:ext cx="3579481" cy="4322113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0E54AFE-B801-416D-A4ED-B24023041403}"/>
              </a:ext>
            </a:extLst>
          </p:cNvPr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>
                <a:latin typeface="Arial" panose="020B0604020202020204" pitchFamily="34" charset="0"/>
              </a:rPr>
              <a:pPr algn="r"/>
              <a:t>2</a:t>
            </a:fld>
            <a:r>
              <a:rPr lang="en-US" dirty="0">
                <a:latin typeface="Arial" panose="020B0604020202020204" pitchFamily="34" charset="0"/>
              </a:rPr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69066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0B8B-D674-4675-9317-5C28D8DF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Changes from September ‒ Strategy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54B8D-6562-49B5-AD9F-882F3474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F9B20E-B3A7-4C93-8DAC-6D99F1A2E8D7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Chair’s Foreword has been added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Clarifications and enhancements to show the IAASB’s areas of focus in the new strategy period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Refinements to the description of the </a:t>
            </a:r>
            <a:r>
              <a:rPr lang="en-US" sz="2400" i="1" dirty="0"/>
              <a:t>Framework for Activities</a:t>
            </a:r>
            <a:r>
              <a:rPr lang="en-US" sz="2400" dirty="0"/>
              <a:t> as it has been further developed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Revised the:</a:t>
            </a:r>
          </a:p>
          <a:p>
            <a:pPr marL="741344" lvl="1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First strategic objective to better illustrate the emphasis on emerging areas </a:t>
            </a:r>
          </a:p>
          <a:p>
            <a:pPr marL="741344" lvl="1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Second strategic objective to emphasize innovation and agility and responsiveness</a:t>
            </a:r>
            <a:endParaRPr lang="en-CA" sz="2000" dirty="0"/>
          </a:p>
          <a:p>
            <a:pPr marL="347472" indent="-347472"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71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0B8B-D674-4675-9317-5C28D8DF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Significant Changes from September ‒ Work Plan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54B8D-6562-49B5-AD9F-882F3474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F9B20E-B3A7-4C93-8DAC-6D99F1A2E8D7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Refinements to the description of the various components of the </a:t>
            </a:r>
            <a:r>
              <a:rPr lang="en-US" sz="2400" i="1" dirty="0"/>
              <a:t>Framework for Activities</a:t>
            </a:r>
            <a:r>
              <a:rPr lang="en-US" sz="2400" dirty="0"/>
              <a:t> as it has been further developed, in particular in relation to information gathering and implementation activities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Revisions to the detailed work plan table 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Shading of colors to illustrate differing nature of work effort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Reorganization to be consistent with Framework for Activities; also added workstreams to illustrate ALL of the work being undertaken (although questions about clarity in relation to future work streams where these have not been specified)</a:t>
            </a:r>
          </a:p>
          <a:p>
            <a:pPr marL="0" indent="-457200" algn="just">
              <a:spcBef>
                <a:spcPts val="800"/>
              </a:spcBef>
            </a:pPr>
            <a:r>
              <a:rPr lang="en-US" sz="2400" dirty="0"/>
              <a:t>Appendix 2 revised (including addition of fraud and going concern)</a:t>
            </a:r>
          </a:p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21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A79A-1438-41D0-8717-E9E1393F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Detailed Work Plan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6E79F-E7FE-4B90-9389-FD0AC4DF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BBB74F-0FA9-4D1F-A03D-6D67F2A62E2B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472" lvl="1" indent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Font typeface="Arial"/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3C63C3-5F8A-4FAC-B50C-D1AD8A4E6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197461"/>
              </p:ext>
            </p:extLst>
          </p:nvPr>
        </p:nvGraphicFramePr>
        <p:xfrm>
          <a:off x="980501" y="1353953"/>
          <a:ext cx="9507557" cy="4484327"/>
        </p:xfrm>
        <a:graphic>
          <a:graphicData uri="http://schemas.openxmlformats.org/drawingml/2006/table">
            <a:tbl>
              <a:tblPr firstRow="1" firstCol="1" bandRow="1"/>
              <a:tblGrid>
                <a:gridCol w="3703106">
                  <a:extLst>
                    <a:ext uri="{9D8B030D-6E8A-4147-A177-3AD203B41FA5}">
                      <a16:colId xmlns:a16="http://schemas.microsoft.com/office/drawing/2014/main" val="105860998"/>
                    </a:ext>
                  </a:extLst>
                </a:gridCol>
                <a:gridCol w="779702">
                  <a:extLst>
                    <a:ext uri="{9D8B030D-6E8A-4147-A177-3AD203B41FA5}">
                      <a16:colId xmlns:a16="http://schemas.microsoft.com/office/drawing/2014/main" val="3259564267"/>
                    </a:ext>
                  </a:extLst>
                </a:gridCol>
                <a:gridCol w="779702">
                  <a:extLst>
                    <a:ext uri="{9D8B030D-6E8A-4147-A177-3AD203B41FA5}">
                      <a16:colId xmlns:a16="http://schemas.microsoft.com/office/drawing/2014/main" val="3366503178"/>
                    </a:ext>
                  </a:extLst>
                </a:gridCol>
                <a:gridCol w="693069">
                  <a:extLst>
                    <a:ext uri="{9D8B030D-6E8A-4147-A177-3AD203B41FA5}">
                      <a16:colId xmlns:a16="http://schemas.microsoft.com/office/drawing/2014/main" val="1234080109"/>
                    </a:ext>
                  </a:extLst>
                </a:gridCol>
                <a:gridCol w="693069">
                  <a:extLst>
                    <a:ext uri="{9D8B030D-6E8A-4147-A177-3AD203B41FA5}">
                      <a16:colId xmlns:a16="http://schemas.microsoft.com/office/drawing/2014/main" val="12635153"/>
                    </a:ext>
                  </a:extLst>
                </a:gridCol>
                <a:gridCol w="779702">
                  <a:extLst>
                    <a:ext uri="{9D8B030D-6E8A-4147-A177-3AD203B41FA5}">
                      <a16:colId xmlns:a16="http://schemas.microsoft.com/office/drawing/2014/main" val="3533772168"/>
                    </a:ext>
                  </a:extLst>
                </a:gridCol>
                <a:gridCol w="693069">
                  <a:extLst>
                    <a:ext uri="{9D8B030D-6E8A-4147-A177-3AD203B41FA5}">
                      <a16:colId xmlns:a16="http://schemas.microsoft.com/office/drawing/2014/main" val="809057696"/>
                    </a:ext>
                  </a:extLst>
                </a:gridCol>
                <a:gridCol w="693069">
                  <a:extLst>
                    <a:ext uri="{9D8B030D-6E8A-4147-A177-3AD203B41FA5}">
                      <a16:colId xmlns:a16="http://schemas.microsoft.com/office/drawing/2014/main" val="919279689"/>
                    </a:ext>
                  </a:extLst>
                </a:gridCol>
                <a:gridCol w="693069">
                  <a:extLst>
                    <a:ext uri="{9D8B030D-6E8A-4147-A177-3AD203B41FA5}">
                      <a16:colId xmlns:a16="http://schemas.microsoft.com/office/drawing/2014/main" val="100306416"/>
                    </a:ext>
                  </a:extLst>
                </a:gridCol>
              </a:tblGrid>
              <a:tr h="16176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OUR DETAILED WORK PLAN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989324"/>
                  </a:ext>
                </a:extLst>
              </a:tr>
              <a:tr h="16176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Sept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Sept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580322"/>
                  </a:ext>
                </a:extLst>
              </a:tr>
              <a:tr h="323521">
                <a:tc gridSpan="9">
                  <a:txBody>
                    <a:bodyPr/>
                    <a:lstStyle/>
                    <a:p>
                      <a:pPr marL="342900" marR="0" lvl="0" indent="-34290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romanUcPeriod"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Increasing the Emphasis on Emerging Issues to Ensure that Our International Standards Provide a Foundation for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High-Quality Audit, Assurance and Related Services Engagements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14433"/>
                  </a:ext>
                </a:extLst>
              </a:tr>
              <a:tr h="152392">
                <a:tc gridSpan="9"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Revising and Developing Standards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88428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ISQM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754111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ISQM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105847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 220 (Revised)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364468"/>
                  </a:ext>
                </a:extLst>
              </a:tr>
              <a:tr h="31071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Conforming Amendments to Other Standards Arising from Quality Management Standards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826998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 600 (Revised)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575920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Project Placeholder </a:t>
                      </a: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(Note 1)</a:t>
                      </a: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467592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Project Placeholder </a:t>
                      </a: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(Note 1)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989113"/>
                  </a:ext>
                </a:extLst>
              </a:tr>
              <a:tr h="152392">
                <a:tc gridSpan="9"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Maintenance of Standards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469735"/>
                  </a:ext>
                </a:extLst>
              </a:tr>
              <a:tr h="161760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Project(s) Placeholder </a:t>
                      </a: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(Note 1)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904977"/>
                  </a:ext>
                </a:extLst>
              </a:tr>
              <a:tr h="314152">
                <a:tc gridSpan="9"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Activities to Support Implementation‒Development of Non-Authoritative Guidance and Other Activities Related to Standard-Setting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540918"/>
                  </a:ext>
                </a:extLst>
              </a:tr>
              <a:tr h="31071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Extended External Reporting (EER) (non-authoritative guidance)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844856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Technology (ongoing) (Note 2)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590159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Professional Skepticism (ongoing) (Note 2)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490383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Work Plan 2022‒2023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103784"/>
                  </a:ext>
                </a:extLst>
              </a:tr>
              <a:tr h="14895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Handbook‒accessibility and changes to standards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33505"/>
                  </a:ext>
                </a:extLst>
              </a:tr>
              <a:tr h="149628">
                <a:tc gridSpan="9"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Activities to Support Implementation‒First-time Implementation Activities </a:t>
                      </a: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(Note 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47741"/>
                  </a:ext>
                </a:extLst>
              </a:tr>
              <a:tr h="161760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 540 (Revised)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486971"/>
                  </a:ext>
                </a:extLst>
              </a:tr>
              <a:tr h="161760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 315 (Revised 2019)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013295"/>
                  </a:ext>
                </a:extLst>
              </a:tr>
              <a:tr h="31071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Revised Quality Management Standards (ISQM 1, ISQM 2, ISA 220 (Revised))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134035"/>
                  </a:ext>
                </a:extLst>
              </a:tr>
              <a:tr h="161760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 600 (Revised)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458651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5D131CA1-3B84-4352-B8AC-470B07DFB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1612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BA02A83-624D-4E58-9796-4143E4650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1612900"/>
            <a:ext cx="4022725" cy="63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0DE4-ADCD-4724-9E71-72762523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Detailed Work Plan </a:t>
            </a:r>
            <a:r>
              <a:rPr lang="en-US" b="1"/>
              <a:t>(Cont.)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E366D-000E-42E2-848E-197F91D2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E25BFA0-BCE8-4F6D-9B92-8AF1BB0F7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03870"/>
              </p:ext>
            </p:extLst>
          </p:nvPr>
        </p:nvGraphicFramePr>
        <p:xfrm>
          <a:off x="826265" y="1520348"/>
          <a:ext cx="9827046" cy="4368881"/>
        </p:xfrm>
        <a:graphic>
          <a:graphicData uri="http://schemas.openxmlformats.org/drawingml/2006/table">
            <a:tbl>
              <a:tblPr firstRow="1" firstCol="1" bandRow="1"/>
              <a:tblGrid>
                <a:gridCol w="3827545">
                  <a:extLst>
                    <a:ext uri="{9D8B030D-6E8A-4147-A177-3AD203B41FA5}">
                      <a16:colId xmlns:a16="http://schemas.microsoft.com/office/drawing/2014/main" val="3553431904"/>
                    </a:ext>
                  </a:extLst>
                </a:gridCol>
                <a:gridCol w="805902">
                  <a:extLst>
                    <a:ext uri="{9D8B030D-6E8A-4147-A177-3AD203B41FA5}">
                      <a16:colId xmlns:a16="http://schemas.microsoft.com/office/drawing/2014/main" val="619866889"/>
                    </a:ext>
                  </a:extLst>
                </a:gridCol>
                <a:gridCol w="805902">
                  <a:extLst>
                    <a:ext uri="{9D8B030D-6E8A-4147-A177-3AD203B41FA5}">
                      <a16:colId xmlns:a16="http://schemas.microsoft.com/office/drawing/2014/main" val="3268710322"/>
                    </a:ext>
                  </a:extLst>
                </a:gridCol>
                <a:gridCol w="716359">
                  <a:extLst>
                    <a:ext uri="{9D8B030D-6E8A-4147-A177-3AD203B41FA5}">
                      <a16:colId xmlns:a16="http://schemas.microsoft.com/office/drawing/2014/main" val="2374353789"/>
                    </a:ext>
                  </a:extLst>
                </a:gridCol>
                <a:gridCol w="716359">
                  <a:extLst>
                    <a:ext uri="{9D8B030D-6E8A-4147-A177-3AD203B41FA5}">
                      <a16:colId xmlns:a16="http://schemas.microsoft.com/office/drawing/2014/main" val="3975260863"/>
                    </a:ext>
                  </a:extLst>
                </a:gridCol>
                <a:gridCol w="805902">
                  <a:extLst>
                    <a:ext uri="{9D8B030D-6E8A-4147-A177-3AD203B41FA5}">
                      <a16:colId xmlns:a16="http://schemas.microsoft.com/office/drawing/2014/main" val="2869209266"/>
                    </a:ext>
                  </a:extLst>
                </a:gridCol>
                <a:gridCol w="716359">
                  <a:extLst>
                    <a:ext uri="{9D8B030D-6E8A-4147-A177-3AD203B41FA5}">
                      <a16:colId xmlns:a16="http://schemas.microsoft.com/office/drawing/2014/main" val="390172871"/>
                    </a:ext>
                  </a:extLst>
                </a:gridCol>
                <a:gridCol w="716359">
                  <a:extLst>
                    <a:ext uri="{9D8B030D-6E8A-4147-A177-3AD203B41FA5}">
                      <a16:colId xmlns:a16="http://schemas.microsoft.com/office/drawing/2014/main" val="2877307594"/>
                    </a:ext>
                  </a:extLst>
                </a:gridCol>
                <a:gridCol w="716359">
                  <a:extLst>
                    <a:ext uri="{9D8B030D-6E8A-4147-A177-3AD203B41FA5}">
                      <a16:colId xmlns:a16="http://schemas.microsoft.com/office/drawing/2014/main" val="3569293837"/>
                    </a:ext>
                  </a:extLst>
                </a:gridCol>
              </a:tblGrid>
              <a:tr h="159905">
                <a:tc gridSpan="9"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Information Gathering and Research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569726"/>
                  </a:ext>
                </a:extLst>
              </a:tr>
              <a:tr h="24769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Matters Related to Audits of Less Complex Entities (Category C) (Note 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251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Audit Evidence (Category C) (Note 4)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012641"/>
                  </a:ext>
                </a:extLst>
              </a:tr>
              <a:tr h="35384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Fraud (Category B/C) (Note 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875670"/>
                  </a:ext>
                </a:extLst>
              </a:tr>
              <a:tr h="24237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Going Concern (Category B/C) (Note 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297265"/>
                  </a:ext>
                </a:extLst>
              </a:tr>
              <a:tr h="20932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Other (Category B or C) (Note 4)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082367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Category A Monitoring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724086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Auditor Reporting Post-Implementation Review (Note 5)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73587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 540 (Revised) Post-Implementation Review (Note 5)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147791"/>
                  </a:ext>
                </a:extLst>
              </a:tr>
              <a:tr h="339470">
                <a:tc gridSpan="9">
                  <a:txBody>
                    <a:bodyPr/>
                    <a:lstStyle/>
                    <a:p>
                      <a:pPr marL="342900" marR="0" lvl="0" indent="-34290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romanUcPeriod"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Innovate Our Ways of Working to Strengthen and Broaden Our Agility, Capabilities and Capacity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1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324124"/>
                  </a:ext>
                </a:extLst>
              </a:tr>
              <a:tr h="156298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Developing the Framework for Activities (Note 6)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859424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Strengthening collaboration efforts with NSS and the International Federation of Accountants (IFAC)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645682"/>
                  </a:ext>
                </a:extLst>
              </a:tr>
              <a:tr h="169735">
                <a:tc gridSpan="9">
                  <a:txBody>
                    <a:bodyPr/>
                    <a:lstStyle/>
                    <a:p>
                      <a:pPr marL="342900" marR="0" lvl="0" indent="-34290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romanUcPeriod"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Maintain and Deepen Our Relationships with Our Stakeholders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7216"/>
                  </a:ext>
                </a:extLst>
              </a:tr>
              <a:tr h="156298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Outreach program (see Appendix 3)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0607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Coordination with the</a:t>
                      </a: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International Ethics Board for Accountants</a:t>
                      </a: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(IESBA)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296670"/>
                  </a:ext>
                </a:extLst>
              </a:tr>
              <a:tr h="32603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Liaison activities with the </a:t>
                      </a: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Accounting Standards Board</a:t>
                      </a: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(IASB)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145207"/>
                  </a:ext>
                </a:extLst>
              </a:tr>
            </a:tbl>
          </a:graphicData>
        </a:graphic>
      </p:graphicFrame>
      <p:sp>
        <p:nvSpPr>
          <p:cNvPr id="18" name="Rectangle 10">
            <a:extLst>
              <a:ext uri="{FF2B5EF4-FFF2-40B4-BE49-F238E27FC236}">
                <a16:creationId xmlns:a16="http://schemas.microsoft.com/office/drawing/2014/main" id="{74375B9B-C0FC-4B62-8BF7-574B96C7A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19288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48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0B8B-D674-4675-9317-5C28D8DF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Changes from Posted Version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54B8D-6562-49B5-AD9F-882F3474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F9B20E-B3A7-4C93-8DAC-6D99F1A2E8D7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More clarity in relation to the Framework for Activities – still being developed 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Further consideration of what needs to be described, in particular in the strategy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2400" dirty="0"/>
              <a:t>Changes to the expected work effort in relation to </a:t>
            </a:r>
            <a:r>
              <a:rPr lang="en-CA" sz="2400" b="1" dirty="0">
                <a:solidFill>
                  <a:srgbClr val="FF0000"/>
                </a:solidFill>
              </a:rPr>
              <a:t>going concern </a:t>
            </a:r>
            <a:r>
              <a:rPr lang="en-CA" sz="2400" dirty="0"/>
              <a:t>and </a:t>
            </a:r>
            <a:r>
              <a:rPr lang="en-CA" sz="2400" b="1" dirty="0">
                <a:solidFill>
                  <a:srgbClr val="FF0000"/>
                </a:solidFill>
              </a:rPr>
              <a:t>fraud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2400" dirty="0"/>
              <a:t>Stronger messaging in the Chair’s Foreword</a:t>
            </a:r>
            <a:endParaRPr lang="en-US" sz="2400" dirty="0"/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Changes to address Board comments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915982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C3EC23-7873-48A9-AE2D-15A6D112B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527270"/>
              </p:ext>
            </p:extLst>
          </p:nvPr>
        </p:nvGraphicFramePr>
        <p:xfrm>
          <a:off x="731520" y="1259840"/>
          <a:ext cx="11044406" cy="4866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1D6ED8D-5EC9-420A-ADC0-C1FBEF7673AF}"/>
              </a:ext>
            </a:extLst>
          </p:cNvPr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>
                <a:latin typeface="Arial" panose="020B0604020202020204" pitchFamily="34" charset="0"/>
              </a:rPr>
              <a:pPr algn="r"/>
              <a:t>8</a:t>
            </a:fld>
            <a:r>
              <a:rPr lang="en-US" dirty="0">
                <a:latin typeface="Arial" panose="020B0604020202020204" pitchFamily="34" charset="0"/>
              </a:rPr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8159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0B8B-D674-4675-9317-5C28D8DF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for Activities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54B8D-6562-49B5-AD9F-882F3474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F9B20E-B3A7-4C93-8DAC-6D99F1A2E8D7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Still being developed – will go into 2020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Will be a ‘living’ document – changes made as necessary 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Further thinking in relation to the various components of the Framework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CA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D8117-EA18-42FA-8048-B38A0625E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212" y="2928666"/>
            <a:ext cx="6622181" cy="30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7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A355-6EF4-4860-A8A6-C276ADB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for Activities ‒ Information Gathering and 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AA521-8AF0-41CC-AEE1-3EA12715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FF166-CDD0-4BE6-9391-00747A83CEA4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Initial thinking on categories A,B,C – criteria for moving between the categories still to be developed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Balance between prescriptiveness and progressing topics 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Not necessarily a linear movement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Provide transparency as to why (why not) a topic progresses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Category A topics – ongoing monitoring and annual (?) update to the Board</a:t>
            </a:r>
          </a:p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Working with others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44910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A355-6EF4-4860-A8A6-C276ADB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for Activities ‒ Narrow Scope Maintenance of Standards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AA521-8AF0-41CC-AEE1-3EA12715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408ACA-ABCE-4003-8735-15F4605FACB8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Staff to explore and develop in 2020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Due process considerations</a:t>
            </a:r>
          </a:p>
          <a:p>
            <a:pPr marL="741344" lvl="1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236966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A355-6EF4-4860-A8A6-C276ADB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for Activities ‒ Activities to Support Implementation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AA521-8AF0-41CC-AEE1-3EA12715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2C4FEE-7B66-484E-AAB8-15929115882B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696877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Supporting implementation of new and revised standards as they are published</a:t>
            </a:r>
          </a:p>
          <a:p>
            <a:pPr marL="0" indent="0" algn="just">
              <a:spcBef>
                <a:spcPts val="800"/>
              </a:spcBef>
              <a:buNone/>
            </a:pPr>
            <a:endParaRPr lang="en-C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26F2A-FF3E-49DB-A4FE-6C2A6F2FB1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291" y="2484354"/>
            <a:ext cx="6143625" cy="36410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8818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A355-6EF4-4860-A8A6-C276ADB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for Activities ‒ Activities to Support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AA521-8AF0-41CC-AEE1-3EA12715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72341B-E2E0-4C5F-AE7A-5ADC0CCD7919}"/>
              </a:ext>
            </a:extLst>
          </p:cNvPr>
          <p:cNvSpPr txBox="1">
            <a:spLocks/>
          </p:cNvSpPr>
          <p:nvPr/>
        </p:nvSpPr>
        <p:spPr>
          <a:xfrm>
            <a:off x="699435" y="1353953"/>
            <a:ext cx="10590999" cy="4934129"/>
          </a:xfrm>
          <a:prstGeom prst="rect">
            <a:avLst/>
          </a:prstGeom>
        </p:spPr>
        <p:txBody>
          <a:bodyPr vert="horz" lIns="121920" tIns="0" rIns="121920" bIns="0" rtlCol="0">
            <a:noAutofit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Developing non-authoritative materials</a:t>
            </a:r>
          </a:p>
          <a:p>
            <a:pPr marL="914400" lvl="1" indent="-457189" algn="just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/>
              <a:t>To address an ongoing issue  (practice notes, other non-authoritative)</a:t>
            </a:r>
          </a:p>
          <a:p>
            <a:pPr marL="0" indent="-457200">
              <a:spcBef>
                <a:spcPts val="800"/>
              </a:spcBef>
            </a:pPr>
            <a:r>
              <a:rPr lang="en-US" sz="2400" dirty="0"/>
              <a:t>Technology and professional skepticism included</a:t>
            </a:r>
          </a:p>
          <a:p>
            <a:pPr marL="0" indent="-457200">
              <a:spcBef>
                <a:spcPts val="800"/>
              </a:spcBef>
            </a:pPr>
            <a:r>
              <a:rPr lang="en-US" sz="2400" dirty="0"/>
              <a:t>Develop an established ‘approval’ process (will vary depending on nature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400" dirty="0"/>
              <a:t>      of document):</a:t>
            </a:r>
          </a:p>
          <a:p>
            <a:pPr marL="914400" lvl="3" indent="-457189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channels of review – in Framework will make clear the different channels for each type of non-authoritative guidance</a:t>
            </a:r>
          </a:p>
          <a:p>
            <a:pPr marL="914400" lvl="3" indent="-457189">
              <a:spcBef>
                <a:spcPts val="8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final approval by Technical Director and Chair of IAASB</a:t>
            </a:r>
          </a:p>
          <a:p>
            <a:pPr marL="0" lvl="2" indent="-4572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Working with others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1344" lvl="1" indent="-457189" algn="just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3266163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568411"/>
            <a:ext cx="12192000" cy="531048"/>
          </a:xfrm>
        </p:spPr>
        <p:txBody>
          <a:bodyPr/>
          <a:lstStyle/>
          <a:p>
            <a:pPr marL="347472"/>
            <a:r>
              <a:rPr lang="en-US" b="1" dirty="0"/>
              <a:t>Matter for IAASB Consideration</a:t>
            </a:r>
            <a:endParaRPr lang="en-US" sz="2400" b="1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9501613" y="6511061"/>
            <a:ext cx="2080788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Arial" panose="020B0604020202020204" pitchFamily="34" charset="0"/>
              </a:rPr>
              <a:t>Page </a:t>
            </a:r>
            <a:fld id="{95158037-59F0-9C4B-B231-1C776117AADA}" type="slidenum">
              <a:rPr lang="en-US">
                <a:latin typeface="Arial" panose="020B0604020202020204" pitchFamily="34" charset="0"/>
              </a:rPr>
              <a:pPr algn="r"/>
              <a:t>14</a:t>
            </a:fld>
            <a:r>
              <a:rPr lang="en-US" dirty="0">
                <a:latin typeface="Arial" panose="020B0604020202020204" pitchFamily="34" charset="0"/>
              </a:rPr>
              <a:t>  |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502C6ED-5046-46D5-854E-3DE0EBBC44C6}"/>
              </a:ext>
            </a:extLst>
          </p:cNvPr>
          <p:cNvSpPr txBox="1">
            <a:spLocks/>
          </p:cNvSpPr>
          <p:nvPr/>
        </p:nvSpPr>
        <p:spPr>
          <a:xfrm>
            <a:off x="494485" y="1960880"/>
            <a:ext cx="11203029" cy="3650648"/>
          </a:xfrm>
          <a:prstGeom prst="roundRect">
            <a:avLst/>
          </a:prstGeom>
          <a:ln w="127000" cap="flat" cmpd="sng" algn="ctr">
            <a:solidFill>
              <a:schemeClr val="accent3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0">
              <a:spcBef>
                <a:spcPts val="800"/>
              </a:spcBef>
              <a:buFont typeface="Arial"/>
              <a:buNone/>
            </a:pPr>
            <a:r>
              <a:rPr lang="en-US" sz="32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pPr lvl="0"/>
            <a:r>
              <a:rPr lang="en-US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IAASB is asked:</a:t>
            </a:r>
          </a:p>
          <a:p>
            <a:pPr lvl="1"/>
            <a:r>
              <a:rPr lang="en-US" sz="20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its views on the revised proposed Strategy as presented in Agenda Item 3-A. </a:t>
            </a:r>
          </a:p>
          <a:p>
            <a:pPr lvl="1"/>
            <a:r>
              <a:rPr lang="en-US" sz="20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its views on the revised proposed Work Plan as presented in Agenda Item 3-B, including the detailed Work Plan table and the indicative timing of projects and initiatives.</a:t>
            </a:r>
          </a:p>
          <a:p>
            <a:r>
              <a:rPr lang="en-US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Whether there are any additional matters the Steering Committee should consider relating to the development of the Framework for Activities </a:t>
            </a:r>
          </a:p>
        </p:txBody>
      </p:sp>
    </p:spTree>
    <p:extLst>
      <p:ext uri="{BB962C8B-B14F-4D97-AF65-F5344CB8AC3E}">
        <p14:creationId xmlns:p14="http://schemas.microsoft.com/office/powerpoint/2010/main" val="3073461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16753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6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7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8846</TotalTime>
  <Words>1026</Words>
  <Application>Microsoft Office PowerPoint</Application>
  <PresentationFormat>Widescreen</PresentationFormat>
  <Paragraphs>375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Arial Narrow</vt:lpstr>
      <vt:lpstr>Calibri</vt:lpstr>
      <vt:lpstr>Calibri Light</vt:lpstr>
      <vt:lpstr>Courier New</vt:lpstr>
      <vt:lpstr>1_Custom Design</vt:lpstr>
      <vt:lpstr>Custom Design</vt:lpstr>
      <vt:lpstr>2_Custom Design</vt:lpstr>
      <vt:lpstr>3_Custom Design</vt:lpstr>
      <vt:lpstr>4_Office Theme</vt:lpstr>
      <vt:lpstr>Office Theme</vt:lpstr>
      <vt:lpstr>1_Office Theme</vt:lpstr>
      <vt:lpstr>PowerPoint Presentation</vt:lpstr>
      <vt:lpstr>Objective</vt:lpstr>
      <vt:lpstr>Significant Changes from September ‒ Strategy</vt:lpstr>
      <vt:lpstr>Significant Changes from September ‒ Work Plan</vt:lpstr>
      <vt:lpstr>Detailed Work Plan</vt:lpstr>
      <vt:lpstr>Detailed Work Plan (Cont.)</vt:lpstr>
      <vt:lpstr>New Changes from Posted Version</vt:lpstr>
      <vt:lpstr>PowerPoint Presentation</vt:lpstr>
      <vt:lpstr>Framework for Activities</vt:lpstr>
      <vt:lpstr>Framework for Activities ‒ Information Gathering and Research</vt:lpstr>
      <vt:lpstr>Framework for Activities ‒ Narrow Scope Maintenance of Standards</vt:lpstr>
      <vt:lpstr>Framework for Activities ‒ Activities to Support Implementation </vt:lpstr>
      <vt:lpstr>Framework for Activities ‒ Activities to Support Implementation</vt:lpstr>
      <vt:lpstr>Matter for IAASB Consideration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 Kotze</dc:creator>
  <cp:lastModifiedBy>Beverley Bahlmann</cp:lastModifiedBy>
  <cp:revision>704</cp:revision>
  <cp:lastPrinted>2019-12-08T19:32:21Z</cp:lastPrinted>
  <dcterms:created xsi:type="dcterms:W3CDTF">2018-10-18T19:25:41Z</dcterms:created>
  <dcterms:modified xsi:type="dcterms:W3CDTF">2019-12-09T17:05:16Z</dcterms:modified>
</cp:coreProperties>
</file>