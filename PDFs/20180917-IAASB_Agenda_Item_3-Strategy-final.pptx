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13"/>
  </p:notesMasterIdLst>
  <p:handoutMasterIdLst>
    <p:handoutMasterId r:id="rId14"/>
  </p:handoutMasterIdLst>
  <p:sldIdLst>
    <p:sldId id="256" r:id="rId2"/>
    <p:sldId id="400" r:id="rId3"/>
    <p:sldId id="384" r:id="rId4"/>
    <p:sldId id="394" r:id="rId5"/>
    <p:sldId id="401" r:id="rId6"/>
    <p:sldId id="402" r:id="rId7"/>
    <p:sldId id="398" r:id="rId8"/>
    <p:sldId id="399" r:id="rId9"/>
    <p:sldId id="403" r:id="rId10"/>
    <p:sldId id="404" r:id="rId11"/>
    <p:sldId id="259" r:id="rId12"/>
  </p:sldIdLst>
  <p:sldSz cx="9144000" cy="5143500" type="screen16x9"/>
  <p:notesSz cx="6950075" cy="9236075"/>
  <p:defaultTextStyle>
    <a:defPPr>
      <a:defRPr lang="en-US"/>
    </a:defPPr>
    <a:lvl1pPr marL="0" algn="l" defTabSz="3429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3429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3429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3429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3429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3429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3429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3429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3429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Zietsman, Megan" initials="MZ" lastIdx="8" clrIdx="0">
    <p:extLst>
      <p:ext uri="{19B8F6BF-5375-455C-9EA6-DF929625EA0E}">
        <p15:presenceInfo xmlns:p15="http://schemas.microsoft.com/office/powerpoint/2012/main" userId="Zietsman, Megan" providerId="None"/>
      </p:ext>
    </p:extLst>
  </p:cmAuthor>
  <p:cmAuthor id="2" name="Kathleen Healy" initials="KH" lastIdx="13" clrIdx="1">
    <p:extLst>
      <p:ext uri="{19B8F6BF-5375-455C-9EA6-DF929625EA0E}">
        <p15:presenceInfo xmlns:p15="http://schemas.microsoft.com/office/powerpoint/2012/main" userId="S-1-5-21-1801674531-1972579041-839522115-4130" providerId="AD"/>
      </p:ext>
    </p:extLst>
  </p:cmAuthor>
  <p:cmAuthor id="3" name="Natalie Klonaridis" initials="NK" lastIdx="12" clrIdx="2">
    <p:extLst>
      <p:ext uri="{19B8F6BF-5375-455C-9EA6-DF929625EA0E}">
        <p15:presenceInfo xmlns:p15="http://schemas.microsoft.com/office/powerpoint/2012/main" userId="S-1-5-21-1801674531-1972579041-839522115-13323" providerId="AD"/>
      </p:ext>
    </p:extLst>
  </p:cmAuthor>
  <p:cmAuthor id="4" name="Jasper van den Hout" initials="JvdH" lastIdx="5" clrIdx="3">
    <p:extLst>
      <p:ext uri="{19B8F6BF-5375-455C-9EA6-DF929625EA0E}">
        <p15:presenceInfo xmlns:p15="http://schemas.microsoft.com/office/powerpoint/2012/main" userId="S-1-5-21-1801674531-1972579041-839522115-11621" providerId="AD"/>
      </p:ext>
    </p:extLst>
  </p:cmAuthor>
  <p:cmAuthor id="5" name="Dan Montgomery" initials="DM" lastIdx="7" clrIdx="4">
    <p:extLst>
      <p:ext uri="{19B8F6BF-5375-455C-9EA6-DF929625EA0E}">
        <p15:presenceInfo xmlns:p15="http://schemas.microsoft.com/office/powerpoint/2012/main" userId="8ba5e3d143c5e0b2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08080"/>
    <a:srgbClr val="1D9E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743" autoAdjust="0"/>
    <p:restoredTop sz="94900" autoAdjust="0"/>
  </p:normalViewPr>
  <p:slideViewPr>
    <p:cSldViewPr snapToGrid="0" snapToObjects="1">
      <p:cViewPr varScale="1">
        <p:scale>
          <a:sx n="113" d="100"/>
          <a:sy n="113" d="100"/>
        </p:scale>
        <p:origin x="552" y="91"/>
      </p:cViewPr>
      <p:guideLst>
        <p:guide orient="horz" pos="1620"/>
        <p:guide pos="2880"/>
      </p:guideLst>
    </p:cSldViewPr>
  </p:slideViewPr>
  <p:outlineViewPr>
    <p:cViewPr>
      <p:scale>
        <a:sx n="66" d="100"/>
        <a:sy n="66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 snapToObjects="1">
      <p:cViewPr varScale="1">
        <p:scale>
          <a:sx n="88" d="100"/>
          <a:sy n="88" d="100"/>
        </p:scale>
        <p:origin x="3798" y="6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1-4AC2-405B-8B34-29DD970700C5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3-4AC2-405B-8B34-29DD970700C5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5-4AC2-405B-8B34-29DD970700C5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7-4AC2-405B-8B34-29DD970700C5}"/>
              </c:ext>
            </c:extLst>
          </c:dPt>
          <c:dPt>
            <c:idx val="4"/>
            <c:bubble3D val="0"/>
            <c:spPr>
              <a:solidFill>
                <a:schemeClr val="accent5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9-4AC2-405B-8B34-29DD970700C5}"/>
              </c:ext>
            </c:extLst>
          </c:dPt>
          <c:dPt>
            <c:idx val="5"/>
            <c:bubble3D val="0"/>
            <c:spPr>
              <a:solidFill>
                <a:schemeClr val="accent6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B-4AC2-405B-8B34-29DD970700C5}"/>
              </c:ext>
            </c:extLst>
          </c:dPt>
          <c:dPt>
            <c:idx val="6"/>
            <c:bubble3D val="0"/>
            <c:spPr>
              <a:solidFill>
                <a:schemeClr val="accent1">
                  <a:lumMod val="60000"/>
                </a:schemeClr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F-4AC2-405B-8B34-29DD970700C5}"/>
              </c:ext>
            </c:extLst>
          </c:dPt>
          <c:dLbls>
            <c:spPr>
              <a:pattFill prst="pct75">
                <a:fgClr>
                  <a:sysClr val="windowText" lastClr="000000">
                    <a:lumMod val="75000"/>
                    <a:lumOff val="25000"/>
                  </a:sysClr>
                </a:fgClr>
                <a:bgClr>
                  <a:sysClr val="windowText" lastClr="000000">
                    <a:lumMod val="65000"/>
                    <a:lumOff val="35000"/>
                  </a:sysClr>
                </a:bgClr>
              </a:patt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>
                  <a:solidFill>
                    <a:schemeClr val="dk1">
                      <a:lumMod val="50000"/>
                      <a:lumOff val="50000"/>
                    </a:schemeClr>
                  </a:solidFill>
                </a:ln>
                <a:effectLst/>
              </c:spPr>
            </c:leaderLines>
            <c:extLst xmlns:c16r2="http://schemas.microsoft.com/office/drawing/2015/06/chart">
              <c:ext xmlns:c15="http://schemas.microsoft.com/office/drawing/2012/chart" uri="{CE6537A1-D6FC-4f65-9D91-7224C49458BB}"/>
            </c:extLst>
          </c:dLbls>
          <c:cat>
            <c:strRef>
              <c:f>Sheet1!$A$2:$A$9</c:f>
              <c:strCache>
                <c:ptCount val="7"/>
                <c:pt idx="0">
                  <c:v>Regulators and Oversight Authorities </c:v>
                </c:pt>
                <c:pt idx="1">
                  <c:v>National Auditing Standard Setters</c:v>
                </c:pt>
                <c:pt idx="2">
                  <c:v>Accounting Firms </c:v>
                </c:pt>
                <c:pt idx="3">
                  <c:v>Public Sector Organizations </c:v>
                </c:pt>
                <c:pt idx="4">
                  <c:v>Member Bodies and Other Professional Organizations</c:v>
                </c:pt>
                <c:pt idx="5">
                  <c:v>Academics</c:v>
                </c:pt>
                <c:pt idx="6">
                  <c:v>Others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7"/>
                <c:pt idx="0">
                  <c:v>3</c:v>
                </c:pt>
                <c:pt idx="1">
                  <c:v>8</c:v>
                </c:pt>
                <c:pt idx="2">
                  <c:v>8</c:v>
                </c:pt>
                <c:pt idx="3">
                  <c:v>1</c:v>
                </c:pt>
                <c:pt idx="4">
                  <c:v>11</c:v>
                </c:pt>
                <c:pt idx="5">
                  <c:v>1</c:v>
                </c:pt>
                <c:pt idx="6">
                  <c:v>2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10-4AC2-405B-8B34-29DD970700C5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spPr>
        <a:solidFill>
          <a:schemeClr val="lt1">
            <a:lumMod val="95000"/>
            <a:alpha val="39000"/>
          </a:schemeClr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3">
  <cs:axisTitle>
    <cs:lnRef idx="0"/>
    <cs:fillRef idx="0"/>
    <cs:effectRef idx="0"/>
    <cs:fontRef idx="minor">
      <a:schemeClr val="dk1">
        <a:lumMod val="75000"/>
        <a:lumOff val="25000"/>
      </a:schemeClr>
    </cs:fontRef>
    <cs:defRPr sz="900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lt1"/>
    </cs:fontRef>
    <cs:spPr>
      <a:pattFill prst="pct75">
        <a:fgClr>
          <a:schemeClr val="dk1">
            <a:lumMod val="75000"/>
            <a:lumOff val="25000"/>
          </a:schemeClr>
        </a:fgClr>
        <a:bgClr>
          <a:schemeClr val="dk1">
            <a:lumMod val="65000"/>
            <a:lumOff val="35000"/>
          </a:schemeClr>
        </a:bgClr>
      </a:pattFill>
      <a:effectLst>
        <a:outerShdw blurRad="50800" dist="38100" dir="2700000" algn="tl" rotWithShape="0">
          <a:prstClr val="black">
            <a:alpha val="40000"/>
          </a:prstClr>
        </a:outerShdw>
      </a:effectLst>
    </cs:spPr>
    <cs:defRPr sz="1000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pattFill prst="pct75">
        <a:fgClr>
          <a:schemeClr val="dk1">
            <a:lumMod val="75000"/>
            <a:lumOff val="25000"/>
          </a:schemeClr>
        </a:fgClr>
        <a:bgClr>
          <a:schemeClr val="dk1">
            <a:lumMod val="65000"/>
            <a:lumOff val="35000"/>
          </a:schemeClr>
        </a:bgClr>
      </a:pattFill>
      <a:effectLst>
        <a:outerShdw blurRad="50800" dist="38100" dir="2700000" algn="tl" rotWithShape="0">
          <a:prstClr val="black">
            <a:alpha val="40000"/>
          </a:prstClr>
        </a:outerShdw>
      </a:effectLst>
    </cs:spPr>
    <cs:defRPr sz="1000" b="1" i="0" u="none" strike="noStrike" kern="1200" baseline="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254000" sx="102000" sy="102000" algn="ctr" rotWithShape="0">
          <a:prstClr val="black">
            <a:alpha val="20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254000" sx="102000" sy="102000" algn="ctr" rotWithShape="0">
          <a:prstClr val="black">
            <a:alpha val="20000"/>
          </a:prstClr>
        </a:outerShdw>
      </a:effectLst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>
            <a:alpha val="85000"/>
          </a:schemeClr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317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18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11699" cy="461804"/>
          </a:xfrm>
          <a:prstGeom prst="rect">
            <a:avLst/>
          </a:prstGeom>
        </p:spPr>
        <p:txBody>
          <a:bodyPr vert="horz" lIns="92492" tIns="46246" rIns="92492" bIns="46246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36768" y="0"/>
            <a:ext cx="3011699" cy="461804"/>
          </a:xfrm>
          <a:prstGeom prst="rect">
            <a:avLst/>
          </a:prstGeom>
        </p:spPr>
        <p:txBody>
          <a:bodyPr vert="horz" lIns="92492" tIns="46246" rIns="92492" bIns="46246" rtlCol="0"/>
          <a:lstStyle>
            <a:lvl1pPr algn="r">
              <a:defRPr sz="1200"/>
            </a:lvl1pPr>
          </a:lstStyle>
          <a:p>
            <a:fld id="{1E59F908-4FD1-BC49-B361-D833AB0555FC}" type="datetimeFigureOut">
              <a:rPr lang="en-US" smtClean="0"/>
              <a:t>9/17/2018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772668"/>
            <a:ext cx="3011699" cy="461804"/>
          </a:xfrm>
          <a:prstGeom prst="rect">
            <a:avLst/>
          </a:prstGeom>
        </p:spPr>
        <p:txBody>
          <a:bodyPr vert="horz" lIns="92492" tIns="46246" rIns="92492" bIns="46246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36768" y="8772668"/>
            <a:ext cx="3011699" cy="461804"/>
          </a:xfrm>
          <a:prstGeom prst="rect">
            <a:avLst/>
          </a:prstGeom>
        </p:spPr>
        <p:txBody>
          <a:bodyPr vert="horz" lIns="92492" tIns="46246" rIns="92492" bIns="46246" rtlCol="0" anchor="b"/>
          <a:lstStyle>
            <a:lvl1pPr algn="r">
              <a:defRPr sz="1200"/>
            </a:lvl1pPr>
          </a:lstStyle>
          <a:p>
            <a:fld id="{EA8AE4AE-12A8-4846-97A9-6CB7DEDDF69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532852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11699" cy="461804"/>
          </a:xfrm>
          <a:prstGeom prst="rect">
            <a:avLst/>
          </a:prstGeom>
        </p:spPr>
        <p:txBody>
          <a:bodyPr vert="horz" lIns="92492" tIns="46246" rIns="92492" bIns="46246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36768" y="0"/>
            <a:ext cx="3011699" cy="461804"/>
          </a:xfrm>
          <a:prstGeom prst="rect">
            <a:avLst/>
          </a:prstGeom>
        </p:spPr>
        <p:txBody>
          <a:bodyPr vert="horz" lIns="92492" tIns="46246" rIns="92492" bIns="46246" rtlCol="0"/>
          <a:lstStyle>
            <a:lvl1pPr algn="r">
              <a:defRPr sz="1200"/>
            </a:lvl1pPr>
          </a:lstStyle>
          <a:p>
            <a:fld id="{7745D6F9-5033-7542-84AC-41926A84456D}" type="datetimeFigureOut">
              <a:rPr lang="en-US" smtClean="0"/>
              <a:t>9/17/2018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96875" y="692150"/>
            <a:ext cx="6156325" cy="34639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492" tIns="46246" rIns="92492" bIns="46246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95008" y="4387136"/>
            <a:ext cx="5560060" cy="4156234"/>
          </a:xfrm>
          <a:prstGeom prst="rect">
            <a:avLst/>
          </a:prstGeom>
        </p:spPr>
        <p:txBody>
          <a:bodyPr vert="horz" lIns="92492" tIns="46246" rIns="92492" bIns="46246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772668"/>
            <a:ext cx="3011699" cy="461804"/>
          </a:xfrm>
          <a:prstGeom prst="rect">
            <a:avLst/>
          </a:prstGeom>
        </p:spPr>
        <p:txBody>
          <a:bodyPr vert="horz" lIns="92492" tIns="46246" rIns="92492" bIns="46246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36768" y="8772668"/>
            <a:ext cx="3011699" cy="461804"/>
          </a:xfrm>
          <a:prstGeom prst="rect">
            <a:avLst/>
          </a:prstGeom>
        </p:spPr>
        <p:txBody>
          <a:bodyPr vert="horz" lIns="92492" tIns="46246" rIns="92492" bIns="46246" rtlCol="0" anchor="b"/>
          <a:lstStyle>
            <a:lvl1pPr algn="r">
              <a:defRPr sz="1200"/>
            </a:lvl1pPr>
          </a:lstStyle>
          <a:p>
            <a:fld id="{4D410189-AC31-7546-878A-F48FDE4A29F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5539108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3429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3429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3429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3429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3429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3429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3429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3429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3429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D410189-AC31-7546-878A-F48FDE4A29F5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119386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D410189-AC31-7546-878A-F48FDE4A29F5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52761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D410189-AC31-7546-878A-F48FDE4A29F5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541935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D410189-AC31-7546-878A-F48FDE4A29F5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6043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hyperlink" Target="http://www.iaasb.org/" TargetMode="External"/><Relationship Id="rId7" Type="http://schemas.openxmlformats.org/officeDocument/2006/relationships/image" Target="../media/image9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8.png"/><Relationship Id="rId11" Type="http://schemas.openxmlformats.org/officeDocument/2006/relationships/hyperlink" Target="mailto:permissions@ifac.org" TargetMode="External"/><Relationship Id="rId5" Type="http://schemas.openxmlformats.org/officeDocument/2006/relationships/image" Target="../media/image7.png"/><Relationship Id="rId10" Type="http://schemas.openxmlformats.org/officeDocument/2006/relationships/hyperlink" Target="http://www.ifac.org/about-ifac/translations-permissions" TargetMode="External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/>
          <p:cNvSpPr/>
          <p:nvPr userDrawn="1"/>
        </p:nvSpPr>
        <p:spPr>
          <a:xfrm>
            <a:off x="0" y="2"/>
            <a:ext cx="9144000" cy="4317999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/>
          </a:p>
        </p:txBody>
      </p:sp>
      <p:sp>
        <p:nvSpPr>
          <p:cNvPr id="11" name="Title 1"/>
          <p:cNvSpPr>
            <a:spLocks noGrp="1"/>
          </p:cNvSpPr>
          <p:nvPr>
            <p:ph type="ctrTitle"/>
          </p:nvPr>
        </p:nvSpPr>
        <p:spPr>
          <a:xfrm>
            <a:off x="685800" y="2568724"/>
            <a:ext cx="7893383" cy="1093770"/>
          </a:xfrm>
        </p:spPr>
        <p:txBody>
          <a:bodyPr anchor="t">
            <a:normAutofit/>
          </a:bodyPr>
          <a:lstStyle>
            <a:lvl1pPr>
              <a:defRPr sz="240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Subtitle 2"/>
          <p:cNvSpPr>
            <a:spLocks noGrp="1"/>
          </p:cNvSpPr>
          <p:nvPr>
            <p:ph type="subTitle" idx="1"/>
          </p:nvPr>
        </p:nvSpPr>
        <p:spPr>
          <a:xfrm>
            <a:off x="685801" y="3721101"/>
            <a:ext cx="4732867" cy="919473"/>
          </a:xfrm>
        </p:spPr>
        <p:txBody>
          <a:bodyPr anchor="b"/>
          <a:lstStyle>
            <a:lvl1pPr marL="0" indent="0" algn="l">
              <a:buNone/>
              <a:defRPr sz="135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7" name="Picture 6" descr="IAASB Logo with FullName.jp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2454" y="4150519"/>
            <a:ext cx="2790252" cy="490055"/>
          </a:xfrm>
          <a:prstGeom prst="rect">
            <a:avLst/>
          </a:prstGeom>
        </p:spPr>
      </p:pic>
      <p:pic>
        <p:nvPicPr>
          <p:cNvPr id="9" name="Picture 8" descr="Page topper.jpg"/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107"/>
            <a:ext cx="9144000" cy="2345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16370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op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/>
          <p:cNvSpPr/>
          <p:nvPr userDrawn="1"/>
        </p:nvSpPr>
        <p:spPr>
          <a:xfrm>
            <a:off x="0" y="2"/>
            <a:ext cx="9144000" cy="4317999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/>
          </a:p>
        </p:txBody>
      </p:sp>
      <p:sp>
        <p:nvSpPr>
          <p:cNvPr id="11" name="Title 1"/>
          <p:cNvSpPr>
            <a:spLocks noGrp="1"/>
          </p:cNvSpPr>
          <p:nvPr>
            <p:ph type="ctrTitle"/>
          </p:nvPr>
        </p:nvSpPr>
        <p:spPr>
          <a:xfrm>
            <a:off x="685800" y="2568724"/>
            <a:ext cx="7893383" cy="1093770"/>
          </a:xfrm>
        </p:spPr>
        <p:txBody>
          <a:bodyPr anchor="t">
            <a:normAutofit/>
          </a:bodyPr>
          <a:lstStyle>
            <a:lvl1pPr>
              <a:defRPr sz="240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Subtitle 2"/>
          <p:cNvSpPr>
            <a:spLocks noGrp="1"/>
          </p:cNvSpPr>
          <p:nvPr>
            <p:ph type="subTitle" idx="1"/>
          </p:nvPr>
        </p:nvSpPr>
        <p:spPr>
          <a:xfrm>
            <a:off x="685801" y="3721101"/>
            <a:ext cx="4732867" cy="919473"/>
          </a:xfrm>
        </p:spPr>
        <p:txBody>
          <a:bodyPr anchor="b"/>
          <a:lstStyle>
            <a:lvl1pPr marL="0" indent="0" algn="l">
              <a:buNone/>
              <a:defRPr sz="135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8" name="Picture 7" descr="IAASB Logo with FullName.jp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2454" y="4150519"/>
            <a:ext cx="2790252" cy="49005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10" t="12331" r="-210" b="13383"/>
          <a:stretch/>
        </p:blipFill>
        <p:spPr>
          <a:xfrm>
            <a:off x="1" y="1"/>
            <a:ext cx="9156700" cy="2377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88778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ansition or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/>
          <p:cNvSpPr/>
          <p:nvPr userDrawn="1"/>
        </p:nvSpPr>
        <p:spPr>
          <a:xfrm>
            <a:off x="0" y="2"/>
            <a:ext cx="9144000" cy="4317999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/>
          </a:p>
        </p:txBody>
      </p:sp>
      <p:sp>
        <p:nvSpPr>
          <p:cNvPr id="11" name="Title 1"/>
          <p:cNvSpPr>
            <a:spLocks noGrp="1"/>
          </p:cNvSpPr>
          <p:nvPr>
            <p:ph type="ctrTitle"/>
          </p:nvPr>
        </p:nvSpPr>
        <p:spPr>
          <a:xfrm>
            <a:off x="685800" y="2568724"/>
            <a:ext cx="7893383" cy="1093770"/>
          </a:xfrm>
        </p:spPr>
        <p:txBody>
          <a:bodyPr anchor="t">
            <a:normAutofit/>
          </a:bodyPr>
          <a:lstStyle>
            <a:lvl1pPr>
              <a:defRPr sz="240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Subtitle 2"/>
          <p:cNvSpPr>
            <a:spLocks noGrp="1"/>
          </p:cNvSpPr>
          <p:nvPr>
            <p:ph type="subTitle" idx="1"/>
          </p:nvPr>
        </p:nvSpPr>
        <p:spPr>
          <a:xfrm>
            <a:off x="685801" y="3721101"/>
            <a:ext cx="4732867" cy="919473"/>
          </a:xfrm>
        </p:spPr>
        <p:txBody>
          <a:bodyPr anchor="b"/>
          <a:lstStyle>
            <a:lvl1pPr marL="0" indent="0" algn="l">
              <a:buNone/>
              <a:defRPr sz="135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7" name="Picture 6" descr="IAASB Logo with FullName.jp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2454" y="4152900"/>
            <a:ext cx="2776694" cy="487674"/>
          </a:xfrm>
          <a:prstGeom prst="rect">
            <a:avLst/>
          </a:prstGeom>
        </p:spPr>
      </p:pic>
      <p:pic>
        <p:nvPicPr>
          <p:cNvPr id="9" name="Picture 8" descr="Ribbon_orange_top.pn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0" y="1201152"/>
            <a:ext cx="9144000" cy="12360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325885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Standard 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rgbClr val="808080"/>
                </a:solidFill>
              </a:defRPr>
            </a:lvl1pPr>
            <a:lvl2pPr>
              <a:defRPr>
                <a:solidFill>
                  <a:srgbClr val="808080"/>
                </a:solidFill>
              </a:defRPr>
            </a:lvl2pPr>
            <a:lvl3pPr>
              <a:defRPr>
                <a:solidFill>
                  <a:srgbClr val="808080"/>
                </a:solidFill>
              </a:defRPr>
            </a:lvl3pPr>
            <a:lvl4pPr marL="642938" indent="-171450">
              <a:defRPr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813197" indent="-171450">
              <a:defRPr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928852" y="4883295"/>
            <a:ext cx="2757948" cy="228309"/>
          </a:xfrm>
        </p:spPr>
        <p:txBody>
          <a:bodyPr/>
          <a:lstStyle>
            <a:lvl1pPr marL="0" marR="0" indent="0" algn="r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75">
                <a:solidFill>
                  <a:srgbClr val="808080"/>
                </a:solidFill>
              </a:defRPr>
            </a:lvl1pPr>
          </a:lstStyle>
          <a:p>
            <a:r>
              <a:rPr lang="en-US" dirty="0">
                <a:latin typeface="Arial" panose="020B0604020202020204" pitchFamily="34" charset="0"/>
                <a:cs typeface="MS PGothic" charset="0"/>
              </a:rPr>
              <a:t>Page </a:t>
            </a:r>
            <a:fld id="{95158037-59F0-9C4B-B231-1C776117AADA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‹#›</a:t>
            </a:fld>
            <a:endParaRPr lang="en-US" dirty="0">
              <a:latin typeface="Arial" panose="020B0604020202020204" pitchFamily="34" charset="0"/>
              <a:cs typeface="MS PGothic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66693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1208161"/>
            <a:ext cx="9144000" cy="393916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 dirty="0">
                <a:latin typeface="Arial" panose="020B0604020202020204" pitchFamily="34" charset="0"/>
                <a:cs typeface="MS PGothic" charset="0"/>
              </a:rPr>
              <a:t>Page </a:t>
            </a:r>
            <a:fld id="{95158037-59F0-9C4B-B231-1C776117AADA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‹#›</a:t>
            </a:fld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3" name="Straight Connector 12"/>
          <p:cNvCxnSpPr/>
          <p:nvPr userDrawn="1"/>
        </p:nvCxnSpPr>
        <p:spPr>
          <a:xfrm>
            <a:off x="0" y="4299439"/>
            <a:ext cx="9144000" cy="0"/>
          </a:xfrm>
          <a:prstGeom prst="line">
            <a:avLst/>
          </a:prstGeom>
          <a:ln w="9525">
            <a:solidFill>
              <a:schemeClr val="accent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 userDrawn="1"/>
        </p:nvSpPr>
        <p:spPr>
          <a:xfrm>
            <a:off x="0" y="4299438"/>
            <a:ext cx="9144000" cy="403875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70000">
                <a:schemeClr val="accent1"/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/>
          </a:p>
        </p:txBody>
      </p:sp>
    </p:spTree>
    <p:extLst>
      <p:ext uri="{BB962C8B-B14F-4D97-AF65-F5344CB8AC3E}">
        <p14:creationId xmlns:p14="http://schemas.microsoft.com/office/powerpoint/2010/main" val="21939931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15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defRPr sz="135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 marL="641747" indent="-171450">
              <a:defRPr sz="105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813197" indent="-171450">
              <a:defRPr sz="105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15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defRPr sz="135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 marL="641747" indent="-171450">
              <a:defRPr sz="105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813197" indent="-171450">
              <a:defRPr sz="105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606012" y="4873085"/>
            <a:ext cx="2080788" cy="251831"/>
          </a:xfrm>
        </p:spPr>
        <p:txBody>
          <a:bodyPr/>
          <a:lstStyle/>
          <a:p>
            <a:pPr algn="r"/>
            <a:r>
              <a:rPr lang="en-US" dirty="0">
                <a:latin typeface="Arial" panose="020B0604020202020204" pitchFamily="34" charset="0"/>
                <a:cs typeface="MS PGothic" charset="0"/>
              </a:rPr>
              <a:t>Page </a:t>
            </a:r>
            <a:fld id="{95158037-59F0-9C4B-B231-1C776117AADA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 algn="r"/>
              <a:t>‹#›</a:t>
            </a:fld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752037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013017"/>
            <a:ext cx="4040188" cy="360497"/>
          </a:xfrm>
        </p:spPr>
        <p:txBody>
          <a:bodyPr anchor="b"/>
          <a:lstStyle>
            <a:lvl1pPr marL="0" indent="0">
              <a:buNone/>
              <a:defRPr sz="15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502736"/>
            <a:ext cx="4040188" cy="2963466"/>
          </a:xfrm>
        </p:spPr>
        <p:txBody>
          <a:bodyPr/>
          <a:lstStyle>
            <a:lvl1pPr>
              <a:defRPr sz="15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defRPr sz="135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 marL="641747" indent="-171450">
              <a:defRPr sz="105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813197" indent="-171450">
              <a:defRPr sz="105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013017"/>
            <a:ext cx="4041775" cy="360497"/>
          </a:xfrm>
        </p:spPr>
        <p:txBody>
          <a:bodyPr anchor="b"/>
          <a:lstStyle>
            <a:lvl1pPr marL="0" indent="0">
              <a:buNone/>
              <a:defRPr sz="15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502736"/>
            <a:ext cx="4041775" cy="2963466"/>
          </a:xfrm>
        </p:spPr>
        <p:txBody>
          <a:bodyPr/>
          <a:lstStyle>
            <a:lvl1pPr>
              <a:defRPr sz="15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defRPr sz="135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 marL="641747" indent="-171450">
              <a:defRPr sz="105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813197" indent="-171450">
              <a:defRPr sz="105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en-US" dirty="0">
                <a:latin typeface="Arial" panose="020B0604020202020204" pitchFamily="34" charset="0"/>
                <a:cs typeface="MS PGothic" charset="0"/>
              </a:rPr>
              <a:t>Page </a:t>
            </a:r>
            <a:fld id="{95158037-59F0-9C4B-B231-1C776117AADA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 algn="r"/>
              <a:t>‹#›</a:t>
            </a:fld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54988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en-US" dirty="0">
                <a:latin typeface="Arial" panose="020B0604020202020204" pitchFamily="34" charset="0"/>
                <a:cs typeface="MS PGothic" charset="0"/>
              </a:rPr>
              <a:t>Page </a:t>
            </a:r>
            <a:fld id="{95158037-59F0-9C4B-B231-1C776117AADA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 algn="r"/>
              <a:t>‹#›</a:t>
            </a:fld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90450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en-US" dirty="0">
                <a:latin typeface="Arial" panose="020B0604020202020204" pitchFamily="34" charset="0"/>
                <a:cs typeface="MS PGothic" charset="0"/>
              </a:rPr>
              <a:t>Page </a:t>
            </a:r>
            <a:fld id="{95158037-59F0-9C4B-B231-1C776117AADA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 algn="r"/>
              <a:t>‹#›</a:t>
            </a:fld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47768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ack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9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268002" y="1561874"/>
            <a:ext cx="4393108" cy="7321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1"/>
          <p:cNvSpPr/>
          <p:nvPr userDrawn="1"/>
        </p:nvSpPr>
        <p:spPr>
          <a:xfrm>
            <a:off x="3821898" y="3756887"/>
            <a:ext cx="1310039" cy="3000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350" u="none" dirty="0">
                <a:solidFill>
                  <a:srgbClr val="1F497D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  <a:hlinkClick r:id="rId3"/>
              </a:rPr>
              <a:t>www.iaasb.org</a:t>
            </a:r>
            <a:endParaRPr lang="en-US" sz="1500" u="none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5" name="Rectangle 5"/>
          <p:cNvSpPr>
            <a:spLocks noChangeArrowheads="1"/>
          </p:cNvSpPr>
          <p:nvPr userDrawn="1"/>
        </p:nvSpPr>
        <p:spPr bwMode="auto">
          <a:xfrm flipH="1">
            <a:off x="381000" y="4822821"/>
            <a:ext cx="8763000" cy="34529"/>
          </a:xfrm>
          <a:prstGeom prst="rect">
            <a:avLst/>
          </a:prstGeom>
          <a:gradFill rotWithShape="1">
            <a:gsLst>
              <a:gs pos="0">
                <a:srgbClr val="D53D20"/>
              </a:gs>
              <a:gs pos="999">
                <a:srgbClr val="D53D20"/>
              </a:gs>
              <a:gs pos="100000">
                <a:srgbClr val="E58D23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sz="1350" dirty="0"/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9559" y="4168326"/>
            <a:ext cx="577805" cy="193152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8002" y="4175640"/>
            <a:ext cx="437481" cy="193152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30292" y="4165672"/>
            <a:ext cx="577805" cy="193152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5897" y="4168326"/>
            <a:ext cx="577805" cy="234424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8511" y="4168326"/>
            <a:ext cx="577805" cy="193152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5213" y="4165202"/>
            <a:ext cx="577805" cy="193152"/>
          </a:xfrm>
          <a:prstGeom prst="rect">
            <a:avLst/>
          </a:prstGeom>
        </p:spPr>
      </p:pic>
      <p:sp>
        <p:nvSpPr>
          <p:cNvPr id="11" name="Rectangle 10"/>
          <p:cNvSpPr/>
          <p:nvPr userDrawn="1"/>
        </p:nvSpPr>
        <p:spPr>
          <a:xfrm>
            <a:off x="698501" y="4608029"/>
            <a:ext cx="8128000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n-US" sz="9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For copyright, trademark, and permissions information, please go to </a:t>
            </a:r>
            <a:r>
              <a:rPr lang="en-US" sz="900" u="sng" dirty="0">
                <a:solidFill>
                  <a:srgbClr val="0563C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  <a:hlinkClick r:id="rId10"/>
              </a:rPr>
              <a:t>permissions</a:t>
            </a:r>
            <a:r>
              <a:rPr lang="en-US" sz="9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 or contact </a:t>
            </a:r>
            <a:r>
              <a:rPr lang="en-US" sz="900" u="sng" dirty="0">
                <a:solidFill>
                  <a:srgbClr val="0563C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  <a:hlinkClick r:id="rId11"/>
              </a:rPr>
              <a:t>permissions@ifac.org</a:t>
            </a:r>
            <a:r>
              <a:rPr lang="en-US" sz="9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.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3754577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 userDrawn="1"/>
        </p:nvSpPr>
        <p:spPr>
          <a:xfrm>
            <a:off x="0" y="427437"/>
            <a:ext cx="9144000" cy="403875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70000">
                <a:schemeClr val="accent1"/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427437"/>
            <a:ext cx="8229600" cy="403875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18867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4985" y="4883295"/>
            <a:ext cx="2057400" cy="2283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fld id="{AF73A935-0AD8-4B38-AD39-55437B5CA1D2}" type="datetime1">
              <a:rPr lang="en-US" smtClean="0"/>
              <a:t>9/17/2018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16148" y="4883295"/>
            <a:ext cx="3086100" cy="2283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75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606012" y="4883295"/>
            <a:ext cx="2080788" cy="228309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675">
                <a:solidFill>
                  <a:srgbClr val="808080"/>
                </a:solidFill>
                <a:latin typeface="Arial Narrow"/>
                <a:cs typeface="Arial Narrow"/>
              </a:defRPr>
            </a:lvl1pPr>
          </a:lstStyle>
          <a:p>
            <a:pPr algn="r"/>
            <a:r>
              <a:rPr lang="en-US" dirty="0">
                <a:latin typeface="Arial" panose="020B0604020202020204" pitchFamily="34" charset="0"/>
                <a:cs typeface="MS PGothic" charset="0"/>
              </a:rPr>
              <a:t>Page </a:t>
            </a:r>
            <a:fld id="{95158037-59F0-9C4B-B231-1C776117AADA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 algn="r"/>
              <a:t>‹#›</a:t>
            </a:fld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Rectangle 5"/>
          <p:cNvSpPr>
            <a:spLocks noChangeArrowheads="1"/>
          </p:cNvSpPr>
          <p:nvPr userDrawn="1"/>
        </p:nvSpPr>
        <p:spPr bwMode="auto">
          <a:xfrm flipH="1">
            <a:off x="381000" y="4822228"/>
            <a:ext cx="8763000" cy="34529"/>
          </a:xfrm>
          <a:prstGeom prst="rect">
            <a:avLst/>
          </a:prstGeom>
          <a:gradFill rotWithShape="1">
            <a:gsLst>
              <a:gs pos="0">
                <a:srgbClr val="D53D20"/>
              </a:gs>
              <a:gs pos="999">
                <a:srgbClr val="D53D20"/>
              </a:gs>
              <a:gs pos="100000">
                <a:srgbClr val="E58D23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sz="1350" dirty="0"/>
          </a:p>
        </p:txBody>
      </p:sp>
      <p:pic>
        <p:nvPicPr>
          <p:cNvPr id="11" name="Picture 10" descr="IAASB Logo with FullName.jpg"/>
          <p:cNvPicPr>
            <a:picLocks noChangeAspect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99368" y="55409"/>
            <a:ext cx="1787432" cy="3139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42328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  <p:sldLayoutId id="2147483660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</p:sldLayoutIdLst>
  <p:hf hdr="0" ftr="0" dt="0"/>
  <p:txStyles>
    <p:titleStyle>
      <a:lvl1pPr algn="l" defTabSz="342900" rtl="0" eaLnBrk="1" latinLnBrk="0" hangingPunct="1">
        <a:spcBef>
          <a:spcPct val="0"/>
        </a:spcBef>
        <a:buNone/>
        <a:defRPr sz="1800" kern="1200">
          <a:solidFill>
            <a:schemeClr val="bg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129779" indent="-129779" algn="l" defTabSz="342900" rtl="0" eaLnBrk="1" latinLnBrk="0" hangingPunct="1">
        <a:spcBef>
          <a:spcPts val="900"/>
        </a:spcBef>
        <a:buFont typeface="Arial"/>
        <a:buChar char="•"/>
        <a:defRPr sz="1500" kern="1200">
          <a:solidFill>
            <a:schemeClr val="tx1">
              <a:lumMod val="65000"/>
              <a:lumOff val="3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342900" indent="-171450" algn="l" defTabSz="342900" rtl="0" eaLnBrk="1" latinLnBrk="0" hangingPunct="1">
        <a:spcBef>
          <a:spcPts val="450"/>
        </a:spcBef>
        <a:spcAft>
          <a:spcPts val="300"/>
        </a:spcAft>
        <a:buFont typeface="Arial"/>
        <a:buChar char="–"/>
        <a:defRPr sz="1350" kern="1200">
          <a:solidFill>
            <a:schemeClr val="tx1">
              <a:lumMod val="65000"/>
              <a:lumOff val="3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472679" indent="-128588" algn="l" defTabSz="342900" rtl="0" eaLnBrk="1" latinLnBrk="0" hangingPunct="1">
        <a:spcBef>
          <a:spcPct val="20000"/>
        </a:spcBef>
        <a:buFont typeface="Arial"/>
        <a:buChar char="•"/>
        <a:defRPr sz="1200" kern="1200">
          <a:solidFill>
            <a:schemeClr val="tx1">
              <a:lumMod val="65000"/>
              <a:lumOff val="3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200150" indent="-171450" algn="l" defTabSz="342900" rtl="0" eaLnBrk="1" latinLnBrk="0" hangingPunct="1">
        <a:spcBef>
          <a:spcPct val="20000"/>
        </a:spcBef>
        <a:buFont typeface="Arial"/>
        <a:buChar char="–"/>
        <a:defRPr sz="1050" kern="1200">
          <a:solidFill>
            <a:schemeClr val="tx1"/>
          </a:solidFill>
          <a:latin typeface="Arial Narrow"/>
          <a:ea typeface="+mn-ea"/>
          <a:cs typeface="Arial Narrow"/>
        </a:defRPr>
      </a:lvl4pPr>
      <a:lvl5pPr marL="1543050" indent="-171450" algn="l" defTabSz="342900" rtl="0" eaLnBrk="1" latinLnBrk="0" hangingPunct="1">
        <a:spcBef>
          <a:spcPct val="20000"/>
        </a:spcBef>
        <a:buFont typeface="Arial"/>
        <a:buChar char="»"/>
        <a:defRPr sz="1050" kern="1200">
          <a:solidFill>
            <a:schemeClr val="tx1"/>
          </a:solidFill>
          <a:latin typeface="Arial Narrow"/>
          <a:ea typeface="+mn-ea"/>
          <a:cs typeface="Arial Narrow"/>
        </a:defRPr>
      </a:lvl5pPr>
      <a:lvl6pPr marL="18859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The IAASB’s Future Strategy </a:t>
            </a:r>
          </a:p>
        </p:txBody>
      </p: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>
          <a:xfrm>
            <a:off x="685801" y="3221372"/>
            <a:ext cx="4732867" cy="1419203"/>
          </a:xfrm>
        </p:spPr>
        <p:txBody>
          <a:bodyPr/>
          <a:lstStyle/>
          <a:p>
            <a:r>
              <a:rPr lang="en-US" dirty="0" smtClean="0"/>
              <a:t>Prof. Arnold Schilder, IAASB Chairman</a:t>
            </a:r>
          </a:p>
          <a:p>
            <a:r>
              <a:rPr lang="en-US" dirty="0" smtClean="0"/>
              <a:t>Dan </a:t>
            </a:r>
            <a:r>
              <a:rPr lang="en-US" dirty="0"/>
              <a:t>Montgomery, Interim Technical Director</a:t>
            </a:r>
          </a:p>
          <a:p>
            <a:r>
              <a:rPr lang="en-US" dirty="0"/>
              <a:t>IAASB </a:t>
            </a:r>
            <a:r>
              <a:rPr lang="en-US" dirty="0" smtClean="0"/>
              <a:t>Meeting</a:t>
            </a:r>
            <a:r>
              <a:rPr lang="en-US" dirty="0"/>
              <a:t>, New York</a:t>
            </a:r>
          </a:p>
          <a:p>
            <a:r>
              <a:rPr lang="en-US" dirty="0"/>
              <a:t>Agenda Item </a:t>
            </a:r>
            <a:r>
              <a:rPr lang="en-US" dirty="0" smtClean="0"/>
              <a:t>3</a:t>
            </a:r>
            <a:endParaRPr lang="en-US" dirty="0"/>
          </a:p>
          <a:p>
            <a:r>
              <a:rPr lang="en-US" dirty="0"/>
              <a:t>September </a:t>
            </a:r>
            <a:r>
              <a:rPr lang="en-US" dirty="0" smtClean="0"/>
              <a:t>18, </a:t>
            </a:r>
            <a:r>
              <a:rPr lang="en-US" dirty="0"/>
              <a:t>2018 </a:t>
            </a:r>
          </a:p>
        </p:txBody>
      </p:sp>
    </p:spTree>
    <p:extLst>
      <p:ext uri="{BB962C8B-B14F-4D97-AF65-F5344CB8AC3E}">
        <p14:creationId xmlns:p14="http://schemas.microsoft.com/office/powerpoint/2010/main" val="42404074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Strategy Survey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19845"/>
            <a:ext cx="6074229" cy="3907192"/>
          </a:xfrm>
        </p:spPr>
        <p:txBody>
          <a:bodyPr/>
          <a:lstStyle/>
          <a:p>
            <a:r>
              <a:rPr lang="en-US" sz="1800" b="1" dirty="0"/>
              <a:t>First step </a:t>
            </a:r>
            <a:r>
              <a:rPr lang="en-US" sz="1800" dirty="0"/>
              <a:t>in developing Consultation Paper on future Strategy and Work Plans (for IAASB discussion in December 2018)</a:t>
            </a:r>
          </a:p>
          <a:p>
            <a:pPr lvl="1"/>
            <a:r>
              <a:rPr lang="en-US" sz="1600" dirty="0"/>
              <a:t>Targeted outreach also being undertaken</a:t>
            </a:r>
          </a:p>
          <a:p>
            <a:r>
              <a:rPr lang="en-US" sz="1800" dirty="0"/>
              <a:t>Objective: obtain </a:t>
            </a:r>
            <a:r>
              <a:rPr lang="en-US" sz="1800" b="1" dirty="0"/>
              <a:t>directional views </a:t>
            </a:r>
            <a:r>
              <a:rPr lang="en-US" sz="1800" dirty="0"/>
              <a:t>to develop future Strategy for 2020–2023</a:t>
            </a:r>
          </a:p>
          <a:p>
            <a:pPr lvl="1"/>
            <a:r>
              <a:rPr lang="en-US" sz="1600" dirty="0"/>
              <a:t>Global issues, trends, developments</a:t>
            </a:r>
          </a:p>
          <a:p>
            <a:pPr lvl="1"/>
            <a:r>
              <a:rPr lang="en-US" sz="1600" dirty="0"/>
              <a:t>Key challenges</a:t>
            </a:r>
          </a:p>
          <a:p>
            <a:pPr lvl="1"/>
            <a:r>
              <a:rPr lang="en-US" sz="1600" dirty="0"/>
              <a:t>Opportunities</a:t>
            </a:r>
          </a:p>
          <a:p>
            <a:pPr lvl="1"/>
            <a:r>
              <a:rPr lang="en-US" sz="1600" dirty="0"/>
              <a:t>Where balance of efforts should be focused</a:t>
            </a:r>
          </a:p>
          <a:p>
            <a:pPr>
              <a:spcBef>
                <a:spcPts val="600"/>
              </a:spcBef>
            </a:pPr>
            <a:r>
              <a:rPr lang="en-US" sz="1800" dirty="0"/>
              <a:t>Detailed work plans to be developed in context of future strategy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MS PGothic" charset="0"/>
              </a:rPr>
              <a:t>Page </a:t>
            </a:r>
            <a:fld id="{95158037-59F0-9C4B-B231-1C776117AADA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2</a:t>
            </a:fld>
            <a:endParaRPr lang="en-US" dirty="0">
              <a:latin typeface="Arial" panose="020B0604020202020204" pitchFamily="34" charset="0"/>
              <a:cs typeface="MS PGothic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1086" y="1119664"/>
            <a:ext cx="2147600" cy="3658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26462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2149277-2921-4F89-BA1C-A5E8BE8850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Strategy Survey - Responses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942A72E5-6DFA-4DDF-BC33-5E11D1A5FA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MS PGothic" charset="0"/>
              </a:rPr>
              <a:t>Page </a:t>
            </a:r>
            <a:fld id="{95158037-59F0-9C4B-B231-1C776117AADA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3</a:t>
            </a:fld>
            <a:endParaRPr lang="en-US" dirty="0">
              <a:latin typeface="Arial" panose="020B0604020202020204" pitchFamily="34" charset="0"/>
              <a:cs typeface="MS PGothic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35929"/>
            <a:ext cx="2860535" cy="2983078"/>
          </a:xfrm>
        </p:spPr>
        <p:txBody>
          <a:bodyPr/>
          <a:lstStyle/>
          <a:p>
            <a:r>
              <a:rPr lang="en-US" sz="1800" dirty="0"/>
              <a:t>Survey was open for 90 days May to July 2018 </a:t>
            </a:r>
          </a:p>
          <a:p>
            <a:r>
              <a:rPr lang="en-US" sz="1800" dirty="0"/>
              <a:t>76 respondents, including</a:t>
            </a:r>
          </a:p>
          <a:p>
            <a:pPr lvl="1"/>
            <a:r>
              <a:rPr lang="en-US" sz="1650" dirty="0"/>
              <a:t>One Monitoring Group member (IOSCO)</a:t>
            </a:r>
          </a:p>
          <a:p>
            <a:pPr lvl="1"/>
            <a:r>
              <a:rPr lang="en-US" sz="1650" dirty="0"/>
              <a:t>Twelve global organizations</a:t>
            </a:r>
          </a:p>
          <a:p>
            <a:pPr lvl="1"/>
            <a:r>
              <a:rPr lang="en-US" sz="1650" dirty="0"/>
              <a:t>42 responses from individuals</a:t>
            </a:r>
          </a:p>
        </p:txBody>
      </p:sp>
      <p:graphicFrame>
        <p:nvGraphicFramePr>
          <p:cNvPr id="6" name="Chart 5"/>
          <p:cNvGraphicFramePr/>
          <p:nvPr>
            <p:extLst>
              <p:ext uri="{D42A27DB-BD31-4B8C-83A1-F6EECF244321}">
                <p14:modId xmlns:p14="http://schemas.microsoft.com/office/powerpoint/2010/main" val="2850473575"/>
              </p:ext>
            </p:extLst>
          </p:nvPr>
        </p:nvGraphicFramePr>
        <p:xfrm>
          <a:off x="3515557" y="860994"/>
          <a:ext cx="5690586" cy="393294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7889828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Strategy Survey – What We Heard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67666"/>
            <a:ext cx="8330750" cy="3915629"/>
          </a:xfrm>
        </p:spPr>
        <p:txBody>
          <a:bodyPr/>
          <a:lstStyle/>
          <a:p>
            <a:r>
              <a:rPr lang="en-US" sz="1800" b="1" dirty="0"/>
              <a:t>Global issues, trends or developments</a:t>
            </a:r>
          </a:p>
          <a:p>
            <a:pPr lvl="1"/>
            <a:r>
              <a:rPr lang="en-US" sz="1600" dirty="0"/>
              <a:t>Advances in </a:t>
            </a:r>
            <a:r>
              <a:rPr lang="en-US" sz="1600" i="1" dirty="0"/>
              <a:t>technology</a:t>
            </a:r>
          </a:p>
          <a:p>
            <a:pPr lvl="1"/>
            <a:r>
              <a:rPr lang="en-US" sz="1600" dirty="0"/>
              <a:t>Changing reporting </a:t>
            </a:r>
            <a:r>
              <a:rPr lang="en-US" sz="1600" i="1" dirty="0"/>
              <a:t>needs of stakeholders </a:t>
            </a:r>
            <a:r>
              <a:rPr lang="en-US" sz="1600" dirty="0"/>
              <a:t>(integrated reporting, sustainability </a:t>
            </a:r>
            <a:r>
              <a:rPr lang="en-US" sz="1600" dirty="0" smtClean="0"/>
              <a:t>reporting)</a:t>
            </a:r>
            <a:endParaRPr lang="en-US" sz="1600" dirty="0"/>
          </a:p>
          <a:p>
            <a:pPr lvl="1"/>
            <a:r>
              <a:rPr lang="en-US" sz="1600" dirty="0"/>
              <a:t>Changing environment for </a:t>
            </a:r>
            <a:r>
              <a:rPr lang="en-US" sz="1600" i="1" dirty="0"/>
              <a:t>small and medium sized practices </a:t>
            </a:r>
            <a:r>
              <a:rPr lang="en-US" sz="1600" dirty="0"/>
              <a:t>(importance of scalable standards)</a:t>
            </a:r>
          </a:p>
          <a:p>
            <a:pPr lvl="1"/>
            <a:r>
              <a:rPr lang="en-US" sz="1600" i="1" dirty="0"/>
              <a:t>Future of the profession</a:t>
            </a:r>
            <a:r>
              <a:rPr lang="en-US" sz="1600" dirty="0"/>
              <a:t>, including the perceived value of the audit and the competencies and training of audit personnel</a:t>
            </a:r>
          </a:p>
          <a:p>
            <a:pPr marL="129779" lvl="1" indent="-129779">
              <a:spcBef>
                <a:spcPts val="900"/>
              </a:spcBef>
              <a:buFont typeface="Arial"/>
              <a:buChar char="•"/>
            </a:pPr>
            <a:r>
              <a:rPr lang="en-US" sz="1800" b="1" dirty="0"/>
              <a:t>Key challenges </a:t>
            </a:r>
          </a:p>
          <a:p>
            <a:pPr marL="347472" lvl="3" indent="-173736">
              <a:spcBef>
                <a:spcPts val="900"/>
              </a:spcBef>
            </a:pPr>
            <a:r>
              <a:rPr lang="en-US" sz="1500" dirty="0"/>
              <a:t> </a:t>
            </a:r>
            <a:r>
              <a:rPr lang="en-US" sz="1500" i="1" dirty="0"/>
              <a:t>MG consultation </a:t>
            </a:r>
            <a:r>
              <a:rPr lang="en-US" sz="1500" dirty="0"/>
              <a:t>and changes therefrom </a:t>
            </a:r>
          </a:p>
          <a:p>
            <a:pPr marL="347472" lvl="3" indent="-173736">
              <a:spcBef>
                <a:spcPts val="900"/>
              </a:spcBef>
            </a:pPr>
            <a:r>
              <a:rPr lang="en-US" sz="1500" i="1" dirty="0"/>
              <a:t>Timeliness</a:t>
            </a:r>
            <a:r>
              <a:rPr lang="en-US" sz="1500" dirty="0"/>
              <a:t> of standard-setting</a:t>
            </a:r>
          </a:p>
          <a:p>
            <a:pPr marL="347472" lvl="3" indent="-173736">
              <a:spcBef>
                <a:spcPts val="900"/>
              </a:spcBef>
            </a:pPr>
            <a:r>
              <a:rPr lang="en-US" sz="1500" dirty="0"/>
              <a:t>Demands from </a:t>
            </a:r>
            <a:r>
              <a:rPr lang="en-US" sz="1500" i="1" dirty="0"/>
              <a:t>different stakeholder groups</a:t>
            </a:r>
          </a:p>
          <a:p>
            <a:pPr marL="129779" lvl="1" indent="-129779">
              <a:spcBef>
                <a:spcPts val="900"/>
              </a:spcBef>
              <a:buFont typeface="Arial"/>
              <a:buChar char="•"/>
            </a:pPr>
            <a:endParaRPr lang="en-US" sz="1600" dirty="0"/>
          </a:p>
          <a:p>
            <a:pPr marL="259558" lvl="2" indent="-129779">
              <a:spcBef>
                <a:spcPts val="900"/>
              </a:spcBef>
            </a:pPr>
            <a:endParaRPr lang="en-US" sz="1650" dirty="0"/>
          </a:p>
          <a:p>
            <a:pPr lv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MS PGothic" charset="0"/>
              </a:rPr>
              <a:t>Page </a:t>
            </a:r>
            <a:fld id="{95158037-59F0-9C4B-B231-1C776117AADA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4</a:t>
            </a:fld>
            <a:endParaRPr lang="en-US" dirty="0">
              <a:latin typeface="Arial" panose="020B0604020202020204" pitchFamily="34" charset="0"/>
              <a:cs typeface="MS PGothic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65320" y="2915080"/>
            <a:ext cx="2039288" cy="1718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70189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Strategy Survey – What We Heard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095" y="858118"/>
            <a:ext cx="8247640" cy="3956643"/>
          </a:xfrm>
        </p:spPr>
        <p:txBody>
          <a:bodyPr/>
          <a:lstStyle/>
          <a:p>
            <a:pPr>
              <a:spcBef>
                <a:spcPts val="500"/>
              </a:spcBef>
            </a:pPr>
            <a:r>
              <a:rPr lang="en-US" sz="1600" b="1" dirty="0"/>
              <a:t>Key opportunities </a:t>
            </a:r>
          </a:p>
          <a:p>
            <a:pPr lvl="1">
              <a:spcBef>
                <a:spcPts val="500"/>
              </a:spcBef>
            </a:pPr>
            <a:r>
              <a:rPr lang="en-US" sz="1450" dirty="0"/>
              <a:t>Change how the Board operates (more strategic) </a:t>
            </a:r>
          </a:p>
          <a:p>
            <a:pPr lvl="1">
              <a:spcBef>
                <a:spcPts val="500"/>
              </a:spcBef>
            </a:pPr>
            <a:r>
              <a:rPr lang="en-US" sz="1450" dirty="0"/>
              <a:t>Improvements or changes to the standard-setting process (balance timely guidance vs. due process)</a:t>
            </a:r>
          </a:p>
          <a:p>
            <a:pPr lvl="1">
              <a:spcBef>
                <a:spcPts val="500"/>
              </a:spcBef>
            </a:pPr>
            <a:r>
              <a:rPr lang="en-US" sz="1450" dirty="0"/>
              <a:t>Increased use of technology to be more efficient</a:t>
            </a:r>
          </a:p>
          <a:p>
            <a:pPr lvl="1">
              <a:spcBef>
                <a:spcPts val="500"/>
              </a:spcBef>
            </a:pPr>
            <a:r>
              <a:rPr lang="en-US" sz="1450" dirty="0"/>
              <a:t>Collaboration with other standard-setting boards (in particular IESBA) and others (NSS)</a:t>
            </a:r>
          </a:p>
          <a:p>
            <a:pPr marL="129779" lvl="1" indent="-129779">
              <a:spcBef>
                <a:spcPts val="500"/>
              </a:spcBef>
              <a:buFont typeface="Arial"/>
              <a:buChar char="•"/>
            </a:pPr>
            <a:r>
              <a:rPr lang="en-US" sz="1800" dirty="0"/>
              <a:t>How the IAASB should </a:t>
            </a:r>
            <a:r>
              <a:rPr lang="en-US" sz="1800" b="1" dirty="0"/>
              <a:t>focus its activities in 2020–2023</a:t>
            </a:r>
          </a:p>
          <a:p>
            <a:pPr lvl="1">
              <a:spcBef>
                <a:spcPts val="500"/>
              </a:spcBef>
            </a:pPr>
            <a:r>
              <a:rPr lang="en-US" sz="1600" dirty="0"/>
              <a:t>Important to </a:t>
            </a:r>
            <a:r>
              <a:rPr lang="en-US" sz="1600" i="1" dirty="0"/>
              <a:t>complete current projects underway</a:t>
            </a:r>
          </a:p>
          <a:p>
            <a:pPr lvl="1">
              <a:spcBef>
                <a:spcPts val="500"/>
              </a:spcBef>
            </a:pPr>
            <a:r>
              <a:rPr lang="en-US" sz="1600" i="1" dirty="0"/>
              <a:t>Development of standards </a:t>
            </a:r>
            <a:r>
              <a:rPr lang="en-US" sz="1600" dirty="0"/>
              <a:t>still important, but also need </a:t>
            </a:r>
            <a:r>
              <a:rPr lang="en-US" sz="1600" i="1" dirty="0"/>
              <a:t>implementation efforts </a:t>
            </a:r>
            <a:r>
              <a:rPr lang="en-US" sz="1600" dirty="0"/>
              <a:t>on recently completed revised standards / standards currently being revised </a:t>
            </a:r>
          </a:p>
          <a:p>
            <a:pPr lvl="1">
              <a:spcBef>
                <a:spcPts val="500"/>
              </a:spcBef>
            </a:pPr>
            <a:r>
              <a:rPr lang="en-US" sz="1450" dirty="0"/>
              <a:t>More needs to be done to support specific activities (e.g., standard-setting versus development of guidance, including non-authoritative guidance or other Staff documents)</a:t>
            </a:r>
          </a:p>
          <a:p>
            <a:pPr lvl="1">
              <a:spcBef>
                <a:spcPts val="500"/>
              </a:spcBef>
            </a:pPr>
            <a:r>
              <a:rPr lang="en-US" sz="1450" dirty="0"/>
              <a:t>Focus on </a:t>
            </a:r>
            <a:r>
              <a:rPr lang="en-US" sz="1450" i="1" dirty="0"/>
              <a:t>scalability</a:t>
            </a:r>
            <a:r>
              <a:rPr lang="en-US" sz="1450" dirty="0"/>
              <a:t> of standards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MS PGothic" charset="0"/>
              </a:rPr>
              <a:t>Page </a:t>
            </a:r>
            <a:fld id="{95158037-59F0-9C4B-B231-1C776117AADA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5</a:t>
            </a:fld>
            <a:endParaRPr lang="en-US" dirty="0">
              <a:latin typeface="Arial" panose="020B0604020202020204" pitchFamily="34" charset="0"/>
              <a:cs typeface="MS PGothic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1991" y="65682"/>
            <a:ext cx="1297567" cy="14478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65052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Targeted Outreach – What We Heard (To Date)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199" y="1054495"/>
            <a:ext cx="8577943" cy="3828800"/>
          </a:xfrm>
        </p:spPr>
        <p:txBody>
          <a:bodyPr/>
          <a:lstStyle/>
          <a:p>
            <a:r>
              <a:rPr lang="en-US" sz="1600" dirty="0"/>
              <a:t>Targeted outreach with stakeholders from which we don’t traditionally hear from (investor groups, company director groups, those charged with governance, preparers, smaller firms)</a:t>
            </a:r>
          </a:p>
          <a:p>
            <a:r>
              <a:rPr lang="en-US" sz="1600" dirty="0"/>
              <a:t>Ongoing outreach</a:t>
            </a:r>
          </a:p>
          <a:p>
            <a:r>
              <a:rPr lang="en-US" sz="1600" dirty="0"/>
              <a:t>Key themes:</a:t>
            </a:r>
          </a:p>
          <a:p>
            <a:pPr lvl="1"/>
            <a:r>
              <a:rPr lang="en-US" sz="1400" dirty="0"/>
              <a:t>IAASB focus on ‘</a:t>
            </a:r>
            <a:r>
              <a:rPr lang="en-US" sz="1400" b="1" dirty="0"/>
              <a:t>core activities</a:t>
            </a:r>
            <a:r>
              <a:rPr lang="en-US" sz="1400" dirty="0"/>
              <a:t>’</a:t>
            </a:r>
          </a:p>
          <a:p>
            <a:pPr lvl="2"/>
            <a:r>
              <a:rPr lang="en-US" dirty="0"/>
              <a:t>More needs to be done to ensure </a:t>
            </a:r>
            <a:r>
              <a:rPr lang="en-US" b="1" dirty="0"/>
              <a:t>effective implementation of standards</a:t>
            </a:r>
          </a:p>
          <a:p>
            <a:pPr lvl="2"/>
            <a:r>
              <a:rPr lang="en-US" b="1" dirty="0"/>
              <a:t>Post-implementation reviews</a:t>
            </a:r>
            <a:r>
              <a:rPr lang="en-US" dirty="0"/>
              <a:t> important</a:t>
            </a:r>
          </a:p>
          <a:p>
            <a:pPr lvl="1"/>
            <a:r>
              <a:rPr lang="en-US" sz="1400" b="1" dirty="0"/>
              <a:t>Needs of stakeholders </a:t>
            </a:r>
            <a:r>
              <a:rPr lang="en-US" sz="1400" dirty="0"/>
              <a:t>is key (in changing environment) → continuing </a:t>
            </a:r>
            <a:r>
              <a:rPr lang="en-US" sz="1400" b="1" dirty="0"/>
              <a:t>outreach </a:t>
            </a:r>
            <a:r>
              <a:rPr lang="en-US" sz="1400" dirty="0"/>
              <a:t>important</a:t>
            </a:r>
          </a:p>
          <a:p>
            <a:pPr lvl="2"/>
            <a:r>
              <a:rPr lang="en-US" dirty="0"/>
              <a:t>Specific areas of focus: technology,  </a:t>
            </a:r>
            <a:r>
              <a:rPr lang="en-US" dirty="0" smtClean="0"/>
              <a:t>assurance on non-financial information </a:t>
            </a:r>
            <a:r>
              <a:rPr lang="en-US" dirty="0"/>
              <a:t>/ emerging forms of </a:t>
            </a:r>
            <a:r>
              <a:rPr lang="en-US" dirty="0" smtClean="0"/>
              <a:t>external reporting</a:t>
            </a:r>
            <a:r>
              <a:rPr lang="en-US" dirty="0"/>
              <a:t>, skepticism, fraud</a:t>
            </a:r>
          </a:p>
          <a:p>
            <a:pPr lvl="1"/>
            <a:r>
              <a:rPr lang="en-US" sz="1400" b="1" dirty="0"/>
              <a:t>Speed of standard-setting</a:t>
            </a:r>
            <a:r>
              <a:rPr lang="en-US" sz="1400" dirty="0"/>
              <a:t> to address issues and challenges, particularly in context of evolving environment</a:t>
            </a:r>
          </a:p>
          <a:p>
            <a:pPr lvl="1"/>
            <a:r>
              <a:rPr lang="en-US" sz="1400" dirty="0"/>
              <a:t>Consideration about how the changing </a:t>
            </a:r>
            <a:r>
              <a:rPr lang="en-US" sz="1400" dirty="0" smtClean="0"/>
              <a:t>environment </a:t>
            </a:r>
            <a:r>
              <a:rPr lang="en-US" sz="1400" dirty="0"/>
              <a:t>(e.g., changing business models or skills needed for undertaking the work) affects the standards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MS PGothic" charset="0"/>
              </a:rPr>
              <a:t>Page </a:t>
            </a:r>
            <a:fld id="{95158037-59F0-9C4B-B231-1C776117AADA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6</a:t>
            </a:fld>
            <a:endParaRPr lang="en-US" dirty="0">
              <a:latin typeface="Arial" panose="020B0604020202020204" pitchFamily="34" charset="0"/>
              <a:cs typeface="MS PGothic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16438" y="1609414"/>
            <a:ext cx="1687859" cy="1450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59616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Moving Forward on Strategic Direction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096" y="1022126"/>
            <a:ext cx="4557751" cy="3557515"/>
          </a:xfrm>
        </p:spPr>
        <p:txBody>
          <a:bodyPr/>
          <a:lstStyle/>
          <a:p>
            <a:r>
              <a:rPr lang="en-US" sz="1800" dirty="0"/>
              <a:t>Further consideration will be given to formalizing the Board’s policies and procedures in structured activity streams</a:t>
            </a:r>
          </a:p>
          <a:p>
            <a:pPr lvl="1"/>
            <a:r>
              <a:rPr lang="en-US" sz="1600" dirty="0"/>
              <a:t>Research phase</a:t>
            </a:r>
          </a:p>
          <a:p>
            <a:pPr lvl="1"/>
            <a:r>
              <a:rPr lang="en-US" sz="1600" dirty="0"/>
              <a:t>Developing and revising standards</a:t>
            </a:r>
          </a:p>
          <a:p>
            <a:pPr lvl="1"/>
            <a:r>
              <a:rPr lang="en-US" sz="1600" dirty="0"/>
              <a:t>Developing non-authoritative practical guidance</a:t>
            </a:r>
          </a:p>
          <a:p>
            <a:pPr lvl="1"/>
            <a:r>
              <a:rPr lang="en-US" sz="1600" dirty="0"/>
              <a:t>Maintenance of standards</a:t>
            </a:r>
          </a:p>
          <a:p>
            <a:pPr lvl="1"/>
            <a:r>
              <a:rPr lang="en-US" sz="1600" dirty="0"/>
              <a:t>Implementation activities</a:t>
            </a:r>
          </a:p>
          <a:p>
            <a:pPr lvl="1"/>
            <a:r>
              <a:rPr lang="en-US" sz="1600" dirty="0"/>
              <a:t>Ongoing interactions between activity streams</a:t>
            </a:r>
          </a:p>
          <a:p>
            <a:pPr marL="171450" lvl="1" indent="0">
              <a:buNone/>
            </a:pPr>
            <a:r>
              <a:rPr lang="en-US" sz="1600" i="1" dirty="0"/>
              <a:t>Outreach to support all phases</a:t>
            </a:r>
          </a:p>
          <a:p>
            <a:pPr marL="171450" lvl="1" indent="0">
              <a:buNone/>
            </a:pPr>
            <a:endParaRPr lang="en-US" sz="1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MS PGothic" charset="0"/>
              </a:rPr>
              <a:t>Page </a:t>
            </a:r>
            <a:fld id="{95158037-59F0-9C4B-B231-1C776117AADA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7</a:t>
            </a:fld>
            <a:endParaRPr lang="en-US" dirty="0">
              <a:latin typeface="Arial" panose="020B0604020202020204" pitchFamily="34" charset="0"/>
              <a:cs typeface="MS PGothic" charset="0"/>
            </a:endParaRPr>
          </a:p>
        </p:txBody>
      </p:sp>
      <p:pic>
        <p:nvPicPr>
          <p:cNvPr id="5" name="Picture 4" descr="C:\Users\jhout\Desktop\Diagram final 2.PNG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14951" y="901567"/>
            <a:ext cx="4006265" cy="391900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51087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Future Strategy – Supporting Future Proposed Strategic Direction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600"/>
              </a:spcBef>
            </a:pPr>
            <a:r>
              <a:rPr lang="en-US" sz="1800" dirty="0"/>
              <a:t>Board operations:</a:t>
            </a:r>
          </a:p>
          <a:p>
            <a:pPr lvl="1">
              <a:spcBef>
                <a:spcPts val="600"/>
              </a:spcBef>
            </a:pPr>
            <a:r>
              <a:rPr lang="en-US" sz="1600" dirty="0"/>
              <a:t>More strategic discussion at Board meetings</a:t>
            </a:r>
          </a:p>
          <a:p>
            <a:pPr marL="585788" lvl="3" indent="-285750">
              <a:spcBef>
                <a:spcPts val="600"/>
              </a:spcBef>
              <a:buFont typeface="Courier New" panose="02070309020205020404" pitchFamily="49" charset="0"/>
              <a:buChar char="o"/>
            </a:pPr>
            <a:r>
              <a:rPr lang="en-US" sz="1400" dirty="0"/>
              <a:t>Detailed drafting done by Staff and comments dealt with offline </a:t>
            </a:r>
          </a:p>
          <a:p>
            <a:pPr lvl="1">
              <a:spcBef>
                <a:spcPts val="600"/>
              </a:spcBef>
            </a:pPr>
            <a:r>
              <a:rPr lang="en-US" sz="1600" dirty="0"/>
              <a:t>For some activities, using another mechanism other than discussion and deliberation at a physical Board meeting (e.g., use of more Board teleconferences) </a:t>
            </a:r>
          </a:p>
          <a:p>
            <a:pPr lvl="1">
              <a:spcBef>
                <a:spcPts val="600"/>
              </a:spcBef>
            </a:pPr>
            <a:r>
              <a:rPr lang="en-US" sz="1600" dirty="0"/>
              <a:t>Enhancing the Board’s communication processes about the progress of its activities</a:t>
            </a:r>
          </a:p>
          <a:p>
            <a:pPr lvl="1">
              <a:spcBef>
                <a:spcPts val="600"/>
              </a:spcBef>
            </a:pPr>
            <a:r>
              <a:rPr lang="en-US" sz="1600" dirty="0"/>
              <a:t>Consideration given to whether measures or other indicators of success need to (or can effectively be) developed</a:t>
            </a:r>
          </a:p>
          <a:p>
            <a:pPr lvl="1">
              <a:spcBef>
                <a:spcPts val="600"/>
              </a:spcBef>
            </a:pPr>
            <a:r>
              <a:rPr lang="en-US" sz="1600" dirty="0"/>
              <a:t>Further consideration how others (e.g., NSS) can be leveraged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MS PGothic" charset="0"/>
              </a:rPr>
              <a:t>Page </a:t>
            </a:r>
            <a:fld id="{95158037-59F0-9C4B-B231-1C776117AADA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8</a:t>
            </a:fld>
            <a:endParaRPr lang="en-US" dirty="0">
              <a:latin typeface="Arial" panose="020B0604020202020204" pitchFamily="34" charset="0"/>
              <a:cs typeface="MS PGothic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36067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Perspectives from Sep 2018 </a:t>
            </a:r>
            <a:r>
              <a:rPr lang="en-US" smtClean="0"/>
              <a:t>CAG Meeting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35946"/>
            <a:ext cx="6981753" cy="3928559"/>
          </a:xfrm>
        </p:spPr>
        <p:txBody>
          <a:bodyPr/>
          <a:lstStyle/>
          <a:p>
            <a:pPr marL="129779" lvl="1" indent="-129779">
              <a:spcBef>
                <a:spcPts val="900"/>
              </a:spcBef>
              <a:buFont typeface="Arial"/>
              <a:buChar char="•"/>
            </a:pPr>
            <a:r>
              <a:rPr lang="en-US" sz="1800" dirty="0" smtClean="0"/>
              <a:t>Generally supported shifting some of the IAASB’s efforts </a:t>
            </a:r>
            <a:r>
              <a:rPr lang="en-US" sz="1800" dirty="0"/>
              <a:t>to implementation support</a:t>
            </a:r>
          </a:p>
          <a:p>
            <a:pPr lvl="1"/>
            <a:r>
              <a:rPr lang="en-US" sz="1600" dirty="0"/>
              <a:t>Board has </a:t>
            </a:r>
            <a:r>
              <a:rPr lang="en-US" sz="1600" dirty="0" smtClean="0"/>
              <a:t>(</a:t>
            </a:r>
            <a:r>
              <a:rPr lang="en-US" sz="1600" dirty="0"/>
              <a:t>with other stakeholders</a:t>
            </a:r>
            <a:r>
              <a:rPr lang="en-US" sz="1600" dirty="0" smtClean="0"/>
              <a:t>) </a:t>
            </a:r>
            <a:r>
              <a:rPr lang="en-US" sz="1600" dirty="0"/>
              <a:t>shared</a:t>
            </a:r>
            <a:r>
              <a:rPr lang="en-US" sz="1600" dirty="0" smtClean="0"/>
              <a:t> </a:t>
            </a:r>
            <a:r>
              <a:rPr lang="en-US" sz="1600" dirty="0"/>
              <a:t>responsibility to support </a:t>
            </a:r>
            <a:r>
              <a:rPr lang="en-US" sz="1600" dirty="0" smtClean="0"/>
              <a:t>the implementation of its standards</a:t>
            </a:r>
            <a:endParaRPr lang="en-US" sz="1600" dirty="0"/>
          </a:p>
          <a:p>
            <a:pPr lvl="1"/>
            <a:r>
              <a:rPr lang="en-US" sz="1600" dirty="0" smtClean="0"/>
              <a:t>Board may </a:t>
            </a:r>
            <a:r>
              <a:rPr lang="en-US" sz="1600" dirty="0"/>
              <a:t>identify new </a:t>
            </a:r>
            <a:r>
              <a:rPr lang="en-US" sz="1600" dirty="0" smtClean="0"/>
              <a:t>projects through implementation activities</a:t>
            </a:r>
          </a:p>
          <a:p>
            <a:pPr lvl="1"/>
            <a:r>
              <a:rPr lang="en-US" sz="1600" dirty="0" smtClean="0"/>
              <a:t>Implementation </a:t>
            </a:r>
            <a:r>
              <a:rPr lang="en-US" sz="1600" dirty="0"/>
              <a:t>activities will </a:t>
            </a:r>
            <a:r>
              <a:rPr lang="en-US" sz="1600" dirty="0" smtClean="0"/>
              <a:t>require time from the Board and Staff</a:t>
            </a:r>
          </a:p>
          <a:p>
            <a:pPr lvl="2"/>
            <a:r>
              <a:rPr lang="en-US" sz="1450" dirty="0" smtClean="0"/>
              <a:t>Need to balance resources between developing standards </a:t>
            </a:r>
            <a:r>
              <a:rPr lang="en-US" sz="1450" smtClean="0"/>
              <a:t>and </a:t>
            </a:r>
            <a:r>
              <a:rPr lang="en-US" sz="1450" smtClean="0"/>
              <a:t>implementation </a:t>
            </a:r>
            <a:r>
              <a:rPr lang="en-US" sz="1450" dirty="0" smtClean="0"/>
              <a:t>support</a:t>
            </a:r>
            <a:endParaRPr lang="en-US" sz="1450" dirty="0"/>
          </a:p>
          <a:p>
            <a:pPr marL="129779" lvl="1" indent="-129779">
              <a:spcBef>
                <a:spcPts val="900"/>
              </a:spcBef>
              <a:buFont typeface="Arial"/>
              <a:buChar char="•"/>
            </a:pPr>
            <a:r>
              <a:rPr lang="en-US" sz="1800" dirty="0" smtClean="0"/>
              <a:t>Supported collaborating </a:t>
            </a:r>
            <a:r>
              <a:rPr lang="en-US" sz="1800" dirty="0"/>
              <a:t>with other standard </a:t>
            </a:r>
            <a:r>
              <a:rPr lang="en-US" sz="1800" dirty="0" smtClean="0"/>
              <a:t>setters</a:t>
            </a:r>
          </a:p>
          <a:p>
            <a:pPr marL="129779" lvl="1" indent="-129779">
              <a:spcBef>
                <a:spcPts val="900"/>
              </a:spcBef>
              <a:buFont typeface="Arial"/>
              <a:buChar char="•"/>
            </a:pPr>
            <a:r>
              <a:rPr lang="en-US" sz="1800" dirty="0"/>
              <a:t>Highlighted the importance of the research </a:t>
            </a:r>
            <a:r>
              <a:rPr lang="en-US" sz="1800" dirty="0" smtClean="0"/>
              <a:t>phase</a:t>
            </a:r>
          </a:p>
          <a:p>
            <a:pPr marL="129779" lvl="1" indent="-129779">
              <a:spcBef>
                <a:spcPts val="900"/>
              </a:spcBef>
              <a:buFont typeface="Arial"/>
              <a:buChar char="•"/>
            </a:pPr>
            <a:r>
              <a:rPr lang="en-US" sz="1800" dirty="0" smtClean="0"/>
              <a:t>Noted strategic importance of being transparent about what we are doing in relation to technology</a:t>
            </a:r>
            <a:endParaRPr lang="en-US" sz="1800" dirty="0"/>
          </a:p>
          <a:p>
            <a:pPr marL="129779" lvl="1" indent="-129779">
              <a:spcBef>
                <a:spcPts val="900"/>
              </a:spcBef>
              <a:buFont typeface="Arial"/>
              <a:buChar char="•"/>
            </a:pPr>
            <a:endParaRPr lang="en-US" sz="1800" dirty="0"/>
          </a:p>
          <a:p>
            <a:pPr lvl="1"/>
            <a:endParaRPr lang="en-US" sz="1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smtClean="0">
                <a:latin typeface="Arial" panose="020B0604020202020204" pitchFamily="34" charset="0"/>
                <a:cs typeface="MS PGothic" charset="0"/>
              </a:rPr>
              <a:t>Page </a:t>
            </a:r>
            <a:fld id="{95158037-59F0-9C4B-B231-1C776117AADA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9</a:t>
            </a:fld>
            <a:endParaRPr lang="en-US" dirty="0">
              <a:latin typeface="Arial" panose="020B0604020202020204" pitchFamily="34" charset="0"/>
              <a:cs typeface="MS PGothic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9257" y="845816"/>
            <a:ext cx="1444743" cy="2908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78183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Matters for IAASB Consideration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1453" y="994877"/>
            <a:ext cx="5974702" cy="3188677"/>
          </a:xfrm>
        </p:spPr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en-US" sz="1600" dirty="0" smtClean="0"/>
              <a:t>The IAASB is asked for views: </a:t>
            </a:r>
          </a:p>
          <a:p>
            <a:pPr marL="694944" lvl="1" indent="-342900">
              <a:buAutoNum type="alphaLcParenBoth"/>
            </a:pPr>
            <a:r>
              <a:rPr lang="en-US" sz="1600" dirty="0" smtClean="0"/>
              <a:t>On the summary of responses as included in </a:t>
            </a:r>
            <a:r>
              <a:rPr lang="en-US" sz="1600" b="1" dirty="0" smtClean="0"/>
              <a:t>Agenda Item 3-A</a:t>
            </a:r>
            <a:r>
              <a:rPr lang="en-US" sz="1600" dirty="0" smtClean="0"/>
              <a:t> and any overall takeaways from the responses to the survey. </a:t>
            </a:r>
          </a:p>
          <a:p>
            <a:pPr marL="694944" lvl="1" indent="-342900">
              <a:buAutoNum type="alphaLcParenBoth"/>
            </a:pPr>
            <a:r>
              <a:rPr lang="en-US" sz="1600" dirty="0" smtClean="0"/>
              <a:t>On the recommendations for strategic direction described in paragraphs 16-35 of </a:t>
            </a:r>
            <a:r>
              <a:rPr lang="en-US" sz="1600" b="1" dirty="0" smtClean="0"/>
              <a:t>Agenda Item 3</a:t>
            </a:r>
            <a:r>
              <a:rPr lang="en-US" sz="1600" dirty="0" smtClean="0"/>
              <a:t>. If Board members do not support such an approach, should the allocations to different categories be retained to help develop the work plans with specific projects? </a:t>
            </a:r>
          </a:p>
          <a:p>
            <a:pPr marL="347472" lvl="1" indent="-347472">
              <a:spcBef>
                <a:spcPts val="900"/>
              </a:spcBef>
              <a:buNone/>
            </a:pPr>
            <a:r>
              <a:rPr lang="en-US" sz="1600" dirty="0" smtClean="0"/>
              <a:t>2. 	If Board members support the strategic direction in paragraphs 16-35 </a:t>
            </a:r>
            <a:r>
              <a:rPr lang="en-US" sz="1600" b="1" dirty="0"/>
              <a:t>Agenda Item </a:t>
            </a:r>
            <a:r>
              <a:rPr lang="en-US" sz="1600" b="1" dirty="0" smtClean="0"/>
              <a:t>3</a:t>
            </a:r>
            <a:r>
              <a:rPr lang="en-US" sz="1600" dirty="0" smtClean="0"/>
              <a:t>, Board members are asked for views on the specific activity streams, in particular the ‘research phase’, the ‘maintenance stream’, and the ‘implementation stream.’</a:t>
            </a:r>
          </a:p>
          <a:p>
            <a:pPr marL="0" lvl="1" indent="0">
              <a:spcBef>
                <a:spcPts val="900"/>
              </a:spcBef>
              <a:buNone/>
            </a:pPr>
            <a:endParaRPr lang="en-US" sz="1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smtClean="0">
                <a:latin typeface="Arial" panose="020B0604020202020204" pitchFamily="34" charset="0"/>
                <a:cs typeface="MS PGothic" charset="0"/>
              </a:rPr>
              <a:t>Page </a:t>
            </a:r>
            <a:fld id="{95158037-59F0-9C4B-B231-1C776117AADA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10</a:t>
            </a:fld>
            <a:endParaRPr lang="en-US" dirty="0">
              <a:latin typeface="Arial" panose="020B0604020202020204" pitchFamily="34" charset="0"/>
              <a:cs typeface="MS PGothic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0" y="1674815"/>
            <a:ext cx="1828800" cy="18288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0466852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067371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34">
      <a:dk1>
        <a:sysClr val="windowText" lastClr="000000"/>
      </a:dk1>
      <a:lt1>
        <a:sysClr val="window" lastClr="FFFFFF"/>
      </a:lt1>
      <a:dk2>
        <a:srgbClr val="005BAA"/>
      </a:dk2>
      <a:lt2>
        <a:srgbClr val="00C0F3"/>
      </a:lt2>
      <a:accent1>
        <a:srgbClr val="F15A22"/>
      </a:accent1>
      <a:accent2>
        <a:srgbClr val="FAA61A"/>
      </a:accent2>
      <a:accent3>
        <a:srgbClr val="005BAA"/>
      </a:accent3>
      <a:accent4>
        <a:srgbClr val="00C0F3"/>
      </a:accent4>
      <a:accent5>
        <a:srgbClr val="0D9C4A"/>
      </a:accent5>
      <a:accent6>
        <a:srgbClr val="8DC63F"/>
      </a:accent6>
      <a:hlink>
        <a:srgbClr val="005BAA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IAASB_Powerpoint_template_2016_Widescreen" id="{551C3455-CE53-451D-A561-326C993C81B9}" vid="{313783E5-FB8C-4610-BC8F-F48741466E0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IAASB_Powerpoint_template_2016_Widescreen</Template>
  <TotalTime>9852</TotalTime>
  <Words>794</Words>
  <Application>Microsoft Office PowerPoint</Application>
  <PresentationFormat>On-screen Show (16:9)</PresentationFormat>
  <Paragraphs>98</Paragraphs>
  <Slides>11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MS PGothic</vt:lpstr>
      <vt:lpstr>Arial</vt:lpstr>
      <vt:lpstr>Arial Narrow</vt:lpstr>
      <vt:lpstr>Calibri</vt:lpstr>
      <vt:lpstr>Courier New</vt:lpstr>
      <vt:lpstr>Times New Roman</vt:lpstr>
      <vt:lpstr>Office Theme</vt:lpstr>
      <vt:lpstr>The IAASB’s Future Strategy </vt:lpstr>
      <vt:lpstr>Strategy Survey</vt:lpstr>
      <vt:lpstr>Strategy Survey - Responses</vt:lpstr>
      <vt:lpstr>Strategy Survey – What We Heard</vt:lpstr>
      <vt:lpstr>Strategy Survey – What We Heard</vt:lpstr>
      <vt:lpstr>Targeted Outreach – What We Heard (To Date)</vt:lpstr>
      <vt:lpstr>Moving Forward on Strategic Direction</vt:lpstr>
      <vt:lpstr>Future Strategy – Supporting Future Proposed Strategic Direction</vt:lpstr>
      <vt:lpstr>Perspectives from Sep 2018 CAG Meeting</vt:lpstr>
      <vt:lpstr>Matters for IAASB Consideration 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Bradley Williams</dc:creator>
  <cp:lastModifiedBy>Jasper van den Hout</cp:lastModifiedBy>
  <cp:revision>196</cp:revision>
  <cp:lastPrinted>2016-03-04T17:09:52Z</cp:lastPrinted>
  <dcterms:created xsi:type="dcterms:W3CDTF">2016-11-09T14:56:20Z</dcterms:created>
  <dcterms:modified xsi:type="dcterms:W3CDTF">2018-09-17T19:27:33Z</dcterms:modified>
</cp:coreProperties>
</file>