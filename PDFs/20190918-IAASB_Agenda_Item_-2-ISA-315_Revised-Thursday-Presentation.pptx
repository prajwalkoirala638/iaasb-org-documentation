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457" r:id="rId3"/>
    <p:sldId id="459" r:id="rId4"/>
    <p:sldId id="460" r:id="rId5"/>
    <p:sldId id="461" r:id="rId6"/>
    <p:sldId id="458" r:id="rId7"/>
    <p:sldId id="259" r:id="rId8"/>
  </p:sldIdLst>
  <p:sldSz cx="9144000" cy="5143500" type="screen16x9"/>
  <p:notesSz cx="6950075" cy="9236075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etsman, Megan" initials="MZ" lastIdx="8" clrIdx="0">
    <p:extLst>
      <p:ext uri="{19B8F6BF-5375-455C-9EA6-DF929625EA0E}">
        <p15:presenceInfo xmlns:p15="http://schemas.microsoft.com/office/powerpoint/2012/main" userId="Zietsman, Megan" providerId="None"/>
      </p:ext>
    </p:extLst>
  </p:cmAuthor>
  <p:cmAuthor id="2" name="Kathleen Healy" initials="KH" lastIdx="13" clrIdx="1">
    <p:extLst>
      <p:ext uri="{19B8F6BF-5375-455C-9EA6-DF929625EA0E}">
        <p15:presenceInfo xmlns:p15="http://schemas.microsoft.com/office/powerpoint/2012/main" userId="S-1-5-21-1801674531-1972579041-839522115-4130" providerId="AD"/>
      </p:ext>
    </p:extLst>
  </p:cmAuthor>
  <p:cmAuthor id="3" name="Megan Zietsman" initials="MZ" lastIdx="6" clrIdx="2">
    <p:extLst>
      <p:ext uri="{19B8F6BF-5375-455C-9EA6-DF929625EA0E}">
        <p15:presenceInfo xmlns:p15="http://schemas.microsoft.com/office/powerpoint/2012/main" userId="Megan Zietsman" providerId="None"/>
      </p:ext>
    </p:extLst>
  </p:cmAuthor>
  <p:cmAuthor id="4" name="Beverley Bahlmann" initials="BB" lastIdx="1" clrIdx="3">
    <p:extLst>
      <p:ext uri="{19B8F6BF-5375-455C-9EA6-DF929625EA0E}">
        <p15:presenceInfo xmlns:p15="http://schemas.microsoft.com/office/powerpoint/2012/main" userId="S-1-5-21-1801674531-1972579041-839522115-428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00CC66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16" autoAdjust="0"/>
    <p:restoredTop sz="75333" autoAdjust="0"/>
  </p:normalViewPr>
  <p:slideViewPr>
    <p:cSldViewPr snapToGrid="0" snapToObjects="1">
      <p:cViewPr varScale="1">
        <p:scale>
          <a:sx n="67" d="100"/>
          <a:sy n="67" d="100"/>
        </p:scale>
        <p:origin x="1300" y="56"/>
      </p:cViewPr>
      <p:guideLst>
        <p:guide orient="horz" pos="162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1" d="100"/>
        <a:sy n="201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79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1E59F908-4FD1-BC49-B361-D833AB0555FC}" type="datetimeFigureOut">
              <a:rPr lang="en-US" smtClean="0"/>
              <a:t>9/20/2019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EA8AE4AE-12A8-4846-97A9-6CB7DEDDF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285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745D6F9-5033-7542-84AC-41926A84456D}" type="datetimeFigureOut">
              <a:rPr lang="en-US" smtClean="0"/>
              <a:t>9/20/2019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6875" y="692150"/>
            <a:ext cx="61563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4D410189-AC31-7546-878A-F48FDE4A2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391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46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118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7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7"/>
            <a:ext cx="9144000" cy="23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3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1" y="1"/>
            <a:ext cx="9156700" cy="237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7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2900"/>
            <a:ext cx="2776694" cy="487674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201152"/>
            <a:ext cx="9144000" cy="1236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588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642938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28852" y="4883295"/>
            <a:ext cx="2757948" cy="228309"/>
          </a:xfrm>
        </p:spPr>
        <p:txBody>
          <a:bodyPr/>
          <a:lstStyle>
            <a:lvl1pPr marL="0" marR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75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r>
              <a:rPr lang="en-US" dirty="0">
                <a:latin typeface="Arial" panose="020B0604020202020204" pitchFamily="34" charset="0"/>
                <a:cs typeface="MS PGothic" charset="0"/>
              </a:rPr>
              <a:t>  |  Confidential and Proprietary Information</a:t>
            </a:r>
          </a:p>
        </p:txBody>
      </p:sp>
    </p:spTree>
    <p:extLst>
      <p:ext uri="{BB962C8B-B14F-4D97-AF65-F5344CB8AC3E}">
        <p14:creationId xmlns:p14="http://schemas.microsoft.com/office/powerpoint/2010/main" val="257666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208161"/>
            <a:ext cx="9144000" cy="39391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4299439"/>
            <a:ext cx="9144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4299438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193993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06012" y="4873085"/>
            <a:ext cx="2080788" cy="251831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203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13017"/>
            <a:ext cx="4040188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02736"/>
            <a:ext cx="4040188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013017"/>
            <a:ext cx="4041775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502736"/>
            <a:ext cx="4041775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498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04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77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8002" y="1561874"/>
            <a:ext cx="4393108" cy="73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3821898" y="3756887"/>
            <a:ext cx="1310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350" u="none" dirty="0">
                <a:solidFill>
                  <a:srgbClr val="1F497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1500" u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381000" y="4822821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59" y="4168326"/>
            <a:ext cx="577805" cy="1931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02" y="4175640"/>
            <a:ext cx="437481" cy="1931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292" y="4165672"/>
            <a:ext cx="577805" cy="1931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897" y="4168326"/>
            <a:ext cx="577805" cy="2344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511" y="4168326"/>
            <a:ext cx="577805" cy="1931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213" y="4165202"/>
            <a:ext cx="577805" cy="19315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98501" y="4608029"/>
            <a:ext cx="81280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545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427437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7437"/>
            <a:ext cx="8229600" cy="40387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1886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4985" y="4883295"/>
            <a:ext cx="20574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289E18CF-C690-4C5C-8392-CD967FC1C437}" type="datetime1">
              <a:rPr lang="en-US" smtClean="0"/>
              <a:t>9/20/2019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16148" y="4883295"/>
            <a:ext cx="30861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06012" y="4883295"/>
            <a:ext cx="2080788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75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381000" y="4822228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368" y="55409"/>
            <a:ext cx="1787432" cy="31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3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0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29779" indent="-129779" algn="l" defTabSz="342900" rtl="0" eaLnBrk="1" latinLnBrk="0" hangingPunct="1">
        <a:spcBef>
          <a:spcPts val="900"/>
        </a:spcBef>
        <a:buFont typeface="Arial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42900" indent="-171450" algn="l" defTabSz="342900" rtl="0" eaLnBrk="1" latinLnBrk="0" hangingPunct="1">
        <a:spcBef>
          <a:spcPts val="450"/>
        </a:spcBef>
        <a:spcAft>
          <a:spcPts val="300"/>
        </a:spcAft>
        <a:buFont typeface="Arial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72679" indent="-128588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81534"/>
            <a:ext cx="7893383" cy="1280960"/>
          </a:xfrm>
        </p:spPr>
        <p:txBody>
          <a:bodyPr>
            <a:normAutofit/>
          </a:bodyPr>
          <a:lstStyle/>
          <a:p>
            <a:r>
              <a:rPr lang="en-US" dirty="0"/>
              <a:t>ISA 315 (Revised) </a:t>
            </a:r>
            <a:br>
              <a:rPr lang="en-US" dirty="0"/>
            </a:br>
            <a:r>
              <a:rPr lang="en-US" dirty="0"/>
              <a:t>Identifying and Assessing the Risks of Material Misstatement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85801" y="3603009"/>
            <a:ext cx="5880099" cy="103756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1200" dirty="0"/>
              <a:t>Fiona Campbell, ISA 315 Task Force Chair &amp; Deputy Chair of the IAASB</a:t>
            </a:r>
          </a:p>
          <a:p>
            <a:pPr>
              <a:spcBef>
                <a:spcPts val="300"/>
              </a:spcBef>
            </a:pPr>
            <a:r>
              <a:rPr lang="en-US" sz="1200" dirty="0"/>
              <a:t>IAASB Meeting – New York, USA  </a:t>
            </a:r>
          </a:p>
          <a:p>
            <a:pPr>
              <a:spcBef>
                <a:spcPts val="300"/>
              </a:spcBef>
            </a:pPr>
            <a:r>
              <a:rPr lang="en-US" sz="1200" dirty="0"/>
              <a:t>Agenda Item 2</a:t>
            </a:r>
          </a:p>
          <a:p>
            <a:pPr>
              <a:spcBef>
                <a:spcPts val="300"/>
              </a:spcBef>
            </a:pPr>
            <a:r>
              <a:rPr lang="en-US" sz="1200" dirty="0"/>
              <a:t>Thursday, September 19, 2019</a:t>
            </a:r>
          </a:p>
        </p:txBody>
      </p:sp>
    </p:spTree>
    <p:extLst>
      <p:ext uri="{BB962C8B-B14F-4D97-AF65-F5344CB8AC3E}">
        <p14:creationId xmlns:p14="http://schemas.microsoft.com/office/powerpoint/2010/main" val="4240407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17DA8-9326-4A6C-B528-FB5D8E504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has the Task Force done?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04881-723B-4018-822A-091EE7DAF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1600" dirty="0"/>
              <a:t>Definitions and Requirements</a:t>
            </a:r>
          </a:p>
          <a:p>
            <a:r>
              <a:rPr lang="en-AU" sz="1600" dirty="0"/>
              <a:t>Application Material</a:t>
            </a:r>
          </a:p>
          <a:p>
            <a:r>
              <a:rPr lang="en-AU" sz="1600" dirty="0"/>
              <a:t>Appendices</a:t>
            </a:r>
          </a:p>
          <a:p>
            <a:endParaRPr lang="en-AU" sz="1600" dirty="0"/>
          </a:p>
          <a:p>
            <a:r>
              <a:rPr lang="en-AU" sz="1600" dirty="0"/>
              <a:t>Conforming amendments will come later tonight</a:t>
            </a:r>
          </a:p>
          <a:p>
            <a:endParaRPr lang="en-AU" sz="1650" dirty="0"/>
          </a:p>
          <a:p>
            <a:pPr lvl="1"/>
            <a:endParaRPr lang="en-AU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5AAA5-10AC-42C5-8DED-595A3FAB9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r>
              <a:rPr lang="en-US">
                <a:latin typeface="Arial" panose="020B0604020202020204" pitchFamily="34" charset="0"/>
                <a:cs typeface="MS PGothic" charset="0"/>
              </a:rPr>
              <a:t>  |  Confidential and Proprietary Information</a:t>
            </a:r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866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8AF5E-8170-4135-9192-5E2DABA06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Conforming Amendment to ISA 200 A15(a)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6958C-CF5C-4637-B843-AF8F716A5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1600" b="1" dirty="0"/>
              <a:t>Risk of Material Misstatement (Ref: Para. 13(n))</a:t>
            </a:r>
          </a:p>
          <a:p>
            <a:pPr marL="0" indent="0">
              <a:buNone/>
            </a:pPr>
            <a:r>
              <a:rPr lang="en-AU" sz="1600" dirty="0"/>
              <a:t>A15a.	 For the purposes of the ISAs, a risk of material misstatement exists when there is:</a:t>
            </a:r>
          </a:p>
          <a:p>
            <a:pPr marL="0" indent="0">
              <a:buNone/>
            </a:pPr>
            <a:r>
              <a:rPr lang="en-AU" sz="1600" dirty="0"/>
              <a:t>(a)	 A reasonable possibility of a misstatement occurring (i.e., its likelihood); and </a:t>
            </a:r>
          </a:p>
          <a:p>
            <a:pPr marL="0" indent="0">
              <a:buNone/>
            </a:pPr>
            <a:r>
              <a:rPr lang="en-AU" sz="1600" dirty="0"/>
              <a:t>(b)	If it were to occur, have a reasonable possibility of being material (i.e., its magnitude).</a:t>
            </a:r>
          </a:p>
          <a:p>
            <a:endParaRPr lang="en-CA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40386-4D6D-4F7B-A671-78017C565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r>
              <a:rPr lang="en-US">
                <a:latin typeface="Arial" panose="020B0604020202020204" pitchFamily="34" charset="0"/>
                <a:cs typeface="MS PGothic" charset="0"/>
              </a:rPr>
              <a:t>  |  Confidential and Proprietary Information</a:t>
            </a:r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829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69CB2-C480-4EE0-835F-0F7A19AA6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Fatal Flaw Alternative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114D4-D8DD-438A-8267-4893AC24A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1600" b="1" dirty="0"/>
              <a:t>Risk of Material Misstatement (Ref: Para. 13(n))</a:t>
            </a:r>
          </a:p>
          <a:p>
            <a:pPr marL="0" indent="0">
              <a:buNone/>
            </a:pPr>
            <a:r>
              <a:rPr lang="en-AU" sz="1600" dirty="0"/>
              <a:t>A15a.	 For</a:t>
            </a:r>
            <a:r>
              <a:rPr lang="en-CA" sz="1600" dirty="0"/>
              <a:t> the purposes of the ISAs, a risk of material misstatement exists when: </a:t>
            </a:r>
            <a:endParaRPr lang="en-AU" sz="1600" dirty="0"/>
          </a:p>
          <a:p>
            <a:pPr marL="0" indent="0">
              <a:buNone/>
            </a:pPr>
            <a:r>
              <a:rPr lang="en-CA" sz="1600" dirty="0"/>
              <a:t>(a)	there is a reasonable possibility of a misstatement occurring (i.e., its likelihood) and </a:t>
            </a:r>
            <a:endParaRPr lang="en-AU" sz="1600" dirty="0"/>
          </a:p>
          <a:p>
            <a:pPr marL="0" indent="0">
              <a:buNone/>
            </a:pPr>
            <a:r>
              <a:rPr lang="en-CA" sz="1600" dirty="0"/>
              <a:t>(b)	that misstatement is material (i.e., its magnitude).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6432F-369C-4D42-8789-8A743A315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r>
              <a:rPr lang="en-US">
                <a:latin typeface="Arial" panose="020B0604020202020204" pitchFamily="34" charset="0"/>
                <a:cs typeface="MS PGothic" charset="0"/>
              </a:rPr>
              <a:t>  |  Confidential and Proprietary Information</a:t>
            </a:r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889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417A8-B0F2-41BD-BAC1-40A8656A7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TF Needs Clear Direction – Reactions Please….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D7E1A-7DC0-4EA1-9AE2-7E3643414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1800" dirty="0"/>
              <a:t>Options:</a:t>
            </a:r>
          </a:p>
          <a:p>
            <a:r>
              <a:rPr lang="en-AU" sz="1800" dirty="0"/>
              <a:t>	1. Leave the words as they have been drafted by the TF</a:t>
            </a:r>
          </a:p>
          <a:p>
            <a:r>
              <a:rPr lang="en-AU" sz="1800" dirty="0"/>
              <a:t>	2. Remove entirely (not the TF preferred option)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C36C0-342F-40D1-A8EA-8A28E353E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r>
              <a:rPr lang="en-US">
                <a:latin typeface="Arial" panose="020B0604020202020204" pitchFamily="34" charset="0"/>
                <a:cs typeface="MS PGothic" charset="0"/>
              </a:rPr>
              <a:t>  |  Confidential and Proprietary Information</a:t>
            </a:r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915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0E9D4-3203-4ACF-A9B1-A2DFC6E2C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61A35-E7FC-4903-8302-6BE3263D8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1600" dirty="0"/>
              <a:t>Enjoy an early dinner</a:t>
            </a:r>
          </a:p>
          <a:p>
            <a:endParaRPr lang="en-AU" sz="1600" dirty="0"/>
          </a:p>
          <a:p>
            <a:r>
              <a:rPr lang="en-AU" sz="1600" dirty="0"/>
              <a:t>Full standard (excluding CA) no later than 8pm</a:t>
            </a:r>
          </a:p>
          <a:p>
            <a:endParaRPr lang="en-AU" sz="1600" dirty="0"/>
          </a:p>
          <a:p>
            <a:r>
              <a:rPr lang="en-AU" sz="1600" dirty="0"/>
              <a:t>Conforming Amendments – later tonight</a:t>
            </a:r>
          </a:p>
          <a:p>
            <a:endParaRPr lang="en-AU" sz="1600" dirty="0"/>
          </a:p>
          <a:p>
            <a:r>
              <a:rPr lang="en-AU" sz="1600" dirty="0"/>
              <a:t>Taskforce members and staff will be available during tomorrow’s (Friday) reading time 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FE01E-BB93-4F35-9EF4-A1B0ECAD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r>
              <a:rPr lang="en-US">
                <a:latin typeface="Arial" panose="020B0604020202020204" pitchFamily="34" charset="0"/>
                <a:cs typeface="MS PGothic" charset="0"/>
              </a:rPr>
              <a:t>  |  Confidential and Proprietary Information</a:t>
            </a:r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760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73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CustomMKOP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KProdID">
    <vt:lpwstr>ZMOutlook</vt:lpwstr>
  </property>
  <property fmtid="{D5CDD505-2E9C-101B-9397-08002B2CF9AE}" pid="3" name="SizeBefore">
    <vt:lpwstr>285764</vt:lpwstr>
  </property>
  <property fmtid="{D5CDD505-2E9C-101B-9397-08002B2CF9AE}" pid="4" name="OptimizationTime">
    <vt:lpwstr>20190920_0500</vt:lpwstr>
  </property>
</Properties>
</file>

<file path=docProps/app.xml><?xml version="1.0" encoding="utf-8"?>
<Properties xmlns="http://schemas.openxmlformats.org/officeDocument/2006/extended-properties" xmlns:vt="http://schemas.openxmlformats.org/officeDocument/2006/docPropsVTypes">
  <Template>IAASB_Powerpoint_template_2016_Widescreen</Template>
  <TotalTime>3522</TotalTime>
  <Words>178</Words>
  <Application>Microsoft Office PowerPoint</Application>
  <PresentationFormat>On-screen Show (16:9)</PresentationFormat>
  <Paragraphs>40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MS PGothic</vt:lpstr>
      <vt:lpstr>Arial</vt:lpstr>
      <vt:lpstr>Arial Narrow</vt:lpstr>
      <vt:lpstr>Calibri</vt:lpstr>
      <vt:lpstr>Times New Roman</vt:lpstr>
      <vt:lpstr>Office Theme</vt:lpstr>
      <vt:lpstr>ISA 315 (Revised)  Identifying and Assessing the Risks of Material Misstatement</vt:lpstr>
      <vt:lpstr>What has the Task Force done?</vt:lpstr>
      <vt:lpstr>Conforming Amendment to ISA 200 A15(a)</vt:lpstr>
      <vt:lpstr>Fatal Flaw Alternative</vt:lpstr>
      <vt:lpstr>TF Needs Clear Direction – Reactions Please….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Bradley Williams</dc:creator>
  <cp:lastModifiedBy>Fiona M Campbell</cp:lastModifiedBy>
  <cp:revision>300</cp:revision>
  <cp:lastPrinted>2019-06-15T13:32:24Z</cp:lastPrinted>
  <dcterms:created xsi:type="dcterms:W3CDTF">2016-11-09T14:56:20Z</dcterms:created>
  <dcterms:modified xsi:type="dcterms:W3CDTF">2019-09-19T18:53:46Z</dcterms:modified>
</cp:coreProperties>
</file>