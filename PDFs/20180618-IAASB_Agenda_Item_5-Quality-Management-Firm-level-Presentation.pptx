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2"/>
  </p:notesMasterIdLst>
  <p:handoutMasterIdLst>
    <p:handoutMasterId r:id="rId13"/>
  </p:handoutMasterIdLst>
  <p:sldIdLst>
    <p:sldId id="256" r:id="rId2"/>
    <p:sldId id="366" r:id="rId3"/>
    <p:sldId id="338" r:id="rId4"/>
    <p:sldId id="369" r:id="rId5"/>
    <p:sldId id="370" r:id="rId6"/>
    <p:sldId id="367" r:id="rId7"/>
    <p:sldId id="371" r:id="rId8"/>
    <p:sldId id="368" r:id="rId9"/>
    <p:sldId id="365" r:id="rId10"/>
    <p:sldId id="259" r:id="rId11"/>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Natalie Klonaridis" initials="NK" lastIdx="12" clrIdx="2">
    <p:extLst>
      <p:ext uri="{19B8F6BF-5375-455C-9EA6-DF929625EA0E}">
        <p15:presenceInfo xmlns:p15="http://schemas.microsoft.com/office/powerpoint/2012/main" userId="S-1-5-21-1801674531-1972579041-839522115-133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DDEA"/>
    <a:srgbClr val="ACC5DC"/>
    <a:srgbClr val="6398EF"/>
    <a:srgbClr val="96BAF4"/>
    <a:srgbClr val="808080"/>
    <a:srgbClr val="1D9E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43" autoAdjust="0"/>
    <p:restoredTop sz="76684" autoAdjust="0"/>
  </p:normalViewPr>
  <p:slideViewPr>
    <p:cSldViewPr snapToGrid="0" snapToObjects="1">
      <p:cViewPr varScale="1">
        <p:scale>
          <a:sx n="86" d="100"/>
          <a:sy n="86" d="100"/>
        </p:scale>
        <p:origin x="1320" y="58"/>
      </p:cViewPr>
      <p:guideLst>
        <p:guide orient="horz" pos="1620"/>
        <p:guide pos="2880"/>
      </p:guideLst>
    </p:cSldViewPr>
  </p:slideViewPr>
  <p:outlineViewPr>
    <p:cViewPr>
      <p:scale>
        <a:sx n="66" d="100"/>
        <a:sy n="66" d="100"/>
      </p:scale>
      <p:origin x="0" y="0"/>
    </p:cViewPr>
  </p:outlineViewPr>
  <p:notesTextViewPr>
    <p:cViewPr>
      <p:scale>
        <a:sx n="100" d="100"/>
        <a:sy n="100" d="100"/>
      </p:scale>
      <p:origin x="0" y="0"/>
    </p:cViewPr>
  </p:notesTextViewPr>
  <p:sorterViewPr>
    <p:cViewPr>
      <p:scale>
        <a:sx n="201" d="100"/>
        <a:sy n="201" d="100"/>
      </p:scale>
      <p:origin x="0" y="0"/>
    </p:cViewPr>
  </p:sorterViewPr>
  <p:notesViewPr>
    <p:cSldViewPr snapToGrid="0" snapToObjects="1">
      <p:cViewPr varScale="1">
        <p:scale>
          <a:sx n="88" d="100"/>
          <a:sy n="88" d="100"/>
        </p:scale>
        <p:origin x="3798"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6/19/2018</a:t>
            </a:fld>
            <a:endParaRPr lang="en-US"/>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6/19/2018</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410189-AC31-7546-878A-F48FDE4A29F5}" type="slidenum">
              <a:rPr lang="en-US" smtClean="0"/>
              <a:t>1</a:t>
            </a:fld>
            <a:endParaRPr lang="en-US"/>
          </a:p>
        </p:txBody>
      </p:sp>
    </p:spTree>
    <p:extLst>
      <p:ext uri="{BB962C8B-B14F-4D97-AF65-F5344CB8AC3E}">
        <p14:creationId xmlns:p14="http://schemas.microsoft.com/office/powerpoint/2010/main" val="4171193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a:t>
            </a:fld>
            <a:endParaRPr lang="en-US" sz="1200"/>
          </a:p>
        </p:txBody>
      </p:sp>
    </p:spTree>
    <p:extLst>
      <p:ext uri="{BB962C8B-B14F-4D97-AF65-F5344CB8AC3E}">
        <p14:creationId xmlns:p14="http://schemas.microsoft.com/office/powerpoint/2010/main" val="2985299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3</a:t>
            </a:fld>
            <a:endParaRPr lang="en-US" sz="1200"/>
          </a:p>
        </p:txBody>
      </p:sp>
    </p:spTree>
    <p:extLst>
      <p:ext uri="{BB962C8B-B14F-4D97-AF65-F5344CB8AC3E}">
        <p14:creationId xmlns:p14="http://schemas.microsoft.com/office/powerpoint/2010/main" val="3255479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2196370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2839489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6</a:t>
            </a:fld>
            <a:endParaRPr lang="en-US" sz="1200"/>
          </a:p>
        </p:txBody>
      </p:sp>
    </p:spTree>
    <p:extLst>
      <p:ext uri="{BB962C8B-B14F-4D97-AF65-F5344CB8AC3E}">
        <p14:creationId xmlns:p14="http://schemas.microsoft.com/office/powerpoint/2010/main" val="2269055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7</a:t>
            </a:fld>
            <a:endParaRPr lang="en-US" sz="1200"/>
          </a:p>
        </p:txBody>
      </p:sp>
    </p:spTree>
    <p:extLst>
      <p:ext uri="{BB962C8B-B14F-4D97-AF65-F5344CB8AC3E}">
        <p14:creationId xmlns:p14="http://schemas.microsoft.com/office/powerpoint/2010/main" val="2029739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8</a:t>
            </a:fld>
            <a:endParaRPr lang="en-US" sz="1200"/>
          </a:p>
        </p:txBody>
      </p:sp>
    </p:spTree>
    <p:extLst>
      <p:ext uri="{BB962C8B-B14F-4D97-AF65-F5344CB8AC3E}">
        <p14:creationId xmlns:p14="http://schemas.microsoft.com/office/powerpoint/2010/main" val="3390120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9</a:t>
            </a:fld>
            <a:endParaRPr lang="en-US" sz="1200"/>
          </a:p>
        </p:txBody>
      </p:sp>
    </p:spTree>
    <p:extLst>
      <p:ext uri="{BB962C8B-B14F-4D97-AF65-F5344CB8AC3E}">
        <p14:creationId xmlns:p14="http://schemas.microsoft.com/office/powerpoint/2010/main" val="32179780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www.iaasb.org/" TargetMode="External"/><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hyperlink" Target="mailto:permissions@ifac.org" TargetMode="External"/><Relationship Id="rId5" Type="http://schemas.openxmlformats.org/officeDocument/2006/relationships/image" Target="../media/image7.png"/><Relationship Id="rId10" Type="http://schemas.openxmlformats.org/officeDocument/2006/relationships/hyperlink" Target="http://www.ifac.org/about-ifac/translations-permissions" TargetMode="External"/><Relationship Id="rId4" Type="http://schemas.openxmlformats.org/officeDocument/2006/relationships/image" Target="../media/image6.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smtClean="0"/>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smtClean="0"/>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smtClean="0"/>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smtClean="0">
              <a:latin typeface="Arial" panose="020B0604020202020204" pitchFamily="34" charset="0"/>
              <a:cs typeface="MS PGothic" charset="0"/>
            </a:endParaRPr>
          </a:p>
        </p:txBody>
      </p:sp>
    </p:spTree>
    <p:extLst>
      <p:ext uri="{BB962C8B-B14F-4D97-AF65-F5344CB8AC3E}">
        <p14:creationId xmlns:p14="http://schemas.microsoft.com/office/powerpoint/2010/main" val="257666932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6" name="Slide Number Placeholder 5"/>
          <p:cNvSpPr>
            <a:spLocks noGrp="1"/>
          </p:cNvSpPr>
          <p:nvPr>
            <p:ph type="sldNum" sz="quarter" idx="12"/>
          </p:nvPr>
        </p:nvSpPr>
        <p:spPr/>
        <p:txBody>
          <a:bodyPr/>
          <a:lstStyle>
            <a:lvl1pPr algn="r">
              <a:defRPr/>
            </a:lvl1pPr>
          </a:lstStyle>
          <a:p>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193993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Slide Number Placeholder 8"/>
          <p:cNvSpPr>
            <a:spLocks noGrp="1"/>
          </p:cNvSpPr>
          <p:nvPr>
            <p:ph type="sldNum" sz="quarter" idx="12"/>
          </p:nvPr>
        </p:nvSpPr>
        <p:spPr/>
        <p:txBody>
          <a:body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p:txBody>
          <a:body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smtClean="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9559"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68002"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0292"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875897"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78511"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335213"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smtClean="0">
                <a:effectLst/>
                <a:latin typeface="Arial" panose="020B0604020202020204" pitchFamily="34" charset="0"/>
                <a:ea typeface="Calibri" panose="020F0502020204030204" pitchFamily="34" charset="0"/>
              </a:rPr>
              <a:t>For copyright, trademark, and permissions information, please go to </a:t>
            </a:r>
            <a:r>
              <a:rPr lang="en-US" sz="900" u="sng" dirty="0" smtClean="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smtClean="0">
                <a:effectLst/>
                <a:latin typeface="Arial" panose="020B0604020202020204" pitchFamily="34" charset="0"/>
                <a:ea typeface="Calibri" panose="020F0502020204030204" pitchFamily="34" charset="0"/>
              </a:rPr>
              <a:t> or contact </a:t>
            </a:r>
            <a:r>
              <a:rPr lang="en-US" sz="900" u="sng" dirty="0" smtClean="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smtClean="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fld id="{AF73A935-0AD8-4B38-AD39-55437B5CA1D2}" type="datetime1">
              <a:rPr lang="en-US" smtClean="0"/>
              <a:t>6/19/2018</a:t>
            </a:fld>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timing>
    <p:tnLst>
      <p:par>
        <p:cTn id="1" dur="indefinite" restart="never" nodeType="tmRoot"/>
      </p:par>
    </p:tnLst>
  </p:timing>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Quality Management (Firm Level)</a:t>
            </a:r>
            <a:endParaRPr lang="en-US" dirty="0"/>
          </a:p>
        </p:txBody>
      </p:sp>
      <p:sp>
        <p:nvSpPr>
          <p:cNvPr id="6" name="Subtitle 5"/>
          <p:cNvSpPr>
            <a:spLocks noGrp="1"/>
          </p:cNvSpPr>
          <p:nvPr>
            <p:ph type="subTitle" idx="1"/>
          </p:nvPr>
        </p:nvSpPr>
        <p:spPr>
          <a:xfrm>
            <a:off x="685801" y="3221372"/>
            <a:ext cx="4732867" cy="1419203"/>
          </a:xfrm>
        </p:spPr>
        <p:txBody>
          <a:bodyPr/>
          <a:lstStyle/>
          <a:p>
            <a:r>
              <a:rPr lang="en-US" dirty="0" smtClean="0"/>
              <a:t>Karin French, Quality Control Task Force Chair</a:t>
            </a:r>
            <a:endParaRPr lang="en-US" dirty="0"/>
          </a:p>
          <a:p>
            <a:r>
              <a:rPr lang="en-US" dirty="0" smtClean="0"/>
              <a:t>IAASB Meeting, </a:t>
            </a:r>
            <a:r>
              <a:rPr lang="en-US" dirty="0" smtClean="0"/>
              <a:t>New York</a:t>
            </a:r>
            <a:endParaRPr lang="en-US" dirty="0" smtClean="0"/>
          </a:p>
          <a:p>
            <a:r>
              <a:rPr lang="en-US" dirty="0" smtClean="0"/>
              <a:t>Agenda Item </a:t>
            </a:r>
            <a:r>
              <a:rPr lang="en-US" dirty="0" smtClean="0"/>
              <a:t>5</a:t>
            </a:r>
            <a:endParaRPr lang="en-US" dirty="0" smtClean="0"/>
          </a:p>
          <a:p>
            <a:r>
              <a:rPr lang="en-US" smtClean="0"/>
              <a:t>June</a:t>
            </a:r>
            <a:r>
              <a:rPr lang="en-US" smtClean="0"/>
              <a:t> 21, </a:t>
            </a:r>
            <a:r>
              <a:rPr lang="en-US" dirty="0" smtClean="0"/>
              <a:t>2018 </a:t>
            </a:r>
            <a:endParaRPr lang="en-US" dirty="0"/>
          </a:p>
        </p:txBody>
      </p:sp>
    </p:spTree>
    <p:extLst>
      <p:ext uri="{BB962C8B-B14F-4D97-AF65-F5344CB8AC3E}">
        <p14:creationId xmlns:p14="http://schemas.microsoft.com/office/powerpoint/2010/main" val="4240407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Structure of the Standard </a:t>
            </a:r>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2</a:t>
            </a:fld>
            <a:endParaRPr lang="en-US" sz="750" dirty="0">
              <a:solidFill>
                <a:schemeClr val="tx1"/>
              </a:solidFill>
              <a:latin typeface="+mn-lt"/>
            </a:endParaRPr>
          </a:p>
          <a:p>
            <a:endParaRPr lang="en-US" sz="750" dirty="0">
              <a:solidFill>
                <a:schemeClr val="tx1"/>
              </a:solidFill>
              <a:latin typeface="+mn-lt"/>
            </a:endParaRPr>
          </a:p>
        </p:txBody>
      </p:sp>
      <p:graphicFrame>
        <p:nvGraphicFramePr>
          <p:cNvPr id="10" name="Table 9"/>
          <p:cNvGraphicFramePr>
            <a:graphicFrameLocks noGrp="1"/>
          </p:cNvGraphicFramePr>
          <p:nvPr>
            <p:extLst>
              <p:ext uri="{D42A27DB-BD31-4B8C-83A1-F6EECF244321}">
                <p14:modId xmlns:p14="http://schemas.microsoft.com/office/powerpoint/2010/main" val="339681741"/>
              </p:ext>
            </p:extLst>
          </p:nvPr>
        </p:nvGraphicFramePr>
        <p:xfrm>
          <a:off x="363984" y="1038478"/>
          <a:ext cx="8629096" cy="3630967"/>
        </p:xfrm>
        <a:graphic>
          <a:graphicData uri="http://schemas.openxmlformats.org/drawingml/2006/table">
            <a:tbl>
              <a:tblPr firstRow="1" firstCol="1" bandRow="1">
                <a:tableStyleId>{5C22544A-7EE6-4342-B048-85BDC9FD1C3A}</a:tableStyleId>
              </a:tblPr>
              <a:tblGrid>
                <a:gridCol w="4315038"/>
                <a:gridCol w="4314058"/>
              </a:tblGrid>
              <a:tr h="467657">
                <a:tc>
                  <a:txBody>
                    <a:bodyPr/>
                    <a:lstStyle/>
                    <a:p>
                      <a:pPr marL="0" marR="0" algn="l">
                        <a:lnSpc>
                          <a:spcPts val="1800"/>
                        </a:lnSpc>
                        <a:spcBef>
                          <a:spcPts val="600"/>
                        </a:spcBef>
                        <a:spcAft>
                          <a:spcPts val="600"/>
                        </a:spcAft>
                      </a:pPr>
                      <a:r>
                        <a:rPr lang="en-US" sz="1600" kern="400" dirty="0">
                          <a:effectLst/>
                          <a:latin typeface="Arial" panose="020B0604020202020204" pitchFamily="34" charset="0"/>
                          <a:cs typeface="Arial" panose="020B0604020202020204" pitchFamily="34" charset="0"/>
                        </a:rPr>
                        <a:t>March 2018 Draft</a:t>
                      </a:r>
                      <a:endParaRPr lang="en-US" sz="1600" kern="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accent3"/>
                    </a:solidFill>
                  </a:tcPr>
                </a:tc>
                <a:tc>
                  <a:txBody>
                    <a:bodyPr/>
                    <a:lstStyle/>
                    <a:p>
                      <a:pPr marL="0" marR="0" algn="l">
                        <a:lnSpc>
                          <a:spcPts val="1800"/>
                        </a:lnSpc>
                        <a:spcBef>
                          <a:spcPts val="600"/>
                        </a:spcBef>
                        <a:spcAft>
                          <a:spcPts val="600"/>
                        </a:spcAft>
                      </a:pPr>
                      <a:r>
                        <a:rPr lang="en-US" sz="1600" kern="400" dirty="0">
                          <a:effectLst/>
                          <a:latin typeface="Arial" panose="020B0604020202020204" pitchFamily="34" charset="0"/>
                          <a:cs typeface="Arial" panose="020B0604020202020204" pitchFamily="34" charset="0"/>
                        </a:rPr>
                        <a:t>Proposed new Structure </a:t>
                      </a:r>
                      <a:endParaRPr lang="en-US" sz="1600" kern="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accent3"/>
                    </a:solidFill>
                  </a:tcPr>
                </a:tc>
              </a:tr>
              <a:tr h="3163310">
                <a:tc>
                  <a:txBody>
                    <a:bodyPr/>
                    <a:lstStyle/>
                    <a:p>
                      <a:pPr marL="342900" marR="0" lvl="0" indent="-342900" algn="l">
                        <a:lnSpc>
                          <a:spcPts val="1800"/>
                        </a:lnSpc>
                        <a:spcBef>
                          <a:spcPts val="600"/>
                        </a:spcBef>
                        <a:spcAft>
                          <a:spcPts val="600"/>
                        </a:spcAft>
                        <a:buFont typeface="+mj-lt"/>
                        <a:buAutoNum type="arabicPeriod"/>
                      </a:pPr>
                      <a:r>
                        <a:rPr lang="en-US" sz="1600" b="0" kern="400" dirty="0">
                          <a:solidFill>
                            <a:schemeClr val="tx1"/>
                          </a:solidFill>
                          <a:effectLst/>
                          <a:latin typeface="Arial" panose="020B0604020202020204" pitchFamily="34" charset="0"/>
                          <a:cs typeface="Arial" panose="020B0604020202020204" pitchFamily="34" charset="0"/>
                        </a:rPr>
                        <a:t>Governance and leadership</a:t>
                      </a:r>
                    </a:p>
                    <a:p>
                      <a:pPr marL="342900" marR="0" lvl="0" indent="-342900" algn="l">
                        <a:lnSpc>
                          <a:spcPts val="1800"/>
                        </a:lnSpc>
                        <a:spcBef>
                          <a:spcPts val="600"/>
                        </a:spcBef>
                        <a:spcAft>
                          <a:spcPts val="600"/>
                        </a:spcAft>
                        <a:buFont typeface="+mj-lt"/>
                        <a:buAutoNum type="arabicPeriod"/>
                      </a:pPr>
                      <a:r>
                        <a:rPr lang="en-US" sz="1600" b="0" kern="400" dirty="0">
                          <a:solidFill>
                            <a:schemeClr val="tx1"/>
                          </a:solidFill>
                          <a:effectLst/>
                          <a:latin typeface="Arial" panose="020B0604020202020204" pitchFamily="34" charset="0"/>
                          <a:cs typeface="Arial" panose="020B0604020202020204" pitchFamily="34" charset="0"/>
                        </a:rPr>
                        <a:t>Quality risk assessment process</a:t>
                      </a:r>
                    </a:p>
                    <a:p>
                      <a:pPr marL="342900" marR="0" lvl="0" indent="-342900" algn="l">
                        <a:lnSpc>
                          <a:spcPts val="1800"/>
                        </a:lnSpc>
                        <a:spcBef>
                          <a:spcPts val="600"/>
                        </a:spcBef>
                        <a:spcAft>
                          <a:spcPts val="600"/>
                        </a:spcAft>
                        <a:buFont typeface="+mj-lt"/>
                        <a:buAutoNum type="arabicPeriod"/>
                      </a:pPr>
                      <a:r>
                        <a:rPr lang="en-US" sz="1600" b="0" kern="400" dirty="0">
                          <a:solidFill>
                            <a:schemeClr val="tx1"/>
                          </a:solidFill>
                          <a:effectLst/>
                          <a:latin typeface="Arial" panose="020B0604020202020204" pitchFamily="34" charset="0"/>
                          <a:cs typeface="Arial" panose="020B0604020202020204" pitchFamily="34" charset="0"/>
                        </a:rPr>
                        <a:t>Information and communication</a:t>
                      </a:r>
                    </a:p>
                    <a:p>
                      <a:pPr marL="342900" marR="0" lvl="0" indent="-342900" algn="l">
                        <a:lnSpc>
                          <a:spcPts val="1800"/>
                        </a:lnSpc>
                        <a:spcBef>
                          <a:spcPts val="600"/>
                        </a:spcBef>
                        <a:spcAft>
                          <a:spcPts val="600"/>
                        </a:spcAft>
                        <a:buFont typeface="+mj-lt"/>
                        <a:buAutoNum type="arabicPeriod"/>
                      </a:pPr>
                      <a:r>
                        <a:rPr lang="en-US" sz="1600" b="0" kern="400" dirty="0">
                          <a:solidFill>
                            <a:schemeClr val="tx1"/>
                          </a:solidFill>
                          <a:effectLst/>
                          <a:latin typeface="Arial" panose="020B0604020202020204" pitchFamily="34" charset="0"/>
                          <a:cs typeface="Arial" panose="020B0604020202020204" pitchFamily="34" charset="0"/>
                        </a:rPr>
                        <a:t>Relevant ethical requirements</a:t>
                      </a:r>
                    </a:p>
                    <a:p>
                      <a:pPr marL="342900" marR="0" lvl="0" indent="-342900" algn="l">
                        <a:lnSpc>
                          <a:spcPts val="1800"/>
                        </a:lnSpc>
                        <a:spcBef>
                          <a:spcPts val="600"/>
                        </a:spcBef>
                        <a:spcAft>
                          <a:spcPts val="600"/>
                        </a:spcAft>
                        <a:buFont typeface="+mj-lt"/>
                        <a:buAutoNum type="arabicPeriod"/>
                      </a:pPr>
                      <a:r>
                        <a:rPr lang="en-US" sz="1600" b="0" kern="400" dirty="0">
                          <a:solidFill>
                            <a:schemeClr val="tx1"/>
                          </a:solidFill>
                          <a:effectLst/>
                          <a:latin typeface="Arial" panose="020B0604020202020204" pitchFamily="34" charset="0"/>
                          <a:cs typeface="Arial" panose="020B0604020202020204" pitchFamily="34" charset="0"/>
                        </a:rPr>
                        <a:t>Acceptance and continuance of client relationships and specific engagements </a:t>
                      </a:r>
                    </a:p>
                    <a:p>
                      <a:pPr marL="342900" marR="0" lvl="0" indent="-342900" algn="l">
                        <a:lnSpc>
                          <a:spcPts val="1800"/>
                        </a:lnSpc>
                        <a:spcBef>
                          <a:spcPts val="600"/>
                        </a:spcBef>
                        <a:spcAft>
                          <a:spcPts val="600"/>
                        </a:spcAft>
                        <a:buFont typeface="+mj-lt"/>
                        <a:buAutoNum type="arabicPeriod"/>
                      </a:pPr>
                      <a:r>
                        <a:rPr lang="en-US" sz="1600" b="0" kern="400" dirty="0">
                          <a:solidFill>
                            <a:schemeClr val="tx1"/>
                          </a:solidFill>
                          <a:effectLst/>
                          <a:latin typeface="Arial" panose="020B0604020202020204" pitchFamily="34" charset="0"/>
                          <a:cs typeface="Arial" panose="020B0604020202020204" pitchFamily="34" charset="0"/>
                        </a:rPr>
                        <a:t>Resources</a:t>
                      </a:r>
                    </a:p>
                    <a:p>
                      <a:pPr marL="342900" marR="0" lvl="0" indent="-342900" algn="l">
                        <a:lnSpc>
                          <a:spcPts val="1800"/>
                        </a:lnSpc>
                        <a:spcBef>
                          <a:spcPts val="600"/>
                        </a:spcBef>
                        <a:spcAft>
                          <a:spcPts val="600"/>
                        </a:spcAft>
                        <a:buFont typeface="+mj-lt"/>
                        <a:buAutoNum type="arabicPeriod"/>
                      </a:pPr>
                      <a:r>
                        <a:rPr lang="en-US" sz="1600" b="0" kern="400" dirty="0">
                          <a:solidFill>
                            <a:schemeClr val="tx1"/>
                          </a:solidFill>
                          <a:effectLst/>
                          <a:latin typeface="Arial" panose="020B0604020202020204" pitchFamily="34" charset="0"/>
                          <a:cs typeface="Arial" panose="020B0604020202020204" pitchFamily="34" charset="0"/>
                        </a:rPr>
                        <a:t>Engagement performance</a:t>
                      </a:r>
                    </a:p>
                    <a:p>
                      <a:pPr marL="342900" marR="0" lvl="0" indent="-342900" algn="l">
                        <a:lnSpc>
                          <a:spcPts val="1800"/>
                        </a:lnSpc>
                        <a:spcBef>
                          <a:spcPts val="600"/>
                        </a:spcBef>
                        <a:spcAft>
                          <a:spcPts val="600"/>
                        </a:spcAft>
                        <a:buFont typeface="+mj-lt"/>
                        <a:buAutoNum type="arabicPeriod"/>
                      </a:pPr>
                      <a:r>
                        <a:rPr lang="en-US" sz="1600" b="0" kern="400" dirty="0">
                          <a:solidFill>
                            <a:schemeClr val="tx1"/>
                          </a:solidFill>
                          <a:effectLst/>
                          <a:latin typeface="Arial" panose="020B0604020202020204" pitchFamily="34" charset="0"/>
                          <a:cs typeface="Arial" panose="020B0604020202020204" pitchFamily="34" charset="0"/>
                        </a:rPr>
                        <a:t>Monitoring and remediation process</a:t>
                      </a:r>
                      <a:endParaRPr lang="en-US" sz="1600" b="0" kern="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rgbClr val="ACC5DC"/>
                    </a:solidFill>
                  </a:tcPr>
                </a:tc>
                <a:tc>
                  <a:txBody>
                    <a:bodyPr/>
                    <a:lstStyle/>
                    <a:p>
                      <a:pPr marL="342900" marR="0" lvl="0" indent="-342900" algn="l">
                        <a:lnSpc>
                          <a:spcPts val="1800"/>
                        </a:lnSpc>
                        <a:spcBef>
                          <a:spcPts val="600"/>
                        </a:spcBef>
                        <a:spcAft>
                          <a:spcPts val="600"/>
                        </a:spcAft>
                        <a:buFont typeface="+mj-lt"/>
                        <a:buAutoNum type="arabicPeriod"/>
                      </a:pPr>
                      <a:r>
                        <a:rPr lang="en-US" sz="1600" b="0" kern="400" dirty="0">
                          <a:effectLst/>
                          <a:latin typeface="Arial" panose="020B0604020202020204" pitchFamily="34" charset="0"/>
                          <a:cs typeface="Arial" panose="020B0604020202020204" pitchFamily="34" charset="0"/>
                        </a:rPr>
                        <a:t>Firm’s risk assessment process</a:t>
                      </a:r>
                    </a:p>
                    <a:p>
                      <a:pPr marL="342900" marR="0" lvl="0" indent="-342900" algn="l">
                        <a:lnSpc>
                          <a:spcPts val="1800"/>
                        </a:lnSpc>
                        <a:spcBef>
                          <a:spcPts val="600"/>
                        </a:spcBef>
                        <a:spcAft>
                          <a:spcPts val="600"/>
                        </a:spcAft>
                        <a:buFont typeface="+mj-lt"/>
                        <a:buAutoNum type="arabicPeriod"/>
                      </a:pPr>
                      <a:r>
                        <a:rPr lang="en-US" sz="1600" b="0" kern="400" dirty="0">
                          <a:effectLst/>
                          <a:latin typeface="Arial" panose="020B0604020202020204" pitchFamily="34" charset="0"/>
                          <a:cs typeface="Arial" panose="020B0604020202020204" pitchFamily="34" charset="0"/>
                        </a:rPr>
                        <a:t>Governance and leadership</a:t>
                      </a:r>
                    </a:p>
                    <a:p>
                      <a:pPr marL="342900" marR="0" lvl="0" indent="-342900" algn="l">
                        <a:lnSpc>
                          <a:spcPts val="1800"/>
                        </a:lnSpc>
                        <a:spcBef>
                          <a:spcPts val="600"/>
                        </a:spcBef>
                        <a:spcAft>
                          <a:spcPts val="600"/>
                        </a:spcAft>
                        <a:buFont typeface="+mj-lt"/>
                        <a:buAutoNum type="arabicPeriod"/>
                      </a:pPr>
                      <a:r>
                        <a:rPr lang="en-US" sz="1600" b="0" kern="400" dirty="0">
                          <a:effectLst/>
                          <a:latin typeface="Arial" panose="020B0604020202020204" pitchFamily="34" charset="0"/>
                          <a:cs typeface="Arial" panose="020B0604020202020204" pitchFamily="34" charset="0"/>
                        </a:rPr>
                        <a:t>Relevant ethical requirements</a:t>
                      </a:r>
                    </a:p>
                    <a:p>
                      <a:pPr marL="342900" marR="0" lvl="0" indent="-342900" algn="l">
                        <a:lnSpc>
                          <a:spcPts val="1800"/>
                        </a:lnSpc>
                        <a:spcBef>
                          <a:spcPts val="600"/>
                        </a:spcBef>
                        <a:spcAft>
                          <a:spcPts val="600"/>
                        </a:spcAft>
                        <a:buFont typeface="+mj-lt"/>
                        <a:buAutoNum type="arabicPeriod"/>
                      </a:pPr>
                      <a:r>
                        <a:rPr lang="en-US" sz="1600" b="0" kern="400" dirty="0">
                          <a:effectLst/>
                          <a:latin typeface="Arial" panose="020B0604020202020204" pitchFamily="34" charset="0"/>
                          <a:cs typeface="Arial" panose="020B0604020202020204" pitchFamily="34" charset="0"/>
                        </a:rPr>
                        <a:t>Acceptance and continuance of client relationships and specific engagements </a:t>
                      </a:r>
                    </a:p>
                    <a:p>
                      <a:pPr marL="342900" marR="0" lvl="0" indent="-342900" algn="l">
                        <a:lnSpc>
                          <a:spcPts val="1800"/>
                        </a:lnSpc>
                        <a:spcBef>
                          <a:spcPts val="600"/>
                        </a:spcBef>
                        <a:spcAft>
                          <a:spcPts val="600"/>
                        </a:spcAft>
                        <a:buFont typeface="+mj-lt"/>
                        <a:buAutoNum type="arabicPeriod"/>
                      </a:pPr>
                      <a:r>
                        <a:rPr lang="en-US" sz="1600" b="0" kern="400" dirty="0">
                          <a:effectLst/>
                          <a:latin typeface="Arial" panose="020B0604020202020204" pitchFamily="34" charset="0"/>
                          <a:cs typeface="Arial" panose="020B0604020202020204" pitchFamily="34" charset="0"/>
                        </a:rPr>
                        <a:t>Resources</a:t>
                      </a:r>
                    </a:p>
                    <a:p>
                      <a:pPr marL="342900" marR="0" lvl="0" indent="-342900" algn="l">
                        <a:lnSpc>
                          <a:spcPts val="1800"/>
                        </a:lnSpc>
                        <a:spcBef>
                          <a:spcPts val="600"/>
                        </a:spcBef>
                        <a:spcAft>
                          <a:spcPts val="600"/>
                        </a:spcAft>
                        <a:buFont typeface="+mj-lt"/>
                        <a:buAutoNum type="arabicPeriod"/>
                      </a:pPr>
                      <a:r>
                        <a:rPr lang="en-US" sz="1600" b="0" kern="400" dirty="0">
                          <a:effectLst/>
                          <a:latin typeface="Arial" panose="020B0604020202020204" pitchFamily="34" charset="0"/>
                          <a:cs typeface="Arial" panose="020B0604020202020204" pitchFamily="34" charset="0"/>
                        </a:rPr>
                        <a:t>Engagement performance</a:t>
                      </a:r>
                    </a:p>
                    <a:p>
                      <a:pPr marL="342900" marR="0" lvl="0" indent="-342900" algn="l">
                        <a:lnSpc>
                          <a:spcPts val="1800"/>
                        </a:lnSpc>
                        <a:spcBef>
                          <a:spcPts val="600"/>
                        </a:spcBef>
                        <a:spcAft>
                          <a:spcPts val="600"/>
                        </a:spcAft>
                        <a:buFont typeface="+mj-lt"/>
                        <a:buAutoNum type="arabicPeriod"/>
                      </a:pPr>
                      <a:r>
                        <a:rPr lang="en-US" sz="1600" b="0" kern="400" dirty="0">
                          <a:effectLst/>
                          <a:latin typeface="Arial" panose="020B0604020202020204" pitchFamily="34" charset="0"/>
                          <a:cs typeface="Arial" panose="020B0604020202020204" pitchFamily="34" charset="0"/>
                        </a:rPr>
                        <a:t>Information and communication</a:t>
                      </a:r>
                    </a:p>
                    <a:p>
                      <a:pPr marL="342900" marR="0" lvl="0" indent="-342900" algn="l">
                        <a:lnSpc>
                          <a:spcPts val="1800"/>
                        </a:lnSpc>
                        <a:spcBef>
                          <a:spcPts val="600"/>
                        </a:spcBef>
                        <a:spcAft>
                          <a:spcPts val="600"/>
                        </a:spcAft>
                        <a:buFont typeface="+mj-lt"/>
                        <a:buAutoNum type="arabicPeriod"/>
                      </a:pPr>
                      <a:r>
                        <a:rPr lang="en-US" sz="1600" b="0" kern="400" dirty="0">
                          <a:effectLst/>
                          <a:latin typeface="Arial" panose="020B0604020202020204" pitchFamily="34" charset="0"/>
                          <a:cs typeface="Arial" panose="020B0604020202020204" pitchFamily="34" charset="0"/>
                        </a:rPr>
                        <a:t>Monitoring and remediation process</a:t>
                      </a:r>
                      <a:endParaRPr lang="en-US" sz="1600" b="0" kern="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rgbClr val="CEDDEA"/>
                    </a:solidFill>
                  </a:tcPr>
                </a:tc>
              </a:tr>
            </a:tbl>
          </a:graphicData>
        </a:graphic>
      </p:graphicFrame>
      <p:sp>
        <p:nvSpPr>
          <p:cNvPr id="14" name="Right Arrow 13"/>
          <p:cNvSpPr/>
          <p:nvPr/>
        </p:nvSpPr>
        <p:spPr>
          <a:xfrm rot="20337629">
            <a:off x="3747119" y="1762735"/>
            <a:ext cx="1009566" cy="147742"/>
          </a:xfrm>
          <a:prstGeom prst="rightArrow">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Right Arrow 14"/>
          <p:cNvSpPr/>
          <p:nvPr/>
        </p:nvSpPr>
        <p:spPr>
          <a:xfrm rot="2805590">
            <a:off x="3297014" y="3152593"/>
            <a:ext cx="2215624" cy="185331"/>
          </a:xfrm>
          <a:prstGeom prst="rightArrow">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105111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Structure of the Standard </a:t>
            </a:r>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3</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2" y="1029809"/>
            <a:ext cx="8673483" cy="914401"/>
          </a:xfrm>
          <a:prstGeom prst="roundRect">
            <a:avLst/>
          </a:prstGeom>
          <a:solidFill>
            <a:schemeClr val="bg1">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6 – 6B</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57451" y="2142707"/>
            <a:ext cx="8673483" cy="2175029"/>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2:</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share its views regarding:</a:t>
            </a:r>
          </a:p>
          <a:p>
            <a:pPr marL="0" lvl="0" indent="-347472">
              <a:spcBef>
                <a:spcPts val="800"/>
              </a:spcBef>
              <a:buNone/>
            </a:pPr>
            <a:r>
              <a:rPr lang="en-US" sz="1600" dirty="0">
                <a:solidFill>
                  <a:schemeClr val="tx1">
                    <a:lumMod val="50000"/>
                    <a:lumOff val="50000"/>
                  </a:schemeClr>
                </a:solidFill>
                <a:latin typeface="Arial" panose="020B0604020202020204" pitchFamily="34" charset="0"/>
                <a:cs typeface="Arial" panose="020B0604020202020204" pitchFamily="34" charset="0"/>
              </a:rPr>
              <a:t>(a)	The proposed reordering of the components in proposed ISQC 1 (Revised).</a:t>
            </a:r>
          </a:p>
          <a:p>
            <a:pPr marL="0" lvl="0" indent="-347472">
              <a:spcBef>
                <a:spcPts val="800"/>
              </a:spcBef>
              <a:buNone/>
            </a:pPr>
            <a:r>
              <a:rPr lang="en-US" sz="1600" dirty="0">
                <a:solidFill>
                  <a:schemeClr val="tx1">
                    <a:lumMod val="50000"/>
                    <a:lumOff val="50000"/>
                  </a:schemeClr>
                </a:solidFill>
                <a:latin typeface="Arial" panose="020B0604020202020204" pitchFamily="34" charset="0"/>
                <a:cs typeface="Arial" panose="020B0604020202020204" pitchFamily="34" charset="0"/>
              </a:rPr>
              <a:t>(b)	How the quality risk assessment and the components have been described in paragraphs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6–6B </a:t>
            </a:r>
            <a:r>
              <a:rPr lang="en-US" sz="1600" dirty="0">
                <a:solidFill>
                  <a:schemeClr val="tx1">
                    <a:lumMod val="50000"/>
                    <a:lumOff val="50000"/>
                  </a:schemeClr>
                </a:solidFill>
                <a:latin typeface="Arial" panose="020B0604020202020204" pitchFamily="34" charset="0"/>
                <a:cs typeface="Arial" panose="020B0604020202020204" pitchFamily="34" charset="0"/>
              </a:rPr>
              <a:t>of Agenda Item 5–A, including whether the interconnectedness of the components is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clear</a:t>
            </a:r>
            <a:r>
              <a:rPr lang="en-US" sz="1600" dirty="0">
                <a:solidFill>
                  <a:schemeClr val="tx1">
                    <a:lumMod val="50000"/>
                    <a:lumOff val="50000"/>
                  </a:schemeClr>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5341520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Are Quality Risks Required for All Prescribed Reponses?</a:t>
            </a:r>
            <a:endParaRPr lang="en-US" dirty="0"/>
          </a:p>
        </p:txBody>
      </p:sp>
      <p:cxnSp>
        <p:nvCxnSpPr>
          <p:cNvPr id="7" name="Straight Connector 6"/>
          <p:cNvCxnSpPr/>
          <p:nvPr/>
        </p:nvCxnSpPr>
        <p:spPr>
          <a:xfrm flipH="1">
            <a:off x="4520044" y="2357191"/>
            <a:ext cx="608" cy="41528"/>
          </a:xfrm>
          <a:prstGeom prst="line">
            <a:avLst/>
          </a:prstGeom>
          <a:ln w="9525">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20" name="Slide Number Placeholder 4"/>
          <p:cNvSpPr>
            <a:spLocks noGrp="1"/>
          </p:cNvSpPr>
          <p:nvPr>
            <p:ph type="sldNum" sz="quarter" idx="12"/>
          </p:nvPr>
        </p:nvSpPr>
        <p:spPr>
          <a:xfrm>
            <a:off x="8238478" y="4891669"/>
            <a:ext cx="479268" cy="251831"/>
          </a:xfrm>
        </p:spPr>
        <p:txBody>
          <a:bodyPr/>
          <a:lstStyle/>
          <a:p>
            <a:r>
              <a:rPr lang="en-US" sz="750" dirty="0">
                <a:solidFill>
                  <a:prstClr val="black"/>
                </a:solidFill>
                <a:latin typeface="Calibri"/>
              </a:rPr>
              <a:t>Page </a:t>
            </a:r>
            <a:fld id="{90BFA1AC-6200-40BD-9E62-B2EBF4A62ACF}" type="slidenum">
              <a:rPr lang="en-US" sz="750" smtClean="0">
                <a:solidFill>
                  <a:prstClr val="black"/>
                </a:solidFill>
                <a:latin typeface="Calibri"/>
              </a:rPr>
              <a:pPr/>
              <a:t>4</a:t>
            </a:fld>
            <a:endParaRPr lang="en-US" sz="750" dirty="0">
              <a:solidFill>
                <a:prstClr val="black"/>
              </a:solidFill>
              <a:latin typeface="Calibri"/>
            </a:endParaRPr>
          </a:p>
          <a:p>
            <a:endParaRPr lang="en-US" sz="750" dirty="0">
              <a:solidFill>
                <a:prstClr val="black"/>
              </a:solidFill>
              <a:latin typeface="Calibri"/>
            </a:endParaRPr>
          </a:p>
        </p:txBody>
      </p:sp>
      <p:sp>
        <p:nvSpPr>
          <p:cNvPr id="8" name="Rounded Rectangle 7"/>
          <p:cNvSpPr/>
          <p:nvPr/>
        </p:nvSpPr>
        <p:spPr>
          <a:xfrm>
            <a:off x="262472" y="1923360"/>
            <a:ext cx="8447103" cy="872310"/>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endParaRPr>
          </a:p>
        </p:txBody>
      </p:sp>
      <p:sp>
        <p:nvSpPr>
          <p:cNvPr id="9" name="TextBox 8"/>
          <p:cNvSpPr txBox="1"/>
          <p:nvPr/>
        </p:nvSpPr>
        <p:spPr>
          <a:xfrm>
            <a:off x="354306" y="1962456"/>
            <a:ext cx="1675451" cy="830997"/>
          </a:xfrm>
          <a:prstGeom prst="rect">
            <a:avLst/>
          </a:prstGeom>
          <a:noFill/>
        </p:spPr>
        <p:txBody>
          <a:bodyPr wrap="square" rtlCol="0">
            <a:spAutoFit/>
          </a:bodyPr>
          <a:lstStyle/>
          <a:p>
            <a:r>
              <a:rPr lang="en-US" sz="1600" b="1" dirty="0">
                <a:solidFill>
                  <a:prstClr val="white"/>
                </a:solidFill>
                <a:latin typeface="Arial" panose="020B0604020202020204" pitchFamily="34" charset="0"/>
                <a:cs typeface="Arial" panose="020B0604020202020204" pitchFamily="34" charset="0"/>
              </a:rPr>
              <a:t>Establish quality objectives</a:t>
            </a:r>
          </a:p>
        </p:txBody>
      </p:sp>
      <p:sp>
        <p:nvSpPr>
          <p:cNvPr id="14" name="Rounded Rectangle 13"/>
          <p:cNvSpPr/>
          <p:nvPr/>
        </p:nvSpPr>
        <p:spPr>
          <a:xfrm>
            <a:off x="3043665" y="2040058"/>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QO A</a:t>
            </a:r>
          </a:p>
        </p:txBody>
      </p:sp>
      <p:sp>
        <p:nvSpPr>
          <p:cNvPr id="22" name="Rounded Rectangle 21"/>
          <p:cNvSpPr/>
          <p:nvPr/>
        </p:nvSpPr>
        <p:spPr>
          <a:xfrm>
            <a:off x="4247929" y="2040058"/>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QO B</a:t>
            </a:r>
          </a:p>
        </p:txBody>
      </p:sp>
      <p:sp>
        <p:nvSpPr>
          <p:cNvPr id="23" name="Rounded Rectangle 22"/>
          <p:cNvSpPr/>
          <p:nvPr/>
        </p:nvSpPr>
        <p:spPr>
          <a:xfrm>
            <a:off x="6231270" y="2032257"/>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QO C</a:t>
            </a:r>
          </a:p>
        </p:txBody>
      </p:sp>
      <p:sp>
        <p:nvSpPr>
          <p:cNvPr id="24" name="Rounded Rectangle 23"/>
          <p:cNvSpPr/>
          <p:nvPr/>
        </p:nvSpPr>
        <p:spPr>
          <a:xfrm>
            <a:off x="239697" y="2937093"/>
            <a:ext cx="8447103" cy="64562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endParaRPr>
          </a:p>
        </p:txBody>
      </p:sp>
      <p:sp>
        <p:nvSpPr>
          <p:cNvPr id="27" name="TextBox 26"/>
          <p:cNvSpPr txBox="1"/>
          <p:nvPr/>
        </p:nvSpPr>
        <p:spPr>
          <a:xfrm>
            <a:off x="306025" y="2959991"/>
            <a:ext cx="1901087" cy="584775"/>
          </a:xfrm>
          <a:prstGeom prst="rect">
            <a:avLst/>
          </a:prstGeom>
          <a:noFill/>
        </p:spPr>
        <p:txBody>
          <a:bodyPr wrap="square" rtlCol="0">
            <a:spAutoFit/>
          </a:bodyPr>
          <a:lstStyle/>
          <a:p>
            <a:r>
              <a:rPr lang="en-US" sz="1600" b="1" dirty="0">
                <a:solidFill>
                  <a:prstClr val="white"/>
                </a:solidFill>
                <a:latin typeface="Arial" panose="020B0604020202020204" pitchFamily="34" charset="0"/>
                <a:cs typeface="Arial" panose="020B0604020202020204" pitchFamily="34" charset="0"/>
              </a:rPr>
              <a:t>Identify </a:t>
            </a:r>
            <a:r>
              <a:rPr lang="en-US" sz="1600" b="1" dirty="0" smtClean="0">
                <a:solidFill>
                  <a:prstClr val="white"/>
                </a:solidFill>
                <a:latin typeface="Arial" panose="020B0604020202020204" pitchFamily="34" charset="0"/>
                <a:cs typeface="Arial" panose="020B0604020202020204" pitchFamily="34" charset="0"/>
              </a:rPr>
              <a:t>quality </a:t>
            </a:r>
            <a:r>
              <a:rPr lang="en-US" sz="1600" b="1" dirty="0">
                <a:solidFill>
                  <a:prstClr val="white"/>
                </a:solidFill>
                <a:latin typeface="Arial" panose="020B0604020202020204" pitchFamily="34" charset="0"/>
                <a:cs typeface="Arial" panose="020B0604020202020204" pitchFamily="34" charset="0"/>
              </a:rPr>
              <a:t>risks</a:t>
            </a:r>
          </a:p>
        </p:txBody>
      </p:sp>
      <p:sp>
        <p:nvSpPr>
          <p:cNvPr id="28" name="Rounded Rectangle 27"/>
          <p:cNvSpPr/>
          <p:nvPr/>
        </p:nvSpPr>
        <p:spPr>
          <a:xfrm>
            <a:off x="3223964" y="3008085"/>
            <a:ext cx="818036"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QR B</a:t>
            </a:r>
          </a:p>
        </p:txBody>
      </p:sp>
      <p:sp>
        <p:nvSpPr>
          <p:cNvPr id="33" name="Rounded Rectangle 32"/>
          <p:cNvSpPr/>
          <p:nvPr/>
        </p:nvSpPr>
        <p:spPr>
          <a:xfrm>
            <a:off x="4162982" y="3009026"/>
            <a:ext cx="818036"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QR C</a:t>
            </a:r>
          </a:p>
        </p:txBody>
      </p:sp>
      <p:sp>
        <p:nvSpPr>
          <p:cNvPr id="34" name="Rounded Rectangle 33"/>
          <p:cNvSpPr/>
          <p:nvPr/>
        </p:nvSpPr>
        <p:spPr>
          <a:xfrm>
            <a:off x="5253910" y="3013137"/>
            <a:ext cx="818036"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QR D</a:t>
            </a:r>
          </a:p>
        </p:txBody>
      </p:sp>
      <p:sp>
        <p:nvSpPr>
          <p:cNvPr id="35" name="Rounded Rectangle 34"/>
          <p:cNvSpPr/>
          <p:nvPr/>
        </p:nvSpPr>
        <p:spPr>
          <a:xfrm>
            <a:off x="6362495" y="3007515"/>
            <a:ext cx="818036"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QR E</a:t>
            </a:r>
          </a:p>
        </p:txBody>
      </p:sp>
      <p:sp>
        <p:nvSpPr>
          <p:cNvPr id="36" name="Rounded Rectangle 35"/>
          <p:cNvSpPr/>
          <p:nvPr/>
        </p:nvSpPr>
        <p:spPr>
          <a:xfrm>
            <a:off x="7370861" y="3013137"/>
            <a:ext cx="818036"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QR F</a:t>
            </a:r>
          </a:p>
        </p:txBody>
      </p:sp>
      <p:sp>
        <p:nvSpPr>
          <p:cNvPr id="53" name="Rounded Rectangle 52"/>
          <p:cNvSpPr/>
          <p:nvPr/>
        </p:nvSpPr>
        <p:spPr>
          <a:xfrm>
            <a:off x="2188117" y="3001040"/>
            <a:ext cx="818036"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QR A</a:t>
            </a:r>
          </a:p>
        </p:txBody>
      </p:sp>
      <p:cxnSp>
        <p:nvCxnSpPr>
          <p:cNvPr id="5" name="Straight Connector 4"/>
          <p:cNvCxnSpPr/>
          <p:nvPr/>
        </p:nvCxnSpPr>
        <p:spPr>
          <a:xfrm>
            <a:off x="3651938" y="2423942"/>
            <a:ext cx="802" cy="558693"/>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flipH="1">
            <a:off x="6648756" y="2377954"/>
            <a:ext cx="12595" cy="631072"/>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flipH="1">
            <a:off x="2542325" y="2423942"/>
            <a:ext cx="681639" cy="556573"/>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270641" y="3702028"/>
            <a:ext cx="8447103" cy="881444"/>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endParaRPr>
          </a:p>
        </p:txBody>
      </p:sp>
      <p:sp>
        <p:nvSpPr>
          <p:cNvPr id="58" name="TextBox 57"/>
          <p:cNvSpPr txBox="1"/>
          <p:nvPr/>
        </p:nvSpPr>
        <p:spPr>
          <a:xfrm>
            <a:off x="337267" y="3752515"/>
            <a:ext cx="1901087" cy="830997"/>
          </a:xfrm>
          <a:prstGeom prst="rect">
            <a:avLst/>
          </a:prstGeom>
          <a:noFill/>
        </p:spPr>
        <p:txBody>
          <a:bodyPr wrap="square" rtlCol="0">
            <a:spAutoFit/>
          </a:bodyPr>
          <a:lstStyle/>
          <a:p>
            <a:r>
              <a:rPr lang="en-US" sz="1600" b="1" dirty="0">
                <a:solidFill>
                  <a:prstClr val="white"/>
                </a:solidFill>
                <a:latin typeface="Arial" panose="020B0604020202020204" pitchFamily="34" charset="0"/>
                <a:cs typeface="Arial" panose="020B0604020202020204" pitchFamily="34" charset="0"/>
              </a:rPr>
              <a:t>Design and implement responses</a:t>
            </a:r>
          </a:p>
        </p:txBody>
      </p:sp>
      <p:sp>
        <p:nvSpPr>
          <p:cNvPr id="59" name="Rounded Rectangle 58"/>
          <p:cNvSpPr/>
          <p:nvPr/>
        </p:nvSpPr>
        <p:spPr>
          <a:xfrm>
            <a:off x="3211773" y="3809004"/>
            <a:ext cx="8845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A</a:t>
            </a:r>
          </a:p>
        </p:txBody>
      </p:sp>
      <p:sp>
        <p:nvSpPr>
          <p:cNvPr id="60" name="Rounded Rectangle 59"/>
          <p:cNvSpPr/>
          <p:nvPr/>
        </p:nvSpPr>
        <p:spPr>
          <a:xfrm>
            <a:off x="6125229" y="3747842"/>
            <a:ext cx="864949"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B</a:t>
            </a:r>
          </a:p>
        </p:txBody>
      </p:sp>
      <p:sp>
        <p:nvSpPr>
          <p:cNvPr id="62" name="Rounded Rectangle 61"/>
          <p:cNvSpPr/>
          <p:nvPr/>
        </p:nvSpPr>
        <p:spPr>
          <a:xfrm>
            <a:off x="2188117" y="4117526"/>
            <a:ext cx="868273"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C</a:t>
            </a:r>
          </a:p>
        </p:txBody>
      </p:sp>
      <p:sp>
        <p:nvSpPr>
          <p:cNvPr id="64" name="Rounded Rectangle 63"/>
          <p:cNvSpPr/>
          <p:nvPr/>
        </p:nvSpPr>
        <p:spPr>
          <a:xfrm>
            <a:off x="4365680" y="3839932"/>
            <a:ext cx="879966" cy="358661"/>
          </a:xfrm>
          <a:prstGeom prst="roundRect">
            <a:avLst/>
          </a:prstGeom>
          <a:solidFill>
            <a:schemeClr val="tx2">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D </a:t>
            </a:r>
          </a:p>
        </p:txBody>
      </p:sp>
      <p:sp>
        <p:nvSpPr>
          <p:cNvPr id="66" name="Rounded Rectangle 65"/>
          <p:cNvSpPr/>
          <p:nvPr/>
        </p:nvSpPr>
        <p:spPr>
          <a:xfrm>
            <a:off x="5449847" y="4117526"/>
            <a:ext cx="886789"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E </a:t>
            </a:r>
          </a:p>
        </p:txBody>
      </p:sp>
      <p:sp>
        <p:nvSpPr>
          <p:cNvPr id="69" name="Rounded Rectangle 68"/>
          <p:cNvSpPr/>
          <p:nvPr/>
        </p:nvSpPr>
        <p:spPr>
          <a:xfrm>
            <a:off x="6478199" y="4117589"/>
            <a:ext cx="892662"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F </a:t>
            </a:r>
          </a:p>
        </p:txBody>
      </p:sp>
      <p:sp>
        <p:nvSpPr>
          <p:cNvPr id="70" name="Rounded Rectangle 69"/>
          <p:cNvSpPr/>
          <p:nvPr/>
        </p:nvSpPr>
        <p:spPr>
          <a:xfrm>
            <a:off x="7474449" y="4117524"/>
            <a:ext cx="887194"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G </a:t>
            </a:r>
          </a:p>
        </p:txBody>
      </p:sp>
      <p:cxnSp>
        <p:nvCxnSpPr>
          <p:cNvPr id="79" name="Straight Connector 78"/>
          <p:cNvCxnSpPr>
            <a:stCxn id="28" idx="2"/>
          </p:cNvCxnSpPr>
          <p:nvPr/>
        </p:nvCxnSpPr>
        <p:spPr>
          <a:xfrm>
            <a:off x="3632982" y="3366746"/>
            <a:ext cx="0" cy="417035"/>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a:off x="2572728" y="3393831"/>
            <a:ext cx="0" cy="691114"/>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p:nvPr/>
        </p:nvCxnSpPr>
        <p:spPr>
          <a:xfrm flipH="1">
            <a:off x="5119588" y="3397606"/>
            <a:ext cx="412419" cy="386175"/>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5" name="Straight Connector 84"/>
          <p:cNvCxnSpPr/>
          <p:nvPr/>
        </p:nvCxnSpPr>
        <p:spPr>
          <a:xfrm>
            <a:off x="4638204" y="3371798"/>
            <a:ext cx="6162" cy="411983"/>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3" name="Straight Connector 92"/>
          <p:cNvCxnSpPr/>
          <p:nvPr/>
        </p:nvCxnSpPr>
        <p:spPr>
          <a:xfrm>
            <a:off x="6648756" y="3397606"/>
            <a:ext cx="6574" cy="330765"/>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4" name="Straight Connector 93"/>
          <p:cNvCxnSpPr>
            <a:endCxn id="34" idx="0"/>
          </p:cNvCxnSpPr>
          <p:nvPr/>
        </p:nvCxnSpPr>
        <p:spPr>
          <a:xfrm flipH="1">
            <a:off x="5662928" y="2396800"/>
            <a:ext cx="717513" cy="616337"/>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5" name="Straight Connector 94"/>
          <p:cNvCxnSpPr/>
          <p:nvPr/>
        </p:nvCxnSpPr>
        <p:spPr>
          <a:xfrm>
            <a:off x="7028080" y="2357425"/>
            <a:ext cx="559694" cy="615634"/>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6" name="Straight Connector 95"/>
          <p:cNvCxnSpPr/>
          <p:nvPr/>
        </p:nvCxnSpPr>
        <p:spPr>
          <a:xfrm flipH="1">
            <a:off x="7779879" y="3421046"/>
            <a:ext cx="8828" cy="685457"/>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7" name="Straight Connector 96"/>
          <p:cNvCxnSpPr/>
          <p:nvPr/>
        </p:nvCxnSpPr>
        <p:spPr>
          <a:xfrm flipH="1">
            <a:off x="5817256" y="3395171"/>
            <a:ext cx="8010" cy="689774"/>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8" name="Straight Connector 97"/>
          <p:cNvCxnSpPr/>
          <p:nvPr/>
        </p:nvCxnSpPr>
        <p:spPr>
          <a:xfrm flipH="1">
            <a:off x="7102495" y="3362404"/>
            <a:ext cx="2226" cy="733923"/>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flipH="1">
            <a:off x="4483128" y="2423942"/>
            <a:ext cx="5790" cy="528691"/>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a:off x="4831651" y="2412995"/>
            <a:ext cx="653922" cy="546996"/>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46135" y="1004279"/>
            <a:ext cx="8363440" cy="707886"/>
          </a:xfrm>
          <a:prstGeom prst="rect">
            <a:avLst/>
          </a:prstGeom>
          <a:noFill/>
        </p:spPr>
        <p:txBody>
          <a:bodyPr wrap="square" rtlCol="0">
            <a:spAutoFit/>
          </a:bodyPr>
          <a:lstStyle/>
          <a:p>
            <a:pPr algn="ctr"/>
            <a:r>
              <a:rPr lang="en-US" sz="2000" dirty="0" smtClean="0">
                <a:latin typeface="Arial" panose="020B0604020202020204" pitchFamily="34" charset="0"/>
                <a:cs typeface="Arial" panose="020B0604020202020204" pitchFamily="34" charset="0"/>
              </a:rPr>
              <a:t>Option A</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firm </a:t>
            </a:r>
            <a:r>
              <a:rPr lang="en-US" sz="2000" dirty="0" smtClean="0">
                <a:latin typeface="Arial" panose="020B0604020202020204" pitchFamily="34" charset="0"/>
                <a:cs typeface="Arial" panose="020B0604020202020204" pitchFamily="34" charset="0"/>
              </a:rPr>
              <a:t>is required </a:t>
            </a:r>
            <a:r>
              <a:rPr lang="en-US" sz="2000" dirty="0">
                <a:latin typeface="Arial" panose="020B0604020202020204" pitchFamily="34" charset="0"/>
                <a:cs typeface="Arial" panose="020B0604020202020204" pitchFamily="34" charset="0"/>
              </a:rPr>
              <a:t>to identify quality risks for all of the required responses (essentially “backfilling” the quality risks)</a:t>
            </a:r>
          </a:p>
        </p:txBody>
      </p:sp>
    </p:spTree>
    <p:extLst>
      <p:ext uri="{BB962C8B-B14F-4D97-AF65-F5344CB8AC3E}">
        <p14:creationId xmlns:p14="http://schemas.microsoft.com/office/powerpoint/2010/main" val="37357902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Are Quality Risks Required for All Prescribed Reponses?</a:t>
            </a:r>
            <a:endParaRPr lang="en-US" dirty="0"/>
          </a:p>
        </p:txBody>
      </p:sp>
      <p:cxnSp>
        <p:nvCxnSpPr>
          <p:cNvPr id="7" name="Straight Connector 6"/>
          <p:cNvCxnSpPr/>
          <p:nvPr/>
        </p:nvCxnSpPr>
        <p:spPr>
          <a:xfrm flipH="1">
            <a:off x="4520044" y="2357191"/>
            <a:ext cx="608" cy="41528"/>
          </a:xfrm>
          <a:prstGeom prst="line">
            <a:avLst/>
          </a:prstGeom>
          <a:ln w="9525">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20" name="Slide Number Placeholder 4"/>
          <p:cNvSpPr>
            <a:spLocks noGrp="1"/>
          </p:cNvSpPr>
          <p:nvPr>
            <p:ph type="sldNum" sz="quarter" idx="12"/>
          </p:nvPr>
        </p:nvSpPr>
        <p:spPr>
          <a:xfrm>
            <a:off x="8238478" y="4891669"/>
            <a:ext cx="479268" cy="251831"/>
          </a:xfrm>
        </p:spPr>
        <p:txBody>
          <a:bodyPr/>
          <a:lstStyle/>
          <a:p>
            <a:r>
              <a:rPr lang="en-US" sz="750" dirty="0">
                <a:solidFill>
                  <a:prstClr val="black"/>
                </a:solidFill>
                <a:latin typeface="Calibri"/>
              </a:rPr>
              <a:t>Page </a:t>
            </a:r>
            <a:fld id="{90BFA1AC-6200-40BD-9E62-B2EBF4A62ACF}" type="slidenum">
              <a:rPr lang="en-US" sz="750" smtClean="0">
                <a:solidFill>
                  <a:prstClr val="black"/>
                </a:solidFill>
                <a:latin typeface="Calibri"/>
              </a:rPr>
              <a:pPr/>
              <a:t>5</a:t>
            </a:fld>
            <a:endParaRPr lang="en-US" sz="750" dirty="0">
              <a:solidFill>
                <a:prstClr val="black"/>
              </a:solidFill>
              <a:latin typeface="Calibri"/>
            </a:endParaRPr>
          </a:p>
          <a:p>
            <a:endParaRPr lang="en-US" sz="750" dirty="0">
              <a:solidFill>
                <a:prstClr val="black"/>
              </a:solidFill>
              <a:latin typeface="Calibri"/>
            </a:endParaRPr>
          </a:p>
        </p:txBody>
      </p:sp>
      <p:sp>
        <p:nvSpPr>
          <p:cNvPr id="8" name="Rounded Rectangle 7"/>
          <p:cNvSpPr/>
          <p:nvPr/>
        </p:nvSpPr>
        <p:spPr>
          <a:xfrm>
            <a:off x="262472" y="1923360"/>
            <a:ext cx="8447103" cy="872310"/>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endParaRPr>
          </a:p>
        </p:txBody>
      </p:sp>
      <p:sp>
        <p:nvSpPr>
          <p:cNvPr id="9" name="TextBox 8"/>
          <p:cNvSpPr txBox="1"/>
          <p:nvPr/>
        </p:nvSpPr>
        <p:spPr>
          <a:xfrm>
            <a:off x="354306" y="1962456"/>
            <a:ext cx="1675451" cy="830997"/>
          </a:xfrm>
          <a:prstGeom prst="rect">
            <a:avLst/>
          </a:prstGeom>
          <a:noFill/>
        </p:spPr>
        <p:txBody>
          <a:bodyPr wrap="square" rtlCol="0">
            <a:spAutoFit/>
          </a:bodyPr>
          <a:lstStyle/>
          <a:p>
            <a:r>
              <a:rPr lang="en-US" sz="1600" b="1" dirty="0">
                <a:solidFill>
                  <a:prstClr val="white"/>
                </a:solidFill>
                <a:latin typeface="Arial" panose="020B0604020202020204" pitchFamily="34" charset="0"/>
                <a:cs typeface="Arial" panose="020B0604020202020204" pitchFamily="34" charset="0"/>
              </a:rPr>
              <a:t>Establish quality objectives</a:t>
            </a:r>
          </a:p>
        </p:txBody>
      </p:sp>
      <p:sp>
        <p:nvSpPr>
          <p:cNvPr id="14" name="Rounded Rectangle 13"/>
          <p:cNvSpPr/>
          <p:nvPr/>
        </p:nvSpPr>
        <p:spPr>
          <a:xfrm>
            <a:off x="3043665" y="2040058"/>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QO A</a:t>
            </a:r>
          </a:p>
        </p:txBody>
      </p:sp>
      <p:sp>
        <p:nvSpPr>
          <p:cNvPr id="22" name="Rounded Rectangle 21"/>
          <p:cNvSpPr/>
          <p:nvPr/>
        </p:nvSpPr>
        <p:spPr>
          <a:xfrm>
            <a:off x="4247929" y="2040058"/>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QO B</a:t>
            </a:r>
          </a:p>
        </p:txBody>
      </p:sp>
      <p:sp>
        <p:nvSpPr>
          <p:cNvPr id="23" name="Rounded Rectangle 22"/>
          <p:cNvSpPr/>
          <p:nvPr/>
        </p:nvSpPr>
        <p:spPr>
          <a:xfrm>
            <a:off x="6231270" y="2032257"/>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QO C</a:t>
            </a:r>
          </a:p>
        </p:txBody>
      </p:sp>
      <p:sp>
        <p:nvSpPr>
          <p:cNvPr id="24" name="Rounded Rectangle 23"/>
          <p:cNvSpPr/>
          <p:nvPr/>
        </p:nvSpPr>
        <p:spPr>
          <a:xfrm>
            <a:off x="239697" y="2937093"/>
            <a:ext cx="8447103" cy="64562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endParaRPr>
          </a:p>
        </p:txBody>
      </p:sp>
      <p:sp>
        <p:nvSpPr>
          <p:cNvPr id="27" name="TextBox 26"/>
          <p:cNvSpPr txBox="1"/>
          <p:nvPr/>
        </p:nvSpPr>
        <p:spPr>
          <a:xfrm>
            <a:off x="306025" y="2959991"/>
            <a:ext cx="1901087" cy="584775"/>
          </a:xfrm>
          <a:prstGeom prst="rect">
            <a:avLst/>
          </a:prstGeom>
          <a:noFill/>
        </p:spPr>
        <p:txBody>
          <a:bodyPr wrap="square" rtlCol="0">
            <a:spAutoFit/>
          </a:bodyPr>
          <a:lstStyle/>
          <a:p>
            <a:r>
              <a:rPr lang="en-US" sz="1600" b="1" dirty="0">
                <a:solidFill>
                  <a:prstClr val="white"/>
                </a:solidFill>
                <a:latin typeface="Arial" panose="020B0604020202020204" pitchFamily="34" charset="0"/>
                <a:cs typeface="Arial" panose="020B0604020202020204" pitchFamily="34" charset="0"/>
              </a:rPr>
              <a:t>Identify </a:t>
            </a:r>
            <a:r>
              <a:rPr lang="en-US" sz="1600" b="1" dirty="0" smtClean="0">
                <a:solidFill>
                  <a:prstClr val="white"/>
                </a:solidFill>
                <a:latin typeface="Arial" panose="020B0604020202020204" pitchFamily="34" charset="0"/>
                <a:cs typeface="Arial" panose="020B0604020202020204" pitchFamily="34" charset="0"/>
              </a:rPr>
              <a:t>quality </a:t>
            </a:r>
            <a:r>
              <a:rPr lang="en-US" sz="1600" b="1" dirty="0">
                <a:solidFill>
                  <a:prstClr val="white"/>
                </a:solidFill>
                <a:latin typeface="Arial" panose="020B0604020202020204" pitchFamily="34" charset="0"/>
                <a:cs typeface="Arial" panose="020B0604020202020204" pitchFamily="34" charset="0"/>
              </a:rPr>
              <a:t>risks</a:t>
            </a:r>
          </a:p>
        </p:txBody>
      </p:sp>
      <p:sp>
        <p:nvSpPr>
          <p:cNvPr id="34" name="Rounded Rectangle 33"/>
          <p:cNvSpPr/>
          <p:nvPr/>
        </p:nvSpPr>
        <p:spPr>
          <a:xfrm>
            <a:off x="5253910" y="3013137"/>
            <a:ext cx="818036"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QR D</a:t>
            </a:r>
          </a:p>
        </p:txBody>
      </p:sp>
      <p:sp>
        <p:nvSpPr>
          <p:cNvPr id="35" name="Rounded Rectangle 34"/>
          <p:cNvSpPr/>
          <p:nvPr/>
        </p:nvSpPr>
        <p:spPr>
          <a:xfrm>
            <a:off x="6362495" y="3007515"/>
            <a:ext cx="818036"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QR E</a:t>
            </a:r>
          </a:p>
        </p:txBody>
      </p:sp>
      <p:sp>
        <p:nvSpPr>
          <p:cNvPr id="36" name="Rounded Rectangle 35"/>
          <p:cNvSpPr/>
          <p:nvPr/>
        </p:nvSpPr>
        <p:spPr>
          <a:xfrm>
            <a:off x="7370861" y="3013137"/>
            <a:ext cx="818036"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QR F</a:t>
            </a:r>
          </a:p>
        </p:txBody>
      </p:sp>
      <p:sp>
        <p:nvSpPr>
          <p:cNvPr id="53" name="Rounded Rectangle 52"/>
          <p:cNvSpPr/>
          <p:nvPr/>
        </p:nvSpPr>
        <p:spPr>
          <a:xfrm>
            <a:off x="2188117" y="3001040"/>
            <a:ext cx="818036"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QR A</a:t>
            </a:r>
          </a:p>
        </p:txBody>
      </p:sp>
      <p:cxnSp>
        <p:nvCxnSpPr>
          <p:cNvPr id="68" name="Straight Connector 67"/>
          <p:cNvCxnSpPr/>
          <p:nvPr/>
        </p:nvCxnSpPr>
        <p:spPr>
          <a:xfrm flipH="1">
            <a:off x="6648756" y="2377954"/>
            <a:ext cx="12595" cy="631072"/>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flipH="1">
            <a:off x="2542325" y="2423942"/>
            <a:ext cx="681639" cy="556573"/>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270641" y="3702028"/>
            <a:ext cx="8447103" cy="881444"/>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endParaRPr>
          </a:p>
        </p:txBody>
      </p:sp>
      <p:sp>
        <p:nvSpPr>
          <p:cNvPr id="58" name="TextBox 57"/>
          <p:cNvSpPr txBox="1"/>
          <p:nvPr/>
        </p:nvSpPr>
        <p:spPr>
          <a:xfrm>
            <a:off x="337267" y="3752515"/>
            <a:ext cx="1901087" cy="830997"/>
          </a:xfrm>
          <a:prstGeom prst="rect">
            <a:avLst/>
          </a:prstGeom>
          <a:noFill/>
        </p:spPr>
        <p:txBody>
          <a:bodyPr wrap="square" rtlCol="0">
            <a:spAutoFit/>
          </a:bodyPr>
          <a:lstStyle/>
          <a:p>
            <a:r>
              <a:rPr lang="en-US" sz="1600" b="1" dirty="0">
                <a:solidFill>
                  <a:prstClr val="white"/>
                </a:solidFill>
                <a:latin typeface="Arial" panose="020B0604020202020204" pitchFamily="34" charset="0"/>
                <a:cs typeface="Arial" panose="020B0604020202020204" pitchFamily="34" charset="0"/>
              </a:rPr>
              <a:t>Design and implement responses</a:t>
            </a:r>
          </a:p>
        </p:txBody>
      </p:sp>
      <p:sp>
        <p:nvSpPr>
          <p:cNvPr id="59" name="Rounded Rectangle 58"/>
          <p:cNvSpPr/>
          <p:nvPr/>
        </p:nvSpPr>
        <p:spPr>
          <a:xfrm>
            <a:off x="3211773" y="3809004"/>
            <a:ext cx="8845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A</a:t>
            </a:r>
          </a:p>
        </p:txBody>
      </p:sp>
      <p:sp>
        <p:nvSpPr>
          <p:cNvPr id="60" name="Rounded Rectangle 59"/>
          <p:cNvSpPr/>
          <p:nvPr/>
        </p:nvSpPr>
        <p:spPr>
          <a:xfrm>
            <a:off x="6125229" y="3747842"/>
            <a:ext cx="864949"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B</a:t>
            </a:r>
          </a:p>
        </p:txBody>
      </p:sp>
      <p:sp>
        <p:nvSpPr>
          <p:cNvPr id="62" name="Rounded Rectangle 61"/>
          <p:cNvSpPr/>
          <p:nvPr/>
        </p:nvSpPr>
        <p:spPr>
          <a:xfrm>
            <a:off x="2188117" y="4117526"/>
            <a:ext cx="868273"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C</a:t>
            </a:r>
          </a:p>
        </p:txBody>
      </p:sp>
      <p:sp>
        <p:nvSpPr>
          <p:cNvPr id="64" name="Rounded Rectangle 63"/>
          <p:cNvSpPr/>
          <p:nvPr/>
        </p:nvSpPr>
        <p:spPr>
          <a:xfrm>
            <a:off x="4365680" y="3839932"/>
            <a:ext cx="879966" cy="358661"/>
          </a:xfrm>
          <a:prstGeom prst="roundRect">
            <a:avLst/>
          </a:prstGeom>
          <a:solidFill>
            <a:schemeClr val="tx2">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D </a:t>
            </a:r>
          </a:p>
        </p:txBody>
      </p:sp>
      <p:sp>
        <p:nvSpPr>
          <p:cNvPr id="66" name="Rounded Rectangle 65"/>
          <p:cNvSpPr/>
          <p:nvPr/>
        </p:nvSpPr>
        <p:spPr>
          <a:xfrm>
            <a:off x="5449847" y="4117526"/>
            <a:ext cx="886789"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E </a:t>
            </a:r>
          </a:p>
        </p:txBody>
      </p:sp>
      <p:sp>
        <p:nvSpPr>
          <p:cNvPr id="69" name="Rounded Rectangle 68"/>
          <p:cNvSpPr/>
          <p:nvPr/>
        </p:nvSpPr>
        <p:spPr>
          <a:xfrm>
            <a:off x="6478199" y="4117589"/>
            <a:ext cx="892662"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F </a:t>
            </a:r>
          </a:p>
        </p:txBody>
      </p:sp>
      <p:sp>
        <p:nvSpPr>
          <p:cNvPr id="70" name="Rounded Rectangle 69"/>
          <p:cNvSpPr/>
          <p:nvPr/>
        </p:nvSpPr>
        <p:spPr>
          <a:xfrm>
            <a:off x="7474449" y="4117524"/>
            <a:ext cx="887194" cy="358661"/>
          </a:xfrm>
          <a:prstGeom prst="roundRect">
            <a:avLst/>
          </a:prstGeom>
          <a:solidFill>
            <a:schemeClr val="accent5"/>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Arial" panose="020B0604020202020204" pitchFamily="34" charset="0"/>
                <a:cs typeface="Arial" panose="020B0604020202020204" pitchFamily="34" charset="0"/>
              </a:rPr>
              <a:t>Resp. G </a:t>
            </a:r>
          </a:p>
        </p:txBody>
      </p:sp>
      <p:cxnSp>
        <p:nvCxnSpPr>
          <p:cNvPr id="80" name="Straight Connector 79"/>
          <p:cNvCxnSpPr/>
          <p:nvPr/>
        </p:nvCxnSpPr>
        <p:spPr>
          <a:xfrm>
            <a:off x="2572728" y="3393831"/>
            <a:ext cx="0" cy="691114"/>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p:nvPr/>
        </p:nvCxnSpPr>
        <p:spPr>
          <a:xfrm flipH="1">
            <a:off x="5119588" y="3397606"/>
            <a:ext cx="412419" cy="386175"/>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3" name="Straight Connector 92"/>
          <p:cNvCxnSpPr/>
          <p:nvPr/>
        </p:nvCxnSpPr>
        <p:spPr>
          <a:xfrm>
            <a:off x="6648756" y="3397606"/>
            <a:ext cx="6574" cy="330765"/>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4" name="Straight Connector 93"/>
          <p:cNvCxnSpPr>
            <a:endCxn id="34" idx="0"/>
          </p:cNvCxnSpPr>
          <p:nvPr/>
        </p:nvCxnSpPr>
        <p:spPr>
          <a:xfrm flipH="1">
            <a:off x="5662928" y="2396800"/>
            <a:ext cx="717513" cy="616337"/>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5" name="Straight Connector 94"/>
          <p:cNvCxnSpPr/>
          <p:nvPr/>
        </p:nvCxnSpPr>
        <p:spPr>
          <a:xfrm>
            <a:off x="7028080" y="2357425"/>
            <a:ext cx="559694" cy="615634"/>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6" name="Straight Connector 95"/>
          <p:cNvCxnSpPr/>
          <p:nvPr/>
        </p:nvCxnSpPr>
        <p:spPr>
          <a:xfrm flipH="1">
            <a:off x="7779879" y="3421046"/>
            <a:ext cx="8828" cy="685457"/>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7" name="Straight Connector 96"/>
          <p:cNvCxnSpPr/>
          <p:nvPr/>
        </p:nvCxnSpPr>
        <p:spPr>
          <a:xfrm flipH="1">
            <a:off x="5817256" y="3395171"/>
            <a:ext cx="8010" cy="689774"/>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8" name="Straight Connector 97"/>
          <p:cNvCxnSpPr/>
          <p:nvPr/>
        </p:nvCxnSpPr>
        <p:spPr>
          <a:xfrm flipH="1">
            <a:off x="7102495" y="3362404"/>
            <a:ext cx="2226" cy="733923"/>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a:off x="4831651" y="2412995"/>
            <a:ext cx="653922" cy="546996"/>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85609" y="899849"/>
            <a:ext cx="8555278" cy="1015663"/>
          </a:xfrm>
          <a:prstGeom prst="rect">
            <a:avLst/>
          </a:prstGeom>
          <a:noFill/>
        </p:spPr>
        <p:txBody>
          <a:bodyPr wrap="square" rtlCol="0">
            <a:spAutoFit/>
          </a:bodyPr>
          <a:lstStyle/>
          <a:p>
            <a:pPr algn="ctr"/>
            <a:r>
              <a:rPr lang="en-US" sz="2000" dirty="0" smtClean="0">
                <a:latin typeface="Arial" panose="020B0604020202020204" pitchFamily="34" charset="0"/>
                <a:cs typeface="Arial" panose="020B0604020202020204" pitchFamily="34" charset="0"/>
              </a:rPr>
              <a:t>Option B</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firm </a:t>
            </a:r>
            <a:r>
              <a:rPr lang="en-US" sz="2000" dirty="0" smtClean="0">
                <a:latin typeface="Arial" panose="020B0604020202020204" pitchFamily="34" charset="0"/>
                <a:cs typeface="Arial" panose="020B0604020202020204" pitchFamily="34" charset="0"/>
              </a:rPr>
              <a:t>does not need to </a:t>
            </a:r>
            <a:r>
              <a:rPr lang="en-US" sz="2000" dirty="0">
                <a:latin typeface="Arial" panose="020B0604020202020204" pitchFamily="34" charset="0"/>
                <a:cs typeface="Arial" panose="020B0604020202020204" pitchFamily="34" charset="0"/>
              </a:rPr>
              <a:t>have a related quality risk for every required response, i.e., there are some responses that the firm merely implements)</a:t>
            </a:r>
          </a:p>
        </p:txBody>
      </p:sp>
      <p:cxnSp>
        <p:nvCxnSpPr>
          <p:cNvPr id="5" name="Straight Connector 4"/>
          <p:cNvCxnSpPr>
            <a:endCxn id="59" idx="0"/>
          </p:cNvCxnSpPr>
          <p:nvPr/>
        </p:nvCxnSpPr>
        <p:spPr>
          <a:xfrm>
            <a:off x="3651938" y="2423942"/>
            <a:ext cx="2103" cy="1385062"/>
          </a:xfrm>
          <a:prstGeom prst="line">
            <a:avLst/>
          </a:prstGeom>
          <a:ln>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4567203" y="2417199"/>
            <a:ext cx="2103" cy="1385062"/>
          </a:xfrm>
          <a:prstGeom prst="line">
            <a:avLst/>
          </a:prstGeom>
          <a:ln>
            <a:solidFill>
              <a:schemeClr val="accent1"/>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53209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199" y="427437"/>
            <a:ext cx="8775577" cy="403875"/>
          </a:xfrm>
        </p:spPr>
        <p:txBody>
          <a:bodyPr/>
          <a:lstStyle/>
          <a:p>
            <a:r>
              <a:rPr lang="en-US" dirty="0" smtClean="0"/>
              <a:t>Examples of Quality </a:t>
            </a:r>
            <a:r>
              <a:rPr lang="en-US" dirty="0"/>
              <a:t>Risks </a:t>
            </a:r>
            <a:r>
              <a:rPr lang="en-US" dirty="0" smtClean="0"/>
              <a:t>for Prescribed Reponses for Monitoring and Remediation</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6</a:t>
            </a:fld>
            <a:endParaRPr lang="en-US" sz="750" dirty="0">
              <a:solidFill>
                <a:schemeClr val="tx1"/>
              </a:solidFill>
              <a:latin typeface="+mn-lt"/>
            </a:endParaRPr>
          </a:p>
          <a:p>
            <a:endParaRPr lang="en-US" sz="750" dirty="0">
              <a:solidFill>
                <a:schemeClr val="tx1"/>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3015016229"/>
              </p:ext>
            </p:extLst>
          </p:nvPr>
        </p:nvGraphicFramePr>
        <p:xfrm>
          <a:off x="377299" y="976991"/>
          <a:ext cx="8438226" cy="3352800"/>
        </p:xfrm>
        <a:graphic>
          <a:graphicData uri="http://schemas.openxmlformats.org/drawingml/2006/table">
            <a:tbl>
              <a:tblPr firstRow="1" bandRow="1">
                <a:tableStyleId>{5C22544A-7EE6-4342-B048-85BDC9FD1C3A}</a:tableStyleId>
              </a:tblPr>
              <a:tblGrid>
                <a:gridCol w="4219113"/>
                <a:gridCol w="4219113"/>
              </a:tblGrid>
              <a:tr h="0">
                <a:tc>
                  <a:txBody>
                    <a:bodyPr/>
                    <a:lstStyle/>
                    <a:p>
                      <a:r>
                        <a:rPr lang="en-US" sz="1400" dirty="0" smtClean="0">
                          <a:solidFill>
                            <a:schemeClr val="tx1"/>
                          </a:solidFill>
                          <a:latin typeface="Arial" panose="020B0604020202020204" pitchFamily="34" charset="0"/>
                          <a:cs typeface="Arial" panose="020B0604020202020204" pitchFamily="34" charset="0"/>
                        </a:rPr>
                        <a:t>Prescribed</a:t>
                      </a:r>
                      <a:r>
                        <a:rPr lang="en-US" sz="1400" baseline="0" dirty="0" smtClean="0">
                          <a:solidFill>
                            <a:schemeClr val="tx1"/>
                          </a:solidFill>
                          <a:latin typeface="Arial" panose="020B0604020202020204" pitchFamily="34" charset="0"/>
                          <a:cs typeface="Arial" panose="020B0604020202020204" pitchFamily="34" charset="0"/>
                        </a:rPr>
                        <a:t> Response</a:t>
                      </a:r>
                      <a:endParaRPr lang="en-US" sz="1400" dirty="0">
                        <a:solidFill>
                          <a:schemeClr val="tx1"/>
                        </a:solidFill>
                        <a:latin typeface="Arial" panose="020B0604020202020204" pitchFamily="34" charset="0"/>
                        <a:cs typeface="Arial" panose="020B0604020202020204" pitchFamily="34" charset="0"/>
                      </a:endParaRPr>
                    </a:p>
                  </a:txBody>
                  <a:tcPr>
                    <a:solidFill>
                      <a:schemeClr val="bg1">
                        <a:lumMod val="75000"/>
                      </a:schemeClr>
                    </a:solidFill>
                  </a:tcPr>
                </a:tc>
                <a:tc>
                  <a:txBody>
                    <a:bodyPr/>
                    <a:lstStyle/>
                    <a:p>
                      <a:r>
                        <a:rPr lang="en-US" sz="1400" dirty="0" smtClean="0">
                          <a:solidFill>
                            <a:schemeClr val="tx1"/>
                          </a:solidFill>
                          <a:latin typeface="Arial" panose="020B0604020202020204" pitchFamily="34" charset="0"/>
                          <a:cs typeface="Arial" panose="020B0604020202020204" pitchFamily="34" charset="0"/>
                        </a:rPr>
                        <a:t>Example of a Related Quality Risk</a:t>
                      </a:r>
                      <a:endParaRPr lang="en-US" sz="1400" dirty="0">
                        <a:solidFill>
                          <a:schemeClr val="tx1"/>
                        </a:solidFill>
                        <a:latin typeface="Arial" panose="020B0604020202020204" pitchFamily="34" charset="0"/>
                        <a:cs typeface="Arial" panose="020B0604020202020204" pitchFamily="34" charset="0"/>
                      </a:endParaRPr>
                    </a:p>
                  </a:txBody>
                  <a:tcPr>
                    <a:solidFill>
                      <a:schemeClr val="bg1">
                        <a:lumMod val="75000"/>
                      </a:schemeClr>
                    </a:solidFill>
                  </a:tcPr>
                </a:tc>
              </a:tr>
              <a:tr h="370840">
                <a:tc>
                  <a:txBody>
                    <a:bodyPr/>
                    <a:lstStyle/>
                    <a:p>
                      <a:r>
                        <a:rPr lang="en-US" sz="1400" kern="1200" dirty="0" smtClean="0">
                          <a:solidFill>
                            <a:schemeClr val="dk1"/>
                          </a:solidFill>
                          <a:effectLst/>
                          <a:latin typeface="Arial" panose="020B0604020202020204" pitchFamily="34" charset="0"/>
                          <a:ea typeface="+mn-ea"/>
                          <a:cs typeface="Arial" panose="020B0604020202020204" pitchFamily="34" charset="0"/>
                        </a:rPr>
                        <a:t>The firm shall determine the nature, scope and frequency of the monitoring activities, including the appropriate combination of ongoing or periodic monitoring activities, taking into consideration:…</a:t>
                      </a:r>
                    </a:p>
                  </a:txBody>
                  <a:tcPr>
                    <a:solidFill>
                      <a:schemeClr val="bg1">
                        <a:lumMod val="95000"/>
                      </a:schemeClr>
                    </a:solidFill>
                  </a:tcPr>
                </a:tc>
                <a:tc>
                  <a:txBody>
                    <a:bodyPr/>
                    <a:lstStyle/>
                    <a:p>
                      <a:r>
                        <a:rPr lang="en-US" sz="1400" dirty="0" smtClean="0">
                          <a:latin typeface="Arial" panose="020B0604020202020204" pitchFamily="34" charset="0"/>
                          <a:cs typeface="Arial" panose="020B0604020202020204" pitchFamily="34" charset="0"/>
                        </a:rPr>
                        <a:t>The scope</a:t>
                      </a:r>
                      <a:r>
                        <a:rPr lang="en-US" sz="1400" baseline="0" dirty="0" smtClean="0">
                          <a:latin typeface="Arial" panose="020B0604020202020204" pitchFamily="34" charset="0"/>
                          <a:cs typeface="Arial" panose="020B0604020202020204" pitchFamily="34" charset="0"/>
                        </a:rPr>
                        <a:t> of the </a:t>
                      </a:r>
                      <a:r>
                        <a:rPr lang="en-US" sz="1400" dirty="0" smtClean="0">
                          <a:latin typeface="Arial" panose="020B0604020202020204" pitchFamily="34" charset="0"/>
                          <a:cs typeface="Arial" panose="020B0604020202020204" pitchFamily="34" charset="0"/>
                        </a:rPr>
                        <a:t>firm’s monitoring activities are inadequate to support the evaluation of the design, implementation and operation of the components of the system of quality management</a:t>
                      </a:r>
                      <a:endParaRPr lang="en-US" sz="1400" dirty="0">
                        <a:latin typeface="Arial" panose="020B0604020202020204" pitchFamily="34" charset="0"/>
                        <a:cs typeface="Arial" panose="020B0604020202020204" pitchFamily="34" charset="0"/>
                      </a:endParaRPr>
                    </a:p>
                  </a:txBody>
                  <a:tcPr>
                    <a:solidFill>
                      <a:schemeClr val="bg1">
                        <a:lumMod val="95000"/>
                      </a:schemeClr>
                    </a:solidFill>
                  </a:tcPr>
                </a:tc>
              </a:tr>
              <a:tr h="370840">
                <a:tc>
                  <a:txBody>
                    <a:bodyPr/>
                    <a:lstStyle/>
                    <a:p>
                      <a:r>
                        <a:rPr lang="en-US" sz="1400" kern="1200" dirty="0" smtClean="0">
                          <a:solidFill>
                            <a:schemeClr val="dk1"/>
                          </a:solidFill>
                          <a:effectLst/>
                          <a:latin typeface="Arial" panose="020B0604020202020204" pitchFamily="34" charset="0"/>
                          <a:ea typeface="+mn-ea"/>
                          <a:cs typeface="Arial" panose="020B0604020202020204" pitchFamily="34" charset="0"/>
                        </a:rPr>
                        <a:t>The firm shall design and implement monitoring activities to determine whether the responses designed by the firm that are required to be implemented at the engagement level have been implemented…</a:t>
                      </a:r>
                      <a:endParaRPr lang="en-US" sz="1400" dirty="0">
                        <a:latin typeface="Arial" panose="020B0604020202020204" pitchFamily="34" charset="0"/>
                        <a:cs typeface="Arial" panose="020B0604020202020204" pitchFamily="34" charset="0"/>
                      </a:endParaRPr>
                    </a:p>
                  </a:txBody>
                  <a:tcPr>
                    <a:solidFill>
                      <a:srgbClr val="CEDDEA"/>
                    </a:solidFill>
                  </a:tcPr>
                </a:tc>
                <a:tc>
                  <a:txBody>
                    <a:bodyPr/>
                    <a:lstStyle/>
                    <a:p>
                      <a:r>
                        <a:rPr lang="en-US" sz="1400" dirty="0" smtClean="0">
                          <a:latin typeface="Arial" panose="020B0604020202020204" pitchFamily="34" charset="0"/>
                          <a:cs typeface="Arial" panose="020B0604020202020204" pitchFamily="34" charset="0"/>
                        </a:rPr>
                        <a:t>The nature</a:t>
                      </a:r>
                      <a:r>
                        <a:rPr lang="en-US" sz="1400" baseline="0" dirty="0" smtClean="0">
                          <a:latin typeface="Arial" panose="020B0604020202020204" pitchFamily="34" charset="0"/>
                          <a:cs typeface="Arial" panose="020B0604020202020204" pitchFamily="34" charset="0"/>
                        </a:rPr>
                        <a:t> of the </a:t>
                      </a:r>
                      <a:r>
                        <a:rPr lang="en-US" sz="1400" dirty="0" smtClean="0">
                          <a:latin typeface="Arial" panose="020B0604020202020204" pitchFamily="34" charset="0"/>
                          <a:cs typeface="Arial" panose="020B0604020202020204" pitchFamily="34" charset="0"/>
                        </a:rPr>
                        <a:t>firm’s monitoring activities are not designed</a:t>
                      </a:r>
                      <a:r>
                        <a:rPr lang="en-US" sz="1400" baseline="0" dirty="0" smtClean="0">
                          <a:latin typeface="Arial" panose="020B0604020202020204" pitchFamily="34" charset="0"/>
                          <a:cs typeface="Arial" panose="020B0604020202020204" pitchFamily="34" charset="0"/>
                        </a:rPr>
                        <a:t> in a manner that enables the firm to determine whether its responses have been implemented at the engagement level</a:t>
                      </a:r>
                      <a:endParaRPr lang="en-US" sz="1400" dirty="0">
                        <a:latin typeface="Arial" panose="020B0604020202020204" pitchFamily="34" charset="0"/>
                        <a:cs typeface="Arial" panose="020B0604020202020204" pitchFamily="34" charset="0"/>
                      </a:endParaRPr>
                    </a:p>
                  </a:txBody>
                  <a:tcPr>
                    <a:solidFill>
                      <a:srgbClr val="CEDDEA"/>
                    </a:solidFill>
                  </a:tcPr>
                </a:tc>
              </a:tr>
              <a:tr h="370840">
                <a:tc>
                  <a:txBody>
                    <a:bodyPr/>
                    <a:lstStyle/>
                    <a:p>
                      <a:r>
                        <a:rPr lang="en-US" sz="1400" kern="1200" dirty="0" smtClean="0">
                          <a:solidFill>
                            <a:schemeClr val="dk1"/>
                          </a:solidFill>
                          <a:effectLst/>
                          <a:latin typeface="Arial" panose="020B0604020202020204" pitchFamily="34" charset="0"/>
                          <a:ea typeface="+mn-ea"/>
                          <a:cs typeface="Arial" panose="020B0604020202020204" pitchFamily="34" charset="0"/>
                        </a:rPr>
                        <a:t>The firm shall investigate the root cause(s) of the deficiencies, through performing procedures whose nature, timing and extent are based on the nature of the deficiencies and their possible severity.</a:t>
                      </a:r>
                      <a:endParaRPr lang="en-US" sz="1400" dirty="0">
                        <a:latin typeface="Arial" panose="020B0604020202020204" pitchFamily="34" charset="0"/>
                        <a:cs typeface="Arial" panose="020B0604020202020204" pitchFamily="34" charset="0"/>
                      </a:endParaRPr>
                    </a:p>
                  </a:txBody>
                  <a:tcPr>
                    <a:solidFill>
                      <a:schemeClr val="bg1">
                        <a:lumMod val="95000"/>
                      </a:schemeClr>
                    </a:solidFill>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400" dirty="0" smtClean="0">
                          <a:latin typeface="Arial" panose="020B0604020202020204" pitchFamily="34" charset="0"/>
                          <a:cs typeface="Arial" panose="020B0604020202020204" pitchFamily="34" charset="0"/>
                        </a:rPr>
                        <a:t>The firm’s remedial actions do not appropriately</a:t>
                      </a:r>
                      <a:r>
                        <a:rPr lang="en-US" sz="1400" baseline="0" dirty="0" smtClean="0">
                          <a:latin typeface="Arial" panose="020B0604020202020204" pitchFamily="34" charset="0"/>
                          <a:cs typeface="Arial" panose="020B0604020202020204" pitchFamily="34" charset="0"/>
                        </a:rPr>
                        <a:t> address a deficiency.</a:t>
                      </a:r>
                      <a:endParaRPr lang="en-US" sz="1400" dirty="0" smtClean="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txBody>
                  <a:tcPr>
                    <a:solidFill>
                      <a:schemeClr val="bg1">
                        <a:lumMod val="95000"/>
                      </a:schemeClr>
                    </a:solidFill>
                  </a:tcPr>
                </a:tc>
              </a:tr>
            </a:tbl>
          </a:graphicData>
        </a:graphic>
      </p:graphicFrame>
    </p:spTree>
    <p:extLst>
      <p:ext uri="{BB962C8B-B14F-4D97-AF65-F5344CB8AC3E}">
        <p14:creationId xmlns:p14="http://schemas.microsoft.com/office/powerpoint/2010/main" val="11430745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The Firm’s Risk Assessment Process</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7</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2" y="1029809"/>
            <a:ext cx="8673483" cy="914401"/>
          </a:xfrm>
          <a:prstGeom prst="roundRect">
            <a:avLst/>
          </a:prstGeom>
          <a:solidFill>
            <a:schemeClr val="bg1">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18A – 19D</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57451" y="2142707"/>
            <a:ext cx="8673483" cy="2571336"/>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3:</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share their views on the changes proposed in paragraphs 18A–19D of Agenda Item 5–A, including whether the IAASB:</a:t>
            </a:r>
          </a:p>
          <a:p>
            <a:pPr marL="0" lvl="0" indent="-347472">
              <a:spcBef>
                <a:spcPts val="800"/>
              </a:spcBef>
              <a:buNone/>
            </a:pPr>
            <a:r>
              <a:rPr lang="en-US" sz="1600" dirty="0">
                <a:solidFill>
                  <a:schemeClr val="tx1">
                    <a:lumMod val="50000"/>
                    <a:lumOff val="50000"/>
                  </a:schemeClr>
                </a:solidFill>
                <a:latin typeface="Arial" panose="020B0604020202020204" pitchFamily="34" charset="0"/>
                <a:cs typeface="Arial" panose="020B0604020202020204" pitchFamily="34" charset="0"/>
              </a:rPr>
              <a:t>(a) 	Agrees with the QCTF’s conclusion that the standard should be more explicit that the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quality </a:t>
            </a:r>
            <a:r>
              <a:rPr lang="en-US" sz="1600" dirty="0">
                <a:solidFill>
                  <a:schemeClr val="tx1">
                    <a:lumMod val="50000"/>
                    <a:lumOff val="50000"/>
                  </a:schemeClr>
                </a:solidFill>
                <a:latin typeface="Arial" panose="020B0604020202020204" pitchFamily="34" charset="0"/>
                <a:cs typeface="Arial" panose="020B0604020202020204" pitchFamily="34" charset="0"/>
              </a:rPr>
              <a:t>objectives are all-inclusive, and reduce the focus on the need for the firm to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identify </a:t>
            </a:r>
            <a:r>
              <a:rPr lang="en-US" sz="1600" dirty="0">
                <a:solidFill>
                  <a:schemeClr val="tx1">
                    <a:lumMod val="50000"/>
                    <a:lumOff val="50000"/>
                  </a:schemeClr>
                </a:solidFill>
                <a:latin typeface="Arial" panose="020B0604020202020204" pitchFamily="34" charset="0"/>
                <a:cs typeface="Arial" panose="020B0604020202020204" pitchFamily="34" charset="0"/>
              </a:rPr>
              <a:t>additional or more granular quality objectives.</a:t>
            </a:r>
          </a:p>
          <a:p>
            <a:pPr marL="0" lvl="0" indent="-347472">
              <a:spcBef>
                <a:spcPts val="800"/>
              </a:spcBef>
              <a:buNone/>
            </a:pPr>
            <a:r>
              <a:rPr lang="en-US" sz="1600" dirty="0">
                <a:solidFill>
                  <a:schemeClr val="tx1">
                    <a:lumMod val="50000"/>
                    <a:lumOff val="50000"/>
                  </a:schemeClr>
                </a:solidFill>
                <a:latin typeface="Arial" panose="020B0604020202020204" pitchFamily="34" charset="0"/>
                <a:cs typeface="Arial" panose="020B0604020202020204" pitchFamily="34" charset="0"/>
              </a:rPr>
              <a:t>(b) 	Is of the view that the firm is expected to identify quality risks for all prescribed responses,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as </a:t>
            </a:r>
            <a:r>
              <a:rPr lang="en-US" sz="1600" dirty="0">
                <a:solidFill>
                  <a:schemeClr val="tx1">
                    <a:lumMod val="50000"/>
                    <a:lumOff val="50000"/>
                  </a:schemeClr>
                </a:solidFill>
                <a:latin typeface="Arial" panose="020B0604020202020204" pitchFamily="34" charset="0"/>
                <a:cs typeface="Arial" panose="020B0604020202020204" pitchFamily="34" charset="0"/>
              </a:rPr>
              <a:t>explained in paragraph 21</a:t>
            </a:r>
            <a:r>
              <a:rPr lang="en-US" sz="1600" dirty="0" smtClean="0">
                <a:solidFill>
                  <a:schemeClr val="tx1">
                    <a:lumMod val="50000"/>
                    <a:lumOff val="50000"/>
                  </a:schemeClr>
                </a:solidFill>
                <a:latin typeface="Arial" panose="020B0604020202020204" pitchFamily="34" charset="0"/>
                <a:cs typeface="Arial" panose="020B0604020202020204" pitchFamily="34" charset="0"/>
              </a:rPr>
              <a:t>.</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02888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Monitoring and Remediation</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8</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2" y="1029809"/>
            <a:ext cx="8673483" cy="914401"/>
          </a:xfrm>
          <a:prstGeom prst="roundRect">
            <a:avLst/>
          </a:prstGeom>
          <a:solidFill>
            <a:schemeClr val="bg1">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44 – 58</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57451" y="2142707"/>
            <a:ext cx="8673483" cy="2455926"/>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4</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Does </a:t>
            </a:r>
            <a:r>
              <a:rPr lang="en-US" sz="1600" dirty="0">
                <a:solidFill>
                  <a:schemeClr val="tx1">
                    <a:lumMod val="50000"/>
                    <a:lumOff val="50000"/>
                  </a:schemeClr>
                </a:solidFill>
                <a:latin typeface="Arial" panose="020B0604020202020204" pitchFamily="34" charset="0"/>
                <a:cs typeface="Arial" panose="020B0604020202020204" pitchFamily="34" charset="0"/>
              </a:rPr>
              <a:t>the IAASB agree with the revisions to the monitoring and remediation component in paragraphs 44–58 of Agenda Item 5–A</a:t>
            </a:r>
            <a:r>
              <a:rPr lang="en-US" sz="1600" dirty="0" smtClean="0">
                <a:solidFill>
                  <a:schemeClr val="tx1">
                    <a:lumMod val="50000"/>
                    <a:lumOff val="50000"/>
                  </a:schemeClr>
                </a:solidFill>
                <a:latin typeface="Arial" panose="020B0604020202020204" pitchFamily="34" charset="0"/>
                <a:cs typeface="Arial" panose="020B0604020202020204" pitchFamily="34" charset="0"/>
              </a:rPr>
              <a:t>?</a:t>
            </a:r>
          </a:p>
          <a:p>
            <a:pPr marL="0" indent="0">
              <a:spcBef>
                <a:spcPts val="800"/>
              </a:spcBef>
              <a:buNone/>
            </a:pPr>
            <a:r>
              <a:rPr lang="en-US" sz="1600" b="1" dirty="0">
                <a:solidFill>
                  <a:schemeClr val="tx1">
                    <a:lumMod val="50000"/>
                    <a:lumOff val="50000"/>
                  </a:schemeClr>
                </a:solidFill>
                <a:latin typeface="Arial" panose="020B0604020202020204" pitchFamily="34" charset="0"/>
                <a:cs typeface="Arial" panose="020B0604020202020204" pitchFamily="34" charset="0"/>
              </a:rPr>
              <a:t>Question </a:t>
            </a:r>
            <a:r>
              <a:rPr lang="en-US" sz="1600" b="1" dirty="0" smtClean="0">
                <a:solidFill>
                  <a:schemeClr val="tx1">
                    <a:lumMod val="50000"/>
                    <a:lumOff val="50000"/>
                  </a:schemeClr>
                </a:solidFill>
                <a:latin typeface="Arial" panose="020B0604020202020204" pitchFamily="34" charset="0"/>
                <a:cs typeface="Arial" panose="020B0604020202020204" pitchFamily="34" charset="0"/>
              </a:rPr>
              <a:t>5:</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a:p>
            <a:pPr marL="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Do </a:t>
            </a:r>
            <a:r>
              <a:rPr lang="en-US" sz="1600" dirty="0">
                <a:solidFill>
                  <a:schemeClr val="tx1">
                    <a:lumMod val="50000"/>
                    <a:lumOff val="50000"/>
                  </a:schemeClr>
                </a:solidFill>
                <a:latin typeface="Arial" panose="020B0604020202020204" pitchFamily="34" charset="0"/>
                <a:cs typeface="Arial" panose="020B0604020202020204" pitchFamily="34" charset="0"/>
              </a:rPr>
              <a:t>the proposed revisions to paragraph 57 of Agenda Item 5–A clarify the expectations of firm leadership in evaluating the SOQM, and are these expectations reasonable in the context of the responsibilities of firm leadership? </a:t>
            </a:r>
          </a:p>
        </p:txBody>
      </p:sp>
    </p:spTree>
    <p:extLst>
      <p:ext uri="{BB962C8B-B14F-4D97-AF65-F5344CB8AC3E}">
        <p14:creationId xmlns:p14="http://schemas.microsoft.com/office/powerpoint/2010/main" val="31412508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Introduction of ISQC 1 (Revised)</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9</a:t>
            </a:fld>
            <a:endParaRPr lang="en-US" sz="750" dirty="0">
              <a:solidFill>
                <a:schemeClr val="tx1"/>
              </a:solidFill>
              <a:latin typeface="+mn-lt"/>
            </a:endParaRPr>
          </a:p>
          <a:p>
            <a:endParaRPr lang="en-US" sz="750" dirty="0">
              <a:solidFill>
                <a:schemeClr val="tx1"/>
              </a:solidFill>
              <a:latin typeface="+mn-lt"/>
            </a:endParaRPr>
          </a:p>
        </p:txBody>
      </p:sp>
      <p:sp>
        <p:nvSpPr>
          <p:cNvPr id="9" name="Rounded Rectangle 8"/>
          <p:cNvSpPr/>
          <p:nvPr/>
        </p:nvSpPr>
        <p:spPr>
          <a:xfrm>
            <a:off x="275209" y="2123660"/>
            <a:ext cx="8549195" cy="2299317"/>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spcBef>
                <a:spcPts val="800"/>
              </a:spcBef>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1:</a:t>
            </a:r>
          </a:p>
          <a:p>
            <a:pPr lvl="0" indent="-347472">
              <a:spcBef>
                <a:spcPts val="800"/>
              </a:spcBef>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share their views regarding:</a:t>
            </a:r>
          </a:p>
          <a:p>
            <a:pPr lvl="0" indent="-347472">
              <a:spcBef>
                <a:spcPts val="800"/>
              </a:spcBef>
              <a:buAutoNum type="alphaLcParenBoth"/>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purpose statement in paragraph 2A of proposed ISQC 1 (Revised), including the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appropriateness </a:t>
            </a:r>
            <a:r>
              <a:rPr lang="en-US" sz="1600" dirty="0">
                <a:solidFill>
                  <a:schemeClr val="tx1">
                    <a:lumMod val="50000"/>
                    <a:lumOff val="50000"/>
                  </a:schemeClr>
                </a:solidFill>
                <a:latin typeface="Arial" panose="020B0604020202020204" pitchFamily="34" charset="0"/>
                <a:cs typeface="Arial" panose="020B0604020202020204" pitchFamily="34" charset="0"/>
              </a:rPr>
              <a:t>of referring to the spirit of professional </a:t>
            </a:r>
            <a:r>
              <a:rPr lang="en-US" sz="1600" dirty="0" smtClean="0">
                <a:solidFill>
                  <a:schemeClr val="tx1">
                    <a:lumMod val="50000"/>
                    <a:lumOff val="50000"/>
                  </a:schemeClr>
                </a:solidFill>
                <a:latin typeface="Arial" panose="020B0604020202020204" pitchFamily="34" charset="0"/>
                <a:cs typeface="Arial" panose="020B0604020202020204" pitchFamily="34" charset="0"/>
              </a:rPr>
              <a:t>standards.</a:t>
            </a:r>
          </a:p>
          <a:p>
            <a:pPr lvl="0" indent="-347472">
              <a:spcBef>
                <a:spcPts val="800"/>
              </a:spcBef>
              <a:buAutoNum type="alphaLcParenBoth"/>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revisions to the introductory material addressing the role of professional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judgment </a:t>
            </a:r>
            <a:r>
              <a:rPr lang="en-US" sz="1600" dirty="0">
                <a:solidFill>
                  <a:schemeClr val="tx1">
                    <a:lumMod val="50000"/>
                    <a:lumOff val="50000"/>
                  </a:schemeClr>
                </a:solidFill>
                <a:latin typeface="Arial" panose="020B0604020202020204" pitchFamily="34" charset="0"/>
                <a:cs typeface="Arial" panose="020B0604020202020204" pitchFamily="34" charset="0"/>
              </a:rPr>
              <a:t>in the context of an SOQM (see paragraph 5 of Agenda Item 5–A</a:t>
            </a:r>
            <a:r>
              <a:rPr lang="en-US" sz="1600" dirty="0" smtClean="0">
                <a:solidFill>
                  <a:schemeClr val="tx1">
                    <a:lumMod val="50000"/>
                    <a:lumOff val="50000"/>
                  </a:schemeClr>
                </a:solidFill>
                <a:latin typeface="Arial" panose="020B0604020202020204" pitchFamily="34" charset="0"/>
                <a:cs typeface="Arial" panose="020B0604020202020204" pitchFamily="34" charset="0"/>
              </a:rPr>
              <a:t>).</a:t>
            </a:r>
          </a:p>
        </p:txBody>
      </p:sp>
      <p:sp>
        <p:nvSpPr>
          <p:cNvPr id="5" name="Rounded Rectangle 4"/>
          <p:cNvSpPr/>
          <p:nvPr/>
        </p:nvSpPr>
        <p:spPr>
          <a:xfrm>
            <a:off x="257453" y="1042945"/>
            <a:ext cx="8549195" cy="949375"/>
          </a:xfrm>
          <a:prstGeom prst="roundRect">
            <a:avLst/>
          </a:prstGeom>
          <a:solidFill>
            <a:schemeClr val="bg1">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2A </a:t>
            </a:r>
            <a:r>
              <a:rPr lang="en-US" sz="1600" dirty="0">
                <a:solidFill>
                  <a:schemeClr val="bg1"/>
                </a:solidFill>
                <a:latin typeface="Arial" panose="020B0604020202020204" pitchFamily="34" charset="0"/>
                <a:cs typeface="Arial" panose="020B0604020202020204" pitchFamily="34" charset="0"/>
              </a:rPr>
              <a:t>–</a:t>
            </a:r>
            <a:r>
              <a:rPr lang="en-US" sz="1600" dirty="0" smtClean="0">
                <a:solidFill>
                  <a:schemeClr val="bg1"/>
                </a:solidFill>
                <a:latin typeface="Arial" panose="020B0604020202020204" pitchFamily="34" charset="0"/>
                <a:cs typeface="Arial" panose="020B0604020202020204" pitchFamily="34" charset="0"/>
              </a:rPr>
              <a:t> 7</a:t>
            </a:r>
            <a:endParaRPr lang="en-US" sz="16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20599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73714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10115</TotalTime>
  <Words>661</Words>
  <Application>Microsoft Office PowerPoint</Application>
  <PresentationFormat>On-screen Show (16:9)</PresentationFormat>
  <Paragraphs>118</Paragraphs>
  <Slides>10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MS PGothic</vt:lpstr>
      <vt:lpstr>MS PGothic</vt:lpstr>
      <vt:lpstr>Arial</vt:lpstr>
      <vt:lpstr>Arial Narrow</vt:lpstr>
      <vt:lpstr>Calibri</vt:lpstr>
      <vt:lpstr>Times New Roman</vt:lpstr>
      <vt:lpstr>ヒラギノ角ゴ Pro W3</vt:lpstr>
      <vt:lpstr>Office Theme</vt:lpstr>
      <vt:lpstr>Quality Management (Firm Level)</vt:lpstr>
      <vt:lpstr>Structure of the Standard </vt:lpstr>
      <vt:lpstr>Structure of the Standard </vt:lpstr>
      <vt:lpstr>Question: Are Quality Risks Required for All Prescribed Reponses?</vt:lpstr>
      <vt:lpstr>Question: Are Quality Risks Required for All Prescribed Reponses?</vt:lpstr>
      <vt:lpstr>Examples of Quality Risks for Prescribed Reponses for Monitoring and Remediation</vt:lpstr>
      <vt:lpstr>The Firm’s Risk Assessment Process</vt:lpstr>
      <vt:lpstr>Monitoring and Remediation</vt:lpstr>
      <vt:lpstr>Introduction of ISQC 1 (Revised)</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Natalie Klonaridis</cp:lastModifiedBy>
  <cp:revision>145</cp:revision>
  <cp:lastPrinted>2016-03-04T17:09:52Z</cp:lastPrinted>
  <dcterms:created xsi:type="dcterms:W3CDTF">2016-11-09T14:56:20Z</dcterms:created>
  <dcterms:modified xsi:type="dcterms:W3CDTF">2018-06-19T18:13:45Z</dcterms:modified>
</cp:coreProperties>
</file>