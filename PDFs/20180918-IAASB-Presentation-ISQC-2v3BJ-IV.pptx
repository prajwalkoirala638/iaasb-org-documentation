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3"/>
  </p:notesMasterIdLst>
  <p:handoutMasterIdLst>
    <p:handoutMasterId r:id="rId44"/>
  </p:handoutMasterIdLst>
  <p:sldIdLst>
    <p:sldId id="256" r:id="rId2"/>
    <p:sldId id="445" r:id="rId3"/>
    <p:sldId id="415" r:id="rId4"/>
    <p:sldId id="444" r:id="rId5"/>
    <p:sldId id="443" r:id="rId6"/>
    <p:sldId id="416" r:id="rId7"/>
    <p:sldId id="417" r:id="rId8"/>
    <p:sldId id="418" r:id="rId9"/>
    <p:sldId id="442" r:id="rId10"/>
    <p:sldId id="450" r:id="rId11"/>
    <p:sldId id="452" r:id="rId12"/>
    <p:sldId id="428" r:id="rId13"/>
    <p:sldId id="427" r:id="rId14"/>
    <p:sldId id="430" r:id="rId15"/>
    <p:sldId id="421" r:id="rId16"/>
    <p:sldId id="425" r:id="rId17"/>
    <p:sldId id="422" r:id="rId18"/>
    <p:sldId id="424" r:id="rId19"/>
    <p:sldId id="402" r:id="rId20"/>
    <p:sldId id="451" r:id="rId21"/>
    <p:sldId id="403" r:id="rId22"/>
    <p:sldId id="423" r:id="rId23"/>
    <p:sldId id="404" r:id="rId24"/>
    <p:sldId id="447" r:id="rId25"/>
    <p:sldId id="405" r:id="rId26"/>
    <p:sldId id="406" r:id="rId27"/>
    <p:sldId id="407" r:id="rId28"/>
    <p:sldId id="432" r:id="rId29"/>
    <p:sldId id="408" r:id="rId30"/>
    <p:sldId id="409" r:id="rId31"/>
    <p:sldId id="449" r:id="rId32"/>
    <p:sldId id="433" r:id="rId33"/>
    <p:sldId id="435" r:id="rId34"/>
    <p:sldId id="434" r:id="rId35"/>
    <p:sldId id="436" r:id="rId36"/>
    <p:sldId id="437" r:id="rId37"/>
    <p:sldId id="438" r:id="rId38"/>
    <p:sldId id="440" r:id="rId39"/>
    <p:sldId id="439" r:id="rId40"/>
    <p:sldId id="448" r:id="rId41"/>
    <p:sldId id="259" r:id="rId42"/>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Natalie Klonaridis" initials="NK" lastIdx="12" clrIdx="2">
    <p:extLst>
      <p:ext uri="{19B8F6BF-5375-455C-9EA6-DF929625EA0E}">
        <p15:presenceInfo xmlns:p15="http://schemas.microsoft.com/office/powerpoint/2012/main" userId="S-1-5-21-1801674531-1972579041-839522115-13323" providerId="AD"/>
      </p:ext>
    </p:extLst>
  </p:cmAuthor>
  <p:cmAuthor id="4" name="Joy Thurgood" initials="JT" lastIdx="5" clrIdx="3">
    <p:extLst>
      <p:ext uri="{19B8F6BF-5375-455C-9EA6-DF929625EA0E}">
        <p15:presenceInfo xmlns:p15="http://schemas.microsoft.com/office/powerpoint/2012/main" userId="S-1-5-21-1801674531-1972579041-839522115-17607" providerId="AD"/>
      </p:ext>
    </p:extLst>
  </p:cmAuthor>
  <p:cmAuthor id="5" name="BJ" initials="BJ" lastIdx="3" clrIdx="4">
    <p:extLst>
      <p:ext uri="{19B8F6BF-5375-455C-9EA6-DF929625EA0E}">
        <p15:presenceInfo xmlns:p15="http://schemas.microsoft.com/office/powerpoint/2012/main" userId="B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1D9E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3" autoAdjust="0"/>
    <p:restoredTop sz="66090" autoAdjust="0"/>
  </p:normalViewPr>
  <p:slideViewPr>
    <p:cSldViewPr snapToGrid="0" snapToObjects="1">
      <p:cViewPr varScale="1">
        <p:scale>
          <a:sx n="59" d="100"/>
          <a:sy n="59" d="100"/>
        </p:scale>
        <p:origin x="1532" y="48"/>
      </p:cViewPr>
      <p:guideLst>
        <p:guide orient="horz" pos="162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201" d="100"/>
        <a:sy n="201" d="100"/>
      </p:scale>
      <p:origin x="0" y="0"/>
    </p:cViewPr>
  </p:sorterViewPr>
  <p:notesViewPr>
    <p:cSldViewPr snapToGrid="0" snapToObjects="1">
      <p:cViewPr varScale="1">
        <p:scale>
          <a:sx n="64" d="100"/>
          <a:sy n="64" d="100"/>
        </p:scale>
        <p:origin x="3096"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9/18/2018</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9/18/2018</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Good morning. </a:t>
            </a:r>
          </a:p>
          <a:p>
            <a:pPr marL="171450" indent="-171450">
              <a:buFont typeface="Arial" panose="020B0604020202020204" pitchFamily="34" charset="0"/>
              <a:buChar char="•"/>
            </a:pPr>
            <a:r>
              <a:rPr lang="en-US" dirty="0"/>
              <a:t>Introduce team – Task Force (Jamie </a:t>
            </a:r>
            <a:r>
              <a:rPr lang="en-US" dirty="0" err="1"/>
              <a:t>Shanon</a:t>
            </a:r>
            <a:r>
              <a:rPr lang="en-US" dirty="0"/>
              <a:t>, Denise Weber, Prof Kai Marten) and designations – TA (Nicki) – Brett and Joy, supported by Dan</a:t>
            </a:r>
          </a:p>
          <a:p>
            <a:pPr marL="171450" indent="-171450">
              <a:buFont typeface="Arial" panose="020B0604020202020204" pitchFamily="34" charset="0"/>
              <a:buChar char="•"/>
            </a:pPr>
            <a:r>
              <a:rPr lang="en-US" dirty="0"/>
              <a:t>Acknowledge previous team (Karin and Csilla and Natalie)</a:t>
            </a:r>
          </a:p>
          <a:p>
            <a:pPr marL="171450" indent="-171450">
              <a:buFont typeface="Arial" panose="020B0604020202020204" pitchFamily="34" charset="0"/>
              <a:buChar char="•"/>
            </a:pPr>
            <a:r>
              <a:rPr lang="en-US" dirty="0"/>
              <a:t>Explain how I came to be appointed. Former TD.</a:t>
            </a:r>
          </a:p>
          <a:p>
            <a:pPr marL="171450" indent="-171450">
              <a:buFont typeface="Arial" panose="020B0604020202020204" pitchFamily="34" charset="0"/>
              <a:buChar char="•"/>
            </a:pPr>
            <a:r>
              <a:rPr lang="en-US" dirty="0"/>
              <a:t>5 board members who were here in Sep 2017, not here today.</a:t>
            </a:r>
          </a:p>
          <a:p>
            <a:pPr marL="171450" indent="-171450">
              <a:buFont typeface="Arial" panose="020B0604020202020204" pitchFamily="34" charset="0"/>
              <a:buChar char="•"/>
            </a:pPr>
            <a:r>
              <a:rPr lang="en-US" dirty="0"/>
              <a:t>Thank my team, so much in such a short time. Met Joy for the first time 21 June 2018.</a:t>
            </a:r>
          </a:p>
          <a:p>
            <a:pPr marL="171450" indent="-171450">
              <a:buFont typeface="Arial" panose="020B0604020202020204" pitchFamily="34" charset="0"/>
              <a:buChar char="•"/>
            </a:pPr>
            <a:r>
              <a:rPr lang="en-US" dirty="0"/>
              <a:t>One of our tasks was being innovative. (multiple iterations, quick turnarounds, imperfect drafting, small team, turnaround this week)</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Goal is ED in December 2018 alongside other quality related </a:t>
            </a:r>
            <a:r>
              <a:rPr lang="en-US" dirty="0" err="1"/>
              <a:t>EDs.</a:t>
            </a:r>
            <a:r>
              <a:rPr lang="en-US" dirty="0"/>
              <a:t> Therefore, this engagement and its timing is critical.</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have sent you a lot of documentation, in addition to the papers we will discuss today.</a:t>
            </a: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417119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Start by providing some background and history of the project</a:t>
            </a:r>
          </a:p>
          <a:p>
            <a:pPr marL="171450" indent="-171450">
              <a:buFont typeface="Arial" panose="020B0604020202020204" pitchFamily="34" charset="0"/>
              <a:buChar char="•"/>
            </a:pPr>
            <a:r>
              <a:rPr lang="en-US" dirty="0"/>
              <a:t>We will provide feedback on outreach and coordination with the JWG, so that the Board can comment specifically about that also</a:t>
            </a:r>
          </a:p>
          <a:p>
            <a:pPr marL="171450" indent="-171450">
              <a:buFont typeface="Arial" panose="020B0604020202020204" pitchFamily="34" charset="0"/>
              <a:buChar char="•"/>
            </a:pPr>
            <a:r>
              <a:rPr lang="en-US" dirty="0"/>
              <a:t>Then section by section walk through, with the related application materials, using Agenda Item 6, 6-A, and 6-B, with a reference to the supplement relating to the JWG.</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During the course of this presentation, we have a few stories and a few pictures.</a:t>
            </a:r>
          </a:p>
        </p:txBody>
      </p:sp>
      <p:sp>
        <p:nvSpPr>
          <p:cNvPr id="4" name="Slide Number Placeholder 3"/>
          <p:cNvSpPr>
            <a:spLocks noGrp="1"/>
          </p:cNvSpPr>
          <p:nvPr>
            <p:ph type="sldNum" sz="quarter" idx="10"/>
          </p:nvPr>
        </p:nvSpPr>
        <p:spPr/>
        <p:txBody>
          <a:bodyPr/>
          <a:lstStyle/>
          <a:p>
            <a:fld id="{4D410189-AC31-7546-878A-F48FDE4A29F5}" type="slidenum">
              <a:rPr lang="en-US" smtClean="0"/>
              <a:t>2</a:t>
            </a:fld>
            <a:endParaRPr lang="en-US"/>
          </a:p>
        </p:txBody>
      </p:sp>
    </p:spTree>
    <p:extLst>
      <p:ext uri="{BB962C8B-B14F-4D97-AF65-F5344CB8AC3E}">
        <p14:creationId xmlns:p14="http://schemas.microsoft.com/office/powerpoint/2010/main" val="2802991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Agenda</a:t>
            </a:r>
            <a:r>
              <a:rPr lang="en-US" baseline="0" dirty="0"/>
              <a:t> Papers 6-E and 6-F contain markups from those drafts</a:t>
            </a:r>
          </a:p>
          <a:p>
            <a:pPr marL="171450" indent="-171450">
              <a:buFont typeface="Arial" panose="020B0604020202020204" pitchFamily="34" charset="0"/>
              <a:buChar char="•"/>
            </a:pPr>
            <a:r>
              <a:rPr lang="en-US" baseline="0" dirty="0"/>
              <a:t>Appendix A to Agenda Paper 6 contains relevant extracts of the QC project proposal and minutes of meetings where engagement quality reviews were discussed</a:t>
            </a:r>
          </a:p>
          <a:p>
            <a:pPr marL="171450" indent="-171450">
              <a:buFont typeface="Arial" panose="020B0604020202020204" pitchFamily="34" charset="0"/>
              <a:buChar char="•"/>
            </a:pPr>
            <a:r>
              <a:rPr lang="en-US" baseline="0" dirty="0"/>
              <a:t>TF Members: Kai-Uwe Marten, Jamie Shannon and Denise Weber; Karin French, Sarah Ashton and Wolf </a:t>
            </a:r>
            <a:r>
              <a:rPr lang="en-US" baseline="0" dirty="0" err="1"/>
              <a:t>Böhm</a:t>
            </a:r>
            <a:r>
              <a:rPr lang="en-US" baseline="0" dirty="0"/>
              <a:t> attended our first TF meeting over the summer</a:t>
            </a:r>
          </a:p>
          <a:p>
            <a:pPr marL="171450" indent="-171450">
              <a:buFont typeface="Arial" panose="020B0604020202020204" pitchFamily="34" charset="0"/>
              <a:buChar char="•"/>
            </a:pPr>
            <a:r>
              <a:rPr lang="en-US" baseline="0" dirty="0"/>
              <a:t>Reminder: only paragraph 43(e) and related AM from proposed ISQC 1 (Revised) that address engagement quality reviews is included in this session</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a:t>
            </a:fld>
            <a:endParaRPr lang="en-US"/>
          </a:p>
        </p:txBody>
      </p:sp>
    </p:spTree>
    <p:extLst>
      <p:ext uri="{BB962C8B-B14F-4D97-AF65-F5344CB8AC3E}">
        <p14:creationId xmlns:p14="http://schemas.microsoft.com/office/powerpoint/2010/main" val="1346133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Agenda</a:t>
            </a:r>
            <a:r>
              <a:rPr lang="en-US" baseline="0" dirty="0"/>
              <a:t> Papers 6-E and 6-F contain markups from those drafts</a:t>
            </a:r>
          </a:p>
          <a:p>
            <a:pPr marL="171450" indent="-171450">
              <a:buFont typeface="Arial" panose="020B0604020202020204" pitchFamily="34" charset="0"/>
              <a:buChar char="•"/>
            </a:pPr>
            <a:r>
              <a:rPr lang="en-US" baseline="0" dirty="0"/>
              <a:t>Appendix A to Agenda Paper 6 contains relevant extracts of the QC project proposal and minutes of meetings where engagement quality reviews were discussed</a:t>
            </a:r>
          </a:p>
          <a:p>
            <a:pPr marL="171450" indent="-171450">
              <a:buFont typeface="Arial" panose="020B0604020202020204" pitchFamily="34" charset="0"/>
              <a:buChar char="•"/>
            </a:pPr>
            <a:r>
              <a:rPr lang="en-US" baseline="0" dirty="0"/>
              <a:t>TF Members: Kai-Uwe Marten, Jamie Shannon and Denise Weber; Karin French, Sarah Ashton and Wolf </a:t>
            </a:r>
            <a:r>
              <a:rPr lang="en-US" baseline="0" dirty="0" err="1"/>
              <a:t>Böhm</a:t>
            </a:r>
            <a:r>
              <a:rPr lang="en-US" baseline="0" dirty="0"/>
              <a:t> attended our first TF meeting over the summer</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r>
              <a:rPr lang="en-US" baseline="0" dirty="0"/>
              <a:t>Discussion about innovation/what do we have to show?</a:t>
            </a:r>
          </a:p>
          <a:p>
            <a:pPr marL="171450" indent="-171450">
              <a:buFont typeface="Arial" panose="020B0604020202020204" pitchFamily="34" charset="0"/>
              <a:buChar char="•"/>
            </a:pPr>
            <a:r>
              <a:rPr lang="en-US" baseline="0" dirty="0"/>
              <a:t>Trouble with starting a project in summer, and planned late</a:t>
            </a:r>
          </a:p>
          <a:p>
            <a:pPr marL="171450" indent="-171450">
              <a:buFont typeface="Arial" panose="020B0604020202020204" pitchFamily="34" charset="0"/>
              <a:buChar char="•"/>
            </a:pPr>
            <a:r>
              <a:rPr lang="en-US" baseline="0" dirty="0"/>
              <a:t>You get the best week of the year in London</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4</a:t>
            </a:fld>
            <a:endParaRPr lang="en-US"/>
          </a:p>
        </p:txBody>
      </p:sp>
    </p:spTree>
    <p:extLst>
      <p:ext uri="{BB962C8B-B14F-4D97-AF65-F5344CB8AC3E}">
        <p14:creationId xmlns:p14="http://schemas.microsoft.com/office/powerpoint/2010/main" val="452597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England lost 2-1 to Croatia in the Semi-finals</a:t>
            </a:r>
          </a:p>
          <a:p>
            <a:r>
              <a:rPr lang="en-US" dirty="0"/>
              <a:t>Its coming home.</a:t>
            </a:r>
          </a:p>
          <a:p>
            <a:r>
              <a:rPr lang="en-US" dirty="0"/>
              <a:t>Manager Gareth Southgate</a:t>
            </a:r>
          </a:p>
          <a:p>
            <a:r>
              <a:rPr lang="en-US" dirty="0"/>
              <a:t>Captain Harry Cane</a:t>
            </a:r>
          </a:p>
          <a:p>
            <a:endParaRPr lang="en-US"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a:p>
        </p:txBody>
      </p:sp>
    </p:spTree>
    <p:extLst>
      <p:ext uri="{BB962C8B-B14F-4D97-AF65-F5344CB8AC3E}">
        <p14:creationId xmlns:p14="http://schemas.microsoft.com/office/powerpoint/2010/main" val="1171093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 Specific l</a:t>
            </a:r>
            <a:r>
              <a:rPr lang="en-US" dirty="0"/>
              <a:t>inkages will be discussed</a:t>
            </a:r>
            <a:r>
              <a:rPr lang="en-US" baseline="0" dirty="0"/>
              <a:t> throughout the discussion </a:t>
            </a:r>
          </a:p>
          <a:p>
            <a:pPr marL="171450" indent="-171450">
              <a:buFont typeface="Arial" panose="020B0604020202020204" pitchFamily="34" charset="0"/>
              <a:buChar char="•"/>
            </a:pPr>
            <a:r>
              <a:rPr lang="en-US" baseline="0" dirty="0"/>
              <a:t>Coordination efforts among Task Force Chairs and staff will be stepped up in Q4 2018 as we move to develop EDs for IAASB approval in December 2018</a:t>
            </a:r>
          </a:p>
          <a:p>
            <a:pPr marL="171450" indent="-171450">
              <a:buFont typeface="Arial" panose="020B0604020202020204" pitchFamily="34" charset="0"/>
              <a:buChar char="•"/>
            </a:pPr>
            <a:r>
              <a:rPr lang="en-US" baseline="0" dirty="0"/>
              <a:t>JWG members: Kai-Uwe Marten, Sylvie </a:t>
            </a:r>
            <a:r>
              <a:rPr lang="en-US" baseline="0" dirty="0" err="1"/>
              <a:t>Soulier</a:t>
            </a:r>
            <a:r>
              <a:rPr lang="en-US" baseline="0" dirty="0"/>
              <a:t>, Michael Ashley, </a:t>
            </a:r>
          </a:p>
          <a:p>
            <a:pPr marL="171450" indent="-171450">
              <a:buFont typeface="Arial" panose="020B0604020202020204" pitchFamily="34" charset="0"/>
              <a:buChar char="•"/>
            </a:pPr>
            <a:r>
              <a:rPr lang="en-US" baseline="0" dirty="0"/>
              <a:t>JWG paper, and draft wording on cooling-off period will be discussed later in the session, under “Eligibility of the EQ Reviewer”</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r>
              <a:rPr lang="en-US" baseline="0" dirty="0"/>
              <a:t>Acknowledge written inputs received from …….</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6</a:t>
            </a:fld>
            <a:endParaRPr lang="en-US"/>
          </a:p>
        </p:txBody>
      </p:sp>
    </p:spTree>
    <p:extLst>
      <p:ext uri="{BB962C8B-B14F-4D97-AF65-F5344CB8AC3E}">
        <p14:creationId xmlns:p14="http://schemas.microsoft.com/office/powerpoint/2010/main" val="1959381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Acknowledge Jim Dalkin, and how well prepared and engaged they all were</a:t>
            </a:r>
          </a:p>
          <a:p>
            <a:pPr marL="171450" indent="-171450">
              <a:buFont typeface="Arial" panose="020B0604020202020204" pitchFamily="34" charset="0"/>
              <a:buChar char="•"/>
            </a:pPr>
            <a:r>
              <a:rPr lang="en-US" dirty="0"/>
              <a:t>Last week, the CAG shared its views on a number of topics highlighted here</a:t>
            </a:r>
          </a:p>
          <a:p>
            <a:pPr marL="171450" indent="-171450">
              <a:buFont typeface="Arial" panose="020B0604020202020204" pitchFamily="34" charset="0"/>
              <a:buChar char="•"/>
            </a:pPr>
            <a:r>
              <a:rPr lang="en-US" dirty="0"/>
              <a:t>They</a:t>
            </a:r>
            <a:r>
              <a:rPr lang="en-US" baseline="0" dirty="0"/>
              <a:t> will be discussed in the relevant topics throughout this session</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r>
              <a:rPr lang="en-US" baseline="0" dirty="0"/>
              <a:t>ASK CHAIRMAN JIM for his summary of the CAG meeting.</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7</a:t>
            </a:fld>
            <a:endParaRPr lang="en-US"/>
          </a:p>
        </p:txBody>
      </p:sp>
    </p:spTree>
    <p:extLst>
      <p:ext uri="{BB962C8B-B14F-4D97-AF65-F5344CB8AC3E}">
        <p14:creationId xmlns:p14="http://schemas.microsoft.com/office/powerpoint/2010/main" val="878022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t>This session with the SMP Committee will replace the written portion of the letter they usually submit on advance of a Board meeting. </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t>It is something new we</a:t>
            </a:r>
            <a:r>
              <a:rPr lang="en-US" sz="900" baseline="0" dirty="0"/>
              <a:t> are trying as we </a:t>
            </a:r>
            <a:r>
              <a:rPr lang="en-US" sz="900" dirty="0"/>
              <a:t>are keen to keep getting the input while being mindful of the quantity of papers for groups such as the SMP Committee may need to get through in a very short time (as well as ours they also have the IESBA projects that they follow)</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effectLst/>
                <a:latin typeface="+mn-lt"/>
                <a:ea typeface="+mn-ea"/>
                <a:cs typeface="+mn-cs"/>
              </a:rPr>
              <a:t>A106.	A threat to the objectivity of the individual responsible for the appointment of the engagement quality reviewer may arise in circumstances when the individual is a member of the engagement team. In such circumstances, a threat to the objectivity of the engagement quality reviewer is also created. In exceptional circumstances it may not be practicable for an individual, other than a member of the engagement team, to appoint the engagement quality reviewer, for example, in the case of a smaller firm or a sole practitioner.</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dirty="0">
              <a:solidFill>
                <a:schemeClr val="tx1">
                  <a:lumMod val="65000"/>
                  <a:lumOff val="35000"/>
                </a:schemeClr>
              </a:solidFill>
            </a:endParaRPr>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8</a:t>
            </a:fld>
            <a:endParaRPr lang="en-US"/>
          </a:p>
        </p:txBody>
      </p:sp>
    </p:spTree>
    <p:extLst>
      <p:ext uri="{BB962C8B-B14F-4D97-AF65-F5344CB8AC3E}">
        <p14:creationId xmlns:p14="http://schemas.microsoft.com/office/powerpoint/2010/main" val="712471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Lottery balls slide</a:t>
            </a:r>
          </a:p>
          <a:p>
            <a:endParaRPr lang="en-ZA" dirty="0"/>
          </a:p>
          <a:p>
            <a:r>
              <a:rPr lang="en-ZA" dirty="0"/>
              <a:t>Very important we get this out of the way. If we are to deal with the top end, we need to know that the bottom end feels adequately addressed. We are looking for any requirement that is NOT scalable, and that we would WANT to be scalable. Scalable is NOT the same as watering down.</a:t>
            </a:r>
          </a:p>
          <a:p>
            <a:endParaRPr lang="en-ZA" dirty="0"/>
          </a:p>
          <a:p>
            <a:r>
              <a:rPr lang="en-ZA" dirty="0"/>
              <a:t>Terminology used: (although sometimes for different reasons, but still helpful to scalability)</a:t>
            </a:r>
          </a:p>
          <a:p>
            <a:endParaRPr lang="en-ZA" dirty="0"/>
          </a:p>
          <a:p>
            <a:pPr marL="171450" indent="-171450">
              <a:buFont typeface="Arial" panose="020B0604020202020204" pitchFamily="34" charset="0"/>
              <a:buChar char="•"/>
            </a:pPr>
            <a:r>
              <a:rPr lang="en-ZA" dirty="0"/>
              <a:t>“Nature and circumstances of engagement”</a:t>
            </a:r>
          </a:p>
          <a:p>
            <a:pPr marL="171450" indent="-171450">
              <a:buFont typeface="Arial" panose="020B0604020202020204" pitchFamily="34" charset="0"/>
              <a:buChar char="•"/>
            </a:pPr>
            <a:r>
              <a:rPr lang="en-ZA" dirty="0"/>
              <a:t>“In the case of a smaller firm or sole practitioner”</a:t>
            </a:r>
          </a:p>
          <a:p>
            <a:pPr marL="171450" indent="-171450">
              <a:buFont typeface="Arial" panose="020B0604020202020204" pitchFamily="34" charset="0"/>
              <a:buChar char="•"/>
            </a:pPr>
            <a:r>
              <a:rPr lang="en-ZA" dirty="0"/>
              <a:t>“Firm’s policies or procedures”</a:t>
            </a:r>
          </a:p>
          <a:p>
            <a:pPr marL="171450" indent="-171450">
              <a:buFont typeface="Arial" panose="020B0604020202020204" pitchFamily="34" charset="0"/>
              <a:buChar char="•"/>
            </a:pPr>
            <a:r>
              <a:rPr lang="en-ZA" dirty="0"/>
              <a:t>“For audits of financial statements”</a:t>
            </a:r>
          </a:p>
          <a:p>
            <a:pPr marL="171450" indent="-171450">
              <a:buFont typeface="Arial" panose="020B0604020202020204" pitchFamily="34" charset="0"/>
              <a:buChar char="•"/>
            </a:pPr>
            <a:r>
              <a:rPr lang="en-ZA" dirty="0"/>
              <a:t>“The scope of engagements subject to an engagement quality review”</a:t>
            </a:r>
          </a:p>
          <a:p>
            <a:pPr marL="171450" indent="-171450">
              <a:buFont typeface="Arial" panose="020B0604020202020204" pitchFamily="34" charset="0"/>
              <a:buChar char="•"/>
            </a:pPr>
            <a:r>
              <a:rPr lang="en-ZA" dirty="0"/>
              <a:t>“one response among other responses”</a:t>
            </a:r>
          </a:p>
          <a:p>
            <a:pPr marL="171450" indent="-171450">
              <a:buFont typeface="Arial" panose="020B0604020202020204" pitchFamily="34" charset="0"/>
              <a:buChar char="•"/>
            </a:pPr>
            <a:r>
              <a:rPr lang="en-ZA" dirty="0"/>
              <a:t>“unless not relevant in the circumstances” </a:t>
            </a:r>
          </a:p>
          <a:p>
            <a:pPr marL="171450" indent="-171450">
              <a:buFont typeface="Arial" panose="020B0604020202020204" pitchFamily="34" charset="0"/>
              <a:buChar char="•"/>
            </a:pPr>
            <a:r>
              <a:rPr lang="en-ZA" dirty="0"/>
              <a:t>“Is a partner or relevant person”</a:t>
            </a:r>
          </a:p>
          <a:p>
            <a:pPr marL="171450" indent="-171450">
              <a:buFont typeface="Arial" panose="020B0604020202020204" pitchFamily="34" charset="0"/>
              <a:buChar char="•"/>
            </a:pPr>
            <a:r>
              <a:rPr lang="en-ZA" dirty="0"/>
              <a:t>Shall include</a:t>
            </a:r>
          </a:p>
          <a:p>
            <a:endParaRPr lang="en-ZA" dirty="0"/>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9</a:t>
            </a:fld>
            <a:endParaRPr lang="en-US"/>
          </a:p>
        </p:txBody>
      </p:sp>
    </p:spTree>
    <p:extLst>
      <p:ext uri="{BB962C8B-B14F-4D97-AF65-F5344CB8AC3E}">
        <p14:creationId xmlns:p14="http://schemas.microsoft.com/office/powerpoint/2010/main" val="1560892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Some salient points. No of paragraphs.</a:t>
            </a:r>
          </a:p>
          <a:p>
            <a:pPr marL="171450" indent="-171450">
              <a:buFont typeface="Arial" panose="020B0604020202020204" pitchFamily="34" charset="0"/>
              <a:buChar char="•"/>
            </a:pPr>
            <a:r>
              <a:rPr lang="en-US" dirty="0"/>
              <a:t>Provide paragraph numbers for each question (what we are covering)</a:t>
            </a:r>
          </a:p>
          <a:p>
            <a:pPr marL="171450" indent="-171450">
              <a:buFont typeface="Arial" panose="020B0604020202020204" pitchFamily="34" charset="0"/>
              <a:buChar char="•"/>
            </a:pPr>
            <a:r>
              <a:rPr lang="en-US" dirty="0"/>
              <a:t>The job of a chairman. Note-taking and responses. May not respond, but will record all comments, and will gratefully receive comments.</a:t>
            </a:r>
          </a:p>
        </p:txBody>
      </p:sp>
      <p:sp>
        <p:nvSpPr>
          <p:cNvPr id="4" name="Slide Number Placeholder 3"/>
          <p:cNvSpPr>
            <a:spLocks noGrp="1"/>
          </p:cNvSpPr>
          <p:nvPr>
            <p:ph type="sldNum" sz="quarter" idx="10"/>
          </p:nvPr>
        </p:nvSpPr>
        <p:spPr/>
        <p:txBody>
          <a:bodyPr/>
          <a:lstStyle/>
          <a:p>
            <a:fld id="{4D410189-AC31-7546-878A-F48FDE4A29F5}" type="slidenum">
              <a:rPr lang="en-US" smtClean="0"/>
              <a:t>10</a:t>
            </a:fld>
            <a:endParaRPr lang="en-US"/>
          </a:p>
        </p:txBody>
      </p:sp>
    </p:spTree>
    <p:extLst>
      <p:ext uri="{BB962C8B-B14F-4D97-AF65-F5344CB8AC3E}">
        <p14:creationId xmlns:p14="http://schemas.microsoft.com/office/powerpoint/2010/main" val="1138173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81000" y="685800"/>
            <a:ext cx="6097588"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171450" indent="-171450" eaLnBrk="1" hangingPunct="1">
              <a:spcBef>
                <a:spcPct val="0"/>
              </a:spcBef>
              <a:buFont typeface="Arial" panose="020B0604020202020204" pitchFamily="34" charset="0"/>
              <a:buChar char="•"/>
            </a:pPr>
            <a:r>
              <a:rPr lang="en-US" dirty="0">
                <a:latin typeface="Calibri" charset="0"/>
                <a:ea typeface="ＭＳ Ｐゴシック" charset="0"/>
                <a:cs typeface="ＭＳ Ｐゴシック" charset="0"/>
              </a:rPr>
              <a:t>The</a:t>
            </a:r>
            <a:r>
              <a:rPr lang="en-US" baseline="0" dirty="0">
                <a:latin typeface="Calibri" charset="0"/>
                <a:ea typeface="ＭＳ Ｐゴシック" charset="0"/>
                <a:cs typeface="ＭＳ Ｐゴシック" charset="0"/>
              </a:rPr>
              <a:t> EQ review requirements in proposed ISQC 2 derive from the firm’s policies or procedures established under proposed ISQC 1 (Revised)</a:t>
            </a:r>
          </a:p>
          <a:p>
            <a:pPr marL="171450" marR="0" lvl="0" indent="-171450" algn="l" defTabSz="3429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dirty="0">
                <a:latin typeface="Calibri" charset="0"/>
                <a:ea typeface="ＭＳ Ｐゴシック" charset="0"/>
                <a:cs typeface="ＭＳ Ｐゴシック" charset="0"/>
              </a:rPr>
              <a:t>There are 3 parties. How do we address their respective roles. EP, EQ Reviewer and Firm.</a:t>
            </a:r>
          </a:p>
          <a:p>
            <a:pPr marL="171450" indent="-171450" eaLnBrk="1" hangingPunct="1">
              <a:spcBef>
                <a:spcPct val="0"/>
              </a:spcBef>
              <a:buFont typeface="Arial" panose="020B0604020202020204" pitchFamily="34" charset="0"/>
              <a:buChar char="•"/>
            </a:pPr>
            <a:endParaRPr lang="en-US" baseline="0" dirty="0">
              <a:latin typeface="Calibri" charset="0"/>
              <a:ea typeface="ＭＳ Ｐゴシック" charset="0"/>
              <a:cs typeface="ＭＳ Ｐゴシック" charset="0"/>
            </a:endParaRPr>
          </a:p>
          <a:p>
            <a:pPr marL="171450" indent="-171450" eaLnBrk="1" hangingPunct="1">
              <a:spcBef>
                <a:spcPct val="0"/>
              </a:spcBef>
              <a:buFont typeface="Arial" panose="020B0604020202020204" pitchFamily="34" charset="0"/>
              <a:buChar char="•"/>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12</a:t>
            </a:fld>
            <a:endParaRPr lang="en-US" sz="1200"/>
          </a:p>
        </p:txBody>
      </p:sp>
    </p:spTree>
    <p:extLst>
      <p:ext uri="{BB962C8B-B14F-4D97-AF65-F5344CB8AC3E}">
        <p14:creationId xmlns:p14="http://schemas.microsoft.com/office/powerpoint/2010/main" val="2777831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made on Monday to change title of Standard – positive change of mindset</a:t>
            </a:r>
          </a:p>
          <a:p>
            <a:endParaRPr lang="en-US" dirty="0"/>
          </a:p>
          <a:p>
            <a:r>
              <a:rPr lang="en-US" dirty="0"/>
              <a:t>Will give rise to conforming amendments </a:t>
            </a:r>
            <a:r>
              <a:rPr lang="en-US" dirty="0">
                <a:sym typeface="Wingdings" panose="05000000000000000000" pitchFamily="2" charset="2"/>
              </a:rPr>
              <a:t> NSS, IESBA, IAASB conforming amendments</a:t>
            </a: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a:p>
        </p:txBody>
      </p:sp>
    </p:spTree>
    <p:extLst>
      <p:ext uri="{BB962C8B-B14F-4D97-AF65-F5344CB8AC3E}">
        <p14:creationId xmlns:p14="http://schemas.microsoft.com/office/powerpoint/2010/main" val="368334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900" kern="1200" dirty="0">
                <a:solidFill>
                  <a:schemeClr val="tx1"/>
                </a:solidFill>
                <a:effectLst/>
                <a:latin typeface="+mn-lt"/>
                <a:ea typeface="+mn-ea"/>
                <a:cs typeface="+mn-cs"/>
              </a:rPr>
              <a:t>Discussed a whole year ago, and direction given to revert with more robust requirements. The need to mandate additional circumstances when an EQ review would be required.</a:t>
            </a:r>
          </a:p>
          <a:p>
            <a:pPr marL="0" indent="0">
              <a:buFont typeface="Arial" panose="020B0604020202020204" pitchFamily="34" charset="0"/>
              <a:buNone/>
            </a:pPr>
            <a:endParaRPr lang="en-US" sz="900" kern="1200" dirty="0">
              <a:solidFill>
                <a:schemeClr val="tx1"/>
              </a:solidFill>
              <a:effectLst/>
              <a:latin typeface="+mn-lt"/>
              <a:ea typeface="+mn-ea"/>
              <a:cs typeface="+mn-cs"/>
            </a:endParaRPr>
          </a:p>
          <a:p>
            <a:pPr marL="0" indent="0">
              <a:buFont typeface="Arial" panose="020B0604020202020204" pitchFamily="34" charset="0"/>
              <a:buNone/>
            </a:pPr>
            <a:r>
              <a:rPr lang="en-US" sz="900" kern="1200" dirty="0">
                <a:solidFill>
                  <a:schemeClr val="tx1"/>
                </a:solidFill>
                <a:effectLst/>
                <a:latin typeface="+mn-lt"/>
                <a:ea typeface="+mn-ea"/>
                <a:cs typeface="+mn-cs"/>
              </a:rPr>
              <a:t>Let us reflect on all the parts that we can see in this slide.</a:t>
            </a:r>
          </a:p>
          <a:p>
            <a:pPr marL="0" indent="0">
              <a:buFont typeface="Arial" panose="020B0604020202020204" pitchFamily="34" charset="0"/>
              <a:buNone/>
            </a:pPr>
            <a:r>
              <a:rPr lang="en-US" sz="900" kern="1200" dirty="0">
                <a:solidFill>
                  <a:schemeClr val="tx1"/>
                </a:solidFill>
                <a:effectLst/>
                <a:latin typeface="+mn-lt"/>
                <a:ea typeface="+mn-ea"/>
                <a:cs typeface="+mn-cs"/>
              </a:rPr>
              <a:t>The orange triangle is the firm’s portfolio of engagements</a:t>
            </a:r>
          </a:p>
          <a:p>
            <a:pPr marL="0" indent="0">
              <a:buFont typeface="Arial" panose="020B0604020202020204" pitchFamily="34" charset="0"/>
              <a:buNone/>
            </a:pPr>
            <a:endParaRPr lang="en-US" sz="900" kern="1200" dirty="0">
              <a:solidFill>
                <a:schemeClr val="tx1"/>
              </a:solidFill>
              <a:effectLst/>
              <a:latin typeface="+mn-lt"/>
              <a:ea typeface="+mn-ea"/>
              <a:cs typeface="+mn-cs"/>
            </a:endParaRPr>
          </a:p>
          <a:p>
            <a:pPr marL="0" indent="0">
              <a:buFont typeface="Arial" panose="020B0604020202020204" pitchFamily="34" charset="0"/>
              <a:buNone/>
            </a:pPr>
            <a:r>
              <a:rPr lang="en-US" sz="900" kern="1200" dirty="0">
                <a:solidFill>
                  <a:schemeClr val="tx1"/>
                </a:solidFill>
                <a:effectLst/>
                <a:latin typeface="+mn-lt"/>
                <a:ea typeface="+mn-ea"/>
                <a:cs typeface="+mn-cs"/>
              </a:rPr>
              <a:t>The reason we have this picture is to approach it at a principle level. If you want no change, merely play with words, then we fall short of the goals. We should remember that we understand is that extant words, were delivering less, in some cases far less, than </a:t>
            </a:r>
            <a:r>
              <a:rPr lang="en-US" sz="900" kern="1200" dirty="0" err="1">
                <a:solidFill>
                  <a:schemeClr val="tx1"/>
                </a:solidFill>
                <a:effectLst/>
                <a:latin typeface="+mn-lt"/>
                <a:ea typeface="+mn-ea"/>
                <a:cs typeface="+mn-cs"/>
              </a:rPr>
              <a:t>extant’s</a:t>
            </a:r>
            <a:r>
              <a:rPr lang="en-US" sz="900" kern="1200" dirty="0">
                <a:solidFill>
                  <a:schemeClr val="tx1"/>
                </a:solidFill>
                <a:effectLst/>
                <a:latin typeface="+mn-lt"/>
                <a:ea typeface="+mn-ea"/>
                <a:cs typeface="+mn-cs"/>
              </a:rPr>
              <a:t> intention.</a:t>
            </a:r>
          </a:p>
          <a:p>
            <a:pPr marL="0" indent="0">
              <a:buFont typeface="Arial" panose="020B0604020202020204" pitchFamily="34" charset="0"/>
              <a:buNone/>
            </a:pPr>
            <a:endParaRPr lang="en-US" sz="900" kern="1200" dirty="0">
              <a:solidFill>
                <a:schemeClr val="tx1"/>
              </a:solidFill>
              <a:effectLst/>
              <a:latin typeface="+mn-lt"/>
              <a:ea typeface="+mn-ea"/>
              <a:cs typeface="+mn-cs"/>
            </a:endParaRPr>
          </a:p>
          <a:p>
            <a:pPr marL="0" indent="0">
              <a:buFont typeface="Arial" panose="020B0604020202020204" pitchFamily="34" charset="0"/>
              <a:buNone/>
            </a:pPr>
            <a:r>
              <a:rPr lang="en-US" sz="900" kern="1200" dirty="0">
                <a:solidFill>
                  <a:schemeClr val="tx1"/>
                </a:solidFill>
                <a:effectLst/>
                <a:latin typeface="+mn-lt"/>
                <a:ea typeface="+mn-ea"/>
                <a:cs typeface="+mn-cs"/>
              </a:rPr>
              <a:t>So long as we are progressing on the continuum, and that we able to achieve more clarity, more consistency, then it is progressive.</a:t>
            </a:r>
          </a:p>
          <a:p>
            <a:pPr marL="0" indent="0">
              <a:buFont typeface="Arial" panose="020B0604020202020204" pitchFamily="34" charset="0"/>
              <a:buNone/>
            </a:pPr>
            <a:endParaRPr lang="en-US" sz="900" kern="1200" dirty="0">
              <a:solidFill>
                <a:schemeClr val="tx1"/>
              </a:solidFill>
              <a:effectLst/>
              <a:latin typeface="+mn-lt"/>
              <a:ea typeface="+mn-ea"/>
              <a:cs typeface="+mn-cs"/>
            </a:endParaRPr>
          </a:p>
          <a:p>
            <a:r>
              <a:rPr lang="en-ZA" sz="900" b="0" i="0" u="none" strike="noStrike" kern="1200" baseline="0" dirty="0">
                <a:solidFill>
                  <a:schemeClr val="tx1"/>
                </a:solidFill>
                <a:latin typeface="+mn-lt"/>
                <a:ea typeface="+mn-ea"/>
                <a:cs typeface="+mn-cs"/>
              </a:rPr>
              <a:t> .01 of PCAOB Standard (AS1220)</a:t>
            </a:r>
          </a:p>
          <a:p>
            <a:r>
              <a:rPr lang="en-ZA" sz="900" b="0" i="0" u="none" strike="noStrike" kern="1200" baseline="0" dirty="0">
                <a:solidFill>
                  <a:schemeClr val="tx1"/>
                </a:solidFill>
                <a:latin typeface="+mn-lt"/>
                <a:ea typeface="+mn-ea"/>
                <a:cs typeface="+mn-cs"/>
              </a:rPr>
              <a:t>An engagement quality review and concurring approval of issuance are required for the following engagements conducted pursuant to the standards of the Public Company Accounting Oversight Board ("PCAOB"): </a:t>
            </a:r>
          </a:p>
          <a:p>
            <a:pPr lvl="1"/>
            <a:r>
              <a:rPr lang="en-US" sz="900" b="0" i="0" u="none" strike="noStrike" kern="1200" baseline="0" dirty="0">
                <a:solidFill>
                  <a:schemeClr val="tx1"/>
                </a:solidFill>
                <a:latin typeface="+mn-lt"/>
                <a:ea typeface="+mn-ea"/>
                <a:cs typeface="+mn-cs"/>
              </a:rPr>
              <a:t>(a) an audit engagement; </a:t>
            </a:r>
          </a:p>
          <a:p>
            <a:pPr lvl="1"/>
            <a:r>
              <a:rPr lang="en-ZA" sz="900" b="0" i="0" u="none" strike="noStrike" kern="1200" baseline="0" dirty="0">
                <a:solidFill>
                  <a:schemeClr val="tx1"/>
                </a:solidFill>
                <a:latin typeface="+mn-lt"/>
                <a:ea typeface="+mn-ea"/>
                <a:cs typeface="+mn-cs"/>
              </a:rPr>
              <a:t>(b) a review of interim financial information; and </a:t>
            </a:r>
          </a:p>
          <a:p>
            <a:pPr lvl="1"/>
            <a:r>
              <a:rPr lang="en-ZA" sz="900" b="0" i="0" u="none" strike="noStrike" kern="1200" baseline="0" dirty="0">
                <a:solidFill>
                  <a:schemeClr val="tx1"/>
                </a:solidFill>
                <a:latin typeface="+mn-lt"/>
                <a:ea typeface="+mn-ea"/>
                <a:cs typeface="+mn-cs"/>
              </a:rPr>
              <a:t>(c) an attestation engagement performed pursuant to Attestation Standard No. 1, </a:t>
            </a:r>
            <a:r>
              <a:rPr lang="en-ZA" sz="900" b="0" i="1" u="none" strike="noStrike" kern="1200" baseline="0" dirty="0">
                <a:solidFill>
                  <a:schemeClr val="tx1"/>
                </a:solidFill>
                <a:latin typeface="+mn-lt"/>
                <a:ea typeface="+mn-ea"/>
                <a:cs typeface="+mn-cs"/>
              </a:rPr>
              <a:t>Examination Engagements Regarding Compliance Reports of Brokers and Dealers</a:t>
            </a:r>
            <a:r>
              <a:rPr lang="en-ZA" sz="900" b="0" i="0" u="none" strike="noStrike" kern="1200" baseline="0" dirty="0">
                <a:solidFill>
                  <a:schemeClr val="tx1"/>
                </a:solidFill>
                <a:latin typeface="+mn-lt"/>
                <a:ea typeface="+mn-ea"/>
                <a:cs typeface="+mn-cs"/>
              </a:rPr>
              <a:t>, or Attestation Standard No. 2, </a:t>
            </a:r>
            <a:r>
              <a:rPr lang="en-ZA" sz="900" b="0" i="1" u="none" strike="noStrike" kern="1200" baseline="0" dirty="0">
                <a:solidFill>
                  <a:schemeClr val="tx1"/>
                </a:solidFill>
                <a:latin typeface="+mn-lt"/>
                <a:ea typeface="+mn-ea"/>
                <a:cs typeface="+mn-cs"/>
              </a:rPr>
              <a:t>Review Engagements Regarding Exemption Reports of Brokers and Dealers</a:t>
            </a:r>
            <a:r>
              <a:rPr lang="en-ZA" sz="900" b="0" i="0" u="none" strike="noStrike" kern="1200" baseline="0" dirty="0">
                <a:solidFill>
                  <a:schemeClr val="tx1"/>
                </a:solidFill>
                <a:latin typeface="+mn-lt"/>
                <a:ea typeface="+mn-ea"/>
                <a:cs typeface="+mn-cs"/>
              </a:rPr>
              <a:t>. </a:t>
            </a:r>
          </a:p>
          <a:p>
            <a:pPr lvl="1"/>
            <a:endParaRPr lang="en-ZA" sz="900" b="0" i="0" u="none" strike="noStrike" kern="1200" baseline="0" dirty="0">
              <a:solidFill>
                <a:schemeClr val="tx1"/>
              </a:solidFill>
              <a:effectLst/>
              <a:latin typeface="+mn-lt"/>
              <a:ea typeface="+mn-ea"/>
              <a:cs typeface="+mn-cs"/>
            </a:endParaRPr>
          </a:p>
          <a:p>
            <a:pPr marL="0" indent="0" eaLnBrk="1" hangingPunct="1">
              <a:spcBef>
                <a:spcPct val="0"/>
              </a:spcBef>
              <a:buFont typeface="Arial" panose="020B0604020202020204" pitchFamily="34" charset="0"/>
              <a:buNone/>
            </a:pPr>
            <a:r>
              <a:rPr lang="en-US" dirty="0">
                <a:latin typeface="Calibri" charset="0"/>
                <a:ea typeface="ＭＳ Ｐゴシック" charset="0"/>
                <a:cs typeface="ＭＳ Ｐゴシック" charset="0"/>
              </a:rPr>
              <a:t>IOSCO asked that we deal with:</a:t>
            </a:r>
          </a:p>
          <a:p>
            <a:pPr marL="171450" indent="-171450" eaLnBrk="1" hangingPunct="1">
              <a:spcBef>
                <a:spcPct val="0"/>
              </a:spcBef>
              <a:buFont typeface="Arial" panose="020B0604020202020204" pitchFamily="34" charset="0"/>
              <a:buChar char="•"/>
            </a:pPr>
            <a:r>
              <a:rPr lang="en-US" b="1" dirty="0">
                <a:latin typeface="Calibri" charset="0"/>
                <a:ea typeface="ＭＳ Ｐゴシック" charset="0"/>
                <a:cs typeface="ＭＳ Ｐゴシック" charset="0"/>
              </a:rPr>
              <a:t>Selection of engagements – in particular, elevate (A) paragraphs from extant to requirements. Also acknowledged difficulty of using the PIE definition, but have a scope that likely selects engagements beyond listed entities.</a:t>
            </a:r>
          </a:p>
          <a:p>
            <a:pPr lvl="1"/>
            <a:endParaRPr lang="en-US" sz="900" b="0" i="0" u="none" strike="noStrike" kern="1200" baseline="0" dirty="0">
              <a:solidFill>
                <a:schemeClr val="tx1"/>
              </a:solidFill>
              <a:effectLst/>
              <a:latin typeface="+mn-lt"/>
              <a:ea typeface="+mn-ea"/>
              <a:cs typeface="+mn-cs"/>
            </a:endParaRPr>
          </a:p>
          <a:p>
            <a:pPr lvl="1"/>
            <a:endParaRPr lang="en-ZA" sz="900" b="0" i="0" u="none" strike="noStrike"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D410189-AC31-7546-878A-F48FDE4A29F5}" type="slidenum">
              <a:rPr lang="en-US" smtClean="0"/>
              <a:t>19</a:t>
            </a:fld>
            <a:endParaRPr lang="en-US"/>
          </a:p>
        </p:txBody>
      </p:sp>
    </p:spTree>
    <p:extLst>
      <p:ext uri="{BB962C8B-B14F-4D97-AF65-F5344CB8AC3E}">
        <p14:creationId xmlns:p14="http://schemas.microsoft.com/office/powerpoint/2010/main" val="1019322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35 of extant</a:t>
            </a:r>
          </a:p>
          <a:p>
            <a:r>
              <a:rPr lang="en-US" dirty="0"/>
              <a:t>(a) EQR for all audits of financial statements of listed entities</a:t>
            </a:r>
          </a:p>
          <a:p>
            <a:r>
              <a:rPr lang="en-US" dirty="0"/>
              <a:t>(b) Set out criteria for [audits, reviews, and other engagements] – to evaluate – to determine if selected for EQR</a:t>
            </a:r>
          </a:p>
          <a:p>
            <a:endParaRPr lang="en-US" dirty="0"/>
          </a:p>
          <a:p>
            <a:pPr marL="171450" indent="-171450">
              <a:buFont typeface="Arial" panose="020B0604020202020204" pitchFamily="34" charset="0"/>
              <a:buChar char="•"/>
            </a:pPr>
            <a:r>
              <a:rPr lang="en-US" sz="900" kern="1200" dirty="0">
                <a:solidFill>
                  <a:schemeClr val="tx1"/>
                </a:solidFill>
                <a:effectLst/>
                <a:latin typeface="+mn-lt"/>
                <a:ea typeface="+mn-ea"/>
                <a:cs typeface="+mn-cs"/>
              </a:rPr>
              <a:t>The IAASB asked</a:t>
            </a:r>
            <a:r>
              <a:rPr lang="en-US" sz="900" kern="1200" baseline="0" dirty="0">
                <a:solidFill>
                  <a:schemeClr val="tx1"/>
                </a:solidFill>
                <a:effectLst/>
                <a:latin typeface="+mn-lt"/>
                <a:ea typeface="+mn-ea"/>
                <a:cs typeface="+mn-cs"/>
              </a:rPr>
              <a:t> the Task Force to consider various improvements to the requirements and application material addressing the scope of engagements subject to EQ review (September 2017)</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lumMod val="65000"/>
                    <a:lumOff val="35000"/>
                  </a:schemeClr>
                </a:solidFill>
              </a:rPr>
              <a:t>See extract from proposed ISQC 1 (Revised), para.43(e)(</a:t>
            </a:r>
            <a:r>
              <a:rPr lang="en-US" sz="900" dirty="0" err="1">
                <a:solidFill>
                  <a:schemeClr val="tx1">
                    <a:lumMod val="65000"/>
                    <a:lumOff val="35000"/>
                  </a:schemeClr>
                </a:solidFill>
              </a:rPr>
              <a:t>i</a:t>
            </a:r>
            <a:r>
              <a:rPr lang="en-US" sz="900" dirty="0">
                <a:solidFill>
                  <a:schemeClr val="tx1">
                    <a:lumMod val="65000"/>
                    <a:lumOff val="35000"/>
                  </a:schemeClr>
                </a:solidFill>
              </a:rPr>
              <a:t>) (IAASB Agenda Paper 6-B) </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dirty="0">
              <a:solidFill>
                <a:schemeClr val="tx1">
                  <a:lumMod val="65000"/>
                  <a:lumOff val="35000"/>
                </a:schemeClr>
              </a:solidFill>
            </a:endParaRP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lumMod val="65000"/>
                    <a:lumOff val="35000"/>
                  </a:schemeClr>
                </a:solidFill>
              </a:rPr>
              <a:t>Consistent with views of certain respondents to the ITC, mainly regulators and audit oversight bodies.</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dirty="0">
              <a:solidFill>
                <a:schemeClr val="tx1">
                  <a:lumMod val="65000"/>
                  <a:lumOff val="35000"/>
                </a:schemeClr>
              </a:solidFill>
            </a:endParaRP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lumMod val="65000"/>
                    <a:lumOff val="35000"/>
                  </a:schemeClr>
                </a:solidFill>
              </a:rPr>
              <a:t>We got this idea (about significant public interest) comes from ISQC 1 proposed. (see 45(b)(iii))</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a:p>
        </p:txBody>
      </p:sp>
    </p:spTree>
    <p:extLst>
      <p:ext uri="{BB962C8B-B14F-4D97-AF65-F5344CB8AC3E}">
        <p14:creationId xmlns:p14="http://schemas.microsoft.com/office/powerpoint/2010/main" val="3816205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900" kern="1200" dirty="0">
                <a:solidFill>
                  <a:schemeClr val="tx1"/>
                </a:solidFill>
                <a:effectLst/>
                <a:latin typeface="+mn-lt"/>
                <a:ea typeface="+mn-ea"/>
                <a:cs typeface="+mn-cs"/>
              </a:rPr>
              <a:t>The IAASB asked</a:t>
            </a:r>
            <a:r>
              <a:rPr lang="en-US" sz="900" kern="1200" baseline="0" dirty="0">
                <a:solidFill>
                  <a:schemeClr val="tx1"/>
                </a:solidFill>
                <a:effectLst/>
                <a:latin typeface="+mn-lt"/>
                <a:ea typeface="+mn-ea"/>
                <a:cs typeface="+mn-cs"/>
              </a:rPr>
              <a:t> the Task Force to consider various improvements to the requirements and application material addressing the scope of engagements subject to EQ review (September 2017)</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lumMod val="65000"/>
                    <a:lumOff val="35000"/>
                  </a:schemeClr>
                </a:solidFill>
              </a:rPr>
              <a:t>See extract from proposed ISQC 1 (Revised), para.43(e)(</a:t>
            </a:r>
            <a:r>
              <a:rPr lang="en-US" sz="900" dirty="0" err="1">
                <a:solidFill>
                  <a:schemeClr val="tx1">
                    <a:lumMod val="65000"/>
                    <a:lumOff val="35000"/>
                  </a:schemeClr>
                </a:solidFill>
              </a:rPr>
              <a:t>i</a:t>
            </a:r>
            <a:r>
              <a:rPr lang="en-US" sz="900" dirty="0">
                <a:solidFill>
                  <a:schemeClr val="tx1">
                    <a:lumMod val="65000"/>
                    <a:lumOff val="35000"/>
                  </a:schemeClr>
                </a:solidFill>
              </a:rPr>
              <a:t>) (IAASB Agenda Paper 6-B) </a:t>
            </a:r>
          </a:p>
          <a:p>
            <a:pPr marL="0" indent="0">
              <a:buFont typeface="Arial" panose="020B0604020202020204" pitchFamily="34" charset="0"/>
              <a:buNone/>
            </a:pPr>
            <a:endParaRPr lang="en-US"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D410189-AC31-7546-878A-F48FDE4A29F5}" type="slidenum">
              <a:rPr lang="en-US" smtClean="0"/>
              <a:t>21</a:t>
            </a:fld>
            <a:endParaRPr lang="en-US"/>
          </a:p>
        </p:txBody>
      </p:sp>
    </p:spTree>
    <p:extLst>
      <p:ext uri="{BB962C8B-B14F-4D97-AF65-F5344CB8AC3E}">
        <p14:creationId xmlns:p14="http://schemas.microsoft.com/office/powerpoint/2010/main" val="1632730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ISA 260, </a:t>
            </a:r>
            <a:r>
              <a:rPr lang="en-US" sz="900" i="1" dirty="0">
                <a:solidFill>
                  <a:schemeClr val="tx1">
                    <a:lumMod val="65000"/>
                    <a:lumOff val="35000"/>
                  </a:schemeClr>
                </a:solidFill>
              </a:rPr>
              <a:t>Communication with Those Charged with Governance </a:t>
            </a:r>
            <a:r>
              <a:rPr lang="en-US" baseline="0" dirty="0"/>
              <a:t>ISA 700, </a:t>
            </a:r>
            <a:r>
              <a:rPr lang="en-US" sz="900" i="1" dirty="0">
                <a:solidFill>
                  <a:schemeClr val="tx1">
                    <a:lumMod val="65000"/>
                    <a:lumOff val="35000"/>
                  </a:schemeClr>
                </a:solidFill>
              </a:rPr>
              <a:t>Forming an Opinion and Reporting on Financial Statements</a:t>
            </a:r>
            <a:endParaRPr lang="en-US" baseline="0" dirty="0"/>
          </a:p>
          <a:p>
            <a:pPr marL="171450" indent="-171450">
              <a:buFont typeface="Arial" panose="020B0604020202020204" pitchFamily="34" charset="0"/>
              <a:buChar char="•"/>
            </a:pPr>
            <a:r>
              <a:rPr lang="en-US" dirty="0"/>
              <a:t>The Board DID</a:t>
            </a:r>
            <a:r>
              <a:rPr lang="en-US" baseline="0" dirty="0"/>
              <a:t> not support this on the basis that various jurisdictions define the term differently (PIE not used in ISA 701)</a:t>
            </a:r>
          </a:p>
          <a:p>
            <a:pPr marL="171450" indent="-171450">
              <a:buFont typeface="Arial" panose="020B0604020202020204" pitchFamily="34" charset="0"/>
              <a:buChar char="•"/>
            </a:pPr>
            <a:r>
              <a:rPr lang="en-US" baseline="0" dirty="0"/>
              <a:t>IAASB Chair Arnold Schilder and Task Force Chair reiterated this view at the CAG meeting</a:t>
            </a:r>
          </a:p>
          <a:p>
            <a:pPr marL="171450" indent="-171450">
              <a:buFont typeface="Arial" panose="020B0604020202020204" pitchFamily="34" charset="0"/>
              <a:buChar char="•"/>
            </a:pPr>
            <a:endParaRPr lang="en-US" baseline="0" dirty="0"/>
          </a:p>
          <a:p>
            <a:pPr marL="129779" lvl="1" indent="-129779">
              <a:spcBef>
                <a:spcPts val="900"/>
              </a:spcBef>
              <a:buFont typeface="Arial"/>
              <a:buChar char="•"/>
            </a:pPr>
            <a:r>
              <a:rPr lang="en-US" baseline="0" dirty="0"/>
              <a:t>Discuss some of the CAG feedback here.</a:t>
            </a:r>
            <a:r>
              <a:rPr lang="en-US" sz="1800" dirty="0">
                <a:solidFill>
                  <a:schemeClr val="tx1">
                    <a:lumMod val="65000"/>
                    <a:lumOff val="35000"/>
                  </a:schemeClr>
                </a:solidFill>
              </a:rPr>
              <a:t> </a:t>
            </a:r>
          </a:p>
          <a:p>
            <a:pPr marL="129779" lvl="1" indent="-129779">
              <a:spcBef>
                <a:spcPts val="900"/>
              </a:spcBef>
              <a:buFont typeface="Arial"/>
              <a:buChar char="•"/>
            </a:pPr>
            <a:r>
              <a:rPr lang="en-US" sz="1800" dirty="0">
                <a:solidFill>
                  <a:schemeClr val="tx1">
                    <a:lumMod val="65000"/>
                    <a:lumOff val="35000"/>
                  </a:schemeClr>
                </a:solidFill>
              </a:rPr>
              <a:t>Scope in the context of group audits</a:t>
            </a:r>
          </a:p>
          <a:p>
            <a:pPr marL="0" lvl="1" indent="0">
              <a:spcBef>
                <a:spcPts val="900"/>
              </a:spcBef>
              <a:buFont typeface="Arial"/>
              <a:buNone/>
            </a:pPr>
            <a:endParaRPr lang="en-US" sz="1800" dirty="0">
              <a:solidFill>
                <a:schemeClr val="tx1">
                  <a:lumMod val="65000"/>
                  <a:lumOff val="35000"/>
                </a:schemeClr>
              </a:solidFill>
            </a:endParaRPr>
          </a:p>
          <a:p>
            <a:pPr marL="472679" lvl="2" indent="-129779">
              <a:spcBef>
                <a:spcPts val="900"/>
              </a:spcBef>
              <a:buFont typeface="Arial"/>
              <a:buChar char="•"/>
            </a:pPr>
            <a:r>
              <a:rPr lang="en-US" sz="1800" dirty="0">
                <a:solidFill>
                  <a:schemeClr val="tx1">
                    <a:lumMod val="65000"/>
                    <a:lumOff val="35000"/>
                  </a:schemeClr>
                </a:solidFill>
              </a:rPr>
              <a:t>CAG Representatives expressed mixed views on entities of “significant public interest”</a:t>
            </a:r>
          </a:p>
          <a:p>
            <a:pPr lvl="1">
              <a:lnSpc>
                <a:spcPts val="2100"/>
              </a:lnSpc>
              <a:spcBef>
                <a:spcPts val="600"/>
              </a:spcBef>
              <a:spcAft>
                <a:spcPts val="0"/>
              </a:spcAft>
            </a:pPr>
            <a:r>
              <a:rPr lang="en-US" sz="1600" dirty="0">
                <a:solidFill>
                  <a:schemeClr val="tx1">
                    <a:lumMod val="65000"/>
                    <a:lumOff val="35000"/>
                  </a:schemeClr>
                </a:solidFill>
              </a:rPr>
              <a:t>	EQ reviews should be required for all PIEs (IAASB has previously rejected doing so)</a:t>
            </a:r>
          </a:p>
          <a:p>
            <a:pPr lvl="1">
              <a:lnSpc>
                <a:spcPts val="2100"/>
              </a:lnSpc>
              <a:spcBef>
                <a:spcPts val="600"/>
              </a:spcBef>
              <a:spcAft>
                <a:spcPts val="0"/>
              </a:spcAft>
            </a:pPr>
            <a:r>
              <a:rPr lang="en-US" sz="1600" dirty="0">
                <a:solidFill>
                  <a:schemeClr val="tx1">
                    <a:lumMod val="65000"/>
                    <a:lumOff val="35000"/>
                  </a:schemeClr>
                </a:solidFill>
              </a:rPr>
              <a:t>	The “other” category would pick up such entities</a:t>
            </a:r>
          </a:p>
          <a:p>
            <a:pPr lvl="1">
              <a:lnSpc>
                <a:spcPts val="2100"/>
              </a:lnSpc>
              <a:spcBef>
                <a:spcPts val="600"/>
              </a:spcBef>
              <a:spcAft>
                <a:spcPts val="0"/>
              </a:spcAft>
            </a:pPr>
            <a:r>
              <a:rPr lang="en-US" sz="1600" dirty="0">
                <a:solidFill>
                  <a:schemeClr val="tx1">
                    <a:lumMod val="65000"/>
                    <a:lumOff val="35000"/>
                  </a:schemeClr>
                </a:solidFill>
              </a:rPr>
              <a:t>	Distinction between entities of significant public interest and PIEs not clear</a:t>
            </a:r>
          </a:p>
          <a:p>
            <a:pPr lvl="1">
              <a:lnSpc>
                <a:spcPts val="2100"/>
              </a:lnSpc>
              <a:spcBef>
                <a:spcPts val="600"/>
              </a:spcBef>
              <a:spcAft>
                <a:spcPts val="0"/>
              </a:spcAft>
            </a:pPr>
            <a:r>
              <a:rPr lang="en-US" sz="1600" dirty="0">
                <a:solidFill>
                  <a:schemeClr val="tx1">
                    <a:lumMod val="65000"/>
                    <a:lumOff val="35000"/>
                  </a:schemeClr>
                </a:solidFill>
              </a:rPr>
              <a:t>	Applying this term in the public sector environment</a:t>
            </a:r>
          </a:p>
          <a:p>
            <a:pPr lvl="1">
              <a:lnSpc>
                <a:spcPts val="2100"/>
              </a:lnSpc>
              <a:spcBef>
                <a:spcPts val="600"/>
              </a:spcBef>
              <a:spcAft>
                <a:spcPts val="0"/>
              </a:spcAft>
            </a:pPr>
            <a:r>
              <a:rPr lang="en-US" sz="1600" dirty="0">
                <a:solidFill>
                  <a:schemeClr val="tx1">
                    <a:lumMod val="65000"/>
                    <a:lumOff val="35000"/>
                  </a:schemeClr>
                </a:solidFill>
              </a:rPr>
              <a:t>	Applying of ‘significant’ is open to abuse</a:t>
            </a:r>
          </a:p>
          <a:p>
            <a:pPr lvl="1">
              <a:lnSpc>
                <a:spcPts val="2100"/>
              </a:lnSpc>
              <a:spcBef>
                <a:spcPts val="600"/>
              </a:spcBef>
              <a:spcAft>
                <a:spcPts val="0"/>
              </a:spcAft>
            </a:pPr>
            <a:r>
              <a:rPr lang="en-US" sz="1600" dirty="0">
                <a:solidFill>
                  <a:schemeClr val="tx1">
                    <a:lumMod val="65000"/>
                    <a:lumOff val="35000"/>
                  </a:schemeClr>
                </a:solidFill>
              </a:rPr>
              <a:t>	How will this new term reduce variability</a:t>
            </a:r>
          </a:p>
          <a:p>
            <a:pPr lvl="1">
              <a:lnSpc>
                <a:spcPts val="2100"/>
              </a:lnSpc>
              <a:spcBef>
                <a:spcPts val="600"/>
              </a:spcBef>
              <a:spcAft>
                <a:spcPts val="0"/>
              </a:spcAft>
            </a:pPr>
            <a:r>
              <a:rPr lang="en-US" sz="1600" dirty="0">
                <a:solidFill>
                  <a:schemeClr val="tx1">
                    <a:lumMod val="65000"/>
                    <a:lumOff val="35000"/>
                  </a:schemeClr>
                </a:solidFill>
              </a:rPr>
              <a:t>	View SPI from perspective of firm. Could it be significant from perspective of network.</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r>
              <a:rPr lang="en-US" baseline="0" dirty="0"/>
              <a:t>Discuss IESBA coordination feedback – they have a PIE project, they think our words=PIE, (even though the PIE designation isn’t used, the descriptors are consistent)</a:t>
            </a:r>
          </a:p>
          <a:p>
            <a:pPr marL="514350" lvl="1" indent="-171450">
              <a:buFont typeface="Arial" panose="020B0604020202020204" pitchFamily="34" charset="0"/>
              <a:buChar char="•"/>
            </a:pPr>
            <a:r>
              <a:rPr lang="en-US" baseline="0" dirty="0"/>
              <a:t>IESBA is discussing this week, and we will take their views into account on this matter</a:t>
            </a:r>
          </a:p>
          <a:p>
            <a:pPr marL="514350" lvl="1" indent="-171450">
              <a:buFont typeface="Arial" panose="020B0604020202020204" pitchFamily="34" charset="0"/>
              <a:buChar char="•"/>
            </a:pPr>
            <a:r>
              <a:rPr lang="en-US" baseline="0" dirty="0"/>
              <a:t>Sylvie noted </a:t>
            </a:r>
            <a:r>
              <a:rPr lang="en-US" sz="900" kern="1200" dirty="0">
                <a:solidFill>
                  <a:schemeClr val="tx1"/>
                </a:solidFill>
                <a:effectLst/>
                <a:latin typeface="+mn-lt"/>
                <a:ea typeface="+mn-ea"/>
                <a:cs typeface="+mn-cs"/>
              </a:rPr>
              <a:t>another rationale for aligning terminology in</a:t>
            </a:r>
            <a:r>
              <a:rPr lang="en-US" sz="900" kern="1200" baseline="0" dirty="0">
                <a:solidFill>
                  <a:schemeClr val="tx1"/>
                </a:solidFill>
                <a:effectLst/>
                <a:latin typeface="+mn-lt"/>
                <a:ea typeface="+mn-ea"/>
                <a:cs typeface="+mn-cs"/>
              </a:rPr>
              <a:t> this case is that</a:t>
            </a:r>
            <a:r>
              <a:rPr lang="en-US" sz="900" kern="1200" dirty="0">
                <a:solidFill>
                  <a:schemeClr val="tx1"/>
                </a:solidFill>
                <a:effectLst/>
                <a:latin typeface="+mn-lt"/>
                <a:ea typeface="+mn-ea"/>
                <a:cs typeface="+mn-cs"/>
              </a:rPr>
              <a:t> in the Code, the EQ reviewer is subject to cooling-off provisions related to independence, if it involves an audit of a PIE</a:t>
            </a:r>
            <a:endParaRPr lang="en-US" baseline="0" dirty="0"/>
          </a:p>
          <a:p>
            <a:pPr marL="171450" indent="-171450">
              <a:buFont typeface="Arial" panose="020B0604020202020204" pitchFamily="34" charset="0"/>
              <a:buChar char="•"/>
            </a:pPr>
            <a:r>
              <a:rPr lang="en-US" baseline="0" dirty="0"/>
              <a:t>Discuss what we are trying to achieve</a:t>
            </a:r>
          </a:p>
          <a:p>
            <a:pPr marL="171450" indent="-171450">
              <a:buFont typeface="Arial" panose="020B0604020202020204" pitchFamily="34" charset="0"/>
              <a:buChar char="•"/>
            </a:pPr>
            <a:r>
              <a:rPr lang="en-US" baseline="0" dirty="0"/>
              <a:t>Discuss your view (not a Task Force view) that we will not be able to approve this standard without dealing with entities of significant public interest, in one way or another</a:t>
            </a:r>
          </a:p>
          <a:p>
            <a:pPr marL="514350" lvl="1" indent="-171450">
              <a:buFont typeface="Arial" panose="020B0604020202020204" pitchFamily="34" charset="0"/>
              <a:buChar char="•"/>
            </a:pPr>
            <a:r>
              <a:rPr lang="en-US" baseline="0" dirty="0"/>
              <a:t>May need to make a decision, indicate the Board’s rationale (pros and cons) and then ask a directed question in the explanatory memorandum</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r>
              <a:rPr lang="en-US" baseline="0" dirty="0"/>
              <a:t>Please check – Did the BOC for 260 or 700 provide more background to this decision.</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22</a:t>
            </a:fld>
            <a:endParaRPr lang="en-US"/>
          </a:p>
        </p:txBody>
      </p:sp>
    </p:spTree>
    <p:extLst>
      <p:ext uri="{BB962C8B-B14F-4D97-AF65-F5344CB8AC3E}">
        <p14:creationId xmlns:p14="http://schemas.microsoft.com/office/powerpoint/2010/main" val="2735914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3429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kern="1200" dirty="0">
                <a:solidFill>
                  <a:schemeClr val="tx1"/>
                </a:solidFill>
                <a:effectLst/>
                <a:latin typeface="+mn-lt"/>
                <a:ea typeface="+mn-ea"/>
                <a:cs typeface="+mn-cs"/>
              </a:rPr>
              <a:t>Other than the use of ‘entities of significant public interest’ no negative feedback from SMPs on this. </a:t>
            </a:r>
          </a:p>
        </p:txBody>
      </p:sp>
      <p:sp>
        <p:nvSpPr>
          <p:cNvPr id="4" name="Slide Number Placeholder 3"/>
          <p:cNvSpPr>
            <a:spLocks noGrp="1"/>
          </p:cNvSpPr>
          <p:nvPr>
            <p:ph type="sldNum" sz="quarter" idx="10"/>
          </p:nvPr>
        </p:nvSpPr>
        <p:spPr/>
        <p:txBody>
          <a:bodyPr/>
          <a:lstStyle/>
          <a:p>
            <a:fld id="{4D410189-AC31-7546-878A-F48FDE4A29F5}" type="slidenum">
              <a:rPr lang="en-US" smtClean="0"/>
              <a:t>23</a:t>
            </a:fld>
            <a:endParaRPr lang="en-US"/>
          </a:p>
        </p:txBody>
      </p:sp>
    </p:spTree>
    <p:extLst>
      <p:ext uri="{BB962C8B-B14F-4D97-AF65-F5344CB8AC3E}">
        <p14:creationId xmlns:p14="http://schemas.microsoft.com/office/powerpoint/2010/main" val="3001117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solidFill>
                  <a:srgbClr val="FF0000"/>
                </a:solidFill>
              </a:rPr>
              <a:t>Introduce this slide in parts/ para b, then c, then d</a:t>
            </a:r>
          </a:p>
          <a:p>
            <a:pPr marL="0" indent="0">
              <a:buFont typeface="Arial" panose="020B0604020202020204" pitchFamily="34" charset="0"/>
              <a:buNone/>
            </a:pPr>
            <a:endParaRPr lang="en-US" dirty="0">
              <a:solidFill>
                <a:srgbClr val="FF0000"/>
              </a:solidFill>
            </a:endParaRPr>
          </a:p>
          <a:p>
            <a:pPr marL="0" indent="0">
              <a:buFont typeface="Arial" panose="020B0604020202020204" pitchFamily="34" charset="0"/>
              <a:buNone/>
            </a:pPr>
            <a:r>
              <a:rPr lang="en-US" dirty="0">
                <a:solidFill>
                  <a:srgbClr val="FF0000"/>
                </a:solidFill>
              </a:rPr>
              <a:t>Lots of application material, and connecting pieces in ISQC1</a:t>
            </a:r>
          </a:p>
          <a:p>
            <a:pPr marL="0" indent="0">
              <a:buFont typeface="Arial" panose="020B0604020202020204" pitchFamily="34" charset="0"/>
              <a:buNone/>
            </a:pPr>
            <a:r>
              <a:rPr lang="en-US" dirty="0">
                <a:solidFill>
                  <a:srgbClr val="FF0000"/>
                </a:solidFill>
              </a:rPr>
              <a:t>A6-A23</a:t>
            </a:r>
          </a:p>
          <a:p>
            <a:pPr marL="0" indent="0">
              <a:buFont typeface="Arial" panose="020B0604020202020204" pitchFamily="34" charset="0"/>
              <a:buNone/>
            </a:pPr>
            <a:r>
              <a:rPr lang="en-US" dirty="0">
                <a:solidFill>
                  <a:srgbClr val="FF0000"/>
                </a:solidFill>
              </a:rPr>
              <a:t>And 43(e)(ii) and A104-A106D</a:t>
            </a:r>
          </a:p>
          <a:p>
            <a:pPr marL="0" indent="0">
              <a:buFont typeface="Arial" panose="020B0604020202020204" pitchFamily="34" charset="0"/>
              <a:buNone/>
            </a:pPr>
            <a:endParaRPr lang="en-US" dirty="0">
              <a:solidFill>
                <a:srgbClr val="FF0000"/>
              </a:solidFill>
            </a:endParaRPr>
          </a:p>
          <a:p>
            <a:pPr marL="0" indent="0">
              <a:buFont typeface="Arial" panose="020B0604020202020204" pitchFamily="34" charset="0"/>
              <a:buNone/>
            </a:pPr>
            <a:r>
              <a:rPr lang="en-US" dirty="0">
                <a:solidFill>
                  <a:srgbClr val="FF0000"/>
                </a:solidFill>
              </a:rPr>
              <a:t>I need to know please in exactly which ways do these eligibility criteria fall short of what is needed of the EP.</a:t>
            </a:r>
          </a:p>
          <a:p>
            <a:pPr marL="0" indent="0">
              <a:buFont typeface="Arial" panose="020B0604020202020204" pitchFamily="34" charset="0"/>
              <a:buNone/>
            </a:pPr>
            <a:endParaRPr lang="en-US" dirty="0">
              <a:solidFill>
                <a:srgbClr val="FF0000"/>
              </a:solidFill>
            </a:endParaRPr>
          </a:p>
          <a:p>
            <a:pPr eaLnBrk="1" hangingPunct="1">
              <a:spcBef>
                <a:spcPct val="0"/>
              </a:spcBef>
            </a:pPr>
            <a:r>
              <a:rPr lang="en-US" dirty="0">
                <a:latin typeface="Calibri" charset="0"/>
                <a:ea typeface="ＭＳ Ｐゴシック" charset="0"/>
                <a:cs typeface="ＭＳ Ｐゴシック" charset="0"/>
              </a:rPr>
              <a:t>IFIAR asked for </a:t>
            </a:r>
          </a:p>
          <a:p>
            <a:pPr marL="171450" indent="-171450" eaLnBrk="1" hangingPunct="1">
              <a:spcBef>
                <a:spcPct val="0"/>
              </a:spcBef>
              <a:buFont typeface="Arial" panose="020B0604020202020204" pitchFamily="34" charset="0"/>
              <a:buChar char="•"/>
            </a:pPr>
            <a:r>
              <a:rPr lang="en-US" b="1" dirty="0">
                <a:latin typeface="Calibri" charset="0"/>
                <a:ea typeface="ＭＳ Ｐゴシック" charset="0"/>
                <a:cs typeface="ＭＳ Ｐゴシック" charset="0"/>
              </a:rPr>
              <a:t>Granularity in criteria for selecting EQRs – covered in some detail now.</a:t>
            </a:r>
          </a:p>
          <a:p>
            <a:pPr marL="0" indent="0">
              <a:buFont typeface="Arial" panose="020B0604020202020204" pitchFamily="34" charset="0"/>
              <a:buNone/>
            </a:pPr>
            <a:endParaRPr lang="en-US" dirty="0">
              <a:solidFill>
                <a:srgbClr val="FF0000"/>
              </a:solidFill>
            </a:endParaRPr>
          </a:p>
          <a:p>
            <a:pPr marL="0" indent="0">
              <a:buFont typeface="Arial" panose="020B0604020202020204" pitchFamily="34" charset="0"/>
              <a:buNone/>
            </a:pPr>
            <a:endParaRPr lang="en-US" dirty="0"/>
          </a:p>
          <a:p>
            <a:pPr marL="0" indent="0" eaLnBrk="1" hangingPunct="1">
              <a:spcBef>
                <a:spcPct val="0"/>
              </a:spcBef>
              <a:buFont typeface="Arial" panose="020B0604020202020204" pitchFamily="34" charset="0"/>
              <a:buNone/>
            </a:pPr>
            <a:r>
              <a:rPr lang="en-US" dirty="0">
                <a:latin typeface="Calibri" charset="0"/>
                <a:ea typeface="ＭＳ Ｐゴシック" charset="0"/>
                <a:cs typeface="ＭＳ Ｐゴシック" charset="0"/>
              </a:rPr>
              <a:t>IOSCO asked that we deal with:</a:t>
            </a:r>
          </a:p>
          <a:p>
            <a:pPr marL="171450" indent="-171450" eaLnBrk="1" hangingPunct="1">
              <a:spcBef>
                <a:spcPct val="0"/>
              </a:spcBef>
              <a:buFont typeface="Arial" panose="020B0604020202020204" pitchFamily="34" charset="0"/>
              <a:buChar char="•"/>
            </a:pPr>
            <a:r>
              <a:rPr lang="en-US" b="1" dirty="0">
                <a:latin typeface="Calibri" charset="0"/>
                <a:ea typeface="ＭＳ Ｐゴシック" charset="0"/>
                <a:cs typeface="ＭＳ Ｐゴシック" charset="0"/>
              </a:rPr>
              <a:t>Regarding eligibility</a:t>
            </a:r>
          </a:p>
          <a:p>
            <a:pPr marL="514350" lvl="1" indent="-171450" eaLnBrk="1" hangingPunct="1">
              <a:spcBef>
                <a:spcPct val="0"/>
              </a:spcBef>
              <a:buFont typeface="Arial" panose="020B0604020202020204" pitchFamily="34" charset="0"/>
              <a:buChar char="•"/>
            </a:pPr>
            <a:r>
              <a:rPr lang="en-US" b="1" dirty="0">
                <a:latin typeface="Calibri" charset="0"/>
                <a:ea typeface="ＭＳ Ｐゴシック" charset="0"/>
                <a:cs typeface="ＭＳ Ｐゴシック" charset="0"/>
              </a:rPr>
              <a:t>Elevate objectivity requirement from (A 49 extant) to (R)</a:t>
            </a:r>
          </a:p>
          <a:p>
            <a:pPr marL="514350" lvl="1" indent="-171450" eaLnBrk="1" hangingPunct="1">
              <a:spcBef>
                <a:spcPct val="0"/>
              </a:spcBef>
              <a:buFont typeface="Arial" panose="020B0604020202020204" pitchFamily="34" charset="0"/>
              <a:buChar char="•"/>
            </a:pPr>
            <a:r>
              <a:rPr lang="en-US" b="1" dirty="0">
                <a:latin typeface="Calibri" charset="0"/>
                <a:ea typeface="ＭＳ Ｐゴシック" charset="0"/>
                <a:cs typeface="ＭＳ Ｐゴシック" charset="0"/>
              </a:rPr>
              <a:t>Elevate (A 47 extant) re sufficient and appropriate technical expertise, experience and authority to (R)</a:t>
            </a:r>
          </a:p>
          <a:p>
            <a:pPr marL="514350" lvl="1" indent="-171450" eaLnBrk="1" hangingPunct="1">
              <a:spcBef>
                <a:spcPct val="0"/>
              </a:spcBef>
              <a:buFont typeface="Arial" panose="020B0604020202020204" pitchFamily="34" charset="0"/>
              <a:buChar char="•"/>
            </a:pPr>
            <a:r>
              <a:rPr lang="en-US" b="1" dirty="0">
                <a:latin typeface="Calibri" charset="0"/>
                <a:ea typeface="ＭＳ Ｐゴシック" charset="0"/>
                <a:cs typeface="ＭＳ Ｐゴシック" charset="0"/>
              </a:rPr>
              <a:t>Avoid mismatches of hierarchy between the EQC and the EP</a:t>
            </a:r>
          </a:p>
          <a:p>
            <a:pPr marL="0" indent="0">
              <a:buFont typeface="Arial" panose="020B0604020202020204" pitchFamily="34" charset="0"/>
              <a:buNone/>
            </a:pPr>
            <a:endParaRPr lang="en-US" dirty="0">
              <a:solidFill>
                <a:srgbClr val="FF0000"/>
              </a:solidFill>
            </a:endParaRPr>
          </a:p>
          <a:p>
            <a:pPr marL="0" indent="0">
              <a:buFont typeface="Arial" panose="020B0604020202020204" pitchFamily="34" charset="0"/>
              <a:buNone/>
            </a:pPr>
            <a:r>
              <a:rPr lang="en-US" dirty="0">
                <a:solidFill>
                  <a:srgbClr val="FF0000"/>
                </a:solidFill>
              </a:rPr>
              <a:t>Why would you think this approach is too stringent/lenient?</a:t>
            </a:r>
          </a:p>
          <a:p>
            <a:pPr marL="0" indent="0">
              <a:buFont typeface="Arial" panose="020B0604020202020204" pitchFamily="34" charset="0"/>
              <a:buNone/>
            </a:pPr>
            <a:endParaRPr lang="en-US" dirty="0">
              <a:solidFill>
                <a:srgbClr val="FF0000"/>
              </a:solidFill>
            </a:endParaRPr>
          </a:p>
          <a:p>
            <a:pPr marL="0" indent="0">
              <a:buFont typeface="Arial" panose="020B0604020202020204" pitchFamily="34" charset="0"/>
              <a:buNone/>
            </a:pPr>
            <a:r>
              <a:rPr lang="en-US" dirty="0">
                <a:solidFill>
                  <a:srgbClr val="FF0000"/>
                </a:solidFill>
              </a:rPr>
              <a:t>You need C, C and A  ---</a:t>
            </a:r>
            <a:r>
              <a:rPr lang="en-US" dirty="0">
                <a:solidFill>
                  <a:srgbClr val="FF0000"/>
                </a:solidFill>
                <a:sym typeface="Wingdings" panose="05000000000000000000" pitchFamily="2" charset="2"/>
              </a:rPr>
              <a:t> in order to evaluate, including to question  -- the SJ and conclusions reached thereon</a:t>
            </a:r>
          </a:p>
          <a:p>
            <a:pPr marL="0" indent="0">
              <a:buFont typeface="Arial" panose="020B0604020202020204" pitchFamily="34" charset="0"/>
              <a:buNone/>
            </a:pPr>
            <a:endParaRPr lang="en-US" dirty="0">
              <a:solidFill>
                <a:srgbClr val="FF0000"/>
              </a:solidFill>
              <a:sym typeface="Wingdings" panose="05000000000000000000" pitchFamily="2" charset="2"/>
            </a:endParaRPr>
          </a:p>
          <a:p>
            <a:pPr marL="0" indent="0">
              <a:buFont typeface="Arial" panose="020B0604020202020204" pitchFamily="34" charset="0"/>
              <a:buNone/>
            </a:pPr>
            <a:r>
              <a:rPr lang="en-US" dirty="0">
                <a:solidFill>
                  <a:srgbClr val="FF0000"/>
                </a:solidFill>
                <a:sym typeface="Wingdings" panose="05000000000000000000" pitchFamily="2" charset="2"/>
              </a:rPr>
              <a:t>Not subject to threats to O, related to the engagement or the ET (that have not been reduced or eliminated, and comply with firm’s P or P relating to objectivity)   --- including the limitations of previous service as EP on the same engagement</a:t>
            </a:r>
          </a:p>
          <a:p>
            <a:pPr marL="0" indent="0">
              <a:buFont typeface="Arial" panose="020B0604020202020204" pitchFamily="34" charset="0"/>
              <a:buNone/>
            </a:pPr>
            <a:endParaRPr lang="en-US" dirty="0">
              <a:solidFill>
                <a:srgbClr val="FF0000"/>
              </a:solidFill>
              <a:sym typeface="Wingdings" panose="05000000000000000000" pitchFamily="2" charset="2"/>
            </a:endParaRPr>
          </a:p>
          <a:p>
            <a:pPr marL="0" indent="0">
              <a:buFont typeface="Arial" panose="020B0604020202020204" pitchFamily="34" charset="0"/>
              <a:buNone/>
            </a:pPr>
            <a:r>
              <a:rPr lang="en-US" dirty="0">
                <a:solidFill>
                  <a:srgbClr val="FF0000"/>
                </a:solidFill>
                <a:sym typeface="Wingdings" panose="05000000000000000000" pitchFamily="2" charset="2"/>
              </a:rPr>
              <a:t>Comply with RER and RER relevant to eligibility (thus, allowing jurisdictions to continue with current practice or create new)</a:t>
            </a:r>
          </a:p>
          <a:p>
            <a:pPr marL="0" indent="0">
              <a:buFont typeface="Arial" panose="020B0604020202020204" pitchFamily="34" charset="0"/>
              <a:buNone/>
            </a:pPr>
            <a:endParaRPr lang="en-US" dirty="0">
              <a:solidFill>
                <a:srgbClr val="FF0000"/>
              </a:solidFill>
              <a:sym typeface="Wingdings" panose="05000000000000000000" pitchFamily="2" charset="2"/>
            </a:endParaRPr>
          </a:p>
          <a:p>
            <a:pPr marL="0" indent="0">
              <a:buFont typeface="Arial" panose="020B0604020202020204" pitchFamily="34" charset="0"/>
              <a:buNone/>
            </a:pPr>
            <a:r>
              <a:rPr lang="en-US" dirty="0">
                <a:solidFill>
                  <a:srgbClr val="FF0000"/>
                </a:solidFill>
                <a:sym typeface="Wingdings" panose="05000000000000000000" pitchFamily="2" charset="2"/>
              </a:rPr>
              <a:t>In addition, para 21 and 22, which cover discontinue or decline (…relating to impairment),and</a:t>
            </a:r>
          </a:p>
          <a:p>
            <a:pPr marL="0" indent="0">
              <a:buFont typeface="Arial" panose="020B0604020202020204" pitchFamily="34" charset="0"/>
              <a:buNone/>
            </a:pPr>
            <a:r>
              <a:rPr lang="en-US" dirty="0">
                <a:solidFill>
                  <a:srgbClr val="FF0000"/>
                </a:solidFill>
                <a:sym typeface="Wingdings" panose="05000000000000000000" pitchFamily="2" charset="2"/>
              </a:rPr>
              <a:t>Assistants of the EQC (.22)</a:t>
            </a:r>
            <a:endParaRPr lang="en-US" dirty="0">
              <a:solidFill>
                <a:srgbClr val="FF0000"/>
              </a:solidFill>
            </a:endParaRPr>
          </a:p>
          <a:p>
            <a:pPr marL="0" indent="0">
              <a:buFont typeface="Arial" panose="020B0604020202020204" pitchFamily="34" charset="0"/>
              <a:buNone/>
            </a:pPr>
            <a:endParaRPr lang="en-US" dirty="0">
              <a:solidFill>
                <a:srgbClr val="FF0000"/>
              </a:solidFill>
            </a:endParaRPr>
          </a:p>
        </p:txBody>
      </p:sp>
      <p:sp>
        <p:nvSpPr>
          <p:cNvPr id="4" name="Slide Number Placeholder 3"/>
          <p:cNvSpPr>
            <a:spLocks noGrp="1"/>
          </p:cNvSpPr>
          <p:nvPr>
            <p:ph type="sldNum" sz="quarter" idx="10"/>
          </p:nvPr>
        </p:nvSpPr>
        <p:spPr/>
        <p:txBody>
          <a:bodyPr/>
          <a:lstStyle/>
          <a:p>
            <a:fld id="{4D410189-AC31-7546-878A-F48FDE4A29F5}" type="slidenum">
              <a:rPr lang="en-US" smtClean="0"/>
              <a:t>25</a:t>
            </a:fld>
            <a:endParaRPr lang="en-US"/>
          </a:p>
        </p:txBody>
      </p:sp>
    </p:spTree>
    <p:extLst>
      <p:ext uri="{BB962C8B-B14F-4D97-AF65-F5344CB8AC3E}">
        <p14:creationId xmlns:p14="http://schemas.microsoft.com/office/powerpoint/2010/main" val="677349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Paragraph</a:t>
            </a:r>
            <a:r>
              <a:rPr lang="en-US" baseline="0" dirty="0"/>
              <a:t> 19(b) of proposed ISA 220 (Revised)</a:t>
            </a:r>
          </a:p>
          <a:p>
            <a:pPr marL="171450" indent="-171450">
              <a:buFont typeface="Arial" panose="020B0604020202020204" pitchFamily="34" charset="0"/>
              <a:buChar char="•"/>
            </a:pPr>
            <a:r>
              <a:rPr lang="en-US" dirty="0"/>
              <a:t>Assistants</a:t>
            </a:r>
            <a:r>
              <a:rPr lang="en-US" baseline="0" dirty="0"/>
              <a:t> may be used, for example, to provide relevant expertise in cases when highly specialized knowledge, skills or expertise is needed to understand and evaluate judgements associated with certain transactions undertaken by the entity,</a:t>
            </a:r>
          </a:p>
          <a:p>
            <a:endParaRPr lang="en-US" baseline="0" dirty="0"/>
          </a:p>
          <a:p>
            <a:r>
              <a:rPr lang="en-US" baseline="0" dirty="0"/>
              <a:t>e.g. used in first bullet because of efficiencies, better skills set.</a:t>
            </a:r>
            <a:endParaRPr lang="en-US" dirty="0"/>
          </a:p>
          <a:p>
            <a:pPr marL="171450" indent="-171450">
              <a:buFont typeface="Arial" panose="020B0604020202020204" pitchFamily="34" charset="0"/>
              <a:buChar char="•"/>
            </a:pPr>
            <a:endParaRPr lang="en-US" baseline="0" dirty="0"/>
          </a:p>
          <a:p>
            <a:pPr marL="0" indent="0">
              <a:buFont typeface="Arial" panose="020B0604020202020204" pitchFamily="34" charset="0"/>
              <a:buNone/>
            </a:pPr>
            <a:r>
              <a:rPr lang="en-US" dirty="0"/>
              <a:t>CAG feedback</a:t>
            </a:r>
          </a:p>
          <a:p>
            <a:pPr marL="171450" indent="-171450">
              <a:buFontTx/>
              <a:buChar char="-"/>
            </a:pPr>
            <a:r>
              <a:rPr lang="en-US" dirty="0"/>
              <a:t>Further emphasis of authority and stature </a:t>
            </a:r>
            <a:r>
              <a:rPr lang="en-US" dirty="0">
                <a:sym typeface="Wingdings" panose="05000000000000000000" pitchFamily="2" charset="2"/>
              </a:rPr>
              <a:t> say what authority means, and don’t use language that diminishes the requirement</a:t>
            </a:r>
          </a:p>
          <a:p>
            <a:pPr marL="171450" indent="-171450">
              <a:buFontTx/>
              <a:buChar char="-"/>
            </a:pPr>
            <a:r>
              <a:rPr lang="en-US" dirty="0">
                <a:sym typeface="Wingdings" panose="05000000000000000000" pitchFamily="2" charset="2"/>
              </a:rPr>
              <a:t>Re. paragraph 21, think about whether firm should also have such a [R]</a:t>
            </a:r>
          </a:p>
          <a:p>
            <a:pPr marL="171450" indent="-171450">
              <a:buFontTx/>
              <a:buChar char="-"/>
            </a:pPr>
            <a:r>
              <a:rPr lang="en-US" dirty="0">
                <a:sym typeface="Wingdings" panose="05000000000000000000" pitchFamily="2" charset="2"/>
              </a:rPr>
              <a:t>What role should client have in selection criteria. By involving client, puts greater distance between EQR and firm.</a:t>
            </a:r>
          </a:p>
          <a:p>
            <a:pPr marL="171450" indent="-171450">
              <a:buFontTx/>
              <a:buChar char="-"/>
            </a:pPr>
            <a:r>
              <a:rPr lang="en-US" dirty="0">
                <a:sym typeface="Wingdings" panose="05000000000000000000" pitchFamily="2" charset="2"/>
              </a:rPr>
              <a:t>Reservations about allowing firms to use external party - could external party being same competence/insight  we giving impression that there is automatic reliance on external provider  WHILE, others said external parties are needed</a:t>
            </a:r>
          </a:p>
          <a:p>
            <a:pPr marL="171450" indent="-171450">
              <a:buFontTx/>
              <a:buChar char="-"/>
            </a:pPr>
            <a:endParaRPr lang="en-US" dirty="0">
              <a:sym typeface="Wingdings" panose="05000000000000000000" pitchFamily="2" charset="2"/>
            </a:endParaRP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26</a:t>
            </a:fld>
            <a:endParaRPr lang="en-US"/>
          </a:p>
        </p:txBody>
      </p:sp>
    </p:spTree>
    <p:extLst>
      <p:ext uri="{BB962C8B-B14F-4D97-AF65-F5344CB8AC3E}">
        <p14:creationId xmlns:p14="http://schemas.microsoft.com/office/powerpoint/2010/main" val="1213503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Force</a:t>
            </a:r>
            <a:r>
              <a:rPr lang="en-US" baseline="0" dirty="0"/>
              <a:t> and  JWG are continuing to work with IESBA regarding the alignment of the provisions of proposed ISQC 2 with the principles of objectivity and the long association provisions of the Code. (comment  about staff level coordination here)</a:t>
            </a:r>
          </a:p>
          <a:p>
            <a:endParaRPr lang="en-US" baseline="0" dirty="0"/>
          </a:p>
          <a:p>
            <a:r>
              <a:rPr lang="en-US" baseline="0" dirty="0"/>
              <a:t>At this stage merely providing an update.</a:t>
            </a:r>
          </a:p>
          <a:p>
            <a:endParaRPr lang="en-US" baseline="0" dirty="0"/>
          </a:p>
          <a:p>
            <a:r>
              <a:rPr lang="en-US" baseline="0" dirty="0"/>
              <a:t>We have supplied a paper/supplementary material</a:t>
            </a:r>
            <a:r>
              <a:rPr lang="en-US" baseline="0" dirty="0">
                <a:highlight>
                  <a:srgbClr val="FFFF00"/>
                </a:highlight>
              </a:rPr>
              <a:t>. Any views? The papers are a reflection of our efforts to coordinate.</a:t>
            </a:r>
          </a:p>
          <a:p>
            <a:endParaRPr lang="en-US" baseline="0" dirty="0">
              <a:highlight>
                <a:srgbClr val="FFFF00"/>
              </a:highlight>
            </a:endParaRPr>
          </a:p>
          <a:p>
            <a:r>
              <a:rPr lang="en-US" baseline="0" dirty="0">
                <a:highlight>
                  <a:srgbClr val="FFFF00"/>
                </a:highlight>
              </a:rPr>
              <a:t>Both boards have received this paper this week. Both Boards will be providing instruction to its representatives. Your views on this need to be </a:t>
            </a:r>
            <a:r>
              <a:rPr lang="en-US" baseline="0" dirty="0" err="1">
                <a:highlight>
                  <a:srgbClr val="FFFF00"/>
                </a:highlight>
              </a:rPr>
              <a:t>crystallised</a:t>
            </a:r>
            <a:r>
              <a:rPr lang="en-US" baseline="0" dirty="0">
                <a:highlight>
                  <a:srgbClr val="FFFF00"/>
                </a:highlight>
              </a:rPr>
              <a:t> at this meeting.</a:t>
            </a:r>
          </a:p>
          <a:p>
            <a:endParaRPr lang="en-US" baseline="0" dirty="0">
              <a:highlight>
                <a:srgbClr val="FFFF00"/>
              </a:highlight>
            </a:endParaRPr>
          </a:p>
          <a:p>
            <a:r>
              <a:rPr lang="en-US" baseline="0" dirty="0"/>
              <a:t>Footnote:</a:t>
            </a:r>
          </a:p>
          <a:p>
            <a:endParaRPr lang="en-US" baseline="0" dirty="0"/>
          </a:p>
          <a:p>
            <a:r>
              <a:rPr lang="en-US" sz="900" b="1" kern="1200" dirty="0">
                <a:solidFill>
                  <a:srgbClr val="808080"/>
                </a:solidFill>
                <a:effectLst/>
                <a:latin typeface="+mn-lt"/>
                <a:ea typeface="+mn-ea"/>
                <a:cs typeface="+mn-cs"/>
              </a:rPr>
              <a:t>The IESBA Code also include prohibitions, for audits of public interest entities, on individuals acting in any of the following roles, or combination of such roles, for a period of more than seven cumulative years: </a:t>
            </a:r>
            <a:endParaRPr lang="en-ZA" sz="900" b="1" kern="1200" dirty="0">
              <a:solidFill>
                <a:srgbClr val="808080"/>
              </a:solidFill>
              <a:effectLst/>
              <a:latin typeface="+mn-lt"/>
              <a:ea typeface="+mn-ea"/>
              <a:cs typeface="+mn-cs"/>
            </a:endParaRPr>
          </a:p>
          <a:p>
            <a:pPr marL="285750" lvl="0" indent="-285750">
              <a:buFont typeface="Arial" panose="020B0604020202020204" pitchFamily="34" charset="0"/>
              <a:buChar char="•"/>
            </a:pPr>
            <a:r>
              <a:rPr lang="en-US" sz="900" b="1" kern="1200" dirty="0">
                <a:solidFill>
                  <a:srgbClr val="808080"/>
                </a:solidFill>
                <a:effectLst/>
                <a:latin typeface="+mn-lt"/>
                <a:ea typeface="+mn-ea"/>
                <a:cs typeface="+mn-cs"/>
              </a:rPr>
              <a:t>The engagement partner; </a:t>
            </a:r>
            <a:endParaRPr lang="en-ZA" sz="900" b="1" kern="1200" dirty="0">
              <a:solidFill>
                <a:srgbClr val="808080"/>
              </a:solidFill>
              <a:effectLst/>
              <a:latin typeface="+mn-lt"/>
              <a:ea typeface="+mn-ea"/>
              <a:cs typeface="+mn-cs"/>
            </a:endParaRPr>
          </a:p>
          <a:p>
            <a:pPr marL="285750" lvl="0" indent="-285750">
              <a:buFont typeface="Arial" panose="020B0604020202020204" pitchFamily="34" charset="0"/>
              <a:buChar char="•"/>
            </a:pPr>
            <a:r>
              <a:rPr lang="en-US" sz="900" b="1" kern="1200" dirty="0">
                <a:solidFill>
                  <a:srgbClr val="808080"/>
                </a:solidFill>
                <a:effectLst/>
                <a:latin typeface="+mn-lt"/>
                <a:ea typeface="+mn-ea"/>
                <a:cs typeface="+mn-cs"/>
              </a:rPr>
              <a:t>The individual appointed as the engagement quality reviewer; or </a:t>
            </a:r>
            <a:endParaRPr lang="en-ZA" sz="900" b="1" kern="1200" dirty="0">
              <a:solidFill>
                <a:srgbClr val="808080"/>
              </a:solidFill>
              <a:effectLst/>
              <a:latin typeface="+mn-lt"/>
              <a:ea typeface="+mn-ea"/>
              <a:cs typeface="+mn-cs"/>
            </a:endParaRPr>
          </a:p>
          <a:p>
            <a:pPr marL="285750" indent="-285750">
              <a:buFont typeface="Arial" panose="020B0604020202020204" pitchFamily="34" charset="0"/>
              <a:buChar char="•"/>
            </a:pPr>
            <a:r>
              <a:rPr lang="en-US" sz="900" b="1" kern="1200" dirty="0">
                <a:solidFill>
                  <a:srgbClr val="808080"/>
                </a:solidFill>
                <a:effectLst/>
                <a:latin typeface="+mn-lt"/>
                <a:ea typeface="+mn-ea"/>
                <a:cs typeface="+mn-cs"/>
              </a:rPr>
              <a:t>Any key audit partner role.</a:t>
            </a:r>
            <a:endParaRPr lang="en-ZA" dirty="0">
              <a:solidFill>
                <a:srgbClr val="808080"/>
              </a:solidFill>
            </a:endParaRPr>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27</a:t>
            </a:fld>
            <a:endParaRPr lang="en-US"/>
          </a:p>
        </p:txBody>
      </p:sp>
    </p:spTree>
    <p:extLst>
      <p:ext uri="{BB962C8B-B14F-4D97-AF65-F5344CB8AC3E}">
        <p14:creationId xmlns:p14="http://schemas.microsoft.com/office/powerpoint/2010/main" val="824383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29</a:t>
            </a:fld>
            <a:endParaRPr lang="en-US"/>
          </a:p>
        </p:txBody>
      </p:sp>
    </p:spTree>
    <p:extLst>
      <p:ext uri="{BB962C8B-B14F-4D97-AF65-F5344CB8AC3E}">
        <p14:creationId xmlns:p14="http://schemas.microsoft.com/office/powerpoint/2010/main" val="5405009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above slide.</a:t>
            </a:r>
          </a:p>
          <a:p>
            <a:endParaRPr lang="en-US" dirty="0"/>
          </a:p>
          <a:p>
            <a:r>
              <a:rPr lang="en-US" dirty="0"/>
              <a:t>Lets reflect CAG feedback:</a:t>
            </a:r>
          </a:p>
          <a:p>
            <a:pPr marL="171450" indent="-171450">
              <a:buFont typeface="Arial" panose="020B0604020202020204" pitchFamily="34" charset="0"/>
              <a:buChar char="•"/>
            </a:pPr>
            <a:r>
              <a:rPr lang="en-US" dirty="0"/>
              <a:t>Quality risks are much broader than EQ focus</a:t>
            </a:r>
          </a:p>
          <a:p>
            <a:pPr marL="171450" indent="-171450">
              <a:buFont typeface="Arial" panose="020B0604020202020204" pitchFamily="34" charset="0"/>
              <a:buChar char="•"/>
            </a:pPr>
            <a:r>
              <a:rPr lang="en-US" dirty="0"/>
              <a:t>The focus on M&amp;R results in 24(iii) – for the specific engagement or all engagements</a:t>
            </a:r>
          </a:p>
          <a:p>
            <a:pPr marL="171450" indent="-171450">
              <a:buFont typeface="Arial" panose="020B0604020202020204" pitchFamily="34" charset="0"/>
              <a:buChar char="•"/>
            </a:pPr>
            <a:r>
              <a:rPr lang="en-US" dirty="0"/>
              <a:t>‘ought to have been made’ is too broad </a:t>
            </a:r>
            <a:r>
              <a:rPr lang="en-US" dirty="0">
                <a:sym typeface="Wingdings" panose="05000000000000000000" pitchFamily="2" charset="2"/>
              </a:rPr>
              <a:t> are we referring to correctness or completeness</a:t>
            </a:r>
          </a:p>
          <a:p>
            <a:pPr marL="171450" indent="-171450">
              <a:buFont typeface="Arial" panose="020B0604020202020204" pitchFamily="34" charset="0"/>
              <a:buChar char="•"/>
            </a:pPr>
            <a:r>
              <a:rPr lang="en-US" dirty="0">
                <a:sym typeface="Wingdings" panose="05000000000000000000" pitchFamily="2" charset="2"/>
              </a:rPr>
              <a:t>Much more explicit about completion of work - practical difficulty with disagreeing with judgements already made/absolutely completed</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30</a:t>
            </a:fld>
            <a:endParaRPr lang="en-US"/>
          </a:p>
        </p:txBody>
      </p:sp>
    </p:spTree>
    <p:extLst>
      <p:ext uri="{BB962C8B-B14F-4D97-AF65-F5344CB8AC3E}">
        <p14:creationId xmlns:p14="http://schemas.microsoft.com/office/powerpoint/2010/main" val="3767914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tx1"/>
                </a:solidFill>
                <a:effectLst/>
                <a:latin typeface="+mn-lt"/>
                <a:ea typeface="+mn-ea"/>
                <a:cs typeface="+mn-cs"/>
              </a:rPr>
              <a:t>Extant ISA 220:</a:t>
            </a:r>
          </a:p>
          <a:p>
            <a:r>
              <a:rPr lang="en-US" sz="900" kern="1200" dirty="0">
                <a:solidFill>
                  <a:schemeClr val="tx1"/>
                </a:solidFill>
                <a:effectLst/>
                <a:latin typeface="+mn-lt"/>
                <a:ea typeface="+mn-ea"/>
                <a:cs typeface="+mn-cs"/>
              </a:rPr>
              <a:t>20.	The engagement quality control reviewer shall perform an objective evaluation of the significant judgments made by the engagement team, and the conclusions reached in formulating the auditor’s report. This evaluation shall involve: </a:t>
            </a:r>
          </a:p>
          <a:p>
            <a:r>
              <a:rPr lang="en-US" sz="900" kern="1200" dirty="0">
                <a:solidFill>
                  <a:schemeClr val="tx1"/>
                </a:solidFill>
                <a:effectLst/>
                <a:latin typeface="+mn-lt"/>
                <a:ea typeface="+mn-ea"/>
                <a:cs typeface="+mn-cs"/>
              </a:rPr>
              <a:t>(a)	Discussion of significant matters with the engagement partner;</a:t>
            </a:r>
          </a:p>
          <a:p>
            <a:r>
              <a:rPr lang="en-US" sz="900" kern="1200" dirty="0">
                <a:solidFill>
                  <a:schemeClr val="tx1"/>
                </a:solidFill>
                <a:effectLst/>
                <a:latin typeface="+mn-lt"/>
                <a:ea typeface="+mn-ea"/>
                <a:cs typeface="+mn-cs"/>
              </a:rPr>
              <a:t>(b)	Review of the financial statements and the proposed auditor’s report;</a:t>
            </a:r>
          </a:p>
          <a:p>
            <a:r>
              <a:rPr lang="en-US" sz="900" kern="1200" dirty="0">
                <a:solidFill>
                  <a:schemeClr val="tx1"/>
                </a:solidFill>
                <a:effectLst/>
                <a:latin typeface="+mn-lt"/>
                <a:ea typeface="+mn-ea"/>
                <a:cs typeface="+mn-cs"/>
              </a:rPr>
              <a:t>(c)	Review of selected audit documentation relating to the significant judgments the engagement team made and the conclusions it reached; and</a:t>
            </a:r>
          </a:p>
          <a:p>
            <a:r>
              <a:rPr lang="en-US" sz="900" kern="1200" dirty="0">
                <a:solidFill>
                  <a:schemeClr val="tx1"/>
                </a:solidFill>
                <a:effectLst/>
                <a:latin typeface="+mn-lt"/>
                <a:ea typeface="+mn-ea"/>
                <a:cs typeface="+mn-cs"/>
              </a:rPr>
              <a:t>(d)	Evaluation of the conclusions reached in formulating the auditor’s report and consideration of whether the proposed auditor’s report is appropriate. (Ref: Para. A26–A28, A30–A32)</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31</a:t>
            </a:fld>
            <a:endParaRPr lang="en-US"/>
          </a:p>
        </p:txBody>
      </p:sp>
    </p:spTree>
    <p:extLst>
      <p:ext uri="{BB962C8B-B14F-4D97-AF65-F5344CB8AC3E}">
        <p14:creationId xmlns:p14="http://schemas.microsoft.com/office/powerpoint/2010/main" val="19380269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Firm’s policies or procedures may require the engagement team to consult on certain matters</a:t>
            </a:r>
          </a:p>
          <a:p>
            <a:pPr marL="171450" indent="-171450">
              <a:buFont typeface="Arial" panose="020B0604020202020204" pitchFamily="34" charset="0"/>
              <a:buChar char="•"/>
            </a:pPr>
            <a:r>
              <a:rPr lang="en-US" dirty="0"/>
              <a:t>EQ reviewer may be most appropriate</a:t>
            </a:r>
            <a:r>
              <a:rPr lang="en-US" baseline="0" dirty="0"/>
              <a:t> person for some consultations (e.g., subject matter expert)</a:t>
            </a:r>
          </a:p>
          <a:p>
            <a:pPr marL="171450" indent="-171450">
              <a:buFont typeface="Arial" panose="020B0604020202020204" pitchFamily="34" charset="0"/>
              <a:buChar char="•"/>
            </a:pPr>
            <a:r>
              <a:rPr lang="en-US" baseline="0" dirty="0"/>
              <a:t>Safeguards may include appointing another individual for the discrete area the EQ reviewer consults on (see paragraph A17 of proposed ISQC 2 and paragraphs 43(e)(v) and A109 of proposed ISQC 1 (revised)</a:t>
            </a:r>
          </a:p>
          <a:p>
            <a:pPr marL="171450" indent="-171450">
              <a:buFont typeface="Arial" panose="020B0604020202020204" pitchFamily="34" charset="0"/>
              <a:buChar char="•"/>
            </a:pPr>
            <a:r>
              <a:rPr lang="en-US" baseline="0" dirty="0"/>
              <a:t>There was no feedback on this from CAG</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33</a:t>
            </a:fld>
            <a:endParaRPr lang="en-US"/>
          </a:p>
        </p:txBody>
      </p:sp>
    </p:spTree>
    <p:extLst>
      <p:ext uri="{BB962C8B-B14F-4D97-AF65-F5344CB8AC3E}">
        <p14:creationId xmlns:p14="http://schemas.microsoft.com/office/powerpoint/2010/main" val="4098228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was no response to this at CAG.</a:t>
            </a:r>
          </a:p>
        </p:txBody>
      </p:sp>
      <p:sp>
        <p:nvSpPr>
          <p:cNvPr id="4" name="Slide Number Placeholder 3"/>
          <p:cNvSpPr>
            <a:spLocks noGrp="1"/>
          </p:cNvSpPr>
          <p:nvPr>
            <p:ph type="sldNum" sz="quarter" idx="5"/>
          </p:nvPr>
        </p:nvSpPr>
        <p:spPr/>
        <p:txBody>
          <a:bodyPr/>
          <a:lstStyle/>
          <a:p>
            <a:fld id="{4D410189-AC31-7546-878A-F48FDE4A29F5}" type="slidenum">
              <a:rPr lang="en-US" smtClean="0"/>
              <a:t>35</a:t>
            </a:fld>
            <a:endParaRPr lang="en-US"/>
          </a:p>
        </p:txBody>
      </p:sp>
    </p:spTree>
    <p:extLst>
      <p:ext uri="{BB962C8B-B14F-4D97-AF65-F5344CB8AC3E}">
        <p14:creationId xmlns:p14="http://schemas.microsoft.com/office/powerpoint/2010/main" val="2055441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36</a:t>
            </a:fld>
            <a:endParaRPr lang="en-US"/>
          </a:p>
        </p:txBody>
      </p:sp>
    </p:spTree>
    <p:extLst>
      <p:ext uri="{BB962C8B-B14F-4D97-AF65-F5344CB8AC3E}">
        <p14:creationId xmlns:p14="http://schemas.microsoft.com/office/powerpoint/2010/main" val="3701784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Paragraph 25 of proposed ISQC 2 requires</a:t>
            </a:r>
            <a:r>
              <a:rPr lang="en-US" baseline="0" dirty="0"/>
              <a:t> that:</a:t>
            </a:r>
          </a:p>
          <a:p>
            <a:r>
              <a:rPr lang="en-US" sz="900" kern="1200" dirty="0">
                <a:solidFill>
                  <a:schemeClr val="tx1"/>
                </a:solidFill>
                <a:effectLst/>
                <a:latin typeface="+mn-lt"/>
                <a:ea typeface="+mn-ea"/>
                <a:cs typeface="+mn-cs"/>
              </a:rPr>
              <a:t>The engagement quality reviewer shall evaluate whether, on or before the date of the engagement report: </a:t>
            </a:r>
          </a:p>
          <a:p>
            <a:r>
              <a:rPr lang="en-US" sz="900" kern="1200" dirty="0">
                <a:solidFill>
                  <a:schemeClr val="tx1"/>
                </a:solidFill>
                <a:effectLst/>
                <a:latin typeface="+mn-lt"/>
                <a:ea typeface="+mn-ea"/>
                <a:cs typeface="+mn-cs"/>
              </a:rPr>
              <a:t>(a)	The requirements of this ISQC have been fulfilled, taking into account the firm’s policies or procedures that address the requirements in this ISQC, and the objective of this ISQC has been achieved; and</a:t>
            </a:r>
          </a:p>
          <a:p>
            <a:r>
              <a:rPr lang="en-US" sz="900" kern="1200" dirty="0">
                <a:solidFill>
                  <a:schemeClr val="tx1"/>
                </a:solidFill>
                <a:effectLst/>
                <a:latin typeface="+mn-lt"/>
                <a:ea typeface="+mn-ea"/>
                <a:cs typeface="+mn-cs"/>
              </a:rPr>
              <a:t>(b)	There are any unresolved matters of which the engagement quality reviewer is aware that would cause the engagement quality reviewer to believe that the significant judgments made by the engagement team made and the conclusions it reached thereon were not appropriate.</a:t>
            </a:r>
          </a:p>
          <a:p>
            <a:pPr>
              <a:lnSpc>
                <a:spcPts val="2100"/>
              </a:lnSpc>
              <a:spcBef>
                <a:spcPts val="600"/>
              </a:spcBef>
            </a:pPr>
            <a:endParaRPr lang="en-US" sz="1800" dirty="0">
              <a:solidFill>
                <a:schemeClr val="tx1">
                  <a:lumMod val="65000"/>
                  <a:lumOff val="35000"/>
                </a:schemeClr>
              </a:solidFill>
            </a:endParaRPr>
          </a:p>
          <a:p>
            <a:pPr>
              <a:lnSpc>
                <a:spcPts val="2100"/>
              </a:lnSpc>
              <a:spcBef>
                <a:spcPts val="600"/>
              </a:spcBef>
            </a:pPr>
            <a:r>
              <a:rPr lang="en-US" sz="1800" dirty="0">
                <a:solidFill>
                  <a:schemeClr val="tx1">
                    <a:lumMod val="65000"/>
                    <a:lumOff val="35000"/>
                  </a:schemeClr>
                </a:solidFill>
              </a:rPr>
              <a:t>CAG Representatives raised questions about documentation</a:t>
            </a:r>
          </a:p>
          <a:p>
            <a:pPr lvl="1">
              <a:lnSpc>
                <a:spcPts val="2100"/>
              </a:lnSpc>
              <a:spcBef>
                <a:spcPts val="600"/>
              </a:spcBef>
            </a:pPr>
            <a:r>
              <a:rPr lang="en-US" sz="1600" dirty="0">
                <a:solidFill>
                  <a:schemeClr val="tx1">
                    <a:lumMod val="65000"/>
                    <a:lumOff val="35000"/>
                  </a:schemeClr>
                </a:solidFill>
              </a:rPr>
              <a:t>The EQ review documentation is to be included with ET documentation?</a:t>
            </a:r>
          </a:p>
          <a:p>
            <a:pPr lvl="1">
              <a:lnSpc>
                <a:spcPts val="2100"/>
              </a:lnSpc>
              <a:spcBef>
                <a:spcPts val="600"/>
              </a:spcBef>
            </a:pPr>
            <a:r>
              <a:rPr lang="en-US" sz="1600" dirty="0">
                <a:solidFill>
                  <a:schemeClr val="tx1">
                    <a:lumMod val="65000"/>
                    <a:lumOff val="35000"/>
                  </a:schemeClr>
                </a:solidFill>
              </a:rPr>
              <a:t>Documentation of the EQ review is the responsibility of the engagement team</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38</a:t>
            </a:fld>
            <a:endParaRPr lang="en-US"/>
          </a:p>
        </p:txBody>
      </p:sp>
    </p:spTree>
    <p:extLst>
      <p:ext uri="{BB962C8B-B14F-4D97-AF65-F5344CB8AC3E}">
        <p14:creationId xmlns:p14="http://schemas.microsoft.com/office/powerpoint/2010/main" val="28790243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Reminder – </a:t>
            </a:r>
            <a:r>
              <a:rPr lang="en-US" dirty="0" err="1"/>
              <a:t>FoF</a:t>
            </a:r>
            <a:r>
              <a:rPr lang="en-US" dirty="0"/>
              <a:t> and</a:t>
            </a:r>
            <a:r>
              <a:rPr lang="en-US" baseline="0" dirty="0"/>
              <a:t> JWG in early October, TF meeting mid-October, other outreach before December IAASB meeting (after materials posted)</a:t>
            </a:r>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40</a:t>
            </a:fld>
            <a:endParaRPr lang="en-US"/>
          </a:p>
        </p:txBody>
      </p:sp>
    </p:spTree>
    <p:extLst>
      <p:ext uri="{BB962C8B-B14F-4D97-AF65-F5344CB8AC3E}">
        <p14:creationId xmlns:p14="http://schemas.microsoft.com/office/powerpoint/2010/main" val="29503057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www.iaasb.org/" TargetMode="External"/><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hyperlink" Target="mailto:permissions@ifac.org" TargetMode="External"/><Relationship Id="rId5" Type="http://schemas.openxmlformats.org/officeDocument/2006/relationships/image" Target="../media/image6.png"/><Relationship Id="rId10" Type="http://schemas.openxmlformats.org/officeDocument/2006/relationships/hyperlink" Target="http://www.ifac.org/about-ifac/translations-permissions" TargetMode="External"/><Relationship Id="rId4" Type="http://schemas.openxmlformats.org/officeDocument/2006/relationships/image" Target="../media/image5.png"/><Relationship Id="rId9"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a:prstGeom prst="rect">
            <a:avLst/>
          </a:prstGeo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a:prstGeom prst="rect">
            <a:avLst/>
          </a:prstGeo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a:prstGeom prst="rect">
            <a:avLst/>
          </a:prstGeo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a:prstGeom prst="rect">
            <a:avLst/>
          </a:prstGeo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27437"/>
            <a:ext cx="8229600" cy="40387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457200" y="1200151"/>
            <a:ext cx="8229600" cy="3188677"/>
          </a:xfrm>
          <a:prstGeom prst="rect">
            <a:avLst/>
          </a:prstGeom>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
        <p:nvSpPr>
          <p:cNvPr id="4" name="Footer Placeholder 3"/>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576669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27437"/>
            <a:ext cx="8229600" cy="40387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27437"/>
            <a:ext cx="8229600" cy="403875"/>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a:prstGeom prst="rect">
            <a:avLst/>
          </a:prstGeo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a:prstGeom prst="rect">
            <a:avLst/>
          </a:prstGeo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a:prstGeom prst="rect">
            <a:avLst/>
          </a:prstGeo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a:prstGeom prst="rect">
            <a:avLst/>
          </a:prstGeo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27437"/>
            <a:ext cx="8229600" cy="403875"/>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
        <p:nvSpPr>
          <p:cNvPr id="12" name="Footer Placeholder 11"/>
          <p:cNvSpPr>
            <a:spLocks noGrp="1"/>
          </p:cNvSpPr>
          <p:nvPr>
            <p:ph type="ftr" sz="quarter"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457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7543800" cy="400050"/>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457200" y="1200151"/>
            <a:ext cx="8229600" cy="3188677"/>
          </a:xfrm>
          <a:prstGeom prst="rect">
            <a:avLst/>
          </a:prstGeom>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p:cNvSpPr>
            <a:spLocks noGrp="1"/>
          </p:cNvSpPr>
          <p:nvPr>
            <p:ph type="subTitle" idx="10"/>
          </p:nvPr>
        </p:nvSpPr>
        <p:spPr>
          <a:xfrm>
            <a:off x="381000" y="114300"/>
            <a:ext cx="2667000" cy="171450"/>
          </a:xfrm>
          <a:prstGeom prst="rect">
            <a:avLst/>
          </a:prstGeom>
        </p:spPr>
        <p:txBody>
          <a:bodyPr lIns="0" tIns="0" rIns="0" bIns="0"/>
          <a:lstStyle>
            <a:lvl1pPr marL="0" indent="0" algn="l">
              <a:buNone/>
              <a:defRPr sz="1050">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2144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7543800" cy="400050"/>
          </a:xfrm>
          <a:prstGeom prst="rect">
            <a:avLst/>
          </a:prstGeom>
        </p:spPr>
        <p:txBody>
          <a:bodyPr anchor="ctr"/>
          <a:lstStyle/>
          <a:p>
            <a:r>
              <a:rPr lang="en-US" dirty="0"/>
              <a:t>Click to edit Master title style</a:t>
            </a:r>
          </a:p>
        </p:txBody>
      </p:sp>
      <p:sp>
        <p:nvSpPr>
          <p:cNvPr id="3" name="Content Placeholder 2"/>
          <p:cNvSpPr>
            <a:spLocks noGrp="1"/>
          </p:cNvSpPr>
          <p:nvPr>
            <p:ph idx="1"/>
          </p:nvPr>
        </p:nvSpPr>
        <p:spPr>
          <a:xfrm>
            <a:off x="457200" y="1200151"/>
            <a:ext cx="8229600" cy="3188677"/>
          </a:xfrm>
          <a:prstGeom prst="rect">
            <a:avLst/>
          </a:prstGeom>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381000" y="114300"/>
            <a:ext cx="2667000" cy="171450"/>
          </a:xfrm>
          <a:prstGeom prst="rect">
            <a:avLst/>
          </a:prstGeom>
        </p:spPr>
        <p:txBody>
          <a:bodyPr lIns="0" tIns="0" rIns="0" bIns="0"/>
          <a:lstStyle>
            <a:lvl1pPr marL="0" indent="0" algn="l">
              <a:buNone/>
              <a:defRPr sz="1050">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US" dirty="0"/>
          </a:p>
        </p:txBody>
      </p:sp>
      <p:sp>
        <p:nvSpPr>
          <p:cNvPr id="5" name="Slide Number Placeholder 3"/>
          <p:cNvSpPr>
            <a:spLocks noGrp="1"/>
          </p:cNvSpPr>
          <p:nvPr>
            <p:ph type="sldNum" sz="quarter" idx="12"/>
          </p:nvPr>
        </p:nvSpPr>
        <p:spPr>
          <a:xfrm>
            <a:off x="8283374" y="4744792"/>
            <a:ext cx="639024" cy="251831"/>
          </a:xfrm>
        </p:spPr>
        <p:txBody>
          <a:bodyPr/>
          <a:lstStyle/>
          <a:p>
            <a:fld id="{605F50E8-FD69-1B47-8B62-FEC05D161593}" type="slidenum">
              <a:rPr lang="en-US" smtClean="0"/>
              <a:pPr/>
              <a:t>‹#›</a:t>
            </a:fld>
            <a:endParaRPr lang="en-US" dirty="0"/>
          </a:p>
        </p:txBody>
      </p:sp>
    </p:spTree>
    <p:extLst>
      <p:ext uri="{BB962C8B-B14F-4D97-AF65-F5344CB8AC3E}">
        <p14:creationId xmlns:p14="http://schemas.microsoft.com/office/powerpoint/2010/main" val="118599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62" r:id="rId10"/>
    <p:sldLayoutId id="2147483663" r:id="rId11"/>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jp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799" y="2429441"/>
            <a:ext cx="7893383" cy="1093770"/>
          </a:xfrm>
        </p:spPr>
        <p:txBody>
          <a:bodyPr/>
          <a:lstStyle/>
          <a:p>
            <a:r>
              <a:rPr lang="en-US" dirty="0"/>
              <a:t>Engagement Quality Reviews: Proposed ISQC 2</a:t>
            </a:r>
          </a:p>
        </p:txBody>
      </p:sp>
      <p:sp>
        <p:nvSpPr>
          <p:cNvPr id="6" name="Subtitle 5"/>
          <p:cNvSpPr>
            <a:spLocks noGrp="1"/>
          </p:cNvSpPr>
          <p:nvPr>
            <p:ph type="subTitle" idx="1"/>
          </p:nvPr>
        </p:nvSpPr>
        <p:spPr>
          <a:xfrm>
            <a:off x="685800" y="2735268"/>
            <a:ext cx="5945819" cy="718007"/>
          </a:xfrm>
        </p:spPr>
        <p:txBody>
          <a:bodyPr/>
          <a:lstStyle/>
          <a:p>
            <a:r>
              <a:rPr lang="en-US" sz="1600" dirty="0"/>
              <a:t>September 18, 2018 </a:t>
            </a:r>
            <a:endParaRPr lang="en-US" sz="1600" i="1" dirty="0"/>
          </a:p>
        </p:txBody>
      </p:sp>
      <p:sp>
        <p:nvSpPr>
          <p:cNvPr id="4" name="Subtitle 5"/>
          <p:cNvSpPr txBox="1">
            <a:spLocks/>
          </p:cNvSpPr>
          <p:nvPr/>
        </p:nvSpPr>
        <p:spPr>
          <a:xfrm>
            <a:off x="685799" y="3916533"/>
            <a:ext cx="4951521" cy="868531"/>
          </a:xfrm>
          <a:prstGeom prst="rect">
            <a:avLst/>
          </a:prstGeom>
        </p:spPr>
        <p:txBody>
          <a:bodyPr vert="horz" lIns="0" tIns="0" rIns="0" bIns="0" rtlCol="0" anchor="b">
            <a:noAutofit/>
          </a:bodyPr>
          <a:lstStyle>
            <a:lvl1pPr marL="0" indent="0" algn="l" defTabSz="342900" rtl="0" eaLnBrk="1" latinLnBrk="0" hangingPunct="1">
              <a:spcBef>
                <a:spcPts val="900"/>
              </a:spcBef>
              <a:buFont typeface="Arial"/>
              <a:buNone/>
              <a:defRPr sz="135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0" algn="ctr" defTabSz="342900" rtl="0" eaLnBrk="1" latinLnBrk="0" hangingPunct="1">
              <a:spcBef>
                <a:spcPts val="450"/>
              </a:spcBef>
              <a:spcAft>
                <a:spcPts val="300"/>
              </a:spcAft>
              <a:buFont typeface="Arial"/>
              <a:buNone/>
              <a:defRPr sz="1350" kern="1200">
                <a:solidFill>
                  <a:schemeClr val="tx1">
                    <a:tint val="75000"/>
                  </a:schemeClr>
                </a:solidFill>
                <a:latin typeface="Arial" panose="020B0604020202020204" pitchFamily="34" charset="0"/>
                <a:ea typeface="+mn-ea"/>
                <a:cs typeface="Arial" panose="020B0604020202020204" pitchFamily="34" charset="0"/>
              </a:defRPr>
            </a:lvl2pPr>
            <a:lvl3pPr marL="685800" indent="0" algn="ctr" defTabSz="342900" rtl="0" eaLnBrk="1" latinLnBrk="0" hangingPunct="1">
              <a:spcBef>
                <a:spcPct val="20000"/>
              </a:spcBef>
              <a:buFont typeface="Arial"/>
              <a:buNone/>
              <a:defRPr sz="1200" kern="1200">
                <a:solidFill>
                  <a:schemeClr val="tx1">
                    <a:tint val="75000"/>
                  </a:schemeClr>
                </a:solidFill>
                <a:latin typeface="Arial" panose="020B0604020202020204" pitchFamily="34" charset="0"/>
                <a:ea typeface="+mn-ea"/>
                <a:cs typeface="Arial" panose="020B0604020202020204" pitchFamily="34" charset="0"/>
              </a:defRPr>
            </a:lvl3pPr>
            <a:lvl4pPr marL="1028700" indent="0" algn="ctr" defTabSz="342900" rtl="0" eaLnBrk="1" latinLnBrk="0" hangingPunct="1">
              <a:spcBef>
                <a:spcPct val="20000"/>
              </a:spcBef>
              <a:buFont typeface="Arial"/>
              <a:buNone/>
              <a:defRPr sz="1050" kern="1200">
                <a:solidFill>
                  <a:schemeClr val="tx1">
                    <a:tint val="75000"/>
                  </a:schemeClr>
                </a:solidFill>
                <a:latin typeface="Arial Narrow"/>
                <a:ea typeface="+mn-ea"/>
                <a:cs typeface="Arial Narrow"/>
              </a:defRPr>
            </a:lvl4pPr>
            <a:lvl5pPr marL="1371600" indent="0" algn="ctr" defTabSz="342900" rtl="0" eaLnBrk="1" latinLnBrk="0" hangingPunct="1">
              <a:spcBef>
                <a:spcPct val="20000"/>
              </a:spcBef>
              <a:buFont typeface="Arial"/>
              <a:buNone/>
              <a:defRPr sz="1050" kern="1200">
                <a:solidFill>
                  <a:schemeClr val="tx1">
                    <a:tint val="75000"/>
                  </a:schemeClr>
                </a:solidFill>
                <a:latin typeface="Arial Narrow"/>
                <a:ea typeface="+mn-ea"/>
                <a:cs typeface="Arial Narrow"/>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r>
              <a:rPr lang="en-US" sz="1400" dirty="0"/>
              <a:t>IAASB Meeting, New York, USA</a:t>
            </a:r>
          </a:p>
          <a:p>
            <a:r>
              <a:rPr lang="en-US" sz="1400" dirty="0"/>
              <a:t>Imran Vanker, ISQC 2 Task Force Chair</a:t>
            </a:r>
          </a:p>
        </p:txBody>
      </p:sp>
    </p:spTree>
    <p:extLst>
      <p:ext uri="{BB962C8B-B14F-4D97-AF65-F5344CB8AC3E}">
        <p14:creationId xmlns:p14="http://schemas.microsoft.com/office/powerpoint/2010/main" val="424040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7"/>
            <a:ext cx="8443404" cy="3787571"/>
          </a:xfrm>
        </p:spPr>
        <p:txBody>
          <a:bodyPr/>
          <a:lstStyle/>
          <a:p>
            <a:pPr marL="184150" lvl="1" indent="-184150">
              <a:spcBef>
                <a:spcPts val="900"/>
              </a:spcBef>
              <a:buFont typeface="Arial" panose="020B0604020202020204" pitchFamily="34" charset="0"/>
              <a:buChar char="•"/>
            </a:pPr>
            <a:r>
              <a:rPr lang="en-US" sz="1800" dirty="0">
                <a:solidFill>
                  <a:schemeClr val="tx1">
                    <a:lumMod val="65000"/>
                    <a:lumOff val="35000"/>
                  </a:schemeClr>
                </a:solidFill>
              </a:rPr>
              <a:t>Background</a:t>
            </a:r>
          </a:p>
          <a:p>
            <a:pPr marL="184150" lvl="1" indent="-184150">
              <a:spcBef>
                <a:spcPts val="900"/>
              </a:spcBef>
              <a:buFont typeface="Arial" panose="020B0604020202020204" pitchFamily="34" charset="0"/>
              <a:buChar char="•"/>
            </a:pPr>
            <a:r>
              <a:rPr lang="en-US" sz="1800" dirty="0">
                <a:solidFill>
                  <a:schemeClr val="tx1">
                    <a:lumMod val="65000"/>
                    <a:lumOff val="35000"/>
                  </a:schemeClr>
                </a:solidFill>
              </a:rPr>
              <a:t>Outreach and Coordination</a:t>
            </a:r>
          </a:p>
          <a:p>
            <a:pPr lvl="1"/>
            <a:r>
              <a:rPr lang="en-US" sz="1800" dirty="0">
                <a:solidFill>
                  <a:schemeClr val="tx1">
                    <a:lumMod val="65000"/>
                    <a:lumOff val="35000"/>
                  </a:schemeClr>
                </a:solidFill>
              </a:rPr>
              <a:t>Feedback from CAG</a:t>
            </a:r>
          </a:p>
          <a:p>
            <a:pPr lvl="1"/>
            <a:r>
              <a:rPr lang="en-US" sz="1800" dirty="0">
                <a:solidFill>
                  <a:schemeClr val="tx1">
                    <a:lumMod val="65000"/>
                    <a:lumOff val="35000"/>
                  </a:schemeClr>
                </a:solidFill>
              </a:rPr>
              <a:t>Feedback from SMPC (including scalability)</a:t>
            </a:r>
          </a:p>
          <a:p>
            <a:pPr marL="184150" lvl="1" indent="-184150">
              <a:spcBef>
                <a:spcPts val="900"/>
              </a:spcBef>
              <a:buFont typeface="Arial" panose="020B0604020202020204" pitchFamily="34" charset="0"/>
              <a:buChar char="•"/>
            </a:pPr>
            <a:r>
              <a:rPr lang="en-US" sz="1800" dirty="0">
                <a:solidFill>
                  <a:schemeClr val="tx1">
                    <a:lumMod val="65000"/>
                    <a:lumOff val="35000"/>
                  </a:schemeClr>
                </a:solidFill>
              </a:rPr>
              <a:t>Walk through of proposed ISQC 2 and extracts of proposed ISQC 1 (Revised)</a:t>
            </a:r>
          </a:p>
          <a:p>
            <a:pPr marL="171450" lvl="1" indent="0">
              <a:buNone/>
            </a:pPr>
            <a:endParaRPr lang="en-US" sz="1200" dirty="0">
              <a:solidFill>
                <a:schemeClr val="tx1">
                  <a:lumMod val="65000"/>
                  <a:lumOff val="35000"/>
                </a:schemeClr>
              </a:solidFill>
            </a:endParaRPr>
          </a:p>
        </p:txBody>
      </p:sp>
      <p:sp>
        <p:nvSpPr>
          <p:cNvPr id="17" name="Title 16"/>
          <p:cNvSpPr>
            <a:spLocks noGrp="1"/>
          </p:cNvSpPr>
          <p:nvPr>
            <p:ph type="title"/>
          </p:nvPr>
        </p:nvSpPr>
        <p:spPr>
          <a:xfrm>
            <a:off x="381000" y="426533"/>
            <a:ext cx="6762750" cy="400050"/>
          </a:xfrm>
        </p:spPr>
        <p:txBody>
          <a:bodyPr/>
          <a:lstStyle/>
          <a:p>
            <a:r>
              <a:rPr lang="en-US" dirty="0"/>
              <a:t>Overview</a:t>
            </a:r>
          </a:p>
        </p:txBody>
      </p:sp>
      <p:sp>
        <p:nvSpPr>
          <p:cNvPr id="3" name="Slide Number Placeholder 2"/>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1647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7543800" cy="553745"/>
          </a:xfrm>
        </p:spPr>
        <p:txBody>
          <a:bodyPr/>
          <a:lstStyle/>
          <a:p>
            <a:r>
              <a:rPr lang="en-US" dirty="0"/>
              <a:t>Background</a:t>
            </a:r>
          </a:p>
        </p:txBody>
      </p:sp>
      <p:sp>
        <p:nvSpPr>
          <p:cNvPr id="3" name="Content Placeholder 2"/>
          <p:cNvSpPr>
            <a:spLocks noGrp="1"/>
          </p:cNvSpPr>
          <p:nvPr>
            <p:ph idx="1"/>
          </p:nvPr>
        </p:nvSpPr>
        <p:spPr>
          <a:xfrm>
            <a:off x="457200" y="896644"/>
            <a:ext cx="8229600" cy="3915053"/>
          </a:xfrm>
        </p:spPr>
        <p:txBody>
          <a:bodyPr/>
          <a:lstStyle/>
          <a:p>
            <a:pPr marL="129779" lvl="1" indent="-129779">
              <a:spcBef>
                <a:spcPts val="900"/>
              </a:spcBef>
              <a:buFont typeface="Arial"/>
              <a:buChar char="•"/>
            </a:pPr>
            <a:r>
              <a:rPr lang="en-US" sz="2000" dirty="0">
                <a:solidFill>
                  <a:schemeClr val="tx1">
                    <a:lumMod val="65000"/>
                    <a:lumOff val="35000"/>
                  </a:schemeClr>
                </a:solidFill>
              </a:rPr>
              <a:t>December 2015 </a:t>
            </a:r>
          </a:p>
          <a:p>
            <a:pPr lvl="1"/>
            <a:r>
              <a:rPr lang="en-US" sz="1800" dirty="0">
                <a:solidFill>
                  <a:schemeClr val="tx1">
                    <a:lumMod val="65000"/>
                    <a:lumOff val="35000"/>
                  </a:schemeClr>
                </a:solidFill>
              </a:rPr>
              <a:t>Invitation to Comment (ITC), Enhancing Audit Quality in the Public Interest</a:t>
            </a:r>
          </a:p>
          <a:p>
            <a:pPr marL="129779" lvl="1" indent="-129779">
              <a:spcBef>
                <a:spcPts val="900"/>
              </a:spcBef>
              <a:buFont typeface="Arial"/>
              <a:buChar char="•"/>
            </a:pPr>
            <a:r>
              <a:rPr lang="en-US" sz="2000" dirty="0">
                <a:solidFill>
                  <a:schemeClr val="tx1">
                    <a:lumMod val="65000"/>
                    <a:lumOff val="35000"/>
                  </a:schemeClr>
                </a:solidFill>
              </a:rPr>
              <a:t>June 2016</a:t>
            </a:r>
          </a:p>
          <a:p>
            <a:pPr lvl="1"/>
            <a:r>
              <a:rPr lang="en-US" sz="1800" dirty="0">
                <a:solidFill>
                  <a:schemeClr val="tx1">
                    <a:lumMod val="65000"/>
                    <a:lumOff val="35000"/>
                  </a:schemeClr>
                </a:solidFill>
              </a:rPr>
              <a:t>Audit Quality Enhancements Coordination Working Group reported ongoing support for importance of engagement quality control reviews as a key quality control measure</a:t>
            </a:r>
          </a:p>
          <a:p>
            <a:pPr marL="129779" lvl="1" indent="-129779">
              <a:spcBef>
                <a:spcPts val="900"/>
              </a:spcBef>
              <a:buFont typeface="Arial"/>
              <a:buChar char="•"/>
            </a:pPr>
            <a:r>
              <a:rPr lang="en-US" sz="2000" dirty="0">
                <a:solidFill>
                  <a:schemeClr val="tx1">
                    <a:lumMod val="65000"/>
                    <a:lumOff val="35000"/>
                  </a:schemeClr>
                </a:solidFill>
              </a:rPr>
              <a:t>September 2017</a:t>
            </a:r>
          </a:p>
          <a:p>
            <a:pPr lvl="1"/>
            <a:r>
              <a:rPr lang="en-US" sz="1800" dirty="0">
                <a:solidFill>
                  <a:schemeClr val="tx1">
                    <a:lumMod val="65000"/>
                    <a:lumOff val="35000"/>
                  </a:schemeClr>
                </a:solidFill>
              </a:rPr>
              <a:t>First read of proposed ISQC 2 and relevant extracts from ISQC 1 reviewed</a:t>
            </a:r>
          </a:p>
          <a:p>
            <a:pPr lvl="1"/>
            <a:r>
              <a:rPr lang="en-US" sz="1800" dirty="0">
                <a:solidFill>
                  <a:schemeClr val="tx1">
                    <a:lumMod val="65000"/>
                    <a:lumOff val="35000"/>
                  </a:schemeClr>
                </a:solidFill>
              </a:rPr>
              <a:t>First meeting of Joint Working Group (JWG)</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868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7543800" cy="553745"/>
          </a:xfrm>
        </p:spPr>
        <p:txBody>
          <a:bodyPr/>
          <a:lstStyle/>
          <a:p>
            <a:r>
              <a:rPr lang="en-US" dirty="0"/>
              <a:t>Background</a:t>
            </a:r>
          </a:p>
        </p:txBody>
      </p:sp>
      <p:sp>
        <p:nvSpPr>
          <p:cNvPr id="3" name="Content Placeholder 2"/>
          <p:cNvSpPr>
            <a:spLocks noGrp="1"/>
          </p:cNvSpPr>
          <p:nvPr>
            <p:ph idx="1"/>
          </p:nvPr>
        </p:nvSpPr>
        <p:spPr>
          <a:xfrm>
            <a:off x="457200" y="896644"/>
            <a:ext cx="8229600" cy="3915053"/>
          </a:xfrm>
        </p:spPr>
        <p:txBody>
          <a:bodyPr/>
          <a:lstStyle/>
          <a:p>
            <a:pPr marL="129779" lvl="1" indent="-129779">
              <a:spcBef>
                <a:spcPts val="900"/>
              </a:spcBef>
              <a:buFont typeface="Arial"/>
              <a:buChar char="•"/>
            </a:pPr>
            <a:r>
              <a:rPr lang="en-US" sz="2000" dirty="0">
                <a:solidFill>
                  <a:schemeClr val="tx1">
                    <a:lumMod val="65000"/>
                    <a:lumOff val="35000"/>
                  </a:schemeClr>
                </a:solidFill>
              </a:rPr>
              <a:t>June 2018</a:t>
            </a:r>
          </a:p>
          <a:p>
            <a:pPr lvl="1"/>
            <a:r>
              <a:rPr lang="en-US" sz="1800" dirty="0">
                <a:solidFill>
                  <a:schemeClr val="tx1">
                    <a:lumMod val="65000"/>
                    <a:lumOff val="35000"/>
                  </a:schemeClr>
                </a:solidFill>
              </a:rPr>
              <a:t>Task Force reconstituted</a:t>
            </a:r>
          </a:p>
          <a:p>
            <a:pPr marL="129779" lvl="1" indent="-129779">
              <a:spcBef>
                <a:spcPts val="900"/>
              </a:spcBef>
              <a:buFont typeface="Arial"/>
              <a:buChar char="•"/>
            </a:pPr>
            <a:r>
              <a:rPr lang="en-US" sz="2000" dirty="0">
                <a:solidFill>
                  <a:schemeClr val="tx1">
                    <a:lumMod val="65000"/>
                    <a:lumOff val="35000"/>
                  </a:schemeClr>
                </a:solidFill>
              </a:rPr>
              <a:t>September 2018</a:t>
            </a:r>
          </a:p>
          <a:p>
            <a:pPr lvl="1"/>
            <a:r>
              <a:rPr lang="en-US" sz="1800" dirty="0">
                <a:solidFill>
                  <a:schemeClr val="tx1">
                    <a:lumMod val="65000"/>
                    <a:lumOff val="35000"/>
                  </a:schemeClr>
                </a:solidFill>
              </a:rPr>
              <a:t>IAASB discussion of revised draft EDs of proposed ISQC 2 and proposed ISQC 1 (Revised)</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3190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76C7683-0ADF-4E8F-B179-858DACA33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531267" y="2632472"/>
            <a:ext cx="5319162" cy="2225879"/>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766365" y="2859715"/>
            <a:ext cx="4848966" cy="1137011"/>
          </a:xfrm>
        </p:spPr>
        <p:txBody>
          <a:bodyPr vert="horz" lIns="91440" tIns="45720" rIns="91440" bIns="45720" rtlCol="0" anchor="b">
            <a:normAutofit/>
          </a:bodyPr>
          <a:lstStyle/>
          <a:p>
            <a:pPr defTabSz="914400">
              <a:lnSpc>
                <a:spcPct val="90000"/>
              </a:lnSpc>
            </a:pPr>
            <a:r>
              <a:rPr lang="en-US" sz="3600" kern="1200">
                <a:solidFill>
                  <a:srgbClr val="FFFFFF"/>
                </a:solidFill>
                <a:latin typeface="+mj-lt"/>
                <a:ea typeface="+mj-ea"/>
                <a:cs typeface="+mj-cs"/>
              </a:rPr>
              <a:t>ISQC 2 Task Force Meeting</a:t>
            </a:r>
          </a:p>
        </p:txBody>
      </p:sp>
      <p:pic>
        <p:nvPicPr>
          <p:cNvPr id="13" name="Picture 12">
            <a:extLst>
              <a:ext uri="{FF2B5EF4-FFF2-40B4-BE49-F238E27FC236}">
                <a16:creationId xmlns:a16="http://schemas.microsoft.com/office/drawing/2014/main" id="{F1B59F75-DD97-4142-9AC7-E1E661F00AA5}"/>
              </a:ext>
            </a:extLst>
          </p:cNvPr>
          <p:cNvPicPr>
            <a:picLocks noChangeAspect="1"/>
          </p:cNvPicPr>
          <p:nvPr/>
        </p:nvPicPr>
        <p:blipFill rotWithShape="1">
          <a:blip r:embed="rId3"/>
          <a:srcRect t="5439" r="2" b="2"/>
          <a:stretch/>
        </p:blipFill>
        <p:spPr>
          <a:xfrm>
            <a:off x="238226" y="208642"/>
            <a:ext cx="3120339" cy="1659732"/>
          </a:xfrm>
          <a:prstGeom prst="rect">
            <a:avLst/>
          </a:prstGeom>
        </p:spPr>
      </p:pic>
      <p:cxnSp>
        <p:nvCxnSpPr>
          <p:cNvPr id="20" name="Straight Connector 19">
            <a:extLst>
              <a:ext uri="{FF2B5EF4-FFF2-40B4-BE49-F238E27FC236}">
                <a16:creationId xmlns:a16="http://schemas.microsoft.com/office/drawing/2014/main" id="{BC103F2A-EFED-4C13-AA7D-78D955ABCD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53715" y="4082314"/>
            <a:ext cx="48006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6E92EF5-301A-4E5C-A153-63670288706B}"/>
              </a:ext>
            </a:extLst>
          </p:cNvPr>
          <p:cNvPicPr>
            <a:picLocks noChangeAspect="1"/>
          </p:cNvPicPr>
          <p:nvPr/>
        </p:nvPicPr>
        <p:blipFill rotWithShape="1">
          <a:blip r:embed="rId4"/>
          <a:srcRect l="4912" r="25851" b="-1"/>
          <a:stretch/>
        </p:blipFill>
        <p:spPr>
          <a:xfrm rot="5400000">
            <a:off x="358136" y="1901771"/>
            <a:ext cx="2880519" cy="3120339"/>
          </a:xfrm>
          <a:prstGeom prst="rect">
            <a:avLst/>
          </a:prstGeom>
        </p:spPr>
      </p:pic>
      <p:pic>
        <p:nvPicPr>
          <p:cNvPr id="6" name="Picture 5" descr="A group of people posing for the camera&#10;&#10;Description generated with very high confidence">
            <a:extLst>
              <a:ext uri="{FF2B5EF4-FFF2-40B4-BE49-F238E27FC236}">
                <a16:creationId xmlns:a16="http://schemas.microsoft.com/office/drawing/2014/main" id="{78C3DF5E-E577-4340-B9DF-2655A3B19B92}"/>
              </a:ext>
            </a:extLst>
          </p:cNvPr>
          <p:cNvPicPr>
            <a:picLocks noChangeAspect="1"/>
          </p:cNvPicPr>
          <p:nvPr/>
        </p:nvPicPr>
        <p:blipFill rotWithShape="1">
          <a:blip r:embed="rId5"/>
          <a:srcRect t="34264" r="1" b="10622"/>
          <a:stretch/>
        </p:blipFill>
        <p:spPr>
          <a:xfrm>
            <a:off x="3490722" y="241299"/>
            <a:ext cx="5417534" cy="2239364"/>
          </a:xfrm>
          <a:prstGeom prst="rect">
            <a:avLst/>
          </a:prstGeom>
        </p:spPr>
      </p:pic>
      <p:sp>
        <p:nvSpPr>
          <p:cNvPr id="3" name="Slide Number Placeholder 2"/>
          <p:cNvSpPr>
            <a:spLocks noGrp="1"/>
          </p:cNvSpPr>
          <p:nvPr>
            <p:ph type="sldNum" sz="quarter" idx="12"/>
          </p:nvPr>
        </p:nvSpPr>
        <p:spPr>
          <a:xfrm>
            <a:off x="6793029" y="4902200"/>
            <a:ext cx="2057400" cy="230196"/>
          </a:xfrm>
        </p:spPr>
        <p:txBody>
          <a:bodyPr vert="horz" lIns="91440" tIns="45720" rIns="91440" bIns="45720" rtlCol="0" anchor="ctr">
            <a:normAutofit/>
          </a:bodyPr>
          <a:lstStyle/>
          <a:p>
            <a:pPr algn="r" defTabSz="914400">
              <a:lnSpc>
                <a:spcPct val="90000"/>
              </a:lnSpc>
              <a:spcAft>
                <a:spcPts val="600"/>
              </a:spcAft>
            </a:pPr>
            <a:r>
              <a:rPr lang="en-US" sz="1000">
                <a:solidFill>
                  <a:schemeClr val="tx1">
                    <a:tint val="75000"/>
                  </a:schemeClr>
                </a:solidFill>
                <a:latin typeface="+mn-lt"/>
                <a:cs typeface="+mn-cs"/>
              </a:rPr>
              <a:t>Page </a:t>
            </a:r>
            <a:fld id="{95158037-59F0-9C4B-B231-1C776117AADA}" type="slidenum">
              <a:rPr lang="en-US" sz="1000" smtClean="0">
                <a:solidFill>
                  <a:schemeClr val="tx1">
                    <a:tint val="75000"/>
                  </a:schemeClr>
                </a:solidFill>
                <a:latin typeface="+mn-lt"/>
                <a:cs typeface="+mn-cs"/>
              </a:rPr>
              <a:pPr algn="r" defTabSz="914400">
                <a:lnSpc>
                  <a:spcPct val="90000"/>
                </a:lnSpc>
                <a:spcAft>
                  <a:spcPts val="600"/>
                </a:spcAft>
              </a:pPr>
              <a:t>5</a:t>
            </a:fld>
            <a:endParaRPr lang="en-US" sz="1000">
              <a:solidFill>
                <a:schemeClr val="tx1">
                  <a:tint val="75000"/>
                </a:schemeClr>
              </a:solidFill>
              <a:latin typeface="+mn-lt"/>
              <a:cs typeface="+mn-cs"/>
            </a:endParaRPr>
          </a:p>
        </p:txBody>
      </p:sp>
    </p:spTree>
    <p:extLst>
      <p:ext uri="{BB962C8B-B14F-4D97-AF65-F5344CB8AC3E}">
        <p14:creationId xmlns:p14="http://schemas.microsoft.com/office/powerpoint/2010/main" val="59711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Outreach and Coordination</a:t>
            </a:r>
          </a:p>
        </p:txBody>
      </p:sp>
      <p:sp>
        <p:nvSpPr>
          <p:cNvPr id="3" name="Content Placeholder 2"/>
          <p:cNvSpPr>
            <a:spLocks noGrp="1"/>
          </p:cNvSpPr>
          <p:nvPr>
            <p:ph idx="1"/>
          </p:nvPr>
        </p:nvSpPr>
        <p:spPr>
          <a:xfrm>
            <a:off x="457200" y="960454"/>
            <a:ext cx="8229600" cy="3188677"/>
          </a:xfrm>
        </p:spPr>
        <p:txBody>
          <a:bodyPr/>
          <a:lstStyle/>
          <a:p>
            <a:pPr marL="129779" lvl="1" indent="-129779">
              <a:spcBef>
                <a:spcPts val="900"/>
              </a:spcBef>
              <a:buFont typeface="Arial"/>
              <a:buChar char="•"/>
            </a:pPr>
            <a:r>
              <a:rPr lang="en-US" sz="1800" dirty="0">
                <a:solidFill>
                  <a:schemeClr val="tx1">
                    <a:lumMod val="65000"/>
                    <a:lumOff val="35000"/>
                  </a:schemeClr>
                </a:solidFill>
              </a:rPr>
              <a:t>This project is closely linked to the projects to revise ISQC 1 and ISA 220</a:t>
            </a:r>
          </a:p>
          <a:p>
            <a:pPr lvl="1"/>
            <a:r>
              <a:rPr lang="en-US" sz="1600" dirty="0">
                <a:solidFill>
                  <a:schemeClr val="tx1">
                    <a:lumMod val="65000"/>
                    <a:lumOff val="35000"/>
                  </a:schemeClr>
                </a:solidFill>
              </a:rPr>
              <a:t>Coordination efforts among Task Forces will be enhanced during Q4</a:t>
            </a:r>
          </a:p>
          <a:p>
            <a:pPr marL="129779" lvl="1" indent="-129779">
              <a:spcBef>
                <a:spcPts val="900"/>
              </a:spcBef>
              <a:buFont typeface="Arial"/>
              <a:buChar char="•"/>
            </a:pPr>
            <a:r>
              <a:rPr lang="en-US" sz="1800" dirty="0">
                <a:solidFill>
                  <a:schemeClr val="tx1">
                    <a:lumMod val="65000"/>
                    <a:lumOff val="35000"/>
                  </a:schemeClr>
                </a:solidFill>
              </a:rPr>
              <a:t>IESBA coordination on cooling-off period for EQ reviewer and other matters of mutual interest</a:t>
            </a:r>
          </a:p>
          <a:p>
            <a:pPr lvl="1"/>
            <a:r>
              <a:rPr lang="en-US" sz="1600" dirty="0">
                <a:solidFill>
                  <a:schemeClr val="tx1">
                    <a:lumMod val="65000"/>
                    <a:lumOff val="35000"/>
                  </a:schemeClr>
                </a:solidFill>
              </a:rPr>
              <a:t>One JWG meeting held during August 2018; another planned in October 2018</a:t>
            </a:r>
          </a:p>
          <a:p>
            <a:pPr lvl="1"/>
            <a:r>
              <a:rPr lang="en-US" sz="1600" dirty="0">
                <a:solidFill>
                  <a:schemeClr val="tx1">
                    <a:lumMod val="65000"/>
                    <a:lumOff val="35000"/>
                  </a:schemeClr>
                </a:solidFill>
              </a:rPr>
              <a:t>IAASB QC Task Force Chairs and staff met with IESBA Liaison and staff</a:t>
            </a:r>
          </a:p>
          <a:p>
            <a:pPr marL="129779" lvl="1" indent="-129779">
              <a:spcBef>
                <a:spcPts val="900"/>
              </a:spcBef>
              <a:buFont typeface="Arial"/>
              <a:buChar char="•"/>
            </a:pPr>
            <a:r>
              <a:rPr lang="en-US" sz="1800" dirty="0">
                <a:solidFill>
                  <a:schemeClr val="tx1">
                    <a:lumMod val="65000"/>
                    <a:lumOff val="35000"/>
                  </a:schemeClr>
                </a:solidFill>
              </a:rPr>
              <a:t>Outreach to stakeholders</a:t>
            </a:r>
          </a:p>
          <a:p>
            <a:pPr lvl="1"/>
            <a:r>
              <a:rPr lang="en-US" sz="1600" dirty="0">
                <a:solidFill>
                  <a:schemeClr val="tx1">
                    <a:lumMod val="65000"/>
                    <a:lumOff val="35000"/>
                  </a:schemeClr>
                </a:solidFill>
              </a:rPr>
              <a:t>CAG – September 11, 2018</a:t>
            </a:r>
          </a:p>
          <a:p>
            <a:pPr lvl="1"/>
            <a:r>
              <a:rPr lang="en-US" sz="1600" dirty="0">
                <a:solidFill>
                  <a:schemeClr val="tx1">
                    <a:lumMod val="65000"/>
                    <a:lumOff val="35000"/>
                  </a:schemeClr>
                </a:solidFill>
              </a:rPr>
              <a:t>SMPC webinar – September 14, 2018</a:t>
            </a:r>
          </a:p>
          <a:p>
            <a:pPr lvl="1"/>
            <a:r>
              <a:rPr lang="en-US" sz="1600" dirty="0">
                <a:solidFill>
                  <a:schemeClr val="tx1">
                    <a:lumMod val="65000"/>
                    <a:lumOff val="35000"/>
                  </a:schemeClr>
                </a:solidFill>
              </a:rPr>
              <a:t>Forum of Firms – October 2, 2018 </a:t>
            </a:r>
          </a:p>
          <a:p>
            <a:pPr lvl="1"/>
            <a:r>
              <a:rPr lang="en-US" sz="1600" dirty="0">
                <a:solidFill>
                  <a:schemeClr val="tx1">
                    <a:lumMod val="65000"/>
                    <a:lumOff val="35000"/>
                  </a:schemeClr>
                </a:solidFill>
              </a:rPr>
              <a:t>Additional outreach planned before the December 2018 IAASB meeting</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932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CAG Views – Highlights </a:t>
            </a:r>
          </a:p>
        </p:txBody>
      </p:sp>
      <p:sp>
        <p:nvSpPr>
          <p:cNvPr id="3" name="Content Placeholder 2"/>
          <p:cNvSpPr>
            <a:spLocks noGrp="1"/>
          </p:cNvSpPr>
          <p:nvPr>
            <p:ph idx="1"/>
          </p:nvPr>
        </p:nvSpPr>
        <p:spPr>
          <a:xfrm>
            <a:off x="457200" y="1013720"/>
            <a:ext cx="8229600" cy="3188677"/>
          </a:xfrm>
        </p:spPr>
        <p:txBody>
          <a:bodyPr/>
          <a:lstStyle/>
          <a:p>
            <a:pPr marL="129779" lvl="1" indent="-129779">
              <a:spcBef>
                <a:spcPts val="900"/>
              </a:spcBef>
              <a:buFont typeface="Arial"/>
              <a:buChar char="•"/>
            </a:pPr>
            <a:r>
              <a:rPr lang="en-US" sz="1800" dirty="0">
                <a:solidFill>
                  <a:schemeClr val="tx1">
                    <a:lumMod val="65000"/>
                    <a:lumOff val="35000"/>
                  </a:schemeClr>
                </a:solidFill>
              </a:rPr>
              <a:t>CAG Representatives expressed mixed views on entities of “significant public interest”</a:t>
            </a:r>
            <a:br>
              <a:rPr lang="en-US" sz="1800" dirty="0">
                <a:solidFill>
                  <a:schemeClr val="tx1">
                    <a:lumMod val="65000"/>
                    <a:lumOff val="35000"/>
                  </a:schemeClr>
                </a:solidFill>
              </a:rPr>
            </a:br>
            <a:endParaRPr lang="en-US" sz="1800" dirty="0">
              <a:solidFill>
                <a:schemeClr val="tx1">
                  <a:lumMod val="65000"/>
                  <a:lumOff val="35000"/>
                </a:schemeClr>
              </a:solidFill>
            </a:endParaRPr>
          </a:p>
          <a:p>
            <a:pPr marL="129779" lvl="1" indent="-129779">
              <a:spcBef>
                <a:spcPts val="900"/>
              </a:spcBef>
              <a:buFont typeface="Arial"/>
              <a:buChar char="•"/>
            </a:pPr>
            <a:r>
              <a:rPr lang="en-US" sz="1800" dirty="0">
                <a:solidFill>
                  <a:schemeClr val="tx1">
                    <a:lumMod val="65000"/>
                    <a:lumOff val="35000"/>
                  </a:schemeClr>
                </a:solidFill>
              </a:rPr>
              <a:t>CAG Representatives wanted further emphasis of authority of the EQR</a:t>
            </a:r>
          </a:p>
          <a:p>
            <a:pPr marL="171450" lvl="1" indent="0">
              <a:lnSpc>
                <a:spcPts val="2100"/>
              </a:lnSpc>
              <a:spcBef>
                <a:spcPts val="600"/>
              </a:spcBef>
              <a:spcAft>
                <a:spcPts val="0"/>
              </a:spcAft>
              <a:buNone/>
            </a:pPr>
            <a:endParaRPr lang="en-US" sz="1600" dirty="0">
              <a:solidFill>
                <a:schemeClr val="tx1">
                  <a:lumMod val="65000"/>
                  <a:lumOff val="35000"/>
                </a:schemeClr>
              </a:solidFill>
            </a:endParaRPr>
          </a:p>
          <a:p>
            <a:pPr>
              <a:lnSpc>
                <a:spcPts val="2100"/>
              </a:lnSpc>
              <a:spcBef>
                <a:spcPts val="600"/>
              </a:spcBef>
            </a:pPr>
            <a:r>
              <a:rPr lang="en-US" sz="1800" dirty="0">
                <a:solidFill>
                  <a:schemeClr val="tx1">
                    <a:lumMod val="65000"/>
                    <a:lumOff val="35000"/>
                  </a:schemeClr>
                </a:solidFill>
              </a:rPr>
              <a:t>Some CAG Representatives reiterated the need for a specific requirement that an audit report cannot be issued until the EQ reviewer has “signed off”</a:t>
            </a:r>
            <a:br>
              <a:rPr lang="en-US" sz="1800" dirty="0">
                <a:solidFill>
                  <a:schemeClr val="tx1">
                    <a:lumMod val="65000"/>
                    <a:lumOff val="35000"/>
                  </a:schemeClr>
                </a:solidFill>
              </a:rPr>
            </a:br>
            <a:endParaRPr lang="en-US" sz="1800" dirty="0">
              <a:solidFill>
                <a:schemeClr val="tx1">
                  <a:lumMod val="65000"/>
                  <a:lumOff val="35000"/>
                </a:schemeClr>
              </a:solidFill>
            </a:endParaRPr>
          </a:p>
          <a:p>
            <a:pPr>
              <a:lnSpc>
                <a:spcPts val="2100"/>
              </a:lnSpc>
              <a:spcBef>
                <a:spcPts val="600"/>
              </a:spcBef>
            </a:pPr>
            <a:r>
              <a:rPr lang="en-US" sz="1800" dirty="0">
                <a:solidFill>
                  <a:schemeClr val="tx1">
                    <a:lumMod val="65000"/>
                    <a:lumOff val="35000"/>
                  </a:schemeClr>
                </a:solidFill>
              </a:rPr>
              <a:t>CAG Representatives raised questions about documentation</a:t>
            </a:r>
          </a:p>
          <a:p>
            <a:pPr marL="171450" lvl="1" indent="0">
              <a:lnSpc>
                <a:spcPts val="2100"/>
              </a:lnSpc>
              <a:spcBef>
                <a:spcPts val="600"/>
              </a:spcBef>
              <a:buNone/>
            </a:pPr>
            <a:endParaRPr lang="en-US" sz="160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6463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SMPC Views – Highlights </a:t>
            </a:r>
          </a:p>
        </p:txBody>
      </p:sp>
      <p:sp>
        <p:nvSpPr>
          <p:cNvPr id="3" name="Content Placeholder 2"/>
          <p:cNvSpPr>
            <a:spLocks noGrp="1"/>
          </p:cNvSpPr>
          <p:nvPr>
            <p:ph idx="1"/>
          </p:nvPr>
        </p:nvSpPr>
        <p:spPr>
          <a:xfrm>
            <a:off x="457200" y="1200151"/>
            <a:ext cx="8229600" cy="3480706"/>
          </a:xfrm>
        </p:spPr>
        <p:txBody>
          <a:bodyPr/>
          <a:lstStyle/>
          <a:p>
            <a:r>
              <a:rPr lang="en-US" sz="1800" dirty="0">
                <a:solidFill>
                  <a:schemeClr val="tx1">
                    <a:lumMod val="65000"/>
                    <a:lumOff val="35000"/>
                  </a:schemeClr>
                </a:solidFill>
              </a:rPr>
              <a:t>Questions were raised about:</a:t>
            </a:r>
          </a:p>
          <a:p>
            <a:pPr lvl="1"/>
            <a:r>
              <a:rPr lang="en-US" sz="1650" dirty="0">
                <a:solidFill>
                  <a:schemeClr val="tx1">
                    <a:lumMod val="65000"/>
                    <a:lumOff val="35000"/>
                  </a:schemeClr>
                </a:solidFill>
              </a:rPr>
              <a:t>The potential impact of using the term “significant public interest” on SMEs (e.g., small local hospitals)</a:t>
            </a:r>
          </a:p>
          <a:p>
            <a:pPr lvl="1"/>
            <a:r>
              <a:rPr lang="en-US" sz="1650" dirty="0">
                <a:solidFill>
                  <a:schemeClr val="tx1">
                    <a:lumMod val="65000"/>
                    <a:lumOff val="35000"/>
                  </a:schemeClr>
                </a:solidFill>
              </a:rPr>
              <a:t>The detail of the EQ reviewer’s procedures </a:t>
            </a:r>
          </a:p>
          <a:p>
            <a:pPr lvl="1"/>
            <a:r>
              <a:rPr lang="en-US" sz="1650" dirty="0">
                <a:solidFill>
                  <a:schemeClr val="tx1">
                    <a:lumMod val="65000"/>
                    <a:lumOff val="35000"/>
                  </a:schemeClr>
                </a:solidFill>
              </a:rPr>
              <a:t>In paragraph 24 of proposed ISQC 2, who determines which information is relevant</a:t>
            </a:r>
          </a:p>
          <a:p>
            <a:pPr lvl="1"/>
            <a:r>
              <a:rPr lang="en-US" sz="1650" dirty="0">
                <a:solidFill>
                  <a:schemeClr val="tx1">
                    <a:lumMod val="65000"/>
                    <a:lumOff val="35000"/>
                  </a:schemeClr>
                </a:solidFill>
              </a:rPr>
              <a:t>In paragraph A106 of proposed ISQC 1 (Revised), the phrase “in exceptional cases” is not appropriate for SMPs 	</a:t>
            </a:r>
          </a:p>
          <a:p>
            <a:pPr lvl="2"/>
            <a:r>
              <a:rPr lang="en-US" sz="1500" dirty="0">
                <a:solidFill>
                  <a:schemeClr val="tx1">
                    <a:lumMod val="65000"/>
                    <a:lumOff val="35000"/>
                  </a:schemeClr>
                </a:solidFill>
              </a:rPr>
              <a:t>It would be the norm, rather than the exception, that a member of the engagement team would appoint the EQ reviewer</a:t>
            </a:r>
          </a:p>
          <a:p>
            <a:pPr marL="129779" lvl="2" indent="-129779">
              <a:spcBef>
                <a:spcPts val="900"/>
              </a:spcBef>
            </a:pPr>
            <a:r>
              <a:rPr lang="en-US" sz="1800" dirty="0">
                <a:solidFill>
                  <a:schemeClr val="tx1">
                    <a:lumMod val="65000"/>
                    <a:lumOff val="35000"/>
                  </a:schemeClr>
                </a:solidFill>
              </a:rPr>
              <a:t>One participant noted that PIEs should not be one of the criteria for determining engagements subject to EQ review</a:t>
            </a:r>
          </a:p>
          <a:p>
            <a:pPr lvl="1"/>
            <a:endParaRPr lang="en-US" sz="165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0880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7E096D25-AEE7-45A3-B670-E7D37B0A6935}" type="slidenum">
              <a:rPr lang="en-US" sz="750" smtClean="0">
                <a:solidFill>
                  <a:schemeClr val="tx1"/>
                </a:solidFill>
                <a:latin typeface="+mn-lt"/>
              </a:rPr>
              <a:t>9</a:t>
            </a:fld>
            <a:endParaRPr lang="en-US" sz="750" dirty="0">
              <a:solidFill>
                <a:schemeClr val="tx1"/>
              </a:solidFill>
              <a:latin typeface="+mn-lt"/>
            </a:endParaRPr>
          </a:p>
          <a:p>
            <a:endParaRPr lang="en-US" sz="750" dirty="0">
              <a:solidFill>
                <a:schemeClr val="tx1"/>
              </a:solidFill>
              <a:latin typeface="+mn-lt"/>
            </a:endParaRPr>
          </a:p>
        </p:txBody>
      </p:sp>
      <p:sp>
        <p:nvSpPr>
          <p:cNvPr id="5" name="Title 1">
            <a:extLst>
              <a:ext uri="{FF2B5EF4-FFF2-40B4-BE49-F238E27FC236}">
                <a16:creationId xmlns:a16="http://schemas.microsoft.com/office/drawing/2014/main" id="{34824181-7E89-426D-B365-066E362BD149}"/>
              </a:ext>
            </a:extLst>
          </p:cNvPr>
          <p:cNvSpPr>
            <a:spLocks noGrp="1"/>
          </p:cNvSpPr>
          <p:nvPr>
            <p:ph type="title"/>
          </p:nvPr>
        </p:nvSpPr>
        <p:spPr>
          <a:xfrm>
            <a:off x="457200" y="427437"/>
            <a:ext cx="8229600" cy="403875"/>
          </a:xfrm>
        </p:spPr>
        <p:txBody>
          <a:bodyPr/>
          <a:lstStyle/>
          <a:p>
            <a:r>
              <a:rPr lang="en-US" dirty="0"/>
              <a:t>Proposed ED ISQC 1 – EQR/ Proposed ED ISQC 2 is scalable!</a:t>
            </a:r>
          </a:p>
        </p:txBody>
      </p:sp>
      <p:sp>
        <p:nvSpPr>
          <p:cNvPr id="13" name="TextBox 12">
            <a:extLst>
              <a:ext uri="{FF2B5EF4-FFF2-40B4-BE49-F238E27FC236}">
                <a16:creationId xmlns:a16="http://schemas.microsoft.com/office/drawing/2014/main" id="{ECFD9BE5-47B7-46A7-AEC4-DF1D6D503E49}"/>
              </a:ext>
            </a:extLst>
          </p:cNvPr>
          <p:cNvSpPr txBox="1"/>
          <p:nvPr/>
        </p:nvSpPr>
        <p:spPr>
          <a:xfrm>
            <a:off x="1872336" y="889367"/>
            <a:ext cx="2017633" cy="300082"/>
          </a:xfrm>
          <a:prstGeom prst="rect">
            <a:avLst/>
          </a:prstGeom>
          <a:noFill/>
        </p:spPr>
        <p:txBody>
          <a:bodyPr wrap="square" rtlCol="0">
            <a:spAutoFit/>
          </a:bodyPr>
          <a:lstStyle/>
          <a:p>
            <a:r>
              <a:rPr lang="en-ZA" b="1" dirty="0"/>
              <a:t>Proposed ED - ISQC 2</a:t>
            </a:r>
            <a:endParaRPr lang="en-US" b="1" dirty="0"/>
          </a:p>
        </p:txBody>
      </p:sp>
      <p:sp>
        <p:nvSpPr>
          <p:cNvPr id="20" name="TextBox 19">
            <a:extLst>
              <a:ext uri="{FF2B5EF4-FFF2-40B4-BE49-F238E27FC236}">
                <a16:creationId xmlns:a16="http://schemas.microsoft.com/office/drawing/2014/main" id="{334D17EB-FFC4-4FD0-A5E5-61951C4AACC0}"/>
              </a:ext>
            </a:extLst>
          </p:cNvPr>
          <p:cNvSpPr txBox="1"/>
          <p:nvPr/>
        </p:nvSpPr>
        <p:spPr>
          <a:xfrm>
            <a:off x="6220845" y="922974"/>
            <a:ext cx="2404698" cy="300082"/>
          </a:xfrm>
          <a:prstGeom prst="rect">
            <a:avLst/>
          </a:prstGeom>
          <a:noFill/>
        </p:spPr>
        <p:txBody>
          <a:bodyPr wrap="square" rtlCol="0">
            <a:spAutoFit/>
          </a:bodyPr>
          <a:lstStyle/>
          <a:p>
            <a:r>
              <a:rPr lang="en-ZA" b="1" dirty="0"/>
              <a:t>Proposed ED - ISQC 1 (Revised)</a:t>
            </a:r>
            <a:endParaRPr lang="en-US" b="1" dirty="0"/>
          </a:p>
        </p:txBody>
      </p:sp>
      <p:sp>
        <p:nvSpPr>
          <p:cNvPr id="21" name="Oval 20">
            <a:extLst>
              <a:ext uri="{FF2B5EF4-FFF2-40B4-BE49-F238E27FC236}">
                <a16:creationId xmlns:a16="http://schemas.microsoft.com/office/drawing/2014/main" id="{6EC15814-B51F-4EAF-AB7D-62ABD6399BE0}"/>
              </a:ext>
            </a:extLst>
          </p:cNvPr>
          <p:cNvSpPr/>
          <p:nvPr/>
        </p:nvSpPr>
        <p:spPr>
          <a:xfrm>
            <a:off x="2066913" y="2056862"/>
            <a:ext cx="731296"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t>A1.</a:t>
            </a:r>
            <a:endParaRPr lang="en-US" sz="1400" dirty="0"/>
          </a:p>
        </p:txBody>
      </p:sp>
      <p:cxnSp>
        <p:nvCxnSpPr>
          <p:cNvPr id="22" name="Straight Arrow Connector 21">
            <a:extLst>
              <a:ext uri="{FF2B5EF4-FFF2-40B4-BE49-F238E27FC236}">
                <a16:creationId xmlns:a16="http://schemas.microsoft.com/office/drawing/2014/main" id="{7E3058D5-56CD-4A34-87AC-B27EF7D3D85B}"/>
              </a:ext>
            </a:extLst>
          </p:cNvPr>
          <p:cNvCxnSpPr>
            <a:cxnSpLocks/>
          </p:cNvCxnSpPr>
          <p:nvPr/>
        </p:nvCxnSpPr>
        <p:spPr>
          <a:xfrm>
            <a:off x="5733702" y="889367"/>
            <a:ext cx="38079" cy="3879022"/>
          </a:xfrm>
          <a:prstGeom prst="straightConnector1">
            <a:avLst/>
          </a:prstGeom>
          <a:ln>
            <a:solidFill>
              <a:schemeClr val="tx1"/>
            </a:solidFill>
            <a:prstDash val="lgDash"/>
            <a:tailEnd type="triangle"/>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1B176195-66FD-4D10-A44C-3D29B384094F}"/>
              </a:ext>
            </a:extLst>
          </p:cNvPr>
          <p:cNvSpPr/>
          <p:nvPr/>
        </p:nvSpPr>
        <p:spPr>
          <a:xfrm>
            <a:off x="3079373" y="2065564"/>
            <a:ext cx="756822"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sz="1400" dirty="0"/>
          </a:p>
          <a:p>
            <a:pPr algn="ctr"/>
            <a:r>
              <a:rPr lang="en-ZA" sz="1300" dirty="0"/>
              <a:t>A4.</a:t>
            </a:r>
          </a:p>
          <a:p>
            <a:pPr algn="ctr"/>
            <a:r>
              <a:rPr lang="en-ZA" sz="1300" dirty="0"/>
              <a:t>••</a:t>
            </a:r>
          </a:p>
          <a:p>
            <a:pPr marL="285750" indent="-285750" algn="ctr">
              <a:buFont typeface="Arial" panose="020B0604020202020204" pitchFamily="34" charset="0"/>
              <a:buChar char="•"/>
            </a:pPr>
            <a:endParaRPr lang="en-US" sz="1400" dirty="0"/>
          </a:p>
        </p:txBody>
      </p:sp>
      <p:sp>
        <p:nvSpPr>
          <p:cNvPr id="24" name="Oval 23">
            <a:extLst>
              <a:ext uri="{FF2B5EF4-FFF2-40B4-BE49-F238E27FC236}">
                <a16:creationId xmlns:a16="http://schemas.microsoft.com/office/drawing/2014/main" id="{69819284-BEE0-4467-AB01-763CFCF4B9AA}"/>
              </a:ext>
            </a:extLst>
          </p:cNvPr>
          <p:cNvSpPr/>
          <p:nvPr/>
        </p:nvSpPr>
        <p:spPr>
          <a:xfrm>
            <a:off x="4165797" y="2115832"/>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solidFill>
                  <a:schemeClr val="bg1"/>
                </a:solidFill>
              </a:rPr>
              <a:t>A5.</a:t>
            </a:r>
            <a:endParaRPr lang="en-US" sz="1400" dirty="0">
              <a:solidFill>
                <a:schemeClr val="bg1"/>
              </a:solidFill>
            </a:endParaRPr>
          </a:p>
        </p:txBody>
      </p:sp>
      <p:sp>
        <p:nvSpPr>
          <p:cNvPr id="25" name="Oval 24">
            <a:extLst>
              <a:ext uri="{FF2B5EF4-FFF2-40B4-BE49-F238E27FC236}">
                <a16:creationId xmlns:a16="http://schemas.microsoft.com/office/drawing/2014/main" id="{9A498D83-44B6-46DB-AE8E-12C098809813}"/>
              </a:ext>
            </a:extLst>
          </p:cNvPr>
          <p:cNvSpPr/>
          <p:nvPr/>
        </p:nvSpPr>
        <p:spPr>
          <a:xfrm>
            <a:off x="49786" y="3118907"/>
            <a:ext cx="685696"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t>A6.</a:t>
            </a:r>
            <a:endParaRPr lang="en-US" sz="1400" dirty="0"/>
          </a:p>
        </p:txBody>
      </p:sp>
      <p:sp>
        <p:nvSpPr>
          <p:cNvPr id="26" name="Oval 25">
            <a:extLst>
              <a:ext uri="{FF2B5EF4-FFF2-40B4-BE49-F238E27FC236}">
                <a16:creationId xmlns:a16="http://schemas.microsoft.com/office/drawing/2014/main" id="{800619B6-8DF0-4CF1-B3F5-08089A3AC1B1}"/>
              </a:ext>
            </a:extLst>
          </p:cNvPr>
          <p:cNvSpPr/>
          <p:nvPr/>
        </p:nvSpPr>
        <p:spPr>
          <a:xfrm>
            <a:off x="3540764" y="2820237"/>
            <a:ext cx="874450"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A20.</a:t>
            </a:r>
            <a:endParaRPr lang="en-US" sz="1300" dirty="0"/>
          </a:p>
        </p:txBody>
      </p:sp>
      <p:sp>
        <p:nvSpPr>
          <p:cNvPr id="27" name="Oval 26">
            <a:extLst>
              <a:ext uri="{FF2B5EF4-FFF2-40B4-BE49-F238E27FC236}">
                <a16:creationId xmlns:a16="http://schemas.microsoft.com/office/drawing/2014/main" id="{F7D36A7A-0572-46A3-B800-649200E27EFC}"/>
              </a:ext>
            </a:extLst>
          </p:cNvPr>
          <p:cNvSpPr/>
          <p:nvPr/>
        </p:nvSpPr>
        <p:spPr>
          <a:xfrm>
            <a:off x="936330" y="2964743"/>
            <a:ext cx="697682"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sz="1400" dirty="0"/>
          </a:p>
          <a:p>
            <a:pPr algn="ctr"/>
            <a:r>
              <a:rPr lang="en-ZA" sz="1400" dirty="0"/>
              <a:t>A7.</a:t>
            </a:r>
          </a:p>
          <a:p>
            <a:pPr algn="ctr"/>
            <a:r>
              <a:rPr lang="en-ZA" sz="1400" dirty="0"/>
              <a:t>•</a:t>
            </a:r>
          </a:p>
          <a:p>
            <a:pPr algn="ctr"/>
            <a:endParaRPr lang="en-US" sz="1400" dirty="0"/>
          </a:p>
        </p:txBody>
      </p:sp>
      <p:sp>
        <p:nvSpPr>
          <p:cNvPr id="28" name="Oval 27">
            <a:extLst>
              <a:ext uri="{FF2B5EF4-FFF2-40B4-BE49-F238E27FC236}">
                <a16:creationId xmlns:a16="http://schemas.microsoft.com/office/drawing/2014/main" id="{056AC5CD-2422-464E-BD91-144EF7740F1D}"/>
              </a:ext>
            </a:extLst>
          </p:cNvPr>
          <p:cNvSpPr/>
          <p:nvPr/>
        </p:nvSpPr>
        <p:spPr>
          <a:xfrm>
            <a:off x="1755610" y="2789097"/>
            <a:ext cx="697681"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t>A9.</a:t>
            </a:r>
            <a:endParaRPr lang="en-US" sz="1400" dirty="0"/>
          </a:p>
        </p:txBody>
      </p:sp>
      <p:sp>
        <p:nvSpPr>
          <p:cNvPr id="29" name="Oval 28">
            <a:extLst>
              <a:ext uri="{FF2B5EF4-FFF2-40B4-BE49-F238E27FC236}">
                <a16:creationId xmlns:a16="http://schemas.microsoft.com/office/drawing/2014/main" id="{200D6765-309E-40E6-96CE-42E7B9723661}"/>
              </a:ext>
            </a:extLst>
          </p:cNvPr>
          <p:cNvSpPr/>
          <p:nvPr/>
        </p:nvSpPr>
        <p:spPr>
          <a:xfrm>
            <a:off x="2652945" y="2776734"/>
            <a:ext cx="731295"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A14.</a:t>
            </a:r>
            <a:endParaRPr lang="en-US" sz="1300" dirty="0"/>
          </a:p>
        </p:txBody>
      </p:sp>
      <p:sp>
        <p:nvSpPr>
          <p:cNvPr id="31" name="Oval 30">
            <a:extLst>
              <a:ext uri="{FF2B5EF4-FFF2-40B4-BE49-F238E27FC236}">
                <a16:creationId xmlns:a16="http://schemas.microsoft.com/office/drawing/2014/main" id="{DE0B8576-3C90-4EEB-AB57-0A75F88F39FF}"/>
              </a:ext>
            </a:extLst>
          </p:cNvPr>
          <p:cNvSpPr/>
          <p:nvPr/>
        </p:nvSpPr>
        <p:spPr>
          <a:xfrm>
            <a:off x="2971709" y="1339354"/>
            <a:ext cx="685702" cy="56193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R18.</a:t>
            </a:r>
            <a:endParaRPr lang="en-US" sz="1300" dirty="0"/>
          </a:p>
        </p:txBody>
      </p:sp>
      <p:sp>
        <p:nvSpPr>
          <p:cNvPr id="32" name="Oval 31">
            <a:extLst>
              <a:ext uri="{FF2B5EF4-FFF2-40B4-BE49-F238E27FC236}">
                <a16:creationId xmlns:a16="http://schemas.microsoft.com/office/drawing/2014/main" id="{593531F2-8663-4EC5-895B-3EC847CBBABB}"/>
              </a:ext>
            </a:extLst>
          </p:cNvPr>
          <p:cNvSpPr/>
          <p:nvPr/>
        </p:nvSpPr>
        <p:spPr>
          <a:xfrm>
            <a:off x="3803060" y="1394613"/>
            <a:ext cx="685702" cy="56193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R19.</a:t>
            </a:r>
            <a:endParaRPr lang="en-US" sz="1300" dirty="0"/>
          </a:p>
        </p:txBody>
      </p:sp>
      <p:sp>
        <p:nvSpPr>
          <p:cNvPr id="33" name="Oval 32">
            <a:extLst>
              <a:ext uri="{FF2B5EF4-FFF2-40B4-BE49-F238E27FC236}">
                <a16:creationId xmlns:a16="http://schemas.microsoft.com/office/drawing/2014/main" id="{E80D6DC9-FE23-4272-9F35-E0483133C24E}"/>
              </a:ext>
            </a:extLst>
          </p:cNvPr>
          <p:cNvSpPr/>
          <p:nvPr/>
        </p:nvSpPr>
        <p:spPr>
          <a:xfrm>
            <a:off x="4651404" y="1394613"/>
            <a:ext cx="902378" cy="66481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R20. (b)</a:t>
            </a:r>
            <a:endParaRPr lang="en-US" sz="1300" dirty="0"/>
          </a:p>
        </p:txBody>
      </p:sp>
      <p:sp>
        <p:nvSpPr>
          <p:cNvPr id="34" name="Oval 33">
            <a:extLst>
              <a:ext uri="{FF2B5EF4-FFF2-40B4-BE49-F238E27FC236}">
                <a16:creationId xmlns:a16="http://schemas.microsoft.com/office/drawing/2014/main" id="{61F47ECC-A0C9-4400-9023-366AC256BDB8}"/>
              </a:ext>
            </a:extLst>
          </p:cNvPr>
          <p:cNvSpPr/>
          <p:nvPr/>
        </p:nvSpPr>
        <p:spPr>
          <a:xfrm>
            <a:off x="72191" y="2269909"/>
            <a:ext cx="685702" cy="56193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R22.</a:t>
            </a:r>
            <a:endParaRPr lang="en-US" sz="1300" dirty="0"/>
          </a:p>
        </p:txBody>
      </p:sp>
      <p:sp>
        <p:nvSpPr>
          <p:cNvPr id="36" name="Oval 35">
            <a:extLst>
              <a:ext uri="{FF2B5EF4-FFF2-40B4-BE49-F238E27FC236}">
                <a16:creationId xmlns:a16="http://schemas.microsoft.com/office/drawing/2014/main" id="{B0DCE6BB-3385-42B1-A3AE-97EE272CEBB1}"/>
              </a:ext>
            </a:extLst>
          </p:cNvPr>
          <p:cNvSpPr/>
          <p:nvPr/>
        </p:nvSpPr>
        <p:spPr>
          <a:xfrm>
            <a:off x="994164" y="2127396"/>
            <a:ext cx="805589"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R24. (e)</a:t>
            </a:r>
            <a:endParaRPr lang="en-US" sz="1300" dirty="0"/>
          </a:p>
        </p:txBody>
      </p:sp>
      <p:sp>
        <p:nvSpPr>
          <p:cNvPr id="37" name="Oval 36">
            <a:extLst>
              <a:ext uri="{FF2B5EF4-FFF2-40B4-BE49-F238E27FC236}">
                <a16:creationId xmlns:a16="http://schemas.microsoft.com/office/drawing/2014/main" id="{58821CA2-687A-4390-9BEE-530B9AD74A6D}"/>
              </a:ext>
            </a:extLst>
          </p:cNvPr>
          <p:cNvSpPr/>
          <p:nvPr/>
        </p:nvSpPr>
        <p:spPr>
          <a:xfrm>
            <a:off x="4672826" y="2935336"/>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A22.</a:t>
            </a:r>
            <a:endParaRPr lang="en-US" sz="1300" dirty="0"/>
          </a:p>
        </p:txBody>
      </p:sp>
      <p:sp>
        <p:nvSpPr>
          <p:cNvPr id="38" name="Oval 37">
            <a:extLst>
              <a:ext uri="{FF2B5EF4-FFF2-40B4-BE49-F238E27FC236}">
                <a16:creationId xmlns:a16="http://schemas.microsoft.com/office/drawing/2014/main" id="{235024A4-819B-4A88-88CC-15DF02DC0563}"/>
              </a:ext>
            </a:extLst>
          </p:cNvPr>
          <p:cNvSpPr/>
          <p:nvPr/>
        </p:nvSpPr>
        <p:spPr>
          <a:xfrm>
            <a:off x="135475" y="4020923"/>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A24.</a:t>
            </a:r>
            <a:endParaRPr lang="en-US" sz="1300" dirty="0"/>
          </a:p>
        </p:txBody>
      </p:sp>
      <p:sp>
        <p:nvSpPr>
          <p:cNvPr id="39" name="Oval 38">
            <a:extLst>
              <a:ext uri="{FF2B5EF4-FFF2-40B4-BE49-F238E27FC236}">
                <a16:creationId xmlns:a16="http://schemas.microsoft.com/office/drawing/2014/main" id="{CF11165C-7A3D-4A80-93DC-2827C11FE06C}"/>
              </a:ext>
            </a:extLst>
          </p:cNvPr>
          <p:cNvSpPr/>
          <p:nvPr/>
        </p:nvSpPr>
        <p:spPr>
          <a:xfrm>
            <a:off x="1072281" y="3870266"/>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A25.</a:t>
            </a:r>
            <a:endParaRPr lang="en-US" sz="1300" dirty="0"/>
          </a:p>
        </p:txBody>
      </p:sp>
      <p:sp>
        <p:nvSpPr>
          <p:cNvPr id="40" name="Oval 39">
            <a:extLst>
              <a:ext uri="{FF2B5EF4-FFF2-40B4-BE49-F238E27FC236}">
                <a16:creationId xmlns:a16="http://schemas.microsoft.com/office/drawing/2014/main" id="{D4317E5F-1D82-498E-95CB-678D2D975E73}"/>
              </a:ext>
            </a:extLst>
          </p:cNvPr>
          <p:cNvSpPr/>
          <p:nvPr/>
        </p:nvSpPr>
        <p:spPr>
          <a:xfrm>
            <a:off x="1965684" y="3568425"/>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A26.</a:t>
            </a:r>
            <a:endParaRPr lang="en-US" sz="1300" dirty="0"/>
          </a:p>
        </p:txBody>
      </p:sp>
      <p:sp>
        <p:nvSpPr>
          <p:cNvPr id="41" name="Oval 40">
            <a:extLst>
              <a:ext uri="{FF2B5EF4-FFF2-40B4-BE49-F238E27FC236}">
                <a16:creationId xmlns:a16="http://schemas.microsoft.com/office/drawing/2014/main" id="{AFA00C50-95A4-4BA6-8B9D-3DD1134DD3C1}"/>
              </a:ext>
            </a:extLst>
          </p:cNvPr>
          <p:cNvSpPr/>
          <p:nvPr/>
        </p:nvSpPr>
        <p:spPr>
          <a:xfrm>
            <a:off x="2936151" y="3614689"/>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A30.</a:t>
            </a:r>
            <a:endParaRPr lang="en-US" sz="1300" dirty="0"/>
          </a:p>
        </p:txBody>
      </p:sp>
      <p:sp>
        <p:nvSpPr>
          <p:cNvPr id="42" name="Oval 41">
            <a:extLst>
              <a:ext uri="{FF2B5EF4-FFF2-40B4-BE49-F238E27FC236}">
                <a16:creationId xmlns:a16="http://schemas.microsoft.com/office/drawing/2014/main" id="{3A27D8FF-4E9A-45D3-8621-FCA6542A998F}"/>
              </a:ext>
            </a:extLst>
          </p:cNvPr>
          <p:cNvSpPr/>
          <p:nvPr/>
        </p:nvSpPr>
        <p:spPr>
          <a:xfrm>
            <a:off x="3930035" y="3737168"/>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A31.</a:t>
            </a:r>
            <a:endParaRPr lang="en-US" sz="1300" dirty="0"/>
          </a:p>
        </p:txBody>
      </p:sp>
      <p:sp>
        <p:nvSpPr>
          <p:cNvPr id="43" name="Oval 42">
            <a:extLst>
              <a:ext uri="{FF2B5EF4-FFF2-40B4-BE49-F238E27FC236}">
                <a16:creationId xmlns:a16="http://schemas.microsoft.com/office/drawing/2014/main" id="{978339F4-65A0-4821-860E-BFE26D197C56}"/>
              </a:ext>
            </a:extLst>
          </p:cNvPr>
          <p:cNvSpPr/>
          <p:nvPr/>
        </p:nvSpPr>
        <p:spPr>
          <a:xfrm>
            <a:off x="2420207" y="4241205"/>
            <a:ext cx="756817" cy="49769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A32.</a:t>
            </a:r>
            <a:endParaRPr lang="en-US" sz="1300" dirty="0"/>
          </a:p>
        </p:txBody>
      </p:sp>
      <p:sp>
        <p:nvSpPr>
          <p:cNvPr id="44" name="Oval 43">
            <a:extLst>
              <a:ext uri="{FF2B5EF4-FFF2-40B4-BE49-F238E27FC236}">
                <a16:creationId xmlns:a16="http://schemas.microsoft.com/office/drawing/2014/main" id="{FBD10CD2-D2FE-4100-B051-125FBB947FB4}"/>
              </a:ext>
            </a:extLst>
          </p:cNvPr>
          <p:cNvSpPr/>
          <p:nvPr/>
        </p:nvSpPr>
        <p:spPr>
          <a:xfrm>
            <a:off x="4807175" y="4151853"/>
            <a:ext cx="756817"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A33.</a:t>
            </a:r>
            <a:endParaRPr lang="en-US" sz="1300" dirty="0"/>
          </a:p>
        </p:txBody>
      </p:sp>
      <p:sp>
        <p:nvSpPr>
          <p:cNvPr id="47" name="Oval 46">
            <a:extLst>
              <a:ext uri="{FF2B5EF4-FFF2-40B4-BE49-F238E27FC236}">
                <a16:creationId xmlns:a16="http://schemas.microsoft.com/office/drawing/2014/main" id="{575979D9-D77F-4CF4-92DB-A1B419E3C95B}"/>
              </a:ext>
            </a:extLst>
          </p:cNvPr>
          <p:cNvSpPr/>
          <p:nvPr/>
        </p:nvSpPr>
        <p:spPr>
          <a:xfrm>
            <a:off x="5932978" y="1473803"/>
            <a:ext cx="902378"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R43. (e)(</a:t>
            </a:r>
            <a:r>
              <a:rPr lang="en-ZA" sz="1300" dirty="0" err="1"/>
              <a:t>i</a:t>
            </a:r>
            <a:r>
              <a:rPr lang="en-ZA" sz="1300" dirty="0"/>
              <a:t>) </a:t>
            </a:r>
            <a:endParaRPr lang="en-US" sz="1300" dirty="0"/>
          </a:p>
        </p:txBody>
      </p:sp>
      <p:sp>
        <p:nvSpPr>
          <p:cNvPr id="49" name="Oval 48">
            <a:extLst>
              <a:ext uri="{FF2B5EF4-FFF2-40B4-BE49-F238E27FC236}">
                <a16:creationId xmlns:a16="http://schemas.microsoft.com/office/drawing/2014/main" id="{269ADF2B-34B8-4DBC-81DD-D3525AB9652D}"/>
              </a:ext>
            </a:extLst>
          </p:cNvPr>
          <p:cNvSpPr/>
          <p:nvPr/>
        </p:nvSpPr>
        <p:spPr>
          <a:xfrm>
            <a:off x="8026351" y="1499058"/>
            <a:ext cx="981808" cy="58719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A100A.</a:t>
            </a:r>
            <a:endParaRPr lang="en-US" sz="1300" dirty="0"/>
          </a:p>
        </p:txBody>
      </p:sp>
      <p:sp>
        <p:nvSpPr>
          <p:cNvPr id="50" name="Oval 49">
            <a:extLst>
              <a:ext uri="{FF2B5EF4-FFF2-40B4-BE49-F238E27FC236}">
                <a16:creationId xmlns:a16="http://schemas.microsoft.com/office/drawing/2014/main" id="{0042EE33-04AF-4D21-A03A-71F76C90D465}"/>
              </a:ext>
            </a:extLst>
          </p:cNvPr>
          <p:cNvSpPr/>
          <p:nvPr/>
        </p:nvSpPr>
        <p:spPr>
          <a:xfrm>
            <a:off x="5946924" y="2281841"/>
            <a:ext cx="902378"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A101.</a:t>
            </a:r>
            <a:endParaRPr lang="en-US" sz="1300" dirty="0"/>
          </a:p>
        </p:txBody>
      </p:sp>
      <p:sp>
        <p:nvSpPr>
          <p:cNvPr id="51" name="Oval 50">
            <a:extLst>
              <a:ext uri="{FF2B5EF4-FFF2-40B4-BE49-F238E27FC236}">
                <a16:creationId xmlns:a16="http://schemas.microsoft.com/office/drawing/2014/main" id="{09C1FB6E-68BC-4ACB-BD19-B4E205C681FA}"/>
              </a:ext>
            </a:extLst>
          </p:cNvPr>
          <p:cNvSpPr/>
          <p:nvPr/>
        </p:nvSpPr>
        <p:spPr>
          <a:xfrm>
            <a:off x="6963348" y="2269909"/>
            <a:ext cx="902378"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A102.</a:t>
            </a:r>
            <a:endParaRPr lang="en-US" sz="1300" dirty="0"/>
          </a:p>
        </p:txBody>
      </p:sp>
      <p:sp>
        <p:nvSpPr>
          <p:cNvPr id="52" name="Oval 51">
            <a:extLst>
              <a:ext uri="{FF2B5EF4-FFF2-40B4-BE49-F238E27FC236}">
                <a16:creationId xmlns:a16="http://schemas.microsoft.com/office/drawing/2014/main" id="{DE1AF0F4-056C-4C10-94CE-3E6BAE7E13B6}"/>
              </a:ext>
            </a:extLst>
          </p:cNvPr>
          <p:cNvSpPr/>
          <p:nvPr/>
        </p:nvSpPr>
        <p:spPr>
          <a:xfrm>
            <a:off x="8026923" y="2281841"/>
            <a:ext cx="981236"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A105.</a:t>
            </a:r>
            <a:endParaRPr lang="en-US" sz="1300" dirty="0"/>
          </a:p>
        </p:txBody>
      </p:sp>
      <p:sp>
        <p:nvSpPr>
          <p:cNvPr id="53" name="Oval 52">
            <a:extLst>
              <a:ext uri="{FF2B5EF4-FFF2-40B4-BE49-F238E27FC236}">
                <a16:creationId xmlns:a16="http://schemas.microsoft.com/office/drawing/2014/main" id="{70B5C145-F722-4761-B5D6-24FD5B38568D}"/>
              </a:ext>
            </a:extLst>
          </p:cNvPr>
          <p:cNvSpPr/>
          <p:nvPr/>
        </p:nvSpPr>
        <p:spPr>
          <a:xfrm>
            <a:off x="5971736" y="3066091"/>
            <a:ext cx="950450"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A105A.</a:t>
            </a:r>
            <a:endParaRPr lang="en-US" sz="1300" dirty="0"/>
          </a:p>
        </p:txBody>
      </p:sp>
      <p:sp>
        <p:nvSpPr>
          <p:cNvPr id="54" name="Oval 53">
            <a:extLst>
              <a:ext uri="{FF2B5EF4-FFF2-40B4-BE49-F238E27FC236}">
                <a16:creationId xmlns:a16="http://schemas.microsoft.com/office/drawing/2014/main" id="{B514CE2E-96AE-49E9-B4B4-E7E21BDF684E}"/>
              </a:ext>
            </a:extLst>
          </p:cNvPr>
          <p:cNvSpPr/>
          <p:nvPr/>
        </p:nvSpPr>
        <p:spPr>
          <a:xfrm>
            <a:off x="6963348" y="1483604"/>
            <a:ext cx="902378"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t>A100.</a:t>
            </a:r>
            <a:endParaRPr lang="en-US" sz="1400" dirty="0"/>
          </a:p>
        </p:txBody>
      </p:sp>
      <p:sp>
        <p:nvSpPr>
          <p:cNvPr id="55" name="Oval 54">
            <a:extLst>
              <a:ext uri="{FF2B5EF4-FFF2-40B4-BE49-F238E27FC236}">
                <a16:creationId xmlns:a16="http://schemas.microsoft.com/office/drawing/2014/main" id="{4D338F86-B059-4F2D-BB3B-A48817433231}"/>
              </a:ext>
            </a:extLst>
          </p:cNvPr>
          <p:cNvSpPr/>
          <p:nvPr/>
        </p:nvSpPr>
        <p:spPr>
          <a:xfrm>
            <a:off x="83603" y="1322925"/>
            <a:ext cx="685702" cy="56193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solidFill>
                  <a:schemeClr val="bg1"/>
                </a:solidFill>
              </a:rPr>
              <a:t>2.</a:t>
            </a:r>
            <a:endParaRPr lang="en-US" sz="1400" dirty="0">
              <a:solidFill>
                <a:schemeClr val="bg1"/>
              </a:solidFill>
            </a:endParaRPr>
          </a:p>
        </p:txBody>
      </p:sp>
      <p:sp>
        <p:nvSpPr>
          <p:cNvPr id="56" name="Oval 55">
            <a:extLst>
              <a:ext uri="{FF2B5EF4-FFF2-40B4-BE49-F238E27FC236}">
                <a16:creationId xmlns:a16="http://schemas.microsoft.com/office/drawing/2014/main" id="{9EB9EBC4-2A21-4B35-B2A6-7749B471E398}"/>
              </a:ext>
            </a:extLst>
          </p:cNvPr>
          <p:cNvSpPr/>
          <p:nvPr/>
        </p:nvSpPr>
        <p:spPr>
          <a:xfrm>
            <a:off x="990607" y="1394613"/>
            <a:ext cx="685702" cy="56193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t>4.</a:t>
            </a:r>
            <a:endParaRPr lang="en-US" sz="1400" dirty="0"/>
          </a:p>
        </p:txBody>
      </p:sp>
      <p:sp>
        <p:nvSpPr>
          <p:cNvPr id="57" name="Oval 56">
            <a:extLst>
              <a:ext uri="{FF2B5EF4-FFF2-40B4-BE49-F238E27FC236}">
                <a16:creationId xmlns:a16="http://schemas.microsoft.com/office/drawing/2014/main" id="{BF01D3A2-18D4-4216-B101-0C861AFD2CDF}"/>
              </a:ext>
            </a:extLst>
          </p:cNvPr>
          <p:cNvSpPr/>
          <p:nvPr/>
        </p:nvSpPr>
        <p:spPr>
          <a:xfrm>
            <a:off x="2019145" y="1323426"/>
            <a:ext cx="685702" cy="56193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400" dirty="0"/>
              <a:t>5.</a:t>
            </a:r>
            <a:endParaRPr lang="en-US" sz="1400" dirty="0"/>
          </a:p>
        </p:txBody>
      </p:sp>
      <p:sp>
        <p:nvSpPr>
          <p:cNvPr id="64" name="Oval 63">
            <a:extLst>
              <a:ext uri="{FF2B5EF4-FFF2-40B4-BE49-F238E27FC236}">
                <a16:creationId xmlns:a16="http://schemas.microsoft.com/office/drawing/2014/main" id="{BA2366F3-7DFE-44E1-962D-3AD6AA9D5B90}"/>
              </a:ext>
            </a:extLst>
          </p:cNvPr>
          <p:cNvSpPr/>
          <p:nvPr/>
        </p:nvSpPr>
        <p:spPr>
          <a:xfrm>
            <a:off x="7045364" y="3071796"/>
            <a:ext cx="950450"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A106.</a:t>
            </a:r>
            <a:endParaRPr lang="en-US" sz="1300" dirty="0"/>
          </a:p>
        </p:txBody>
      </p:sp>
      <p:sp>
        <p:nvSpPr>
          <p:cNvPr id="65" name="Oval 64">
            <a:extLst>
              <a:ext uri="{FF2B5EF4-FFF2-40B4-BE49-F238E27FC236}">
                <a16:creationId xmlns:a16="http://schemas.microsoft.com/office/drawing/2014/main" id="{9DBD8D74-14DB-4CB4-8E48-BE1B9C50E477}"/>
              </a:ext>
            </a:extLst>
          </p:cNvPr>
          <p:cNvSpPr/>
          <p:nvPr/>
        </p:nvSpPr>
        <p:spPr>
          <a:xfrm>
            <a:off x="8076338" y="3055029"/>
            <a:ext cx="943375"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A106C.</a:t>
            </a:r>
            <a:endParaRPr lang="en-US" sz="1300" dirty="0"/>
          </a:p>
        </p:txBody>
      </p:sp>
      <p:sp>
        <p:nvSpPr>
          <p:cNvPr id="66" name="Oval 65">
            <a:extLst>
              <a:ext uri="{FF2B5EF4-FFF2-40B4-BE49-F238E27FC236}">
                <a16:creationId xmlns:a16="http://schemas.microsoft.com/office/drawing/2014/main" id="{BC32B876-0CC2-48AE-BD75-7AD478E42ADC}"/>
              </a:ext>
            </a:extLst>
          </p:cNvPr>
          <p:cNvSpPr/>
          <p:nvPr/>
        </p:nvSpPr>
        <p:spPr>
          <a:xfrm>
            <a:off x="5987290" y="3850012"/>
            <a:ext cx="950450"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A108.</a:t>
            </a:r>
            <a:endParaRPr lang="en-US" sz="1300" dirty="0"/>
          </a:p>
        </p:txBody>
      </p:sp>
      <p:sp>
        <p:nvSpPr>
          <p:cNvPr id="67" name="Oval 66">
            <a:extLst>
              <a:ext uri="{FF2B5EF4-FFF2-40B4-BE49-F238E27FC236}">
                <a16:creationId xmlns:a16="http://schemas.microsoft.com/office/drawing/2014/main" id="{AA66A663-1108-4763-84D3-5A660B1725D5}"/>
              </a:ext>
            </a:extLst>
          </p:cNvPr>
          <p:cNvSpPr/>
          <p:nvPr/>
        </p:nvSpPr>
        <p:spPr>
          <a:xfrm>
            <a:off x="7081441" y="3831069"/>
            <a:ext cx="950450" cy="60368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ZA" sz="1300" dirty="0"/>
              <a:t>A108A.</a:t>
            </a:r>
            <a:endParaRPr lang="en-US" sz="1300" dirty="0"/>
          </a:p>
        </p:txBody>
      </p:sp>
    </p:spTree>
    <p:extLst>
      <p:ext uri="{BB962C8B-B14F-4D97-AF65-F5344CB8AC3E}">
        <p14:creationId xmlns:p14="http://schemas.microsoft.com/office/powerpoint/2010/main" val="30877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7"/>
            <a:ext cx="8443404" cy="3787571"/>
          </a:xfrm>
        </p:spPr>
        <p:txBody>
          <a:bodyPr/>
          <a:lstStyle/>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Linkages to Proposed ISQC 1 (Revised)</a:t>
            </a:r>
          </a:p>
          <a:p>
            <a:pPr lvl="1"/>
            <a:r>
              <a:rPr lang="en-US" sz="1600" dirty="0">
                <a:solidFill>
                  <a:schemeClr val="tx1">
                    <a:lumMod val="65000"/>
                    <a:lumOff val="35000"/>
                  </a:schemeClr>
                </a:solidFill>
              </a:rPr>
              <a:t>Objectives (and scope) of proposed ISQC 2</a:t>
            </a: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Authority of proposed ISQC 2</a:t>
            </a: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Definitions</a:t>
            </a: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Scope of engagements subject to an engagement quality review </a:t>
            </a:r>
            <a:endParaRPr lang="en-ZA" sz="1600" dirty="0">
              <a:solidFill>
                <a:schemeClr val="tx1">
                  <a:lumMod val="65000"/>
                  <a:lumOff val="35000"/>
                </a:schemeClr>
              </a:solidFill>
            </a:endParaRP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Eligibility of the engagement quality reviewer (including cooling-off period)</a:t>
            </a:r>
            <a:endParaRPr lang="en-ZA" sz="1600" dirty="0">
              <a:solidFill>
                <a:schemeClr val="tx1">
                  <a:lumMod val="65000"/>
                  <a:lumOff val="35000"/>
                </a:schemeClr>
              </a:solidFill>
            </a:endParaRP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Performance of an engagement quality review</a:t>
            </a:r>
            <a:endParaRPr lang="en-ZA" sz="1600" dirty="0">
              <a:solidFill>
                <a:schemeClr val="tx1">
                  <a:lumMod val="65000"/>
                  <a:lumOff val="35000"/>
                </a:schemeClr>
              </a:solidFill>
            </a:endParaRP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Consultation between the engagement team and the engagement quality reviewer</a:t>
            </a:r>
            <a:endParaRPr lang="en-ZA" sz="1600" dirty="0">
              <a:solidFill>
                <a:schemeClr val="tx1">
                  <a:lumMod val="65000"/>
                  <a:lumOff val="35000"/>
                </a:schemeClr>
              </a:solidFill>
            </a:endParaRP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The EQ reviewer’s overall conclusion</a:t>
            </a:r>
            <a:endParaRPr lang="en-ZA" sz="1600" dirty="0">
              <a:solidFill>
                <a:schemeClr val="tx1">
                  <a:lumMod val="65000"/>
                  <a:lumOff val="35000"/>
                </a:schemeClr>
              </a:solidFill>
            </a:endParaRPr>
          </a:p>
          <a:p>
            <a:pPr marL="184150" lvl="1" indent="-184150">
              <a:spcBef>
                <a:spcPts val="900"/>
              </a:spcBef>
              <a:buFont typeface="Arial" panose="020B0604020202020204" pitchFamily="34" charset="0"/>
              <a:buChar char="•"/>
            </a:pPr>
            <a:r>
              <a:rPr lang="en-US" sz="1600" dirty="0">
                <a:solidFill>
                  <a:schemeClr val="tx1">
                    <a:lumMod val="65000"/>
                    <a:lumOff val="35000"/>
                  </a:schemeClr>
                </a:solidFill>
              </a:rPr>
              <a:t>Documentation</a:t>
            </a:r>
          </a:p>
          <a:p>
            <a:pPr marL="171450" lvl="1" indent="0">
              <a:buNone/>
            </a:pPr>
            <a:endParaRPr lang="en-US" sz="1200" dirty="0">
              <a:solidFill>
                <a:schemeClr val="tx1">
                  <a:lumMod val="65000"/>
                  <a:lumOff val="35000"/>
                </a:schemeClr>
              </a:solidFill>
            </a:endParaRPr>
          </a:p>
        </p:txBody>
      </p:sp>
      <p:sp>
        <p:nvSpPr>
          <p:cNvPr id="17" name="Title 16"/>
          <p:cNvSpPr>
            <a:spLocks noGrp="1"/>
          </p:cNvSpPr>
          <p:nvPr>
            <p:ph type="title"/>
          </p:nvPr>
        </p:nvSpPr>
        <p:spPr>
          <a:xfrm>
            <a:off x="380999" y="426533"/>
            <a:ext cx="8203707" cy="400050"/>
          </a:xfrm>
        </p:spPr>
        <p:txBody>
          <a:bodyPr/>
          <a:lstStyle/>
          <a:p>
            <a:pPr lvl="1" algn="l" defTabSz="342900" rtl="0">
              <a:spcBef>
                <a:spcPct val="0"/>
              </a:spcBef>
            </a:pPr>
            <a:r>
              <a:rPr lang="en-US" kern="1200" dirty="0">
                <a:solidFill>
                  <a:schemeClr val="bg1"/>
                </a:solidFill>
                <a:latin typeface="Arial" panose="020B0604020202020204" pitchFamily="34" charset="0"/>
                <a:ea typeface="+mj-ea"/>
                <a:cs typeface="Arial" panose="020B0604020202020204" pitchFamily="34" charset="0"/>
              </a:rPr>
              <a:t>Walk Through of Proposed ISQC 2 and Extract of Proposed ISQC 1 (Revised)</a:t>
            </a:r>
          </a:p>
        </p:txBody>
      </p:sp>
      <p:sp>
        <p:nvSpPr>
          <p:cNvPr id="3" name="Slide Number Placeholder 2"/>
          <p:cNvSpPr>
            <a:spLocks noGrp="1"/>
          </p:cNvSpPr>
          <p:nvPr>
            <p:ph type="sldNum" sz="quarter" idx="12"/>
          </p:nvPr>
        </p:nvSpPr>
        <p:spPr>
          <a:xfrm>
            <a:off x="6743616" y="4860947"/>
            <a:ext cx="2080788" cy="228309"/>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481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08EF23-ED86-4301-BD2F-00AAB63C78DE}"/>
              </a:ext>
            </a:extLst>
          </p:cNvPr>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11</a:t>
            </a:fld>
            <a:endParaRPr lang="en-US" dirty="0">
              <a:latin typeface="Arial" panose="020B0604020202020204" pitchFamily="34" charset="0"/>
              <a:cs typeface="Arial" panose="020B0604020202020204" pitchFamily="34" charset="0"/>
            </a:endParaRPr>
          </a:p>
        </p:txBody>
      </p:sp>
      <p:pic>
        <p:nvPicPr>
          <p:cNvPr id="3" name="EQC video">
            <a:hlinkClick r:id="" action="ppaction://media"/>
            <a:extLst>
              <a:ext uri="{FF2B5EF4-FFF2-40B4-BE49-F238E27FC236}">
                <a16:creationId xmlns:a16="http://schemas.microsoft.com/office/drawing/2014/main" id="{9D1405DC-EC79-4221-9673-CDB3023F950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796143" y="838199"/>
            <a:ext cx="5366657" cy="3929743"/>
          </a:xfrm>
          <a:prstGeom prst="rect">
            <a:avLst/>
          </a:prstGeom>
          <a:ln>
            <a:solidFill>
              <a:schemeClr val="tx1"/>
            </a:solidFill>
          </a:ln>
        </p:spPr>
      </p:pic>
    </p:spTree>
    <p:extLst>
      <p:ext uri="{BB962C8B-B14F-4D97-AF65-F5344CB8AC3E}">
        <p14:creationId xmlns:p14="http://schemas.microsoft.com/office/powerpoint/2010/main" val="382169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266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0518" y="826584"/>
            <a:ext cx="7847860" cy="3212756"/>
          </a:xfrm>
        </p:spPr>
        <p:txBody>
          <a:bodyPr/>
          <a:lstStyle/>
          <a:p>
            <a:endParaRPr lang="en-US" sz="2000" dirty="0">
              <a:solidFill>
                <a:srgbClr val="808080"/>
              </a:solidFill>
            </a:endParaRPr>
          </a:p>
          <a:p>
            <a:endParaRPr lang="en-US" sz="2000" dirty="0">
              <a:solidFill>
                <a:srgbClr val="808080"/>
              </a:solidFill>
            </a:endParaRPr>
          </a:p>
          <a:p>
            <a:endParaRPr lang="en-US" sz="2000" dirty="0">
              <a:solidFill>
                <a:srgbClr val="808080"/>
              </a:solidFill>
            </a:endParaRPr>
          </a:p>
          <a:p>
            <a:endParaRPr lang="en-US" sz="2000" dirty="0">
              <a:solidFill>
                <a:srgbClr val="808080"/>
              </a:solidFill>
            </a:endParaRPr>
          </a:p>
          <a:p>
            <a:endParaRPr lang="en-US" sz="2000" dirty="0">
              <a:solidFill>
                <a:srgbClr val="808080"/>
              </a:solidFill>
            </a:endParaRPr>
          </a:p>
          <a:p>
            <a:endParaRPr lang="en-US" sz="2000" dirty="0">
              <a:solidFill>
                <a:srgbClr val="808080"/>
              </a:solidFill>
            </a:endParaRPr>
          </a:p>
          <a:p>
            <a:endParaRPr lang="en-US" sz="2000" dirty="0">
              <a:solidFill>
                <a:srgbClr val="808080"/>
              </a:solidFill>
            </a:endParaRPr>
          </a:p>
          <a:p>
            <a:endParaRPr lang="en-US" sz="2000" dirty="0">
              <a:solidFill>
                <a:srgbClr val="808080"/>
              </a:solidFill>
            </a:endParaRPr>
          </a:p>
          <a:p>
            <a:pPr lvl="1"/>
            <a:endParaRPr lang="en-US" sz="1850" dirty="0">
              <a:solidFill>
                <a:srgbClr val="808080"/>
              </a:solidFill>
            </a:endParaRPr>
          </a:p>
          <a:p>
            <a:pPr marL="0" indent="0">
              <a:buNone/>
            </a:pPr>
            <a:endParaRPr lang="en-US" sz="1850" dirty="0">
              <a:solidFill>
                <a:srgbClr val="808080"/>
              </a:solidFill>
            </a:endParaRPr>
          </a:p>
          <a:p>
            <a:pPr marL="0" indent="0">
              <a:buNone/>
            </a:pPr>
            <a:endParaRPr lang="en-US" dirty="0">
              <a:solidFill>
                <a:schemeClr val="tx1">
                  <a:lumMod val="65000"/>
                  <a:lumOff val="35000"/>
                </a:schemeClr>
              </a:solidFill>
            </a:endParaRPr>
          </a:p>
        </p:txBody>
      </p:sp>
      <p:sp>
        <p:nvSpPr>
          <p:cNvPr id="30723" name="Subtitle 15"/>
          <p:cNvSpPr>
            <a:spLocks noGrp="1"/>
          </p:cNvSpPr>
          <p:nvPr>
            <p:ph type="subTitle" idx="10"/>
          </p:nvPr>
        </p:nvSpPr>
        <p:spPr/>
        <p:txBody>
          <a:bodyPr/>
          <a:lstStyle/>
          <a:p>
            <a:r>
              <a:rPr lang="en-US" dirty="0"/>
              <a:t>Section Title 14pt Arial Regular</a:t>
            </a:r>
          </a:p>
          <a:p>
            <a:endParaRPr lang="en-US" dirty="0"/>
          </a:p>
        </p:txBody>
      </p:sp>
      <p:sp>
        <p:nvSpPr>
          <p:cNvPr id="4" name="Title 3"/>
          <p:cNvSpPr>
            <a:spLocks noGrp="1"/>
          </p:cNvSpPr>
          <p:nvPr>
            <p:ph type="title"/>
          </p:nvPr>
        </p:nvSpPr>
        <p:spPr>
          <a:xfrm>
            <a:off x="470517" y="426534"/>
            <a:ext cx="7847861" cy="400050"/>
          </a:xfrm>
        </p:spPr>
        <p:txBody>
          <a:bodyPr/>
          <a:lstStyle/>
          <a:p>
            <a:r>
              <a:rPr lang="en-US" dirty="0"/>
              <a:t>Linkages Between Proposed ISQC 1 (Revised) and Proposed ISQC 2</a:t>
            </a:r>
          </a:p>
        </p:txBody>
      </p:sp>
      <p:graphicFrame>
        <p:nvGraphicFramePr>
          <p:cNvPr id="3" name="Table 2">
            <a:extLst>
              <a:ext uri="{FF2B5EF4-FFF2-40B4-BE49-F238E27FC236}">
                <a16:creationId xmlns:a16="http://schemas.microsoft.com/office/drawing/2014/main" id="{DBD3DEBB-382E-4CE9-A786-77584B317EFF}"/>
              </a:ext>
            </a:extLst>
          </p:cNvPr>
          <p:cNvGraphicFramePr>
            <a:graphicFrameLocks noGrp="1"/>
          </p:cNvGraphicFramePr>
          <p:nvPr>
            <p:extLst>
              <p:ext uri="{D42A27DB-BD31-4B8C-83A1-F6EECF244321}">
                <p14:modId xmlns:p14="http://schemas.microsoft.com/office/powerpoint/2010/main" val="2694083979"/>
              </p:ext>
            </p:extLst>
          </p:nvPr>
        </p:nvGraphicFramePr>
        <p:xfrm>
          <a:off x="470516" y="972664"/>
          <a:ext cx="8357798" cy="3466726"/>
        </p:xfrm>
        <a:graphic>
          <a:graphicData uri="http://schemas.openxmlformats.org/drawingml/2006/table">
            <a:tbl>
              <a:tblPr firstRow="1" bandRow="1">
                <a:tableStyleId>{5C22544A-7EE6-4342-B048-85BDC9FD1C3A}</a:tableStyleId>
              </a:tblPr>
              <a:tblGrid>
                <a:gridCol w="4178899">
                  <a:extLst>
                    <a:ext uri="{9D8B030D-6E8A-4147-A177-3AD203B41FA5}">
                      <a16:colId xmlns:a16="http://schemas.microsoft.com/office/drawing/2014/main" val="1917391675"/>
                    </a:ext>
                  </a:extLst>
                </a:gridCol>
                <a:gridCol w="4178899">
                  <a:extLst>
                    <a:ext uri="{9D8B030D-6E8A-4147-A177-3AD203B41FA5}">
                      <a16:colId xmlns:a16="http://schemas.microsoft.com/office/drawing/2014/main" val="1952871549"/>
                    </a:ext>
                  </a:extLst>
                </a:gridCol>
              </a:tblGrid>
              <a:tr h="422071">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Extant </a:t>
                      </a:r>
                      <a:r>
                        <a:rPr lang="en-US" sz="1800" b="1" kern="1200" dirty="0">
                          <a:solidFill>
                            <a:schemeClr val="lt1"/>
                          </a:solidFill>
                          <a:latin typeface="Arial" panose="020B0604020202020204" pitchFamily="34" charset="0"/>
                          <a:ea typeface="+mn-ea"/>
                          <a:cs typeface="Arial" panose="020B0604020202020204" pitchFamily="34" charset="0"/>
                        </a:rPr>
                        <a:t>(refer to Agenda item 6-D)</a:t>
                      </a:r>
                    </a:p>
                  </a:txBody>
                  <a:tcPr/>
                </a:tc>
                <a:tc>
                  <a:txBody>
                    <a:bodyPr/>
                    <a:lstStyle/>
                    <a:p>
                      <a:r>
                        <a:rPr lang="en-US" sz="1800" dirty="0">
                          <a:latin typeface="Arial" panose="020B0604020202020204" pitchFamily="34" charset="0"/>
                          <a:cs typeface="Arial" panose="020B0604020202020204" pitchFamily="34" charset="0"/>
                        </a:rPr>
                        <a:t>Proposal</a:t>
                      </a:r>
                      <a:endParaRPr lang="en-ZA"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65109854"/>
                  </a:ext>
                </a:extLst>
              </a:tr>
              <a:tr h="1396082">
                <a:tc>
                  <a:txBody>
                    <a:bodyPr/>
                    <a:lstStyle/>
                    <a:p>
                      <a:r>
                        <a:rPr lang="en-US" sz="1800" dirty="0">
                          <a:solidFill>
                            <a:srgbClr val="808080"/>
                          </a:solidFill>
                          <a:latin typeface="Arial" panose="020B0604020202020204" pitchFamily="34" charset="0"/>
                          <a:cs typeface="Arial" panose="020B0604020202020204" pitchFamily="34" charset="0"/>
                        </a:rPr>
                        <a:t>Firm responsibilities in ISQC 1</a:t>
                      </a:r>
                    </a:p>
                    <a:p>
                      <a:br>
                        <a:rPr lang="en-US" sz="1800" dirty="0">
                          <a:solidFill>
                            <a:srgbClr val="808080"/>
                          </a:solidFill>
                          <a:latin typeface="Arial" panose="020B0604020202020204" pitchFamily="34" charset="0"/>
                          <a:cs typeface="Arial" panose="020B0604020202020204" pitchFamily="34" charset="0"/>
                        </a:rPr>
                      </a:br>
                      <a:r>
                        <a:rPr lang="en-US" sz="1800" dirty="0">
                          <a:solidFill>
                            <a:srgbClr val="808080"/>
                          </a:solidFill>
                          <a:latin typeface="Arial" panose="020B0604020202020204" pitchFamily="34" charset="0"/>
                          <a:cs typeface="Arial" panose="020B0604020202020204" pitchFamily="34" charset="0"/>
                        </a:rPr>
                        <a:t>(mainly paras. 35-42, and A41-A51)  </a:t>
                      </a:r>
                      <a:endParaRPr lang="en-ZA" sz="1800" dirty="0">
                        <a:solidFill>
                          <a:srgbClr val="808080"/>
                        </a:solidFill>
                        <a:latin typeface="Arial" panose="020B0604020202020204" pitchFamily="34" charset="0"/>
                        <a:cs typeface="Arial" panose="020B0604020202020204" pitchFamily="34" charset="0"/>
                      </a:endParaRPr>
                    </a:p>
                  </a:txBody>
                  <a:tcPr/>
                </a:tc>
                <a:tc>
                  <a:txBody>
                    <a:bodyPr/>
                    <a:lstStyle/>
                    <a:p>
                      <a:pPr marL="0" lvl="1" indent="0"/>
                      <a:r>
                        <a:rPr lang="en-US" sz="1800" dirty="0">
                          <a:solidFill>
                            <a:srgbClr val="808080"/>
                          </a:solidFill>
                          <a:latin typeface="Arial" panose="020B0604020202020204" pitchFamily="34" charset="0"/>
                          <a:cs typeface="Arial" panose="020B0604020202020204" pitchFamily="34" charset="0"/>
                        </a:rPr>
                        <a:t>Firm responsibilities in ISQC 1 and 2</a:t>
                      </a:r>
                    </a:p>
                    <a:p>
                      <a:pPr marL="0" lvl="1" indent="0"/>
                      <a:br>
                        <a:rPr lang="en-US" sz="1800" dirty="0">
                          <a:solidFill>
                            <a:srgbClr val="808080"/>
                          </a:solidFill>
                          <a:latin typeface="Arial" panose="020B0604020202020204" pitchFamily="34" charset="0"/>
                          <a:cs typeface="Arial" panose="020B0604020202020204" pitchFamily="34" charset="0"/>
                        </a:rPr>
                      </a:br>
                      <a:r>
                        <a:rPr lang="en-US" sz="1800" dirty="0">
                          <a:solidFill>
                            <a:srgbClr val="808080"/>
                          </a:solidFill>
                          <a:latin typeface="Arial" panose="020B0604020202020204" pitchFamily="34" charset="0"/>
                          <a:cs typeface="Arial" panose="020B0604020202020204" pitchFamily="34" charset="0"/>
                        </a:rPr>
                        <a:t>EQ reviewer responsibilities in ISQC 2</a:t>
                      </a:r>
                      <a:endParaRPr lang="en-ZA" sz="1800" dirty="0">
                        <a:solidFill>
                          <a:srgbClr val="80808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09918378"/>
                  </a:ext>
                </a:extLst>
              </a:tr>
              <a:tr h="1648573">
                <a:tc>
                  <a:txBody>
                    <a:bodyPr/>
                    <a:lstStyle/>
                    <a:p>
                      <a:r>
                        <a:rPr lang="en-US" sz="1800" kern="1200" dirty="0">
                          <a:solidFill>
                            <a:srgbClr val="808080"/>
                          </a:solidFill>
                          <a:latin typeface="Arial" panose="020B0604020202020204" pitchFamily="34" charset="0"/>
                          <a:ea typeface="+mn-ea"/>
                          <a:cs typeface="Arial" panose="020B0604020202020204" pitchFamily="34" charset="0"/>
                        </a:rPr>
                        <a:t>Engagement-level responsibilities  </a:t>
                      </a:r>
                    </a:p>
                    <a:p>
                      <a:r>
                        <a:rPr lang="en-US" sz="1800" dirty="0">
                          <a:solidFill>
                            <a:srgbClr val="808080"/>
                          </a:solidFill>
                          <a:latin typeface="Arial" panose="020B0604020202020204" pitchFamily="34" charset="0"/>
                          <a:cs typeface="Arial" panose="020B0604020202020204" pitchFamily="34" charset="0"/>
                        </a:rPr>
                        <a:t>(for both the engagement partner and the EQ reviewer) in ISA 220 </a:t>
                      </a:r>
                      <a:br>
                        <a:rPr lang="en-US" sz="1800" dirty="0">
                          <a:solidFill>
                            <a:srgbClr val="808080"/>
                          </a:solidFill>
                          <a:latin typeface="Arial" panose="020B0604020202020204" pitchFamily="34" charset="0"/>
                          <a:cs typeface="Arial" panose="020B0604020202020204" pitchFamily="34" charset="0"/>
                        </a:rPr>
                      </a:br>
                      <a:br>
                        <a:rPr lang="en-US" sz="1800" dirty="0">
                          <a:solidFill>
                            <a:srgbClr val="808080"/>
                          </a:solidFill>
                          <a:latin typeface="Arial" panose="020B0604020202020204" pitchFamily="34" charset="0"/>
                          <a:cs typeface="Arial" panose="020B0604020202020204" pitchFamily="34" charset="0"/>
                        </a:rPr>
                      </a:br>
                      <a:r>
                        <a:rPr lang="en-US" sz="1800" dirty="0">
                          <a:solidFill>
                            <a:srgbClr val="808080"/>
                          </a:solidFill>
                          <a:latin typeface="Arial" panose="020B0604020202020204" pitchFamily="34" charset="0"/>
                          <a:cs typeface="Arial" panose="020B0604020202020204" pitchFamily="34" charset="0"/>
                        </a:rPr>
                        <a:t>(mainly paras. 19-22, and A23-A31)</a:t>
                      </a:r>
                      <a:endParaRPr lang="en-ZA" sz="1800" dirty="0">
                        <a:solidFill>
                          <a:srgbClr val="808080"/>
                        </a:solidFill>
                        <a:latin typeface="Arial" panose="020B0604020202020204" pitchFamily="34" charset="0"/>
                        <a:cs typeface="Arial" panose="020B0604020202020204" pitchFamily="34"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800" dirty="0">
                          <a:solidFill>
                            <a:srgbClr val="808080"/>
                          </a:solidFill>
                          <a:latin typeface="Arial" panose="020B0604020202020204" pitchFamily="34" charset="0"/>
                          <a:cs typeface="Arial" panose="020B0604020202020204" pitchFamily="34" charset="0"/>
                        </a:rPr>
                        <a:t>Engagement partner/engagement</a:t>
                      </a:r>
                      <a:r>
                        <a:rPr lang="en-US" sz="1800" baseline="0" dirty="0">
                          <a:solidFill>
                            <a:srgbClr val="808080"/>
                          </a:solidFill>
                          <a:latin typeface="Arial" panose="020B0604020202020204" pitchFamily="34" charset="0"/>
                          <a:cs typeface="Arial" panose="020B0604020202020204" pitchFamily="34" charset="0"/>
                        </a:rPr>
                        <a:t> t</a:t>
                      </a:r>
                      <a:r>
                        <a:rPr lang="en-US" sz="1800" dirty="0">
                          <a:solidFill>
                            <a:srgbClr val="808080"/>
                          </a:solidFill>
                          <a:latin typeface="Arial" panose="020B0604020202020204" pitchFamily="34" charset="0"/>
                          <a:cs typeface="Arial" panose="020B0604020202020204" pitchFamily="34" charset="0"/>
                        </a:rPr>
                        <a:t>eam responsibilities in ISA 220</a:t>
                      </a:r>
                    </a:p>
                    <a:p>
                      <a:endParaRPr lang="en-ZA" sz="2000" dirty="0">
                        <a:solidFill>
                          <a:srgbClr val="80808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6966163"/>
                  </a:ext>
                </a:extLst>
              </a:tr>
            </a:tbl>
          </a:graphicData>
        </a:graphic>
      </p:graphicFrame>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2554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and objectives of Proposed ISQC 2</a:t>
            </a:r>
          </a:p>
        </p:txBody>
      </p:sp>
      <p:sp>
        <p:nvSpPr>
          <p:cNvPr id="3" name="Content Placeholder 2"/>
          <p:cNvSpPr>
            <a:spLocks noGrp="1"/>
          </p:cNvSpPr>
          <p:nvPr>
            <p:ph idx="1"/>
          </p:nvPr>
        </p:nvSpPr>
        <p:spPr/>
        <p:txBody>
          <a:bodyPr/>
          <a:lstStyle/>
          <a:p>
            <a:r>
              <a:rPr lang="en-US" sz="1800" dirty="0">
                <a:solidFill>
                  <a:schemeClr val="tx1">
                    <a:lumMod val="65000"/>
                    <a:lumOff val="35000"/>
                  </a:schemeClr>
                </a:solidFill>
              </a:rPr>
              <a:t> Paragraph 15 includes objectives pertaining to the:</a:t>
            </a:r>
          </a:p>
          <a:p>
            <a:pPr lvl="1"/>
            <a:r>
              <a:rPr lang="en-US" sz="1650" dirty="0">
                <a:solidFill>
                  <a:schemeClr val="tx1">
                    <a:lumMod val="65000"/>
                    <a:lumOff val="35000"/>
                  </a:schemeClr>
                </a:solidFill>
              </a:rPr>
              <a:t>Firm’s appointment of the EQ reviewer, including eligibility criteria for the EQ reviewer </a:t>
            </a:r>
          </a:p>
          <a:p>
            <a:pPr lvl="1"/>
            <a:r>
              <a:rPr lang="en-US" sz="1650" dirty="0">
                <a:solidFill>
                  <a:schemeClr val="tx1">
                    <a:lumMod val="65000"/>
                    <a:lumOff val="35000"/>
                  </a:schemeClr>
                </a:solidFill>
              </a:rPr>
              <a:t>The EQ reviewer’s responsibilities to perform and document the review</a:t>
            </a:r>
          </a:p>
          <a:p>
            <a:pPr marL="259558" lvl="2" indent="-129779">
              <a:spcBef>
                <a:spcPts val="900"/>
              </a:spcBef>
            </a:pPr>
            <a:endParaRPr lang="en-US" sz="1650" dirty="0">
              <a:solidFill>
                <a:schemeClr val="tx1">
                  <a:lumMod val="65000"/>
                  <a:lumOff val="35000"/>
                </a:schemeClr>
              </a:solidFill>
            </a:endParaRPr>
          </a:p>
          <a:p>
            <a:pPr marL="129779" lvl="2" indent="0">
              <a:spcBef>
                <a:spcPts val="900"/>
              </a:spcBef>
              <a:buNone/>
            </a:pPr>
            <a:endParaRPr lang="en-US" sz="165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6162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8"/>
            <a:ext cx="8319117" cy="1736166"/>
          </a:xfrm>
          <a:ln>
            <a:solidFill>
              <a:schemeClr val="dk1"/>
            </a:solidFill>
          </a:ln>
        </p:spPr>
        <p:style>
          <a:lnRef idx="2">
            <a:schemeClr val="dk1"/>
          </a:lnRef>
          <a:fillRef idx="1">
            <a:schemeClr val="lt1"/>
          </a:fillRef>
          <a:effectRef idx="0">
            <a:schemeClr val="dk1"/>
          </a:effectRef>
          <a:fontRef idx="minor">
            <a:schemeClr val="dk1"/>
          </a:fontRef>
        </p:style>
        <p:txBody>
          <a:bodyPr/>
          <a:lstStyle/>
          <a:p>
            <a:pPr marL="346075" lvl="0" indent="-346075">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1:</a:t>
            </a:r>
            <a:r>
              <a:rPr lang="en-US" sz="1800" dirty="0">
                <a:solidFill>
                  <a:schemeClr val="tx1">
                    <a:lumMod val="65000"/>
                    <a:lumOff val="35000"/>
                  </a:schemeClr>
                </a:solidFill>
                <a:latin typeface="Arial" panose="020B0604020202020204" pitchFamily="34" charset="0"/>
                <a:cs typeface="Arial" panose="020B0604020202020204" pitchFamily="34" charset="0"/>
              </a:rPr>
              <a:t>	(Para. 1-7, A1-A2, and Para. 15)</a:t>
            </a:r>
          </a:p>
          <a:p>
            <a:pPr marL="346075" lvl="0" indent="-346075">
              <a:buNone/>
            </a:pPr>
            <a:r>
              <a:rPr lang="en-US" sz="1800" dirty="0">
                <a:solidFill>
                  <a:schemeClr val="tx1">
                    <a:lumMod val="65000"/>
                    <a:lumOff val="35000"/>
                  </a:schemeClr>
                </a:solidFill>
                <a:latin typeface="Arial" panose="020B0604020202020204" pitchFamily="34" charset="0"/>
                <a:cs typeface="Arial" panose="020B0604020202020204" pitchFamily="34" charset="0"/>
              </a:rPr>
              <a:t>	The IAASB is asked whether it supports the revised objective in the ED of proposed ISQC 2 to include the objectives of both the firm and the engagement quality reviewer. (Paragraph 15)</a:t>
            </a:r>
          </a:p>
        </p:txBody>
      </p:sp>
      <p:sp>
        <p:nvSpPr>
          <p:cNvPr id="17" name="Title 16"/>
          <p:cNvSpPr>
            <a:spLocks noGrp="1"/>
          </p:cNvSpPr>
          <p:nvPr>
            <p:ph type="title"/>
          </p:nvPr>
        </p:nvSpPr>
        <p:spPr>
          <a:xfrm>
            <a:off x="381000" y="426533"/>
            <a:ext cx="6762750" cy="400050"/>
          </a:xfrm>
        </p:spPr>
        <p:txBody>
          <a:bodyPr/>
          <a:lstStyle/>
          <a:p>
            <a:r>
              <a:rPr lang="en-US" dirty="0"/>
              <a:t>Matter for IAASB Consideration </a:t>
            </a:r>
          </a:p>
        </p:txBody>
      </p:sp>
      <p:sp>
        <p:nvSpPr>
          <p:cNvPr id="15" name="Slide Number Placeholder 5"/>
          <p:cNvSpPr txBox="1">
            <a:spLocks/>
          </p:cNvSpPr>
          <p:nvPr/>
        </p:nvSpPr>
        <p:spPr>
          <a:xfrm>
            <a:off x="6097509" y="4883295"/>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endParaRPr lang="en-US" sz="675"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4252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Authority of Proposed ISQC 2</a:t>
            </a:r>
          </a:p>
        </p:txBody>
      </p:sp>
      <p:sp>
        <p:nvSpPr>
          <p:cNvPr id="3" name="Content Placeholder 2"/>
          <p:cNvSpPr>
            <a:spLocks noGrp="1"/>
          </p:cNvSpPr>
          <p:nvPr>
            <p:ph idx="1"/>
          </p:nvPr>
        </p:nvSpPr>
        <p:spPr/>
        <p:txBody>
          <a:bodyPr/>
          <a:lstStyle/>
          <a:p>
            <a:r>
              <a:rPr lang="en-US" sz="1800" dirty="0">
                <a:solidFill>
                  <a:schemeClr val="tx1">
                    <a:lumMod val="65000"/>
                    <a:lumOff val="35000"/>
                  </a:schemeClr>
                </a:solidFill>
              </a:rPr>
              <a:t>Authority of proposed ISQC 1 (Revised)</a:t>
            </a:r>
          </a:p>
          <a:p>
            <a:pPr lvl="1"/>
            <a:r>
              <a:rPr lang="en-US" sz="1650" dirty="0">
                <a:solidFill>
                  <a:schemeClr val="tx1">
                    <a:lumMod val="65000"/>
                    <a:lumOff val="35000"/>
                  </a:schemeClr>
                </a:solidFill>
              </a:rPr>
              <a:t>Authority addresses firm only</a:t>
            </a:r>
          </a:p>
          <a:p>
            <a:pPr lvl="1"/>
            <a:r>
              <a:rPr lang="en-US" sz="1650" dirty="0">
                <a:solidFill>
                  <a:schemeClr val="tx1">
                    <a:lumMod val="65000"/>
                    <a:lumOff val="35000"/>
                  </a:schemeClr>
                </a:solidFill>
              </a:rPr>
              <a:t>Not an “umbrella” like ISAE 3000 suite</a:t>
            </a:r>
          </a:p>
          <a:p>
            <a:pPr marL="129779" lvl="1" indent="-129779">
              <a:spcBef>
                <a:spcPts val="900"/>
              </a:spcBef>
              <a:buFont typeface="Arial"/>
              <a:buChar char="•"/>
            </a:pPr>
            <a:r>
              <a:rPr lang="en-US" sz="1800" dirty="0">
                <a:solidFill>
                  <a:schemeClr val="tx1">
                    <a:lumMod val="65000"/>
                    <a:lumOff val="35000"/>
                  </a:schemeClr>
                </a:solidFill>
              </a:rPr>
              <a:t>Task Force concluded ISQC 2 is a stand-alone ISQC</a:t>
            </a:r>
          </a:p>
          <a:p>
            <a:pPr lvl="1"/>
            <a:r>
              <a:rPr lang="en-US" sz="1650" dirty="0">
                <a:solidFill>
                  <a:schemeClr val="tx1">
                    <a:lumMod val="65000"/>
                    <a:lumOff val="35000"/>
                  </a:schemeClr>
                </a:solidFill>
              </a:rPr>
              <a:t>Authority needs to address: </a:t>
            </a:r>
          </a:p>
          <a:p>
            <a:pPr lvl="2"/>
            <a:r>
              <a:rPr lang="en-US" sz="1500" dirty="0">
                <a:solidFill>
                  <a:schemeClr val="tx1">
                    <a:lumMod val="65000"/>
                    <a:lumOff val="35000"/>
                  </a:schemeClr>
                </a:solidFill>
              </a:rPr>
              <a:t>Firm responsibilities for determining the eligibility of, and appointing, engagement quality reviewers</a:t>
            </a:r>
          </a:p>
          <a:p>
            <a:pPr lvl="2"/>
            <a:r>
              <a:rPr lang="en-US" sz="1500" dirty="0">
                <a:solidFill>
                  <a:schemeClr val="tx1">
                    <a:lumMod val="65000"/>
                    <a:lumOff val="35000"/>
                  </a:schemeClr>
                </a:solidFill>
              </a:rPr>
              <a:t>EQ reviewer’s responsibilities to perform and document the EQ review</a:t>
            </a:r>
          </a:p>
          <a:p>
            <a:pPr lvl="1"/>
            <a:r>
              <a:rPr lang="en-US" sz="1650" dirty="0">
                <a:solidFill>
                  <a:schemeClr val="tx1">
                    <a:lumMod val="65000"/>
                    <a:lumOff val="35000"/>
                  </a:schemeClr>
                </a:solidFill>
              </a:rPr>
              <a:t>Authority supports the two-part objective of proposed ISQC 2</a:t>
            </a:r>
          </a:p>
          <a:p>
            <a:pPr marL="129779" lvl="2" indent="0">
              <a:spcBef>
                <a:spcPts val="900"/>
              </a:spcBef>
              <a:buNone/>
            </a:pPr>
            <a:endParaRPr lang="en-US" sz="165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9711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8"/>
            <a:ext cx="8319117" cy="1394972"/>
          </a:xfrm>
        </p:spPr>
        <p:style>
          <a:lnRef idx="2">
            <a:schemeClr val="dk1"/>
          </a:lnRef>
          <a:fillRef idx="1">
            <a:schemeClr val="lt1"/>
          </a:fillRef>
          <a:effectRef idx="0">
            <a:schemeClr val="dk1"/>
          </a:effectRef>
          <a:fontRef idx="minor">
            <a:schemeClr val="dk1"/>
          </a:fontRef>
        </p:style>
        <p:txBody>
          <a:bodyPr/>
          <a:lstStyle/>
          <a:p>
            <a:pPr marL="346075" lvl="0" indent="-346075">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2: </a:t>
            </a:r>
            <a:r>
              <a:rPr lang="en-US" sz="1800" dirty="0">
                <a:solidFill>
                  <a:schemeClr val="tx1">
                    <a:lumMod val="65000"/>
                    <a:lumOff val="35000"/>
                  </a:schemeClr>
                </a:solidFill>
                <a:latin typeface="Arial" panose="020B0604020202020204" pitchFamily="34" charset="0"/>
                <a:cs typeface="Arial" panose="020B0604020202020204" pitchFamily="34" charset="0"/>
              </a:rPr>
              <a:t>	</a:t>
            </a:r>
          </a:p>
          <a:p>
            <a:pPr marL="346075" lvl="0" indent="-346075">
              <a:buNone/>
            </a:pPr>
            <a:r>
              <a:rPr lang="en-US" sz="1800" dirty="0">
                <a:solidFill>
                  <a:schemeClr val="tx1">
                    <a:lumMod val="65000"/>
                    <a:lumOff val="35000"/>
                  </a:schemeClr>
                </a:solidFill>
                <a:latin typeface="Arial" panose="020B0604020202020204" pitchFamily="34" charset="0"/>
                <a:cs typeface="Arial" panose="020B0604020202020204" pitchFamily="34" charset="0"/>
              </a:rPr>
              <a:t>	Does the IAASB agree with the Task Force’s view that a separate Authority section is needed for the draft ED of proposed ISQC 2? (Paragraphs 8 -13 and A3)</a:t>
            </a:r>
          </a:p>
          <a:p>
            <a:pPr marL="171450" lvl="1" indent="0">
              <a:buNone/>
            </a:pPr>
            <a:endParaRPr lang="en-US" sz="1200" dirty="0">
              <a:solidFill>
                <a:schemeClr val="tx1">
                  <a:lumMod val="65000"/>
                  <a:lumOff val="35000"/>
                </a:schemeClr>
              </a:solidFill>
            </a:endParaRPr>
          </a:p>
        </p:txBody>
      </p:sp>
      <p:sp>
        <p:nvSpPr>
          <p:cNvPr id="17" name="Title 16"/>
          <p:cNvSpPr>
            <a:spLocks noGrp="1"/>
          </p:cNvSpPr>
          <p:nvPr>
            <p:ph type="title"/>
          </p:nvPr>
        </p:nvSpPr>
        <p:spPr>
          <a:xfrm>
            <a:off x="381000" y="426533"/>
            <a:ext cx="6762750" cy="400050"/>
          </a:xfrm>
        </p:spPr>
        <p:txBody>
          <a:bodyPr/>
          <a:lstStyle/>
          <a:p>
            <a:r>
              <a:rPr lang="en-US" dirty="0"/>
              <a:t>Matter for IAASB Consideration </a:t>
            </a:r>
          </a:p>
        </p:txBody>
      </p:sp>
      <p:sp>
        <p:nvSpPr>
          <p:cNvPr id="3" name="Slide Number Placeholder 2"/>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1002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p:txBody>
          <a:bodyPr/>
          <a:lstStyle/>
          <a:p>
            <a:r>
              <a:rPr lang="en-US" sz="1800" dirty="0">
                <a:solidFill>
                  <a:schemeClr val="tx1">
                    <a:lumMod val="65000"/>
                    <a:lumOff val="35000"/>
                  </a:schemeClr>
                </a:solidFill>
              </a:rPr>
              <a:t>Change in terminology to align with spirit of ISQC 1</a:t>
            </a:r>
          </a:p>
          <a:p>
            <a:pPr lvl="1"/>
            <a:r>
              <a:rPr lang="en-US" sz="1600" dirty="0">
                <a:solidFill>
                  <a:schemeClr val="tx1">
                    <a:lumMod val="65000"/>
                    <a:lumOff val="35000"/>
                  </a:schemeClr>
                </a:solidFill>
              </a:rPr>
              <a:t>Engagement quality </a:t>
            </a:r>
            <a:r>
              <a:rPr lang="en-US" sz="1600" u="sng" dirty="0">
                <a:solidFill>
                  <a:schemeClr val="tx1">
                    <a:lumMod val="65000"/>
                    <a:lumOff val="35000"/>
                  </a:schemeClr>
                </a:solidFill>
              </a:rPr>
              <a:t>control</a:t>
            </a:r>
            <a:r>
              <a:rPr lang="en-US" sz="1600" dirty="0">
                <a:solidFill>
                  <a:schemeClr val="tx1">
                    <a:lumMod val="65000"/>
                    <a:lumOff val="35000"/>
                  </a:schemeClr>
                </a:solidFill>
              </a:rPr>
              <a:t> review/reviewer to engagement quality (EQ) review/reviewer</a:t>
            </a:r>
          </a:p>
          <a:p>
            <a:pPr marL="129779" lvl="1" indent="-129779">
              <a:spcBef>
                <a:spcPts val="900"/>
              </a:spcBef>
              <a:buFont typeface="Arial"/>
              <a:buChar char="•"/>
            </a:pPr>
            <a:r>
              <a:rPr lang="en-US" sz="1800" dirty="0">
                <a:solidFill>
                  <a:schemeClr val="tx1">
                    <a:lumMod val="65000"/>
                    <a:lumOff val="35000"/>
                  </a:schemeClr>
                </a:solidFill>
              </a:rPr>
              <a:t>Definitions of EQ review and EQ reviewer streamlined</a:t>
            </a:r>
          </a:p>
          <a:p>
            <a:pPr marL="129779" lvl="1" indent="-129779">
              <a:spcBef>
                <a:spcPts val="900"/>
              </a:spcBef>
              <a:buFont typeface="Arial"/>
              <a:buChar char="•"/>
            </a:pPr>
            <a:r>
              <a:rPr lang="en-US" sz="1800" dirty="0">
                <a:solidFill>
                  <a:schemeClr val="tx1">
                    <a:lumMod val="65000"/>
                    <a:lumOff val="35000"/>
                  </a:schemeClr>
                </a:solidFill>
              </a:rPr>
              <a:t>Definition of relevant ethical requirements updated </a:t>
            </a:r>
          </a:p>
          <a:p>
            <a:pPr lvl="1"/>
            <a:r>
              <a:rPr lang="en-US" sz="1600" dirty="0">
                <a:solidFill>
                  <a:schemeClr val="tx1">
                    <a:lumMod val="65000"/>
                    <a:lumOff val="35000"/>
                  </a:schemeClr>
                </a:solidFill>
              </a:rPr>
              <a:t>Consistent with revised IESBA Code, proposed ISQC 1 (Revised) and proposed ISA 220 (Revised)</a:t>
            </a:r>
          </a:p>
          <a:p>
            <a:pPr lvl="1"/>
            <a:r>
              <a:rPr lang="en-US" sz="1600" dirty="0">
                <a:solidFill>
                  <a:schemeClr val="tx1">
                    <a:lumMod val="65000"/>
                    <a:lumOff val="35000"/>
                  </a:schemeClr>
                </a:solidFill>
              </a:rPr>
              <a:t>Addresses only RER applicable to the EQ reviewer</a:t>
            </a:r>
          </a:p>
          <a:p>
            <a:pPr marL="259558" lvl="2" indent="-129779">
              <a:spcBef>
                <a:spcPts val="900"/>
              </a:spcBef>
            </a:pPr>
            <a:endParaRPr lang="en-US" sz="1650" dirty="0">
              <a:solidFill>
                <a:srgbClr val="808080"/>
              </a:solidFill>
            </a:endParaRPr>
          </a:p>
          <a:p>
            <a:pPr marL="171450" lvl="1" indent="0">
              <a:buNone/>
            </a:pPr>
            <a:endParaRPr lang="en-US" sz="1600" dirty="0">
              <a:solidFill>
                <a:srgbClr val="808080"/>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9245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8"/>
            <a:ext cx="8319117" cy="2213838"/>
          </a:xfrm>
        </p:spPr>
        <p:style>
          <a:lnRef idx="2">
            <a:schemeClr val="dk1"/>
          </a:lnRef>
          <a:fillRef idx="1">
            <a:schemeClr val="lt1"/>
          </a:fillRef>
          <a:effectRef idx="0">
            <a:schemeClr val="dk1"/>
          </a:effectRef>
          <a:fontRef idx="minor">
            <a:schemeClr val="dk1"/>
          </a:fontRef>
        </p:style>
        <p:txBody>
          <a:bodyPr/>
          <a:lstStyle/>
          <a:p>
            <a:pPr marL="346075" lvl="0" indent="-346075">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3:</a:t>
            </a:r>
            <a:r>
              <a:rPr lang="en-US" sz="1800" dirty="0">
                <a:solidFill>
                  <a:schemeClr val="tx1">
                    <a:lumMod val="65000"/>
                    <a:lumOff val="35000"/>
                  </a:schemeClr>
                </a:solidFill>
                <a:latin typeface="Arial" panose="020B0604020202020204" pitchFamily="34" charset="0"/>
                <a:cs typeface="Arial" panose="020B0604020202020204" pitchFamily="34" charset="0"/>
              </a:rPr>
              <a:t>	</a:t>
            </a:r>
          </a:p>
          <a:p>
            <a:pPr marL="346075" lvl="0" indent="-346075">
              <a:buNone/>
            </a:pPr>
            <a:r>
              <a:rPr lang="en-US" sz="1800" dirty="0">
                <a:solidFill>
                  <a:schemeClr val="tx1">
                    <a:lumMod val="65000"/>
                    <a:lumOff val="35000"/>
                  </a:schemeClr>
                </a:solidFill>
                <a:latin typeface="Arial" panose="020B0604020202020204" pitchFamily="34" charset="0"/>
                <a:cs typeface="Arial" panose="020B0604020202020204" pitchFamily="34" charset="0"/>
              </a:rPr>
              <a:t>	Does the IAASB support: (Paragraph 16, A4-A5)</a:t>
            </a:r>
          </a:p>
          <a:p>
            <a:pPr marL="684213" lvl="0" indent="-338138">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change in terminology from “engagement quality </a:t>
            </a:r>
            <a:r>
              <a:rPr lang="en-US" sz="1800" u="sng" dirty="0">
                <a:solidFill>
                  <a:schemeClr val="tx1">
                    <a:lumMod val="65000"/>
                    <a:lumOff val="35000"/>
                  </a:schemeClr>
                </a:solidFill>
                <a:latin typeface="Arial" panose="020B0604020202020204" pitchFamily="34" charset="0"/>
                <a:cs typeface="Arial" panose="020B0604020202020204" pitchFamily="34" charset="0"/>
              </a:rPr>
              <a:t>control</a:t>
            </a:r>
            <a:r>
              <a:rPr lang="en-US" sz="1800" dirty="0">
                <a:solidFill>
                  <a:schemeClr val="tx1">
                    <a:lumMod val="65000"/>
                    <a:lumOff val="35000"/>
                  </a:schemeClr>
                </a:solidFill>
                <a:latin typeface="Arial" panose="020B0604020202020204" pitchFamily="34" charset="0"/>
                <a:cs typeface="Arial" panose="020B0604020202020204" pitchFamily="34" charset="0"/>
              </a:rPr>
              <a:t> review/reviewer” to “engagement quality review/reviewer”?</a:t>
            </a:r>
          </a:p>
          <a:p>
            <a:pPr marL="684213" lvl="0" indent="-338138">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other definitions in the draft ED of proposed ISQC 2? </a:t>
            </a:r>
          </a:p>
        </p:txBody>
      </p:sp>
      <p:sp>
        <p:nvSpPr>
          <p:cNvPr id="17" name="Title 16"/>
          <p:cNvSpPr>
            <a:spLocks noGrp="1"/>
          </p:cNvSpPr>
          <p:nvPr>
            <p:ph type="title"/>
          </p:nvPr>
        </p:nvSpPr>
        <p:spPr>
          <a:xfrm>
            <a:off x="381000" y="426533"/>
            <a:ext cx="6762750" cy="400050"/>
          </a:xfrm>
        </p:spPr>
        <p:txBody>
          <a:bodyPr/>
          <a:lstStyle/>
          <a:p>
            <a:r>
              <a:rPr lang="en-US" dirty="0"/>
              <a:t>Matter for IAASB Consideration </a:t>
            </a:r>
          </a:p>
        </p:txBody>
      </p:sp>
      <p:sp>
        <p:nvSpPr>
          <p:cNvPr id="3" name="Slide Number Placeholder 2"/>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272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81000" y="426533"/>
            <a:ext cx="6762750" cy="400050"/>
          </a:xfrm>
        </p:spPr>
        <p:txBody>
          <a:bodyPr/>
          <a:lstStyle/>
          <a:p>
            <a:r>
              <a:rPr lang="en-US" dirty="0"/>
              <a:t>Scope of Engagements Subject to EQ Review </a:t>
            </a:r>
          </a:p>
        </p:txBody>
      </p:sp>
      <p:sp>
        <p:nvSpPr>
          <p:cNvPr id="8" name="TextBox 7"/>
          <p:cNvSpPr txBox="1"/>
          <p:nvPr/>
        </p:nvSpPr>
        <p:spPr>
          <a:xfrm>
            <a:off x="1293293" y="2485180"/>
            <a:ext cx="1367405"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More flexible</a:t>
            </a:r>
          </a:p>
        </p:txBody>
      </p:sp>
      <p:sp>
        <p:nvSpPr>
          <p:cNvPr id="9" name="TextBox 8"/>
          <p:cNvSpPr txBox="1"/>
          <p:nvPr/>
        </p:nvSpPr>
        <p:spPr>
          <a:xfrm>
            <a:off x="7064446" y="2088483"/>
            <a:ext cx="1367405"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More stringent</a:t>
            </a:r>
          </a:p>
        </p:txBody>
      </p:sp>
      <p:sp>
        <p:nvSpPr>
          <p:cNvPr id="10" name="Down Arrow 9"/>
          <p:cNvSpPr/>
          <p:nvPr/>
        </p:nvSpPr>
        <p:spPr>
          <a:xfrm>
            <a:off x="4068662" y="2432878"/>
            <a:ext cx="302003" cy="486561"/>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1" name="Down Arrow 10"/>
          <p:cNvSpPr/>
          <p:nvPr/>
        </p:nvSpPr>
        <p:spPr>
          <a:xfrm>
            <a:off x="5851732" y="2244681"/>
            <a:ext cx="302003" cy="486561"/>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TextBox 11"/>
          <p:cNvSpPr txBox="1"/>
          <p:nvPr/>
        </p:nvSpPr>
        <p:spPr>
          <a:xfrm>
            <a:off x="3831772" y="1769813"/>
            <a:ext cx="885951"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Extant Scope</a:t>
            </a:r>
          </a:p>
        </p:txBody>
      </p:sp>
      <p:sp>
        <p:nvSpPr>
          <p:cNvPr id="13" name="TextBox 12"/>
          <p:cNvSpPr txBox="1"/>
          <p:nvPr/>
        </p:nvSpPr>
        <p:spPr>
          <a:xfrm>
            <a:off x="5505770" y="1475070"/>
            <a:ext cx="1068607"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Proposed Scope </a:t>
            </a:r>
          </a:p>
        </p:txBody>
      </p:sp>
      <p:sp>
        <p:nvSpPr>
          <p:cNvPr id="14" name="Down Arrow 9">
            <a:extLst>
              <a:ext uri="{FF2B5EF4-FFF2-40B4-BE49-F238E27FC236}">
                <a16:creationId xmlns:a16="http://schemas.microsoft.com/office/drawing/2014/main" id="{7D072467-751F-48EA-95F4-37B8805A4D8C}"/>
              </a:ext>
            </a:extLst>
          </p:cNvPr>
          <p:cNvSpPr/>
          <p:nvPr/>
        </p:nvSpPr>
        <p:spPr>
          <a:xfrm>
            <a:off x="7161234" y="1478097"/>
            <a:ext cx="302003" cy="486561"/>
          </a:xfrm>
          <a:prstGeom prst="downArrow">
            <a:avLst/>
          </a:prstGeom>
          <a:solidFill>
            <a:srgbClr val="FFFF00"/>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BB5507E-0331-48F3-A24F-D9A6EBA418AD}"/>
              </a:ext>
            </a:extLst>
          </p:cNvPr>
          <p:cNvSpPr txBox="1"/>
          <p:nvPr/>
        </p:nvSpPr>
        <p:spPr>
          <a:xfrm>
            <a:off x="6821664" y="838454"/>
            <a:ext cx="1590886"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All engagements</a:t>
            </a:r>
            <a:endParaRPr lang="en-ZA"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E764695-4C56-4EEA-87FB-14DAC6651A10}"/>
              </a:ext>
            </a:extLst>
          </p:cNvPr>
          <p:cNvSpPr txBox="1"/>
          <p:nvPr/>
        </p:nvSpPr>
        <p:spPr>
          <a:xfrm>
            <a:off x="1485137" y="3573109"/>
            <a:ext cx="1367405"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Fewer selected</a:t>
            </a:r>
            <a:endParaRPr lang="en-ZA"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C0FFC1B-78BF-4D38-A6C6-37BAF7B73612}"/>
              </a:ext>
            </a:extLst>
          </p:cNvPr>
          <p:cNvSpPr txBox="1"/>
          <p:nvPr/>
        </p:nvSpPr>
        <p:spPr>
          <a:xfrm>
            <a:off x="7113981" y="3873652"/>
            <a:ext cx="1367405"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More selected</a:t>
            </a:r>
            <a:endParaRPr lang="en-ZA" sz="16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19</a:t>
            </a:fld>
            <a:endParaRPr lang="en-US" dirty="0">
              <a:latin typeface="Arial" panose="020B0604020202020204" pitchFamily="34" charset="0"/>
              <a:cs typeface="Arial" panose="020B0604020202020204" pitchFamily="34" charset="0"/>
            </a:endParaRPr>
          </a:p>
        </p:txBody>
      </p:sp>
      <p:sp>
        <p:nvSpPr>
          <p:cNvPr id="3" name="Flowchart: Extract 2">
            <a:extLst>
              <a:ext uri="{FF2B5EF4-FFF2-40B4-BE49-F238E27FC236}">
                <a16:creationId xmlns:a16="http://schemas.microsoft.com/office/drawing/2014/main" id="{FF11D4EB-F762-496E-97C1-2A9CB9275EA4}"/>
              </a:ext>
            </a:extLst>
          </p:cNvPr>
          <p:cNvSpPr/>
          <p:nvPr/>
        </p:nvSpPr>
        <p:spPr>
          <a:xfrm rot="16200000">
            <a:off x="4191915" y="433419"/>
            <a:ext cx="1058790" cy="5562211"/>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6170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C7B218-BD70-4C89-8184-832D5FEE6906}"/>
              </a:ext>
            </a:extLst>
          </p:cNvPr>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20</a:t>
            </a:fld>
            <a:endParaRPr lang="en-US" dirty="0">
              <a:latin typeface="Arial" panose="020B0604020202020204" pitchFamily="34" charset="0"/>
              <a:cs typeface="Arial" panose="020B0604020202020204" pitchFamily="34" charset="0"/>
            </a:endParaRPr>
          </a:p>
        </p:txBody>
      </p:sp>
      <p:sp>
        <p:nvSpPr>
          <p:cNvPr id="3" name="Flowchart: Extract 2">
            <a:extLst>
              <a:ext uri="{FF2B5EF4-FFF2-40B4-BE49-F238E27FC236}">
                <a16:creationId xmlns:a16="http://schemas.microsoft.com/office/drawing/2014/main" id="{FA13DDB1-9D2F-40ED-AE9B-EDCE75073443}"/>
              </a:ext>
            </a:extLst>
          </p:cNvPr>
          <p:cNvSpPr/>
          <p:nvPr/>
        </p:nvSpPr>
        <p:spPr>
          <a:xfrm rot="16200000">
            <a:off x="3460926" y="-1483308"/>
            <a:ext cx="1971295" cy="9022619"/>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AE5753E-AE27-478F-984C-2538F4D7DA65}"/>
              </a:ext>
            </a:extLst>
          </p:cNvPr>
          <p:cNvSpPr txBox="1"/>
          <p:nvPr/>
        </p:nvSpPr>
        <p:spPr>
          <a:xfrm>
            <a:off x="687823" y="436970"/>
            <a:ext cx="3342011" cy="369332"/>
          </a:xfrm>
          <a:prstGeom prst="rect">
            <a:avLst/>
          </a:prstGeom>
          <a:noFill/>
        </p:spPr>
        <p:txBody>
          <a:bodyPr wrap="square" rtlCol="0">
            <a:spAutoFit/>
          </a:bodyPr>
          <a:lstStyle/>
          <a:p>
            <a:r>
              <a:rPr lang="en-US" sz="1800" dirty="0">
                <a:solidFill>
                  <a:schemeClr val="bg1"/>
                </a:solidFill>
                <a:latin typeface="Arial" panose="020B0604020202020204" pitchFamily="34" charset="0"/>
                <a:cs typeface="Arial" panose="020B0604020202020204" pitchFamily="34" charset="0"/>
              </a:rPr>
              <a:t>Extant scope (Para. 35)</a:t>
            </a:r>
          </a:p>
        </p:txBody>
      </p:sp>
      <p:sp>
        <p:nvSpPr>
          <p:cNvPr id="8" name="TextBox 7">
            <a:extLst>
              <a:ext uri="{FF2B5EF4-FFF2-40B4-BE49-F238E27FC236}">
                <a16:creationId xmlns:a16="http://schemas.microsoft.com/office/drawing/2014/main" id="{FD4E8295-EF14-43DC-B641-E48E194A6F88}"/>
              </a:ext>
            </a:extLst>
          </p:cNvPr>
          <p:cNvSpPr txBox="1"/>
          <p:nvPr/>
        </p:nvSpPr>
        <p:spPr>
          <a:xfrm>
            <a:off x="1982548" y="3890768"/>
            <a:ext cx="1933997"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Audits of financial Statements of Listed entities</a:t>
            </a:r>
          </a:p>
        </p:txBody>
      </p:sp>
      <p:sp>
        <p:nvSpPr>
          <p:cNvPr id="9" name="Isosceles Triangle 8">
            <a:extLst>
              <a:ext uri="{FF2B5EF4-FFF2-40B4-BE49-F238E27FC236}">
                <a16:creationId xmlns:a16="http://schemas.microsoft.com/office/drawing/2014/main" id="{8C4870A1-EA5E-4C2F-9334-A94D135A08F7}"/>
              </a:ext>
            </a:extLst>
          </p:cNvPr>
          <p:cNvSpPr/>
          <p:nvPr/>
        </p:nvSpPr>
        <p:spPr>
          <a:xfrm rot="16200000">
            <a:off x="1112262" y="1426171"/>
            <a:ext cx="1108609" cy="3203661"/>
          </a:xfrm>
          <a:prstGeom prst="triangl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C97B902C-D351-4035-BF3A-75A984833FD4}"/>
              </a:ext>
            </a:extLst>
          </p:cNvPr>
          <p:cNvSpPr/>
          <p:nvPr/>
        </p:nvSpPr>
        <p:spPr>
          <a:xfrm>
            <a:off x="3117396" y="1768522"/>
            <a:ext cx="302003" cy="486561"/>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1" name="Trapezoid 10">
            <a:extLst>
              <a:ext uri="{FF2B5EF4-FFF2-40B4-BE49-F238E27FC236}">
                <a16:creationId xmlns:a16="http://schemas.microsoft.com/office/drawing/2014/main" id="{321DF797-9711-41B7-96B6-89788DF11021}"/>
              </a:ext>
            </a:extLst>
          </p:cNvPr>
          <p:cNvSpPr/>
          <p:nvPr/>
        </p:nvSpPr>
        <p:spPr>
          <a:xfrm rot="16200000">
            <a:off x="3253361" y="2310432"/>
            <a:ext cx="1746378" cy="1414292"/>
          </a:xfrm>
          <a:prstGeom prst="trapezoid">
            <a:avLst/>
          </a:prstGeom>
          <a:gradFill>
            <a:gsLst>
              <a:gs pos="0">
                <a:schemeClr val="bg1"/>
              </a:gs>
              <a:gs pos="100000">
                <a:schemeClr val="accent1">
                  <a:tint val="50000"/>
                  <a:shade val="100000"/>
                  <a:satMod val="350000"/>
                </a:schemeClr>
              </a:gs>
            </a:gsLst>
          </a:grad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Down Arrow 9">
            <a:extLst>
              <a:ext uri="{FF2B5EF4-FFF2-40B4-BE49-F238E27FC236}">
                <a16:creationId xmlns:a16="http://schemas.microsoft.com/office/drawing/2014/main" id="{E13BE2B1-8A18-4DE1-BE69-DDD2F0417CB1}"/>
              </a:ext>
            </a:extLst>
          </p:cNvPr>
          <p:cNvSpPr/>
          <p:nvPr/>
        </p:nvSpPr>
        <p:spPr>
          <a:xfrm>
            <a:off x="4682694" y="1504776"/>
            <a:ext cx="302003" cy="486561"/>
          </a:xfrm>
          <a:prstGeom prst="downArrow">
            <a:avLst/>
          </a:prstGeom>
          <a:gradFill>
            <a:gsLst>
              <a:gs pos="0">
                <a:schemeClr val="tx1">
                  <a:lumMod val="75000"/>
                  <a:lumOff val="25000"/>
                </a:schemeClr>
              </a:gs>
              <a:gs pos="0">
                <a:schemeClr val="accent3">
                  <a:tint val="50000"/>
                  <a:shade val="100000"/>
                  <a:satMod val="350000"/>
                </a:schemeClr>
              </a:gs>
            </a:gsLst>
          </a:gra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11C0483-5C18-43B9-BC8D-11AC4C24B32C}"/>
              </a:ext>
            </a:extLst>
          </p:cNvPr>
          <p:cNvSpPr txBox="1"/>
          <p:nvPr/>
        </p:nvSpPr>
        <p:spPr>
          <a:xfrm>
            <a:off x="4202051" y="3871983"/>
            <a:ext cx="1642682"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Criteria based selection of engagements</a:t>
            </a:r>
          </a:p>
        </p:txBody>
      </p:sp>
      <p:sp>
        <p:nvSpPr>
          <p:cNvPr id="15" name="TextBox 14">
            <a:extLst>
              <a:ext uri="{FF2B5EF4-FFF2-40B4-BE49-F238E27FC236}">
                <a16:creationId xmlns:a16="http://schemas.microsoft.com/office/drawing/2014/main" id="{E876414D-7C4E-41F0-8F07-E717A28871E2}"/>
              </a:ext>
            </a:extLst>
          </p:cNvPr>
          <p:cNvSpPr txBox="1"/>
          <p:nvPr/>
        </p:nvSpPr>
        <p:spPr>
          <a:xfrm>
            <a:off x="5114168" y="451703"/>
            <a:ext cx="3437351" cy="369332"/>
          </a:xfrm>
          <a:prstGeom prst="rect">
            <a:avLst/>
          </a:prstGeom>
          <a:noFill/>
        </p:spPr>
        <p:txBody>
          <a:bodyPr wrap="square" rtlCol="0">
            <a:spAutoFit/>
          </a:bodyPr>
          <a:lstStyle/>
          <a:p>
            <a:r>
              <a:rPr lang="en-US" sz="1800" dirty="0">
                <a:solidFill>
                  <a:schemeClr val="bg1"/>
                </a:solidFill>
                <a:latin typeface="Arial" panose="020B0604020202020204" pitchFamily="34" charset="0"/>
                <a:cs typeface="Arial" panose="020B0604020202020204" pitchFamily="34" charset="0"/>
              </a:rPr>
              <a:t>Revised scope (Para. 43 (e) (</a:t>
            </a:r>
            <a:r>
              <a:rPr lang="en-US" sz="1800" dirty="0" err="1">
                <a:solidFill>
                  <a:schemeClr val="bg1"/>
                </a:solidFill>
                <a:latin typeface="Arial" panose="020B0604020202020204" pitchFamily="34" charset="0"/>
                <a:cs typeface="Arial" panose="020B0604020202020204" pitchFamily="34" charset="0"/>
              </a:rPr>
              <a:t>i</a:t>
            </a:r>
            <a:r>
              <a:rPr lang="en-US" sz="1800" dirty="0">
                <a:solidFill>
                  <a:schemeClr val="bg1"/>
                </a:solidFill>
                <a:latin typeface="Arial" panose="020B0604020202020204" pitchFamily="34" charset="0"/>
                <a:cs typeface="Arial" panose="020B0604020202020204" pitchFamily="34" charset="0"/>
              </a:rPr>
              <a:t>)</a:t>
            </a:r>
          </a:p>
        </p:txBody>
      </p:sp>
      <p:sp>
        <p:nvSpPr>
          <p:cNvPr id="16" name="Arrow: Right 15">
            <a:extLst>
              <a:ext uri="{FF2B5EF4-FFF2-40B4-BE49-F238E27FC236}">
                <a16:creationId xmlns:a16="http://schemas.microsoft.com/office/drawing/2014/main" id="{BCB0569C-EE14-4FD9-869A-109BEDFA6C3D}"/>
              </a:ext>
            </a:extLst>
          </p:cNvPr>
          <p:cNvSpPr/>
          <p:nvPr/>
        </p:nvSpPr>
        <p:spPr>
          <a:xfrm>
            <a:off x="3276489" y="2720286"/>
            <a:ext cx="4872191" cy="595523"/>
          </a:xfrm>
          <a:prstGeom prst="rightArrow">
            <a:avLst/>
          </a:prstGeom>
          <a:gradFill>
            <a:gsLst>
              <a:gs pos="0">
                <a:schemeClr val="tx1"/>
              </a:gs>
              <a:gs pos="0">
                <a:schemeClr val="tx1"/>
              </a:gs>
            </a:gsLst>
            <a:lin ang="162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Arrow: Right 16">
            <a:extLst>
              <a:ext uri="{FF2B5EF4-FFF2-40B4-BE49-F238E27FC236}">
                <a16:creationId xmlns:a16="http://schemas.microsoft.com/office/drawing/2014/main" id="{2FE6C819-F2E4-4F52-9C8C-D3C160029545}"/>
              </a:ext>
            </a:extLst>
          </p:cNvPr>
          <p:cNvSpPr/>
          <p:nvPr/>
        </p:nvSpPr>
        <p:spPr>
          <a:xfrm>
            <a:off x="3268398" y="2249219"/>
            <a:ext cx="3941608" cy="595523"/>
          </a:xfrm>
          <a:prstGeom prst="rightArrow">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Arrow: Right 17">
            <a:extLst>
              <a:ext uri="{FF2B5EF4-FFF2-40B4-BE49-F238E27FC236}">
                <a16:creationId xmlns:a16="http://schemas.microsoft.com/office/drawing/2014/main" id="{FF46CA05-64B6-41C6-AC83-5B6567215E7B}"/>
              </a:ext>
            </a:extLst>
          </p:cNvPr>
          <p:cNvSpPr/>
          <p:nvPr/>
        </p:nvSpPr>
        <p:spPr>
          <a:xfrm>
            <a:off x="3276489" y="3188615"/>
            <a:ext cx="4427129" cy="595523"/>
          </a:xfrm>
          <a:prstGeom prst="rightArrow">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CFF39B68-ADB2-409C-AC6C-A38EDFC8F63F}"/>
              </a:ext>
            </a:extLst>
          </p:cNvPr>
          <p:cNvSpPr txBox="1"/>
          <p:nvPr/>
        </p:nvSpPr>
        <p:spPr>
          <a:xfrm>
            <a:off x="3402702" y="3341094"/>
            <a:ext cx="3422931" cy="30008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Determined by firm’s </a:t>
            </a:r>
            <a:r>
              <a:rPr lang="en-US" dirty="0" err="1">
                <a:latin typeface="Arial" panose="020B0604020202020204" pitchFamily="34" charset="0"/>
                <a:cs typeface="Arial" panose="020B0604020202020204" pitchFamily="34" charset="0"/>
              </a:rPr>
              <a:t>SoQM</a:t>
            </a:r>
            <a:endParaRPr lang="en-US"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2B2AF90F-2882-4147-9896-A88A4A211B01}"/>
              </a:ext>
            </a:extLst>
          </p:cNvPr>
          <p:cNvSpPr txBox="1"/>
          <p:nvPr/>
        </p:nvSpPr>
        <p:spPr>
          <a:xfrm>
            <a:off x="3395441" y="2861833"/>
            <a:ext cx="3422931" cy="300082"/>
          </a:xfrm>
          <a:prstGeom prst="rect">
            <a:avLst/>
          </a:prstGeom>
          <a:noFill/>
        </p:spPr>
        <p:txBody>
          <a:bodyPr wrap="square" rtlCol="0">
            <a:spAutoFit/>
          </a:bodyPr>
          <a:lstStyle/>
          <a:p>
            <a:r>
              <a:rPr lang="en-US" dirty="0">
                <a:solidFill>
                  <a:schemeClr val="bg1"/>
                </a:solidFill>
                <a:latin typeface="Arial" panose="020B0604020202020204" pitchFamily="34" charset="0"/>
                <a:cs typeface="Arial" panose="020B0604020202020204" pitchFamily="34" charset="0"/>
              </a:rPr>
              <a:t>Required by law or regulation</a:t>
            </a:r>
          </a:p>
        </p:txBody>
      </p:sp>
      <p:sp>
        <p:nvSpPr>
          <p:cNvPr id="23" name="TextBox 22">
            <a:extLst>
              <a:ext uri="{FF2B5EF4-FFF2-40B4-BE49-F238E27FC236}">
                <a16:creationId xmlns:a16="http://schemas.microsoft.com/office/drawing/2014/main" id="{89AF3EB2-8A41-404A-B6B2-3F6B9D0E9D6F}"/>
              </a:ext>
            </a:extLst>
          </p:cNvPr>
          <p:cNvSpPr txBox="1"/>
          <p:nvPr/>
        </p:nvSpPr>
        <p:spPr>
          <a:xfrm>
            <a:off x="3395440" y="2429617"/>
            <a:ext cx="3422931" cy="30008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Entities that have significant public interest</a:t>
            </a:r>
          </a:p>
        </p:txBody>
      </p:sp>
    </p:spTree>
    <p:extLst>
      <p:ext uri="{BB962C8B-B14F-4D97-AF65-F5344CB8AC3E}">
        <p14:creationId xmlns:p14="http://schemas.microsoft.com/office/powerpoint/2010/main" val="377905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8" grpId="0"/>
      <p:bldP spid="9" grpId="0" animBg="1"/>
      <p:bldP spid="10" grpId="0" animBg="1"/>
      <p:bldP spid="11" grpId="0" animBg="1"/>
      <p:bldP spid="12" grpId="0" animBg="1"/>
      <p:bldP spid="14" grpId="0"/>
      <p:bldP spid="15" grpId="0"/>
      <p:bldP spid="16" grpId="0" animBg="1"/>
      <p:bldP spid="17" grpId="0" animBg="1"/>
      <p:bldP spid="18" grpId="0" animBg="1"/>
      <p:bldP spid="21" grpId="0"/>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8"/>
            <a:ext cx="8443404" cy="3525150"/>
          </a:xfrm>
        </p:spPr>
        <p:txBody>
          <a:bodyPr/>
          <a:lstStyle/>
          <a:p>
            <a:pPr>
              <a:lnSpc>
                <a:spcPts val="2100"/>
              </a:lnSpc>
              <a:spcBef>
                <a:spcPts val="600"/>
              </a:spcBef>
            </a:pPr>
            <a:r>
              <a:rPr lang="en-US" sz="1800" dirty="0">
                <a:solidFill>
                  <a:schemeClr val="tx1">
                    <a:lumMod val="65000"/>
                    <a:lumOff val="35000"/>
                  </a:schemeClr>
                </a:solidFill>
              </a:rPr>
              <a:t>Firms are required to establish policies or procedures addressing EQ reviews, including the scope of engagements subject to EQ review</a:t>
            </a:r>
          </a:p>
          <a:p>
            <a:pPr>
              <a:lnSpc>
                <a:spcPts val="2100"/>
              </a:lnSpc>
              <a:spcBef>
                <a:spcPts val="600"/>
              </a:spcBef>
            </a:pPr>
            <a:r>
              <a:rPr lang="en-US" sz="1800" dirty="0">
                <a:solidFill>
                  <a:schemeClr val="tx1">
                    <a:lumMod val="65000"/>
                    <a:lumOff val="35000"/>
                  </a:schemeClr>
                </a:solidFill>
              </a:rPr>
              <a:t>Under paragraph 43(e)(</a:t>
            </a:r>
            <a:r>
              <a:rPr lang="en-US" sz="1800" dirty="0" err="1">
                <a:solidFill>
                  <a:schemeClr val="tx1">
                    <a:lumMod val="65000"/>
                    <a:lumOff val="35000"/>
                  </a:schemeClr>
                </a:solidFill>
              </a:rPr>
              <a:t>i</a:t>
            </a:r>
            <a:r>
              <a:rPr lang="en-US" sz="1800" dirty="0">
                <a:solidFill>
                  <a:schemeClr val="tx1">
                    <a:lumMod val="65000"/>
                    <a:lumOff val="35000"/>
                  </a:schemeClr>
                </a:solidFill>
              </a:rPr>
              <a:t>) of proposed ISQC 1 (Revised), EQ reviews are required for:</a:t>
            </a:r>
          </a:p>
          <a:p>
            <a:pPr marL="514350" lvl="1" indent="-342900">
              <a:lnSpc>
                <a:spcPts val="2100"/>
              </a:lnSpc>
              <a:spcBef>
                <a:spcPts val="600"/>
              </a:spcBef>
              <a:spcAft>
                <a:spcPts val="0"/>
              </a:spcAft>
              <a:buFont typeface="+mj-lt"/>
              <a:buAutoNum type="alphaLcPeriod"/>
            </a:pPr>
            <a:r>
              <a:rPr lang="en-US" sz="1600" dirty="0">
                <a:solidFill>
                  <a:schemeClr val="tx1">
                    <a:lumMod val="65000"/>
                    <a:lumOff val="35000"/>
                  </a:schemeClr>
                </a:solidFill>
              </a:rPr>
              <a:t>All audits of financial statements of listed entities and entities that are of significant public interest</a:t>
            </a:r>
          </a:p>
          <a:p>
            <a:pPr marL="514350" lvl="1" indent="-342900">
              <a:lnSpc>
                <a:spcPts val="2100"/>
              </a:lnSpc>
              <a:spcBef>
                <a:spcPts val="600"/>
              </a:spcBef>
              <a:spcAft>
                <a:spcPts val="0"/>
              </a:spcAft>
              <a:buFont typeface="+mj-lt"/>
              <a:buAutoNum type="alphaLcPeriod"/>
            </a:pPr>
            <a:r>
              <a:rPr lang="en-US" sz="1600" dirty="0">
                <a:solidFill>
                  <a:schemeClr val="tx1">
                    <a:lumMod val="65000"/>
                    <a:lumOff val="35000"/>
                  </a:schemeClr>
                </a:solidFill>
              </a:rPr>
              <a:t>Engagements for which an EQ review is required by law or regulation</a:t>
            </a:r>
          </a:p>
          <a:p>
            <a:pPr marL="514350" lvl="1" indent="-342900">
              <a:lnSpc>
                <a:spcPts val="2100"/>
              </a:lnSpc>
              <a:spcBef>
                <a:spcPts val="600"/>
              </a:spcBef>
              <a:spcAft>
                <a:spcPts val="0"/>
              </a:spcAft>
              <a:buFont typeface="+mj-lt"/>
              <a:buAutoNum type="alphaLcPeriod"/>
            </a:pPr>
            <a:r>
              <a:rPr lang="en-US" sz="1600" dirty="0">
                <a:solidFill>
                  <a:schemeClr val="tx1">
                    <a:lumMod val="65000"/>
                    <a:lumOff val="35000"/>
                  </a:schemeClr>
                </a:solidFill>
              </a:rPr>
              <a:t>Other engagements or classes of engagements for which the firm has determined that an engagement quality review is an appropriate response to a quality risk identified by the firm because of the reasons for the assessment given to the quality risk or for other reason(s).</a:t>
            </a:r>
          </a:p>
          <a:p>
            <a:pPr marL="259558" lvl="2" indent="-129779">
              <a:spcBef>
                <a:spcPts val="900"/>
              </a:spcBef>
            </a:pPr>
            <a:endParaRPr lang="en-US" dirty="0">
              <a:solidFill>
                <a:schemeClr val="tx1">
                  <a:lumMod val="65000"/>
                  <a:lumOff val="35000"/>
                </a:schemeClr>
              </a:solidFill>
            </a:endParaRPr>
          </a:p>
          <a:p>
            <a:pPr lvl="1"/>
            <a:endParaRPr lang="en-US" sz="1500" dirty="0">
              <a:solidFill>
                <a:schemeClr val="tx1">
                  <a:lumMod val="65000"/>
                  <a:lumOff val="35000"/>
                </a:schemeClr>
              </a:solidFill>
            </a:endParaRPr>
          </a:p>
          <a:p>
            <a:pPr marL="171450" lvl="1" indent="0">
              <a:buNone/>
            </a:pPr>
            <a:endParaRPr lang="en-US" sz="1200" dirty="0">
              <a:solidFill>
                <a:schemeClr val="tx1">
                  <a:lumMod val="65000"/>
                  <a:lumOff val="35000"/>
                </a:schemeClr>
              </a:solidFill>
            </a:endParaRPr>
          </a:p>
        </p:txBody>
      </p:sp>
      <p:sp>
        <p:nvSpPr>
          <p:cNvPr id="17" name="Title 16"/>
          <p:cNvSpPr>
            <a:spLocks noGrp="1"/>
          </p:cNvSpPr>
          <p:nvPr>
            <p:ph type="title"/>
          </p:nvPr>
        </p:nvSpPr>
        <p:spPr>
          <a:xfrm>
            <a:off x="381000" y="426533"/>
            <a:ext cx="6762750" cy="400050"/>
          </a:xfrm>
        </p:spPr>
        <p:txBody>
          <a:bodyPr/>
          <a:lstStyle/>
          <a:p>
            <a:r>
              <a:rPr lang="en-US" dirty="0"/>
              <a:t>Scope of Engagements Subject to EQ Review </a:t>
            </a:r>
          </a:p>
        </p:txBody>
      </p:sp>
      <p:sp>
        <p:nvSpPr>
          <p:cNvPr id="3" name="Slide Number Placeholder 2"/>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3909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Entities that are of Significant Public Interest</a:t>
            </a:r>
          </a:p>
        </p:txBody>
      </p:sp>
      <p:sp>
        <p:nvSpPr>
          <p:cNvPr id="3" name="Content Placeholder 2"/>
          <p:cNvSpPr>
            <a:spLocks noGrp="1"/>
          </p:cNvSpPr>
          <p:nvPr>
            <p:ph idx="1"/>
          </p:nvPr>
        </p:nvSpPr>
        <p:spPr>
          <a:xfrm>
            <a:off x="381000" y="924943"/>
            <a:ext cx="8229600" cy="3188677"/>
          </a:xfrm>
        </p:spPr>
        <p:txBody>
          <a:bodyPr/>
          <a:lstStyle/>
          <a:p>
            <a:pPr marL="129779" lvl="1" indent="-129779">
              <a:spcBef>
                <a:spcPts val="900"/>
              </a:spcBef>
              <a:buFont typeface="Arial"/>
              <a:buChar char="•"/>
            </a:pPr>
            <a:r>
              <a:rPr lang="en-US" sz="1800" dirty="0">
                <a:solidFill>
                  <a:schemeClr val="tx1">
                    <a:lumMod val="65000"/>
                    <a:lumOff val="35000"/>
                  </a:schemeClr>
                </a:solidFill>
              </a:rPr>
              <a:t>This term is used in paragraph A32 of ISA 260 (Revised) and paragraph A41 of ISA 700 (Revised) and in proposed ISQC 1 (Revised) </a:t>
            </a:r>
          </a:p>
          <a:p>
            <a:pPr lvl="1">
              <a:lnSpc>
                <a:spcPts val="2100"/>
              </a:lnSpc>
              <a:spcBef>
                <a:spcPts val="600"/>
              </a:spcBef>
              <a:spcAft>
                <a:spcPts val="0"/>
              </a:spcAft>
            </a:pPr>
            <a:r>
              <a:rPr lang="en-US" sz="1600" dirty="0">
                <a:solidFill>
                  <a:schemeClr val="tx1">
                    <a:lumMod val="65000"/>
                    <a:lumOff val="35000"/>
                  </a:schemeClr>
                </a:solidFill>
              </a:rPr>
              <a:t>Large number and wide range of stakeholders and considering the nature and size of the business</a:t>
            </a:r>
          </a:p>
          <a:p>
            <a:pPr lvl="1">
              <a:lnSpc>
                <a:spcPts val="2100"/>
              </a:lnSpc>
              <a:spcBef>
                <a:spcPts val="600"/>
              </a:spcBef>
              <a:spcAft>
                <a:spcPts val="0"/>
              </a:spcAft>
            </a:pPr>
            <a:r>
              <a:rPr lang="en-US" sz="1600" dirty="0">
                <a:solidFill>
                  <a:schemeClr val="tx1">
                    <a:lumMod val="65000"/>
                    <a:lumOff val="35000"/>
                  </a:schemeClr>
                </a:solidFill>
              </a:rPr>
              <a:t>Examples may include financial institutions (such as banks, insurance companies and pension funds) and other entities such as charities</a:t>
            </a:r>
            <a:endParaRPr lang="en-US" sz="1650" dirty="0">
              <a:solidFill>
                <a:srgbClr val="808080"/>
              </a:solidFill>
            </a:endParaRPr>
          </a:p>
          <a:p>
            <a:pPr lvl="1"/>
            <a:endParaRPr lang="en-US" sz="1650" dirty="0">
              <a:solidFill>
                <a:srgbClr val="808080"/>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2526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79738"/>
            <a:ext cx="7286527" cy="3525150"/>
          </a:xfrm>
        </p:spPr>
        <p:txBody>
          <a:bodyPr/>
          <a:lstStyle/>
          <a:p>
            <a:pPr marL="129779" lvl="1" indent="-129779">
              <a:spcBef>
                <a:spcPts val="900"/>
              </a:spcBef>
              <a:buFont typeface="Arial"/>
              <a:buChar char="•"/>
            </a:pPr>
            <a:r>
              <a:rPr lang="en-US" sz="1800" dirty="0">
                <a:solidFill>
                  <a:schemeClr val="tx1">
                    <a:lumMod val="65000"/>
                    <a:lumOff val="35000"/>
                  </a:schemeClr>
                </a:solidFill>
              </a:rPr>
              <a:t>Scope of EQ reviews is scalable as:	</a:t>
            </a:r>
          </a:p>
          <a:p>
            <a:pPr lvl="1"/>
            <a:r>
              <a:rPr lang="en-US" sz="1600" dirty="0">
                <a:solidFill>
                  <a:schemeClr val="tx1">
                    <a:lumMod val="65000"/>
                    <a:lumOff val="35000"/>
                  </a:schemeClr>
                </a:solidFill>
              </a:rPr>
              <a:t>EQ review is one possible response among others</a:t>
            </a:r>
          </a:p>
          <a:p>
            <a:pPr lvl="1"/>
            <a:r>
              <a:rPr lang="en-US" sz="1600" dirty="0">
                <a:solidFill>
                  <a:schemeClr val="tx1">
                    <a:lumMod val="65000"/>
                    <a:lumOff val="35000"/>
                  </a:schemeClr>
                </a:solidFill>
              </a:rPr>
              <a:t>Type of engagements in a firm’s portfolio (e.g., audits of listed entities)</a:t>
            </a:r>
          </a:p>
          <a:p>
            <a:pPr lvl="1"/>
            <a:r>
              <a:rPr lang="en-US" sz="1600" dirty="0">
                <a:solidFill>
                  <a:schemeClr val="tx1">
                    <a:lumMod val="65000"/>
                    <a:lumOff val="35000"/>
                  </a:schemeClr>
                </a:solidFill>
              </a:rPr>
              <a:t>Firm’s determination of other engagements or classes of engagements to be subject to EQ review</a:t>
            </a:r>
          </a:p>
          <a:p>
            <a:pPr marL="259558" lvl="2" indent="-129779">
              <a:spcBef>
                <a:spcPts val="900"/>
              </a:spcBef>
            </a:pPr>
            <a:endParaRPr lang="en-US" dirty="0">
              <a:solidFill>
                <a:schemeClr val="tx1">
                  <a:lumMod val="65000"/>
                  <a:lumOff val="35000"/>
                </a:schemeClr>
              </a:solidFill>
            </a:endParaRPr>
          </a:p>
          <a:p>
            <a:pPr lvl="1"/>
            <a:endParaRPr lang="en-US" sz="1500" dirty="0">
              <a:solidFill>
                <a:schemeClr val="tx1">
                  <a:lumMod val="65000"/>
                  <a:lumOff val="35000"/>
                </a:schemeClr>
              </a:solidFill>
            </a:endParaRPr>
          </a:p>
          <a:p>
            <a:pPr marL="171450" lvl="1" indent="0">
              <a:buNone/>
            </a:pPr>
            <a:endParaRPr lang="en-US" sz="1200" dirty="0">
              <a:solidFill>
                <a:schemeClr val="tx1">
                  <a:lumMod val="65000"/>
                  <a:lumOff val="35000"/>
                </a:schemeClr>
              </a:solidFill>
            </a:endParaRPr>
          </a:p>
        </p:txBody>
      </p:sp>
      <p:sp>
        <p:nvSpPr>
          <p:cNvPr id="17" name="Title 16"/>
          <p:cNvSpPr>
            <a:spLocks noGrp="1"/>
          </p:cNvSpPr>
          <p:nvPr>
            <p:ph type="title"/>
          </p:nvPr>
        </p:nvSpPr>
        <p:spPr>
          <a:xfrm>
            <a:off x="381000" y="426533"/>
            <a:ext cx="6762750" cy="400050"/>
          </a:xfrm>
        </p:spPr>
        <p:txBody>
          <a:bodyPr/>
          <a:lstStyle/>
          <a:p>
            <a:r>
              <a:rPr lang="en-US" dirty="0"/>
              <a:t>Scalability of Scope Requirement</a:t>
            </a:r>
          </a:p>
        </p:txBody>
      </p:sp>
      <p:sp>
        <p:nvSpPr>
          <p:cNvPr id="3" name="Slide Number Placeholder 2"/>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2994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 </a:t>
            </a:r>
          </a:p>
        </p:txBody>
      </p:sp>
      <p:sp>
        <p:nvSpPr>
          <p:cNvPr id="3" name="Content Placeholder 2"/>
          <p:cNvSpPr>
            <a:spLocks noGrp="1"/>
          </p:cNvSpPr>
          <p:nvPr>
            <p:ph idx="1"/>
          </p:nvPr>
        </p:nvSpPr>
        <p:spPr>
          <a:xfrm>
            <a:off x="457200" y="879001"/>
            <a:ext cx="8229600" cy="3692999"/>
          </a:xfrm>
        </p:spPr>
        <p:style>
          <a:lnRef idx="2">
            <a:schemeClr val="dk1"/>
          </a:lnRef>
          <a:fillRef idx="1">
            <a:schemeClr val="lt1"/>
          </a:fillRef>
          <a:effectRef idx="0">
            <a:schemeClr val="dk1"/>
          </a:effectRef>
          <a:fontRef idx="minor">
            <a:schemeClr val="dk1"/>
          </a:fontRef>
        </p:style>
        <p:txBody>
          <a:bodyPr/>
          <a:lstStyle/>
          <a:p>
            <a:pPr marL="0" indent="0">
              <a:lnSpc>
                <a:spcPts val="2100"/>
              </a:lnSpc>
              <a:spcBef>
                <a:spcPts val="600"/>
              </a:spcBef>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4:</a:t>
            </a:r>
          </a:p>
          <a:p>
            <a:pPr marL="0" indent="0">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The IAASB is asked for its views on whether: (Paragraph 43(e)(</a:t>
            </a:r>
            <a:r>
              <a:rPr lang="en-US" sz="1800" dirty="0" err="1">
                <a:solidFill>
                  <a:schemeClr val="tx1">
                    <a:lumMod val="65000"/>
                    <a:lumOff val="35000"/>
                  </a:schemeClr>
                </a:solidFill>
                <a:latin typeface="Arial" panose="020B0604020202020204" pitchFamily="34" charset="0"/>
                <a:cs typeface="Arial" panose="020B0604020202020204" pitchFamily="34" charset="0"/>
              </a:rPr>
              <a:t>i</a:t>
            </a:r>
            <a:r>
              <a:rPr lang="en-US" sz="1800" dirty="0">
                <a:solidFill>
                  <a:schemeClr val="tx1">
                    <a:lumMod val="65000"/>
                    <a:lumOff val="35000"/>
                  </a:schemeClr>
                </a:solidFill>
                <a:latin typeface="Arial" panose="020B0604020202020204" pitchFamily="34" charset="0"/>
                <a:cs typeface="Arial" panose="020B0604020202020204" pitchFamily="34" charset="0"/>
              </a:rPr>
              <a:t>) and A100-A102)</a:t>
            </a:r>
          </a:p>
          <a:p>
            <a:pPr marL="688975" indent="-342900">
              <a:lnSpc>
                <a:spcPts val="21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intended scope of the engagements subject to EQ reviews is clear and sufficiently robust in the public interest;</a:t>
            </a:r>
          </a:p>
          <a:p>
            <a:pPr marL="688975" indent="-342900">
              <a:lnSpc>
                <a:spcPts val="21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changes made in the draft ED of proposed ISQC 1 (Revised), paragraph 43(e) and related application material address the issues identified at the September 2017 IAASB meeting; and</a:t>
            </a:r>
          </a:p>
          <a:p>
            <a:pPr marL="688975" indent="-342900">
              <a:lnSpc>
                <a:spcPts val="21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The approach taken to require EQ reviews for audits of entities of significant public interest is appropriate, or whether it would be sufficient to rely on the firm’s risk assessment process to capture entities of significant public interest.</a:t>
            </a:r>
          </a:p>
          <a:p>
            <a:pPr marL="342900" indent="-342900">
              <a:lnSpc>
                <a:spcPts val="2100"/>
              </a:lnSpc>
              <a:spcBef>
                <a:spcPts val="600"/>
              </a:spcBef>
              <a:buAutoNum type="arabicPeriod" startAt="4"/>
            </a:pPr>
            <a:endParaRPr lang="en-US" sz="180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3681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Eligibility Criteria for Engagement Quality Reviewers (Proposed ISQC 2)</a:t>
            </a:r>
          </a:p>
        </p:txBody>
      </p:sp>
      <p:sp>
        <p:nvSpPr>
          <p:cNvPr id="6" name="Slide Number Placeholder 5"/>
          <p:cNvSpPr txBox="1">
            <a:spLocks/>
          </p:cNvSpPr>
          <p:nvPr/>
        </p:nvSpPr>
        <p:spPr>
          <a:xfrm>
            <a:off x="7004607" y="4872524"/>
            <a:ext cx="1560591" cy="228309"/>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675" dirty="0">
                <a:latin typeface="Arial" panose="020B0604020202020204" pitchFamily="34" charset="0"/>
                <a:cs typeface="MS PGothic" charset="0"/>
              </a:rPr>
              <a:t>	Page </a:t>
            </a:r>
            <a:fld id="{53CD5F42-02DE-44B4-A2E5-4D62A1A07C24}" type="slidenum">
              <a:rPr lang="en-US" sz="675">
                <a:latin typeface="Arial" panose="020B0604020202020204" pitchFamily="34" charset="0"/>
                <a:cs typeface="Arial" panose="020B0604020202020204" pitchFamily="34" charset="0"/>
              </a:rPr>
              <a:t>25</a:t>
            </a:fld>
            <a:endParaRPr lang="en-US" sz="675"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1296679" y="1002427"/>
            <a:ext cx="6172200" cy="3444908"/>
          </a:xfrm>
        </p:spPr>
        <p:txBody>
          <a:bodyPr/>
          <a:lstStyle/>
          <a:p>
            <a:pPr marL="0" indent="0">
              <a:buNone/>
            </a:pPr>
            <a:endParaRPr lang="en-US" dirty="0"/>
          </a:p>
          <a:p>
            <a:endParaRPr lang="en-US" dirty="0"/>
          </a:p>
        </p:txBody>
      </p:sp>
      <p:sp>
        <p:nvSpPr>
          <p:cNvPr id="5" name="Rectangle 4"/>
          <p:cNvSpPr/>
          <p:nvPr/>
        </p:nvSpPr>
        <p:spPr bwMode="auto">
          <a:xfrm>
            <a:off x="1256022" y="3590661"/>
            <a:ext cx="6390384" cy="514350"/>
          </a:xfrm>
          <a:prstGeom prst="rect">
            <a:avLst/>
          </a:prstGeom>
          <a:gradFill flip="none" rotWithShape="1">
            <a:gsLst>
              <a:gs pos="0">
                <a:srgbClr val="013C80"/>
              </a:gs>
              <a:gs pos="100000">
                <a:srgbClr val="12A9D9"/>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ea typeface="ヒラギノ角ゴ Pro W3" charset="-128"/>
              <a:cs typeface="ヒラギノ角ゴ Pro W3" charset="-128"/>
            </a:endParaRPr>
          </a:p>
        </p:txBody>
      </p:sp>
      <p:sp>
        <p:nvSpPr>
          <p:cNvPr id="7" name="Rectangle 6"/>
          <p:cNvSpPr/>
          <p:nvPr/>
        </p:nvSpPr>
        <p:spPr bwMode="auto">
          <a:xfrm>
            <a:off x="1271969" y="1669637"/>
            <a:ext cx="6390387" cy="514350"/>
          </a:xfrm>
          <a:prstGeom prst="rect">
            <a:avLst/>
          </a:prstGeom>
          <a:gradFill flip="none" rotWithShape="1">
            <a:gsLst>
              <a:gs pos="0">
                <a:srgbClr val="013C80"/>
              </a:gs>
              <a:gs pos="100000">
                <a:srgbClr val="12A9D9"/>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800">
              <a:ea typeface="ヒラギノ角ゴ Pro W3" charset="-128"/>
              <a:cs typeface="ヒラギノ角ゴ Pro W3" charset="-128"/>
            </a:endParaRPr>
          </a:p>
        </p:txBody>
      </p:sp>
      <p:sp>
        <p:nvSpPr>
          <p:cNvPr id="8" name="Rectangle 7"/>
          <p:cNvSpPr/>
          <p:nvPr/>
        </p:nvSpPr>
        <p:spPr bwMode="auto">
          <a:xfrm>
            <a:off x="1257331" y="2940451"/>
            <a:ext cx="6390386" cy="514350"/>
          </a:xfrm>
          <a:prstGeom prst="rect">
            <a:avLst/>
          </a:prstGeom>
          <a:gradFill flip="none" rotWithShape="1">
            <a:gsLst>
              <a:gs pos="0">
                <a:srgbClr val="013C80"/>
              </a:gs>
              <a:gs pos="100000">
                <a:srgbClr val="12A9D9"/>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ea typeface="ヒラギノ角ゴ Pro W3" charset="-128"/>
              <a:cs typeface="ヒラギノ角ゴ Pro W3" charset="-128"/>
            </a:endParaRPr>
          </a:p>
        </p:txBody>
      </p:sp>
      <p:sp>
        <p:nvSpPr>
          <p:cNvPr id="9" name="Rectangle 8"/>
          <p:cNvSpPr/>
          <p:nvPr/>
        </p:nvSpPr>
        <p:spPr bwMode="auto">
          <a:xfrm>
            <a:off x="1257336" y="2306653"/>
            <a:ext cx="6390386" cy="514350"/>
          </a:xfrm>
          <a:prstGeom prst="rect">
            <a:avLst/>
          </a:prstGeom>
          <a:gradFill flip="none" rotWithShape="1">
            <a:gsLst>
              <a:gs pos="0">
                <a:srgbClr val="013C80"/>
              </a:gs>
              <a:gs pos="100000">
                <a:srgbClr val="12A9D9"/>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ea typeface="ヒラギノ角ゴ Pro W3" charset="-128"/>
              <a:cs typeface="ヒラギノ角ゴ Pro W3" charset="-128"/>
            </a:endParaRPr>
          </a:p>
        </p:txBody>
      </p:sp>
      <p:sp>
        <p:nvSpPr>
          <p:cNvPr id="11" name="Rectangle 18"/>
          <p:cNvSpPr>
            <a:spLocks noChangeArrowheads="1"/>
          </p:cNvSpPr>
          <p:nvPr/>
        </p:nvSpPr>
        <p:spPr bwMode="auto">
          <a:xfrm>
            <a:off x="1583704" y="1771650"/>
            <a:ext cx="54821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r>
              <a:rPr lang="en-US" sz="1800" b="1" dirty="0">
                <a:solidFill>
                  <a:schemeClr val="bg1"/>
                </a:solidFill>
              </a:rPr>
              <a:t>Capabilities (para. 20(b))</a:t>
            </a:r>
          </a:p>
        </p:txBody>
      </p:sp>
      <p:sp>
        <p:nvSpPr>
          <p:cNvPr id="12" name="Rectangle 21"/>
          <p:cNvSpPr>
            <a:spLocks noChangeArrowheads="1"/>
          </p:cNvSpPr>
          <p:nvPr/>
        </p:nvSpPr>
        <p:spPr bwMode="auto">
          <a:xfrm>
            <a:off x="1583704" y="2383334"/>
            <a:ext cx="41006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r>
              <a:rPr lang="en-US" sz="1800" b="1" dirty="0">
                <a:solidFill>
                  <a:schemeClr val="bg1"/>
                </a:solidFill>
              </a:rPr>
              <a:t>Appropriate Authority (para. 20(b))</a:t>
            </a:r>
          </a:p>
        </p:txBody>
      </p:sp>
      <p:sp>
        <p:nvSpPr>
          <p:cNvPr id="13" name="Rectangle 23"/>
          <p:cNvSpPr>
            <a:spLocks noChangeArrowheads="1"/>
          </p:cNvSpPr>
          <p:nvPr/>
        </p:nvSpPr>
        <p:spPr bwMode="auto">
          <a:xfrm>
            <a:off x="1558994" y="3026691"/>
            <a:ext cx="6088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r>
              <a:rPr lang="en-US" sz="1800" b="1" dirty="0">
                <a:solidFill>
                  <a:schemeClr val="bg1"/>
                </a:solidFill>
              </a:rPr>
              <a:t>Objectivity (including “cooling-off period”) (para. 20(c))</a:t>
            </a:r>
          </a:p>
        </p:txBody>
      </p:sp>
      <p:sp>
        <p:nvSpPr>
          <p:cNvPr id="16" name="Title 2"/>
          <p:cNvSpPr txBox="1">
            <a:spLocks/>
          </p:cNvSpPr>
          <p:nvPr/>
        </p:nvSpPr>
        <p:spPr>
          <a:xfrm>
            <a:off x="457200" y="379492"/>
            <a:ext cx="7543800" cy="533400"/>
          </a:xfrm>
          <a:prstGeom prst="rect">
            <a:avLst/>
          </a:prstGeom>
        </p:spPr>
        <p:txBody>
          <a:bodyPr vert="horz" lIns="0" tIns="0" rIns="0" bIns="0" rtlCol="0" anchor="ctr">
            <a:noAutofit/>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endParaRPr lang="en-US" dirty="0"/>
          </a:p>
        </p:txBody>
      </p:sp>
      <p:sp>
        <p:nvSpPr>
          <p:cNvPr id="17" name="Slide Number Placeholder 5"/>
          <p:cNvSpPr txBox="1">
            <a:spLocks/>
          </p:cNvSpPr>
          <p:nvPr/>
        </p:nvSpPr>
        <p:spPr>
          <a:xfrm>
            <a:off x="6606012" y="6511060"/>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D6440843-683D-4D2B-AAE7-6B7EB815D702}" type="slidenum">
              <a:rPr lang="en-US" smtClean="0">
                <a:latin typeface="Arial" panose="020B0604020202020204" pitchFamily="34" charset="0"/>
                <a:cs typeface="Arial" panose="020B0604020202020204" pitchFamily="34" charset="0"/>
              </a:rPr>
              <a:t>25</a:t>
            </a:fld>
            <a:endParaRPr lang="en-US" dirty="0">
              <a:latin typeface="Arial" panose="020B0604020202020204" pitchFamily="34" charset="0"/>
              <a:cs typeface="Arial" panose="020B0604020202020204" pitchFamily="34" charset="0"/>
            </a:endParaRPr>
          </a:p>
        </p:txBody>
      </p:sp>
      <p:sp>
        <p:nvSpPr>
          <p:cNvPr id="18" name="Rectangle 17"/>
          <p:cNvSpPr/>
          <p:nvPr/>
        </p:nvSpPr>
        <p:spPr bwMode="auto">
          <a:xfrm>
            <a:off x="1256024" y="4214764"/>
            <a:ext cx="6390382" cy="514350"/>
          </a:xfrm>
          <a:prstGeom prst="rect">
            <a:avLst/>
          </a:prstGeom>
          <a:gradFill flip="none" rotWithShape="1">
            <a:gsLst>
              <a:gs pos="0">
                <a:srgbClr val="013C80"/>
              </a:gs>
              <a:gs pos="100000">
                <a:srgbClr val="12A9D9"/>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ea typeface="ヒラギノ角ゴ Pro W3" charset="-128"/>
              <a:cs typeface="ヒラギノ角ゴ Pro W3" charset="-128"/>
            </a:endParaRPr>
          </a:p>
        </p:txBody>
      </p:sp>
      <p:sp>
        <p:nvSpPr>
          <p:cNvPr id="19" name="TextBox 18"/>
          <p:cNvSpPr txBox="1"/>
          <p:nvPr/>
        </p:nvSpPr>
        <p:spPr>
          <a:xfrm>
            <a:off x="1558995" y="3682456"/>
            <a:ext cx="6103362" cy="646331"/>
          </a:xfrm>
          <a:prstGeom prst="rect">
            <a:avLst/>
          </a:prstGeom>
          <a:noFill/>
        </p:spPr>
        <p:txBody>
          <a:bodyPr wrap="square" rtlCol="0">
            <a:spAutoFit/>
          </a:bodyPr>
          <a:lstStyle/>
          <a:p>
            <a:r>
              <a:rPr lang="en-US" sz="1800" b="1" dirty="0">
                <a:solidFill>
                  <a:schemeClr val="bg1"/>
                </a:solidFill>
              </a:rPr>
              <a:t>Compliance with relevant ethical  requirements (para. 20(d)(</a:t>
            </a:r>
            <a:r>
              <a:rPr lang="en-US" sz="1800" b="1" dirty="0" err="1">
                <a:solidFill>
                  <a:schemeClr val="bg1"/>
                </a:solidFill>
              </a:rPr>
              <a:t>i</a:t>
            </a:r>
            <a:r>
              <a:rPr lang="en-US" sz="1800" b="1" dirty="0">
                <a:solidFill>
                  <a:schemeClr val="bg1"/>
                </a:solidFill>
              </a:rPr>
              <a:t>))</a:t>
            </a:r>
          </a:p>
          <a:p>
            <a:endParaRPr lang="en-US" sz="1800" b="1" dirty="0">
              <a:solidFill>
                <a:schemeClr val="bg1"/>
              </a:solidFill>
            </a:endParaRPr>
          </a:p>
        </p:txBody>
      </p:sp>
      <p:sp>
        <p:nvSpPr>
          <p:cNvPr id="21" name="Rectangle 20"/>
          <p:cNvSpPr/>
          <p:nvPr/>
        </p:nvSpPr>
        <p:spPr bwMode="auto">
          <a:xfrm>
            <a:off x="1271969" y="1027015"/>
            <a:ext cx="6390388" cy="514350"/>
          </a:xfrm>
          <a:prstGeom prst="rect">
            <a:avLst/>
          </a:prstGeom>
          <a:gradFill flip="none" rotWithShape="1">
            <a:gsLst>
              <a:gs pos="0">
                <a:srgbClr val="013C80"/>
              </a:gs>
              <a:gs pos="100000">
                <a:srgbClr val="12A9D9"/>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ea typeface="ヒラギノ角ゴ Pro W3" charset="-128"/>
              <a:cs typeface="ヒラギノ角ゴ Pro W3" charset="-128"/>
            </a:endParaRPr>
          </a:p>
        </p:txBody>
      </p:sp>
      <p:sp>
        <p:nvSpPr>
          <p:cNvPr id="23" name="TextBox 22"/>
          <p:cNvSpPr txBox="1"/>
          <p:nvPr/>
        </p:nvSpPr>
        <p:spPr>
          <a:xfrm>
            <a:off x="1569069" y="1084231"/>
            <a:ext cx="5816338" cy="369332"/>
          </a:xfrm>
          <a:prstGeom prst="rect">
            <a:avLst/>
          </a:prstGeom>
          <a:noFill/>
        </p:spPr>
        <p:txBody>
          <a:bodyPr wrap="square" rtlCol="0">
            <a:spAutoFit/>
          </a:bodyPr>
          <a:lstStyle/>
          <a:p>
            <a:r>
              <a:rPr lang="en-US" sz="1800" b="1" dirty="0">
                <a:solidFill>
                  <a:schemeClr val="bg1"/>
                </a:solidFill>
              </a:rPr>
              <a:t>Competence (para. 20(b))</a:t>
            </a:r>
          </a:p>
        </p:txBody>
      </p:sp>
      <p:sp>
        <p:nvSpPr>
          <p:cNvPr id="3" name="Slide Number Placeholder 2"/>
          <p:cNvSpPr>
            <a:spLocks noGrp="1"/>
          </p:cNvSpPr>
          <p:nvPr>
            <p:ph type="sldNum" sz="quarter" idx="12"/>
          </p:nvPr>
        </p:nvSpPr>
        <p:spPr>
          <a:xfrm>
            <a:off x="5928852" y="4872525"/>
            <a:ext cx="2757948" cy="228309"/>
          </a:xfrm>
        </p:spPr>
        <p:txBody>
          <a:bodyPr/>
          <a:lstStyle/>
          <a:p>
            <a:r>
              <a:rPr lang="en-US" dirty="0">
                <a:latin typeface="Arial" panose="020B0604020202020204" pitchFamily="34" charset="0"/>
                <a:cs typeface="MS PGothic" charset="0"/>
              </a:rPr>
              <a:t>	</a:t>
            </a:r>
          </a:p>
        </p:txBody>
      </p:sp>
      <p:sp>
        <p:nvSpPr>
          <p:cNvPr id="20" name="TextBox 19"/>
          <p:cNvSpPr txBox="1"/>
          <p:nvPr/>
        </p:nvSpPr>
        <p:spPr>
          <a:xfrm>
            <a:off x="1573627" y="4243617"/>
            <a:ext cx="6088729" cy="646331"/>
          </a:xfrm>
          <a:prstGeom prst="rect">
            <a:avLst/>
          </a:prstGeom>
          <a:noFill/>
        </p:spPr>
        <p:txBody>
          <a:bodyPr wrap="square" rtlCol="0">
            <a:spAutoFit/>
          </a:bodyPr>
          <a:lstStyle/>
          <a:p>
            <a:r>
              <a:rPr lang="en-US" sz="1800" b="1" dirty="0">
                <a:solidFill>
                  <a:schemeClr val="bg1"/>
                </a:solidFill>
              </a:rPr>
              <a:t>Compliance with relevant law or regulation (para. 20(d)(ii))</a:t>
            </a:r>
          </a:p>
          <a:p>
            <a:r>
              <a:rPr lang="en-US" sz="1800" b="1" dirty="0">
                <a:solidFill>
                  <a:schemeClr val="bg1"/>
                </a:solidFill>
              </a:rPr>
              <a:t> </a:t>
            </a:r>
          </a:p>
        </p:txBody>
      </p:sp>
    </p:spTree>
    <p:extLst>
      <p:ext uri="{BB962C8B-B14F-4D97-AF65-F5344CB8AC3E}">
        <p14:creationId xmlns:p14="http://schemas.microsoft.com/office/powerpoint/2010/main" val="48093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p:bldP spid="12" grpId="0"/>
      <p:bldP spid="13" grpId="0"/>
      <p:bldP spid="18" grpId="0" animBg="1"/>
      <p:bldP spid="19" grpId="0"/>
      <p:bldP spid="21" grpId="0" animBg="1"/>
      <p:bldP spid="23" grpId="0"/>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Eligibility Matters</a:t>
            </a:r>
          </a:p>
        </p:txBody>
      </p:sp>
      <p:sp>
        <p:nvSpPr>
          <p:cNvPr id="4" name="Content Placeholder 3"/>
          <p:cNvSpPr>
            <a:spLocks noGrp="1"/>
          </p:cNvSpPr>
          <p:nvPr>
            <p:ph idx="1"/>
          </p:nvPr>
        </p:nvSpPr>
        <p:spPr>
          <a:xfrm>
            <a:off x="381000" y="1200150"/>
            <a:ext cx="8037443" cy="3444908"/>
          </a:xfrm>
        </p:spPr>
        <p:txBody>
          <a:bodyPr/>
          <a:lstStyle/>
          <a:p>
            <a:pPr>
              <a:spcBef>
                <a:spcPts val="600"/>
              </a:spcBef>
            </a:pPr>
            <a:r>
              <a:rPr lang="en-US" sz="1800" dirty="0">
                <a:solidFill>
                  <a:schemeClr val="tx1">
                    <a:lumMod val="65000"/>
                    <a:lumOff val="35000"/>
                  </a:schemeClr>
                </a:solidFill>
              </a:rPr>
              <a:t>External party may serve as EQ reviewer, e.g. if no eligible person within firm (subject to eligibility requirements)</a:t>
            </a:r>
          </a:p>
          <a:p>
            <a:pPr>
              <a:spcBef>
                <a:spcPts val="600"/>
              </a:spcBef>
            </a:pPr>
            <a:r>
              <a:rPr lang="en-US" sz="1800" dirty="0">
                <a:solidFill>
                  <a:schemeClr val="tx1">
                    <a:lumMod val="65000"/>
                    <a:lumOff val="35000"/>
                  </a:schemeClr>
                </a:solidFill>
              </a:rPr>
              <a:t>EQ reviewer may use assistants </a:t>
            </a:r>
          </a:p>
          <a:p>
            <a:pPr>
              <a:spcBef>
                <a:spcPts val="600"/>
              </a:spcBef>
            </a:pPr>
            <a:r>
              <a:rPr lang="en-US" sz="1800" dirty="0">
                <a:solidFill>
                  <a:schemeClr val="tx1">
                    <a:lumMod val="65000"/>
                    <a:lumOff val="35000"/>
                  </a:schemeClr>
                </a:solidFill>
              </a:rPr>
              <a:t>Engagement team is required to cooperate with EQ reviewer under proposed ISA 220 (Revised)</a:t>
            </a:r>
          </a:p>
          <a:p>
            <a:pPr>
              <a:spcBef>
                <a:spcPts val="600"/>
              </a:spcBef>
            </a:pPr>
            <a:r>
              <a:rPr lang="en-US" sz="1800" dirty="0">
                <a:solidFill>
                  <a:schemeClr val="tx1">
                    <a:lumMod val="65000"/>
                    <a:lumOff val="35000"/>
                  </a:schemeClr>
                </a:solidFill>
              </a:rPr>
              <a:t>Examples provided of how SMPs apply the eligibility criteria </a:t>
            </a:r>
          </a:p>
          <a:p>
            <a:pPr lvl="1"/>
            <a:r>
              <a:rPr lang="en-US" sz="1600" dirty="0">
                <a:solidFill>
                  <a:schemeClr val="tx1">
                    <a:lumMod val="65000"/>
                    <a:lumOff val="35000"/>
                  </a:schemeClr>
                </a:solidFill>
              </a:rPr>
              <a:t>Proposed ISQC 2 (paras. A105A and A106 of proposed ISQC 1 (Revised))</a:t>
            </a:r>
          </a:p>
          <a:p>
            <a:pPr marL="0" indent="0">
              <a:buNone/>
            </a:pPr>
            <a:endParaRPr lang="en-US" dirty="0"/>
          </a:p>
          <a:p>
            <a:endParaRPr lang="en-US" dirty="0"/>
          </a:p>
        </p:txBody>
      </p:sp>
      <p:sp>
        <p:nvSpPr>
          <p:cNvPr id="3" name="Slide Number Placeholder 2"/>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800613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“Cooling-off” Period</a:t>
            </a:r>
          </a:p>
        </p:txBody>
      </p:sp>
      <p:sp>
        <p:nvSpPr>
          <p:cNvPr id="4" name="Content Placeholder 3"/>
          <p:cNvSpPr>
            <a:spLocks noGrp="1"/>
          </p:cNvSpPr>
          <p:nvPr>
            <p:ph idx="1"/>
          </p:nvPr>
        </p:nvSpPr>
        <p:spPr>
          <a:xfrm>
            <a:off x="457200" y="1051654"/>
            <a:ext cx="7200900" cy="3444908"/>
          </a:xfrm>
        </p:spPr>
        <p:txBody>
          <a:bodyPr/>
          <a:lstStyle/>
          <a:p>
            <a:r>
              <a:rPr lang="en-US" sz="1800" dirty="0">
                <a:solidFill>
                  <a:schemeClr val="tx1">
                    <a:lumMod val="65000"/>
                    <a:lumOff val="35000"/>
                  </a:schemeClr>
                </a:solidFill>
              </a:rPr>
              <a:t>Objectivity is one of the eligibility criteria for the EQ reviewer </a:t>
            </a:r>
          </a:p>
          <a:p>
            <a:r>
              <a:rPr lang="en-US" sz="1800" dirty="0">
                <a:solidFill>
                  <a:schemeClr val="tx1">
                    <a:lumMod val="65000"/>
                    <a:lumOff val="35000"/>
                  </a:schemeClr>
                </a:solidFill>
              </a:rPr>
              <a:t>Individuals who recently served as engagement partner on an engagement may face threats to their objectivity as an EQ reviewer</a:t>
            </a:r>
          </a:p>
          <a:p>
            <a:r>
              <a:rPr lang="en-US" sz="1800" dirty="0">
                <a:solidFill>
                  <a:schemeClr val="tx1">
                    <a:lumMod val="65000"/>
                    <a:lumOff val="35000"/>
                  </a:schemeClr>
                </a:solidFill>
              </a:rPr>
              <a:t>The material in paragraphs 20(c) of proposed ISQC 2 and 43(e)(ii)(b) of proposed ISQC 1 (Revised) reflects the JWG’s initial thinking on this issue</a:t>
            </a:r>
          </a:p>
          <a:p>
            <a:pPr marL="0" indent="0">
              <a:buNone/>
            </a:pPr>
            <a:endParaRPr lang="en-US" dirty="0"/>
          </a:p>
          <a:p>
            <a:endParaRPr lang="en-US" dirty="0"/>
          </a:p>
        </p:txBody>
      </p:sp>
      <p:sp>
        <p:nvSpPr>
          <p:cNvPr id="3" name="Slide Number Placeholder 2"/>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678844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 </a:t>
            </a:r>
          </a:p>
        </p:txBody>
      </p:sp>
      <p:sp>
        <p:nvSpPr>
          <p:cNvPr id="3" name="Content Placeholder 2"/>
          <p:cNvSpPr>
            <a:spLocks noGrp="1"/>
          </p:cNvSpPr>
          <p:nvPr>
            <p:ph idx="1"/>
          </p:nvPr>
        </p:nvSpPr>
        <p:spPr>
          <a:xfrm>
            <a:off x="457200" y="1200151"/>
            <a:ext cx="8229600" cy="2348267"/>
          </a:xfrm>
        </p:spPr>
        <p:style>
          <a:lnRef idx="2">
            <a:schemeClr val="dk1"/>
          </a:lnRef>
          <a:fillRef idx="1">
            <a:schemeClr val="lt1"/>
          </a:fillRef>
          <a:effectRef idx="0">
            <a:schemeClr val="dk1"/>
          </a:effectRef>
          <a:fontRef idx="minor">
            <a:schemeClr val="dk1"/>
          </a:fontRef>
        </p:style>
        <p:txBody>
          <a:bodyPr/>
          <a:lstStyle/>
          <a:p>
            <a:pPr marL="0" indent="0">
              <a:lnSpc>
                <a:spcPts val="2100"/>
              </a:lnSpc>
              <a:spcBef>
                <a:spcPts val="600"/>
              </a:spcBef>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5: </a:t>
            </a:r>
            <a:r>
              <a:rPr lang="en-US" sz="1800" dirty="0">
                <a:solidFill>
                  <a:schemeClr val="tx1">
                    <a:lumMod val="65000"/>
                    <a:lumOff val="35000"/>
                  </a:schemeClr>
                </a:solidFill>
                <a:latin typeface="Arial" panose="020B0604020202020204" pitchFamily="34" charset="0"/>
                <a:cs typeface="Arial" panose="020B0604020202020204" pitchFamily="34" charset="0"/>
              </a:rPr>
              <a:t>(Para. 20-22, A6-A23), JWG paper</a:t>
            </a:r>
            <a:endParaRPr lang="en-US" sz="1800" b="1" dirty="0">
              <a:solidFill>
                <a:schemeClr val="tx1">
                  <a:lumMod val="65000"/>
                  <a:lumOff val="35000"/>
                </a:schemeClr>
              </a:solidFill>
              <a:latin typeface="Arial" panose="020B0604020202020204" pitchFamily="34" charset="0"/>
              <a:cs typeface="Arial" panose="020B0604020202020204" pitchFamily="34" charset="0"/>
            </a:endParaRPr>
          </a:p>
          <a:p>
            <a:pPr marL="0" indent="0">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The IAASB is asked for its views on the eligibility criteria for EQ reviewers and for individuals who assist the EQ reviewer.</a:t>
            </a:r>
          </a:p>
          <a:p>
            <a:pPr marL="0" indent="0">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	-	The IAASB is also asked to share its views in relation to the current 				thinking captured in the Supplement to Agenda Item 6 – the proposal 			of the EQ Joint Working Group</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6563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81000" y="426533"/>
            <a:ext cx="6762750" cy="400050"/>
          </a:xfrm>
        </p:spPr>
        <p:txBody>
          <a:bodyPr/>
          <a:lstStyle/>
          <a:p>
            <a:r>
              <a:rPr lang="en-US" dirty="0"/>
              <a:t>Performance of an EQ Review </a:t>
            </a:r>
          </a:p>
        </p:txBody>
      </p:sp>
      <p:sp>
        <p:nvSpPr>
          <p:cNvPr id="8" name="TextBox 7"/>
          <p:cNvSpPr txBox="1"/>
          <p:nvPr/>
        </p:nvSpPr>
        <p:spPr>
          <a:xfrm>
            <a:off x="899984" y="2651644"/>
            <a:ext cx="1367405"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Less specific</a:t>
            </a:r>
          </a:p>
        </p:txBody>
      </p:sp>
      <p:sp>
        <p:nvSpPr>
          <p:cNvPr id="9" name="TextBox 8"/>
          <p:cNvSpPr txBox="1"/>
          <p:nvPr/>
        </p:nvSpPr>
        <p:spPr>
          <a:xfrm>
            <a:off x="7162383" y="2256661"/>
            <a:ext cx="1037040"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More specific</a:t>
            </a:r>
          </a:p>
        </p:txBody>
      </p:sp>
      <p:sp>
        <p:nvSpPr>
          <p:cNvPr id="10" name="Down Arrow 9"/>
          <p:cNvSpPr/>
          <p:nvPr/>
        </p:nvSpPr>
        <p:spPr>
          <a:xfrm>
            <a:off x="4068662" y="2522932"/>
            <a:ext cx="302003" cy="486561"/>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1" name="Down Arrow 10"/>
          <p:cNvSpPr/>
          <p:nvPr/>
        </p:nvSpPr>
        <p:spPr>
          <a:xfrm>
            <a:off x="5889073" y="2522932"/>
            <a:ext cx="302003" cy="486561"/>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TextBox 11"/>
          <p:cNvSpPr txBox="1"/>
          <p:nvPr/>
        </p:nvSpPr>
        <p:spPr>
          <a:xfrm>
            <a:off x="3463473" y="1940865"/>
            <a:ext cx="1512379"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Extant Requirements</a:t>
            </a:r>
          </a:p>
        </p:txBody>
      </p:sp>
      <p:sp>
        <p:nvSpPr>
          <p:cNvPr id="13" name="TextBox 12"/>
          <p:cNvSpPr txBox="1"/>
          <p:nvPr/>
        </p:nvSpPr>
        <p:spPr>
          <a:xfrm>
            <a:off x="5257042" y="1940865"/>
            <a:ext cx="1548445"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Proposed Requirements</a:t>
            </a:r>
          </a:p>
        </p:txBody>
      </p:sp>
      <p:sp>
        <p:nvSpPr>
          <p:cNvPr id="2" name="TextBox 1">
            <a:extLst>
              <a:ext uri="{FF2B5EF4-FFF2-40B4-BE49-F238E27FC236}">
                <a16:creationId xmlns:a16="http://schemas.microsoft.com/office/drawing/2014/main" id="{B46890F5-1C53-4542-BA20-3DDA4B900961}"/>
              </a:ext>
            </a:extLst>
          </p:cNvPr>
          <p:cNvSpPr txBox="1"/>
          <p:nvPr/>
        </p:nvSpPr>
        <p:spPr>
          <a:xfrm>
            <a:off x="6947962" y="864931"/>
            <a:ext cx="1251460"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Redo all the work of the EP</a:t>
            </a:r>
            <a:endParaRPr lang="en-ZA" sz="1600" dirty="0">
              <a:latin typeface="Arial" panose="020B0604020202020204" pitchFamily="34" charset="0"/>
              <a:cs typeface="Arial" panose="020B0604020202020204" pitchFamily="34" charset="0"/>
            </a:endParaRPr>
          </a:p>
        </p:txBody>
      </p:sp>
      <p:sp>
        <p:nvSpPr>
          <p:cNvPr id="14" name="Down Arrow 9">
            <a:extLst>
              <a:ext uri="{FF2B5EF4-FFF2-40B4-BE49-F238E27FC236}">
                <a16:creationId xmlns:a16="http://schemas.microsoft.com/office/drawing/2014/main" id="{07C1522E-F8E0-40AF-88DF-4B22E3AAE6A4}"/>
              </a:ext>
            </a:extLst>
          </p:cNvPr>
          <p:cNvSpPr/>
          <p:nvPr/>
        </p:nvSpPr>
        <p:spPr>
          <a:xfrm>
            <a:off x="7495406" y="1694726"/>
            <a:ext cx="302003" cy="486561"/>
          </a:xfrm>
          <a:prstGeom prst="downArrow">
            <a:avLst/>
          </a:prstGeom>
          <a:solidFill>
            <a:srgbClr val="FFFF00"/>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29</a:t>
            </a:fld>
            <a:endParaRPr lang="en-US"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697C2DF-8288-40A2-A3AA-C9E1A9CCD083}"/>
              </a:ext>
            </a:extLst>
          </p:cNvPr>
          <p:cNvSpPr txBox="1"/>
          <p:nvPr/>
        </p:nvSpPr>
        <p:spPr>
          <a:xfrm>
            <a:off x="899983" y="3938757"/>
            <a:ext cx="1367405"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Less work</a:t>
            </a:r>
          </a:p>
        </p:txBody>
      </p:sp>
      <p:sp>
        <p:nvSpPr>
          <p:cNvPr id="16" name="TextBox 15">
            <a:extLst>
              <a:ext uri="{FF2B5EF4-FFF2-40B4-BE49-F238E27FC236}">
                <a16:creationId xmlns:a16="http://schemas.microsoft.com/office/drawing/2014/main" id="{3E233741-8C47-42A3-AB24-87818C8C589B}"/>
              </a:ext>
            </a:extLst>
          </p:cNvPr>
          <p:cNvSpPr txBox="1"/>
          <p:nvPr/>
        </p:nvSpPr>
        <p:spPr>
          <a:xfrm>
            <a:off x="7080839" y="4199737"/>
            <a:ext cx="985706"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More work</a:t>
            </a:r>
          </a:p>
        </p:txBody>
      </p:sp>
      <p:sp>
        <p:nvSpPr>
          <p:cNvPr id="18" name="Flowchart: Extract 17">
            <a:extLst>
              <a:ext uri="{FF2B5EF4-FFF2-40B4-BE49-F238E27FC236}">
                <a16:creationId xmlns:a16="http://schemas.microsoft.com/office/drawing/2014/main" id="{97A83BA4-A797-4F6F-BA3E-563483C592F7}"/>
              </a:ext>
            </a:extLst>
          </p:cNvPr>
          <p:cNvSpPr/>
          <p:nvPr/>
        </p:nvSpPr>
        <p:spPr>
          <a:xfrm rot="16200000">
            <a:off x="3890399" y="219592"/>
            <a:ext cx="1058790" cy="6453227"/>
          </a:xfrm>
          <a:prstGeom prst="flowChartExtra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9556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of an EQ Review</a:t>
            </a:r>
          </a:p>
        </p:txBody>
      </p:sp>
      <p:sp>
        <p:nvSpPr>
          <p:cNvPr id="4" name="Content Placeholder 3"/>
          <p:cNvSpPr>
            <a:spLocks noGrp="1"/>
          </p:cNvSpPr>
          <p:nvPr>
            <p:ph idx="1"/>
          </p:nvPr>
        </p:nvSpPr>
        <p:spPr>
          <a:xfrm>
            <a:off x="457199" y="831312"/>
            <a:ext cx="8598023" cy="4312188"/>
          </a:xfrm>
          <a:solidFill>
            <a:schemeClr val="bg1"/>
          </a:solidFill>
        </p:spPr>
        <p:txBody>
          <a:bodyPr/>
          <a:lstStyle/>
          <a:p>
            <a:pPr>
              <a:lnSpc>
                <a:spcPts val="2100"/>
              </a:lnSpc>
              <a:spcBef>
                <a:spcPts val="600"/>
              </a:spcBef>
            </a:pPr>
            <a:r>
              <a:rPr lang="en-US" sz="1800" dirty="0">
                <a:solidFill>
                  <a:schemeClr val="tx1">
                    <a:lumMod val="65000"/>
                    <a:lumOff val="35000"/>
                  </a:schemeClr>
                </a:solidFill>
              </a:rPr>
              <a:t>EQ review: (Para 23)</a:t>
            </a:r>
          </a:p>
          <a:p>
            <a:pPr lvl="1">
              <a:lnSpc>
                <a:spcPts val="2100"/>
              </a:lnSpc>
              <a:spcBef>
                <a:spcPts val="600"/>
              </a:spcBef>
              <a:spcAft>
                <a:spcPts val="0"/>
              </a:spcAft>
            </a:pPr>
            <a:r>
              <a:rPr lang="en-US" sz="1600" dirty="0">
                <a:solidFill>
                  <a:schemeClr val="tx1">
                    <a:lumMod val="65000"/>
                    <a:lumOff val="35000"/>
                  </a:schemeClr>
                </a:solidFill>
              </a:rPr>
              <a:t>Procedures are to provide an appropriate basis for an objective evaluation of the significant judgments made by the engagement team and the conclusions reached</a:t>
            </a:r>
          </a:p>
          <a:p>
            <a:pPr>
              <a:lnSpc>
                <a:spcPts val="2100"/>
              </a:lnSpc>
              <a:spcBef>
                <a:spcPts val="600"/>
              </a:spcBef>
            </a:pPr>
            <a:r>
              <a:rPr lang="en-US" sz="1800" dirty="0">
                <a:solidFill>
                  <a:schemeClr val="tx1">
                    <a:lumMod val="65000"/>
                    <a:lumOff val="35000"/>
                  </a:schemeClr>
                </a:solidFill>
              </a:rPr>
              <a:t>Required procedures: (Para 24)</a:t>
            </a:r>
          </a:p>
          <a:p>
            <a:pPr lvl="1">
              <a:lnSpc>
                <a:spcPts val="2100"/>
              </a:lnSpc>
              <a:spcBef>
                <a:spcPts val="600"/>
              </a:spcBef>
              <a:spcAft>
                <a:spcPts val="0"/>
              </a:spcAft>
            </a:pPr>
            <a:r>
              <a:rPr lang="en-US" sz="1600" dirty="0">
                <a:solidFill>
                  <a:schemeClr val="tx1">
                    <a:lumMod val="65000"/>
                    <a:lumOff val="35000"/>
                  </a:schemeClr>
                </a:solidFill>
              </a:rPr>
              <a:t>Reading and understanding relevant information</a:t>
            </a:r>
          </a:p>
          <a:p>
            <a:pPr lvl="1">
              <a:lnSpc>
                <a:spcPts val="2100"/>
              </a:lnSpc>
              <a:spcBef>
                <a:spcPts val="600"/>
              </a:spcBef>
              <a:spcAft>
                <a:spcPts val="0"/>
              </a:spcAft>
            </a:pPr>
            <a:r>
              <a:rPr lang="en-US" sz="1600" dirty="0">
                <a:solidFill>
                  <a:schemeClr val="tx1">
                    <a:lumMod val="65000"/>
                    <a:lumOff val="35000"/>
                  </a:schemeClr>
                </a:solidFill>
              </a:rPr>
              <a:t>Discussing significant matters with the engagement partner/team</a:t>
            </a:r>
          </a:p>
          <a:p>
            <a:pPr lvl="1">
              <a:lnSpc>
                <a:spcPts val="2100"/>
              </a:lnSpc>
              <a:spcBef>
                <a:spcPts val="600"/>
              </a:spcBef>
              <a:spcAft>
                <a:spcPts val="0"/>
              </a:spcAft>
            </a:pPr>
            <a:r>
              <a:rPr lang="en-US" sz="1600" dirty="0">
                <a:solidFill>
                  <a:schemeClr val="tx1">
                    <a:lumMod val="65000"/>
                    <a:lumOff val="35000"/>
                  </a:schemeClr>
                </a:solidFill>
              </a:rPr>
              <a:t>Identifying significant judgments made</a:t>
            </a:r>
          </a:p>
          <a:p>
            <a:pPr lvl="1">
              <a:lnSpc>
                <a:spcPts val="2100"/>
              </a:lnSpc>
              <a:spcBef>
                <a:spcPts val="600"/>
              </a:spcBef>
              <a:spcAft>
                <a:spcPts val="0"/>
              </a:spcAft>
            </a:pPr>
            <a:r>
              <a:rPr lang="en-US" sz="1600" dirty="0">
                <a:solidFill>
                  <a:schemeClr val="tx1">
                    <a:lumMod val="65000"/>
                    <a:lumOff val="35000"/>
                  </a:schemeClr>
                </a:solidFill>
              </a:rPr>
              <a:t>Reviewing selected documentation of the significant judgments made, including significant judgments made in relation to significant matters</a:t>
            </a:r>
          </a:p>
          <a:p>
            <a:pPr lvl="1">
              <a:lnSpc>
                <a:spcPts val="2100"/>
              </a:lnSpc>
              <a:spcBef>
                <a:spcPts val="600"/>
              </a:spcBef>
              <a:spcAft>
                <a:spcPts val="0"/>
              </a:spcAft>
            </a:pPr>
            <a:r>
              <a:rPr lang="en-US" sz="1600" dirty="0">
                <a:solidFill>
                  <a:schemeClr val="tx1">
                    <a:lumMod val="65000"/>
                    <a:lumOff val="35000"/>
                  </a:schemeClr>
                </a:solidFill>
              </a:rPr>
              <a:t>For audits of financial statements: reviewing whether the EP has taken overall responsibility for managing and achieving quality on the audit</a:t>
            </a:r>
          </a:p>
          <a:p>
            <a:pPr lvl="1">
              <a:lnSpc>
                <a:spcPts val="2100"/>
              </a:lnSpc>
              <a:spcBef>
                <a:spcPts val="600"/>
              </a:spcBef>
              <a:spcAft>
                <a:spcPts val="0"/>
              </a:spcAft>
            </a:pPr>
            <a:r>
              <a:rPr lang="en-US" sz="1600" dirty="0">
                <a:solidFill>
                  <a:schemeClr val="tx1">
                    <a:lumMod val="65000"/>
                    <a:lumOff val="35000"/>
                  </a:schemeClr>
                </a:solidFill>
              </a:rPr>
              <a:t>Reviewing the draft engagement report</a:t>
            </a:r>
          </a:p>
          <a:p>
            <a:pPr lvl="1">
              <a:lnSpc>
                <a:spcPts val="2100"/>
              </a:lnSpc>
              <a:spcBef>
                <a:spcPts val="600"/>
              </a:spcBef>
              <a:spcAft>
                <a:spcPts val="0"/>
              </a:spcAft>
            </a:pPr>
            <a:r>
              <a:rPr lang="en-US" sz="1600" dirty="0">
                <a:solidFill>
                  <a:schemeClr val="tx1">
                    <a:lumMod val="65000"/>
                    <a:lumOff val="35000"/>
                  </a:schemeClr>
                </a:solidFill>
              </a:rPr>
              <a:t>Evaluating whether objective is fulfilled or whether there are any unresolved matters</a:t>
            </a:r>
          </a:p>
        </p:txBody>
      </p:sp>
      <p:sp>
        <p:nvSpPr>
          <p:cNvPr id="3" name="Slide Number Placeholder 2"/>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887495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Significant Judgments</a:t>
            </a:r>
          </a:p>
        </p:txBody>
      </p:sp>
      <p:sp>
        <p:nvSpPr>
          <p:cNvPr id="3" name="Content Placeholder 2"/>
          <p:cNvSpPr>
            <a:spLocks noGrp="1"/>
          </p:cNvSpPr>
          <p:nvPr>
            <p:ph idx="1"/>
          </p:nvPr>
        </p:nvSpPr>
        <p:spPr/>
        <p:txBody>
          <a:bodyPr/>
          <a:lstStyle/>
          <a:p>
            <a:pPr>
              <a:lnSpc>
                <a:spcPts val="2100"/>
              </a:lnSpc>
              <a:spcBef>
                <a:spcPts val="600"/>
              </a:spcBef>
            </a:pPr>
            <a:r>
              <a:rPr lang="en-US" sz="1800" dirty="0">
                <a:solidFill>
                  <a:schemeClr val="tx1">
                    <a:lumMod val="65000"/>
                    <a:lumOff val="35000"/>
                  </a:schemeClr>
                </a:solidFill>
              </a:rPr>
              <a:t>The Task Force has not reached a consensus on whether the EQ reviewer’s review of selected documentation of significant judgments should be over all significant judgements or a subset thereof </a:t>
            </a:r>
          </a:p>
          <a:p>
            <a:pPr lvl="1">
              <a:lnSpc>
                <a:spcPts val="2100"/>
              </a:lnSpc>
              <a:spcBef>
                <a:spcPts val="600"/>
              </a:spcBef>
            </a:pPr>
            <a:r>
              <a:rPr lang="en-US" sz="1650" dirty="0">
                <a:solidFill>
                  <a:schemeClr val="tx1">
                    <a:lumMod val="65000"/>
                    <a:lumOff val="35000"/>
                  </a:schemeClr>
                </a:solidFill>
              </a:rPr>
              <a:t>Some support retaining the extant ISA 220 requirement for the EQ reviewer to “perform an objective evaluation of the significant judgments made by the engagement team”</a:t>
            </a:r>
          </a:p>
          <a:p>
            <a:pPr lvl="1">
              <a:lnSpc>
                <a:spcPts val="2100"/>
              </a:lnSpc>
              <a:spcBef>
                <a:spcPts val="600"/>
              </a:spcBef>
            </a:pPr>
            <a:r>
              <a:rPr lang="en-US" sz="1650" dirty="0">
                <a:solidFill>
                  <a:schemeClr val="tx1">
                    <a:lumMod val="65000"/>
                    <a:lumOff val="35000"/>
                  </a:schemeClr>
                </a:solidFill>
              </a:rPr>
              <a:t>Another view is that the EQ review should be over a subset of significant judgments (i.e., those made in relation to significant matters)</a:t>
            </a:r>
          </a:p>
          <a:p>
            <a:pPr>
              <a:lnSpc>
                <a:spcPts val="2100"/>
              </a:lnSpc>
              <a:spcBef>
                <a:spcPts val="600"/>
              </a:spcBef>
            </a:pPr>
            <a:endParaRPr lang="en-US" sz="180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7195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 </a:t>
            </a:r>
          </a:p>
        </p:txBody>
      </p:sp>
      <p:sp>
        <p:nvSpPr>
          <p:cNvPr id="3" name="Content Placeholder 2"/>
          <p:cNvSpPr>
            <a:spLocks noGrp="1"/>
          </p:cNvSpPr>
          <p:nvPr>
            <p:ph idx="1"/>
          </p:nvPr>
        </p:nvSpPr>
        <p:spPr>
          <a:xfrm>
            <a:off x="457200" y="1200152"/>
            <a:ext cx="8229600" cy="2280028"/>
          </a:xfrm>
        </p:spPr>
        <p:style>
          <a:lnRef idx="2">
            <a:schemeClr val="dk1"/>
          </a:lnRef>
          <a:fillRef idx="1">
            <a:schemeClr val="lt1"/>
          </a:fillRef>
          <a:effectRef idx="0">
            <a:schemeClr val="dk1"/>
          </a:effectRef>
          <a:fontRef idx="minor">
            <a:schemeClr val="dk1"/>
          </a:fontRef>
        </p:style>
        <p:txBody>
          <a:bodyPr/>
          <a:lstStyle/>
          <a:p>
            <a:pPr marL="0" indent="0">
              <a:lnSpc>
                <a:spcPts val="2100"/>
              </a:lnSpc>
              <a:spcBef>
                <a:spcPts val="600"/>
              </a:spcBef>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6: </a:t>
            </a:r>
            <a:r>
              <a:rPr lang="en-US" sz="1800" dirty="0">
                <a:solidFill>
                  <a:schemeClr val="tx1">
                    <a:lumMod val="65000"/>
                    <a:lumOff val="35000"/>
                  </a:schemeClr>
                </a:solidFill>
                <a:latin typeface="Arial" panose="020B0604020202020204" pitchFamily="34" charset="0"/>
                <a:cs typeface="Arial" panose="020B0604020202020204" pitchFamily="34" charset="0"/>
              </a:rPr>
              <a:t>(Paragraphs 23-25, and A24-A30)</a:t>
            </a:r>
            <a:endParaRPr lang="en-US" sz="1800" b="1" dirty="0">
              <a:solidFill>
                <a:schemeClr val="tx1">
                  <a:lumMod val="65000"/>
                  <a:lumOff val="35000"/>
                </a:schemeClr>
              </a:solidFill>
              <a:latin typeface="Arial" panose="020B0604020202020204" pitchFamily="34" charset="0"/>
              <a:cs typeface="Arial" panose="020B0604020202020204" pitchFamily="34" charset="0"/>
            </a:endParaRPr>
          </a:p>
          <a:p>
            <a:pPr marL="0" indent="0">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IAASB views are sought on whether paragraphs 23-25 of proposed ISQC 2 provide sufficient clarity on the EQ reviewer’s responsibilities. Input is also sought on whether focusing the EQ review on significant judgements made by the engagement team is appropriate, or whether more explanation is needed about the relationship between significant judgements and significant matters.</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7466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Consultation between the Engagement Team and the EQ Reviewer</a:t>
            </a:r>
          </a:p>
        </p:txBody>
      </p:sp>
      <p:sp>
        <p:nvSpPr>
          <p:cNvPr id="3" name="Content Placeholder 2"/>
          <p:cNvSpPr>
            <a:spLocks noGrp="1"/>
          </p:cNvSpPr>
          <p:nvPr>
            <p:ph idx="1"/>
          </p:nvPr>
        </p:nvSpPr>
        <p:spPr/>
        <p:txBody>
          <a:bodyPr/>
          <a:lstStyle/>
          <a:p>
            <a:pPr>
              <a:lnSpc>
                <a:spcPts val="2100"/>
              </a:lnSpc>
              <a:spcBef>
                <a:spcPts val="600"/>
              </a:spcBef>
            </a:pPr>
            <a:r>
              <a:rPr lang="en-US" sz="1800" dirty="0">
                <a:solidFill>
                  <a:schemeClr val="tx1">
                    <a:lumMod val="65000"/>
                    <a:lumOff val="35000"/>
                  </a:schemeClr>
                </a:solidFill>
              </a:rPr>
              <a:t>The Task Force was asked at the September 2017 IAASB meeting to reconsider how the standard addresses engagement team consultation with the EQ reviewer</a:t>
            </a:r>
          </a:p>
          <a:p>
            <a:pPr>
              <a:lnSpc>
                <a:spcPts val="2100"/>
              </a:lnSpc>
              <a:spcBef>
                <a:spcPts val="600"/>
              </a:spcBef>
            </a:pPr>
            <a:r>
              <a:rPr lang="en-US" sz="1800" dirty="0">
                <a:solidFill>
                  <a:schemeClr val="tx1">
                    <a:lumMod val="65000"/>
                    <a:lumOff val="35000"/>
                  </a:schemeClr>
                </a:solidFill>
              </a:rPr>
              <a:t>A potential threat to the EQ reviewer’s objectivity may arise</a:t>
            </a:r>
          </a:p>
          <a:p>
            <a:pPr>
              <a:lnSpc>
                <a:spcPts val="2100"/>
              </a:lnSpc>
              <a:spcBef>
                <a:spcPts val="600"/>
              </a:spcBef>
            </a:pPr>
            <a:r>
              <a:rPr lang="en-US" sz="1800" dirty="0">
                <a:solidFill>
                  <a:schemeClr val="tx1">
                    <a:lumMod val="65000"/>
                    <a:lumOff val="35000"/>
                  </a:schemeClr>
                </a:solidFill>
              </a:rPr>
              <a:t>Distinction between need to encourage open discussions between the engagement team and the EQ reviewer and formal “consultations” that the engagement team may be required to make</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4276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 </a:t>
            </a:r>
          </a:p>
        </p:txBody>
      </p:sp>
      <p:sp>
        <p:nvSpPr>
          <p:cNvPr id="3" name="Content Placeholder 2"/>
          <p:cNvSpPr>
            <a:spLocks noGrp="1"/>
          </p:cNvSpPr>
          <p:nvPr>
            <p:ph idx="1"/>
          </p:nvPr>
        </p:nvSpPr>
        <p:spPr>
          <a:xfrm>
            <a:off x="457200" y="1200152"/>
            <a:ext cx="8229600" cy="1256446"/>
          </a:xfrm>
        </p:spPr>
        <p:style>
          <a:lnRef idx="2">
            <a:schemeClr val="dk1"/>
          </a:lnRef>
          <a:fillRef idx="1">
            <a:schemeClr val="lt1"/>
          </a:fillRef>
          <a:effectRef idx="0">
            <a:schemeClr val="dk1"/>
          </a:effectRef>
          <a:fontRef idx="minor">
            <a:schemeClr val="dk1"/>
          </a:fontRef>
        </p:style>
        <p:txBody>
          <a:bodyPr/>
          <a:lstStyle/>
          <a:p>
            <a:pPr marL="346075" indent="-346075">
              <a:lnSpc>
                <a:spcPts val="2100"/>
              </a:lnSpc>
              <a:spcBef>
                <a:spcPts val="600"/>
              </a:spcBef>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7: </a:t>
            </a:r>
            <a:r>
              <a:rPr lang="en-US" sz="1800" dirty="0">
                <a:solidFill>
                  <a:schemeClr val="tx1">
                    <a:lumMod val="65000"/>
                    <a:lumOff val="35000"/>
                  </a:schemeClr>
                </a:solidFill>
                <a:latin typeface="Arial" panose="020B0604020202020204" pitchFamily="34" charset="0"/>
                <a:cs typeface="Arial" panose="020B0604020202020204" pitchFamily="34" charset="0"/>
              </a:rPr>
              <a:t>(Paragraph 43(e)(v) and A109 of ISQC1, A17 of ISQC2)</a:t>
            </a:r>
          </a:p>
          <a:p>
            <a:pPr marL="346075" indent="-346075">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	Does the IAASB agree with how the Task Force has dealt with the risk of  consultations impairing the objectivity of the EQ reviewer?</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9046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EQ Reviewer’s Overall Conclusion</a:t>
            </a:r>
          </a:p>
        </p:txBody>
      </p:sp>
      <p:sp>
        <p:nvSpPr>
          <p:cNvPr id="3" name="Content Placeholder 2"/>
          <p:cNvSpPr>
            <a:spLocks noGrp="1"/>
          </p:cNvSpPr>
          <p:nvPr>
            <p:ph idx="1"/>
          </p:nvPr>
        </p:nvSpPr>
        <p:spPr/>
        <p:txBody>
          <a:bodyPr/>
          <a:lstStyle/>
          <a:p>
            <a:pPr>
              <a:lnSpc>
                <a:spcPts val="2100"/>
              </a:lnSpc>
              <a:spcBef>
                <a:spcPts val="600"/>
              </a:spcBef>
            </a:pPr>
            <a:r>
              <a:rPr lang="en-US" sz="1800" dirty="0">
                <a:solidFill>
                  <a:schemeClr val="tx1">
                    <a:lumMod val="65000"/>
                    <a:lumOff val="35000"/>
                  </a:schemeClr>
                </a:solidFill>
              </a:rPr>
              <a:t>The Task Force was asked at the September 2017 IAASB meeting to:</a:t>
            </a:r>
          </a:p>
          <a:p>
            <a:pPr lvl="1">
              <a:lnSpc>
                <a:spcPts val="2100"/>
              </a:lnSpc>
              <a:spcBef>
                <a:spcPts val="600"/>
              </a:spcBef>
            </a:pPr>
            <a:r>
              <a:rPr lang="en-US" sz="1650" dirty="0">
                <a:solidFill>
                  <a:schemeClr val="tx1">
                    <a:lumMod val="65000"/>
                    <a:lumOff val="35000"/>
                  </a:schemeClr>
                </a:solidFill>
              </a:rPr>
              <a:t>Strengthen the requirement that the EQ reviewer evaluate the sufficiency and appropriateness of the procedures </a:t>
            </a:r>
          </a:p>
          <a:p>
            <a:pPr lvl="1">
              <a:lnSpc>
                <a:spcPts val="2100"/>
              </a:lnSpc>
              <a:spcBef>
                <a:spcPts val="600"/>
              </a:spcBef>
            </a:pPr>
            <a:r>
              <a:rPr lang="en-US" sz="1650" dirty="0">
                <a:solidFill>
                  <a:schemeClr val="tx1">
                    <a:lumMod val="65000"/>
                    <a:lumOff val="35000"/>
                  </a:schemeClr>
                </a:solidFill>
              </a:rPr>
              <a:t>Require the EQ reviewer to conclude overall (similar to PCAOB standard, AS 1220)</a:t>
            </a:r>
          </a:p>
          <a:p>
            <a:pPr marL="129779" lvl="1" indent="-129779">
              <a:lnSpc>
                <a:spcPts val="2100"/>
              </a:lnSpc>
              <a:spcBef>
                <a:spcPts val="600"/>
              </a:spcBef>
              <a:buFont typeface="Arial"/>
              <a:buChar char="•"/>
            </a:pPr>
            <a:r>
              <a:rPr lang="en-US" sz="1800" dirty="0">
                <a:solidFill>
                  <a:schemeClr val="tx1">
                    <a:lumMod val="65000"/>
                    <a:lumOff val="35000"/>
                  </a:schemeClr>
                </a:solidFill>
              </a:rPr>
              <a:t>The Task Force added a requirement (see paragraph 25(a) of proposed ISQC 2) that:</a:t>
            </a:r>
          </a:p>
          <a:p>
            <a:pPr lvl="1">
              <a:lnSpc>
                <a:spcPts val="2100"/>
              </a:lnSpc>
              <a:spcBef>
                <a:spcPts val="600"/>
              </a:spcBef>
            </a:pPr>
            <a:r>
              <a:rPr lang="en-US" sz="1650" dirty="0">
                <a:solidFill>
                  <a:schemeClr val="tx1">
                    <a:lumMod val="65000"/>
                    <a:lumOff val="35000"/>
                  </a:schemeClr>
                </a:solidFill>
              </a:rPr>
              <a:t>The EQ reviewer evaluate whether, on or before the date of the report that the requirements in proposed ISQC 2 were fulfilled</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4700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 </a:t>
            </a:r>
          </a:p>
        </p:txBody>
      </p:sp>
      <p:sp>
        <p:nvSpPr>
          <p:cNvPr id="3" name="Content Placeholder 2"/>
          <p:cNvSpPr>
            <a:spLocks noGrp="1"/>
          </p:cNvSpPr>
          <p:nvPr>
            <p:ph idx="1"/>
          </p:nvPr>
        </p:nvSpPr>
        <p:spPr>
          <a:xfrm>
            <a:off x="457200" y="1200152"/>
            <a:ext cx="8229600" cy="1256446"/>
          </a:xfrm>
        </p:spPr>
        <p:style>
          <a:lnRef idx="2">
            <a:schemeClr val="dk1"/>
          </a:lnRef>
          <a:fillRef idx="1">
            <a:schemeClr val="lt1"/>
          </a:fillRef>
          <a:effectRef idx="0">
            <a:schemeClr val="dk1"/>
          </a:effectRef>
          <a:fontRef idx="minor">
            <a:schemeClr val="dk1"/>
          </a:fontRef>
        </p:style>
        <p:txBody>
          <a:bodyPr/>
          <a:lstStyle/>
          <a:p>
            <a:pPr marL="346075" indent="-346075">
              <a:lnSpc>
                <a:spcPts val="2100"/>
              </a:lnSpc>
              <a:spcBef>
                <a:spcPts val="600"/>
              </a:spcBef>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8:	</a:t>
            </a:r>
          </a:p>
          <a:p>
            <a:pPr marL="346075" indent="-346075">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	The IAASB is asked whether it agrees with the Task Force’s proposals in paragraph 25(a) of proposed ISQC 2.</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1352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 – Firm-Level </a:t>
            </a:r>
          </a:p>
        </p:txBody>
      </p:sp>
      <p:sp>
        <p:nvSpPr>
          <p:cNvPr id="3" name="Content Placeholder 2"/>
          <p:cNvSpPr>
            <a:spLocks noGrp="1"/>
          </p:cNvSpPr>
          <p:nvPr>
            <p:ph idx="1"/>
          </p:nvPr>
        </p:nvSpPr>
        <p:spPr/>
        <p:txBody>
          <a:bodyPr/>
          <a:lstStyle/>
          <a:p>
            <a:pPr>
              <a:lnSpc>
                <a:spcPts val="2100"/>
              </a:lnSpc>
              <a:spcBef>
                <a:spcPts val="600"/>
              </a:spcBef>
            </a:pPr>
            <a:r>
              <a:rPr lang="en-US" sz="1800" dirty="0">
                <a:solidFill>
                  <a:schemeClr val="tx1">
                    <a:lumMod val="65000"/>
                    <a:lumOff val="35000"/>
                  </a:schemeClr>
                </a:solidFill>
              </a:rPr>
              <a:t>At its September 2017 meeting, the IAASB broadly supported the documentation proposals presented</a:t>
            </a:r>
          </a:p>
          <a:p>
            <a:pPr>
              <a:lnSpc>
                <a:spcPts val="2100"/>
              </a:lnSpc>
              <a:spcBef>
                <a:spcPts val="600"/>
              </a:spcBef>
            </a:pPr>
            <a:r>
              <a:rPr lang="en-US" sz="1800" dirty="0">
                <a:solidFill>
                  <a:schemeClr val="tx1">
                    <a:lumMod val="65000"/>
                    <a:lumOff val="35000"/>
                  </a:schemeClr>
                </a:solidFill>
              </a:rPr>
              <a:t>The Task Force proposes not including specific documentation requirements related to EQ reviews in ISQC 1 because:</a:t>
            </a:r>
          </a:p>
          <a:p>
            <a:pPr lvl="1">
              <a:lnSpc>
                <a:spcPts val="2100"/>
              </a:lnSpc>
              <a:spcBef>
                <a:spcPts val="600"/>
              </a:spcBef>
            </a:pPr>
            <a:r>
              <a:rPr lang="en-US" sz="1650" dirty="0">
                <a:solidFill>
                  <a:schemeClr val="tx1">
                    <a:lumMod val="65000"/>
                    <a:lumOff val="35000"/>
                  </a:schemeClr>
                </a:solidFill>
              </a:rPr>
              <a:t>EQ reviews are one type of response to quality risks</a:t>
            </a:r>
          </a:p>
          <a:p>
            <a:pPr lvl="1">
              <a:lnSpc>
                <a:spcPts val="2100"/>
              </a:lnSpc>
              <a:spcBef>
                <a:spcPts val="600"/>
              </a:spcBef>
            </a:pPr>
            <a:r>
              <a:rPr lang="en-US" sz="1650" dirty="0">
                <a:solidFill>
                  <a:schemeClr val="tx1">
                    <a:lumMod val="65000"/>
                    <a:lumOff val="35000"/>
                  </a:schemeClr>
                </a:solidFill>
              </a:rPr>
              <a:t>It would be inconsistent with the nature and extent of the other documentation requirements in proposed ISQC 1 (Revised)</a:t>
            </a:r>
          </a:p>
          <a:p>
            <a:pPr lvl="1">
              <a:lnSpc>
                <a:spcPts val="2100"/>
              </a:lnSpc>
              <a:spcBef>
                <a:spcPts val="600"/>
              </a:spcBef>
            </a:pPr>
            <a:r>
              <a:rPr lang="en-US" sz="1650" dirty="0">
                <a:solidFill>
                  <a:schemeClr val="tx1">
                    <a:lumMod val="65000"/>
                    <a:lumOff val="35000"/>
                  </a:schemeClr>
                </a:solidFill>
              </a:rPr>
              <a:t>Relevant documentation specific to the EQ review is included in proposed ISQC 2</a:t>
            </a:r>
          </a:p>
          <a:p>
            <a:pPr lvl="1">
              <a:lnSpc>
                <a:spcPts val="2100"/>
              </a:lnSpc>
              <a:spcBef>
                <a:spcPts val="600"/>
              </a:spcBef>
            </a:pPr>
            <a:endParaRPr lang="en-US" sz="165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5330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 – Engagement-Level </a:t>
            </a:r>
          </a:p>
        </p:txBody>
      </p:sp>
      <p:sp>
        <p:nvSpPr>
          <p:cNvPr id="3" name="Content Placeholder 2"/>
          <p:cNvSpPr>
            <a:spLocks noGrp="1"/>
          </p:cNvSpPr>
          <p:nvPr>
            <p:ph idx="1"/>
          </p:nvPr>
        </p:nvSpPr>
        <p:spPr/>
        <p:txBody>
          <a:bodyPr/>
          <a:lstStyle/>
          <a:p>
            <a:pPr>
              <a:lnSpc>
                <a:spcPts val="2100"/>
              </a:lnSpc>
              <a:spcBef>
                <a:spcPts val="600"/>
              </a:spcBef>
            </a:pPr>
            <a:r>
              <a:rPr lang="en-US" sz="1800" dirty="0">
                <a:solidFill>
                  <a:schemeClr val="tx1">
                    <a:lumMod val="65000"/>
                    <a:lumOff val="35000"/>
                  </a:schemeClr>
                </a:solidFill>
              </a:rPr>
              <a:t>The Task Force updated the requirements for an EQ review to document:</a:t>
            </a:r>
          </a:p>
          <a:p>
            <a:pPr lvl="1">
              <a:lnSpc>
                <a:spcPts val="2100"/>
              </a:lnSpc>
              <a:spcBef>
                <a:spcPts val="600"/>
              </a:spcBef>
            </a:pPr>
            <a:r>
              <a:rPr lang="en-US" sz="1650" dirty="0">
                <a:solidFill>
                  <a:schemeClr val="tx1">
                    <a:lumMod val="65000"/>
                    <a:lumOff val="35000"/>
                  </a:schemeClr>
                </a:solidFill>
              </a:rPr>
              <a:t>The nature, timing and extent of the EQ reviewer’s procedures</a:t>
            </a:r>
          </a:p>
          <a:p>
            <a:pPr lvl="1">
              <a:lnSpc>
                <a:spcPts val="2100"/>
              </a:lnSpc>
              <a:spcBef>
                <a:spcPts val="600"/>
              </a:spcBef>
            </a:pPr>
            <a:r>
              <a:rPr lang="en-US" sz="1650" dirty="0">
                <a:solidFill>
                  <a:schemeClr val="tx1">
                    <a:lumMod val="65000"/>
                    <a:lumOff val="35000"/>
                  </a:schemeClr>
                </a:solidFill>
              </a:rPr>
              <a:t>The engagement documentation reviewed</a:t>
            </a:r>
          </a:p>
          <a:p>
            <a:pPr lvl="1">
              <a:lnSpc>
                <a:spcPts val="2100"/>
              </a:lnSpc>
              <a:spcBef>
                <a:spcPts val="600"/>
              </a:spcBef>
            </a:pPr>
            <a:r>
              <a:rPr lang="en-US" sz="1650" dirty="0">
                <a:solidFill>
                  <a:schemeClr val="tx1">
                    <a:lumMod val="65000"/>
                    <a:lumOff val="35000"/>
                  </a:schemeClr>
                </a:solidFill>
              </a:rPr>
              <a:t>The EQ reviewer’s conclusions reached in accordance with paragraph 25</a:t>
            </a:r>
            <a:endParaRPr lang="en-US" sz="1500" dirty="0">
              <a:solidFill>
                <a:schemeClr val="tx1">
                  <a:lumMod val="65000"/>
                  <a:lumOff val="35000"/>
                </a:schemeClr>
              </a:solidFill>
            </a:endParaRP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5939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Matter for IAASB Consideration </a:t>
            </a:r>
          </a:p>
        </p:txBody>
      </p:sp>
      <p:sp>
        <p:nvSpPr>
          <p:cNvPr id="3" name="Content Placeholder 2"/>
          <p:cNvSpPr>
            <a:spLocks noGrp="1"/>
          </p:cNvSpPr>
          <p:nvPr>
            <p:ph idx="1"/>
          </p:nvPr>
        </p:nvSpPr>
        <p:spPr>
          <a:xfrm>
            <a:off x="457200" y="971552"/>
            <a:ext cx="8229600" cy="1978478"/>
          </a:xfrm>
        </p:spPr>
        <p:style>
          <a:lnRef idx="2">
            <a:schemeClr val="dk1"/>
          </a:lnRef>
          <a:fillRef idx="1">
            <a:schemeClr val="lt1"/>
          </a:fillRef>
          <a:effectRef idx="0">
            <a:schemeClr val="dk1"/>
          </a:effectRef>
          <a:fontRef idx="minor">
            <a:schemeClr val="dk1"/>
          </a:fontRef>
        </p:style>
        <p:txBody>
          <a:bodyPr/>
          <a:lstStyle/>
          <a:p>
            <a:pPr marL="0" indent="0">
              <a:lnSpc>
                <a:spcPts val="2100"/>
              </a:lnSpc>
              <a:spcBef>
                <a:spcPts val="600"/>
              </a:spcBef>
              <a:buNone/>
            </a:pPr>
            <a:r>
              <a:rPr lang="en-US" sz="1800" b="1" dirty="0">
                <a:solidFill>
                  <a:schemeClr val="tx1">
                    <a:lumMod val="65000"/>
                    <a:lumOff val="35000"/>
                  </a:schemeClr>
                </a:solidFill>
                <a:latin typeface="Arial" panose="020B0604020202020204" pitchFamily="34" charset="0"/>
                <a:cs typeface="Arial" panose="020B0604020202020204" pitchFamily="34" charset="0"/>
              </a:rPr>
              <a:t>Question 9:</a:t>
            </a:r>
          </a:p>
          <a:p>
            <a:pPr marL="0" indent="0">
              <a:lnSpc>
                <a:spcPts val="2100"/>
              </a:lnSpc>
              <a:spcBef>
                <a:spcPts val="600"/>
              </a:spcBef>
              <a:buNone/>
            </a:pPr>
            <a:r>
              <a:rPr lang="en-US" sz="1800" dirty="0">
                <a:solidFill>
                  <a:schemeClr val="tx1">
                    <a:lumMod val="65000"/>
                    <a:lumOff val="35000"/>
                  </a:schemeClr>
                </a:solidFill>
                <a:latin typeface="Arial" panose="020B0604020202020204" pitchFamily="34" charset="0"/>
                <a:cs typeface="Arial" panose="020B0604020202020204" pitchFamily="34" charset="0"/>
              </a:rPr>
              <a:t>IAASB is asked  whether:</a:t>
            </a:r>
          </a:p>
          <a:p>
            <a:pPr marL="688975" indent="-342900">
              <a:lnSpc>
                <a:spcPts val="21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It agrees that the documentation requirements in the draft ED of proposed ISQC 1 (Revised) should not specifically address EQ reviews.</a:t>
            </a:r>
          </a:p>
          <a:p>
            <a:pPr marL="688975" indent="-342900">
              <a:lnSpc>
                <a:spcPts val="2100"/>
              </a:lnSpc>
              <a:spcBef>
                <a:spcPts val="600"/>
              </a:spcBef>
              <a:buAutoNum type="alphaLcParenBoth"/>
            </a:pPr>
            <a:r>
              <a:rPr lang="en-US" sz="1800" dirty="0">
                <a:solidFill>
                  <a:schemeClr val="tx1">
                    <a:lumMod val="65000"/>
                    <a:lumOff val="35000"/>
                  </a:schemeClr>
                </a:solidFill>
                <a:latin typeface="Arial" panose="020B0604020202020204" pitchFamily="34" charset="0"/>
                <a:cs typeface="Arial" panose="020B0604020202020204" pitchFamily="34" charset="0"/>
              </a:rPr>
              <a:t>It agrees with the documentation requirements in paragraph 26 of proposed ISQC 2.</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39</a:t>
            </a:fld>
            <a:endParaRPr lang="en-US"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20CA08D4-BD32-48B9-825A-402EA69E0082}"/>
              </a:ext>
            </a:extLst>
          </p:cNvPr>
          <p:cNvSpPr txBox="1">
            <a:spLocks/>
          </p:cNvSpPr>
          <p:nvPr/>
        </p:nvSpPr>
        <p:spPr>
          <a:xfrm>
            <a:off x="457200" y="3043467"/>
            <a:ext cx="8229600" cy="1128482"/>
          </a:xfrm>
          <a:prstGeom prst="rect">
            <a:avLst/>
          </a:prstGeom>
        </p:spPr>
        <p:style>
          <a:lnRef idx="2">
            <a:schemeClr val="dk1"/>
          </a:lnRef>
          <a:fillRef idx="1">
            <a:schemeClr val="lt1"/>
          </a:fillRef>
          <a:effectRef idx="0">
            <a:schemeClr val="dk1"/>
          </a:effectRef>
          <a:fontRef idx="minor">
            <a:schemeClr val="dk1"/>
          </a:fontRef>
        </p:style>
        <p:txBody>
          <a:bodyPr/>
          <a:lstStyle>
            <a:lvl1pPr marL="129779" indent="-129779" algn="l" defTabSz="342900" rtl="0" eaLnBrk="1" latinLnBrk="0" hangingPunct="1">
              <a:spcBef>
                <a:spcPts val="900"/>
              </a:spcBef>
              <a:buFont typeface="Arial"/>
              <a:buChar char="•"/>
              <a:defRPr sz="1500" kern="1200">
                <a:solidFill>
                  <a:schemeClr val="tx2">
                    <a:lumMod val="65000"/>
                    <a:lumOff val="35000"/>
                  </a:schemeClr>
                </a:solidFill>
                <a:latin typeface="+mn-lt"/>
                <a:ea typeface="+mn-ea"/>
                <a:cs typeface="+mn-cs"/>
              </a:defRPr>
            </a:lvl1pPr>
            <a:lvl2pPr marL="342900" indent="-171450" algn="l" defTabSz="342900" rtl="0" eaLnBrk="1" latinLnBrk="0" hangingPunct="1">
              <a:spcBef>
                <a:spcPts val="450"/>
              </a:spcBef>
              <a:spcAft>
                <a:spcPts val="300"/>
              </a:spcAft>
              <a:buFont typeface="Arial"/>
              <a:buChar char="–"/>
              <a:defRPr sz="1350" kern="1200">
                <a:solidFill>
                  <a:schemeClr val="tx2">
                    <a:lumMod val="65000"/>
                    <a:lumOff val="35000"/>
                  </a:schemeClr>
                </a:solidFill>
                <a:latin typeface="+mn-lt"/>
                <a:ea typeface="+mn-ea"/>
                <a:cs typeface="+mn-cs"/>
              </a:defRPr>
            </a:lvl2pPr>
            <a:lvl3pPr marL="472679" indent="-128588" algn="l" defTabSz="342900" rtl="0" eaLnBrk="1" latinLnBrk="0" hangingPunct="1">
              <a:spcBef>
                <a:spcPct val="20000"/>
              </a:spcBef>
              <a:buFont typeface="Arial"/>
              <a:buChar char="•"/>
              <a:defRPr sz="1200" kern="1200">
                <a:solidFill>
                  <a:schemeClr val="tx2">
                    <a:lumMod val="65000"/>
                    <a:lumOff val="35000"/>
                  </a:schemeClr>
                </a:solidFill>
                <a:latin typeface="+mn-lt"/>
                <a:ea typeface="+mn-ea"/>
                <a:cs typeface="+mn-cs"/>
              </a:defRPr>
            </a:lvl3pPr>
            <a:lvl4pPr marL="1200150" indent="-171450" algn="l" defTabSz="342900" rtl="0" eaLnBrk="1" latinLnBrk="0" hangingPunct="1">
              <a:spcBef>
                <a:spcPct val="20000"/>
              </a:spcBef>
              <a:buFont typeface="Arial"/>
              <a:buChar char="–"/>
              <a:defRPr sz="1050" kern="1200">
                <a:solidFill>
                  <a:schemeClr val="tx2">
                    <a:lumMod val="65000"/>
                    <a:lumOff val="35000"/>
                  </a:schemeClr>
                </a:solidFill>
                <a:latin typeface="+mn-lt"/>
                <a:ea typeface="+mn-ea"/>
                <a:cs typeface="+mn-cs"/>
              </a:defRPr>
            </a:lvl4pPr>
            <a:lvl5pPr marL="1543050" indent="-171450" algn="l" defTabSz="342900" rtl="0" eaLnBrk="1" latinLnBrk="0" hangingPunct="1">
              <a:spcBef>
                <a:spcPct val="20000"/>
              </a:spcBef>
              <a:buFont typeface="Arial"/>
              <a:buChar char="»"/>
              <a:defRPr sz="1050" kern="1200">
                <a:solidFill>
                  <a:schemeClr val="tx2">
                    <a:lumMod val="65000"/>
                    <a:lumOff val="35000"/>
                  </a:schemeClr>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dk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dk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dk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dk1"/>
                </a:solidFill>
                <a:latin typeface="+mn-lt"/>
                <a:ea typeface="+mn-ea"/>
                <a:cs typeface="+mn-cs"/>
              </a:defRPr>
            </a:lvl9pPr>
          </a:lstStyle>
          <a:p>
            <a:pPr marL="0" indent="0">
              <a:lnSpc>
                <a:spcPts val="2100"/>
              </a:lnSpc>
              <a:spcBef>
                <a:spcPts val="600"/>
              </a:spcBef>
              <a:buFont typeface="Arial"/>
              <a:buNone/>
            </a:pPr>
            <a:r>
              <a:rPr lang="en-US" sz="1800" b="1" dirty="0">
                <a:solidFill>
                  <a:schemeClr val="tx1">
                    <a:lumMod val="65000"/>
                    <a:lumOff val="35000"/>
                  </a:schemeClr>
                </a:solidFill>
                <a:latin typeface="Arial" panose="020B0604020202020204" pitchFamily="34" charset="0"/>
                <a:cs typeface="Arial" panose="020B0604020202020204" pitchFamily="34" charset="0"/>
              </a:rPr>
              <a:t>General Question:</a:t>
            </a:r>
          </a:p>
          <a:p>
            <a:pPr marL="0" indent="0">
              <a:lnSpc>
                <a:spcPts val="2100"/>
              </a:lnSpc>
              <a:spcBef>
                <a:spcPts val="600"/>
              </a:spcBef>
              <a:buFont typeface="Arial"/>
              <a:buNone/>
            </a:pPr>
            <a:r>
              <a:rPr lang="en-US" sz="1800" dirty="0">
                <a:solidFill>
                  <a:schemeClr val="tx1">
                    <a:lumMod val="65000"/>
                    <a:lumOff val="35000"/>
                  </a:schemeClr>
                </a:solidFill>
                <a:latin typeface="Arial" panose="020B0604020202020204" pitchFamily="34" charset="0"/>
                <a:cs typeface="Arial" panose="020B0604020202020204" pitchFamily="34" charset="0"/>
              </a:rPr>
              <a:t>IAASB is asked to share any further comments, and raise any remaining issues, on proposed ISQC2 and extracts of ISQC1. </a:t>
            </a:r>
          </a:p>
        </p:txBody>
      </p:sp>
    </p:spTree>
    <p:extLst>
      <p:ext uri="{BB962C8B-B14F-4D97-AF65-F5344CB8AC3E}">
        <p14:creationId xmlns:p14="http://schemas.microsoft.com/office/powerpoint/2010/main" val="3310750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Steps</a:t>
            </a:r>
          </a:p>
        </p:txBody>
      </p:sp>
      <p:sp>
        <p:nvSpPr>
          <p:cNvPr id="3" name="Content Placeholder 2"/>
          <p:cNvSpPr>
            <a:spLocks noGrp="1"/>
          </p:cNvSpPr>
          <p:nvPr>
            <p:ph idx="1"/>
          </p:nvPr>
        </p:nvSpPr>
        <p:spPr>
          <a:xfrm>
            <a:off x="457200" y="977411"/>
            <a:ext cx="8229600" cy="3188677"/>
          </a:xfrm>
        </p:spPr>
        <p:txBody>
          <a:bodyPr/>
          <a:lstStyle/>
          <a:p>
            <a:pPr marL="342900" indent="-342900">
              <a:buFont typeface="+mj-lt"/>
              <a:buAutoNum type="arabicPeriod"/>
            </a:pPr>
            <a:r>
              <a:rPr lang="en-US" sz="1800" dirty="0">
                <a:solidFill>
                  <a:schemeClr val="tx1">
                    <a:lumMod val="65000"/>
                    <a:lumOff val="35000"/>
                  </a:schemeClr>
                </a:solidFill>
              </a:rPr>
              <a:t>Address feedback provided</a:t>
            </a:r>
          </a:p>
          <a:p>
            <a:pPr marL="684213" lvl="1" indent="-342900">
              <a:buFont typeface="+mj-lt"/>
              <a:buAutoNum type="alphaLcPeriod"/>
            </a:pPr>
            <a:r>
              <a:rPr lang="en-US" sz="1650" dirty="0">
                <a:solidFill>
                  <a:schemeClr val="tx1">
                    <a:lumMod val="65000"/>
                    <a:lumOff val="35000"/>
                  </a:schemeClr>
                </a:solidFill>
              </a:rPr>
              <a:t>Written and plenary session feedback</a:t>
            </a:r>
          </a:p>
          <a:p>
            <a:pPr marL="684213" lvl="1" indent="-342900">
              <a:buFont typeface="+mj-lt"/>
              <a:buAutoNum type="alphaLcPeriod"/>
            </a:pPr>
            <a:r>
              <a:rPr lang="en-US" sz="1650" dirty="0">
                <a:solidFill>
                  <a:schemeClr val="tx1">
                    <a:lumMod val="65000"/>
                    <a:lumOff val="35000"/>
                  </a:schemeClr>
                </a:solidFill>
              </a:rPr>
              <a:t>CAG, SMPC</a:t>
            </a:r>
          </a:p>
          <a:p>
            <a:pPr marL="684213" lvl="1" indent="-342900">
              <a:buFont typeface="+mj-lt"/>
              <a:buAutoNum type="alphaLcPeriod"/>
            </a:pPr>
            <a:r>
              <a:rPr lang="en-US" sz="1650" dirty="0">
                <a:solidFill>
                  <a:schemeClr val="tx1">
                    <a:lumMod val="65000"/>
                    <a:lumOff val="35000"/>
                  </a:schemeClr>
                </a:solidFill>
              </a:rPr>
              <a:t>JWG and IESBA</a:t>
            </a:r>
          </a:p>
          <a:p>
            <a:pPr marL="342900" indent="-342900">
              <a:buFont typeface="+mj-lt"/>
              <a:buAutoNum type="arabicPeriod"/>
            </a:pPr>
            <a:r>
              <a:rPr lang="en-US" sz="1800" dirty="0">
                <a:solidFill>
                  <a:schemeClr val="tx1">
                    <a:lumMod val="65000"/>
                    <a:lumOff val="35000"/>
                  </a:schemeClr>
                </a:solidFill>
              </a:rPr>
              <a:t>Turnaround on Friday of selected matters</a:t>
            </a:r>
          </a:p>
          <a:p>
            <a:pPr marL="342900" indent="-342900">
              <a:buFont typeface="+mj-lt"/>
              <a:buAutoNum type="arabicPeriod"/>
            </a:pPr>
            <a:r>
              <a:rPr lang="en-US" sz="1800" dirty="0">
                <a:solidFill>
                  <a:schemeClr val="tx1">
                    <a:lumMod val="65000"/>
                    <a:lumOff val="35000"/>
                  </a:schemeClr>
                </a:solidFill>
              </a:rPr>
              <a:t>Plan -</a:t>
            </a:r>
            <a:r>
              <a:rPr lang="en-US" sz="1800" dirty="0">
                <a:solidFill>
                  <a:schemeClr val="tx1">
                    <a:lumMod val="65000"/>
                    <a:lumOff val="35000"/>
                  </a:schemeClr>
                </a:solidFill>
                <a:sym typeface="Wingdings" panose="05000000000000000000" pitchFamily="2" charset="2"/>
              </a:rPr>
              <a:t> Exposure draft</a:t>
            </a:r>
            <a:endParaRPr lang="en-US" sz="1800" dirty="0">
              <a:solidFill>
                <a:schemeClr val="tx1">
                  <a:lumMod val="65000"/>
                  <a:lumOff val="35000"/>
                </a:schemeClr>
              </a:solidFill>
            </a:endParaRPr>
          </a:p>
          <a:p>
            <a:pPr marL="684213" lvl="1" indent="-342900">
              <a:buFont typeface="+mj-lt"/>
              <a:buAutoNum type="alphaLcPeriod"/>
            </a:pPr>
            <a:r>
              <a:rPr lang="en-US" sz="1650" dirty="0">
                <a:solidFill>
                  <a:schemeClr val="tx1">
                    <a:lumMod val="65000"/>
                    <a:lumOff val="35000"/>
                  </a:schemeClr>
                </a:solidFill>
              </a:rPr>
              <a:t>Task Force meetings and other activities</a:t>
            </a:r>
          </a:p>
          <a:p>
            <a:pPr marL="684213" lvl="1" indent="-342900">
              <a:buFont typeface="+mj-lt"/>
              <a:buAutoNum type="alphaLcPeriod"/>
            </a:pPr>
            <a:r>
              <a:rPr lang="en-US" sz="1650" dirty="0">
                <a:solidFill>
                  <a:schemeClr val="tx1">
                    <a:lumMod val="65000"/>
                    <a:lumOff val="35000"/>
                  </a:schemeClr>
                </a:solidFill>
              </a:rPr>
              <a:t>Outreach</a:t>
            </a:r>
          </a:p>
        </p:txBody>
      </p:sp>
      <p:sp>
        <p:nvSpPr>
          <p:cNvPr id="5" name="Slide Number Placeholder 4"/>
          <p:cNvSpPr>
            <a:spLocks noGrp="1"/>
          </p:cNvSpPr>
          <p:nvPr>
            <p:ph type="sldNum" sz="quarter" idx="12"/>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40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2061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algn="r"/>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41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4610</Words>
  <Application>Microsoft Office PowerPoint</Application>
  <PresentationFormat>On-screen Show (16:9)</PresentationFormat>
  <Paragraphs>556</Paragraphs>
  <Slides>41</Slides>
  <Notes>28</Notes>
  <HiddenSlides>1</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MS PGothic</vt:lpstr>
      <vt:lpstr>MS PGothic</vt:lpstr>
      <vt:lpstr>Arial</vt:lpstr>
      <vt:lpstr>Arial Narrow</vt:lpstr>
      <vt:lpstr>Calibri</vt:lpstr>
      <vt:lpstr>Times New Roman</vt:lpstr>
      <vt:lpstr>Wingdings</vt:lpstr>
      <vt:lpstr>ヒラギノ角ゴ Pro W3</vt:lpstr>
      <vt:lpstr>Office Theme</vt:lpstr>
      <vt:lpstr>Engagement Quality Reviews: Proposed ISQC 2</vt:lpstr>
      <vt:lpstr>Overview</vt:lpstr>
      <vt:lpstr>Background</vt:lpstr>
      <vt:lpstr>Background</vt:lpstr>
      <vt:lpstr>ISQC 2 Task Force Meeting</vt:lpstr>
      <vt:lpstr>Outreach and Coordination</vt:lpstr>
      <vt:lpstr>CAG Views – Highlights </vt:lpstr>
      <vt:lpstr>SMPC Views – Highlights </vt:lpstr>
      <vt:lpstr>Proposed ED ISQC 1 – EQR/ Proposed ED ISQC 2 is scalable!</vt:lpstr>
      <vt:lpstr>Walk Through of Proposed ISQC 2 and Extract of Proposed ISQC 1 (Revised)</vt:lpstr>
      <vt:lpstr>PowerPoint Presentation</vt:lpstr>
      <vt:lpstr>Linkages Between Proposed ISQC 1 (Revised) and Proposed ISQC 2</vt:lpstr>
      <vt:lpstr>Scope and objectives of Proposed ISQC 2</vt:lpstr>
      <vt:lpstr>Matter for IAASB Consideration </vt:lpstr>
      <vt:lpstr>Authority of Proposed ISQC 2</vt:lpstr>
      <vt:lpstr>Matter for IAASB Consideration </vt:lpstr>
      <vt:lpstr>Definitions</vt:lpstr>
      <vt:lpstr>Matter for IAASB Consideration </vt:lpstr>
      <vt:lpstr>Scope of Engagements Subject to EQ Review </vt:lpstr>
      <vt:lpstr>PowerPoint Presentation</vt:lpstr>
      <vt:lpstr>Scope of Engagements Subject to EQ Review </vt:lpstr>
      <vt:lpstr>Entities that are of Significant Public Interest</vt:lpstr>
      <vt:lpstr>Scalability of Scope Requirement</vt:lpstr>
      <vt:lpstr>Matter for IAASB Consideration </vt:lpstr>
      <vt:lpstr>Eligibility Criteria for Engagement Quality Reviewers (Proposed ISQC 2)</vt:lpstr>
      <vt:lpstr>Eligibility Matters</vt:lpstr>
      <vt:lpstr>“Cooling-off” Period</vt:lpstr>
      <vt:lpstr>Matter for IAASB Consideration </vt:lpstr>
      <vt:lpstr>Performance of an EQ Review </vt:lpstr>
      <vt:lpstr>Performance of an EQ Review</vt:lpstr>
      <vt:lpstr>Significant Judgments</vt:lpstr>
      <vt:lpstr>Matter for IAASB Consideration </vt:lpstr>
      <vt:lpstr>Consultation between the Engagement Team and the EQ Reviewer</vt:lpstr>
      <vt:lpstr>Matter for IAASB Consideration </vt:lpstr>
      <vt:lpstr>The EQ Reviewer’s Overall Conclusion</vt:lpstr>
      <vt:lpstr>Matter for IAASB Consideration </vt:lpstr>
      <vt:lpstr>Documentation – Firm-Level </vt:lpstr>
      <vt:lpstr>Documentation – Engagement-Level </vt:lpstr>
      <vt:lpstr>Matter for IAASB Consideration </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Engagement Quality Reviews: Proposed ISQC 2</dc:title>
  <dc:creator>Imran Vanker</dc:creator>
  <cp:lastModifiedBy>Imran Vanker</cp:lastModifiedBy>
  <cp:revision>24</cp:revision>
  <dcterms:created xsi:type="dcterms:W3CDTF">2018-09-17T17:08:45Z</dcterms:created>
  <dcterms:modified xsi:type="dcterms:W3CDTF">2018-09-19T03:31:12Z</dcterms:modified>
</cp:coreProperties>
</file>