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85" r:id="rId3"/>
    <p:sldId id="320" r:id="rId4"/>
    <p:sldId id="321" r:id="rId5"/>
    <p:sldId id="316" r:id="rId6"/>
    <p:sldId id="314" r:id="rId7"/>
    <p:sldId id="315" r:id="rId8"/>
    <p:sldId id="307" r:id="rId9"/>
    <p:sldId id="317" r:id="rId10"/>
    <p:sldId id="318" r:id="rId11"/>
    <p:sldId id="295" r:id="rId12"/>
    <p:sldId id="308" r:id="rId13"/>
    <p:sldId id="309" r:id="rId14"/>
    <p:sldId id="310" r:id="rId15"/>
    <p:sldId id="322" r:id="rId16"/>
    <p:sldId id="323" r:id="rId17"/>
    <p:sldId id="311" r:id="rId18"/>
    <p:sldId id="312" r:id="rId19"/>
    <p:sldId id="313" r:id="rId20"/>
    <p:sldId id="259" r:id="rId21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450F"/>
    <a:srgbClr val="00CC66"/>
    <a:srgbClr val="33CC33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75333" autoAdjust="0"/>
  </p:normalViewPr>
  <p:slideViewPr>
    <p:cSldViewPr snapToGrid="0" snapToObjects="1">
      <p:cViewPr varScale="1">
        <p:scale>
          <a:sx n="109" d="100"/>
          <a:sy n="109" d="100"/>
        </p:scale>
        <p:origin x="173" y="86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1" d="100"/>
        <a:sy n="201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6/18/2018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6/18/2018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4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49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2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7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02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52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30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35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14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24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840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46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  |  Confidential and Proprietary Information</a:t>
            </a: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 smtClean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 smtClean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 smtClean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 smtClean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 smtClean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 smtClean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289E18CF-C690-4C5C-8392-CD967FC1C437}" type="datetime1">
              <a:rPr lang="en-US" smtClean="0"/>
              <a:t>6/18/2018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ISA 315 (Revised) </a:t>
            </a:r>
            <a:br>
              <a:rPr lang="en-US" dirty="0" smtClean="0"/>
            </a:br>
            <a:r>
              <a:rPr lang="en-US" i="1" dirty="0" smtClean="0"/>
              <a:t>Identifying and Assessing the Risks of Material Misstatement through Understanding the Entity and Its Environment </a:t>
            </a:r>
            <a:endParaRPr lang="en-US" i="1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Fiona Campbell</a:t>
            </a:r>
            <a:r>
              <a:rPr lang="en-US" dirty="0"/>
              <a:t>, </a:t>
            </a:r>
            <a:r>
              <a:rPr lang="en-US" dirty="0" smtClean="0"/>
              <a:t>ISA 315 </a:t>
            </a:r>
            <a:r>
              <a:rPr lang="en-US" dirty="0"/>
              <a:t>Task Force </a:t>
            </a:r>
            <a:r>
              <a:rPr lang="en-US" dirty="0" smtClean="0"/>
              <a:t>Chair</a:t>
            </a:r>
          </a:p>
          <a:p>
            <a:r>
              <a:rPr lang="en-US" dirty="0" smtClean="0"/>
              <a:t>IAASB Meeting, June 2018</a:t>
            </a:r>
          </a:p>
          <a:p>
            <a:r>
              <a:rPr lang="en-US" dirty="0" smtClean="0"/>
              <a:t>Agenda Item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40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88" y="416683"/>
            <a:ext cx="8229600" cy="403875"/>
          </a:xfrm>
        </p:spPr>
        <p:txBody>
          <a:bodyPr/>
          <a:lstStyle/>
          <a:p>
            <a:r>
              <a:rPr lang="en-US" dirty="0" smtClean="0"/>
              <a:t>ISA 315 (Revised) -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388" y="905427"/>
            <a:ext cx="8229600" cy="3808131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2000" dirty="0" smtClean="0"/>
              <a:t>Agenda Papers: </a:t>
            </a:r>
          </a:p>
          <a:p>
            <a:pPr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Agenda </a:t>
            </a:r>
            <a:r>
              <a:rPr lang="en-US" sz="1600" b="1" dirty="0"/>
              <a:t>Item </a:t>
            </a:r>
            <a:r>
              <a:rPr lang="en-US" sz="1600" b="1" dirty="0" smtClean="0"/>
              <a:t>3–A</a:t>
            </a:r>
            <a:r>
              <a:rPr lang="en-US" sz="1600" dirty="0"/>
              <a:t>: sets out the Task Force’s views on all the proposed changes to the </a:t>
            </a:r>
            <a:r>
              <a:rPr lang="en-US" sz="1600" dirty="0" smtClean="0"/>
              <a:t>requirements, revised for comments from the March 2018 IAASB discussions </a:t>
            </a:r>
            <a:r>
              <a:rPr lang="en-US" sz="1600" dirty="0"/>
              <a:t>(marked to extant ISA 315 (Revised)). </a:t>
            </a:r>
            <a:endParaRPr lang="en-US" sz="1600" dirty="0" smtClean="0"/>
          </a:p>
          <a:p>
            <a:pPr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Agenda </a:t>
            </a:r>
            <a:r>
              <a:rPr lang="en-US" sz="1600" b="1" dirty="0"/>
              <a:t>Item </a:t>
            </a:r>
            <a:r>
              <a:rPr lang="en-US" sz="1600" b="1" dirty="0" smtClean="0"/>
              <a:t>3–B</a:t>
            </a:r>
            <a:r>
              <a:rPr lang="en-US" sz="1600" dirty="0"/>
              <a:t>: sets out proposed changes to the application </a:t>
            </a:r>
            <a:r>
              <a:rPr lang="en-US" sz="1600" dirty="0" smtClean="0"/>
              <a:t>material, revised for comments from the March 2018 IAASB discussions </a:t>
            </a:r>
            <a:r>
              <a:rPr lang="en-US" sz="1600" dirty="0"/>
              <a:t>(marked to extant ISA 315 (Revised)). </a:t>
            </a:r>
          </a:p>
          <a:p>
            <a:pPr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Agenda </a:t>
            </a:r>
            <a:r>
              <a:rPr lang="en-US" sz="1600" b="1" dirty="0"/>
              <a:t>Item </a:t>
            </a:r>
            <a:r>
              <a:rPr lang="en-US" sz="1600" b="1" dirty="0" smtClean="0"/>
              <a:t>3–C</a:t>
            </a:r>
            <a:r>
              <a:rPr lang="en-US" sz="1600" dirty="0" smtClean="0"/>
              <a:t>: Conforming amendments arising from proposed changes to ISA 315 (Revised) (ISAs 200,240 and 330 and Table presenting other conforming changes)</a:t>
            </a:r>
            <a:endParaRPr lang="en-US" sz="1600" dirty="0"/>
          </a:p>
          <a:p>
            <a:pPr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 smtClean="0"/>
              <a:t>Agenda </a:t>
            </a:r>
            <a:r>
              <a:rPr lang="en-US" sz="1600" b="1" dirty="0"/>
              <a:t>Item </a:t>
            </a:r>
            <a:r>
              <a:rPr lang="en-US" sz="1600" b="1" dirty="0" smtClean="0"/>
              <a:t>3–D</a:t>
            </a:r>
            <a:r>
              <a:rPr lang="en-US" sz="1600" dirty="0" smtClean="0"/>
              <a:t>: </a:t>
            </a:r>
            <a:r>
              <a:rPr lang="en-US" sz="1600" dirty="0"/>
              <a:t>sets out proposed changes to the </a:t>
            </a:r>
            <a:r>
              <a:rPr lang="en-US" sz="1600" dirty="0" smtClean="0"/>
              <a:t>requirements at June 2018 marked to March 2018 (</a:t>
            </a:r>
            <a:r>
              <a:rPr lang="en-US" sz="1600" i="1" dirty="0" smtClean="0"/>
              <a:t>for reference only</a:t>
            </a:r>
            <a:r>
              <a:rPr lang="en-US" sz="1600" dirty="0" smtClean="0"/>
              <a:t>)  </a:t>
            </a:r>
          </a:p>
          <a:p>
            <a:pPr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Agenda Item </a:t>
            </a:r>
            <a:r>
              <a:rPr lang="en-US" sz="1600" b="1" dirty="0" smtClean="0"/>
              <a:t>3–E</a:t>
            </a:r>
            <a:r>
              <a:rPr lang="en-US" sz="1600" dirty="0" smtClean="0"/>
              <a:t>: </a:t>
            </a:r>
            <a:r>
              <a:rPr lang="en-US" sz="1600" dirty="0"/>
              <a:t>sets out proposed changes to the </a:t>
            </a:r>
            <a:r>
              <a:rPr lang="en-US" sz="1600" dirty="0" smtClean="0"/>
              <a:t>application material </a:t>
            </a:r>
            <a:r>
              <a:rPr lang="en-US" sz="1600" dirty="0"/>
              <a:t>at June 2018 marked to March 2018 (</a:t>
            </a:r>
            <a:r>
              <a:rPr lang="en-US" sz="1600" i="1" dirty="0"/>
              <a:t>for reference only</a:t>
            </a:r>
            <a:r>
              <a:rPr lang="en-US" sz="1600" dirty="0"/>
              <a:t>)  </a:t>
            </a:r>
          </a:p>
          <a:p>
            <a:pPr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smtClean="0"/>
              <a:t>Flowcharts – Overall Standard and Understanding the Entity’s System of Internal Control</a:t>
            </a:r>
            <a:endParaRPr lang="en-US" sz="1600" dirty="0"/>
          </a:p>
          <a:p>
            <a:pPr marL="0" indent="0">
              <a:spcBef>
                <a:spcPts val="600"/>
              </a:spcBef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5988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Force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965201"/>
            <a:ext cx="8229600" cy="3759199"/>
          </a:xfrm>
        </p:spPr>
        <p:txBody>
          <a:bodyPr/>
          <a:lstStyle/>
          <a:p>
            <a:r>
              <a:rPr lang="en-US" sz="2000" dirty="0" smtClean="0"/>
              <a:t>Fiona Campbell (Chair) (assisted by Denise Weber)</a:t>
            </a:r>
          </a:p>
          <a:p>
            <a:r>
              <a:rPr lang="en-US" sz="2000" dirty="0" smtClean="0"/>
              <a:t>Megan Zietsman</a:t>
            </a:r>
          </a:p>
          <a:p>
            <a:r>
              <a:rPr lang="en-US" sz="2000" dirty="0" smtClean="0"/>
              <a:t>Marek Grabowski (assisted by Josephine Jackson)</a:t>
            </a:r>
          </a:p>
          <a:p>
            <a:r>
              <a:rPr lang="en-US" sz="2000" dirty="0" smtClean="0"/>
              <a:t>Susan Jones</a:t>
            </a:r>
          </a:p>
          <a:p>
            <a:r>
              <a:rPr lang="en-US" sz="2000" dirty="0" smtClean="0"/>
              <a:t>Katharine </a:t>
            </a:r>
            <a:r>
              <a:rPr lang="en-US" sz="2000" dirty="0" err="1" smtClean="0"/>
              <a:t>Bagshaw</a:t>
            </a:r>
            <a:endParaRPr lang="en-US" sz="2000" dirty="0" smtClean="0"/>
          </a:p>
          <a:p>
            <a:r>
              <a:rPr lang="en-US" sz="2000" dirty="0" smtClean="0"/>
              <a:t>Correspondent member: Chuck Landes (assisted by Hiram Hasty)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1800" i="1" dirty="0" smtClean="0"/>
              <a:t>Staff:</a:t>
            </a:r>
          </a:p>
          <a:p>
            <a:pPr marL="0" indent="0">
              <a:buNone/>
            </a:pPr>
            <a:r>
              <a:rPr lang="en-US" sz="1800" dirty="0" smtClean="0"/>
              <a:t>Bev Bahlmann &amp; Phil Minnaar </a:t>
            </a:r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 smtClean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169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Force Meetings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95350"/>
            <a:ext cx="3745442" cy="318928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298" y="2190750"/>
            <a:ext cx="4173008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004" y="427437"/>
            <a:ext cx="8229600" cy="403875"/>
          </a:xfrm>
        </p:spPr>
        <p:txBody>
          <a:bodyPr/>
          <a:lstStyle/>
          <a:p>
            <a:r>
              <a:rPr lang="en-US" dirty="0" smtClean="0"/>
              <a:t>ISA 315 (Revised) – Significant Changes Made Since March 2018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90" y="882100"/>
            <a:ext cx="8229600" cy="3983284"/>
          </a:xfrm>
        </p:spPr>
        <p:txBody>
          <a:bodyPr/>
          <a:lstStyle/>
          <a:p>
            <a:pPr>
              <a:lnSpc>
                <a:spcPts val="2000"/>
              </a:lnSpc>
            </a:pPr>
            <a:r>
              <a:rPr lang="en-US" sz="1800" dirty="0" smtClean="0"/>
              <a:t>Further clarification of risk identification and assessment process</a:t>
            </a:r>
          </a:p>
          <a:p>
            <a:pPr lvl="1">
              <a:lnSpc>
                <a:spcPts val="2000"/>
              </a:lnSpc>
            </a:pPr>
            <a:r>
              <a:rPr lang="en-US" sz="1600" dirty="0" smtClean="0"/>
              <a:t>Identified risks of material misstatement – at financial statement and assertion levels</a:t>
            </a:r>
          </a:p>
          <a:p>
            <a:pPr lvl="1">
              <a:lnSpc>
                <a:spcPts val="2000"/>
              </a:lnSpc>
            </a:pPr>
            <a:r>
              <a:rPr lang="en-US" sz="1600" dirty="0" smtClean="0"/>
              <a:t>Risks at the financial statement level – evaluate pervasive effect on financial statements</a:t>
            </a:r>
          </a:p>
          <a:p>
            <a:pPr lvl="1">
              <a:lnSpc>
                <a:spcPts val="2000"/>
              </a:lnSpc>
            </a:pPr>
            <a:r>
              <a:rPr lang="en-US" sz="1600" dirty="0" smtClean="0"/>
              <a:t>Assess inherent risk and control risk separately</a:t>
            </a:r>
          </a:p>
          <a:p>
            <a:pPr lvl="1">
              <a:lnSpc>
                <a:spcPts val="2000"/>
              </a:lnSpc>
            </a:pPr>
            <a:r>
              <a:rPr lang="en-US" sz="1600" dirty="0" smtClean="0"/>
              <a:t>As part of assessment of inherent risk determine significant classes of transactions, account balances and disclosures, and relevant assertions</a:t>
            </a:r>
          </a:p>
          <a:p>
            <a:pPr>
              <a:lnSpc>
                <a:spcPts val="2000"/>
              </a:lnSpc>
            </a:pPr>
            <a:r>
              <a:rPr lang="en-US" sz="1800" dirty="0" smtClean="0"/>
              <a:t>Scalability: input from SMPC Task Force member</a:t>
            </a:r>
          </a:p>
          <a:p>
            <a:pPr>
              <a:lnSpc>
                <a:spcPts val="2000"/>
              </a:lnSpc>
            </a:pPr>
            <a:r>
              <a:rPr lang="en-US" sz="1800" dirty="0" smtClean="0"/>
              <a:t>IT: with assistance from firm IT expert, as well as IT experts from other firms and other stakeholders</a:t>
            </a:r>
          </a:p>
          <a:p>
            <a:pPr>
              <a:lnSpc>
                <a:spcPts val="2000"/>
              </a:lnSpc>
            </a:pPr>
            <a:r>
              <a:rPr lang="en-US" sz="1800" dirty="0" smtClean="0"/>
              <a:t>Public sector: with assistance from representatives from INTOSAI FAAS</a:t>
            </a:r>
          </a:p>
          <a:p>
            <a:pPr>
              <a:lnSpc>
                <a:spcPts val="2000"/>
              </a:lnSpc>
            </a:pPr>
            <a:r>
              <a:rPr lang="en-US" sz="1800" dirty="0" smtClean="0"/>
              <a:t>Conforming amendments – changes to respond to comments from Board call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 smtClean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7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ISA 315 (Revised) – Flowchart: Overall Standard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4335" y="863867"/>
            <a:ext cx="7441330" cy="418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1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ISA 315 (Revised) – Flowchart: System of </a:t>
            </a:r>
            <a:r>
              <a:rPr lang="en-US" dirty="0"/>
              <a:t>I</a:t>
            </a:r>
            <a:r>
              <a:rPr lang="en-US" dirty="0" smtClean="0"/>
              <a:t>nternal Control 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0702" y="893298"/>
            <a:ext cx="7931020" cy="391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3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88" y="427437"/>
            <a:ext cx="8229600" cy="403875"/>
          </a:xfrm>
        </p:spPr>
        <p:txBody>
          <a:bodyPr/>
          <a:lstStyle/>
          <a:p>
            <a:r>
              <a:rPr lang="en-US" dirty="0" smtClean="0"/>
              <a:t>Outreach Feedback – June 2018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388" y="743696"/>
            <a:ext cx="8229600" cy="4095782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endParaRPr lang="en-US" sz="8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000" dirty="0" smtClean="0"/>
              <a:t>Outreach activities: IOSCO, IFIAR SCWG, GPPC, CAG </a:t>
            </a:r>
            <a:endParaRPr lang="en-US" sz="2000" dirty="0"/>
          </a:p>
          <a:p>
            <a:pPr marL="346075" indent="-3474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Broadly supportive of direction of the Exposure Draft, including modernization</a:t>
            </a:r>
          </a:p>
          <a:p>
            <a:pPr marL="346075" indent="-3474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All highlighted importance of aligning with ISA 540 (Revised) </a:t>
            </a:r>
          </a:p>
          <a:p>
            <a:pPr marL="346075" indent="-3474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Concern about interaction of stand-back in para 30B with ISA 330.18 (do we need both?); introduction of ‘qualitative’ materiality in 330.18</a:t>
            </a:r>
          </a:p>
          <a:p>
            <a:pPr marL="346075" indent="-3474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Areas where further consideration still needed</a:t>
            </a:r>
          </a:p>
          <a:p>
            <a:pPr marL="559196" lvl="1" indent="-347472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sz="1600" dirty="0" smtClean="0"/>
              <a:t>Fraud as an inherent risk factor – further clarity re some aspects of AM</a:t>
            </a:r>
          </a:p>
          <a:p>
            <a:pPr marL="559196" lvl="1" indent="-347472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sz="1600" dirty="0" smtClean="0"/>
              <a:t>Definition of </a:t>
            </a:r>
            <a:r>
              <a:rPr lang="en-US" sz="1600" dirty="0"/>
              <a:t>significant risk: ‘magnitude </a:t>
            </a:r>
            <a:r>
              <a:rPr lang="en-US" sz="1600" u="sng" dirty="0"/>
              <a:t>or</a:t>
            </a:r>
            <a:r>
              <a:rPr lang="en-US" sz="1600" dirty="0"/>
              <a:t> likelihood’ – unintended consequences</a:t>
            </a:r>
            <a:r>
              <a:rPr lang="en-US" sz="1600" dirty="0" smtClean="0"/>
              <a:t>?</a:t>
            </a:r>
          </a:p>
          <a:p>
            <a:pPr marL="559196" lvl="1" indent="-347472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sz="1600" dirty="0"/>
              <a:t>Scalability – standard still complex (flowcharts may help)</a:t>
            </a:r>
          </a:p>
          <a:p>
            <a:pPr marL="559196" lvl="1" indent="-347472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sz="1600" dirty="0" smtClean="0"/>
              <a:t>Some aspects of IT: further consideration of scalability; interaction between identifying IT application and other aspects of IT environment and controls relevant to the audit; nature and extent of understanding if going to take a substantive approach</a:t>
            </a:r>
            <a:endParaRPr lang="en-US" sz="1450" dirty="0" smtClean="0"/>
          </a:p>
          <a:p>
            <a:pPr marL="53975" indent="0">
              <a:spcBef>
                <a:spcPts val="600"/>
              </a:spcBef>
              <a:buNone/>
            </a:pPr>
            <a:endParaRPr lang="en-US" sz="1800" dirty="0" smtClean="0"/>
          </a:p>
          <a:p>
            <a:pPr marL="53975" indent="0">
              <a:spcBef>
                <a:spcPts val="600"/>
              </a:spcBef>
              <a:buNone/>
            </a:pPr>
            <a:endParaRPr lang="en-US" sz="1800" dirty="0" smtClean="0"/>
          </a:p>
          <a:p>
            <a:pPr marL="0" indent="0">
              <a:spcBef>
                <a:spcPts val="600"/>
              </a:spcBef>
              <a:buNone/>
            </a:pPr>
            <a:endParaRPr lang="en-US" sz="1800" dirty="0" smtClean="0"/>
          </a:p>
          <a:p>
            <a:pPr marL="0" indent="0">
              <a:spcBef>
                <a:spcPts val="600"/>
              </a:spcBef>
              <a:buNone/>
            </a:pPr>
            <a:endParaRPr lang="en-US" sz="1800" dirty="0" smtClean="0"/>
          </a:p>
          <a:p>
            <a:pPr marL="0" indent="0">
              <a:spcBef>
                <a:spcPts val="600"/>
              </a:spcBef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372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004" y="427437"/>
            <a:ext cx="8229600" cy="403875"/>
          </a:xfrm>
        </p:spPr>
        <p:txBody>
          <a:bodyPr/>
          <a:lstStyle/>
          <a:p>
            <a:r>
              <a:rPr lang="en-US" dirty="0" smtClean="0"/>
              <a:t>Feedback from SMPC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4" y="862026"/>
            <a:ext cx="8229600" cy="4021269"/>
          </a:xfrm>
        </p:spPr>
        <p:txBody>
          <a:bodyPr/>
          <a:lstStyle/>
          <a:p>
            <a:pPr>
              <a:lnSpc>
                <a:spcPts val="1700"/>
              </a:lnSpc>
              <a:spcBef>
                <a:spcPts val="300"/>
              </a:spcBef>
            </a:pPr>
            <a:r>
              <a:rPr lang="en-US" dirty="0" smtClean="0"/>
              <a:t>Support for:</a:t>
            </a:r>
          </a:p>
          <a:p>
            <a:pPr lvl="1">
              <a:lnSpc>
                <a:spcPts val="1600"/>
              </a:lnSpc>
              <a:spcBef>
                <a:spcPts val="200"/>
              </a:spcBef>
            </a:pPr>
            <a:r>
              <a:rPr lang="en-US" sz="1400" dirty="0" smtClean="0"/>
              <a:t>Placement of matters related to scalability at beginning of some sections </a:t>
            </a:r>
          </a:p>
          <a:p>
            <a:pPr lvl="1">
              <a:lnSpc>
                <a:spcPts val="1600"/>
              </a:lnSpc>
              <a:spcBef>
                <a:spcPts val="200"/>
              </a:spcBef>
            </a:pPr>
            <a:r>
              <a:rPr lang="en-US" sz="1400" dirty="0" smtClean="0"/>
              <a:t>New material relating to characteristics of direct and indirect components of internal control </a:t>
            </a:r>
          </a:p>
          <a:p>
            <a:pPr lvl="1">
              <a:lnSpc>
                <a:spcPts val="1600"/>
              </a:lnSpc>
              <a:spcBef>
                <a:spcPts val="200"/>
              </a:spcBef>
            </a:pPr>
            <a:r>
              <a:rPr lang="en-US" sz="1400" dirty="0" smtClean="0"/>
              <a:t>Clarifications regarding ‘controls relevant to the audit’</a:t>
            </a:r>
          </a:p>
          <a:p>
            <a:pPr lvl="1">
              <a:lnSpc>
                <a:spcPts val="1600"/>
              </a:lnSpc>
              <a:spcBef>
                <a:spcPts val="200"/>
              </a:spcBef>
            </a:pPr>
            <a:r>
              <a:rPr lang="en-US" sz="1400" dirty="0" smtClean="0"/>
              <a:t>Implementation guidance; consideration needed for implementation working group</a:t>
            </a:r>
          </a:p>
          <a:p>
            <a:pPr>
              <a:lnSpc>
                <a:spcPts val="1600"/>
              </a:lnSpc>
              <a:spcBef>
                <a:spcPts val="200"/>
              </a:spcBef>
            </a:pPr>
            <a:r>
              <a:rPr lang="en-US" dirty="0"/>
              <a:t>Concern </a:t>
            </a:r>
            <a:r>
              <a:rPr lang="en-US" dirty="0" smtClean="0"/>
              <a:t>about:</a:t>
            </a:r>
          </a:p>
          <a:p>
            <a:pPr lvl="1">
              <a:lnSpc>
                <a:spcPts val="1500"/>
              </a:lnSpc>
              <a:spcBef>
                <a:spcPts val="150"/>
              </a:spcBef>
            </a:pPr>
            <a:r>
              <a:rPr lang="en-US" sz="1400" dirty="0" smtClean="0"/>
              <a:t>The </a:t>
            </a:r>
            <a:r>
              <a:rPr lang="en-US" sz="1400" dirty="0"/>
              <a:t>description of certain audit procedures </a:t>
            </a:r>
            <a:endParaRPr lang="en-US" sz="1400" dirty="0" smtClean="0"/>
          </a:p>
          <a:p>
            <a:pPr lvl="1">
              <a:lnSpc>
                <a:spcPts val="1500"/>
              </a:lnSpc>
              <a:spcBef>
                <a:spcPts val="150"/>
              </a:spcBef>
            </a:pPr>
            <a:r>
              <a:rPr lang="en-US" sz="1400" dirty="0" smtClean="0"/>
              <a:t>Scoping </a:t>
            </a:r>
            <a:r>
              <a:rPr lang="en-US" sz="1400" dirty="0"/>
              <a:t>of “smaller AND less complex</a:t>
            </a:r>
            <a:r>
              <a:rPr lang="en-US" sz="1400" dirty="0" smtClean="0"/>
              <a:t>”</a:t>
            </a:r>
          </a:p>
          <a:p>
            <a:pPr lvl="1">
              <a:lnSpc>
                <a:spcPts val="1500"/>
              </a:lnSpc>
              <a:spcBef>
                <a:spcPts val="150"/>
              </a:spcBef>
            </a:pPr>
            <a:r>
              <a:rPr lang="en-US" sz="1400" dirty="0" smtClean="0"/>
              <a:t>Inconsistency of wording regarding separate assessment of inherent and control risk; should risk identification also be separate?</a:t>
            </a:r>
          </a:p>
          <a:p>
            <a:pPr lvl="1">
              <a:lnSpc>
                <a:spcPts val="1500"/>
              </a:lnSpc>
              <a:spcBef>
                <a:spcPts val="150"/>
              </a:spcBef>
            </a:pPr>
            <a:r>
              <a:rPr lang="en-US" sz="1400" dirty="0" smtClean="0"/>
              <a:t>Distinction between identifying and assessing risks – process not clear between para’s 25 and 26</a:t>
            </a:r>
          </a:p>
          <a:p>
            <a:pPr lvl="2">
              <a:lnSpc>
                <a:spcPts val="1500"/>
              </a:lnSpc>
              <a:spcBef>
                <a:spcPts val="150"/>
              </a:spcBef>
            </a:pPr>
            <a:r>
              <a:rPr lang="en-US" dirty="0" smtClean="0"/>
              <a:t>Not clear whether identification </a:t>
            </a:r>
            <a:r>
              <a:rPr lang="en-US" dirty="0" smtClean="0"/>
              <a:t>of </a:t>
            </a:r>
            <a:r>
              <a:rPr lang="en-US" dirty="0" smtClean="0"/>
              <a:t>whether a reasonable occurrence exists </a:t>
            </a:r>
            <a:r>
              <a:rPr lang="en-US" dirty="0" smtClean="0"/>
              <a:t>is </a:t>
            </a:r>
            <a:r>
              <a:rPr lang="en-US" dirty="0" smtClean="0"/>
              <a:t>based on inherent risk alone</a:t>
            </a:r>
          </a:p>
          <a:p>
            <a:pPr lvl="1">
              <a:lnSpc>
                <a:spcPts val="1500"/>
              </a:lnSpc>
              <a:spcBef>
                <a:spcPts val="150"/>
              </a:spcBef>
            </a:pPr>
            <a:r>
              <a:rPr lang="en-US" sz="1400" dirty="0" smtClean="0"/>
              <a:t>The stand-back in para 30B – is it needed?</a:t>
            </a:r>
          </a:p>
          <a:p>
            <a:pPr lvl="1">
              <a:lnSpc>
                <a:spcPts val="1500"/>
              </a:lnSpc>
              <a:spcBef>
                <a:spcPts val="150"/>
              </a:spcBef>
            </a:pPr>
            <a:r>
              <a:rPr lang="en-US" sz="1400" dirty="0" smtClean="0"/>
              <a:t>“Reasonable possibility” and “more than remote likelihood” impact on auditor’s work effort</a:t>
            </a:r>
          </a:p>
          <a:p>
            <a:pPr lvl="1">
              <a:lnSpc>
                <a:spcPts val="1500"/>
              </a:lnSpc>
              <a:spcBef>
                <a:spcPts val="150"/>
              </a:spcBef>
            </a:pPr>
            <a:r>
              <a:rPr lang="en-US" sz="1400" dirty="0" smtClean="0"/>
              <a:t>Conforming amendments – no change being made in ISA 265 for “significant control deficiency”</a:t>
            </a:r>
          </a:p>
          <a:p>
            <a:pPr lvl="1">
              <a:lnSpc>
                <a:spcPts val="1500"/>
              </a:lnSpc>
              <a:spcBef>
                <a:spcPts val="150"/>
              </a:spcBef>
            </a:pPr>
            <a:r>
              <a:rPr lang="en-US" sz="1400" dirty="0" smtClean="0"/>
              <a:t>Exposure period</a:t>
            </a:r>
            <a:endParaRPr lang="en-US" sz="1400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 smtClean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42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437" y="427437"/>
            <a:ext cx="8229600" cy="403875"/>
          </a:xfrm>
        </p:spPr>
        <p:txBody>
          <a:bodyPr/>
          <a:lstStyle/>
          <a:p>
            <a:r>
              <a:rPr lang="en-US" dirty="0" smtClean="0"/>
              <a:t>ISA 315 (Revised) – Matters for Exposure?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Smaller AND less complex</a:t>
            </a:r>
          </a:p>
          <a:p>
            <a:r>
              <a:rPr lang="en-US" sz="2000" dirty="0" smtClean="0"/>
              <a:t>Significant risk – magnitude OR likelihood</a:t>
            </a:r>
          </a:p>
          <a:p>
            <a:r>
              <a:rPr lang="en-US" sz="2000" dirty="0" smtClean="0"/>
              <a:t>Stand-back – para 30B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10</a:t>
            </a:fld>
            <a:endParaRPr lang="en-US" dirty="0" smtClean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53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4" y="442994"/>
            <a:ext cx="8229600" cy="403875"/>
          </a:xfrm>
        </p:spPr>
        <p:txBody>
          <a:bodyPr/>
          <a:lstStyle/>
          <a:p>
            <a:r>
              <a:rPr lang="en-US" dirty="0" smtClean="0"/>
              <a:t>Matters for IAASB Consideration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1574" y="907627"/>
            <a:ext cx="8313618" cy="385415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12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Scalability</a:t>
            </a:r>
          </a:p>
          <a:p>
            <a:pPr marL="346075" indent="-346075" algn="just">
              <a:spcBef>
                <a:spcPts val="1200"/>
              </a:spcBef>
              <a:buAutoNum type="arabicPeriod"/>
            </a:pPr>
            <a:r>
              <a:rPr lang="en-US" sz="2000" dirty="0" smtClean="0"/>
              <a:t>The </a:t>
            </a:r>
            <a:r>
              <a:rPr lang="en-US" sz="2000" dirty="0"/>
              <a:t>IAASB is asked </a:t>
            </a:r>
            <a:r>
              <a:rPr lang="en-US" sz="2000" dirty="0" smtClean="0"/>
              <a:t>whether </a:t>
            </a:r>
            <a:r>
              <a:rPr lang="en-US" sz="2000" dirty="0"/>
              <a:t>the changes made relating to scalability, as explained in paragraphs 10 to </a:t>
            </a:r>
            <a:r>
              <a:rPr lang="en-US" sz="2000" dirty="0" smtClean="0"/>
              <a:t>13, </a:t>
            </a:r>
            <a:r>
              <a:rPr lang="en-US" sz="2000" dirty="0"/>
              <a:t>will adequately illustrate how the standard is scalable in a wide variety of circumstances. Are there other changes that should be made? </a:t>
            </a:r>
          </a:p>
          <a:p>
            <a:pPr marL="346075" indent="-346075" algn="just">
              <a:spcBef>
                <a:spcPts val="1200"/>
              </a:spcBef>
              <a:buAutoNum type="arabicPeriod"/>
            </a:pPr>
            <a:r>
              <a:rPr lang="en-US" sz="2000" dirty="0" smtClean="0"/>
              <a:t>What </a:t>
            </a:r>
            <a:r>
              <a:rPr lang="en-US" sz="2000" dirty="0"/>
              <a:t>are the Board’s views about matters relating to further implementation support for the proposed changes (as set out in paragraphs 4–5), and what is the nature of such implementation guidance?</a:t>
            </a:r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29363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4" y="442994"/>
            <a:ext cx="8229600" cy="403875"/>
          </a:xfrm>
        </p:spPr>
        <p:txBody>
          <a:bodyPr/>
          <a:lstStyle/>
          <a:p>
            <a:r>
              <a:rPr lang="en-US" dirty="0" smtClean="0"/>
              <a:t>Matter for IAASB Consideration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1574" y="907627"/>
            <a:ext cx="8313618" cy="385415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12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Fraud </a:t>
            </a:r>
          </a:p>
          <a:p>
            <a:pPr marL="347472" indent="-347472" algn="just">
              <a:spcBef>
                <a:spcPts val="1200"/>
              </a:spcBef>
              <a:buNone/>
            </a:pPr>
            <a:r>
              <a:rPr lang="en-US" sz="2000" dirty="0" smtClean="0"/>
              <a:t>3. 	The </a:t>
            </a:r>
            <a:r>
              <a:rPr lang="en-US" sz="2000" dirty="0"/>
              <a:t>IAASB is asked, based on the explanation in paragraphs 14 to </a:t>
            </a:r>
            <a:r>
              <a:rPr lang="en-US" sz="2000" dirty="0" smtClean="0"/>
              <a:t>15, </a:t>
            </a:r>
            <a:r>
              <a:rPr lang="en-US" sz="2000" dirty="0"/>
              <a:t>whether further changes in respect of the auditor’s consideration of fraud in ISA 315 </a:t>
            </a:r>
            <a:r>
              <a:rPr lang="en-US" sz="2000" dirty="0" smtClean="0"/>
              <a:t>(Revised</a:t>
            </a:r>
            <a:r>
              <a:rPr lang="en-US" sz="2000" dirty="0"/>
              <a:t>) is needed? </a:t>
            </a:r>
            <a:endParaRPr lang="en-US" sz="2000" dirty="0" smtClean="0"/>
          </a:p>
          <a:p>
            <a:pPr marL="457200" indent="-457200">
              <a:spcBef>
                <a:spcPts val="600"/>
              </a:spcBef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6421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64" y="442994"/>
            <a:ext cx="8229600" cy="403875"/>
          </a:xfrm>
        </p:spPr>
        <p:txBody>
          <a:bodyPr/>
          <a:lstStyle/>
          <a:p>
            <a:r>
              <a:rPr lang="en-US" dirty="0" smtClean="0"/>
              <a:t>Matter for IAASB Consideration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1574" y="907627"/>
            <a:ext cx="8313618" cy="385415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12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Public sector, data analytics and professional skepticism </a:t>
            </a:r>
          </a:p>
          <a:p>
            <a:pPr marL="347472" indent="-347472" algn="just">
              <a:spcBef>
                <a:spcPts val="1200"/>
              </a:spcBef>
              <a:buNone/>
            </a:pPr>
            <a:r>
              <a:rPr lang="en-US" sz="2000" dirty="0"/>
              <a:t>4</a:t>
            </a:r>
            <a:r>
              <a:rPr lang="en-US" sz="2000" dirty="0" smtClean="0"/>
              <a:t>. 	Does </a:t>
            </a:r>
            <a:r>
              <a:rPr lang="en-US" sz="2000" dirty="0"/>
              <a:t>the IAASB believe, based on the explanation set out in paragraphs 16 to </a:t>
            </a:r>
            <a:r>
              <a:rPr lang="en-US" sz="2000" dirty="0" smtClean="0"/>
              <a:t>23, </a:t>
            </a:r>
            <a:r>
              <a:rPr lang="en-US" sz="2000" dirty="0"/>
              <a:t>that changes made in respect of the public sector considerations, data analytics and professional skepticism are adequately addressed in the proposed changes? </a:t>
            </a:r>
          </a:p>
        </p:txBody>
      </p:sp>
    </p:spTree>
    <p:extLst>
      <p:ext uri="{BB962C8B-B14F-4D97-AF65-F5344CB8AC3E}">
        <p14:creationId xmlns:p14="http://schemas.microsoft.com/office/powerpoint/2010/main" val="326469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4" y="427437"/>
            <a:ext cx="8229600" cy="403875"/>
          </a:xfrm>
        </p:spPr>
        <p:txBody>
          <a:bodyPr/>
          <a:lstStyle/>
          <a:p>
            <a:r>
              <a:rPr lang="en-US" dirty="0" smtClean="0"/>
              <a:t>Matters for IAASB Consideration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1574" y="907627"/>
            <a:ext cx="8313618" cy="385415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12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Requirements and application material, including the stand-back requirement</a:t>
            </a:r>
          </a:p>
          <a:p>
            <a:pPr marL="347472" indent="-347472" algn="just">
              <a:spcBef>
                <a:spcPts val="1200"/>
              </a:spcBef>
              <a:buNone/>
            </a:pPr>
            <a:r>
              <a:rPr lang="en-US" sz="2000" dirty="0" smtClean="0"/>
              <a:t>5.   The </a:t>
            </a:r>
            <a:r>
              <a:rPr lang="en-US" sz="2000" dirty="0"/>
              <a:t>IAASB is </a:t>
            </a:r>
            <a:r>
              <a:rPr lang="en-US" sz="2000" dirty="0" smtClean="0"/>
              <a:t>asked:</a:t>
            </a:r>
          </a:p>
          <a:p>
            <a:pPr marL="693738" lvl="1" indent="-346075" algn="just">
              <a:spcBef>
                <a:spcPts val="600"/>
              </a:spcBef>
              <a:spcAft>
                <a:spcPts val="0"/>
              </a:spcAft>
              <a:buAutoNum type="alphaLcParenBoth"/>
            </a:pPr>
            <a:r>
              <a:rPr lang="en-US" sz="2000" dirty="0" smtClean="0"/>
              <a:t>For its views on the proposed changes to ISA 315 (Revised) (requirements as set out in </a:t>
            </a:r>
            <a:r>
              <a:rPr lang="en-US" sz="2000" b="1" dirty="0" smtClean="0"/>
              <a:t>Agenda Item 3-A</a:t>
            </a:r>
            <a:r>
              <a:rPr lang="en-US" sz="2000" dirty="0" smtClean="0"/>
              <a:t> and application material as set out in </a:t>
            </a:r>
            <a:r>
              <a:rPr lang="en-US" sz="2000" b="1" dirty="0" smtClean="0"/>
              <a:t>Agenda Item 3-B</a:t>
            </a:r>
            <a:r>
              <a:rPr lang="en-US" sz="2000" dirty="0" smtClean="0"/>
              <a:t>, including the Appendices).</a:t>
            </a:r>
          </a:p>
          <a:p>
            <a:pPr marL="693738" lvl="1" indent="-346075" algn="just">
              <a:spcBef>
                <a:spcPts val="600"/>
              </a:spcBef>
              <a:spcAft>
                <a:spcPts val="0"/>
              </a:spcAft>
              <a:buAutoNum type="alphaLcParenBoth"/>
            </a:pPr>
            <a:r>
              <a:rPr lang="en-US" sz="2000" dirty="0" smtClean="0"/>
              <a:t>Whether </a:t>
            </a:r>
            <a:r>
              <a:rPr lang="en-US" sz="2000" dirty="0"/>
              <a:t>it agrees that a requirement for the stand-back, described in paragraphs 66–71, should be included in the Exposure Draft, with a specific question included in the Explanatory Memorandum, as described in paragraph 69, to obtain respondents views.</a:t>
            </a:r>
          </a:p>
        </p:txBody>
      </p:sp>
    </p:spTree>
    <p:extLst>
      <p:ext uri="{BB962C8B-B14F-4D97-AF65-F5344CB8AC3E}">
        <p14:creationId xmlns:p14="http://schemas.microsoft.com/office/powerpoint/2010/main" val="2598130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4" y="427437"/>
            <a:ext cx="8229600" cy="403875"/>
          </a:xfrm>
        </p:spPr>
        <p:txBody>
          <a:bodyPr/>
          <a:lstStyle/>
          <a:p>
            <a:r>
              <a:rPr lang="en-US" dirty="0" smtClean="0"/>
              <a:t>Matters for IAASB Consideration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1574" y="907627"/>
            <a:ext cx="8313618" cy="385415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Discussion of requirements </a:t>
            </a:r>
            <a:r>
              <a:rPr lang="en-US" sz="2000" b="1" dirty="0"/>
              <a:t>and application </a:t>
            </a:r>
            <a:r>
              <a:rPr lang="en-US" sz="2000" b="1" dirty="0" smtClean="0"/>
              <a:t>material:</a:t>
            </a:r>
            <a:endParaRPr lang="en-US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76681"/>
              </p:ext>
            </p:extLst>
          </p:nvPr>
        </p:nvGraphicFramePr>
        <p:xfrm>
          <a:off x="311574" y="1266091"/>
          <a:ext cx="7404555" cy="3430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39"/>
                <a:gridCol w="3204251"/>
                <a:gridCol w="2135945"/>
                <a:gridCol w="1645920"/>
              </a:tblGrid>
              <a:tr h="443133">
                <a:tc>
                  <a:txBody>
                    <a:bodyPr/>
                    <a:lstStyle/>
                    <a:p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No:</a:t>
                      </a:r>
                      <a:endParaRPr lang="en-US" sz="10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 in ISA 315 (Revised):  </a:t>
                      </a:r>
                      <a:endParaRPr lang="en-US" sz="10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Reference: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 in </a:t>
                      </a:r>
                    </a:p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application material: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Scope, introductory paragraphs and objective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1A–1G</a:t>
                      </a:r>
                    </a:p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56382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Definitions, excluding significant risk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4(a)–4(f)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A0a–A0i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4658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assessment procedures and related activities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5–10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A1–A23a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560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Understanding the entity and its environment; and the applicable financial reporting framework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11–11A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A24a–A49k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560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Understanding the entity’s system of internal control; and the control environment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12–14A</a:t>
                      </a:r>
                    </a:p>
                    <a:p>
                      <a:pPr algn="ctr"/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A50–A82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560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entity’s risk assessment process; and the entity’s process to monitor the system of internal control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15–17C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A88–A89r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21748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information system and communication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18–19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A90–A97a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21748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activities; and controls relevant to the audit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19A–20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A99–A100m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648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4" y="427437"/>
            <a:ext cx="8229600" cy="403875"/>
          </a:xfrm>
        </p:spPr>
        <p:txBody>
          <a:bodyPr/>
          <a:lstStyle/>
          <a:p>
            <a:r>
              <a:rPr lang="en-US" dirty="0" smtClean="0"/>
              <a:t>Matters for IAASB Consideration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1574" y="907627"/>
            <a:ext cx="8313618" cy="385415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Discussion of requirements </a:t>
            </a:r>
            <a:r>
              <a:rPr lang="en-US" sz="2000" b="1" dirty="0"/>
              <a:t>and application </a:t>
            </a:r>
            <a:r>
              <a:rPr lang="en-US" sz="2000" b="1" dirty="0" smtClean="0"/>
              <a:t>material:</a:t>
            </a:r>
            <a:endParaRPr lang="en-US" sz="20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839074"/>
              </p:ext>
            </p:extLst>
          </p:nvPr>
        </p:nvGraphicFramePr>
        <p:xfrm>
          <a:off x="311574" y="1282369"/>
          <a:ext cx="7299048" cy="3444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439"/>
                <a:gridCol w="3204251"/>
                <a:gridCol w="2051539"/>
                <a:gridCol w="1624819"/>
              </a:tblGrid>
              <a:tr h="443133">
                <a:tc>
                  <a:txBody>
                    <a:bodyPr/>
                    <a:lstStyle/>
                    <a:p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No:</a:t>
                      </a:r>
                      <a:endParaRPr lang="en-US" sz="10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 in ISA 315 (Revised):  </a:t>
                      </a:r>
                      <a:endParaRPr lang="en-US" sz="1000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Reference: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Reference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a</a:t>
                      </a: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pplication material:</a:t>
                      </a:r>
                      <a:endParaRPr lang="en-US" sz="1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506437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 applications relevant to the audit (including risks arising from IT and general IT controls); evaluation of the design and implementation of controls relevant to the audit; and control deficiencies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21–21D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A106a–A109g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560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Identifying and assessing the risks of material misstatement; and inherent risk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25–26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A121a–A127j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22954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 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Significant risk, including the definition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4(e), 27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A0h, A140–A144a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1560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Risks for which substantive procedures alone do not provide sufficient appropriate audit evidence; and control risk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30–30A</a:t>
                      </a:r>
                    </a:p>
                    <a:p>
                      <a:pPr algn="ctr"/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A148–A150d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Stand-back requirement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30B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A150e–A150g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Revision of risk assessment and documentation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31–32 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A151–A155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23557">
                <a:tc>
                  <a:txBody>
                    <a:bodyPr/>
                    <a:lstStyle/>
                    <a:p>
                      <a:pPr marL="0" marR="0" lvl="0" indent="0" algn="ctr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Appendices 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Appendices 1–4 </a:t>
                      </a:r>
                      <a:endParaRPr lang="en-US" sz="1000" baseline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96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4" y="427437"/>
            <a:ext cx="8229600" cy="403875"/>
          </a:xfrm>
        </p:spPr>
        <p:txBody>
          <a:bodyPr/>
          <a:lstStyle/>
          <a:p>
            <a:r>
              <a:rPr lang="en-US" dirty="0" smtClean="0"/>
              <a:t>Matter for IAASB Consideration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1574" y="907627"/>
            <a:ext cx="8313618" cy="385415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12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Conforming Amendments </a:t>
            </a:r>
          </a:p>
          <a:p>
            <a:pPr marL="347472" indent="-347472" algn="just">
              <a:spcBef>
                <a:spcPts val="1200"/>
              </a:spcBef>
              <a:buNone/>
            </a:pPr>
            <a:r>
              <a:rPr lang="en-US" sz="2000" dirty="0" smtClean="0"/>
              <a:t>6. 	The IAASB is asked for its views on the proposed Conforming Amendments as set out in </a:t>
            </a:r>
            <a:r>
              <a:rPr lang="en-US" sz="2000" b="1" dirty="0" smtClean="0"/>
              <a:t>Agenda Item 3-C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60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4" y="442994"/>
            <a:ext cx="8229600" cy="403875"/>
          </a:xfrm>
        </p:spPr>
        <p:txBody>
          <a:bodyPr/>
          <a:lstStyle/>
          <a:p>
            <a:r>
              <a:rPr lang="en-US" dirty="0" smtClean="0"/>
              <a:t>Matters for IAASB Consideration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1574" y="907627"/>
            <a:ext cx="8313618" cy="385415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12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Other Matters </a:t>
            </a:r>
          </a:p>
          <a:p>
            <a:pPr marL="346075" indent="-346075" algn="just">
              <a:spcBef>
                <a:spcPts val="1200"/>
              </a:spcBef>
              <a:buAutoNum type="arabicPeriod" startAt="7"/>
            </a:pPr>
            <a:r>
              <a:rPr lang="en-US" sz="2000" dirty="0" smtClean="0"/>
              <a:t>The </a:t>
            </a:r>
            <a:r>
              <a:rPr lang="en-US" sz="2000" dirty="0"/>
              <a:t>IAASB is asked for its views on the </a:t>
            </a:r>
            <a:r>
              <a:rPr lang="en-US" sz="2000" dirty="0" smtClean="0"/>
              <a:t>exposure </a:t>
            </a:r>
            <a:r>
              <a:rPr lang="en-US" sz="2000" dirty="0"/>
              <a:t>period and planned effective </a:t>
            </a:r>
            <a:r>
              <a:rPr lang="en-US" sz="2000" dirty="0" smtClean="0"/>
              <a:t>date.</a:t>
            </a:r>
          </a:p>
          <a:p>
            <a:pPr marL="346075" indent="-346075" algn="just">
              <a:spcBef>
                <a:spcPts val="1200"/>
              </a:spcBef>
              <a:buAutoNum type="arabicPeriod" startAt="7"/>
            </a:pPr>
            <a:r>
              <a:rPr lang="en-US" sz="2000" dirty="0" smtClean="0"/>
              <a:t>Paragraph </a:t>
            </a:r>
            <a:r>
              <a:rPr lang="en-US" sz="2000" dirty="0"/>
              <a:t>10–13 describes the Task Force’s views about scalability in the standard, and the development of further non-authoritative guidance. Does the IAASB believe that further non-authoritative guidance is necessary, and in what form (i.e., for example, Staff Questions and Answers</a:t>
            </a:r>
            <a:r>
              <a:rPr lang="en-US" sz="2000" dirty="0" smtClean="0"/>
              <a:t>)?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627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574" y="427437"/>
            <a:ext cx="8229600" cy="403875"/>
          </a:xfrm>
        </p:spPr>
        <p:txBody>
          <a:bodyPr/>
          <a:lstStyle/>
          <a:p>
            <a:r>
              <a:rPr lang="en-US" dirty="0" smtClean="0"/>
              <a:t>Matter for IAASB Consideration</a:t>
            </a:r>
            <a:endParaRPr lang="en-US" dirty="0"/>
          </a:p>
        </p:txBody>
      </p:sp>
      <p:sp>
        <p:nvSpPr>
          <p:cNvPr id="6" name="Slide Number Placeholder 5"/>
          <p:cNvSpPr txBox="1">
            <a:spLocks/>
          </p:cNvSpPr>
          <p:nvPr/>
        </p:nvSpPr>
        <p:spPr>
          <a:xfrm>
            <a:off x="7126209" y="4883295"/>
            <a:ext cx="1560591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rgbClr val="808080"/>
                </a:solidFill>
                <a:latin typeface="Arial Narrow"/>
                <a:ea typeface="+mn-ea"/>
                <a:cs typeface="Arial Narrow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675" dirty="0">
                <a:latin typeface="Arial" panose="020B0604020202020204" pitchFamily="34" charset="0"/>
                <a:cs typeface="MS PGothic" charset="0"/>
              </a:rPr>
              <a:t>Page </a:t>
            </a:r>
            <a:fld id="{53CD5F42-02DE-44B4-A2E5-4D62A1A07C24}" type="slidenum">
              <a:rPr lang="en-US" sz="675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sz="67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11574" y="907627"/>
            <a:ext cx="8313618" cy="3854153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endParaRPr lang="en-US" sz="1200" b="1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 smtClean="0"/>
              <a:t>Other Matters </a:t>
            </a:r>
          </a:p>
          <a:p>
            <a:pPr marL="347472" indent="-347472" algn="just">
              <a:spcBef>
                <a:spcPts val="1200"/>
              </a:spcBef>
              <a:buNone/>
            </a:pPr>
            <a:r>
              <a:rPr lang="en-US" sz="2000" dirty="0" smtClean="0"/>
              <a:t>9. The </a:t>
            </a:r>
            <a:r>
              <a:rPr lang="en-US" sz="2000" dirty="0"/>
              <a:t>IAASB is asked whether there are any other matters, not noted in paragraph </a:t>
            </a:r>
            <a:r>
              <a:rPr lang="en-US" sz="2000" dirty="0" smtClean="0"/>
              <a:t>82, </a:t>
            </a:r>
            <a:r>
              <a:rPr lang="en-US" sz="2000" dirty="0"/>
              <a:t>that should be addressed in the Explanatory Memorandum.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6953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2358</TotalTime>
  <Words>1345</Words>
  <Application>Microsoft Office PowerPoint</Application>
  <PresentationFormat>On-screen Show (16:9)</PresentationFormat>
  <Paragraphs>205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MS PGothic</vt:lpstr>
      <vt:lpstr>Arial</vt:lpstr>
      <vt:lpstr>Arial Narrow</vt:lpstr>
      <vt:lpstr>Calibri</vt:lpstr>
      <vt:lpstr>Times New Roman</vt:lpstr>
      <vt:lpstr>Office Theme</vt:lpstr>
      <vt:lpstr>ISA 315 (Revised)  Identifying and Assessing the Risks of Material Misstatement through Understanding the Entity and Its Environment </vt:lpstr>
      <vt:lpstr>ISA 315 (Revised) - Introduction</vt:lpstr>
      <vt:lpstr>Task Force</vt:lpstr>
      <vt:lpstr>Task Force Meetings</vt:lpstr>
      <vt:lpstr>ISA 315 (Revised) – Significant Changes Made Since March 2018</vt:lpstr>
      <vt:lpstr>ISA 315 (Revised) – Flowchart: Overall Standard</vt:lpstr>
      <vt:lpstr>ISA 315 (Revised) – Flowchart: System of Internal Control </vt:lpstr>
      <vt:lpstr>Outreach Feedback – June 2018 </vt:lpstr>
      <vt:lpstr>Feedback from SMPC</vt:lpstr>
      <vt:lpstr>ISA 315 (Revised) – Matters for Exposure?</vt:lpstr>
      <vt:lpstr>Matters for IAASB Consideration</vt:lpstr>
      <vt:lpstr>Matter for IAASB Consideration</vt:lpstr>
      <vt:lpstr>Matter for IAASB Consideration</vt:lpstr>
      <vt:lpstr>Matters for IAASB Consideration</vt:lpstr>
      <vt:lpstr>Matters for IAASB Consideration</vt:lpstr>
      <vt:lpstr>Matters for IAASB Consideration</vt:lpstr>
      <vt:lpstr>Matter for IAASB Consideration</vt:lpstr>
      <vt:lpstr>Matters for IAASB Consideration</vt:lpstr>
      <vt:lpstr>Matter for IAASB Consideration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Phil Minnaar</cp:lastModifiedBy>
  <cp:revision>163</cp:revision>
  <cp:lastPrinted>2018-06-18T22:13:55Z</cp:lastPrinted>
  <dcterms:created xsi:type="dcterms:W3CDTF">2016-11-09T14:56:20Z</dcterms:created>
  <dcterms:modified xsi:type="dcterms:W3CDTF">2018-06-19T01:35:55Z</dcterms:modified>
</cp:coreProperties>
</file>