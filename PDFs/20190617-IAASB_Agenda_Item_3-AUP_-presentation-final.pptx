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8.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25.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31.xml" ContentType="application/vnd.openxmlformats-officedocument.presentationml.notesSl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3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8"/>
  </p:notesMasterIdLst>
  <p:handoutMasterIdLst>
    <p:handoutMasterId r:id="rId39"/>
  </p:handoutMasterIdLst>
  <p:sldIdLst>
    <p:sldId id="271" r:id="rId2"/>
    <p:sldId id="304" r:id="rId3"/>
    <p:sldId id="273" r:id="rId4"/>
    <p:sldId id="277" r:id="rId5"/>
    <p:sldId id="295" r:id="rId6"/>
    <p:sldId id="346" r:id="rId7"/>
    <p:sldId id="279" r:id="rId8"/>
    <p:sldId id="297" r:id="rId9"/>
    <p:sldId id="280" r:id="rId10"/>
    <p:sldId id="281" r:id="rId11"/>
    <p:sldId id="298" r:id="rId12"/>
    <p:sldId id="299" r:id="rId13"/>
    <p:sldId id="300" r:id="rId14"/>
    <p:sldId id="301" r:id="rId15"/>
    <p:sldId id="302" r:id="rId16"/>
    <p:sldId id="492" r:id="rId17"/>
    <p:sldId id="493" r:id="rId18"/>
    <p:sldId id="494" r:id="rId19"/>
    <p:sldId id="495" r:id="rId20"/>
    <p:sldId id="496" r:id="rId21"/>
    <p:sldId id="497" r:id="rId22"/>
    <p:sldId id="507" r:id="rId23"/>
    <p:sldId id="498" r:id="rId24"/>
    <p:sldId id="499" r:id="rId25"/>
    <p:sldId id="508" r:id="rId26"/>
    <p:sldId id="500" r:id="rId27"/>
    <p:sldId id="510" r:id="rId28"/>
    <p:sldId id="511" r:id="rId29"/>
    <p:sldId id="512" r:id="rId30"/>
    <p:sldId id="501" r:id="rId31"/>
    <p:sldId id="503" r:id="rId32"/>
    <p:sldId id="514" r:id="rId33"/>
    <p:sldId id="502" r:id="rId34"/>
    <p:sldId id="491" r:id="rId35"/>
    <p:sldId id="517" r:id="rId36"/>
    <p:sldId id="294" r:id="rId37"/>
  </p:sldIdLst>
  <p:sldSz cx="9144000" cy="5143500" type="screen16x9"/>
  <p:notesSz cx="6950075" cy="9236075"/>
  <p:defaultTex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ietsman, Megan" initials="MZ" lastIdx="8" clrIdx="0">
    <p:extLst>
      <p:ext uri="{19B8F6BF-5375-455C-9EA6-DF929625EA0E}">
        <p15:presenceInfo xmlns:p15="http://schemas.microsoft.com/office/powerpoint/2012/main" userId="Zietsman, Megan" providerId="None"/>
      </p:ext>
    </p:extLst>
  </p:cmAuthor>
  <p:cmAuthor id="2" name="Kathleen Healy" initials="KH" lastIdx="13" clrIdx="1">
    <p:extLst>
      <p:ext uri="{19B8F6BF-5375-455C-9EA6-DF929625EA0E}">
        <p15:presenceInfo xmlns:p15="http://schemas.microsoft.com/office/powerpoint/2012/main" userId="S-1-5-21-1801674531-1972579041-839522115-413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F15A22"/>
    <a:srgbClr val="005BAA"/>
    <a:srgbClr val="00C0F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50" autoAdjust="0"/>
  </p:normalViewPr>
  <p:slideViewPr>
    <p:cSldViewPr snapToGrid="0" snapToObjects="1">
      <p:cViewPr varScale="1">
        <p:scale>
          <a:sx n="110" d="100"/>
          <a:sy n="110" d="100"/>
        </p:scale>
        <p:origin x="158" y="62"/>
      </p:cViewPr>
      <p:guideLst>
        <p:guide orient="horz" pos="1620"/>
        <p:guide pos="2880"/>
      </p:guideLst>
    </p:cSldViewPr>
  </p:slideViewPr>
  <p:outlineViewPr>
    <p:cViewPr>
      <p:scale>
        <a:sx n="66" d="100"/>
        <a:sy n="66" d="100"/>
      </p:scale>
      <p:origin x="0" y="0"/>
    </p:cViewPr>
  </p:outlineViewPr>
  <p:notesTextViewPr>
    <p:cViewPr>
      <p:scale>
        <a:sx n="3" d="2"/>
        <a:sy n="3" d="2"/>
      </p:scale>
      <p:origin x="0" y="0"/>
    </p:cViewPr>
  </p:notesTextViewPr>
  <p:sorterViewPr>
    <p:cViewPr varScale="1">
      <p:scale>
        <a:sx n="1" d="1"/>
        <a:sy n="1" d="1"/>
      </p:scale>
      <p:origin x="0" y="-606"/>
    </p:cViewPr>
  </p:sorterViewPr>
  <p:notesViewPr>
    <p:cSldViewPr snapToGrid="0" snapToObjects="1">
      <p:cViewPr varScale="1">
        <p:scale>
          <a:sx n="68" d="100"/>
          <a:sy n="68" d="100"/>
        </p:scale>
        <p:origin x="3270" y="5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  </c:v>
                </c:pt>
              </c:strCache>
            </c:strRef>
          </c:tx>
          <c:spPr>
            <a:solidFill>
              <a:srgbClr val="005BAA"/>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Individuals and others</c:v>
                </c:pt>
                <c:pt idx="1">
                  <c:v>Member bodies and other professional organizations</c:v>
                </c:pt>
                <c:pt idx="2">
                  <c:v>Public sector organizations</c:v>
                </c:pt>
                <c:pt idx="3">
                  <c:v>Accounting firms</c:v>
                </c:pt>
                <c:pt idx="4">
                  <c:v>National standard setters</c:v>
                </c:pt>
                <c:pt idx="5">
                  <c:v>Regulators and oversight authorities</c:v>
                </c:pt>
              </c:strCache>
            </c:strRef>
          </c:cat>
          <c:val>
            <c:numRef>
              <c:f>Sheet1!$B$2:$B$7</c:f>
              <c:numCache>
                <c:formatCode>General</c:formatCode>
                <c:ptCount val="6"/>
                <c:pt idx="0">
                  <c:v>1</c:v>
                </c:pt>
                <c:pt idx="1">
                  <c:v>24</c:v>
                </c:pt>
                <c:pt idx="2">
                  <c:v>4</c:v>
                </c:pt>
                <c:pt idx="3">
                  <c:v>11</c:v>
                </c:pt>
                <c:pt idx="4">
                  <c:v>9</c:v>
                </c:pt>
                <c:pt idx="5">
                  <c:v>3</c:v>
                </c:pt>
              </c:numCache>
            </c:numRef>
          </c:val>
          <c:extLst>
            <c:ext xmlns:c16="http://schemas.microsoft.com/office/drawing/2014/chart" uri="{C3380CC4-5D6E-409C-BE32-E72D297353CC}">
              <c16:uniqueId val="{00000000-0E05-4596-9FE0-068EC81F643B}"/>
            </c:ext>
          </c:extLst>
        </c:ser>
        <c:dLbls>
          <c:dLblPos val="outEnd"/>
          <c:showLegendKey val="0"/>
          <c:showVal val="1"/>
          <c:showCatName val="0"/>
          <c:showSerName val="0"/>
          <c:showPercent val="0"/>
          <c:showBubbleSize val="0"/>
        </c:dLbls>
        <c:gapWidth val="182"/>
        <c:axId val="229698416"/>
        <c:axId val="229698976"/>
      </c:barChart>
      <c:catAx>
        <c:axId val="22969841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229698976"/>
        <c:crosses val="autoZero"/>
        <c:auto val="1"/>
        <c:lblAlgn val="ctr"/>
        <c:lblOffset val="100"/>
        <c:noMultiLvlLbl val="0"/>
      </c:catAx>
      <c:valAx>
        <c:axId val="229698976"/>
        <c:scaling>
          <c:orientation val="minMax"/>
          <c:max val="25"/>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296984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Agree</c:v>
                </c:pt>
              </c:strCache>
            </c:strRef>
          </c:tx>
          <c:spPr>
            <a:solidFill>
              <a:schemeClr val="tx2"/>
            </a:solidFill>
            <a:ln>
              <a:noFill/>
            </a:ln>
            <a:effectLst/>
          </c:spPr>
          <c:invertIfNegative val="0"/>
          <c:cat>
            <c:strRef>
              <c:f>Sheet1!$A$2:$A$10</c:f>
              <c:strCache>
                <c:ptCount val="9"/>
                <c:pt idx="0">
                  <c:v>AUP report - form and content</c:v>
                </c:pt>
                <c:pt idx="1">
                  <c:v>AUP report - restrictions</c:v>
                </c:pt>
                <c:pt idx="2">
                  <c:v>Practitioner's expert</c:v>
                </c:pt>
                <c:pt idx="3">
                  <c:v>Engagement A &amp; C</c:v>
                </c:pt>
                <c:pt idx="4">
                  <c:v>Findings</c:v>
                </c:pt>
                <c:pt idx="5">
                  <c:v>Independence - disclosures</c:v>
                </c:pt>
                <c:pt idx="6">
                  <c:v>Independence - precondition</c:v>
                </c:pt>
                <c:pt idx="7">
                  <c:v>Professional judgment</c:v>
                </c:pt>
                <c:pt idx="8">
                  <c:v>Public interest</c:v>
                </c:pt>
              </c:strCache>
            </c:strRef>
          </c:cat>
          <c:val>
            <c:numRef>
              <c:f>Sheet1!$B$2:$B$10</c:f>
              <c:numCache>
                <c:formatCode>0%</c:formatCode>
                <c:ptCount val="9"/>
                <c:pt idx="0">
                  <c:v>0.86538461538461542</c:v>
                </c:pt>
                <c:pt idx="1">
                  <c:v>0.84615384615384615</c:v>
                </c:pt>
                <c:pt idx="2">
                  <c:v>0.96153846153846156</c:v>
                </c:pt>
                <c:pt idx="3">
                  <c:v>0.94230769230769229</c:v>
                </c:pt>
                <c:pt idx="4">
                  <c:v>0.75</c:v>
                </c:pt>
                <c:pt idx="5">
                  <c:v>0.78846153846153844</c:v>
                </c:pt>
                <c:pt idx="6">
                  <c:v>0.82692307692307687</c:v>
                </c:pt>
                <c:pt idx="7">
                  <c:v>0.88461538461538458</c:v>
                </c:pt>
                <c:pt idx="8">
                  <c:v>0.96153846153846156</c:v>
                </c:pt>
              </c:numCache>
            </c:numRef>
          </c:val>
          <c:extLst>
            <c:ext xmlns:c16="http://schemas.microsoft.com/office/drawing/2014/chart" uri="{C3380CC4-5D6E-409C-BE32-E72D297353CC}">
              <c16:uniqueId val="{00000000-B175-457F-B922-1BF1FAD5F87F}"/>
            </c:ext>
          </c:extLst>
        </c:ser>
        <c:ser>
          <c:idx val="1"/>
          <c:order val="1"/>
          <c:tx>
            <c:strRef>
              <c:f>Sheet1!$C$1</c:f>
              <c:strCache>
                <c:ptCount val="1"/>
                <c:pt idx="0">
                  <c:v>Disagree</c:v>
                </c:pt>
              </c:strCache>
            </c:strRef>
          </c:tx>
          <c:spPr>
            <a:solidFill>
              <a:srgbClr val="FF0000"/>
            </a:solidFill>
            <a:ln>
              <a:noFill/>
            </a:ln>
            <a:effectLst/>
          </c:spPr>
          <c:invertIfNegative val="0"/>
          <c:cat>
            <c:strRef>
              <c:f>Sheet1!$A$2:$A$10</c:f>
              <c:strCache>
                <c:ptCount val="9"/>
                <c:pt idx="0">
                  <c:v>AUP report - form and content</c:v>
                </c:pt>
                <c:pt idx="1">
                  <c:v>AUP report - restrictions</c:v>
                </c:pt>
                <c:pt idx="2">
                  <c:v>Practitioner's expert</c:v>
                </c:pt>
                <c:pt idx="3">
                  <c:v>Engagement A &amp; C</c:v>
                </c:pt>
                <c:pt idx="4">
                  <c:v>Findings</c:v>
                </c:pt>
                <c:pt idx="5">
                  <c:v>Independence - disclosures</c:v>
                </c:pt>
                <c:pt idx="6">
                  <c:v>Independence - precondition</c:v>
                </c:pt>
                <c:pt idx="7">
                  <c:v>Professional judgment</c:v>
                </c:pt>
                <c:pt idx="8">
                  <c:v>Public interest</c:v>
                </c:pt>
              </c:strCache>
            </c:strRef>
          </c:cat>
          <c:val>
            <c:numRef>
              <c:f>Sheet1!$C$2:$C$10</c:f>
              <c:numCache>
                <c:formatCode>0%</c:formatCode>
                <c:ptCount val="9"/>
                <c:pt idx="0">
                  <c:v>1.9230769230769232E-2</c:v>
                </c:pt>
                <c:pt idx="1">
                  <c:v>0.13461538461538461</c:v>
                </c:pt>
                <c:pt idx="2">
                  <c:v>1.9230769230769232E-2</c:v>
                </c:pt>
                <c:pt idx="3">
                  <c:v>3.8461538461538464E-2</c:v>
                </c:pt>
                <c:pt idx="4">
                  <c:v>0.23076923076923078</c:v>
                </c:pt>
                <c:pt idx="5">
                  <c:v>0.21153846153846154</c:v>
                </c:pt>
                <c:pt idx="6">
                  <c:v>0.17307692307692307</c:v>
                </c:pt>
                <c:pt idx="7">
                  <c:v>9.6153846153846159E-2</c:v>
                </c:pt>
                <c:pt idx="8">
                  <c:v>0</c:v>
                </c:pt>
              </c:numCache>
            </c:numRef>
          </c:val>
          <c:extLst>
            <c:ext xmlns:c16="http://schemas.microsoft.com/office/drawing/2014/chart" uri="{C3380CC4-5D6E-409C-BE32-E72D297353CC}">
              <c16:uniqueId val="{00000001-B175-457F-B922-1BF1FAD5F87F}"/>
            </c:ext>
          </c:extLst>
        </c:ser>
        <c:ser>
          <c:idx val="2"/>
          <c:order val="2"/>
          <c:tx>
            <c:strRef>
              <c:f>Sheet1!$D$1</c:f>
              <c:strCache>
                <c:ptCount val="1"/>
                <c:pt idx="0">
                  <c:v>No specific response</c:v>
                </c:pt>
              </c:strCache>
            </c:strRef>
          </c:tx>
          <c:spPr>
            <a:solidFill>
              <a:srgbClr val="FFFF00"/>
            </a:solidFill>
            <a:ln>
              <a:noFill/>
            </a:ln>
            <a:effectLst/>
          </c:spPr>
          <c:invertIfNegative val="0"/>
          <c:cat>
            <c:strRef>
              <c:f>Sheet1!$A$2:$A$10</c:f>
              <c:strCache>
                <c:ptCount val="9"/>
                <c:pt idx="0">
                  <c:v>AUP report - form and content</c:v>
                </c:pt>
                <c:pt idx="1">
                  <c:v>AUP report - restrictions</c:v>
                </c:pt>
                <c:pt idx="2">
                  <c:v>Practitioner's expert</c:v>
                </c:pt>
                <c:pt idx="3">
                  <c:v>Engagement A &amp; C</c:v>
                </c:pt>
                <c:pt idx="4">
                  <c:v>Findings</c:v>
                </c:pt>
                <c:pt idx="5">
                  <c:v>Independence - disclosures</c:v>
                </c:pt>
                <c:pt idx="6">
                  <c:v>Independence - precondition</c:v>
                </c:pt>
                <c:pt idx="7">
                  <c:v>Professional judgment</c:v>
                </c:pt>
                <c:pt idx="8">
                  <c:v>Public interest</c:v>
                </c:pt>
              </c:strCache>
            </c:strRef>
          </c:cat>
          <c:val>
            <c:numRef>
              <c:f>Sheet1!$D$2:$D$10</c:f>
              <c:numCache>
                <c:formatCode>0%</c:formatCode>
                <c:ptCount val="9"/>
                <c:pt idx="0">
                  <c:v>0.11538461538461539</c:v>
                </c:pt>
                <c:pt idx="1">
                  <c:v>1.9230769230769232E-2</c:v>
                </c:pt>
                <c:pt idx="2">
                  <c:v>1.9230769230769232E-2</c:v>
                </c:pt>
                <c:pt idx="3">
                  <c:v>1.9230769230769232E-2</c:v>
                </c:pt>
                <c:pt idx="4">
                  <c:v>1.9230769230769232E-2</c:v>
                </c:pt>
                <c:pt idx="5">
                  <c:v>0</c:v>
                </c:pt>
                <c:pt idx="6">
                  <c:v>0</c:v>
                </c:pt>
                <c:pt idx="7">
                  <c:v>1.9230769230769232E-2</c:v>
                </c:pt>
                <c:pt idx="8">
                  <c:v>3.8461538461538464E-2</c:v>
                </c:pt>
              </c:numCache>
            </c:numRef>
          </c:val>
          <c:extLst>
            <c:ext xmlns:c16="http://schemas.microsoft.com/office/drawing/2014/chart" uri="{C3380CC4-5D6E-409C-BE32-E72D297353CC}">
              <c16:uniqueId val="{00000002-B175-457F-B922-1BF1FAD5F87F}"/>
            </c:ext>
          </c:extLst>
        </c:ser>
        <c:dLbls>
          <c:showLegendKey val="0"/>
          <c:showVal val="0"/>
          <c:showCatName val="0"/>
          <c:showSerName val="0"/>
          <c:showPercent val="0"/>
          <c:showBubbleSize val="0"/>
        </c:dLbls>
        <c:gapWidth val="182"/>
        <c:overlap val="100"/>
        <c:axId val="80043120"/>
        <c:axId val="349205744"/>
      </c:barChart>
      <c:catAx>
        <c:axId val="8004312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49205744"/>
        <c:crosses val="autoZero"/>
        <c:auto val="1"/>
        <c:lblAlgn val="ctr"/>
        <c:lblOffset val="100"/>
        <c:noMultiLvlLbl val="0"/>
      </c:catAx>
      <c:valAx>
        <c:axId val="349205744"/>
        <c:scaling>
          <c:orientation val="minMax"/>
          <c:max val="1"/>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00431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499148755054268"/>
          <c:y val="0.18888138982627173"/>
          <c:w val="0.64486131801092439"/>
          <c:h val="0.56809211348581434"/>
        </c:manualLayout>
      </c:layout>
      <c:doughnutChart>
        <c:varyColors val="1"/>
        <c:ser>
          <c:idx val="0"/>
          <c:order val="0"/>
          <c:tx>
            <c:strRef>
              <c:f>Sheet1!$B$1</c:f>
              <c:strCache>
                <c:ptCount val="1"/>
                <c:pt idx="0">
                  <c:v>Column1</c:v>
                </c:pt>
              </c:strCache>
            </c:strRef>
          </c:tx>
          <c:spPr>
            <a:solidFill>
              <a:srgbClr val="00C0F3"/>
            </a:solidFill>
          </c:spPr>
          <c:dPt>
            <c:idx val="0"/>
            <c:bubble3D val="0"/>
            <c:spPr>
              <a:solidFill>
                <a:srgbClr val="005BAA"/>
              </a:solidFill>
              <a:ln w="19050">
                <a:solidFill>
                  <a:schemeClr val="lt1"/>
                </a:solidFill>
              </a:ln>
              <a:effectLst/>
            </c:spPr>
            <c:extLst>
              <c:ext xmlns:c16="http://schemas.microsoft.com/office/drawing/2014/chart" uri="{C3380CC4-5D6E-409C-BE32-E72D297353CC}">
                <c16:uniqueId val="{00000002-4F86-488B-ABCD-4883404238C2}"/>
              </c:ext>
            </c:extLst>
          </c:dPt>
          <c:dPt>
            <c:idx val="1"/>
            <c:bubble3D val="0"/>
            <c:spPr>
              <a:solidFill>
                <a:srgbClr val="00C0F3"/>
              </a:solidFill>
              <a:ln w="19050">
                <a:solidFill>
                  <a:schemeClr val="lt1"/>
                </a:solidFill>
              </a:ln>
              <a:effectLst/>
            </c:spPr>
            <c:extLst>
              <c:ext xmlns:c16="http://schemas.microsoft.com/office/drawing/2014/chart" uri="{C3380CC4-5D6E-409C-BE32-E72D297353CC}">
                <c16:uniqueId val="{00000001-4F86-488B-ABCD-4883404238C2}"/>
              </c:ext>
            </c:extLst>
          </c:dPt>
          <c:dPt>
            <c:idx val="2"/>
            <c:bubble3D val="0"/>
            <c:spPr>
              <a:solidFill>
                <a:schemeClr val="accent1"/>
              </a:solidFill>
              <a:ln w="19050">
                <a:solidFill>
                  <a:schemeClr val="lt1"/>
                </a:solidFill>
              </a:ln>
              <a:effectLst/>
            </c:spPr>
            <c:extLst>
              <c:ext xmlns:c16="http://schemas.microsoft.com/office/drawing/2014/chart" uri="{C3380CC4-5D6E-409C-BE32-E72D297353CC}">
                <c16:uniqueId val="{00000003-4F86-488B-ABCD-4883404238C2}"/>
              </c:ext>
            </c:extLst>
          </c:dPt>
          <c:dPt>
            <c:idx val="3"/>
            <c:bubble3D val="0"/>
            <c:spPr>
              <a:solidFill>
                <a:srgbClr val="FFFF00"/>
              </a:solidFill>
              <a:ln w="19050">
                <a:solidFill>
                  <a:schemeClr val="lt1"/>
                </a:solidFill>
              </a:ln>
              <a:effectLst/>
            </c:spPr>
            <c:extLst>
              <c:ext xmlns:c16="http://schemas.microsoft.com/office/drawing/2014/chart" uri="{C3380CC4-5D6E-409C-BE32-E72D297353CC}">
                <c16:uniqueId val="{00000006-84A3-4476-8F6D-F9800B3B737B}"/>
              </c:ext>
            </c:extLst>
          </c:dPt>
          <c:dLbls>
            <c:dLbl>
              <c:idx val="0"/>
              <c:layout>
                <c:manualLayout>
                  <c:x val="4.1666681855745791E-2"/>
                  <c:y val="0.1309523809523809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F86-488B-ABCD-4883404238C2}"/>
                </c:ext>
              </c:extLst>
            </c:dLbl>
            <c:dLbl>
              <c:idx val="1"/>
              <c:layout>
                <c:manualLayout>
                  <c:x val="-5.5555575807661059E-2"/>
                  <c:y val="-8.33333333333333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F86-488B-ABCD-4883404238C2}"/>
                </c:ext>
              </c:extLst>
            </c:dLbl>
            <c:dLbl>
              <c:idx val="2"/>
              <c:layout>
                <c:manualLayout>
                  <c:x val="-9.2592626346102175E-3"/>
                  <c:y val="-0.1130952380952381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F86-488B-ABCD-4883404238C2}"/>
                </c:ext>
              </c:extLst>
            </c:dLbl>
            <c:dLbl>
              <c:idx val="3"/>
              <c:spPr>
                <a:solidFill>
                  <a:srgbClr val="FFFF00"/>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6-84A3-4476-8F6D-F9800B3B737B}"/>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Agree</c:v>
                </c:pt>
                <c:pt idx="1">
                  <c:v>Agree w comments</c:v>
                </c:pt>
                <c:pt idx="2">
                  <c:v>Disagree</c:v>
                </c:pt>
                <c:pt idx="3">
                  <c:v>No specific response</c:v>
                </c:pt>
              </c:strCache>
            </c:strRef>
          </c:cat>
          <c:val>
            <c:numRef>
              <c:f>Sheet1!$B$2:$B$5</c:f>
              <c:numCache>
                <c:formatCode>General</c:formatCode>
                <c:ptCount val="4"/>
                <c:pt idx="0">
                  <c:v>32</c:v>
                </c:pt>
                <c:pt idx="1">
                  <c:v>18</c:v>
                </c:pt>
                <c:pt idx="2">
                  <c:v>0</c:v>
                </c:pt>
                <c:pt idx="3">
                  <c:v>2</c:v>
                </c:pt>
              </c:numCache>
            </c:numRef>
          </c:val>
          <c:extLst>
            <c:ext xmlns:c16="http://schemas.microsoft.com/office/drawing/2014/chart" uri="{C3380CC4-5D6E-409C-BE32-E72D297353CC}">
              <c16:uniqueId val="{00000000-4F86-488B-ABCD-4883404238C2}"/>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9258247264546478"/>
          <c:w val="1"/>
          <c:h val="0.2074175273545352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499148755054268"/>
          <c:y val="0.18888138982627173"/>
          <c:w val="0.64486131801092439"/>
          <c:h val="0.56809211348581434"/>
        </c:manualLayout>
      </c:layout>
      <c:doughnutChart>
        <c:varyColors val="1"/>
        <c:ser>
          <c:idx val="0"/>
          <c:order val="0"/>
          <c:tx>
            <c:strRef>
              <c:f>Sheet1!$B$1</c:f>
              <c:strCache>
                <c:ptCount val="1"/>
                <c:pt idx="0">
                  <c:v>Column1</c:v>
                </c:pt>
              </c:strCache>
            </c:strRef>
          </c:tx>
          <c:spPr>
            <a:solidFill>
              <a:srgbClr val="00C0F3"/>
            </a:solidFill>
          </c:spPr>
          <c:dPt>
            <c:idx val="0"/>
            <c:bubble3D val="0"/>
            <c:spPr>
              <a:solidFill>
                <a:srgbClr val="005BAA"/>
              </a:solidFill>
              <a:ln w="19050">
                <a:solidFill>
                  <a:schemeClr val="lt1"/>
                </a:solidFill>
              </a:ln>
              <a:effectLst/>
            </c:spPr>
            <c:extLst>
              <c:ext xmlns:c16="http://schemas.microsoft.com/office/drawing/2014/chart" uri="{C3380CC4-5D6E-409C-BE32-E72D297353CC}">
                <c16:uniqueId val="{00000002-4F86-488B-ABCD-4883404238C2}"/>
              </c:ext>
            </c:extLst>
          </c:dPt>
          <c:dPt>
            <c:idx val="1"/>
            <c:bubble3D val="0"/>
            <c:spPr>
              <a:solidFill>
                <a:srgbClr val="00C0F3"/>
              </a:solidFill>
              <a:ln w="19050">
                <a:solidFill>
                  <a:schemeClr val="lt1"/>
                </a:solidFill>
              </a:ln>
              <a:effectLst/>
            </c:spPr>
            <c:extLst>
              <c:ext xmlns:c16="http://schemas.microsoft.com/office/drawing/2014/chart" uri="{C3380CC4-5D6E-409C-BE32-E72D297353CC}">
                <c16:uniqueId val="{00000001-4F86-488B-ABCD-4883404238C2}"/>
              </c:ext>
            </c:extLst>
          </c:dPt>
          <c:dPt>
            <c:idx val="2"/>
            <c:bubble3D val="0"/>
            <c:spPr>
              <a:solidFill>
                <a:schemeClr val="accent1"/>
              </a:solidFill>
              <a:ln w="19050">
                <a:solidFill>
                  <a:schemeClr val="lt1"/>
                </a:solidFill>
              </a:ln>
              <a:effectLst/>
            </c:spPr>
            <c:extLst>
              <c:ext xmlns:c16="http://schemas.microsoft.com/office/drawing/2014/chart" uri="{C3380CC4-5D6E-409C-BE32-E72D297353CC}">
                <c16:uniqueId val="{00000003-4F86-488B-ABCD-4883404238C2}"/>
              </c:ext>
            </c:extLst>
          </c:dPt>
          <c:dPt>
            <c:idx val="3"/>
            <c:bubble3D val="0"/>
            <c:spPr>
              <a:solidFill>
                <a:srgbClr val="FFFF00"/>
              </a:solidFill>
              <a:ln w="19050">
                <a:solidFill>
                  <a:schemeClr val="lt1"/>
                </a:solidFill>
              </a:ln>
              <a:effectLst/>
            </c:spPr>
            <c:extLst>
              <c:ext xmlns:c16="http://schemas.microsoft.com/office/drawing/2014/chart" uri="{C3380CC4-5D6E-409C-BE32-E72D297353CC}">
                <c16:uniqueId val="{00000006-9A3D-483A-9F49-18530D6F137A}"/>
              </c:ext>
            </c:extLst>
          </c:dPt>
          <c:dLbls>
            <c:dLbl>
              <c:idx val="0"/>
              <c:layout>
                <c:manualLayout>
                  <c:x val="0.14814827753653298"/>
                  <c:y val="-6.4928247605409788E-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F86-488B-ABCD-4883404238C2}"/>
                </c:ext>
              </c:extLst>
            </c:dLbl>
            <c:dLbl>
              <c:idx val="1"/>
              <c:layout>
                <c:manualLayout>
                  <c:x val="7.3109587174712665E-2"/>
                  <c:y val="-0.11103902921225763"/>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8.0437873584701322E-2"/>
                      <c:h val="3.328138528138528E-2"/>
                    </c:manualLayout>
                  </c15:layout>
                </c:ext>
                <c:ext xmlns:c16="http://schemas.microsoft.com/office/drawing/2014/chart" uri="{C3380CC4-5D6E-409C-BE32-E72D297353CC}">
                  <c16:uniqueId val="{00000001-4F86-488B-ABCD-4883404238C2}"/>
                </c:ext>
              </c:extLst>
            </c:dLbl>
            <c:dLbl>
              <c:idx val="2"/>
              <c:layout>
                <c:manualLayout>
                  <c:x val="-9.2592626346102175E-3"/>
                  <c:y val="-0.1130952380952381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F86-488B-ABCD-4883404238C2}"/>
                </c:ext>
              </c:extLst>
            </c:dLbl>
            <c:dLbl>
              <c:idx val="3"/>
              <c:spPr>
                <a:solidFill>
                  <a:srgbClr val="FFFF00"/>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6-9A3D-483A-9F49-18530D6F137A}"/>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Agree</c:v>
                </c:pt>
                <c:pt idx="1">
                  <c:v>Agree w comments</c:v>
                </c:pt>
                <c:pt idx="2">
                  <c:v>Disagree</c:v>
                </c:pt>
                <c:pt idx="3">
                  <c:v>No specific response</c:v>
                </c:pt>
              </c:strCache>
            </c:strRef>
          </c:cat>
          <c:val>
            <c:numRef>
              <c:f>Sheet1!$B$2:$B$5</c:f>
              <c:numCache>
                <c:formatCode>General</c:formatCode>
                <c:ptCount val="4"/>
                <c:pt idx="0">
                  <c:v>12</c:v>
                </c:pt>
                <c:pt idx="1">
                  <c:v>34</c:v>
                </c:pt>
                <c:pt idx="2">
                  <c:v>5</c:v>
                </c:pt>
                <c:pt idx="3">
                  <c:v>1</c:v>
                </c:pt>
              </c:numCache>
            </c:numRef>
          </c:val>
          <c:extLst>
            <c:ext xmlns:c16="http://schemas.microsoft.com/office/drawing/2014/chart" uri="{C3380CC4-5D6E-409C-BE32-E72D297353CC}">
              <c16:uniqueId val="{00000000-4F86-488B-ABCD-4883404238C2}"/>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9258247264546478"/>
          <c:w val="1"/>
          <c:h val="0.2074175273545352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499148755054268"/>
          <c:y val="0.18888138982627173"/>
          <c:w val="0.64486131801092439"/>
          <c:h val="0.56809211348581434"/>
        </c:manualLayout>
      </c:layout>
      <c:doughnutChart>
        <c:varyColors val="1"/>
        <c:ser>
          <c:idx val="0"/>
          <c:order val="0"/>
          <c:tx>
            <c:strRef>
              <c:f>Sheet1!$B$1</c:f>
              <c:strCache>
                <c:ptCount val="1"/>
                <c:pt idx="0">
                  <c:v>Column1</c:v>
                </c:pt>
              </c:strCache>
            </c:strRef>
          </c:tx>
          <c:spPr>
            <a:solidFill>
              <a:srgbClr val="00C0F3"/>
            </a:solidFill>
          </c:spPr>
          <c:dPt>
            <c:idx val="0"/>
            <c:bubble3D val="0"/>
            <c:spPr>
              <a:solidFill>
                <a:srgbClr val="005BAA"/>
              </a:solidFill>
              <a:ln w="19050">
                <a:solidFill>
                  <a:schemeClr val="lt1"/>
                </a:solidFill>
              </a:ln>
              <a:effectLst/>
            </c:spPr>
            <c:extLst>
              <c:ext xmlns:c16="http://schemas.microsoft.com/office/drawing/2014/chart" uri="{C3380CC4-5D6E-409C-BE32-E72D297353CC}">
                <c16:uniqueId val="{00000002-4F86-488B-ABCD-4883404238C2}"/>
              </c:ext>
            </c:extLst>
          </c:dPt>
          <c:dPt>
            <c:idx val="1"/>
            <c:bubble3D val="0"/>
            <c:spPr>
              <a:solidFill>
                <a:srgbClr val="00C0F3"/>
              </a:solidFill>
              <a:ln w="19050">
                <a:solidFill>
                  <a:schemeClr val="lt1"/>
                </a:solidFill>
              </a:ln>
              <a:effectLst/>
            </c:spPr>
            <c:extLst>
              <c:ext xmlns:c16="http://schemas.microsoft.com/office/drawing/2014/chart" uri="{C3380CC4-5D6E-409C-BE32-E72D297353CC}">
                <c16:uniqueId val="{00000001-4F86-488B-ABCD-4883404238C2}"/>
              </c:ext>
            </c:extLst>
          </c:dPt>
          <c:dPt>
            <c:idx val="2"/>
            <c:bubble3D val="0"/>
            <c:spPr>
              <a:solidFill>
                <a:schemeClr val="accent1"/>
              </a:solidFill>
              <a:ln w="19050">
                <a:solidFill>
                  <a:schemeClr val="lt1"/>
                </a:solidFill>
              </a:ln>
              <a:effectLst/>
            </c:spPr>
            <c:extLst>
              <c:ext xmlns:c16="http://schemas.microsoft.com/office/drawing/2014/chart" uri="{C3380CC4-5D6E-409C-BE32-E72D297353CC}">
                <c16:uniqueId val="{00000003-4F86-488B-ABCD-4883404238C2}"/>
              </c:ext>
            </c:extLst>
          </c:dPt>
          <c:dPt>
            <c:idx val="3"/>
            <c:bubble3D val="0"/>
            <c:spPr>
              <a:solidFill>
                <a:srgbClr val="FFFF00"/>
              </a:solidFill>
              <a:ln w="19050">
                <a:solidFill>
                  <a:schemeClr val="lt1"/>
                </a:solidFill>
              </a:ln>
              <a:effectLst/>
            </c:spPr>
            <c:extLst>
              <c:ext xmlns:c16="http://schemas.microsoft.com/office/drawing/2014/chart" uri="{C3380CC4-5D6E-409C-BE32-E72D297353CC}">
                <c16:uniqueId val="{00000006-21E0-404A-A344-A34D46655EBB}"/>
              </c:ext>
            </c:extLst>
          </c:dPt>
          <c:dLbls>
            <c:dLbl>
              <c:idx val="0"/>
              <c:layout>
                <c:manualLayout>
                  <c:x val="4.1666681855745791E-2"/>
                  <c:y val="0.1309523809523809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F86-488B-ABCD-4883404238C2}"/>
                </c:ext>
              </c:extLst>
            </c:dLbl>
            <c:dLbl>
              <c:idx val="1"/>
              <c:layout>
                <c:manualLayout>
                  <c:x val="0.10416668122286002"/>
                  <c:y val="-4.0043221869993526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8.0437873584701322E-2"/>
                      <c:h val="5.7523809523809519E-2"/>
                    </c:manualLayout>
                  </c15:layout>
                </c:ext>
                <c:ext xmlns:c16="http://schemas.microsoft.com/office/drawing/2014/chart" uri="{C3380CC4-5D6E-409C-BE32-E72D297353CC}">
                  <c16:uniqueId val="{00000001-4F86-488B-ABCD-4883404238C2}"/>
                </c:ext>
              </c:extLst>
            </c:dLbl>
            <c:dLbl>
              <c:idx val="2"/>
              <c:layout>
                <c:manualLayout>
                  <c:x val="-9.2592626346102175E-3"/>
                  <c:y val="-0.1130952380952381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F86-488B-ABCD-4883404238C2}"/>
                </c:ext>
              </c:extLst>
            </c:dLbl>
            <c:dLbl>
              <c:idx val="3"/>
              <c:layout>
                <c:manualLayout>
                  <c:x val="-8.1339068585476749E-17"/>
                  <c:y val="-8.311688311688313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21E0-404A-A344-A34D46655EBB}"/>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Agree</c:v>
                </c:pt>
                <c:pt idx="1">
                  <c:v>Agree w comments</c:v>
                </c:pt>
                <c:pt idx="2">
                  <c:v>Disagree</c:v>
                </c:pt>
                <c:pt idx="3">
                  <c:v>No specific response</c:v>
                </c:pt>
              </c:strCache>
            </c:strRef>
          </c:cat>
          <c:val>
            <c:numRef>
              <c:f>Sheet1!$B$2:$B$5</c:f>
              <c:numCache>
                <c:formatCode>General</c:formatCode>
                <c:ptCount val="4"/>
                <c:pt idx="0">
                  <c:v>33</c:v>
                </c:pt>
                <c:pt idx="1">
                  <c:v>10</c:v>
                </c:pt>
                <c:pt idx="2">
                  <c:v>9</c:v>
                </c:pt>
                <c:pt idx="3">
                  <c:v>0</c:v>
                </c:pt>
              </c:numCache>
            </c:numRef>
          </c:val>
          <c:extLst>
            <c:ext xmlns:c16="http://schemas.microsoft.com/office/drawing/2014/chart" uri="{C3380CC4-5D6E-409C-BE32-E72D297353CC}">
              <c16:uniqueId val="{00000000-4F86-488B-ABCD-4883404238C2}"/>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9258247264546478"/>
          <c:w val="1"/>
          <c:h val="0.2074175273545352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499148755054268"/>
          <c:y val="0.18888138982627173"/>
          <c:w val="0.64486131801092439"/>
          <c:h val="0.56809211348581434"/>
        </c:manualLayout>
      </c:layout>
      <c:doughnutChart>
        <c:varyColors val="1"/>
        <c:ser>
          <c:idx val="0"/>
          <c:order val="0"/>
          <c:tx>
            <c:strRef>
              <c:f>Sheet1!$B$1</c:f>
              <c:strCache>
                <c:ptCount val="1"/>
                <c:pt idx="0">
                  <c:v>Column1</c:v>
                </c:pt>
              </c:strCache>
            </c:strRef>
          </c:tx>
          <c:spPr>
            <a:solidFill>
              <a:srgbClr val="00C0F3"/>
            </a:solidFill>
          </c:spPr>
          <c:dPt>
            <c:idx val="0"/>
            <c:bubble3D val="0"/>
            <c:spPr>
              <a:solidFill>
                <a:srgbClr val="005BAA"/>
              </a:solidFill>
              <a:ln w="19050">
                <a:solidFill>
                  <a:schemeClr val="lt1"/>
                </a:solidFill>
              </a:ln>
              <a:effectLst/>
            </c:spPr>
            <c:extLst>
              <c:ext xmlns:c16="http://schemas.microsoft.com/office/drawing/2014/chart" uri="{C3380CC4-5D6E-409C-BE32-E72D297353CC}">
                <c16:uniqueId val="{00000002-4F86-488B-ABCD-4883404238C2}"/>
              </c:ext>
            </c:extLst>
          </c:dPt>
          <c:dPt>
            <c:idx val="1"/>
            <c:bubble3D val="0"/>
            <c:spPr>
              <a:solidFill>
                <a:srgbClr val="00C0F3"/>
              </a:solidFill>
              <a:ln w="19050">
                <a:solidFill>
                  <a:schemeClr val="lt1"/>
                </a:solidFill>
              </a:ln>
              <a:effectLst/>
            </c:spPr>
            <c:extLst>
              <c:ext xmlns:c16="http://schemas.microsoft.com/office/drawing/2014/chart" uri="{C3380CC4-5D6E-409C-BE32-E72D297353CC}">
                <c16:uniqueId val="{00000001-4F86-488B-ABCD-4883404238C2}"/>
              </c:ext>
            </c:extLst>
          </c:dPt>
          <c:dPt>
            <c:idx val="2"/>
            <c:bubble3D val="0"/>
            <c:spPr>
              <a:solidFill>
                <a:schemeClr val="accent1"/>
              </a:solidFill>
              <a:ln w="19050">
                <a:solidFill>
                  <a:schemeClr val="lt1"/>
                </a:solidFill>
              </a:ln>
              <a:effectLst/>
            </c:spPr>
            <c:extLst>
              <c:ext xmlns:c16="http://schemas.microsoft.com/office/drawing/2014/chart" uri="{C3380CC4-5D6E-409C-BE32-E72D297353CC}">
                <c16:uniqueId val="{00000003-4F86-488B-ABCD-4883404238C2}"/>
              </c:ext>
            </c:extLst>
          </c:dPt>
          <c:dPt>
            <c:idx val="3"/>
            <c:bubble3D val="0"/>
            <c:spPr>
              <a:solidFill>
                <a:srgbClr val="FFFF00"/>
              </a:solidFill>
              <a:ln w="19050">
                <a:solidFill>
                  <a:schemeClr val="lt1"/>
                </a:solidFill>
              </a:ln>
              <a:effectLst/>
            </c:spPr>
            <c:extLst>
              <c:ext xmlns:c16="http://schemas.microsoft.com/office/drawing/2014/chart" uri="{C3380CC4-5D6E-409C-BE32-E72D297353CC}">
                <c16:uniqueId val="{00000006-C561-4C61-8BF1-2DD738F1EC10}"/>
              </c:ext>
            </c:extLst>
          </c:dPt>
          <c:dLbls>
            <c:dLbl>
              <c:idx val="0"/>
              <c:layout>
                <c:manualLayout>
                  <c:x val="-2.9320831310022465E-2"/>
                  <c:y val="9.632041449364277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F86-488B-ABCD-4883404238C2}"/>
                </c:ext>
              </c:extLst>
            </c:dLbl>
            <c:dLbl>
              <c:idx val="1"/>
              <c:layout>
                <c:manualLayout>
                  <c:x val="-5.5555575807661059E-2"/>
                  <c:y val="-8.33333333333333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F86-488B-ABCD-4883404238C2}"/>
                </c:ext>
              </c:extLst>
            </c:dLbl>
            <c:dLbl>
              <c:idx val="2"/>
              <c:layout>
                <c:manualLayout>
                  <c:x val="-9.2592626346102175E-3"/>
                  <c:y val="-0.1130952380952381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F86-488B-ABCD-4883404238C2}"/>
                </c:ext>
              </c:extLst>
            </c:dLbl>
            <c:dLbl>
              <c:idx val="3"/>
              <c:layout>
                <c:manualLayout>
                  <c:x val="-8.1339068585476749E-17"/>
                  <c:y val="-9.004329004329007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561-4C61-8BF1-2DD738F1EC1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Agree</c:v>
                </c:pt>
                <c:pt idx="1">
                  <c:v>Agree w comments</c:v>
                </c:pt>
                <c:pt idx="2">
                  <c:v>Disagree</c:v>
                </c:pt>
                <c:pt idx="3">
                  <c:v>No specific response</c:v>
                </c:pt>
              </c:strCache>
            </c:strRef>
          </c:cat>
          <c:val>
            <c:numRef>
              <c:f>Sheet1!$B$2:$B$5</c:f>
              <c:numCache>
                <c:formatCode>General</c:formatCode>
                <c:ptCount val="4"/>
                <c:pt idx="0">
                  <c:v>9</c:v>
                </c:pt>
                <c:pt idx="1">
                  <c:v>32</c:v>
                </c:pt>
                <c:pt idx="2">
                  <c:v>11</c:v>
                </c:pt>
                <c:pt idx="3">
                  <c:v>0</c:v>
                </c:pt>
              </c:numCache>
            </c:numRef>
          </c:val>
          <c:extLst>
            <c:ext xmlns:c16="http://schemas.microsoft.com/office/drawing/2014/chart" uri="{C3380CC4-5D6E-409C-BE32-E72D297353CC}">
              <c16:uniqueId val="{00000000-4F86-488B-ABCD-4883404238C2}"/>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9258247264546478"/>
          <c:w val="1"/>
          <c:h val="0.2074175273545352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499148755054268"/>
          <c:y val="0.18888138982627173"/>
          <c:w val="0.64486131801092439"/>
          <c:h val="0.56809211348581434"/>
        </c:manualLayout>
      </c:layout>
      <c:doughnutChart>
        <c:varyColors val="1"/>
        <c:ser>
          <c:idx val="0"/>
          <c:order val="0"/>
          <c:tx>
            <c:strRef>
              <c:f>Sheet1!$B$1</c:f>
              <c:strCache>
                <c:ptCount val="1"/>
                <c:pt idx="0">
                  <c:v>Column1</c:v>
                </c:pt>
              </c:strCache>
            </c:strRef>
          </c:tx>
          <c:spPr>
            <a:solidFill>
              <a:srgbClr val="00C0F3"/>
            </a:solidFill>
          </c:spPr>
          <c:dPt>
            <c:idx val="0"/>
            <c:bubble3D val="0"/>
            <c:spPr>
              <a:solidFill>
                <a:srgbClr val="005BAA"/>
              </a:solidFill>
              <a:ln w="19050">
                <a:solidFill>
                  <a:schemeClr val="lt1"/>
                </a:solidFill>
              </a:ln>
              <a:effectLst/>
            </c:spPr>
            <c:extLst>
              <c:ext xmlns:c16="http://schemas.microsoft.com/office/drawing/2014/chart" uri="{C3380CC4-5D6E-409C-BE32-E72D297353CC}">
                <c16:uniqueId val="{00000002-4F86-488B-ABCD-4883404238C2}"/>
              </c:ext>
            </c:extLst>
          </c:dPt>
          <c:dPt>
            <c:idx val="1"/>
            <c:bubble3D val="0"/>
            <c:spPr>
              <a:solidFill>
                <a:srgbClr val="00C0F3"/>
              </a:solidFill>
              <a:ln w="19050">
                <a:solidFill>
                  <a:schemeClr val="lt1"/>
                </a:solidFill>
              </a:ln>
              <a:effectLst/>
            </c:spPr>
            <c:extLst>
              <c:ext xmlns:c16="http://schemas.microsoft.com/office/drawing/2014/chart" uri="{C3380CC4-5D6E-409C-BE32-E72D297353CC}">
                <c16:uniqueId val="{00000001-4F86-488B-ABCD-4883404238C2}"/>
              </c:ext>
            </c:extLst>
          </c:dPt>
          <c:dPt>
            <c:idx val="2"/>
            <c:bubble3D val="0"/>
            <c:spPr>
              <a:solidFill>
                <a:schemeClr val="accent1"/>
              </a:solidFill>
              <a:ln w="19050">
                <a:solidFill>
                  <a:schemeClr val="lt1"/>
                </a:solidFill>
              </a:ln>
              <a:effectLst/>
            </c:spPr>
            <c:extLst>
              <c:ext xmlns:c16="http://schemas.microsoft.com/office/drawing/2014/chart" uri="{C3380CC4-5D6E-409C-BE32-E72D297353CC}">
                <c16:uniqueId val="{00000003-4F86-488B-ABCD-4883404238C2}"/>
              </c:ext>
            </c:extLst>
          </c:dPt>
          <c:dPt>
            <c:idx val="3"/>
            <c:bubble3D val="0"/>
            <c:spPr>
              <a:solidFill>
                <a:srgbClr val="FFFF00"/>
              </a:solidFill>
              <a:ln w="19050">
                <a:solidFill>
                  <a:schemeClr val="lt1"/>
                </a:solidFill>
              </a:ln>
              <a:effectLst/>
            </c:spPr>
            <c:extLst>
              <c:ext xmlns:c16="http://schemas.microsoft.com/office/drawing/2014/chart" uri="{C3380CC4-5D6E-409C-BE32-E72D297353CC}">
                <c16:uniqueId val="{00000006-154D-429C-A1EE-A514C2BAB2F0}"/>
              </c:ext>
            </c:extLst>
          </c:dPt>
          <c:dLbls>
            <c:dLbl>
              <c:idx val="0"/>
              <c:layout>
                <c:manualLayout>
                  <c:x val="4.1666681855745791E-2"/>
                  <c:y val="0.1309523809523809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F86-488B-ABCD-4883404238C2}"/>
                </c:ext>
              </c:extLst>
            </c:dLbl>
            <c:dLbl>
              <c:idx val="1"/>
              <c:layout>
                <c:manualLayout>
                  <c:x val="7.7546314895876559E-2"/>
                  <c:y val="-7.98701980434264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F86-488B-ABCD-4883404238C2}"/>
                </c:ext>
              </c:extLst>
            </c:dLbl>
            <c:dLbl>
              <c:idx val="2"/>
              <c:layout>
                <c:manualLayout>
                  <c:x val="-9.2592626346102175E-3"/>
                  <c:y val="-0.1130952380952381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F86-488B-ABCD-4883404238C2}"/>
                </c:ext>
              </c:extLst>
            </c:dLbl>
            <c:dLbl>
              <c:idx val="3"/>
              <c:layout>
                <c:manualLayout>
                  <c:x val="4.4367277211638089E-3"/>
                  <c:y val="7.61904761904761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154D-429C-A1EE-A514C2BAB2F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Agree</c:v>
                </c:pt>
                <c:pt idx="1">
                  <c:v>Agree w comments</c:v>
                </c:pt>
                <c:pt idx="2">
                  <c:v>Disagree</c:v>
                </c:pt>
                <c:pt idx="3">
                  <c:v>No specific response</c:v>
                </c:pt>
              </c:strCache>
            </c:strRef>
          </c:cat>
          <c:val>
            <c:numRef>
              <c:f>Sheet1!$B$2:$B$5</c:f>
              <c:numCache>
                <c:formatCode>General</c:formatCode>
                <c:ptCount val="4"/>
                <c:pt idx="0">
                  <c:v>26</c:v>
                </c:pt>
                <c:pt idx="1">
                  <c:v>13</c:v>
                </c:pt>
                <c:pt idx="2">
                  <c:v>12</c:v>
                </c:pt>
                <c:pt idx="3">
                  <c:v>1</c:v>
                </c:pt>
              </c:numCache>
            </c:numRef>
          </c:val>
          <c:extLst>
            <c:ext xmlns:c16="http://schemas.microsoft.com/office/drawing/2014/chart" uri="{C3380CC4-5D6E-409C-BE32-E72D297353CC}">
              <c16:uniqueId val="{00000000-4F86-488B-ABCD-4883404238C2}"/>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9258247264546478"/>
          <c:w val="1"/>
          <c:h val="0.2074175273545352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499148755054268"/>
          <c:y val="0.18888138982627173"/>
          <c:w val="0.64486131801092439"/>
          <c:h val="0.56809211348581434"/>
        </c:manualLayout>
      </c:layout>
      <c:doughnutChart>
        <c:varyColors val="1"/>
        <c:ser>
          <c:idx val="0"/>
          <c:order val="0"/>
          <c:tx>
            <c:strRef>
              <c:f>Sheet1!$B$1</c:f>
              <c:strCache>
                <c:ptCount val="1"/>
                <c:pt idx="0">
                  <c:v>Column1</c:v>
                </c:pt>
              </c:strCache>
            </c:strRef>
          </c:tx>
          <c:spPr>
            <a:solidFill>
              <a:srgbClr val="00C0F3"/>
            </a:solidFill>
          </c:spPr>
          <c:dPt>
            <c:idx val="0"/>
            <c:bubble3D val="0"/>
            <c:spPr>
              <a:solidFill>
                <a:srgbClr val="005BAA"/>
              </a:solidFill>
              <a:ln w="19050">
                <a:solidFill>
                  <a:schemeClr val="lt1"/>
                </a:solidFill>
              </a:ln>
              <a:effectLst/>
            </c:spPr>
            <c:extLst>
              <c:ext xmlns:c16="http://schemas.microsoft.com/office/drawing/2014/chart" uri="{C3380CC4-5D6E-409C-BE32-E72D297353CC}">
                <c16:uniqueId val="{00000002-4F86-488B-ABCD-4883404238C2}"/>
              </c:ext>
            </c:extLst>
          </c:dPt>
          <c:dPt>
            <c:idx val="1"/>
            <c:bubble3D val="0"/>
            <c:spPr>
              <a:solidFill>
                <a:srgbClr val="00C0F3"/>
              </a:solidFill>
              <a:ln w="19050">
                <a:solidFill>
                  <a:schemeClr val="lt1"/>
                </a:solidFill>
              </a:ln>
              <a:effectLst/>
            </c:spPr>
            <c:extLst>
              <c:ext xmlns:c16="http://schemas.microsoft.com/office/drawing/2014/chart" uri="{C3380CC4-5D6E-409C-BE32-E72D297353CC}">
                <c16:uniqueId val="{00000001-4F86-488B-ABCD-4883404238C2}"/>
              </c:ext>
            </c:extLst>
          </c:dPt>
          <c:dPt>
            <c:idx val="2"/>
            <c:bubble3D val="0"/>
            <c:spPr>
              <a:solidFill>
                <a:schemeClr val="accent1"/>
              </a:solidFill>
              <a:ln w="19050">
                <a:solidFill>
                  <a:schemeClr val="lt1"/>
                </a:solidFill>
              </a:ln>
              <a:effectLst/>
            </c:spPr>
            <c:extLst>
              <c:ext xmlns:c16="http://schemas.microsoft.com/office/drawing/2014/chart" uri="{C3380CC4-5D6E-409C-BE32-E72D297353CC}">
                <c16:uniqueId val="{00000003-4F86-488B-ABCD-4883404238C2}"/>
              </c:ext>
            </c:extLst>
          </c:dPt>
          <c:dPt>
            <c:idx val="3"/>
            <c:bubble3D val="0"/>
            <c:spPr>
              <a:solidFill>
                <a:srgbClr val="FFFF00"/>
              </a:solidFill>
              <a:ln w="19050">
                <a:solidFill>
                  <a:schemeClr val="lt1"/>
                </a:solidFill>
              </a:ln>
              <a:effectLst/>
            </c:spPr>
            <c:extLst>
              <c:ext xmlns:c16="http://schemas.microsoft.com/office/drawing/2014/chart" uri="{C3380CC4-5D6E-409C-BE32-E72D297353CC}">
                <c16:uniqueId val="{00000006-116F-4CC1-8FFF-6E9C15CF7A19}"/>
              </c:ext>
            </c:extLst>
          </c:dPt>
          <c:dLbls>
            <c:dLbl>
              <c:idx val="0"/>
              <c:layout>
                <c:manualLayout>
                  <c:x val="-7.8124836242825166E-2"/>
                  <c:y val="5.12987694719977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F86-488B-ABCD-4883404238C2}"/>
                </c:ext>
              </c:extLst>
            </c:dLbl>
            <c:dLbl>
              <c:idx val="1"/>
              <c:layout>
                <c:manualLayout>
                  <c:x val="-5.5555575807661059E-2"/>
                  <c:y val="-8.33333333333333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F86-488B-ABCD-4883404238C2}"/>
                </c:ext>
              </c:extLst>
            </c:dLbl>
            <c:dLbl>
              <c:idx val="2"/>
              <c:layout>
                <c:manualLayout>
                  <c:x val="-9.2592626346102175E-3"/>
                  <c:y val="-0.1130952380952381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F86-488B-ABCD-4883404238C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Agree</c:v>
                </c:pt>
                <c:pt idx="1">
                  <c:v>Agree w comments</c:v>
                </c:pt>
                <c:pt idx="2">
                  <c:v>Disagree</c:v>
                </c:pt>
                <c:pt idx="3">
                  <c:v>No specific response</c:v>
                </c:pt>
              </c:strCache>
            </c:strRef>
          </c:cat>
          <c:val>
            <c:numRef>
              <c:f>Sheet1!$B$2:$B$5</c:f>
              <c:numCache>
                <c:formatCode>General</c:formatCode>
                <c:ptCount val="4"/>
                <c:pt idx="0">
                  <c:v>17</c:v>
                </c:pt>
                <c:pt idx="1">
                  <c:v>32</c:v>
                </c:pt>
                <c:pt idx="2">
                  <c:v>2</c:v>
                </c:pt>
                <c:pt idx="3">
                  <c:v>1</c:v>
                </c:pt>
              </c:numCache>
            </c:numRef>
          </c:val>
          <c:extLst>
            <c:ext xmlns:c16="http://schemas.microsoft.com/office/drawing/2014/chart" uri="{C3380CC4-5D6E-409C-BE32-E72D297353CC}">
              <c16:uniqueId val="{00000000-4F86-488B-ABCD-4883404238C2}"/>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9258247264546478"/>
          <c:w val="1"/>
          <c:h val="0.2074175273545352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499148755054268"/>
          <c:y val="0.18888138982627173"/>
          <c:w val="0.64486131801092439"/>
          <c:h val="0.56809211348581434"/>
        </c:manualLayout>
      </c:layout>
      <c:doughnutChart>
        <c:varyColors val="1"/>
        <c:ser>
          <c:idx val="0"/>
          <c:order val="0"/>
          <c:tx>
            <c:strRef>
              <c:f>Sheet1!$B$1</c:f>
              <c:strCache>
                <c:ptCount val="1"/>
                <c:pt idx="0">
                  <c:v>Column1</c:v>
                </c:pt>
              </c:strCache>
            </c:strRef>
          </c:tx>
          <c:spPr>
            <a:solidFill>
              <a:srgbClr val="00C0F3"/>
            </a:solidFill>
          </c:spPr>
          <c:dPt>
            <c:idx val="0"/>
            <c:bubble3D val="0"/>
            <c:spPr>
              <a:solidFill>
                <a:srgbClr val="005BAA"/>
              </a:solidFill>
              <a:ln w="19050">
                <a:solidFill>
                  <a:schemeClr val="lt1"/>
                </a:solidFill>
              </a:ln>
              <a:effectLst/>
            </c:spPr>
            <c:extLst>
              <c:ext xmlns:c16="http://schemas.microsoft.com/office/drawing/2014/chart" uri="{C3380CC4-5D6E-409C-BE32-E72D297353CC}">
                <c16:uniqueId val="{00000002-4F86-488B-ABCD-4883404238C2}"/>
              </c:ext>
            </c:extLst>
          </c:dPt>
          <c:dPt>
            <c:idx val="1"/>
            <c:bubble3D val="0"/>
            <c:spPr>
              <a:solidFill>
                <a:srgbClr val="00C0F3"/>
              </a:solidFill>
              <a:ln w="19050">
                <a:solidFill>
                  <a:schemeClr val="lt1"/>
                </a:solidFill>
              </a:ln>
              <a:effectLst/>
            </c:spPr>
            <c:extLst>
              <c:ext xmlns:c16="http://schemas.microsoft.com/office/drawing/2014/chart" uri="{C3380CC4-5D6E-409C-BE32-E72D297353CC}">
                <c16:uniqueId val="{00000001-4F86-488B-ABCD-4883404238C2}"/>
              </c:ext>
            </c:extLst>
          </c:dPt>
          <c:dPt>
            <c:idx val="2"/>
            <c:bubble3D val="0"/>
            <c:spPr>
              <a:solidFill>
                <a:schemeClr val="accent1"/>
              </a:solidFill>
              <a:ln w="19050">
                <a:solidFill>
                  <a:schemeClr val="lt1"/>
                </a:solidFill>
              </a:ln>
              <a:effectLst/>
            </c:spPr>
            <c:extLst>
              <c:ext xmlns:c16="http://schemas.microsoft.com/office/drawing/2014/chart" uri="{C3380CC4-5D6E-409C-BE32-E72D297353CC}">
                <c16:uniqueId val="{00000003-4F86-488B-ABCD-4883404238C2}"/>
              </c:ext>
            </c:extLst>
          </c:dPt>
          <c:dPt>
            <c:idx val="3"/>
            <c:bubble3D val="0"/>
            <c:spPr>
              <a:solidFill>
                <a:srgbClr val="FFFF00"/>
              </a:solidFill>
              <a:ln w="19050">
                <a:solidFill>
                  <a:schemeClr val="lt1"/>
                </a:solidFill>
              </a:ln>
              <a:effectLst/>
            </c:spPr>
            <c:extLst>
              <c:ext xmlns:c16="http://schemas.microsoft.com/office/drawing/2014/chart" uri="{C3380CC4-5D6E-409C-BE32-E72D297353CC}">
                <c16:uniqueId val="{00000006-FBA2-4F23-B79F-09C6BE6D6CFA}"/>
              </c:ext>
            </c:extLst>
          </c:dPt>
          <c:dLbls>
            <c:dLbl>
              <c:idx val="0"/>
              <c:layout>
                <c:manualLayout>
                  <c:x val="-6.4814653079333581E-2"/>
                  <c:y val="7.207799025121859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F86-488B-ABCD-4883404238C2}"/>
                </c:ext>
              </c:extLst>
            </c:dLbl>
            <c:dLbl>
              <c:idx val="1"/>
              <c:layout>
                <c:manualLayout>
                  <c:x val="-5.5555575807661059E-2"/>
                  <c:y val="-8.33333333333333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F86-488B-ABCD-4883404238C2}"/>
                </c:ext>
              </c:extLst>
            </c:dLbl>
            <c:dLbl>
              <c:idx val="2"/>
              <c:layout>
                <c:manualLayout>
                  <c:x val="-9.2592626346102175E-3"/>
                  <c:y val="-0.1130952380952381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F86-488B-ABCD-4883404238C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Agree</c:v>
                </c:pt>
                <c:pt idx="1">
                  <c:v>Agree w comments</c:v>
                </c:pt>
                <c:pt idx="2">
                  <c:v>Disagree</c:v>
                </c:pt>
                <c:pt idx="3">
                  <c:v>No specific response</c:v>
                </c:pt>
              </c:strCache>
            </c:strRef>
          </c:cat>
          <c:val>
            <c:numRef>
              <c:f>Sheet1!$B$2:$B$5</c:f>
              <c:numCache>
                <c:formatCode>General</c:formatCode>
                <c:ptCount val="4"/>
                <c:pt idx="0">
                  <c:v>17</c:v>
                </c:pt>
                <c:pt idx="1">
                  <c:v>33</c:v>
                </c:pt>
                <c:pt idx="2">
                  <c:v>1</c:v>
                </c:pt>
                <c:pt idx="3">
                  <c:v>1</c:v>
                </c:pt>
              </c:numCache>
            </c:numRef>
          </c:val>
          <c:extLst>
            <c:ext xmlns:c16="http://schemas.microsoft.com/office/drawing/2014/chart" uri="{C3380CC4-5D6E-409C-BE32-E72D297353CC}">
              <c16:uniqueId val="{00000000-4F86-488B-ABCD-4883404238C2}"/>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9258247264546478"/>
          <c:w val="1"/>
          <c:h val="0.2074175273545352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499148755054268"/>
          <c:y val="0.18888138982627173"/>
          <c:w val="0.64486131801092439"/>
          <c:h val="0.56809211348581434"/>
        </c:manualLayout>
      </c:layout>
      <c:doughnutChart>
        <c:varyColors val="1"/>
        <c:ser>
          <c:idx val="0"/>
          <c:order val="0"/>
          <c:tx>
            <c:strRef>
              <c:f>Sheet1!$B$1</c:f>
              <c:strCache>
                <c:ptCount val="1"/>
                <c:pt idx="0">
                  <c:v>Column1</c:v>
                </c:pt>
              </c:strCache>
            </c:strRef>
          </c:tx>
          <c:spPr>
            <a:solidFill>
              <a:srgbClr val="00C0F3"/>
            </a:solidFill>
          </c:spPr>
          <c:dPt>
            <c:idx val="0"/>
            <c:bubble3D val="0"/>
            <c:spPr>
              <a:solidFill>
                <a:srgbClr val="005BAA"/>
              </a:solidFill>
              <a:ln w="19050">
                <a:solidFill>
                  <a:schemeClr val="lt1"/>
                </a:solidFill>
              </a:ln>
              <a:effectLst/>
            </c:spPr>
            <c:extLst>
              <c:ext xmlns:c16="http://schemas.microsoft.com/office/drawing/2014/chart" uri="{C3380CC4-5D6E-409C-BE32-E72D297353CC}">
                <c16:uniqueId val="{00000002-4F86-488B-ABCD-4883404238C2}"/>
              </c:ext>
            </c:extLst>
          </c:dPt>
          <c:dPt>
            <c:idx val="1"/>
            <c:bubble3D val="0"/>
            <c:spPr>
              <a:solidFill>
                <a:srgbClr val="00C0F3"/>
              </a:solidFill>
              <a:ln w="19050">
                <a:solidFill>
                  <a:schemeClr val="lt1"/>
                </a:solidFill>
              </a:ln>
              <a:effectLst/>
            </c:spPr>
            <c:extLst>
              <c:ext xmlns:c16="http://schemas.microsoft.com/office/drawing/2014/chart" uri="{C3380CC4-5D6E-409C-BE32-E72D297353CC}">
                <c16:uniqueId val="{00000001-4F86-488B-ABCD-4883404238C2}"/>
              </c:ext>
            </c:extLst>
          </c:dPt>
          <c:dPt>
            <c:idx val="2"/>
            <c:bubble3D val="0"/>
            <c:spPr>
              <a:solidFill>
                <a:schemeClr val="accent1"/>
              </a:solidFill>
              <a:ln w="19050">
                <a:solidFill>
                  <a:schemeClr val="lt1"/>
                </a:solidFill>
              </a:ln>
              <a:effectLst/>
            </c:spPr>
            <c:extLst>
              <c:ext xmlns:c16="http://schemas.microsoft.com/office/drawing/2014/chart" uri="{C3380CC4-5D6E-409C-BE32-E72D297353CC}">
                <c16:uniqueId val="{00000003-4F86-488B-ABCD-4883404238C2}"/>
              </c:ext>
            </c:extLst>
          </c:dPt>
          <c:dPt>
            <c:idx val="3"/>
            <c:bubble3D val="0"/>
            <c:spPr>
              <a:solidFill>
                <a:srgbClr val="FFFF00"/>
              </a:solidFill>
              <a:ln w="19050">
                <a:solidFill>
                  <a:schemeClr val="lt1"/>
                </a:solidFill>
              </a:ln>
              <a:effectLst/>
            </c:spPr>
            <c:extLst>
              <c:ext xmlns:c16="http://schemas.microsoft.com/office/drawing/2014/chart" uri="{C3380CC4-5D6E-409C-BE32-E72D297353CC}">
                <c16:uniqueId val="{00000006-8156-4855-B214-7E723CBE21C5}"/>
              </c:ext>
            </c:extLst>
          </c:dPt>
          <c:dLbls>
            <c:dLbl>
              <c:idx val="0"/>
              <c:layout>
                <c:manualLayout>
                  <c:x val="-0.10474520256980867"/>
                  <c:y val="5.476197293520128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F86-488B-ABCD-4883404238C2}"/>
                </c:ext>
              </c:extLst>
            </c:dLbl>
            <c:dLbl>
              <c:idx val="1"/>
              <c:layout>
                <c:manualLayout>
                  <c:x val="-5.5555575807661059E-2"/>
                  <c:y val="-8.33333333333333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F86-488B-ABCD-4883404238C2}"/>
                </c:ext>
              </c:extLst>
            </c:dLbl>
            <c:dLbl>
              <c:idx val="2"/>
              <c:layout>
                <c:manualLayout>
                  <c:x val="-9.2592626346102175E-3"/>
                  <c:y val="-0.1130952380952381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F86-488B-ABCD-4883404238C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Agree</c:v>
                </c:pt>
                <c:pt idx="1">
                  <c:v>Agree w comments</c:v>
                </c:pt>
                <c:pt idx="2">
                  <c:v>Disagree</c:v>
                </c:pt>
                <c:pt idx="3">
                  <c:v>No specific response</c:v>
                </c:pt>
              </c:strCache>
            </c:strRef>
          </c:cat>
          <c:val>
            <c:numRef>
              <c:f>Sheet1!$B$2:$B$5</c:f>
              <c:numCache>
                <c:formatCode>General</c:formatCode>
                <c:ptCount val="4"/>
                <c:pt idx="0">
                  <c:v>21</c:v>
                </c:pt>
                <c:pt idx="1">
                  <c:v>23</c:v>
                </c:pt>
                <c:pt idx="2">
                  <c:v>7</c:v>
                </c:pt>
                <c:pt idx="3">
                  <c:v>1</c:v>
                </c:pt>
              </c:numCache>
            </c:numRef>
          </c:val>
          <c:extLst>
            <c:ext xmlns:c16="http://schemas.microsoft.com/office/drawing/2014/chart" uri="{C3380CC4-5D6E-409C-BE32-E72D297353CC}">
              <c16:uniqueId val="{00000000-4F86-488B-ABCD-4883404238C2}"/>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9258247264546478"/>
          <c:w val="1"/>
          <c:h val="0.2074175273545352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499148755054268"/>
          <c:y val="0.18888138982627173"/>
          <c:w val="0.64486131801092439"/>
          <c:h val="0.56809211348581434"/>
        </c:manualLayout>
      </c:layout>
      <c:doughnutChart>
        <c:varyColors val="1"/>
        <c:ser>
          <c:idx val="0"/>
          <c:order val="0"/>
          <c:tx>
            <c:strRef>
              <c:f>Sheet1!$B$1</c:f>
              <c:strCache>
                <c:ptCount val="1"/>
                <c:pt idx="0">
                  <c:v>Column1</c:v>
                </c:pt>
              </c:strCache>
            </c:strRef>
          </c:tx>
          <c:spPr>
            <a:solidFill>
              <a:srgbClr val="00C0F3"/>
            </a:solidFill>
          </c:spPr>
          <c:dPt>
            <c:idx val="0"/>
            <c:bubble3D val="0"/>
            <c:spPr>
              <a:solidFill>
                <a:srgbClr val="005BAA"/>
              </a:solidFill>
              <a:ln w="19050">
                <a:solidFill>
                  <a:schemeClr val="lt1"/>
                </a:solidFill>
              </a:ln>
              <a:effectLst/>
            </c:spPr>
            <c:extLst>
              <c:ext xmlns:c16="http://schemas.microsoft.com/office/drawing/2014/chart" uri="{C3380CC4-5D6E-409C-BE32-E72D297353CC}">
                <c16:uniqueId val="{00000002-4F86-488B-ABCD-4883404238C2}"/>
              </c:ext>
            </c:extLst>
          </c:dPt>
          <c:dPt>
            <c:idx val="1"/>
            <c:bubble3D val="0"/>
            <c:spPr>
              <a:solidFill>
                <a:srgbClr val="00C0F3"/>
              </a:solidFill>
              <a:ln w="19050">
                <a:solidFill>
                  <a:schemeClr val="lt1"/>
                </a:solidFill>
              </a:ln>
              <a:effectLst/>
            </c:spPr>
            <c:extLst>
              <c:ext xmlns:c16="http://schemas.microsoft.com/office/drawing/2014/chart" uri="{C3380CC4-5D6E-409C-BE32-E72D297353CC}">
                <c16:uniqueId val="{00000001-4F86-488B-ABCD-4883404238C2}"/>
              </c:ext>
            </c:extLst>
          </c:dPt>
          <c:dPt>
            <c:idx val="2"/>
            <c:bubble3D val="0"/>
            <c:spPr>
              <a:solidFill>
                <a:schemeClr val="accent1"/>
              </a:solidFill>
              <a:ln w="19050">
                <a:solidFill>
                  <a:schemeClr val="lt1"/>
                </a:solidFill>
              </a:ln>
              <a:effectLst/>
            </c:spPr>
            <c:extLst>
              <c:ext xmlns:c16="http://schemas.microsoft.com/office/drawing/2014/chart" uri="{C3380CC4-5D6E-409C-BE32-E72D297353CC}">
                <c16:uniqueId val="{00000003-4F86-488B-ABCD-4883404238C2}"/>
              </c:ext>
            </c:extLst>
          </c:dPt>
          <c:dPt>
            <c:idx val="3"/>
            <c:bubble3D val="0"/>
            <c:spPr>
              <a:solidFill>
                <a:srgbClr val="FFFF00"/>
              </a:solidFill>
              <a:ln w="19050">
                <a:solidFill>
                  <a:schemeClr val="lt1"/>
                </a:solidFill>
              </a:ln>
              <a:effectLst/>
            </c:spPr>
            <c:extLst>
              <c:ext xmlns:c16="http://schemas.microsoft.com/office/drawing/2014/chart" uri="{C3380CC4-5D6E-409C-BE32-E72D297353CC}">
                <c16:uniqueId val="{00000006-160B-40CD-BD55-8361AAB1341F}"/>
              </c:ext>
            </c:extLst>
          </c:dPt>
          <c:dLbls>
            <c:dLbl>
              <c:idx val="0"/>
              <c:layout>
                <c:manualLayout>
                  <c:x val="-0.11361865801213629"/>
                  <c:y val="4.090915908238736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F86-488B-ABCD-4883404238C2}"/>
                </c:ext>
              </c:extLst>
            </c:dLbl>
            <c:dLbl>
              <c:idx val="1"/>
              <c:layout>
                <c:manualLayout>
                  <c:x val="-5.5555575807661059E-2"/>
                  <c:y val="-8.33333333333333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F86-488B-ABCD-4883404238C2}"/>
                </c:ext>
              </c:extLst>
            </c:dLbl>
            <c:dLbl>
              <c:idx val="2"/>
              <c:layout>
                <c:manualLayout>
                  <c:x val="-9.2592626346102175E-3"/>
                  <c:y val="-0.1130952380952381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F86-488B-ABCD-4883404238C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Agree</c:v>
                </c:pt>
                <c:pt idx="1">
                  <c:v>Agree w comments</c:v>
                </c:pt>
                <c:pt idx="2">
                  <c:v>Disagree</c:v>
                </c:pt>
                <c:pt idx="3">
                  <c:v>No specific response</c:v>
                </c:pt>
              </c:strCache>
            </c:strRef>
          </c:cat>
          <c:val>
            <c:numRef>
              <c:f>Sheet1!$B$2:$B$5</c:f>
              <c:numCache>
                <c:formatCode>General</c:formatCode>
                <c:ptCount val="4"/>
                <c:pt idx="0">
                  <c:v>22</c:v>
                </c:pt>
                <c:pt idx="1">
                  <c:v>23</c:v>
                </c:pt>
                <c:pt idx="2">
                  <c:v>1</c:v>
                </c:pt>
                <c:pt idx="3">
                  <c:v>6</c:v>
                </c:pt>
              </c:numCache>
            </c:numRef>
          </c:val>
          <c:extLst>
            <c:ext xmlns:c16="http://schemas.microsoft.com/office/drawing/2014/chart" uri="{C3380CC4-5D6E-409C-BE32-E72D297353CC}">
              <c16:uniqueId val="{00000000-4F86-488B-ABCD-4883404238C2}"/>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9258247264546478"/>
          <c:w val="1"/>
          <c:h val="0.2074175273545352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499148755054268"/>
          <c:y val="0.18888138982627173"/>
          <c:w val="0.64486131801092439"/>
          <c:h val="0.56809211348581434"/>
        </c:manualLayout>
      </c:layout>
      <c:doughnutChart>
        <c:varyColors val="1"/>
        <c:ser>
          <c:idx val="0"/>
          <c:order val="0"/>
          <c:tx>
            <c:strRef>
              <c:f>Sheet1!$B$1</c:f>
              <c:strCache>
                <c:ptCount val="1"/>
                <c:pt idx="0">
                  <c:v>Column1</c:v>
                </c:pt>
              </c:strCache>
            </c:strRef>
          </c:tx>
          <c:spPr>
            <a:solidFill>
              <a:srgbClr val="00C0F3"/>
            </a:solidFill>
          </c:spPr>
          <c:dPt>
            <c:idx val="0"/>
            <c:bubble3D val="0"/>
            <c:spPr>
              <a:solidFill>
                <a:srgbClr val="005BAA"/>
              </a:solidFill>
              <a:ln w="19050">
                <a:solidFill>
                  <a:schemeClr val="lt1"/>
                </a:solidFill>
              </a:ln>
              <a:effectLst/>
            </c:spPr>
            <c:extLst>
              <c:ext xmlns:c16="http://schemas.microsoft.com/office/drawing/2014/chart" uri="{C3380CC4-5D6E-409C-BE32-E72D297353CC}">
                <c16:uniqueId val="{00000002-4F86-488B-ABCD-4883404238C2}"/>
              </c:ext>
            </c:extLst>
          </c:dPt>
          <c:dPt>
            <c:idx val="1"/>
            <c:bubble3D val="0"/>
            <c:spPr>
              <a:solidFill>
                <a:srgbClr val="F15A22"/>
              </a:solidFill>
              <a:ln w="19050">
                <a:solidFill>
                  <a:schemeClr val="lt1"/>
                </a:solidFill>
              </a:ln>
              <a:effectLst/>
            </c:spPr>
            <c:extLst>
              <c:ext xmlns:c16="http://schemas.microsoft.com/office/drawing/2014/chart" uri="{C3380CC4-5D6E-409C-BE32-E72D297353CC}">
                <c16:uniqueId val="{00000001-4F86-488B-ABCD-4883404238C2}"/>
              </c:ext>
            </c:extLst>
          </c:dPt>
          <c:dPt>
            <c:idx val="2"/>
            <c:bubble3D val="0"/>
            <c:spPr>
              <a:solidFill>
                <a:srgbClr val="FFFF00"/>
              </a:solidFill>
              <a:ln w="19050">
                <a:solidFill>
                  <a:schemeClr val="lt1"/>
                </a:solidFill>
              </a:ln>
              <a:effectLst/>
            </c:spPr>
            <c:extLst>
              <c:ext xmlns:c16="http://schemas.microsoft.com/office/drawing/2014/chart" uri="{C3380CC4-5D6E-409C-BE32-E72D297353CC}">
                <c16:uniqueId val="{00000003-4F86-488B-ABCD-4883404238C2}"/>
              </c:ext>
            </c:extLst>
          </c:dPt>
          <c:dLbls>
            <c:dLbl>
              <c:idx val="0"/>
              <c:layout>
                <c:manualLayout>
                  <c:x val="4.1666681855745791E-2"/>
                  <c:y val="0.1309523809523809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F86-488B-ABCD-4883404238C2}"/>
                </c:ext>
              </c:extLst>
            </c:dLbl>
            <c:dLbl>
              <c:idx val="1"/>
              <c:layout>
                <c:manualLayout>
                  <c:x val="0.10416668122286002"/>
                  <c:y val="-4.177495994818829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F86-488B-ABCD-4883404238C2}"/>
                </c:ext>
              </c:extLst>
            </c:dLbl>
            <c:dLbl>
              <c:idx val="2"/>
              <c:layout>
                <c:manualLayout>
                  <c:x val="-9.2592626346102175E-3"/>
                  <c:y val="-0.1130952380952381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F86-488B-ABCD-4883404238C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No issues raised</c:v>
                </c:pt>
                <c:pt idx="1">
                  <c:v>Issues raised</c:v>
                </c:pt>
                <c:pt idx="2">
                  <c:v>No specific response</c:v>
                </c:pt>
              </c:strCache>
            </c:strRef>
          </c:cat>
          <c:val>
            <c:numRef>
              <c:f>Sheet1!$B$2:$B$4</c:f>
              <c:numCache>
                <c:formatCode>General</c:formatCode>
                <c:ptCount val="3"/>
                <c:pt idx="0">
                  <c:v>33</c:v>
                </c:pt>
                <c:pt idx="1">
                  <c:v>10</c:v>
                </c:pt>
                <c:pt idx="2">
                  <c:v>9</c:v>
                </c:pt>
              </c:numCache>
            </c:numRef>
          </c:val>
          <c:extLst>
            <c:ext xmlns:c16="http://schemas.microsoft.com/office/drawing/2014/chart" uri="{C3380CC4-5D6E-409C-BE32-E72D297353CC}">
              <c16:uniqueId val="{00000000-4F86-488B-ABCD-4883404238C2}"/>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9258247264546478"/>
          <c:w val="1"/>
          <c:h val="0.2074175273545352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499148755054268"/>
          <c:y val="0.18888138982627173"/>
          <c:w val="0.64486131801092439"/>
          <c:h val="0.56809211348581434"/>
        </c:manualLayout>
      </c:layout>
      <c:doughnutChart>
        <c:varyColors val="1"/>
        <c:ser>
          <c:idx val="0"/>
          <c:order val="0"/>
          <c:tx>
            <c:strRef>
              <c:f>Sheet1!$B$1</c:f>
              <c:strCache>
                <c:ptCount val="1"/>
                <c:pt idx="0">
                  <c:v>Column1</c:v>
                </c:pt>
              </c:strCache>
            </c:strRef>
          </c:tx>
          <c:spPr>
            <a:solidFill>
              <a:srgbClr val="00C0F3"/>
            </a:solidFill>
          </c:spPr>
          <c:dPt>
            <c:idx val="0"/>
            <c:bubble3D val="0"/>
            <c:spPr>
              <a:solidFill>
                <a:srgbClr val="005BAA"/>
              </a:solidFill>
              <a:ln w="19050">
                <a:solidFill>
                  <a:schemeClr val="lt1"/>
                </a:solidFill>
              </a:ln>
              <a:effectLst/>
            </c:spPr>
            <c:extLst>
              <c:ext xmlns:c16="http://schemas.microsoft.com/office/drawing/2014/chart" uri="{C3380CC4-5D6E-409C-BE32-E72D297353CC}">
                <c16:uniqueId val="{00000002-4F86-488B-ABCD-4883404238C2}"/>
              </c:ext>
            </c:extLst>
          </c:dPt>
          <c:dPt>
            <c:idx val="1"/>
            <c:bubble3D val="0"/>
            <c:spPr>
              <a:solidFill>
                <a:srgbClr val="F15A22"/>
              </a:solidFill>
              <a:ln w="19050">
                <a:noFill/>
              </a:ln>
              <a:effectLst/>
            </c:spPr>
            <c:extLst>
              <c:ext xmlns:c16="http://schemas.microsoft.com/office/drawing/2014/chart" uri="{C3380CC4-5D6E-409C-BE32-E72D297353CC}">
                <c16:uniqueId val="{00000001-4F86-488B-ABCD-4883404238C2}"/>
              </c:ext>
            </c:extLst>
          </c:dPt>
          <c:dPt>
            <c:idx val="2"/>
            <c:bubble3D val="0"/>
            <c:spPr>
              <a:solidFill>
                <a:srgbClr val="FFFF00"/>
              </a:solidFill>
              <a:ln w="19050">
                <a:solidFill>
                  <a:schemeClr val="lt1"/>
                </a:solidFill>
              </a:ln>
              <a:effectLst/>
            </c:spPr>
            <c:extLst>
              <c:ext xmlns:c16="http://schemas.microsoft.com/office/drawing/2014/chart" uri="{C3380CC4-5D6E-409C-BE32-E72D297353CC}">
                <c16:uniqueId val="{00000003-4F86-488B-ABCD-4883404238C2}"/>
              </c:ext>
            </c:extLst>
          </c:dPt>
          <c:dLbls>
            <c:dLbl>
              <c:idx val="0"/>
              <c:layout>
                <c:manualLayout>
                  <c:x val="4.1666681855745791E-2"/>
                  <c:y val="0.1309523809523809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F86-488B-ABCD-4883404238C2}"/>
                </c:ext>
              </c:extLst>
            </c:dLbl>
            <c:dLbl>
              <c:idx val="1"/>
              <c:layout>
                <c:manualLayout>
                  <c:x val="0.10416685589717971"/>
                  <c:y val="8.9826771653543247E-2"/>
                </c:manualLayout>
              </c:layout>
              <c:showLegendKey val="0"/>
              <c:showVal val="1"/>
              <c:showCatName val="0"/>
              <c:showSerName val="0"/>
              <c:showPercent val="0"/>
              <c:showBubbleSize val="0"/>
              <c:extLst>
                <c:ext xmlns:c15="http://schemas.microsoft.com/office/drawing/2012/chart" uri="{CE6537A1-D6FC-4f65-9D91-7224C49458BB}">
                  <c15:layout>
                    <c:manualLayout>
                      <c:w val="5.3528945281522591E-2"/>
                      <c:h val="6.0987012987012985E-2"/>
                    </c:manualLayout>
                  </c15:layout>
                </c:ext>
                <c:ext xmlns:c16="http://schemas.microsoft.com/office/drawing/2014/chart" uri="{C3380CC4-5D6E-409C-BE32-E72D297353CC}">
                  <c16:uniqueId val="{00000001-4F86-488B-ABCD-4883404238C2}"/>
                </c:ext>
              </c:extLst>
            </c:dLbl>
            <c:dLbl>
              <c:idx val="2"/>
              <c:layout>
                <c:manualLayout>
                  <c:x val="-9.2592626346102175E-3"/>
                  <c:y val="-0.1130952380952381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F86-488B-ABCD-4883404238C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Agree</c:v>
                </c:pt>
                <c:pt idx="1">
                  <c:v>Disagree</c:v>
                </c:pt>
                <c:pt idx="2">
                  <c:v>No specific response</c:v>
                </c:pt>
              </c:strCache>
            </c:strRef>
          </c:cat>
          <c:val>
            <c:numRef>
              <c:f>Sheet1!$B$2:$B$4</c:f>
              <c:numCache>
                <c:formatCode>General</c:formatCode>
                <c:ptCount val="3"/>
                <c:pt idx="0">
                  <c:v>43</c:v>
                </c:pt>
                <c:pt idx="1">
                  <c:v>3</c:v>
                </c:pt>
                <c:pt idx="2">
                  <c:v>6</c:v>
                </c:pt>
              </c:numCache>
            </c:numRef>
          </c:val>
          <c:extLst>
            <c:ext xmlns:c16="http://schemas.microsoft.com/office/drawing/2014/chart" uri="{C3380CC4-5D6E-409C-BE32-E72D297353CC}">
              <c16:uniqueId val="{00000000-4F86-488B-ABCD-4883404238C2}"/>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9258247264546478"/>
          <c:w val="1"/>
          <c:h val="0.2074175273545352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78C749C1-C883-4DFB-9C5B-4E3228FCEF81}">
      <dgm:prSet phldrT="[Text]"/>
      <dgm:spPr>
        <a:solidFill>
          <a:srgbClr val="005BAA"/>
        </a:solidFill>
      </dgm:spPr>
      <dgm:t>
        <a:bodyPr/>
        <a:lstStyle/>
        <a:p>
          <a:r>
            <a:rPr lang="en-US" dirty="0"/>
            <a:t>Responding to stakeholders’ needs</a:t>
          </a:r>
        </a:p>
      </dgm:t>
    </dgm:pt>
    <dgm:pt modelId="{C652904B-26BE-45F0-9E8B-D5236E1D1B4C}" type="parTrans" cxnId="{C1EA6960-D01B-4872-AF8D-E46506D1E362}">
      <dgm:prSet/>
      <dgm:spPr/>
      <dgm:t>
        <a:bodyPr/>
        <a:lstStyle/>
        <a:p>
          <a:endParaRPr lang="en-US"/>
        </a:p>
      </dgm:t>
    </dgm:pt>
    <dgm:pt modelId="{DC6BC910-A94E-4716-881B-63FEF61AA658}" type="sibTrans" cxnId="{C1EA6960-D01B-4872-AF8D-E46506D1E362}">
      <dgm:prSet/>
      <dgm:spPr/>
      <dgm:t>
        <a:bodyPr/>
        <a:lstStyle/>
        <a:p>
          <a:endParaRPr lang="en-US"/>
        </a:p>
      </dgm:t>
    </dgm:pt>
    <dgm:pt modelId="{4E57C338-51D3-4B1F-B4F8-9C66609F5D9E}">
      <dgm:prSet phldrT="[Text]"/>
      <dgm:spPr>
        <a:solidFill>
          <a:schemeClr val="bg1">
            <a:lumMod val="50000"/>
          </a:schemeClr>
        </a:solidFill>
      </dgm:spPr>
      <dgm:t>
        <a:bodyPr/>
        <a:lstStyle/>
        <a:p>
          <a:r>
            <a:rPr lang="en-US" dirty="0"/>
            <a:t>Providing clarity in the agreed-upon procedures report</a:t>
          </a:r>
        </a:p>
      </dgm:t>
    </dgm:pt>
    <dgm:pt modelId="{ADC42DB5-B686-4B81-9DDE-65AA6D8D786E}" type="parTrans" cxnId="{BB8F9127-6199-4C01-BC50-348447405C04}">
      <dgm:prSet/>
      <dgm:spPr/>
      <dgm:t>
        <a:bodyPr/>
        <a:lstStyle/>
        <a:p>
          <a:endParaRPr lang="en-US"/>
        </a:p>
      </dgm:t>
    </dgm:pt>
    <dgm:pt modelId="{41425E7F-A94C-4EE9-8688-3D40A29C50CF}" type="sibTrans" cxnId="{BB8F9127-6199-4C01-BC50-348447405C04}">
      <dgm:prSet/>
      <dgm:spPr/>
      <dgm:t>
        <a:bodyPr/>
        <a:lstStyle/>
        <a:p>
          <a:endParaRPr lang="en-US"/>
        </a:p>
      </dgm:t>
    </dgm:pt>
    <dgm:pt modelId="{29C99CC4-F989-4458-A4E6-4EC460EE01D0}">
      <dgm:prSet phldrT="[Text]"/>
      <dgm:spPr/>
      <dgm:t>
        <a:bodyPr/>
        <a:lstStyle/>
        <a:p>
          <a:r>
            <a:rPr lang="en-US" dirty="0"/>
            <a:t>Promoting consistency in practice</a:t>
          </a:r>
        </a:p>
      </dgm:t>
    </dgm:pt>
    <dgm:pt modelId="{F3E6D0A9-3CF5-442C-B8AD-E0341791B1EA}" type="parTrans" cxnId="{204E8FF4-B06B-4774-A267-3843C09C7641}">
      <dgm:prSet/>
      <dgm:spPr/>
      <dgm:t>
        <a:bodyPr/>
        <a:lstStyle/>
        <a:p>
          <a:endParaRPr lang="en-US"/>
        </a:p>
      </dgm:t>
    </dgm:pt>
    <dgm:pt modelId="{24D7D0C2-197C-4ED9-A946-06BB72AE0494}" type="sibTrans" cxnId="{204E8FF4-B06B-4774-A267-3843C09C7641}">
      <dgm:prSet/>
      <dgm:spPr/>
      <dgm:t>
        <a:bodyPr/>
        <a:lstStyle/>
        <a:p>
          <a:endParaRPr lang="en-US"/>
        </a:p>
      </dgm:t>
    </dgm:pt>
    <dgm:pt modelId="{F2318C3E-10F9-4BC8-99F4-A3AF8D1D7150}" type="pres">
      <dgm:prSet presAssocID="{62E99C36-7D1C-4387-AF44-E7FCB3F4E37E}" presName="diagram" presStyleCnt="0">
        <dgm:presLayoutVars>
          <dgm:dir/>
          <dgm:resizeHandles val="exact"/>
        </dgm:presLayoutVars>
      </dgm:prSet>
      <dgm:spPr/>
    </dgm:pt>
    <dgm:pt modelId="{B1BD8CE7-C8A6-4C7C-8241-DCD3520C3BAF}" type="pres">
      <dgm:prSet presAssocID="{78C749C1-C883-4DFB-9C5B-4E3228FCEF81}" presName="node" presStyleLbl="node1" presStyleIdx="0" presStyleCnt="3">
        <dgm:presLayoutVars>
          <dgm:bulletEnabled val="1"/>
        </dgm:presLayoutVars>
      </dgm:prSet>
      <dgm:spPr/>
    </dgm:pt>
    <dgm:pt modelId="{41EEBF90-6B61-4922-A150-77C658C44CA0}" type="pres">
      <dgm:prSet presAssocID="{DC6BC910-A94E-4716-881B-63FEF61AA658}" presName="sibTrans" presStyleCnt="0"/>
      <dgm:spPr/>
    </dgm:pt>
    <dgm:pt modelId="{E630A20F-770E-4E25-A30C-BB5415705EC8}" type="pres">
      <dgm:prSet presAssocID="{4E57C338-51D3-4B1F-B4F8-9C66609F5D9E}" presName="node" presStyleLbl="node1" presStyleIdx="1" presStyleCnt="3">
        <dgm:presLayoutVars>
          <dgm:bulletEnabled val="1"/>
        </dgm:presLayoutVars>
      </dgm:prSet>
      <dgm:spPr/>
    </dgm:pt>
    <dgm:pt modelId="{4DF28CF6-462D-42A5-83A4-A485A40CD623}" type="pres">
      <dgm:prSet presAssocID="{41425E7F-A94C-4EE9-8688-3D40A29C50CF}" presName="sibTrans" presStyleCnt="0"/>
      <dgm:spPr/>
    </dgm:pt>
    <dgm:pt modelId="{42B15FEF-8541-4B08-BF54-CC4BC650C3D0}" type="pres">
      <dgm:prSet presAssocID="{29C99CC4-F989-4458-A4E6-4EC460EE01D0}" presName="node" presStyleLbl="node1" presStyleIdx="2" presStyleCnt="3">
        <dgm:presLayoutVars>
          <dgm:bulletEnabled val="1"/>
        </dgm:presLayoutVars>
      </dgm:prSet>
      <dgm:spPr/>
    </dgm:pt>
  </dgm:ptLst>
  <dgm:cxnLst>
    <dgm:cxn modelId="{75622C04-480A-44DC-AF71-FE07A2C6FED9}" type="presOf" srcId="{4E57C338-51D3-4B1F-B4F8-9C66609F5D9E}" destId="{E630A20F-770E-4E25-A30C-BB5415705EC8}" srcOrd="0" destOrd="0" presId="urn:microsoft.com/office/officeart/2005/8/layout/default"/>
    <dgm:cxn modelId="{51B4E00C-0A62-46FC-8341-59DC5FCEE371}" type="presOf" srcId="{78C749C1-C883-4DFB-9C5B-4E3228FCEF81}" destId="{B1BD8CE7-C8A6-4C7C-8241-DCD3520C3BAF}" srcOrd="0" destOrd="0" presId="urn:microsoft.com/office/officeart/2005/8/layout/default"/>
    <dgm:cxn modelId="{BB8F9127-6199-4C01-BC50-348447405C04}" srcId="{62E99C36-7D1C-4387-AF44-E7FCB3F4E37E}" destId="{4E57C338-51D3-4B1F-B4F8-9C66609F5D9E}" srcOrd="1" destOrd="0" parTransId="{ADC42DB5-B686-4B81-9DDE-65AA6D8D786E}" sibTransId="{41425E7F-A94C-4EE9-8688-3D40A29C50CF}"/>
    <dgm:cxn modelId="{C1EA6960-D01B-4872-AF8D-E46506D1E362}" srcId="{62E99C36-7D1C-4387-AF44-E7FCB3F4E37E}" destId="{78C749C1-C883-4DFB-9C5B-4E3228FCEF81}" srcOrd="0" destOrd="0" parTransId="{C652904B-26BE-45F0-9E8B-D5236E1D1B4C}" sibTransId="{DC6BC910-A94E-4716-881B-63FEF61AA658}"/>
    <dgm:cxn modelId="{DEDD5951-B788-49F7-93C3-CD69455561CB}" type="presOf" srcId="{62E99C36-7D1C-4387-AF44-E7FCB3F4E37E}" destId="{F2318C3E-10F9-4BC8-99F4-A3AF8D1D7150}" srcOrd="0" destOrd="0" presId="urn:microsoft.com/office/officeart/2005/8/layout/default"/>
    <dgm:cxn modelId="{FAE297DC-BD9B-4323-85B7-B0AC2533FD3B}" type="presOf" srcId="{29C99CC4-F989-4458-A4E6-4EC460EE01D0}" destId="{42B15FEF-8541-4B08-BF54-CC4BC650C3D0}" srcOrd="0" destOrd="0" presId="urn:microsoft.com/office/officeart/2005/8/layout/default"/>
    <dgm:cxn modelId="{204E8FF4-B06B-4774-A267-3843C09C7641}" srcId="{62E99C36-7D1C-4387-AF44-E7FCB3F4E37E}" destId="{29C99CC4-F989-4458-A4E6-4EC460EE01D0}" srcOrd="2" destOrd="0" parTransId="{F3E6D0A9-3CF5-442C-B8AD-E0341791B1EA}" sibTransId="{24D7D0C2-197C-4ED9-A946-06BB72AE0494}"/>
    <dgm:cxn modelId="{6754DF4E-E6DA-44B4-88B2-483D8A58B923}" type="presParOf" srcId="{F2318C3E-10F9-4BC8-99F4-A3AF8D1D7150}" destId="{B1BD8CE7-C8A6-4C7C-8241-DCD3520C3BAF}" srcOrd="0" destOrd="0" presId="urn:microsoft.com/office/officeart/2005/8/layout/default"/>
    <dgm:cxn modelId="{8B99F33E-E7F1-4754-AB57-B36184988CD5}" type="presParOf" srcId="{F2318C3E-10F9-4BC8-99F4-A3AF8D1D7150}" destId="{41EEBF90-6B61-4922-A150-77C658C44CA0}" srcOrd="1" destOrd="0" presId="urn:microsoft.com/office/officeart/2005/8/layout/default"/>
    <dgm:cxn modelId="{F5CD138D-0EDD-4E67-AF9E-C638B2DADC56}" type="presParOf" srcId="{F2318C3E-10F9-4BC8-99F4-A3AF8D1D7150}" destId="{E630A20F-770E-4E25-A30C-BB5415705EC8}" srcOrd="2" destOrd="0" presId="urn:microsoft.com/office/officeart/2005/8/layout/default"/>
    <dgm:cxn modelId="{16C37C2D-9E5A-45B7-9F84-1B048CF0C60A}" type="presParOf" srcId="{F2318C3E-10F9-4BC8-99F4-A3AF8D1D7150}" destId="{4DF28CF6-462D-42A5-83A4-A485A40CD623}" srcOrd="3" destOrd="0" presId="urn:microsoft.com/office/officeart/2005/8/layout/default"/>
    <dgm:cxn modelId="{E96059BE-A527-4725-8F50-D5DC9CB18659}" type="presParOf" srcId="{F2318C3E-10F9-4BC8-99F4-A3AF8D1D7150}" destId="{42B15FEF-8541-4B08-BF54-CC4BC650C3D0}"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047A861-DFC9-4F06-883E-9ABD28631AA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A8E2E01-C235-49DC-A9E8-EF69F1FB995A}">
      <dgm:prSet phldrT="[Text]"/>
      <dgm:spPr>
        <a:solidFill>
          <a:schemeClr val="accent3"/>
        </a:solidFill>
      </dgm:spPr>
      <dgm:t>
        <a:bodyPr/>
        <a:lstStyle/>
        <a:p>
          <a:r>
            <a:rPr lang="en-US" dirty="0"/>
            <a:t>Written representations</a:t>
          </a:r>
        </a:p>
      </dgm:t>
    </dgm:pt>
    <dgm:pt modelId="{48C26604-FFE7-41DD-811D-5601C58564D1}" type="parTrans" cxnId="{AEE1B4D9-5009-47FF-A348-2FCE07CEC1AC}">
      <dgm:prSet/>
      <dgm:spPr/>
      <dgm:t>
        <a:bodyPr/>
        <a:lstStyle/>
        <a:p>
          <a:endParaRPr lang="en-US"/>
        </a:p>
      </dgm:t>
    </dgm:pt>
    <dgm:pt modelId="{E9051DA6-49CE-4986-A35A-333E0322B9BB}" type="sibTrans" cxnId="{AEE1B4D9-5009-47FF-A348-2FCE07CEC1AC}">
      <dgm:prSet/>
      <dgm:spPr/>
      <dgm:t>
        <a:bodyPr/>
        <a:lstStyle/>
        <a:p>
          <a:endParaRPr lang="en-US"/>
        </a:p>
      </dgm:t>
    </dgm:pt>
    <dgm:pt modelId="{C9FA32D6-16A8-48C4-96F5-62D6203CE9D5}">
      <dgm:prSet phldrT="[Text]"/>
      <dgm:spPr/>
      <dgm:t>
        <a:bodyPr/>
        <a:lstStyle/>
        <a:p>
          <a:r>
            <a:rPr lang="en-US" dirty="0"/>
            <a:t>Retain with minor change to require the practitioner to consider requesting written representations</a:t>
          </a:r>
        </a:p>
      </dgm:t>
    </dgm:pt>
    <dgm:pt modelId="{B08580F9-10E4-4201-9BD4-30BEEF09CEA7}" type="parTrans" cxnId="{BDF32912-04BC-4B36-AF8D-84B2E0469D29}">
      <dgm:prSet/>
      <dgm:spPr/>
      <dgm:t>
        <a:bodyPr/>
        <a:lstStyle/>
        <a:p>
          <a:endParaRPr lang="en-US"/>
        </a:p>
      </dgm:t>
    </dgm:pt>
    <dgm:pt modelId="{677F5404-5500-4C2C-9F04-90B049BD66BA}" type="sibTrans" cxnId="{BDF32912-04BC-4B36-AF8D-84B2E0469D29}">
      <dgm:prSet/>
      <dgm:spPr/>
      <dgm:t>
        <a:bodyPr/>
        <a:lstStyle/>
        <a:p>
          <a:endParaRPr lang="en-US"/>
        </a:p>
      </dgm:t>
    </dgm:pt>
    <dgm:pt modelId="{4CB6035E-5BA9-4D64-85B7-D33D64E9B69B}">
      <dgm:prSet phldrT="[Text]"/>
      <dgm:spPr>
        <a:solidFill>
          <a:schemeClr val="accent3"/>
        </a:solidFill>
      </dgm:spPr>
      <dgm:t>
        <a:bodyPr/>
        <a:lstStyle/>
        <a:p>
          <a:r>
            <a:rPr lang="en-US" dirty="0"/>
            <a:t>Responsible party</a:t>
          </a:r>
        </a:p>
      </dgm:t>
    </dgm:pt>
    <dgm:pt modelId="{9F490397-E09E-4D37-8706-1BB9FB41C4FA}" type="parTrans" cxnId="{EC54CA1A-26DB-4B02-8795-7B699926F5D5}">
      <dgm:prSet/>
      <dgm:spPr/>
      <dgm:t>
        <a:bodyPr/>
        <a:lstStyle/>
        <a:p>
          <a:endParaRPr lang="en-US"/>
        </a:p>
      </dgm:t>
    </dgm:pt>
    <dgm:pt modelId="{72174B75-3D99-4A4E-BE1A-28E5784CB311}" type="sibTrans" cxnId="{EC54CA1A-26DB-4B02-8795-7B699926F5D5}">
      <dgm:prSet/>
      <dgm:spPr/>
      <dgm:t>
        <a:bodyPr/>
        <a:lstStyle/>
        <a:p>
          <a:endParaRPr lang="en-US"/>
        </a:p>
      </dgm:t>
    </dgm:pt>
    <dgm:pt modelId="{C23251AA-0B61-4A2F-89C0-B81698F9E74E}">
      <dgm:prSet phldrT="[Text]"/>
      <dgm:spPr/>
      <dgm:t>
        <a:bodyPr/>
        <a:lstStyle/>
        <a:p>
          <a:r>
            <a:rPr lang="en-US" dirty="0"/>
            <a:t>Define “responsible party”</a:t>
          </a:r>
        </a:p>
      </dgm:t>
    </dgm:pt>
    <dgm:pt modelId="{87ED1E4A-BF5C-45E9-AD5B-FF021ACDA5B4}" type="parTrans" cxnId="{69B829F3-C840-4AF4-B776-AE0B7846761C}">
      <dgm:prSet/>
      <dgm:spPr/>
      <dgm:t>
        <a:bodyPr/>
        <a:lstStyle/>
        <a:p>
          <a:endParaRPr lang="en-US"/>
        </a:p>
      </dgm:t>
    </dgm:pt>
    <dgm:pt modelId="{51594C30-E39E-4D84-B423-AE85F644DD76}" type="sibTrans" cxnId="{69B829F3-C840-4AF4-B776-AE0B7846761C}">
      <dgm:prSet/>
      <dgm:spPr/>
      <dgm:t>
        <a:bodyPr/>
        <a:lstStyle/>
        <a:p>
          <a:endParaRPr lang="en-US"/>
        </a:p>
      </dgm:t>
    </dgm:pt>
    <dgm:pt modelId="{826511E4-0F50-42B1-9AC5-64CB3B30A780}">
      <dgm:prSet phldrT="[Text]"/>
      <dgm:spPr/>
      <dgm:t>
        <a:bodyPr/>
        <a:lstStyle/>
        <a:p>
          <a:r>
            <a:rPr lang="en-US" dirty="0"/>
            <a:t>Clarify in the application material that written representations are not generally required</a:t>
          </a:r>
        </a:p>
      </dgm:t>
    </dgm:pt>
    <dgm:pt modelId="{DF58265F-6E0D-4CD8-ABBF-72D74AC88826}" type="parTrans" cxnId="{A67B503F-A23A-47A4-8E04-BCC90AE2F361}">
      <dgm:prSet/>
      <dgm:spPr/>
      <dgm:t>
        <a:bodyPr/>
        <a:lstStyle/>
        <a:p>
          <a:endParaRPr lang="en-US"/>
        </a:p>
      </dgm:t>
    </dgm:pt>
    <dgm:pt modelId="{0DAEDE07-43BE-476D-8463-4628B9059DCF}" type="sibTrans" cxnId="{A67B503F-A23A-47A4-8E04-BCC90AE2F361}">
      <dgm:prSet/>
      <dgm:spPr/>
      <dgm:t>
        <a:bodyPr/>
        <a:lstStyle/>
        <a:p>
          <a:endParaRPr lang="en-US"/>
        </a:p>
      </dgm:t>
    </dgm:pt>
    <dgm:pt modelId="{1B8F8ABD-7841-4A35-9A48-6AF1544E94B3}">
      <dgm:prSet phldrT="[Text]"/>
      <dgm:spPr/>
      <dgm:t>
        <a:bodyPr/>
        <a:lstStyle/>
        <a:p>
          <a:r>
            <a:rPr lang="en-US" dirty="0"/>
            <a:t>Consider providing guidance on when written representations may be appropriate</a:t>
          </a:r>
        </a:p>
      </dgm:t>
    </dgm:pt>
    <dgm:pt modelId="{124DECD4-3215-4FBD-AF6D-23C080A6F6EE}" type="parTrans" cxnId="{9ADB7C7F-21D8-445D-B8F7-53496D894268}">
      <dgm:prSet/>
      <dgm:spPr/>
      <dgm:t>
        <a:bodyPr/>
        <a:lstStyle/>
        <a:p>
          <a:endParaRPr lang="en-US"/>
        </a:p>
      </dgm:t>
    </dgm:pt>
    <dgm:pt modelId="{1A867F4E-7FEE-4DDB-B2E2-6B9A9E437ACC}" type="sibTrans" cxnId="{9ADB7C7F-21D8-445D-B8F7-53496D894268}">
      <dgm:prSet/>
      <dgm:spPr/>
      <dgm:t>
        <a:bodyPr/>
        <a:lstStyle/>
        <a:p>
          <a:endParaRPr lang="en-US"/>
        </a:p>
      </dgm:t>
    </dgm:pt>
    <dgm:pt modelId="{F319754F-07DC-4759-A6E0-6A106931E0CC}">
      <dgm:prSet phldrT="[Text]"/>
      <dgm:spPr/>
      <dgm:t>
        <a:bodyPr/>
        <a:lstStyle/>
        <a:p>
          <a:r>
            <a:rPr lang="en-US" dirty="0"/>
            <a:t>Consider developing requirements and application material pertaining to the practitioner’s responsibilities as they relate to the responsible party</a:t>
          </a:r>
        </a:p>
      </dgm:t>
    </dgm:pt>
    <dgm:pt modelId="{8636939E-BCA5-40A0-BEE2-AEB6CBA9D4B4}" type="parTrans" cxnId="{DA0820E6-C671-486E-9384-1E4406982B7D}">
      <dgm:prSet/>
      <dgm:spPr/>
      <dgm:t>
        <a:bodyPr/>
        <a:lstStyle/>
        <a:p>
          <a:endParaRPr lang="en-US"/>
        </a:p>
      </dgm:t>
    </dgm:pt>
    <dgm:pt modelId="{3EA6E303-E941-491D-846C-BA2ACC940997}" type="sibTrans" cxnId="{DA0820E6-C671-486E-9384-1E4406982B7D}">
      <dgm:prSet/>
      <dgm:spPr/>
      <dgm:t>
        <a:bodyPr/>
        <a:lstStyle/>
        <a:p>
          <a:endParaRPr lang="en-US"/>
        </a:p>
      </dgm:t>
    </dgm:pt>
    <dgm:pt modelId="{33F27B1B-815B-4088-BAEC-9E08ED9481F2}">
      <dgm:prSet phldrT="[Text]"/>
      <dgm:spPr>
        <a:solidFill>
          <a:schemeClr val="accent3"/>
        </a:solidFill>
      </dgm:spPr>
      <dgm:t>
        <a:bodyPr/>
        <a:lstStyle/>
        <a:p>
          <a:r>
            <a:rPr lang="en-US"/>
            <a:t>Fraud and non-compliance with laws and regulations</a:t>
          </a:r>
          <a:endParaRPr lang="en-US" dirty="0"/>
        </a:p>
      </dgm:t>
    </dgm:pt>
    <dgm:pt modelId="{343AC19E-0536-4154-86CB-E707D93887DA}" type="parTrans" cxnId="{7522E4EB-84E2-45DD-A3F7-3BC6BE221115}">
      <dgm:prSet/>
      <dgm:spPr/>
      <dgm:t>
        <a:bodyPr/>
        <a:lstStyle/>
        <a:p>
          <a:endParaRPr lang="en-US"/>
        </a:p>
      </dgm:t>
    </dgm:pt>
    <dgm:pt modelId="{C8303C5E-C50F-437A-A308-960BA62DAAC7}" type="sibTrans" cxnId="{7522E4EB-84E2-45DD-A3F7-3BC6BE221115}">
      <dgm:prSet/>
      <dgm:spPr/>
      <dgm:t>
        <a:bodyPr/>
        <a:lstStyle/>
        <a:p>
          <a:endParaRPr lang="en-US"/>
        </a:p>
      </dgm:t>
    </dgm:pt>
    <dgm:pt modelId="{4079AE49-9F32-40D6-B16B-3502F3CCF8D4}">
      <dgm:prSet phldrT="[Text]"/>
      <dgm:spPr/>
      <dgm:t>
        <a:bodyPr/>
        <a:lstStyle/>
        <a:p>
          <a:r>
            <a:rPr lang="en-US" dirty="0"/>
            <a:t>Consider developing guidance, including clearer linkages to the practitioner’s responsibilities as set out in relevant ethical requirements, if the practitioner becomes aware of fraud and non-compliance with laws and regulations</a:t>
          </a:r>
        </a:p>
      </dgm:t>
    </dgm:pt>
    <dgm:pt modelId="{E307112F-38FD-4C40-8A72-93D15FA35035}" type="parTrans" cxnId="{47E09BC1-7B30-442A-AC8D-2FFBB59231E3}">
      <dgm:prSet/>
      <dgm:spPr/>
      <dgm:t>
        <a:bodyPr/>
        <a:lstStyle/>
        <a:p>
          <a:endParaRPr lang="en-US"/>
        </a:p>
      </dgm:t>
    </dgm:pt>
    <dgm:pt modelId="{F34C27F6-5B39-4E2C-ACC1-0D14D9C6B144}" type="sibTrans" cxnId="{47E09BC1-7B30-442A-AC8D-2FFBB59231E3}">
      <dgm:prSet/>
      <dgm:spPr/>
      <dgm:t>
        <a:bodyPr/>
        <a:lstStyle/>
        <a:p>
          <a:endParaRPr lang="en-US"/>
        </a:p>
      </dgm:t>
    </dgm:pt>
    <dgm:pt modelId="{57CDD78C-D734-4B59-93FD-38CE39F8E7BD}" type="pres">
      <dgm:prSet presAssocID="{4047A861-DFC9-4F06-883E-9ABD28631AA5}" presName="linear" presStyleCnt="0">
        <dgm:presLayoutVars>
          <dgm:animLvl val="lvl"/>
          <dgm:resizeHandles val="exact"/>
        </dgm:presLayoutVars>
      </dgm:prSet>
      <dgm:spPr/>
    </dgm:pt>
    <dgm:pt modelId="{776EDBC7-163D-4F6B-9EAF-BC7D1B0D935A}" type="pres">
      <dgm:prSet presAssocID="{4A8E2E01-C235-49DC-A9E8-EF69F1FB995A}" presName="parentText" presStyleLbl="node1" presStyleIdx="0" presStyleCnt="3">
        <dgm:presLayoutVars>
          <dgm:chMax val="0"/>
          <dgm:bulletEnabled val="1"/>
        </dgm:presLayoutVars>
      </dgm:prSet>
      <dgm:spPr/>
    </dgm:pt>
    <dgm:pt modelId="{C6BB7F21-F278-42D3-87DB-B4D9922C99CC}" type="pres">
      <dgm:prSet presAssocID="{4A8E2E01-C235-49DC-A9E8-EF69F1FB995A}" presName="childText" presStyleLbl="revTx" presStyleIdx="0" presStyleCnt="3">
        <dgm:presLayoutVars>
          <dgm:bulletEnabled val="1"/>
        </dgm:presLayoutVars>
      </dgm:prSet>
      <dgm:spPr/>
    </dgm:pt>
    <dgm:pt modelId="{6127DA30-D191-4F86-8D1C-DA07012A6737}" type="pres">
      <dgm:prSet presAssocID="{4CB6035E-5BA9-4D64-85B7-D33D64E9B69B}" presName="parentText" presStyleLbl="node1" presStyleIdx="1" presStyleCnt="3">
        <dgm:presLayoutVars>
          <dgm:chMax val="0"/>
          <dgm:bulletEnabled val="1"/>
        </dgm:presLayoutVars>
      </dgm:prSet>
      <dgm:spPr/>
    </dgm:pt>
    <dgm:pt modelId="{B593A751-C000-4824-A1D9-6AE29D5899DC}" type="pres">
      <dgm:prSet presAssocID="{4CB6035E-5BA9-4D64-85B7-D33D64E9B69B}" presName="childText" presStyleLbl="revTx" presStyleIdx="1" presStyleCnt="3">
        <dgm:presLayoutVars>
          <dgm:bulletEnabled val="1"/>
        </dgm:presLayoutVars>
      </dgm:prSet>
      <dgm:spPr/>
    </dgm:pt>
    <dgm:pt modelId="{3F2E0CE1-3CF8-4F78-8F65-EDFC7CA2E1B1}" type="pres">
      <dgm:prSet presAssocID="{33F27B1B-815B-4088-BAEC-9E08ED9481F2}" presName="parentText" presStyleLbl="node1" presStyleIdx="2" presStyleCnt="3">
        <dgm:presLayoutVars>
          <dgm:chMax val="0"/>
          <dgm:bulletEnabled val="1"/>
        </dgm:presLayoutVars>
      </dgm:prSet>
      <dgm:spPr/>
    </dgm:pt>
    <dgm:pt modelId="{CC1F32AA-FDA9-40EA-B9A1-B3F64399E238}" type="pres">
      <dgm:prSet presAssocID="{33F27B1B-815B-4088-BAEC-9E08ED9481F2}" presName="childText" presStyleLbl="revTx" presStyleIdx="2" presStyleCnt="3">
        <dgm:presLayoutVars>
          <dgm:bulletEnabled val="1"/>
        </dgm:presLayoutVars>
      </dgm:prSet>
      <dgm:spPr/>
    </dgm:pt>
  </dgm:ptLst>
  <dgm:cxnLst>
    <dgm:cxn modelId="{BDF32912-04BC-4B36-AF8D-84B2E0469D29}" srcId="{4A8E2E01-C235-49DC-A9E8-EF69F1FB995A}" destId="{C9FA32D6-16A8-48C4-96F5-62D6203CE9D5}" srcOrd="0" destOrd="0" parTransId="{B08580F9-10E4-4201-9BD4-30BEEF09CEA7}" sibTransId="{677F5404-5500-4C2C-9F04-90B049BD66BA}"/>
    <dgm:cxn modelId="{9868F116-A0F7-4BD1-8DBF-6BFABE86C6EF}" type="presOf" srcId="{1B8F8ABD-7841-4A35-9A48-6AF1544E94B3}" destId="{C6BB7F21-F278-42D3-87DB-B4D9922C99CC}" srcOrd="0" destOrd="2" presId="urn:microsoft.com/office/officeart/2005/8/layout/vList2"/>
    <dgm:cxn modelId="{EC54CA1A-26DB-4B02-8795-7B699926F5D5}" srcId="{4047A861-DFC9-4F06-883E-9ABD28631AA5}" destId="{4CB6035E-5BA9-4D64-85B7-D33D64E9B69B}" srcOrd="1" destOrd="0" parTransId="{9F490397-E09E-4D37-8706-1BB9FB41C4FA}" sibTransId="{72174B75-3D99-4A4E-BE1A-28E5784CB311}"/>
    <dgm:cxn modelId="{FFC24D1F-47BA-4F8E-819A-1097D121EB60}" type="presOf" srcId="{4047A861-DFC9-4F06-883E-9ABD28631AA5}" destId="{57CDD78C-D734-4B59-93FD-38CE39F8E7BD}" srcOrd="0" destOrd="0" presId="urn:microsoft.com/office/officeart/2005/8/layout/vList2"/>
    <dgm:cxn modelId="{A67B503F-A23A-47A4-8E04-BCC90AE2F361}" srcId="{4A8E2E01-C235-49DC-A9E8-EF69F1FB995A}" destId="{826511E4-0F50-42B1-9AC5-64CB3B30A780}" srcOrd="1" destOrd="0" parTransId="{DF58265F-6E0D-4CD8-ABBF-72D74AC88826}" sibTransId="{0DAEDE07-43BE-476D-8463-4628B9059DCF}"/>
    <dgm:cxn modelId="{AE627D5E-BBC3-4658-BA16-A025D473D771}" type="presOf" srcId="{C9FA32D6-16A8-48C4-96F5-62D6203CE9D5}" destId="{C6BB7F21-F278-42D3-87DB-B4D9922C99CC}" srcOrd="0" destOrd="0" presId="urn:microsoft.com/office/officeart/2005/8/layout/vList2"/>
    <dgm:cxn modelId="{F0FFF747-3CA7-44A9-AE32-3B0260A5DFF2}" type="presOf" srcId="{F319754F-07DC-4759-A6E0-6A106931E0CC}" destId="{B593A751-C000-4824-A1D9-6AE29D5899DC}" srcOrd="0" destOrd="1" presId="urn:microsoft.com/office/officeart/2005/8/layout/vList2"/>
    <dgm:cxn modelId="{3A5E2848-C285-41B6-9021-35DE80241C17}" type="presOf" srcId="{C23251AA-0B61-4A2F-89C0-B81698F9E74E}" destId="{B593A751-C000-4824-A1D9-6AE29D5899DC}" srcOrd="0" destOrd="0" presId="urn:microsoft.com/office/officeart/2005/8/layout/vList2"/>
    <dgm:cxn modelId="{9ADB7C7F-21D8-445D-B8F7-53496D894268}" srcId="{4A8E2E01-C235-49DC-A9E8-EF69F1FB995A}" destId="{1B8F8ABD-7841-4A35-9A48-6AF1544E94B3}" srcOrd="2" destOrd="0" parTransId="{124DECD4-3215-4FBD-AF6D-23C080A6F6EE}" sibTransId="{1A867F4E-7FEE-4DDB-B2E2-6B9A9E437ACC}"/>
    <dgm:cxn modelId="{48C73983-63EC-452D-9F3A-407C1F6CCAC4}" type="presOf" srcId="{33F27B1B-815B-4088-BAEC-9E08ED9481F2}" destId="{3F2E0CE1-3CF8-4F78-8F65-EDFC7CA2E1B1}" srcOrd="0" destOrd="0" presId="urn:microsoft.com/office/officeart/2005/8/layout/vList2"/>
    <dgm:cxn modelId="{BF0E5085-7C48-410E-AEF3-07E6F1C960B5}" type="presOf" srcId="{826511E4-0F50-42B1-9AC5-64CB3B30A780}" destId="{C6BB7F21-F278-42D3-87DB-B4D9922C99CC}" srcOrd="0" destOrd="1" presId="urn:microsoft.com/office/officeart/2005/8/layout/vList2"/>
    <dgm:cxn modelId="{47E09BC1-7B30-442A-AC8D-2FFBB59231E3}" srcId="{33F27B1B-815B-4088-BAEC-9E08ED9481F2}" destId="{4079AE49-9F32-40D6-B16B-3502F3CCF8D4}" srcOrd="0" destOrd="0" parTransId="{E307112F-38FD-4C40-8A72-93D15FA35035}" sibTransId="{F34C27F6-5B39-4E2C-ACC1-0D14D9C6B144}"/>
    <dgm:cxn modelId="{AEE1B4D9-5009-47FF-A348-2FCE07CEC1AC}" srcId="{4047A861-DFC9-4F06-883E-9ABD28631AA5}" destId="{4A8E2E01-C235-49DC-A9E8-EF69F1FB995A}" srcOrd="0" destOrd="0" parTransId="{48C26604-FFE7-41DD-811D-5601C58564D1}" sibTransId="{E9051DA6-49CE-4986-A35A-333E0322B9BB}"/>
    <dgm:cxn modelId="{DA0820E6-C671-486E-9384-1E4406982B7D}" srcId="{4CB6035E-5BA9-4D64-85B7-D33D64E9B69B}" destId="{F319754F-07DC-4759-A6E0-6A106931E0CC}" srcOrd="1" destOrd="0" parTransId="{8636939E-BCA5-40A0-BEE2-AEB6CBA9D4B4}" sibTransId="{3EA6E303-E941-491D-846C-BA2ACC940997}"/>
    <dgm:cxn modelId="{21BC9CE7-5F42-473C-88EC-B47CC7AB9181}" type="presOf" srcId="{4CB6035E-5BA9-4D64-85B7-D33D64E9B69B}" destId="{6127DA30-D191-4F86-8D1C-DA07012A6737}" srcOrd="0" destOrd="0" presId="urn:microsoft.com/office/officeart/2005/8/layout/vList2"/>
    <dgm:cxn modelId="{7522E4EB-84E2-45DD-A3F7-3BC6BE221115}" srcId="{4047A861-DFC9-4F06-883E-9ABD28631AA5}" destId="{33F27B1B-815B-4088-BAEC-9E08ED9481F2}" srcOrd="2" destOrd="0" parTransId="{343AC19E-0536-4154-86CB-E707D93887DA}" sibTransId="{C8303C5E-C50F-437A-A308-960BA62DAAC7}"/>
    <dgm:cxn modelId="{69B829F3-C840-4AF4-B776-AE0B7846761C}" srcId="{4CB6035E-5BA9-4D64-85B7-D33D64E9B69B}" destId="{C23251AA-0B61-4A2F-89C0-B81698F9E74E}" srcOrd="0" destOrd="0" parTransId="{87ED1E4A-BF5C-45E9-AD5B-FF021ACDA5B4}" sibTransId="{51594C30-E39E-4D84-B423-AE85F644DD76}"/>
    <dgm:cxn modelId="{9EA5EDFC-8E7A-401E-B816-A9C8A714E89F}" type="presOf" srcId="{4A8E2E01-C235-49DC-A9E8-EF69F1FB995A}" destId="{776EDBC7-163D-4F6B-9EAF-BC7D1B0D935A}" srcOrd="0" destOrd="0" presId="urn:microsoft.com/office/officeart/2005/8/layout/vList2"/>
    <dgm:cxn modelId="{D20889FF-1C6A-4C67-A3F5-9D1A0561ED39}" type="presOf" srcId="{4079AE49-9F32-40D6-B16B-3502F3CCF8D4}" destId="{CC1F32AA-FDA9-40EA-B9A1-B3F64399E238}" srcOrd="0" destOrd="0" presId="urn:microsoft.com/office/officeart/2005/8/layout/vList2"/>
    <dgm:cxn modelId="{6BF21C91-F167-40B4-870F-F70BB360731A}" type="presParOf" srcId="{57CDD78C-D734-4B59-93FD-38CE39F8E7BD}" destId="{776EDBC7-163D-4F6B-9EAF-BC7D1B0D935A}" srcOrd="0" destOrd="0" presId="urn:microsoft.com/office/officeart/2005/8/layout/vList2"/>
    <dgm:cxn modelId="{491CEB74-F5EC-4B4C-BFDB-FC3825F68975}" type="presParOf" srcId="{57CDD78C-D734-4B59-93FD-38CE39F8E7BD}" destId="{C6BB7F21-F278-42D3-87DB-B4D9922C99CC}" srcOrd="1" destOrd="0" presId="urn:microsoft.com/office/officeart/2005/8/layout/vList2"/>
    <dgm:cxn modelId="{69E9E4F1-E361-4F33-980D-175A8D19E983}" type="presParOf" srcId="{57CDD78C-D734-4B59-93FD-38CE39F8E7BD}" destId="{6127DA30-D191-4F86-8D1C-DA07012A6737}" srcOrd="2" destOrd="0" presId="urn:microsoft.com/office/officeart/2005/8/layout/vList2"/>
    <dgm:cxn modelId="{6B764818-C689-40C9-BB7C-C18146406FF5}" type="presParOf" srcId="{57CDD78C-D734-4B59-93FD-38CE39F8E7BD}" destId="{B593A751-C000-4824-A1D9-6AE29D5899DC}" srcOrd="3" destOrd="0" presId="urn:microsoft.com/office/officeart/2005/8/layout/vList2"/>
    <dgm:cxn modelId="{D13CFE97-A0ED-4989-AAAF-241DE7A71C75}" type="presParOf" srcId="{57CDD78C-D734-4B59-93FD-38CE39F8E7BD}" destId="{3F2E0CE1-3CF8-4F78-8F65-EDFC7CA2E1B1}" srcOrd="4" destOrd="0" presId="urn:microsoft.com/office/officeart/2005/8/layout/vList2"/>
    <dgm:cxn modelId="{CE67BE65-9EC6-4D5F-BD99-C42E38DE29CF}" type="presParOf" srcId="{57CDD78C-D734-4B59-93FD-38CE39F8E7BD}" destId="{CC1F32AA-FDA9-40EA-B9A1-B3F64399E238}"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047A861-DFC9-4F06-883E-9ABD28631AA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CB6035E-5BA9-4D64-85B7-D33D64E9B69B}">
      <dgm:prSet phldrT="[Text]"/>
      <dgm:spPr>
        <a:solidFill>
          <a:schemeClr val="accent3"/>
        </a:solidFill>
      </dgm:spPr>
      <dgm:t>
        <a:bodyPr/>
        <a:lstStyle/>
        <a:p>
          <a:r>
            <a:rPr lang="en-US" dirty="0"/>
            <a:t>Documentation</a:t>
          </a:r>
        </a:p>
      </dgm:t>
    </dgm:pt>
    <dgm:pt modelId="{9F490397-E09E-4D37-8706-1BB9FB41C4FA}" type="parTrans" cxnId="{EC54CA1A-26DB-4B02-8795-7B699926F5D5}">
      <dgm:prSet/>
      <dgm:spPr/>
      <dgm:t>
        <a:bodyPr/>
        <a:lstStyle/>
        <a:p>
          <a:endParaRPr lang="en-US"/>
        </a:p>
      </dgm:t>
    </dgm:pt>
    <dgm:pt modelId="{72174B75-3D99-4A4E-BE1A-28E5784CB311}" type="sibTrans" cxnId="{EC54CA1A-26DB-4B02-8795-7B699926F5D5}">
      <dgm:prSet/>
      <dgm:spPr/>
      <dgm:t>
        <a:bodyPr/>
        <a:lstStyle/>
        <a:p>
          <a:endParaRPr lang="en-US"/>
        </a:p>
      </dgm:t>
    </dgm:pt>
    <dgm:pt modelId="{C23251AA-0B61-4A2F-89C0-B81698F9E74E}">
      <dgm:prSet phldrT="[Text]"/>
      <dgm:spPr/>
      <dgm:t>
        <a:bodyPr/>
        <a:lstStyle/>
        <a:p>
          <a:r>
            <a:rPr lang="en-US" dirty="0"/>
            <a:t>Consider developing further documentation requirements or application material on documentation</a:t>
          </a:r>
        </a:p>
      </dgm:t>
    </dgm:pt>
    <dgm:pt modelId="{87ED1E4A-BF5C-45E9-AD5B-FF021ACDA5B4}" type="parTrans" cxnId="{69B829F3-C840-4AF4-B776-AE0B7846761C}">
      <dgm:prSet/>
      <dgm:spPr/>
      <dgm:t>
        <a:bodyPr/>
        <a:lstStyle/>
        <a:p>
          <a:endParaRPr lang="en-US"/>
        </a:p>
      </dgm:t>
    </dgm:pt>
    <dgm:pt modelId="{51594C30-E39E-4D84-B423-AE85F644DD76}" type="sibTrans" cxnId="{69B829F3-C840-4AF4-B776-AE0B7846761C}">
      <dgm:prSet/>
      <dgm:spPr/>
      <dgm:t>
        <a:bodyPr/>
        <a:lstStyle/>
        <a:p>
          <a:endParaRPr lang="en-US"/>
        </a:p>
      </dgm:t>
    </dgm:pt>
    <dgm:pt modelId="{595C5DD2-1151-4190-84E1-F0702772AB55}">
      <dgm:prSet phldrT="[Text]"/>
      <dgm:spPr>
        <a:solidFill>
          <a:schemeClr val="accent3"/>
        </a:solidFill>
      </dgm:spPr>
      <dgm:t>
        <a:bodyPr/>
        <a:lstStyle/>
        <a:p>
          <a:r>
            <a:rPr lang="en-US" dirty="0"/>
            <a:t>Education</a:t>
          </a:r>
        </a:p>
      </dgm:t>
    </dgm:pt>
    <dgm:pt modelId="{83C6245E-BCE5-46D5-BDFE-295BB0569C17}" type="parTrans" cxnId="{4B99EE21-60EE-4341-8FF8-F6EB77210034}">
      <dgm:prSet/>
      <dgm:spPr/>
      <dgm:t>
        <a:bodyPr/>
        <a:lstStyle/>
        <a:p>
          <a:endParaRPr lang="en-US"/>
        </a:p>
      </dgm:t>
    </dgm:pt>
    <dgm:pt modelId="{EF891DA2-39A1-4A71-B62A-239D5AF8CFF2}" type="sibTrans" cxnId="{4B99EE21-60EE-4341-8FF8-F6EB77210034}">
      <dgm:prSet/>
      <dgm:spPr/>
      <dgm:t>
        <a:bodyPr/>
        <a:lstStyle/>
        <a:p>
          <a:endParaRPr lang="en-US"/>
        </a:p>
      </dgm:t>
    </dgm:pt>
    <dgm:pt modelId="{BE8CB238-CD23-4E27-9166-E9C775A26033}">
      <dgm:prSet phldrT="[Text]"/>
      <dgm:spPr/>
      <dgm:t>
        <a:bodyPr/>
        <a:lstStyle/>
        <a:p>
          <a:r>
            <a:rPr lang="en-US" dirty="0"/>
            <a:t>Consider developing introductory paragraphs to better explain the differences between an AUP engagement and an assurance engagement</a:t>
          </a:r>
        </a:p>
      </dgm:t>
    </dgm:pt>
    <dgm:pt modelId="{75C285AA-8A70-47A4-A3F6-F1A97600ED2C}" type="parTrans" cxnId="{159C6D81-CE24-4BF6-BC48-D5B8EAC5D938}">
      <dgm:prSet/>
      <dgm:spPr/>
      <dgm:t>
        <a:bodyPr/>
        <a:lstStyle/>
        <a:p>
          <a:endParaRPr lang="en-US"/>
        </a:p>
      </dgm:t>
    </dgm:pt>
    <dgm:pt modelId="{218FEFC9-DC31-4FB5-BDD0-665C402EE020}" type="sibTrans" cxnId="{159C6D81-CE24-4BF6-BC48-D5B8EAC5D938}">
      <dgm:prSet/>
      <dgm:spPr/>
      <dgm:t>
        <a:bodyPr/>
        <a:lstStyle/>
        <a:p>
          <a:endParaRPr lang="en-US"/>
        </a:p>
      </dgm:t>
    </dgm:pt>
    <dgm:pt modelId="{69A53E53-9CB9-4A6D-AF18-B13FEF79F493}">
      <dgm:prSet phldrT="[Text]"/>
      <dgm:spPr/>
      <dgm:t>
        <a:bodyPr/>
        <a:lstStyle/>
        <a:p>
          <a:r>
            <a:rPr lang="en-US" dirty="0"/>
            <a:t>Continue to strive for flexibility when finalizing </a:t>
          </a:r>
          <a:r>
            <a:rPr lang="en-US" dirty="0" err="1"/>
            <a:t>ISRS</a:t>
          </a:r>
          <a:r>
            <a:rPr lang="en-US" dirty="0"/>
            <a:t> 4400 (Revised) so that the revised </a:t>
          </a:r>
          <a:r>
            <a:rPr lang="en-US" dirty="0" err="1"/>
            <a:t>ISRS</a:t>
          </a:r>
          <a:r>
            <a:rPr lang="en-US" dirty="0"/>
            <a:t> can be appropriately applied in accordance with different national standards</a:t>
          </a:r>
        </a:p>
      </dgm:t>
    </dgm:pt>
    <dgm:pt modelId="{78DD5ABF-E2DE-458F-9945-7AC967191272}" type="parTrans" cxnId="{1498BAA2-F8A2-4C1F-BD51-D221F999126C}">
      <dgm:prSet/>
      <dgm:spPr/>
      <dgm:t>
        <a:bodyPr/>
        <a:lstStyle/>
        <a:p>
          <a:endParaRPr lang="en-US"/>
        </a:p>
      </dgm:t>
    </dgm:pt>
    <dgm:pt modelId="{10BBB0E1-CB43-411F-8604-40AB27EBDB39}" type="sibTrans" cxnId="{1498BAA2-F8A2-4C1F-BD51-D221F999126C}">
      <dgm:prSet/>
      <dgm:spPr/>
      <dgm:t>
        <a:bodyPr/>
        <a:lstStyle/>
        <a:p>
          <a:endParaRPr lang="en-US"/>
        </a:p>
      </dgm:t>
    </dgm:pt>
    <dgm:pt modelId="{6495C180-D256-4192-B8D7-CFC7618D06CA}">
      <dgm:prSet phldrT="[Text]"/>
      <dgm:spPr/>
      <dgm:t>
        <a:bodyPr/>
        <a:lstStyle/>
        <a:p>
          <a:r>
            <a:rPr lang="en-US" dirty="0"/>
            <a:t>Address issues in the Basis for Conclusions and other common communications accompanying the issuance of a standard </a:t>
          </a:r>
        </a:p>
      </dgm:t>
    </dgm:pt>
    <dgm:pt modelId="{ED70C124-168C-4757-A337-79755F546332}" type="parTrans" cxnId="{F917A74E-0A25-423B-99CA-929BC471EAC1}">
      <dgm:prSet/>
      <dgm:spPr/>
      <dgm:t>
        <a:bodyPr/>
        <a:lstStyle/>
        <a:p>
          <a:endParaRPr lang="en-US"/>
        </a:p>
      </dgm:t>
    </dgm:pt>
    <dgm:pt modelId="{1F983D21-EDBC-4001-B9D0-3CF600013192}" type="sibTrans" cxnId="{F917A74E-0A25-423B-99CA-929BC471EAC1}">
      <dgm:prSet/>
      <dgm:spPr/>
      <dgm:t>
        <a:bodyPr/>
        <a:lstStyle/>
        <a:p>
          <a:endParaRPr lang="en-US"/>
        </a:p>
      </dgm:t>
    </dgm:pt>
    <dgm:pt modelId="{999904C0-72DE-4CC1-A1D0-9632C06C72FC}">
      <dgm:prSet phldrT="[Text]"/>
      <dgm:spPr>
        <a:solidFill>
          <a:schemeClr val="accent3"/>
        </a:solidFill>
      </dgm:spPr>
      <dgm:t>
        <a:bodyPr/>
        <a:lstStyle/>
        <a:p>
          <a:r>
            <a:rPr lang="en-US" dirty="0"/>
            <a:t>Global consistency</a:t>
          </a:r>
        </a:p>
      </dgm:t>
    </dgm:pt>
    <dgm:pt modelId="{73065413-41D5-408A-83C4-750B8F0D545D}" type="parTrans" cxnId="{195E2CF6-A4B7-4AB4-8A9F-B96AE3B2CBE7}">
      <dgm:prSet/>
      <dgm:spPr/>
      <dgm:t>
        <a:bodyPr/>
        <a:lstStyle/>
        <a:p>
          <a:endParaRPr lang="en-US"/>
        </a:p>
      </dgm:t>
    </dgm:pt>
    <dgm:pt modelId="{8DCEA74D-A778-4CF8-A5F8-FDA41DEDD6B2}" type="sibTrans" cxnId="{195E2CF6-A4B7-4AB4-8A9F-B96AE3B2CBE7}">
      <dgm:prSet/>
      <dgm:spPr/>
      <dgm:t>
        <a:bodyPr/>
        <a:lstStyle/>
        <a:p>
          <a:endParaRPr lang="en-US"/>
        </a:p>
      </dgm:t>
    </dgm:pt>
    <dgm:pt modelId="{57CDD78C-D734-4B59-93FD-38CE39F8E7BD}" type="pres">
      <dgm:prSet presAssocID="{4047A861-DFC9-4F06-883E-9ABD28631AA5}" presName="linear" presStyleCnt="0">
        <dgm:presLayoutVars>
          <dgm:animLvl val="lvl"/>
          <dgm:resizeHandles val="exact"/>
        </dgm:presLayoutVars>
      </dgm:prSet>
      <dgm:spPr/>
    </dgm:pt>
    <dgm:pt modelId="{6127DA30-D191-4F86-8D1C-DA07012A6737}" type="pres">
      <dgm:prSet presAssocID="{4CB6035E-5BA9-4D64-85B7-D33D64E9B69B}" presName="parentText" presStyleLbl="node1" presStyleIdx="0" presStyleCnt="3">
        <dgm:presLayoutVars>
          <dgm:chMax val="0"/>
          <dgm:bulletEnabled val="1"/>
        </dgm:presLayoutVars>
      </dgm:prSet>
      <dgm:spPr/>
    </dgm:pt>
    <dgm:pt modelId="{B593A751-C000-4824-A1D9-6AE29D5899DC}" type="pres">
      <dgm:prSet presAssocID="{4CB6035E-5BA9-4D64-85B7-D33D64E9B69B}" presName="childText" presStyleLbl="revTx" presStyleIdx="0" presStyleCnt="3">
        <dgm:presLayoutVars>
          <dgm:bulletEnabled val="1"/>
        </dgm:presLayoutVars>
      </dgm:prSet>
      <dgm:spPr/>
    </dgm:pt>
    <dgm:pt modelId="{1817D6C5-BD4A-4629-805D-24F3F3039E32}" type="pres">
      <dgm:prSet presAssocID="{595C5DD2-1151-4190-84E1-F0702772AB55}" presName="parentText" presStyleLbl="node1" presStyleIdx="1" presStyleCnt="3">
        <dgm:presLayoutVars>
          <dgm:chMax val="0"/>
          <dgm:bulletEnabled val="1"/>
        </dgm:presLayoutVars>
      </dgm:prSet>
      <dgm:spPr/>
    </dgm:pt>
    <dgm:pt modelId="{0F119B9A-0786-47A8-80BF-0D89C15B3087}" type="pres">
      <dgm:prSet presAssocID="{595C5DD2-1151-4190-84E1-F0702772AB55}" presName="childText" presStyleLbl="revTx" presStyleIdx="1" presStyleCnt="3">
        <dgm:presLayoutVars>
          <dgm:bulletEnabled val="1"/>
        </dgm:presLayoutVars>
      </dgm:prSet>
      <dgm:spPr/>
    </dgm:pt>
    <dgm:pt modelId="{621DEF99-1543-41D4-956E-80C73EF0404A}" type="pres">
      <dgm:prSet presAssocID="{999904C0-72DE-4CC1-A1D0-9632C06C72FC}" presName="parentText" presStyleLbl="node1" presStyleIdx="2" presStyleCnt="3">
        <dgm:presLayoutVars>
          <dgm:chMax val="0"/>
          <dgm:bulletEnabled val="1"/>
        </dgm:presLayoutVars>
      </dgm:prSet>
      <dgm:spPr/>
    </dgm:pt>
    <dgm:pt modelId="{68BEAF9A-527E-4784-810F-3F87A8FB443B}" type="pres">
      <dgm:prSet presAssocID="{999904C0-72DE-4CC1-A1D0-9632C06C72FC}" presName="childText" presStyleLbl="revTx" presStyleIdx="2" presStyleCnt="3">
        <dgm:presLayoutVars>
          <dgm:bulletEnabled val="1"/>
        </dgm:presLayoutVars>
      </dgm:prSet>
      <dgm:spPr/>
    </dgm:pt>
  </dgm:ptLst>
  <dgm:cxnLst>
    <dgm:cxn modelId="{EC54CA1A-26DB-4B02-8795-7B699926F5D5}" srcId="{4047A861-DFC9-4F06-883E-9ABD28631AA5}" destId="{4CB6035E-5BA9-4D64-85B7-D33D64E9B69B}" srcOrd="0" destOrd="0" parTransId="{9F490397-E09E-4D37-8706-1BB9FB41C4FA}" sibTransId="{72174B75-3D99-4A4E-BE1A-28E5784CB311}"/>
    <dgm:cxn modelId="{FFC24D1F-47BA-4F8E-819A-1097D121EB60}" type="presOf" srcId="{4047A861-DFC9-4F06-883E-9ABD28631AA5}" destId="{57CDD78C-D734-4B59-93FD-38CE39F8E7BD}" srcOrd="0" destOrd="0" presId="urn:microsoft.com/office/officeart/2005/8/layout/vList2"/>
    <dgm:cxn modelId="{4B99EE21-60EE-4341-8FF8-F6EB77210034}" srcId="{4047A861-DFC9-4F06-883E-9ABD28631AA5}" destId="{595C5DD2-1151-4190-84E1-F0702772AB55}" srcOrd="1" destOrd="0" parTransId="{83C6245E-BCE5-46D5-BDFE-295BB0569C17}" sibTransId="{EF891DA2-39A1-4A71-B62A-239D5AF8CFF2}"/>
    <dgm:cxn modelId="{6CFCA62D-1046-4B49-BCEE-60818B6DD39A}" type="presOf" srcId="{6495C180-D256-4192-B8D7-CFC7618D06CA}" destId="{0F119B9A-0786-47A8-80BF-0D89C15B3087}" srcOrd="0" destOrd="1" presId="urn:microsoft.com/office/officeart/2005/8/layout/vList2"/>
    <dgm:cxn modelId="{3E0A422F-1909-40F2-BEA5-F31F1EDEC277}" type="presOf" srcId="{BE8CB238-CD23-4E27-9166-E9C775A26033}" destId="{0F119B9A-0786-47A8-80BF-0D89C15B3087}" srcOrd="0" destOrd="0" presId="urn:microsoft.com/office/officeart/2005/8/layout/vList2"/>
    <dgm:cxn modelId="{3A5E2848-C285-41B6-9021-35DE80241C17}" type="presOf" srcId="{C23251AA-0B61-4A2F-89C0-B81698F9E74E}" destId="{B593A751-C000-4824-A1D9-6AE29D5899DC}" srcOrd="0" destOrd="0" presId="urn:microsoft.com/office/officeart/2005/8/layout/vList2"/>
    <dgm:cxn modelId="{423F456C-DA41-4252-84D8-A9A49A054493}" type="presOf" srcId="{999904C0-72DE-4CC1-A1D0-9632C06C72FC}" destId="{621DEF99-1543-41D4-956E-80C73EF0404A}" srcOrd="0" destOrd="0" presId="urn:microsoft.com/office/officeart/2005/8/layout/vList2"/>
    <dgm:cxn modelId="{F917A74E-0A25-423B-99CA-929BC471EAC1}" srcId="{595C5DD2-1151-4190-84E1-F0702772AB55}" destId="{6495C180-D256-4192-B8D7-CFC7618D06CA}" srcOrd="1" destOrd="0" parTransId="{ED70C124-168C-4757-A337-79755F546332}" sibTransId="{1F983D21-EDBC-4001-B9D0-3CF600013192}"/>
    <dgm:cxn modelId="{46D1A252-D783-45A1-AE6C-45AA4FB5347D}" type="presOf" srcId="{69A53E53-9CB9-4A6D-AF18-B13FEF79F493}" destId="{68BEAF9A-527E-4784-810F-3F87A8FB443B}" srcOrd="0" destOrd="0" presId="urn:microsoft.com/office/officeart/2005/8/layout/vList2"/>
    <dgm:cxn modelId="{159C6D81-CE24-4BF6-BC48-D5B8EAC5D938}" srcId="{595C5DD2-1151-4190-84E1-F0702772AB55}" destId="{BE8CB238-CD23-4E27-9166-E9C775A26033}" srcOrd="0" destOrd="0" parTransId="{75C285AA-8A70-47A4-A3F6-F1A97600ED2C}" sibTransId="{218FEFC9-DC31-4FB5-BDD0-665C402EE020}"/>
    <dgm:cxn modelId="{1498BAA2-F8A2-4C1F-BD51-D221F999126C}" srcId="{999904C0-72DE-4CC1-A1D0-9632C06C72FC}" destId="{69A53E53-9CB9-4A6D-AF18-B13FEF79F493}" srcOrd="0" destOrd="0" parTransId="{78DD5ABF-E2DE-458F-9945-7AC967191272}" sibTransId="{10BBB0E1-CB43-411F-8604-40AB27EBDB39}"/>
    <dgm:cxn modelId="{21BC9CE7-5F42-473C-88EC-B47CC7AB9181}" type="presOf" srcId="{4CB6035E-5BA9-4D64-85B7-D33D64E9B69B}" destId="{6127DA30-D191-4F86-8D1C-DA07012A6737}" srcOrd="0" destOrd="0" presId="urn:microsoft.com/office/officeart/2005/8/layout/vList2"/>
    <dgm:cxn modelId="{AD8AA6EE-F6A0-434B-B5F5-3BC1A4D43321}" type="presOf" srcId="{595C5DD2-1151-4190-84E1-F0702772AB55}" destId="{1817D6C5-BD4A-4629-805D-24F3F3039E32}" srcOrd="0" destOrd="0" presId="urn:microsoft.com/office/officeart/2005/8/layout/vList2"/>
    <dgm:cxn modelId="{69B829F3-C840-4AF4-B776-AE0B7846761C}" srcId="{4CB6035E-5BA9-4D64-85B7-D33D64E9B69B}" destId="{C23251AA-0B61-4A2F-89C0-B81698F9E74E}" srcOrd="0" destOrd="0" parTransId="{87ED1E4A-BF5C-45E9-AD5B-FF021ACDA5B4}" sibTransId="{51594C30-E39E-4D84-B423-AE85F644DD76}"/>
    <dgm:cxn modelId="{195E2CF6-A4B7-4AB4-8A9F-B96AE3B2CBE7}" srcId="{4047A861-DFC9-4F06-883E-9ABD28631AA5}" destId="{999904C0-72DE-4CC1-A1D0-9632C06C72FC}" srcOrd="2" destOrd="0" parTransId="{73065413-41D5-408A-83C4-750B8F0D545D}" sibTransId="{8DCEA74D-A778-4CF8-A5F8-FDA41DEDD6B2}"/>
    <dgm:cxn modelId="{69E9E4F1-E361-4F33-980D-175A8D19E983}" type="presParOf" srcId="{57CDD78C-D734-4B59-93FD-38CE39F8E7BD}" destId="{6127DA30-D191-4F86-8D1C-DA07012A6737}" srcOrd="0" destOrd="0" presId="urn:microsoft.com/office/officeart/2005/8/layout/vList2"/>
    <dgm:cxn modelId="{6B764818-C689-40C9-BB7C-C18146406FF5}" type="presParOf" srcId="{57CDD78C-D734-4B59-93FD-38CE39F8E7BD}" destId="{B593A751-C000-4824-A1D9-6AE29D5899DC}" srcOrd="1" destOrd="0" presId="urn:microsoft.com/office/officeart/2005/8/layout/vList2"/>
    <dgm:cxn modelId="{C1ADC11C-E74B-49DF-ADAE-1D517D5FD1D4}" type="presParOf" srcId="{57CDD78C-D734-4B59-93FD-38CE39F8E7BD}" destId="{1817D6C5-BD4A-4629-805D-24F3F3039E32}" srcOrd="2" destOrd="0" presId="urn:microsoft.com/office/officeart/2005/8/layout/vList2"/>
    <dgm:cxn modelId="{B0C1BFA9-A022-49C8-AE7D-A08F22DFFD9E}" type="presParOf" srcId="{57CDD78C-D734-4B59-93FD-38CE39F8E7BD}" destId="{0F119B9A-0786-47A8-80BF-0D89C15B3087}" srcOrd="3" destOrd="0" presId="urn:microsoft.com/office/officeart/2005/8/layout/vList2"/>
    <dgm:cxn modelId="{FCF36346-9CDA-40E6-9C33-22A1F7DEC36B}" type="presParOf" srcId="{57CDD78C-D734-4B59-93FD-38CE39F8E7BD}" destId="{621DEF99-1543-41D4-956E-80C73EF0404A}" srcOrd="4" destOrd="0" presId="urn:microsoft.com/office/officeart/2005/8/layout/vList2"/>
    <dgm:cxn modelId="{E76FB0FF-6A9F-47C5-8646-64E70D2084F1}" type="presParOf" srcId="{57CDD78C-D734-4B59-93FD-38CE39F8E7BD}" destId="{68BEAF9A-527E-4784-810F-3F87A8FB443B}"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3604F79-E14C-4BE4-82D9-FFBFCD1E47AD}" type="doc">
      <dgm:prSet loTypeId="urn:microsoft.com/office/officeart/2005/8/layout/arrow1" loCatId="process" qsTypeId="urn:microsoft.com/office/officeart/2005/8/quickstyle/simple1" qsCatId="simple" csTypeId="urn:microsoft.com/office/officeart/2005/8/colors/accent1_2" csCatId="accent1" phldr="1"/>
      <dgm:spPr/>
      <dgm:t>
        <a:bodyPr/>
        <a:lstStyle/>
        <a:p>
          <a:endParaRPr lang="en-US"/>
        </a:p>
      </dgm:t>
    </dgm:pt>
    <dgm:pt modelId="{30BB0178-502B-4C15-ACD3-F0BB33B6A236}">
      <dgm:prSet phldrT="[Text]" custT="1"/>
      <dgm:spPr>
        <a:solidFill>
          <a:schemeClr val="tx2"/>
        </a:solidFill>
      </dgm:spPr>
      <dgm:t>
        <a:bodyPr/>
        <a:lstStyle/>
        <a:p>
          <a:r>
            <a:rPr lang="en-US" sz="1600" dirty="0"/>
            <a:t>Basing the effective date on the engagement agreement date may not be practical for recurring engagements or when there has been an amendment in the terms of engagement</a:t>
          </a:r>
        </a:p>
      </dgm:t>
    </dgm:pt>
    <dgm:pt modelId="{003A80BC-7CCC-432E-AE53-AE1D69FDD853}" type="parTrans" cxnId="{98799F5E-8AF9-48BC-8E26-34B8ECD4ED38}">
      <dgm:prSet/>
      <dgm:spPr/>
      <dgm:t>
        <a:bodyPr/>
        <a:lstStyle/>
        <a:p>
          <a:endParaRPr lang="en-US"/>
        </a:p>
      </dgm:t>
    </dgm:pt>
    <dgm:pt modelId="{535C6C5E-9D9E-43C2-BC6F-E5661F37ADBD}" type="sibTrans" cxnId="{98799F5E-8AF9-48BC-8E26-34B8ECD4ED38}">
      <dgm:prSet/>
      <dgm:spPr/>
      <dgm:t>
        <a:bodyPr/>
        <a:lstStyle/>
        <a:p>
          <a:endParaRPr lang="en-US"/>
        </a:p>
      </dgm:t>
    </dgm:pt>
    <dgm:pt modelId="{8AD8F68C-8C7F-4C90-B178-4DD95B3310F2}">
      <dgm:prSet phldrT="[Text]" custT="1"/>
      <dgm:spPr>
        <a:solidFill>
          <a:srgbClr val="808080"/>
        </a:solidFill>
      </dgm:spPr>
      <dgm:t>
        <a:bodyPr/>
        <a:lstStyle/>
        <a:p>
          <a:r>
            <a:rPr lang="en-US" sz="1600" dirty="0"/>
            <a:t>Basing the effective date on the AUP report date could result in circumstances when the AUP engagement is performed under extant </a:t>
          </a:r>
          <a:r>
            <a:rPr lang="en-US" sz="1600" dirty="0" err="1"/>
            <a:t>ISRS</a:t>
          </a:r>
          <a:r>
            <a:rPr lang="en-US" sz="1600" dirty="0"/>
            <a:t> 4400 but the AUP report issued after the effective date</a:t>
          </a:r>
        </a:p>
      </dgm:t>
    </dgm:pt>
    <dgm:pt modelId="{043D5748-194E-4270-A2C8-F503AD3A7D74}" type="parTrans" cxnId="{0351710E-5CD6-4401-898B-F22CD6774F15}">
      <dgm:prSet/>
      <dgm:spPr/>
      <dgm:t>
        <a:bodyPr/>
        <a:lstStyle/>
        <a:p>
          <a:endParaRPr lang="en-US"/>
        </a:p>
      </dgm:t>
    </dgm:pt>
    <dgm:pt modelId="{4B9A08E0-B871-4B00-8BA1-46FD282BB8C0}" type="sibTrans" cxnId="{0351710E-5CD6-4401-898B-F22CD6774F15}">
      <dgm:prSet/>
      <dgm:spPr/>
      <dgm:t>
        <a:bodyPr/>
        <a:lstStyle/>
        <a:p>
          <a:endParaRPr lang="en-US"/>
        </a:p>
      </dgm:t>
    </dgm:pt>
    <dgm:pt modelId="{058B6405-61CE-4D7E-A11F-602F8E20F476}" type="pres">
      <dgm:prSet presAssocID="{63604F79-E14C-4BE4-82D9-FFBFCD1E47AD}" presName="cycle" presStyleCnt="0">
        <dgm:presLayoutVars>
          <dgm:dir/>
          <dgm:resizeHandles val="exact"/>
        </dgm:presLayoutVars>
      </dgm:prSet>
      <dgm:spPr/>
    </dgm:pt>
    <dgm:pt modelId="{B1D151B2-8E13-4066-B6F7-1D56FF1B37AF}" type="pres">
      <dgm:prSet presAssocID="{30BB0178-502B-4C15-ACD3-F0BB33B6A236}" presName="arrow" presStyleLbl="node1" presStyleIdx="0" presStyleCnt="2" custScaleY="100322">
        <dgm:presLayoutVars>
          <dgm:bulletEnabled val="1"/>
        </dgm:presLayoutVars>
      </dgm:prSet>
      <dgm:spPr/>
    </dgm:pt>
    <dgm:pt modelId="{111CA97D-DD52-4464-BCD6-B9FB1DBC1139}" type="pres">
      <dgm:prSet presAssocID="{8AD8F68C-8C7F-4C90-B178-4DD95B3310F2}" presName="arrow" presStyleLbl="node1" presStyleIdx="1" presStyleCnt="2" custScaleY="100005">
        <dgm:presLayoutVars>
          <dgm:bulletEnabled val="1"/>
        </dgm:presLayoutVars>
      </dgm:prSet>
      <dgm:spPr/>
    </dgm:pt>
  </dgm:ptLst>
  <dgm:cxnLst>
    <dgm:cxn modelId="{0351710E-5CD6-4401-898B-F22CD6774F15}" srcId="{63604F79-E14C-4BE4-82D9-FFBFCD1E47AD}" destId="{8AD8F68C-8C7F-4C90-B178-4DD95B3310F2}" srcOrd="1" destOrd="0" parTransId="{043D5748-194E-4270-A2C8-F503AD3A7D74}" sibTransId="{4B9A08E0-B871-4B00-8BA1-46FD282BB8C0}"/>
    <dgm:cxn modelId="{98799F5E-8AF9-48BC-8E26-34B8ECD4ED38}" srcId="{63604F79-E14C-4BE4-82D9-FFBFCD1E47AD}" destId="{30BB0178-502B-4C15-ACD3-F0BB33B6A236}" srcOrd="0" destOrd="0" parTransId="{003A80BC-7CCC-432E-AE53-AE1D69FDD853}" sibTransId="{535C6C5E-9D9E-43C2-BC6F-E5661F37ADBD}"/>
    <dgm:cxn modelId="{1E5D5B61-B991-4E25-A8C2-E4713438183C}" type="presOf" srcId="{63604F79-E14C-4BE4-82D9-FFBFCD1E47AD}" destId="{058B6405-61CE-4D7E-A11F-602F8E20F476}" srcOrd="0" destOrd="0" presId="urn:microsoft.com/office/officeart/2005/8/layout/arrow1"/>
    <dgm:cxn modelId="{0807634B-8403-4A0B-AB10-8AF7D398B8F4}" type="presOf" srcId="{30BB0178-502B-4C15-ACD3-F0BB33B6A236}" destId="{B1D151B2-8E13-4066-B6F7-1D56FF1B37AF}" srcOrd="0" destOrd="0" presId="urn:microsoft.com/office/officeart/2005/8/layout/arrow1"/>
    <dgm:cxn modelId="{DF8C97FF-8A2E-4D8B-B913-B88418A11C9B}" type="presOf" srcId="{8AD8F68C-8C7F-4C90-B178-4DD95B3310F2}" destId="{111CA97D-DD52-4464-BCD6-B9FB1DBC1139}" srcOrd="0" destOrd="0" presId="urn:microsoft.com/office/officeart/2005/8/layout/arrow1"/>
    <dgm:cxn modelId="{C2B9C8BC-48CF-45E3-B6AF-491610E684B3}" type="presParOf" srcId="{058B6405-61CE-4D7E-A11F-602F8E20F476}" destId="{B1D151B2-8E13-4066-B6F7-1D56FF1B37AF}" srcOrd="0" destOrd="0" presId="urn:microsoft.com/office/officeart/2005/8/layout/arrow1"/>
    <dgm:cxn modelId="{1A4C92FF-B049-4EF8-9377-C0376E892C68}" type="presParOf" srcId="{058B6405-61CE-4D7E-A11F-602F8E20F476}" destId="{111CA97D-DD52-4464-BCD6-B9FB1DBC1139}" srcOrd="1" destOrd="0" presId="urn:microsoft.com/office/officeart/2005/8/layout/arrow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BD8CE7-C8A6-4C7C-8241-DCD3520C3BAF}">
      <dsp:nvSpPr>
        <dsp:cNvPr id="0" name=""/>
        <dsp:cNvSpPr/>
      </dsp:nvSpPr>
      <dsp:spPr>
        <a:xfrm>
          <a:off x="1178097" y="1066"/>
          <a:ext cx="2609490" cy="1565694"/>
        </a:xfrm>
        <a:prstGeom prst="rect">
          <a:avLst/>
        </a:prstGeom>
        <a:solidFill>
          <a:srgbClr val="005BA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Responding to stakeholders’ needs</a:t>
          </a:r>
        </a:p>
      </dsp:txBody>
      <dsp:txXfrm>
        <a:off x="1178097" y="1066"/>
        <a:ext cx="2609490" cy="1565694"/>
      </dsp:txXfrm>
    </dsp:sp>
    <dsp:sp modelId="{E630A20F-770E-4E25-A30C-BB5415705EC8}">
      <dsp:nvSpPr>
        <dsp:cNvPr id="0" name=""/>
        <dsp:cNvSpPr/>
      </dsp:nvSpPr>
      <dsp:spPr>
        <a:xfrm>
          <a:off x="4048537" y="1066"/>
          <a:ext cx="2609490" cy="1565694"/>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Providing clarity in the agreed-upon procedures report</a:t>
          </a:r>
        </a:p>
      </dsp:txBody>
      <dsp:txXfrm>
        <a:off x="4048537" y="1066"/>
        <a:ext cx="2609490" cy="1565694"/>
      </dsp:txXfrm>
    </dsp:sp>
    <dsp:sp modelId="{42B15FEF-8541-4B08-BF54-CC4BC650C3D0}">
      <dsp:nvSpPr>
        <dsp:cNvPr id="0" name=""/>
        <dsp:cNvSpPr/>
      </dsp:nvSpPr>
      <dsp:spPr>
        <a:xfrm>
          <a:off x="2613317" y="1827710"/>
          <a:ext cx="2609490" cy="156569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Promoting consistency in practice</a:t>
          </a:r>
        </a:p>
      </dsp:txBody>
      <dsp:txXfrm>
        <a:off x="2613317" y="1827710"/>
        <a:ext cx="2609490" cy="15656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6EDBC7-163D-4F6B-9EAF-BC7D1B0D935A}">
      <dsp:nvSpPr>
        <dsp:cNvPr id="0" name=""/>
        <dsp:cNvSpPr/>
      </dsp:nvSpPr>
      <dsp:spPr>
        <a:xfrm>
          <a:off x="0" y="198820"/>
          <a:ext cx="8306475" cy="455715"/>
        </a:xfrm>
        <a:prstGeom prst="round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Written representations</a:t>
          </a:r>
        </a:p>
      </dsp:txBody>
      <dsp:txXfrm>
        <a:off x="22246" y="221066"/>
        <a:ext cx="8261983" cy="411223"/>
      </dsp:txXfrm>
    </dsp:sp>
    <dsp:sp modelId="{C6BB7F21-F278-42D3-87DB-B4D9922C99CC}">
      <dsp:nvSpPr>
        <dsp:cNvPr id="0" name=""/>
        <dsp:cNvSpPr/>
      </dsp:nvSpPr>
      <dsp:spPr>
        <a:xfrm>
          <a:off x="0" y="654535"/>
          <a:ext cx="8306475" cy="786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731"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Retain with minor change to require the practitioner to consider requesting written representations</a:t>
          </a:r>
        </a:p>
        <a:p>
          <a:pPr marL="114300" lvl="1" indent="-114300" algn="l" defTabSz="666750">
            <a:lnSpc>
              <a:spcPct val="90000"/>
            </a:lnSpc>
            <a:spcBef>
              <a:spcPct val="0"/>
            </a:spcBef>
            <a:spcAft>
              <a:spcPct val="20000"/>
            </a:spcAft>
            <a:buChar char="•"/>
          </a:pPr>
          <a:r>
            <a:rPr lang="en-US" sz="1500" kern="1200" dirty="0"/>
            <a:t>Clarify in the application material that written representations are not generally required</a:t>
          </a:r>
        </a:p>
        <a:p>
          <a:pPr marL="114300" lvl="1" indent="-114300" algn="l" defTabSz="666750">
            <a:lnSpc>
              <a:spcPct val="90000"/>
            </a:lnSpc>
            <a:spcBef>
              <a:spcPct val="0"/>
            </a:spcBef>
            <a:spcAft>
              <a:spcPct val="20000"/>
            </a:spcAft>
            <a:buChar char="•"/>
          </a:pPr>
          <a:r>
            <a:rPr lang="en-US" sz="1500" kern="1200" dirty="0"/>
            <a:t>Consider providing guidance on when written representations may be appropriate</a:t>
          </a:r>
        </a:p>
      </dsp:txBody>
      <dsp:txXfrm>
        <a:off x="0" y="654535"/>
        <a:ext cx="8306475" cy="786599"/>
      </dsp:txXfrm>
    </dsp:sp>
    <dsp:sp modelId="{6127DA30-D191-4F86-8D1C-DA07012A6737}">
      <dsp:nvSpPr>
        <dsp:cNvPr id="0" name=""/>
        <dsp:cNvSpPr/>
      </dsp:nvSpPr>
      <dsp:spPr>
        <a:xfrm>
          <a:off x="0" y="1441135"/>
          <a:ext cx="8306475" cy="455715"/>
        </a:xfrm>
        <a:prstGeom prst="round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Responsible party</a:t>
          </a:r>
        </a:p>
      </dsp:txBody>
      <dsp:txXfrm>
        <a:off x="22246" y="1463381"/>
        <a:ext cx="8261983" cy="411223"/>
      </dsp:txXfrm>
    </dsp:sp>
    <dsp:sp modelId="{B593A751-C000-4824-A1D9-6AE29D5899DC}">
      <dsp:nvSpPr>
        <dsp:cNvPr id="0" name=""/>
        <dsp:cNvSpPr/>
      </dsp:nvSpPr>
      <dsp:spPr>
        <a:xfrm>
          <a:off x="0" y="1896850"/>
          <a:ext cx="8306475" cy="7276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731"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Define “responsible party”</a:t>
          </a:r>
        </a:p>
        <a:p>
          <a:pPr marL="114300" lvl="1" indent="-114300" algn="l" defTabSz="666750">
            <a:lnSpc>
              <a:spcPct val="90000"/>
            </a:lnSpc>
            <a:spcBef>
              <a:spcPct val="0"/>
            </a:spcBef>
            <a:spcAft>
              <a:spcPct val="20000"/>
            </a:spcAft>
            <a:buChar char="•"/>
          </a:pPr>
          <a:r>
            <a:rPr lang="en-US" sz="1500" kern="1200" dirty="0"/>
            <a:t>Consider developing requirements and application material pertaining to the practitioner’s responsibilities as they relate to the responsible party</a:t>
          </a:r>
        </a:p>
      </dsp:txBody>
      <dsp:txXfrm>
        <a:off x="0" y="1896850"/>
        <a:ext cx="8306475" cy="727605"/>
      </dsp:txXfrm>
    </dsp:sp>
    <dsp:sp modelId="{3F2E0CE1-3CF8-4F78-8F65-EDFC7CA2E1B1}">
      <dsp:nvSpPr>
        <dsp:cNvPr id="0" name=""/>
        <dsp:cNvSpPr/>
      </dsp:nvSpPr>
      <dsp:spPr>
        <a:xfrm>
          <a:off x="0" y="2624455"/>
          <a:ext cx="8306475" cy="455715"/>
        </a:xfrm>
        <a:prstGeom prst="round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Fraud and non-compliance with laws and regulations</a:t>
          </a:r>
          <a:endParaRPr lang="en-US" sz="1900" kern="1200" dirty="0"/>
        </a:p>
      </dsp:txBody>
      <dsp:txXfrm>
        <a:off x="22246" y="2646701"/>
        <a:ext cx="8261983" cy="411223"/>
      </dsp:txXfrm>
    </dsp:sp>
    <dsp:sp modelId="{CC1F32AA-FDA9-40EA-B9A1-B3F64399E238}">
      <dsp:nvSpPr>
        <dsp:cNvPr id="0" name=""/>
        <dsp:cNvSpPr/>
      </dsp:nvSpPr>
      <dsp:spPr>
        <a:xfrm>
          <a:off x="0" y="3080170"/>
          <a:ext cx="8306475" cy="6882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731"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Consider developing guidance, including clearer linkages to the practitioner’s responsibilities as set out in relevant ethical requirements, if the practitioner becomes aware of fraud and non-compliance with laws and regulations</a:t>
          </a:r>
        </a:p>
      </dsp:txBody>
      <dsp:txXfrm>
        <a:off x="0" y="3080170"/>
        <a:ext cx="8306475" cy="6882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27DA30-D191-4F86-8D1C-DA07012A6737}">
      <dsp:nvSpPr>
        <dsp:cNvPr id="0" name=""/>
        <dsp:cNvSpPr/>
      </dsp:nvSpPr>
      <dsp:spPr>
        <a:xfrm>
          <a:off x="0" y="121937"/>
          <a:ext cx="8306475" cy="527670"/>
        </a:xfrm>
        <a:prstGeom prst="round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Documentation</a:t>
          </a:r>
        </a:p>
      </dsp:txBody>
      <dsp:txXfrm>
        <a:off x="25759" y="147696"/>
        <a:ext cx="8254957" cy="476152"/>
      </dsp:txXfrm>
    </dsp:sp>
    <dsp:sp modelId="{B593A751-C000-4824-A1D9-6AE29D5899DC}">
      <dsp:nvSpPr>
        <dsp:cNvPr id="0" name=""/>
        <dsp:cNvSpPr/>
      </dsp:nvSpPr>
      <dsp:spPr>
        <a:xfrm>
          <a:off x="0" y="649607"/>
          <a:ext cx="8306475" cy="535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73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Consider developing further documentation requirements or application material on documentation</a:t>
          </a:r>
        </a:p>
      </dsp:txBody>
      <dsp:txXfrm>
        <a:off x="0" y="649607"/>
        <a:ext cx="8306475" cy="535095"/>
      </dsp:txXfrm>
    </dsp:sp>
    <dsp:sp modelId="{1817D6C5-BD4A-4629-805D-24F3F3039E32}">
      <dsp:nvSpPr>
        <dsp:cNvPr id="0" name=""/>
        <dsp:cNvSpPr/>
      </dsp:nvSpPr>
      <dsp:spPr>
        <a:xfrm>
          <a:off x="0" y="1184702"/>
          <a:ext cx="8306475" cy="527670"/>
        </a:xfrm>
        <a:prstGeom prst="round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Education</a:t>
          </a:r>
        </a:p>
      </dsp:txBody>
      <dsp:txXfrm>
        <a:off x="25759" y="1210461"/>
        <a:ext cx="8254957" cy="476152"/>
      </dsp:txXfrm>
    </dsp:sp>
    <dsp:sp modelId="{0F119B9A-0786-47A8-80BF-0D89C15B3087}">
      <dsp:nvSpPr>
        <dsp:cNvPr id="0" name=""/>
        <dsp:cNvSpPr/>
      </dsp:nvSpPr>
      <dsp:spPr>
        <a:xfrm>
          <a:off x="0" y="1712373"/>
          <a:ext cx="8306475" cy="1070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73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Consider developing introductory paragraphs to better explain the differences between an AUP engagement and an assurance engagement</a:t>
          </a:r>
        </a:p>
        <a:p>
          <a:pPr marL="171450" lvl="1" indent="-171450" algn="l" defTabSz="755650">
            <a:lnSpc>
              <a:spcPct val="90000"/>
            </a:lnSpc>
            <a:spcBef>
              <a:spcPct val="0"/>
            </a:spcBef>
            <a:spcAft>
              <a:spcPct val="20000"/>
            </a:spcAft>
            <a:buChar char="•"/>
          </a:pPr>
          <a:r>
            <a:rPr lang="en-US" sz="1700" kern="1200" dirty="0"/>
            <a:t>Address issues in the Basis for Conclusions and other common communications accompanying the issuance of a standard </a:t>
          </a:r>
        </a:p>
      </dsp:txBody>
      <dsp:txXfrm>
        <a:off x="0" y="1712373"/>
        <a:ext cx="8306475" cy="1070190"/>
      </dsp:txXfrm>
    </dsp:sp>
    <dsp:sp modelId="{621DEF99-1543-41D4-956E-80C73EF0404A}">
      <dsp:nvSpPr>
        <dsp:cNvPr id="0" name=""/>
        <dsp:cNvSpPr/>
      </dsp:nvSpPr>
      <dsp:spPr>
        <a:xfrm>
          <a:off x="0" y="2782563"/>
          <a:ext cx="8306475" cy="527670"/>
        </a:xfrm>
        <a:prstGeom prst="round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Global consistency</a:t>
          </a:r>
        </a:p>
      </dsp:txBody>
      <dsp:txXfrm>
        <a:off x="25759" y="2808322"/>
        <a:ext cx="8254957" cy="476152"/>
      </dsp:txXfrm>
    </dsp:sp>
    <dsp:sp modelId="{68BEAF9A-527E-4784-810F-3F87A8FB443B}">
      <dsp:nvSpPr>
        <dsp:cNvPr id="0" name=""/>
        <dsp:cNvSpPr/>
      </dsp:nvSpPr>
      <dsp:spPr>
        <a:xfrm>
          <a:off x="0" y="3310233"/>
          <a:ext cx="8306475" cy="535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73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Continue to strive for flexibility when finalizing </a:t>
          </a:r>
          <a:r>
            <a:rPr lang="en-US" sz="1700" kern="1200" dirty="0" err="1"/>
            <a:t>ISRS</a:t>
          </a:r>
          <a:r>
            <a:rPr lang="en-US" sz="1700" kern="1200" dirty="0"/>
            <a:t> 4400 (Revised) so that the revised </a:t>
          </a:r>
          <a:r>
            <a:rPr lang="en-US" sz="1700" kern="1200" dirty="0" err="1"/>
            <a:t>ISRS</a:t>
          </a:r>
          <a:r>
            <a:rPr lang="en-US" sz="1700" kern="1200" dirty="0"/>
            <a:t> can be appropriately applied in accordance with different national standards</a:t>
          </a:r>
        </a:p>
      </dsp:txBody>
      <dsp:txXfrm>
        <a:off x="0" y="3310233"/>
        <a:ext cx="8306475" cy="53509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D151B2-8E13-4066-B6F7-1D56FF1B37AF}">
      <dsp:nvSpPr>
        <dsp:cNvPr id="0" name=""/>
        <dsp:cNvSpPr/>
      </dsp:nvSpPr>
      <dsp:spPr>
        <a:xfrm rot="16200000">
          <a:off x="1068" y="2"/>
          <a:ext cx="3315146" cy="3325821"/>
        </a:xfrm>
        <a:prstGeom prst="upArrow">
          <a:avLst>
            <a:gd name="adj1" fmla="val 50000"/>
            <a:gd name="adj2" fmla="val 35000"/>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Basing the effective date on the engagement agreement date may not be practical for recurring engagements or when there has been an amendment in the terms of engagement</a:t>
          </a:r>
        </a:p>
      </dsp:txBody>
      <dsp:txXfrm rot="5400000">
        <a:off x="575882" y="834125"/>
        <a:ext cx="2745670" cy="1657573"/>
      </dsp:txXfrm>
    </dsp:sp>
    <dsp:sp modelId="{111CA97D-DD52-4464-BCD6-B9FB1DBC1139}">
      <dsp:nvSpPr>
        <dsp:cNvPr id="0" name=""/>
        <dsp:cNvSpPr/>
      </dsp:nvSpPr>
      <dsp:spPr>
        <a:xfrm rot="5400000">
          <a:off x="4913385" y="5256"/>
          <a:ext cx="3315146" cy="3315312"/>
        </a:xfrm>
        <a:prstGeom prst="upArrow">
          <a:avLst>
            <a:gd name="adj1" fmla="val 50000"/>
            <a:gd name="adj2" fmla="val 35000"/>
          </a:avLst>
        </a:prstGeom>
        <a:solidFill>
          <a:srgbClr val="80808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Basing the effective date on the AUP report date could result in circumstances when the AUP engagement is performed under extant </a:t>
          </a:r>
          <a:r>
            <a:rPr lang="en-US" sz="1600" kern="1200" dirty="0" err="1"/>
            <a:t>ISRS</a:t>
          </a:r>
          <a:r>
            <a:rPr lang="en-US" sz="1600" kern="1200" dirty="0"/>
            <a:t> 4400 but the AUP report issued after the effective date</a:t>
          </a:r>
        </a:p>
      </dsp:txBody>
      <dsp:txXfrm rot="-5400000">
        <a:off x="4913302" y="834126"/>
        <a:ext cx="2735161" cy="165757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arrow1">
  <dgm:title val=""/>
  <dgm:desc val=""/>
  <dgm:catLst>
    <dgm:cat type="relationship" pri="7000"/>
    <dgm:cat type="process" pri="32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ycle">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equ" val="2">
        <dgm:constrLst>
          <dgm:constr type="primFontSz" for="ch" ptType="node" op="equ" val="65"/>
          <dgm:constr type="w" for="ch" ptType="node" refType="w"/>
          <dgm:constr type="h" for="ch" ptType="node" refType="w" refFor="ch" refPtType="node"/>
          <dgm:constr type="sibSp" refType="w" refFor="ch" refPtType="node" fact="0.1"/>
          <dgm:constr type="diam" refType="w" refFor="ch" refPtType="node" fact="1.1"/>
        </dgm:constrLst>
      </dgm:if>
      <dgm:if name="Name11" axis="ch" ptType="node" func="cnt" op="equ" val="5">
        <dgm:constrLst>
          <dgm:constr type="primFontSz" for="ch" ptType="node" op="equ" val="65"/>
          <dgm:constr type="w" for="ch" ptType="node" refType="w"/>
          <dgm:constr type="h" for="ch" ptType="node" refType="w" refFor="ch" refPtType="node"/>
          <dgm:constr type="sibSp" refType="w" refFor="ch" refPtType="node" fact="-0.24"/>
        </dgm:constrLst>
      </dgm:if>
      <dgm:if name="Name12" axis="ch" ptType="node" func="cnt" op="equ" val="6">
        <dgm:constrLst>
          <dgm:constr type="primFontSz" for="ch" ptType="node" op="equ" val="65"/>
          <dgm:constr type="w" for="ch" ptType="node" refType="w"/>
          <dgm:constr type="h" for="ch" ptType="node" refType="w" refFor="ch" refPtType="node"/>
          <dgm:constr type="sibSp" refType="w" refFor="ch" refPtType="node" fact="-0.2"/>
        </dgm:constrLst>
      </dgm:if>
      <dgm:if name="Name13" axis="ch" ptType="node" func="cnt" op="equ" val="8">
        <dgm:constrLst>
          <dgm:constr type="primFontSz" for="ch" ptType="node" op="equ" val="65"/>
          <dgm:constr type="w" for="ch" ptType="node" refType="w"/>
          <dgm:constr type="h" for="ch" ptType="node" refType="w" refFor="ch" refPtType="node"/>
          <dgm:constr type="sibSp" refType="w" refFor="ch" refPtType="node" fact="-0.15"/>
        </dgm:constrLst>
      </dgm:if>
      <dgm:if name="Name14" axis="ch" ptType="node" func="cnt" op="equ" val="10">
        <dgm:constrLst>
          <dgm:constr type="primFontSz" for="ch" ptType="node" op="lte" val="65"/>
          <dgm:constr type="w" for="ch" ptType="node" refType="w"/>
          <dgm:constr type="h" for="ch" ptType="node" refType="w" refFor="ch" refPtType="node"/>
          <dgm:constr type="sibSp" refType="w" refFor="ch" refPtType="node" fact="-0.24"/>
        </dgm:constrLst>
      </dgm:if>
      <dgm:else name="Name15">
        <dgm:constrLst>
          <dgm:constr type="primFontSz" for="ch" ptType="node" op="equ" val="65"/>
          <dgm:constr type="w" for="ch" ptType="node" refType="w"/>
          <dgm:constr type="h" for="ch" ptType="node" refType="w" refFor="ch" refPtType="node"/>
          <dgm:constr type="sibSp" refType="w" refFor="ch" refPtType="node" fact="-0.35"/>
        </dgm:constrLst>
      </dgm:else>
    </dgm:choose>
    <dgm:ruleLst/>
    <dgm:forEach name="Name16" axis="ch" ptType="node">
      <dgm:layoutNode name="arrow">
        <dgm:varLst>
          <dgm:bulletEnabled val="1"/>
        </dgm:varLst>
        <dgm:alg type="tx"/>
        <dgm:shape xmlns:r="http://schemas.openxmlformats.org/officeDocument/2006/relationships" type="upArrow" r:blip="">
          <dgm:adjLst>
            <dgm:adj idx="2" val="0.35"/>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1E59F908-4FD1-BC49-B361-D833AB0555FC}" type="datetimeFigureOut">
              <a:rPr lang="en-US" smtClean="0"/>
              <a:t>8/7/2019</a:t>
            </a:fld>
            <a:endParaRPr lang="en-US"/>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EA8AE4AE-12A8-4846-97A9-6CB7DEDDF69D}" type="slidenum">
              <a:rPr lang="en-US" smtClean="0"/>
              <a:t>‹#›</a:t>
            </a:fld>
            <a:endParaRPr lang="en-US"/>
          </a:p>
        </p:txBody>
      </p:sp>
    </p:spTree>
    <p:extLst>
      <p:ext uri="{BB962C8B-B14F-4D97-AF65-F5344CB8AC3E}">
        <p14:creationId xmlns:p14="http://schemas.microsoft.com/office/powerpoint/2010/main" val="24353285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7745D6F9-5033-7542-84AC-41926A84456D}" type="datetimeFigureOut">
              <a:rPr lang="en-US" smtClean="0"/>
              <a:t>8/7/2019</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4D410189-AC31-7546-878A-F48FDE4A29F5}" type="slidenum">
              <a:rPr lang="en-US" smtClean="0"/>
              <a:t>‹#›</a:t>
            </a:fld>
            <a:endParaRPr lang="en-US"/>
          </a:p>
        </p:txBody>
      </p:sp>
    </p:spTree>
    <p:extLst>
      <p:ext uri="{BB962C8B-B14F-4D97-AF65-F5344CB8AC3E}">
        <p14:creationId xmlns:p14="http://schemas.microsoft.com/office/powerpoint/2010/main" val="525539108"/>
      </p:ext>
    </p:extLst>
  </p:cSld>
  <p:clrMap bg1="lt1" tx1="dk1" bg2="lt2" tx2="dk2" accent1="accent1" accent2="accent2" accent3="accent3" accent4="accent4" accent5="accent5" accent6="accent6" hlink="hlink" folHlink="folHlink"/>
  <p:hf hdr="0" ftr="0" dt="0"/>
  <p:notesStyle>
    <a:lvl1pPr marL="0" algn="l" defTabSz="342900" rtl="0" eaLnBrk="1" latinLnBrk="0" hangingPunct="1">
      <a:defRPr sz="900" kern="1200">
        <a:solidFill>
          <a:schemeClr val="tx1"/>
        </a:solidFill>
        <a:latin typeface="+mn-lt"/>
        <a:ea typeface="+mn-ea"/>
        <a:cs typeface="+mn-cs"/>
      </a:defRPr>
    </a:lvl1pPr>
    <a:lvl2pPr marL="342900" algn="l" defTabSz="342900" rtl="0" eaLnBrk="1" latinLnBrk="0" hangingPunct="1">
      <a:defRPr sz="900" kern="1200">
        <a:solidFill>
          <a:schemeClr val="tx1"/>
        </a:solidFill>
        <a:latin typeface="+mn-lt"/>
        <a:ea typeface="+mn-ea"/>
        <a:cs typeface="+mn-cs"/>
      </a:defRPr>
    </a:lvl2pPr>
    <a:lvl3pPr marL="685800" algn="l" defTabSz="342900" rtl="0" eaLnBrk="1" latinLnBrk="0" hangingPunct="1">
      <a:defRPr sz="900" kern="1200">
        <a:solidFill>
          <a:schemeClr val="tx1"/>
        </a:solidFill>
        <a:latin typeface="+mn-lt"/>
        <a:ea typeface="+mn-ea"/>
        <a:cs typeface="+mn-cs"/>
      </a:defRPr>
    </a:lvl3pPr>
    <a:lvl4pPr marL="1028700" algn="l" defTabSz="342900" rtl="0" eaLnBrk="1" latinLnBrk="0" hangingPunct="1">
      <a:defRPr sz="900" kern="1200">
        <a:solidFill>
          <a:schemeClr val="tx1"/>
        </a:solidFill>
        <a:latin typeface="+mn-lt"/>
        <a:ea typeface="+mn-ea"/>
        <a:cs typeface="+mn-cs"/>
      </a:defRPr>
    </a:lvl4pPr>
    <a:lvl5pPr marL="1371600" algn="l" defTabSz="342900" rtl="0" eaLnBrk="1" latinLnBrk="0" hangingPunct="1">
      <a:defRPr sz="900" kern="1200">
        <a:solidFill>
          <a:schemeClr val="tx1"/>
        </a:solidFill>
        <a:latin typeface="+mn-lt"/>
        <a:ea typeface="+mn-ea"/>
        <a:cs typeface="+mn-cs"/>
      </a:defRPr>
    </a:lvl5pPr>
    <a:lvl6pPr marL="1714500" algn="l" defTabSz="342900" rtl="0" eaLnBrk="1" latinLnBrk="0" hangingPunct="1">
      <a:defRPr sz="900" kern="1200">
        <a:solidFill>
          <a:schemeClr val="tx1"/>
        </a:solidFill>
        <a:latin typeface="+mn-lt"/>
        <a:ea typeface="+mn-ea"/>
        <a:cs typeface="+mn-cs"/>
      </a:defRPr>
    </a:lvl6pPr>
    <a:lvl7pPr marL="2057400" algn="l" defTabSz="342900" rtl="0" eaLnBrk="1" latinLnBrk="0" hangingPunct="1">
      <a:defRPr sz="900" kern="1200">
        <a:solidFill>
          <a:schemeClr val="tx1"/>
        </a:solidFill>
        <a:latin typeface="+mn-lt"/>
        <a:ea typeface="+mn-ea"/>
        <a:cs typeface="+mn-cs"/>
      </a:defRPr>
    </a:lvl7pPr>
    <a:lvl8pPr marL="2400300" algn="l" defTabSz="342900" rtl="0" eaLnBrk="1" latinLnBrk="0" hangingPunct="1">
      <a:defRPr sz="900" kern="1200">
        <a:solidFill>
          <a:schemeClr val="tx1"/>
        </a:solidFill>
        <a:latin typeface="+mn-lt"/>
        <a:ea typeface="+mn-ea"/>
        <a:cs typeface="+mn-cs"/>
      </a:defRPr>
    </a:lvl8pPr>
    <a:lvl9pPr marL="2743200" algn="l" defTabSz="3429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F177551F-2C26-5D4E-AA97-F437309E4641}" type="slidenum">
              <a:rPr lang="en-US" smtClean="0"/>
              <a:pPr>
                <a:defRPr/>
              </a:pPr>
              <a:t>1</a:t>
            </a:fld>
            <a:endParaRPr lang="en-US" dirty="0"/>
          </a:p>
        </p:txBody>
      </p:sp>
    </p:spTree>
    <p:extLst>
      <p:ext uri="{BB962C8B-B14F-4D97-AF65-F5344CB8AC3E}">
        <p14:creationId xmlns:p14="http://schemas.microsoft.com/office/powerpoint/2010/main" val="3815391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Introduce TF and staff</a:t>
            </a:r>
          </a:p>
          <a:p>
            <a:r>
              <a:rPr lang="en-US" sz="1200" dirty="0"/>
              <a:t>[Read from slide]</a:t>
            </a:r>
          </a:p>
        </p:txBody>
      </p:sp>
      <p:sp>
        <p:nvSpPr>
          <p:cNvPr id="4" name="Slide Number Placeholder 3"/>
          <p:cNvSpPr>
            <a:spLocks noGrp="1"/>
          </p:cNvSpPr>
          <p:nvPr>
            <p:ph type="sldNum" sz="quarter" idx="5"/>
          </p:nvPr>
        </p:nvSpPr>
        <p:spPr/>
        <p:txBody>
          <a:bodyPr/>
          <a:lstStyle/>
          <a:p>
            <a:fld id="{4D410189-AC31-7546-878A-F48FDE4A29F5}" type="slidenum">
              <a:rPr lang="en-US" smtClean="0"/>
              <a:t>2</a:t>
            </a:fld>
            <a:endParaRPr lang="en-US"/>
          </a:p>
        </p:txBody>
      </p:sp>
    </p:spTree>
    <p:extLst>
      <p:ext uri="{BB962C8B-B14F-4D97-AF65-F5344CB8AC3E}">
        <p14:creationId xmlns:p14="http://schemas.microsoft.com/office/powerpoint/2010/main" val="33939701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ED-4400 was issued in Nov 2018. </a:t>
            </a:r>
          </a:p>
          <a:p>
            <a:endParaRPr lang="en-US" sz="1200" dirty="0"/>
          </a:p>
          <a:p>
            <a:r>
              <a:rPr lang="en-US" sz="1200" dirty="0"/>
              <a:t>ED-4400requested responses to 11 questions, covering:</a:t>
            </a:r>
          </a:p>
          <a:p>
            <a:pPr marL="171450" indent="-171450">
              <a:buFont typeface="Arial" panose="020B0604020202020204" pitchFamily="34" charset="0"/>
              <a:buChar char="•"/>
            </a:pPr>
            <a:r>
              <a:rPr lang="en-US" sz="1200" dirty="0"/>
              <a:t>Public interest</a:t>
            </a:r>
          </a:p>
          <a:p>
            <a:pPr marL="171450" indent="-171450">
              <a:buFont typeface="Arial" panose="020B0604020202020204" pitchFamily="34" charset="0"/>
              <a:buChar char="•"/>
            </a:pPr>
            <a:r>
              <a:rPr lang="en-US" sz="1200" dirty="0"/>
              <a:t>Professional judgment </a:t>
            </a:r>
          </a:p>
          <a:p>
            <a:pPr marL="171450" indent="-171450">
              <a:buFont typeface="Arial" panose="020B0604020202020204" pitchFamily="34" charset="0"/>
              <a:buChar char="•"/>
            </a:pPr>
            <a:r>
              <a:rPr lang="en-US" sz="1200" dirty="0"/>
              <a:t>Practitioner’s independence </a:t>
            </a:r>
          </a:p>
          <a:p>
            <a:pPr marL="171450" indent="-171450">
              <a:buFont typeface="Arial" panose="020B0604020202020204" pitchFamily="34" charset="0"/>
              <a:buChar char="•"/>
            </a:pPr>
            <a:r>
              <a:rPr lang="en-US" sz="1200" dirty="0"/>
              <a:t>Use of the term “Findings” </a:t>
            </a:r>
          </a:p>
          <a:p>
            <a:pPr marL="171450" indent="-171450">
              <a:buFont typeface="Arial" panose="020B0604020202020204" pitchFamily="34" charset="0"/>
              <a:buChar char="•"/>
            </a:pPr>
            <a:r>
              <a:rPr lang="en-US" sz="1200" dirty="0"/>
              <a:t>Engagement acceptance and continuance </a:t>
            </a:r>
          </a:p>
          <a:p>
            <a:pPr marL="171450" indent="-171450">
              <a:buFont typeface="Arial" panose="020B0604020202020204" pitchFamily="34" charset="0"/>
              <a:buChar char="•"/>
            </a:pPr>
            <a:r>
              <a:rPr lang="en-US" sz="1200" dirty="0"/>
              <a:t>Practitioner’s expert </a:t>
            </a:r>
          </a:p>
          <a:p>
            <a:pPr marL="171450" indent="-171450">
              <a:buFont typeface="Arial" panose="020B0604020202020204" pitchFamily="34" charset="0"/>
              <a:buChar char="•"/>
            </a:pPr>
            <a:r>
              <a:rPr lang="en-US" sz="1200" dirty="0"/>
              <a:t>AUP Report </a:t>
            </a:r>
          </a:p>
          <a:p>
            <a:pPr marL="171450" indent="-171450">
              <a:buFont typeface="Arial" panose="020B0604020202020204" pitchFamily="34" charset="0"/>
              <a:buChar char="•"/>
            </a:pPr>
            <a:r>
              <a:rPr lang="en-US" sz="1200" dirty="0"/>
              <a:t>Translations </a:t>
            </a:r>
          </a:p>
          <a:p>
            <a:pPr marL="171450" indent="-171450">
              <a:buFont typeface="Arial" panose="020B0604020202020204" pitchFamily="34" charset="0"/>
              <a:buChar char="•"/>
            </a:pPr>
            <a:r>
              <a:rPr lang="en-US" sz="1200" dirty="0"/>
              <a:t>Effective date </a:t>
            </a:r>
          </a:p>
          <a:p>
            <a:endParaRPr lang="en-US" sz="1200" dirty="0"/>
          </a:p>
          <a:p>
            <a:r>
              <a:rPr lang="en-US" sz="1200" dirty="0"/>
              <a:t>Objectives of this session</a:t>
            </a:r>
          </a:p>
          <a:p>
            <a:r>
              <a:rPr lang="en-US" sz="1200" dirty="0"/>
              <a:t>[Read the slide]</a:t>
            </a:r>
          </a:p>
        </p:txBody>
      </p:sp>
      <p:sp>
        <p:nvSpPr>
          <p:cNvPr id="4" name="Slide Number Placeholder 3"/>
          <p:cNvSpPr>
            <a:spLocks noGrp="1"/>
          </p:cNvSpPr>
          <p:nvPr>
            <p:ph type="sldNum" sz="quarter" idx="5"/>
          </p:nvPr>
        </p:nvSpPr>
        <p:spPr/>
        <p:txBody>
          <a:bodyPr/>
          <a:lstStyle/>
          <a:p>
            <a:fld id="{4D410189-AC31-7546-878A-F48FDE4A29F5}" type="slidenum">
              <a:rPr lang="en-US" smtClean="0"/>
              <a:t>3</a:t>
            </a:fld>
            <a:endParaRPr lang="en-US"/>
          </a:p>
        </p:txBody>
      </p:sp>
    </p:spTree>
    <p:extLst>
      <p:ext uri="{BB962C8B-B14F-4D97-AF65-F5344CB8AC3E}">
        <p14:creationId xmlns:p14="http://schemas.microsoft.com/office/powerpoint/2010/main" val="275304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Total of 52 responses:</a:t>
            </a:r>
          </a:p>
          <a:p>
            <a:pPr marL="171450" indent="-171450">
              <a:buFont typeface="Arial" panose="020B0604020202020204" pitchFamily="34" charset="0"/>
              <a:buChar char="•"/>
            </a:pPr>
            <a:r>
              <a:rPr lang="en-US" sz="1200" dirty="0"/>
              <a:t>Wide variety of stakeholder groups</a:t>
            </a:r>
          </a:p>
          <a:p>
            <a:pPr marL="171450" indent="-171450">
              <a:buFont typeface="Arial" panose="020B0604020202020204" pitchFamily="34" charset="0"/>
              <a:buChar char="•"/>
            </a:pPr>
            <a:r>
              <a:rPr lang="en-US" sz="1200" dirty="0"/>
              <a:t>Span across the globe</a:t>
            </a:r>
          </a:p>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4</a:t>
            </a:fld>
            <a:endParaRPr lang="en-US"/>
          </a:p>
        </p:txBody>
      </p:sp>
    </p:spTree>
    <p:extLst>
      <p:ext uri="{BB962C8B-B14F-4D97-AF65-F5344CB8AC3E}">
        <p14:creationId xmlns:p14="http://schemas.microsoft.com/office/powerpoint/2010/main" val="13503076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Wide support for the proposals</a:t>
            </a:r>
          </a:p>
          <a:p>
            <a:endParaRPr lang="en-US" sz="1200" dirty="0"/>
          </a:p>
          <a:p>
            <a:r>
              <a:rPr lang="en-US" sz="1200" dirty="0"/>
              <a:t>All key aspects of the ED are supported by a majority or significant majority of respondents</a:t>
            </a:r>
          </a:p>
        </p:txBody>
      </p:sp>
      <p:sp>
        <p:nvSpPr>
          <p:cNvPr id="4" name="Slide Number Placeholder 3"/>
          <p:cNvSpPr>
            <a:spLocks noGrp="1"/>
          </p:cNvSpPr>
          <p:nvPr>
            <p:ph type="sldNum" sz="quarter" idx="5"/>
          </p:nvPr>
        </p:nvSpPr>
        <p:spPr/>
        <p:txBody>
          <a:bodyPr/>
          <a:lstStyle/>
          <a:p>
            <a:fld id="{4D410189-AC31-7546-878A-F48FDE4A29F5}" type="slidenum">
              <a:rPr lang="en-US" smtClean="0"/>
              <a:t>5</a:t>
            </a:fld>
            <a:endParaRPr lang="en-US"/>
          </a:p>
        </p:txBody>
      </p:sp>
    </p:spTree>
    <p:extLst>
      <p:ext uri="{BB962C8B-B14F-4D97-AF65-F5344CB8AC3E}">
        <p14:creationId xmlns:p14="http://schemas.microsoft.com/office/powerpoint/2010/main" val="28715722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96875" y="4262511"/>
            <a:ext cx="6156325" cy="4510157"/>
          </a:xfrm>
        </p:spPr>
        <p:txBody>
          <a:bodyPr>
            <a:noAutofit/>
          </a:bodyPr>
          <a:lstStyle/>
          <a:p>
            <a:r>
              <a:rPr lang="en-US" sz="1200" dirty="0"/>
              <a:t>Public interests issues addressed by ED-4400</a:t>
            </a:r>
          </a:p>
          <a:p>
            <a:endParaRPr lang="en-US" sz="1200" dirty="0"/>
          </a:p>
          <a:p>
            <a:r>
              <a:rPr lang="en-US" sz="1200" b="1" dirty="0"/>
              <a:t>Responding to stakeholders' needs</a:t>
            </a:r>
          </a:p>
          <a:p>
            <a:r>
              <a:rPr lang="en-US" sz="1200" dirty="0"/>
              <a:t>ED-4400 meets the needs of users for AUP engagements on financial and non-financial subject matters by:</a:t>
            </a:r>
          </a:p>
          <a:p>
            <a:pPr marL="171450" lvl="0" indent="-171450">
              <a:buFont typeface="Arial" panose="020B0604020202020204" pitchFamily="34" charset="0"/>
              <a:buChar char="•"/>
            </a:pPr>
            <a:r>
              <a:rPr lang="en-US" sz="1200" dirty="0"/>
              <a:t>Broadening the scope to include financial and non-financial subject matters; and</a:t>
            </a:r>
          </a:p>
          <a:p>
            <a:pPr marL="171450" lvl="0" indent="-171450">
              <a:buFont typeface="Arial" panose="020B0604020202020204" pitchFamily="34" charset="0"/>
              <a:buChar char="•"/>
            </a:pPr>
            <a:r>
              <a:rPr lang="en-US" sz="1200" dirty="0"/>
              <a:t>Adding examples of AUP engagements.</a:t>
            </a:r>
          </a:p>
          <a:p>
            <a:endParaRPr lang="en-US" sz="1200" dirty="0"/>
          </a:p>
          <a:p>
            <a:r>
              <a:rPr lang="en-US" sz="1200" b="1" dirty="0"/>
              <a:t>Providing clarity in the AUP report</a:t>
            </a:r>
          </a:p>
          <a:p>
            <a:r>
              <a:rPr lang="en-US" sz="1200" dirty="0"/>
              <a:t>ED-4400 enhances the AUP report for clarity and transparency by:</a:t>
            </a:r>
          </a:p>
          <a:p>
            <a:pPr marL="171450" lvl="0" indent="-171450">
              <a:buFont typeface="Arial" panose="020B0604020202020204" pitchFamily="34" charset="0"/>
              <a:buChar char="•"/>
            </a:pPr>
            <a:r>
              <a:rPr lang="en-US" sz="1200" dirty="0"/>
              <a:t>Adding requirements and application material to help the practitioner avoid using terminology that is unclear, misleading or subject to varying interpretations;</a:t>
            </a:r>
          </a:p>
          <a:p>
            <a:pPr marL="171450" lvl="0" indent="-171450">
              <a:buFont typeface="Arial" panose="020B0604020202020204" pitchFamily="34" charset="0"/>
              <a:buChar char="•"/>
            </a:pPr>
            <a:r>
              <a:rPr lang="en-US" sz="1200" dirty="0"/>
              <a:t>Adding requirements and application material to the AUP report, including statements addressing circumstances when the practitioner is (or is not) required to be independent, and whether the practitioner is (or is not) independent; and</a:t>
            </a:r>
          </a:p>
          <a:p>
            <a:pPr marL="171450" lvl="0" indent="-171450">
              <a:buFont typeface="Arial" panose="020B0604020202020204" pitchFamily="34" charset="0"/>
              <a:buChar char="•"/>
            </a:pPr>
            <a:r>
              <a:rPr lang="en-US" sz="1200" dirty="0"/>
              <a:t>Adding a requirement and application material to clearly distinguish the AUP report from other engagement reports.</a:t>
            </a:r>
          </a:p>
          <a:p>
            <a:endParaRPr lang="en-US" sz="1200" dirty="0"/>
          </a:p>
          <a:p>
            <a:r>
              <a:rPr lang="en-US" sz="1200" b="1" dirty="0"/>
              <a:t>Promoting consistency in the performance of AUP engagements</a:t>
            </a:r>
          </a:p>
          <a:p>
            <a:r>
              <a:rPr lang="en-US" sz="1200" dirty="0"/>
              <a:t>ED-4400 is drafted using a drafting convention called the “clarity format”, which helps to promote consistency in the performance of AUP engagements. </a:t>
            </a:r>
          </a:p>
          <a:p>
            <a:r>
              <a:rPr lang="en-US" sz="1200" dirty="0"/>
              <a:t>ED-4400 further promotes consistency by: </a:t>
            </a:r>
          </a:p>
          <a:p>
            <a:pPr marL="171450" lvl="0" indent="-171450">
              <a:buFont typeface="Arial" panose="020B0604020202020204" pitchFamily="34" charset="0"/>
              <a:buChar char="•"/>
            </a:pPr>
            <a:r>
              <a:rPr lang="en-US" sz="1200" dirty="0"/>
              <a:t>Clarifying the role professional judgment plays in an AUP engagement; and</a:t>
            </a:r>
          </a:p>
          <a:p>
            <a:pPr marL="171450" lvl="0" indent="-171450">
              <a:buFont typeface="Arial" panose="020B0604020202020204" pitchFamily="34" charset="0"/>
              <a:buChar char="•"/>
            </a:pPr>
            <a:r>
              <a:rPr lang="en-US" sz="1200" dirty="0"/>
              <a:t>Explaining the distinctions between AUP engagements and assurance engagements.</a:t>
            </a:r>
          </a:p>
        </p:txBody>
      </p:sp>
      <p:sp>
        <p:nvSpPr>
          <p:cNvPr id="4" name="Slide Number Placeholder 3"/>
          <p:cNvSpPr>
            <a:spLocks noGrp="1"/>
          </p:cNvSpPr>
          <p:nvPr>
            <p:ph type="sldNum" sz="quarter" idx="10"/>
          </p:nvPr>
        </p:nvSpPr>
        <p:spPr/>
        <p:txBody>
          <a:bodyPr/>
          <a:lstStyle/>
          <a:p>
            <a:fld id="{FE31F99D-8DB6-499A-A5BE-D707899593CB}" type="slidenum">
              <a:rPr lang="en-US" smtClean="0"/>
              <a:t>6</a:t>
            </a:fld>
            <a:endParaRPr lang="en-US" dirty="0"/>
          </a:p>
        </p:txBody>
      </p:sp>
    </p:spTree>
    <p:extLst>
      <p:ext uri="{BB962C8B-B14F-4D97-AF65-F5344CB8AC3E}">
        <p14:creationId xmlns:p14="http://schemas.microsoft.com/office/powerpoint/2010/main" val="1085417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Subject to comments on specific aspects of ED-4400, a significant majority agreed that ED-4400 has been appropriately clarified and modernized</a:t>
            </a:r>
          </a:p>
          <a:p>
            <a:endParaRPr lang="en-US" sz="1200" dirty="0"/>
          </a:p>
          <a:p>
            <a:r>
              <a:rPr lang="en-US" sz="1200" dirty="0"/>
              <a:t>TF will continue to place public interest in the forefront as we finalize </a:t>
            </a:r>
            <a:r>
              <a:rPr lang="en-US" sz="1200" dirty="0" err="1"/>
              <a:t>ISRS</a:t>
            </a:r>
            <a:r>
              <a:rPr lang="en-US" sz="1200" dirty="0"/>
              <a:t> 4400 (Revised).</a:t>
            </a:r>
          </a:p>
        </p:txBody>
      </p:sp>
      <p:sp>
        <p:nvSpPr>
          <p:cNvPr id="4" name="Slide Number Placeholder 3"/>
          <p:cNvSpPr>
            <a:spLocks noGrp="1"/>
          </p:cNvSpPr>
          <p:nvPr>
            <p:ph type="sldNum" sz="quarter" idx="5"/>
          </p:nvPr>
        </p:nvSpPr>
        <p:spPr/>
        <p:txBody>
          <a:bodyPr/>
          <a:lstStyle/>
          <a:p>
            <a:fld id="{4D410189-AC31-7546-878A-F48FDE4A29F5}" type="slidenum">
              <a:rPr lang="en-US" smtClean="0"/>
              <a:t>7</a:t>
            </a:fld>
            <a:endParaRPr lang="en-US"/>
          </a:p>
        </p:txBody>
      </p:sp>
    </p:spTree>
    <p:extLst>
      <p:ext uri="{BB962C8B-B14F-4D97-AF65-F5344CB8AC3E}">
        <p14:creationId xmlns:p14="http://schemas.microsoft.com/office/powerpoint/2010/main" val="35595842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ED-4400 requires the practitioner to apply professional judgment in accepting and conducting an AUP engagement, taking into account the circumstances of the engagement. </a:t>
            </a:r>
          </a:p>
          <a:p>
            <a:endParaRPr lang="en-US" sz="1200" dirty="0"/>
          </a:p>
          <a:p>
            <a:r>
              <a:rPr lang="en-US" sz="1200" dirty="0"/>
              <a:t>Application material is included to provide examples of areas where professional judgment may be applied, and to explain the unique role that professional judgment plays in an AUP engagement.</a:t>
            </a:r>
          </a:p>
          <a:p>
            <a:endParaRPr lang="en-US" sz="1200" dirty="0"/>
          </a:p>
          <a:p>
            <a:r>
              <a:rPr lang="en-US" sz="1200" dirty="0"/>
              <a:t>A significant majority agreed that professional judgment is not suspended in an AUP engagement, particularly at the engagement acceptance stage. </a:t>
            </a:r>
          </a:p>
        </p:txBody>
      </p:sp>
      <p:sp>
        <p:nvSpPr>
          <p:cNvPr id="4" name="Slide Number Placeholder 3"/>
          <p:cNvSpPr>
            <a:spLocks noGrp="1"/>
          </p:cNvSpPr>
          <p:nvPr>
            <p:ph type="sldNum" sz="quarter" idx="5"/>
          </p:nvPr>
        </p:nvSpPr>
        <p:spPr/>
        <p:txBody>
          <a:bodyPr/>
          <a:lstStyle/>
          <a:p>
            <a:fld id="{4D410189-AC31-7546-878A-F48FDE4A29F5}" type="slidenum">
              <a:rPr lang="en-US" smtClean="0"/>
              <a:t>8</a:t>
            </a:fld>
            <a:endParaRPr lang="en-US"/>
          </a:p>
        </p:txBody>
      </p:sp>
    </p:spTree>
    <p:extLst>
      <p:ext uri="{BB962C8B-B14F-4D97-AF65-F5344CB8AC3E}">
        <p14:creationId xmlns:p14="http://schemas.microsoft.com/office/powerpoint/2010/main" val="41135916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96875" y="4387136"/>
            <a:ext cx="6156325" cy="4156234"/>
          </a:xfrm>
        </p:spPr>
        <p:txBody>
          <a:bodyPr/>
          <a:lstStyle/>
          <a:p>
            <a:r>
              <a:rPr lang="en-US" sz="1200" dirty="0"/>
              <a:t>However, many respondents (including respondents who expressed general agreement and those who disagreed with the proposals on PJ) indicated that professional judgment cannot be exercised when performing the procedures.</a:t>
            </a:r>
          </a:p>
          <a:p>
            <a:endParaRPr lang="en-US" sz="1200" dirty="0"/>
          </a:p>
          <a:p>
            <a:r>
              <a:rPr lang="en-US" sz="1200" dirty="0"/>
              <a:t>A summary of the respondents’ comments and the TF’s analyses are set out in para. 11 to 21 of the Feedback Report</a:t>
            </a:r>
          </a:p>
          <a:p>
            <a:endParaRPr lang="en-US" sz="1200" dirty="0"/>
          </a:p>
          <a:p>
            <a:r>
              <a:rPr lang="en-US" sz="1200" dirty="0">
                <a:highlight>
                  <a:srgbClr val="FFFF00"/>
                </a:highlight>
              </a:rPr>
              <a:t>The TF met over the weekend and had further discussions on PJ. Key views expressed include the following:</a:t>
            </a:r>
          </a:p>
          <a:p>
            <a:pPr marL="171450" indent="-171450">
              <a:buFont typeface="Arial" panose="020B0604020202020204" pitchFamily="34" charset="0"/>
              <a:buChar char="•"/>
            </a:pPr>
            <a:r>
              <a:rPr lang="en-US" sz="1200" dirty="0">
                <a:highlight>
                  <a:srgbClr val="FFFF00"/>
                </a:highlight>
              </a:rPr>
              <a:t>There is PJ surrounding the performance of the procedure such as determining actions to take if the practitioner becomes aware of inappropriate procedures</a:t>
            </a:r>
          </a:p>
          <a:p>
            <a:pPr marL="171450" indent="-171450">
              <a:buFont typeface="Arial" panose="020B0604020202020204" pitchFamily="34" charset="0"/>
              <a:buChar char="•"/>
            </a:pPr>
            <a:r>
              <a:rPr lang="en-US" sz="1200" dirty="0">
                <a:highlight>
                  <a:srgbClr val="FFFF00"/>
                </a:highlight>
              </a:rPr>
              <a:t>However, there is no PJ in the actual performance of the procedure</a:t>
            </a:r>
          </a:p>
          <a:p>
            <a:pPr marL="171450" indent="-171450">
              <a:buFont typeface="Arial" panose="020B0604020202020204" pitchFamily="34" charset="0"/>
              <a:buChar char="•"/>
            </a:pPr>
            <a:r>
              <a:rPr lang="en-US" sz="1200" dirty="0">
                <a:highlight>
                  <a:srgbClr val="FFFF00"/>
                </a:highlight>
              </a:rPr>
              <a:t>The procedures are agreed with the engaging party</a:t>
            </a:r>
          </a:p>
          <a:p>
            <a:pPr marL="171450" indent="-171450">
              <a:buFont typeface="Arial" panose="020B0604020202020204" pitchFamily="34" charset="0"/>
              <a:buChar char="•"/>
            </a:pPr>
            <a:r>
              <a:rPr lang="en-US" sz="1200" dirty="0">
                <a:highlight>
                  <a:srgbClr val="FFFF00"/>
                </a:highlight>
              </a:rPr>
              <a:t>There are no alternative courses of action when it comes to how the procedure is performed</a:t>
            </a:r>
          </a:p>
          <a:p>
            <a:endParaRPr lang="en-US" sz="1200" dirty="0">
              <a:highlight>
                <a:srgbClr val="FFFF00"/>
              </a:highlight>
            </a:endParaRPr>
          </a:p>
          <a:p>
            <a:r>
              <a:rPr lang="en-US" sz="1200" dirty="0">
                <a:highlight>
                  <a:srgbClr val="FFFF00"/>
                </a:highlight>
              </a:rPr>
              <a:t>To that end, the TF intends to:</a:t>
            </a:r>
          </a:p>
          <a:p>
            <a:pPr marL="171450" indent="-171450">
              <a:buFont typeface="Arial" panose="020B0604020202020204" pitchFamily="34" charset="0"/>
              <a:buChar char="•"/>
            </a:pPr>
            <a:r>
              <a:rPr lang="en-US" sz="1200" dirty="0">
                <a:highlight>
                  <a:srgbClr val="FFFF00"/>
                </a:highlight>
              </a:rPr>
              <a:t>Require the practitioner to apply PJ, except when performing the procedures as agreed upon in the terms of the engagement</a:t>
            </a:r>
          </a:p>
          <a:p>
            <a:pPr marL="171450" indent="-171450">
              <a:buFont typeface="Arial" panose="020B0604020202020204" pitchFamily="34" charset="0"/>
              <a:buChar char="•"/>
            </a:pPr>
            <a:r>
              <a:rPr lang="en-US" sz="1200" dirty="0">
                <a:highlight>
                  <a:srgbClr val="FFFF00"/>
                </a:highlight>
              </a:rPr>
              <a:t>AM will include examples of how PJ is exercised at each stage of the engagement:</a:t>
            </a:r>
          </a:p>
          <a:p>
            <a:pPr marL="514350" lvl="1" indent="-171450">
              <a:buFont typeface="Arial" panose="020B0604020202020204" pitchFamily="34" charset="0"/>
              <a:buChar char="•"/>
            </a:pPr>
            <a:r>
              <a:rPr lang="en-US" sz="1200" dirty="0">
                <a:highlight>
                  <a:srgbClr val="FFFF00"/>
                </a:highlight>
              </a:rPr>
              <a:t>Accepting engagement, planning the engagement, determining appropriate actions to take (if becomes aware of certain matters), and reporting</a:t>
            </a:r>
          </a:p>
        </p:txBody>
      </p:sp>
      <p:sp>
        <p:nvSpPr>
          <p:cNvPr id="4" name="Slide Number Placeholder 3"/>
          <p:cNvSpPr>
            <a:spLocks noGrp="1"/>
          </p:cNvSpPr>
          <p:nvPr>
            <p:ph type="sldNum" sz="quarter" idx="5"/>
          </p:nvPr>
        </p:nvSpPr>
        <p:spPr/>
        <p:txBody>
          <a:bodyPr/>
          <a:lstStyle/>
          <a:p>
            <a:fld id="{4D410189-AC31-7546-878A-F48FDE4A29F5}" type="slidenum">
              <a:rPr lang="en-US" smtClean="0"/>
              <a:t>9</a:t>
            </a:fld>
            <a:endParaRPr lang="en-US"/>
          </a:p>
        </p:txBody>
      </p:sp>
    </p:spTree>
    <p:extLst>
      <p:ext uri="{BB962C8B-B14F-4D97-AF65-F5344CB8AC3E}">
        <p14:creationId xmlns:p14="http://schemas.microsoft.com/office/powerpoint/2010/main" val="22853583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[Read TF’s preliminary views and pause for question]</a:t>
            </a:r>
          </a:p>
        </p:txBody>
      </p:sp>
      <p:sp>
        <p:nvSpPr>
          <p:cNvPr id="4" name="Slide Number Placeholder 3"/>
          <p:cNvSpPr>
            <a:spLocks noGrp="1"/>
          </p:cNvSpPr>
          <p:nvPr>
            <p:ph type="sldNum" sz="quarter" idx="5"/>
          </p:nvPr>
        </p:nvSpPr>
        <p:spPr/>
        <p:txBody>
          <a:bodyPr/>
          <a:lstStyle/>
          <a:p>
            <a:fld id="{4D410189-AC31-7546-878A-F48FDE4A29F5}" type="slidenum">
              <a:rPr lang="en-US" smtClean="0"/>
              <a:t>10</a:t>
            </a:fld>
            <a:endParaRPr lang="en-US"/>
          </a:p>
        </p:txBody>
      </p:sp>
    </p:spTree>
    <p:extLst>
      <p:ext uri="{BB962C8B-B14F-4D97-AF65-F5344CB8AC3E}">
        <p14:creationId xmlns:p14="http://schemas.microsoft.com/office/powerpoint/2010/main" val="1320658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Consistent with the </a:t>
            </a:r>
            <a:r>
              <a:rPr lang="en-US" sz="1200" dirty="0" err="1"/>
              <a:t>IESBA</a:t>
            </a:r>
            <a:r>
              <a:rPr lang="en-US" sz="1200" dirty="0"/>
              <a:t> Code, ED-4400 did not include a precondition for the practitioner to be independent when performing an AUP engagement nor a requirement for the practitioner to determine independence. </a:t>
            </a:r>
          </a:p>
          <a:p>
            <a:endParaRPr lang="en-US" sz="1200" dirty="0"/>
          </a:p>
          <a:p>
            <a:r>
              <a:rPr lang="en-US" sz="1200" dirty="0"/>
              <a:t>A significant majority agreed that there should not be a precondition for the practitioner to be independent</a:t>
            </a:r>
          </a:p>
          <a:p>
            <a:endParaRPr lang="en-US" sz="1200" dirty="0"/>
          </a:p>
          <a:p>
            <a:r>
              <a:rPr lang="en-US" sz="1200" dirty="0"/>
              <a:t>Of the respondents who agreed that there should not be a precondition for the practitioner to be independent, some nonetheless suggested that there should be a requirement for the practitioner to be independent</a:t>
            </a:r>
          </a:p>
          <a:p>
            <a:endParaRPr lang="en-US" sz="1200" dirty="0"/>
          </a:p>
          <a:p>
            <a:r>
              <a:rPr lang="en-US" sz="1200" dirty="0"/>
              <a:t>A summary of the respondents’ comments and the TF’s analyses are set out in para. 22 to 29 of the Feedback Report</a:t>
            </a:r>
          </a:p>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11</a:t>
            </a:fld>
            <a:endParaRPr lang="en-US"/>
          </a:p>
        </p:txBody>
      </p:sp>
    </p:spTree>
    <p:extLst>
      <p:ext uri="{BB962C8B-B14F-4D97-AF65-F5344CB8AC3E}">
        <p14:creationId xmlns:p14="http://schemas.microsoft.com/office/powerpoint/2010/main" val="22530057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[Read TF’s preliminary views and pause for question]</a:t>
            </a:r>
          </a:p>
          <a:p>
            <a:endParaRPr lang="en-US" sz="1200" dirty="0"/>
          </a:p>
          <a:p>
            <a:r>
              <a:rPr lang="en-US" sz="1200" dirty="0">
                <a:highlight>
                  <a:srgbClr val="FFFF00"/>
                </a:highlight>
              </a:rPr>
              <a:t>Ask if anyone DISAGREES.</a:t>
            </a:r>
          </a:p>
          <a:p>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12</a:t>
            </a:fld>
            <a:endParaRPr lang="en-US"/>
          </a:p>
        </p:txBody>
      </p:sp>
    </p:spTree>
    <p:extLst>
      <p:ext uri="{BB962C8B-B14F-4D97-AF65-F5344CB8AC3E}">
        <p14:creationId xmlns:p14="http://schemas.microsoft.com/office/powerpoint/2010/main" val="21737840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While ED-4400 did not require the practitioner to be independent, the practitioner may be required to be independent, for example, by the terms of the engagement or by relevant ethical requirements applicable in a particular jurisdiction.</a:t>
            </a:r>
          </a:p>
          <a:p>
            <a:endParaRPr lang="en-US" sz="1200" dirty="0"/>
          </a:p>
          <a:p>
            <a:r>
              <a:rPr lang="en-US" sz="1200" dirty="0"/>
              <a:t>ED-4400 addressed the need for transparency regarding independence by requiring certain disclosures depending on whether:</a:t>
            </a:r>
          </a:p>
          <a:p>
            <a:r>
              <a:rPr lang="en-US" sz="1200" dirty="0"/>
              <a:t>(a)	the practitioner is required to be independent; and </a:t>
            </a:r>
          </a:p>
          <a:p>
            <a:r>
              <a:rPr lang="en-US" sz="1200" dirty="0"/>
              <a:t>(b)	whether the practitioner is, indeed, independent.</a:t>
            </a:r>
          </a:p>
          <a:p>
            <a:endParaRPr lang="en-US" sz="1200" dirty="0"/>
          </a:p>
          <a:p>
            <a:r>
              <a:rPr lang="en-US" sz="1200" dirty="0"/>
              <a:t>A majority agreed with the enhanced transparency regarding the practitioner’s independence</a:t>
            </a:r>
          </a:p>
          <a:p>
            <a:endParaRPr lang="en-US" sz="1200" dirty="0"/>
          </a:p>
          <a:p>
            <a:r>
              <a:rPr lang="en-US" sz="1200" dirty="0"/>
              <a:t>However, many respondents disagreed with the requirement to state that the practitioner is not independent in the circumstance when:</a:t>
            </a:r>
          </a:p>
          <a:p>
            <a:pPr marL="171450" indent="-171450">
              <a:buFont typeface="Arial" panose="020B0604020202020204" pitchFamily="34" charset="0"/>
              <a:buChar char="•"/>
            </a:pPr>
            <a:r>
              <a:rPr lang="en-US" sz="1200" dirty="0"/>
              <a:t>The practitioner is not required to be independent; and</a:t>
            </a:r>
          </a:p>
          <a:p>
            <a:pPr marL="171450" indent="-171450">
              <a:buFont typeface="Arial" panose="020B0604020202020204" pitchFamily="34" charset="0"/>
              <a:buChar char="•"/>
            </a:pPr>
            <a:r>
              <a:rPr lang="en-US" sz="1200" dirty="0"/>
              <a:t>The practitioner is aware that the practitioner is not independent</a:t>
            </a:r>
          </a:p>
          <a:p>
            <a:endParaRPr lang="en-US" sz="1200" dirty="0"/>
          </a:p>
          <a:p>
            <a:r>
              <a:rPr lang="en-US" sz="1200" dirty="0"/>
              <a:t>The statement that the practitioner is not required to be independent and is not independent may cause confusion.</a:t>
            </a:r>
          </a:p>
          <a:p>
            <a:endParaRPr lang="en-US" dirty="0"/>
          </a:p>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13</a:t>
            </a:fld>
            <a:endParaRPr lang="en-US"/>
          </a:p>
        </p:txBody>
      </p:sp>
    </p:spTree>
    <p:extLst>
      <p:ext uri="{BB962C8B-B14F-4D97-AF65-F5344CB8AC3E}">
        <p14:creationId xmlns:p14="http://schemas.microsoft.com/office/powerpoint/2010/main" val="40574585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There are 2 ways to address the potential confusion:</a:t>
            </a:r>
          </a:p>
          <a:p>
            <a:pPr marL="171450" indent="-171450">
              <a:buFont typeface="Arial" panose="020B0604020202020204" pitchFamily="34" charset="0"/>
              <a:buChar char="•"/>
            </a:pPr>
            <a:r>
              <a:rPr lang="en-US" sz="1200" dirty="0"/>
              <a:t>Alternative 1 –Just state that the practitioner is not required to be independent [period]. Do not further state that the practitioner is not independent.</a:t>
            </a:r>
          </a:p>
          <a:p>
            <a:pPr marL="171450" indent="-171450">
              <a:buFont typeface="Arial" panose="020B0604020202020204" pitchFamily="34" charset="0"/>
              <a:buChar char="•"/>
            </a:pPr>
            <a:r>
              <a:rPr lang="en-US" sz="1200" dirty="0"/>
              <a:t>Alternative 2 – Add disclosures on why the practitioner is not independent.</a:t>
            </a:r>
          </a:p>
          <a:p>
            <a:endParaRPr lang="en-US" sz="1200" dirty="0"/>
          </a:p>
          <a:p>
            <a:r>
              <a:rPr lang="en-US" sz="1200" dirty="0"/>
              <a:t>However, views are split on the 2 alternatives</a:t>
            </a:r>
          </a:p>
          <a:p>
            <a:endParaRPr lang="en-US" sz="1200" dirty="0"/>
          </a:p>
          <a:p>
            <a:endParaRPr lang="en-US" sz="1200" dirty="0"/>
          </a:p>
          <a:p>
            <a:endParaRPr lang="en-US" sz="1200" dirty="0"/>
          </a:p>
          <a:p>
            <a:endParaRPr lang="en-US" sz="1200" dirty="0"/>
          </a:p>
          <a:p>
            <a:endParaRPr lang="en-US" sz="1200" dirty="0"/>
          </a:p>
          <a:p>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14</a:t>
            </a:fld>
            <a:endParaRPr lang="en-US"/>
          </a:p>
        </p:txBody>
      </p:sp>
    </p:spTree>
    <p:extLst>
      <p:ext uri="{BB962C8B-B14F-4D97-AF65-F5344CB8AC3E}">
        <p14:creationId xmlns:p14="http://schemas.microsoft.com/office/powerpoint/2010/main" val="13599834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2 alternatives are illustrated on the right column</a:t>
            </a:r>
          </a:p>
          <a:p>
            <a:endParaRPr lang="en-US" sz="1200" dirty="0"/>
          </a:p>
          <a:p>
            <a:r>
              <a:rPr lang="en-US" sz="1200" dirty="0"/>
              <a:t>A summary of the respondents’ comments and the TF’s analyses are set out in para. 22 to 39.</a:t>
            </a:r>
          </a:p>
          <a:p>
            <a:endParaRPr lang="en-US" sz="1200" dirty="0"/>
          </a:p>
          <a:p>
            <a:r>
              <a:rPr lang="en-US" sz="1200" dirty="0">
                <a:highlight>
                  <a:srgbClr val="FFFF00"/>
                </a:highlight>
              </a:rPr>
              <a:t>The TF met over the weekend and had further discussions on the independence disclosures. </a:t>
            </a:r>
          </a:p>
          <a:p>
            <a:endParaRPr lang="en-US" sz="1200" dirty="0">
              <a:highlight>
                <a:srgbClr val="FFFF00"/>
              </a:highlight>
            </a:endParaRPr>
          </a:p>
          <a:p>
            <a:r>
              <a:rPr lang="en-US" sz="1200" dirty="0">
                <a:highlight>
                  <a:srgbClr val="FFFF00"/>
                </a:highlight>
              </a:rPr>
              <a:t>Key views expressed include the following:</a:t>
            </a:r>
          </a:p>
          <a:p>
            <a:pPr marL="171450" indent="-171450">
              <a:buFont typeface="Arial" panose="020B0604020202020204" pitchFamily="34" charset="0"/>
              <a:buChar char="•"/>
            </a:pPr>
            <a:r>
              <a:rPr lang="en-US" sz="1200" dirty="0">
                <a:highlight>
                  <a:srgbClr val="FFFF00"/>
                </a:highlight>
              </a:rPr>
              <a:t>Alternative 2 involves enhancing transparency. Question is how much more information should be required:, for example</a:t>
            </a:r>
          </a:p>
          <a:p>
            <a:pPr marL="514350" lvl="1" indent="-171450">
              <a:buFont typeface="Arial" panose="020B0604020202020204" pitchFamily="34" charset="0"/>
              <a:buChar char="•"/>
            </a:pPr>
            <a:r>
              <a:rPr lang="en-US" sz="1200" dirty="0">
                <a:highlight>
                  <a:srgbClr val="FFFF00"/>
                </a:highlight>
              </a:rPr>
              <a:t>Statement of compliance with RER</a:t>
            </a:r>
          </a:p>
          <a:p>
            <a:pPr marL="514350" lvl="1" indent="-171450">
              <a:buFont typeface="Arial" panose="020B0604020202020204" pitchFamily="34" charset="0"/>
              <a:buChar char="•"/>
            </a:pPr>
            <a:r>
              <a:rPr lang="en-US" sz="1200" dirty="0">
                <a:highlight>
                  <a:srgbClr val="FFFF00"/>
                </a:highlight>
              </a:rPr>
              <a:t>Add explanation of objectivity under RER</a:t>
            </a:r>
          </a:p>
          <a:p>
            <a:pPr marL="171450" indent="-171450">
              <a:buFont typeface="Arial" panose="020B0604020202020204" pitchFamily="34" charset="0"/>
              <a:buChar char="•"/>
            </a:pPr>
            <a:r>
              <a:rPr lang="en-US" sz="1200" dirty="0">
                <a:highlight>
                  <a:srgbClr val="FFFF00"/>
                </a:highlight>
              </a:rPr>
              <a:t>Alternative 2 may be confusing because it combines “positive” and “negative” statements pertaining to independence:</a:t>
            </a:r>
          </a:p>
          <a:p>
            <a:pPr marL="514350" lvl="1" indent="-171450">
              <a:buFont typeface="Arial" panose="020B0604020202020204" pitchFamily="34" charset="0"/>
              <a:buChar char="•"/>
            </a:pPr>
            <a:r>
              <a:rPr lang="en-US" sz="1200" dirty="0">
                <a:highlight>
                  <a:srgbClr val="FFFF00"/>
                </a:highlight>
              </a:rPr>
              <a:t>Statement that we met RER but we are not independent; or</a:t>
            </a:r>
          </a:p>
          <a:p>
            <a:pPr marL="514350" lvl="1" indent="-171450">
              <a:buFont typeface="Arial" panose="020B0604020202020204" pitchFamily="34" charset="0"/>
              <a:buChar char="•"/>
            </a:pPr>
            <a:r>
              <a:rPr lang="en-US" sz="1200" dirty="0">
                <a:highlight>
                  <a:srgbClr val="FFFF00"/>
                </a:highlight>
              </a:rPr>
              <a:t>The statement that we met RER, we are objective but we are not independent</a:t>
            </a:r>
          </a:p>
          <a:p>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15</a:t>
            </a:fld>
            <a:endParaRPr lang="en-US"/>
          </a:p>
        </p:txBody>
      </p:sp>
    </p:spTree>
    <p:extLst>
      <p:ext uri="{BB962C8B-B14F-4D97-AF65-F5344CB8AC3E}">
        <p14:creationId xmlns:p14="http://schemas.microsoft.com/office/powerpoint/2010/main" val="36952770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[Read TF’s preliminary views and pause for question]</a:t>
            </a:r>
          </a:p>
          <a:p>
            <a:endParaRPr lang="en-US" sz="1200" dirty="0"/>
          </a:p>
          <a:p>
            <a:r>
              <a:rPr lang="en-US" sz="1200" dirty="0">
                <a:highlight>
                  <a:srgbClr val="FFFF00"/>
                </a:highlight>
              </a:rPr>
              <a:t>2 parts to the question:</a:t>
            </a:r>
          </a:p>
          <a:p>
            <a:pPr marL="171450" indent="-171450">
              <a:buFont typeface="Arial" panose="020B0604020202020204" pitchFamily="34" charset="0"/>
              <a:buChar char="•"/>
            </a:pPr>
            <a:r>
              <a:rPr lang="en-US" sz="1200" dirty="0">
                <a:highlight>
                  <a:srgbClr val="FFFF00"/>
                </a:highlight>
              </a:rPr>
              <a:t>Do you prefer Alternative 1 or Alternative 2</a:t>
            </a:r>
          </a:p>
          <a:p>
            <a:pPr marL="171450" indent="-171450">
              <a:buFont typeface="Arial" panose="020B0604020202020204" pitchFamily="34" charset="0"/>
              <a:buChar char="•"/>
            </a:pPr>
            <a:r>
              <a:rPr lang="en-US" sz="1200" dirty="0">
                <a:highlight>
                  <a:srgbClr val="FFFF00"/>
                </a:highlight>
              </a:rPr>
              <a:t>If Alternative 2, how much transparency should we require?</a:t>
            </a:r>
          </a:p>
          <a:p>
            <a:pPr marL="514350" lvl="1" indent="-171450">
              <a:buFont typeface="Arial" panose="020B0604020202020204" pitchFamily="34" charset="0"/>
              <a:buChar char="•"/>
            </a:pPr>
            <a:r>
              <a:rPr lang="en-US" sz="1200" dirty="0">
                <a:highlight>
                  <a:srgbClr val="FFFF00"/>
                </a:highlight>
              </a:rPr>
              <a:t>E.g., Do we require statement on objectivity?</a:t>
            </a:r>
          </a:p>
          <a:p>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16</a:t>
            </a:fld>
            <a:endParaRPr lang="en-US"/>
          </a:p>
        </p:txBody>
      </p:sp>
    </p:spTree>
    <p:extLst>
      <p:ext uri="{BB962C8B-B14F-4D97-AF65-F5344CB8AC3E}">
        <p14:creationId xmlns:p14="http://schemas.microsoft.com/office/powerpoint/2010/main" val="3170752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To address a concern that the term “factual findings” may imply that there might be findings that are “not factual” and to better communicate that the results from performing the AUP must be factual, ED-4400:</a:t>
            </a:r>
          </a:p>
          <a:p>
            <a:pPr marL="171450" indent="-171450">
              <a:buFont typeface="Arial" panose="020B0604020202020204" pitchFamily="34" charset="0"/>
              <a:buChar char="•"/>
            </a:pPr>
            <a:r>
              <a:rPr lang="en-US" sz="1200" dirty="0"/>
              <a:t>Uses the term “findings” instead of “factual findings;”</a:t>
            </a:r>
          </a:p>
          <a:p>
            <a:pPr marL="171450" indent="-171450">
              <a:buFont typeface="Arial" panose="020B0604020202020204" pitchFamily="34" charset="0"/>
              <a:buChar char="•"/>
            </a:pPr>
            <a:r>
              <a:rPr lang="en-US" sz="1200" dirty="0"/>
              <a:t>Includes a definition that “findings are the factual results of procedures performed; and</a:t>
            </a:r>
          </a:p>
          <a:p>
            <a:pPr marL="171450" indent="-171450">
              <a:buFont typeface="Arial" panose="020B0604020202020204" pitchFamily="34" charset="0"/>
              <a:buChar char="•"/>
            </a:pPr>
            <a:r>
              <a:rPr lang="en-US" sz="1200" dirty="0"/>
              <a:t>Includes application material to explain that factual results are capable of being objectively described and objectively verified, which means that different practitioners performing the same procedures are expected to arrive at the same results.</a:t>
            </a:r>
          </a:p>
          <a:p>
            <a:endParaRPr lang="en-US" sz="1200" dirty="0"/>
          </a:p>
          <a:p>
            <a:r>
              <a:rPr lang="en-US" sz="1200" dirty="0"/>
              <a:t>A majority of respondents agreed with the proposals.</a:t>
            </a:r>
          </a:p>
          <a:p>
            <a:endParaRPr lang="en-US" sz="1200" dirty="0"/>
          </a:p>
          <a:p>
            <a:r>
              <a:rPr lang="en-US" sz="1200" dirty="0"/>
              <a:t>However, several respondents disagreed and suggested that we should revert back to “factual findings”.</a:t>
            </a:r>
          </a:p>
          <a:p>
            <a:endParaRPr lang="en-US" sz="1200" dirty="0"/>
          </a:p>
          <a:p>
            <a:r>
              <a:rPr lang="en-US" sz="1200" dirty="0"/>
              <a:t>A key reason is that the engaging party and other intended users may not know what “findings” mean.</a:t>
            </a:r>
          </a:p>
          <a:p>
            <a:endParaRPr lang="en-US" sz="1200" dirty="0"/>
          </a:p>
          <a:p>
            <a:r>
              <a:rPr lang="en-US" sz="1200" dirty="0"/>
              <a:t>A summary of the respondents’ comments and the TF’s analyses are set out in para. 40 to 47.</a:t>
            </a:r>
          </a:p>
          <a:p>
            <a:endParaRPr lang="en-US" sz="1200" dirty="0"/>
          </a:p>
          <a:p>
            <a:endParaRPr lang="en-US" sz="1200" dirty="0"/>
          </a:p>
          <a:p>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17</a:t>
            </a:fld>
            <a:endParaRPr lang="en-US"/>
          </a:p>
        </p:txBody>
      </p:sp>
    </p:spTree>
    <p:extLst>
      <p:ext uri="{BB962C8B-B14F-4D97-AF65-F5344CB8AC3E}">
        <p14:creationId xmlns:p14="http://schemas.microsoft.com/office/powerpoint/2010/main" val="17658781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[Read TF’s preliminary views and pause for question]</a:t>
            </a:r>
          </a:p>
          <a:p>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18</a:t>
            </a:fld>
            <a:endParaRPr lang="en-US"/>
          </a:p>
        </p:txBody>
      </p:sp>
    </p:spTree>
    <p:extLst>
      <p:ext uri="{BB962C8B-B14F-4D97-AF65-F5344CB8AC3E}">
        <p14:creationId xmlns:p14="http://schemas.microsoft.com/office/powerpoint/2010/main" val="33651138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96875" y="4387136"/>
            <a:ext cx="6156325" cy="4156234"/>
          </a:xfrm>
        </p:spPr>
        <p:txBody>
          <a:bodyPr/>
          <a:lstStyle/>
          <a:p>
            <a:r>
              <a:rPr lang="en-US" sz="1200" dirty="0"/>
              <a:t>ED-4400 proposed that three engagement acceptance and continuance conditions be met before accepting the engagement to reinforce the unique characteristics of an AUP engagement, namely:</a:t>
            </a:r>
          </a:p>
          <a:p>
            <a:pPr marL="171450" indent="-171450">
              <a:buFont typeface="Arial" panose="020B0604020202020204" pitchFamily="34" charset="0"/>
              <a:buChar char="•"/>
            </a:pPr>
            <a:r>
              <a:rPr lang="en-US" sz="1200" dirty="0"/>
              <a:t>That the engaging party acknowledges that the expected procedures to be performed by the practitioner are appropriate for the purpose of the engagement; </a:t>
            </a:r>
          </a:p>
          <a:p>
            <a:pPr marL="171450" indent="-171450">
              <a:buFont typeface="Arial" panose="020B0604020202020204" pitchFamily="34" charset="0"/>
              <a:buChar char="•"/>
            </a:pPr>
            <a:r>
              <a:rPr lang="en-US" sz="1200" dirty="0"/>
              <a:t>That the procedures and related findings can be described objectively, in terms that are clear, not misleading, and not subject to varying interpretations; and</a:t>
            </a:r>
          </a:p>
          <a:p>
            <a:pPr marL="171450" indent="-171450">
              <a:buFont typeface="Arial" panose="020B0604020202020204" pitchFamily="34" charset="0"/>
              <a:buChar char="•"/>
            </a:pPr>
            <a:r>
              <a:rPr lang="en-US" sz="1200" dirty="0"/>
              <a:t>That the practitioner obtains an understanding of the purpose of the engagement and not accept the engagement if the practitioner is aware of any facts or circumstances suggesting that the procedures the practitioner is being asked to perform are inappropriate for the purpose of the AUP engagement.</a:t>
            </a:r>
          </a:p>
          <a:p>
            <a:endParaRPr lang="en-US" sz="1200" dirty="0"/>
          </a:p>
          <a:p>
            <a:r>
              <a:rPr lang="en-US" sz="1200" dirty="0"/>
              <a:t>A significant majority agreed with the proposals and also provided many suggestions on additional acceptance and continuance conditions.</a:t>
            </a:r>
          </a:p>
          <a:p>
            <a:endParaRPr lang="en-US" sz="1200" dirty="0"/>
          </a:p>
          <a:p>
            <a:r>
              <a:rPr lang="en-US" sz="1200" dirty="0"/>
              <a:t>A key concern expressed is that the engagement acceptance and continuance and conditions seem to imply that the procedures are “set in stone” at the beginning of the engagement.</a:t>
            </a:r>
          </a:p>
          <a:p>
            <a:endParaRPr lang="en-US" sz="1200" dirty="0"/>
          </a:p>
          <a:p>
            <a:r>
              <a:rPr lang="en-US" sz="1200" dirty="0">
                <a:highlight>
                  <a:srgbClr val="FFFF00"/>
                </a:highlight>
              </a:rPr>
              <a:t>Many provided suggestions on additional acceptance and continuance conditions such as the engagement having a rational purpose</a:t>
            </a:r>
          </a:p>
          <a:p>
            <a:endParaRPr lang="en-US" sz="1200" dirty="0"/>
          </a:p>
          <a:p>
            <a:r>
              <a:rPr lang="en-US" sz="1200" dirty="0"/>
              <a:t>A summary of the respondents’ comments and the TF’s analyses are set out in para. 48 to 57.</a:t>
            </a:r>
          </a:p>
          <a:p>
            <a:endParaRPr lang="en-US" sz="1200" dirty="0"/>
          </a:p>
          <a:p>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19</a:t>
            </a:fld>
            <a:endParaRPr lang="en-US"/>
          </a:p>
        </p:txBody>
      </p:sp>
    </p:spTree>
    <p:extLst>
      <p:ext uri="{BB962C8B-B14F-4D97-AF65-F5344CB8AC3E}">
        <p14:creationId xmlns:p14="http://schemas.microsoft.com/office/powerpoint/2010/main" val="12914012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[Read TF’s preliminary views and pause for question]</a:t>
            </a:r>
          </a:p>
          <a:p>
            <a:endParaRPr lang="en-US" sz="1200" dirty="0"/>
          </a:p>
          <a:p>
            <a:r>
              <a:rPr lang="en-US" sz="1200" dirty="0">
                <a:highlight>
                  <a:srgbClr val="FFFF00"/>
                </a:highlight>
              </a:rPr>
              <a:t>Para. 23 and A30 deals with iterative process</a:t>
            </a:r>
          </a:p>
        </p:txBody>
      </p:sp>
      <p:sp>
        <p:nvSpPr>
          <p:cNvPr id="4" name="Slide Number Placeholder 3"/>
          <p:cNvSpPr>
            <a:spLocks noGrp="1"/>
          </p:cNvSpPr>
          <p:nvPr>
            <p:ph type="sldNum" sz="quarter" idx="5"/>
          </p:nvPr>
        </p:nvSpPr>
        <p:spPr/>
        <p:txBody>
          <a:bodyPr/>
          <a:lstStyle/>
          <a:p>
            <a:fld id="{4D410189-AC31-7546-878A-F48FDE4A29F5}" type="slidenum">
              <a:rPr lang="en-US" smtClean="0"/>
              <a:t>20</a:t>
            </a:fld>
            <a:endParaRPr lang="en-US"/>
          </a:p>
        </p:txBody>
      </p:sp>
    </p:spTree>
    <p:extLst>
      <p:ext uri="{BB962C8B-B14F-4D97-AF65-F5344CB8AC3E}">
        <p14:creationId xmlns:p14="http://schemas.microsoft.com/office/powerpoint/2010/main" val="17746312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ED-4400 included requirements and application material to provide guidance on how a practitioner’s expert can assist the practitioner in an AUP engagement.</a:t>
            </a:r>
          </a:p>
          <a:p>
            <a:endParaRPr lang="en-US" sz="1200" dirty="0"/>
          </a:p>
          <a:p>
            <a:r>
              <a:rPr lang="en-US" sz="1200" dirty="0"/>
              <a:t>A significant majority agreed with the proposals but concerns were expressed regarding:</a:t>
            </a:r>
          </a:p>
          <a:p>
            <a:pPr marL="171450" indent="-171450">
              <a:buFont typeface="Arial" panose="020B0604020202020204" pitchFamily="34" charset="0"/>
              <a:buChar char="•"/>
            </a:pPr>
            <a:r>
              <a:rPr lang="en-US" sz="1200" dirty="0"/>
              <a:t>The practitioner’s competencies; and</a:t>
            </a:r>
          </a:p>
          <a:p>
            <a:pPr marL="171450" indent="-171450">
              <a:buFont typeface="Arial" panose="020B0604020202020204" pitchFamily="34" charset="0"/>
              <a:buChar char="•"/>
            </a:pPr>
            <a:r>
              <a:rPr lang="en-US" sz="1200" dirty="0"/>
              <a:t>The application of professional judgment when an AUP engagement involves an expert.</a:t>
            </a:r>
          </a:p>
        </p:txBody>
      </p:sp>
      <p:sp>
        <p:nvSpPr>
          <p:cNvPr id="4" name="Slide Number Placeholder 3"/>
          <p:cNvSpPr>
            <a:spLocks noGrp="1"/>
          </p:cNvSpPr>
          <p:nvPr>
            <p:ph type="sldNum" sz="quarter" idx="5"/>
          </p:nvPr>
        </p:nvSpPr>
        <p:spPr/>
        <p:txBody>
          <a:bodyPr/>
          <a:lstStyle/>
          <a:p>
            <a:fld id="{4D410189-AC31-7546-878A-F48FDE4A29F5}" type="slidenum">
              <a:rPr lang="en-US" smtClean="0"/>
              <a:t>21</a:t>
            </a:fld>
            <a:endParaRPr lang="en-US"/>
          </a:p>
        </p:txBody>
      </p:sp>
    </p:spTree>
    <p:extLst>
      <p:ext uri="{BB962C8B-B14F-4D97-AF65-F5344CB8AC3E}">
        <p14:creationId xmlns:p14="http://schemas.microsoft.com/office/powerpoint/2010/main" val="4574983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On the issue of referring to a practitioner’s expert in an AUP report, ED-4400 proposed a similar approach as ISAE 3000 (Revised)  – requiring the wording of the AUP report to not imply that the practitioner’s responsibility is reduced because of the involvement of the expert.</a:t>
            </a:r>
          </a:p>
          <a:p>
            <a:endParaRPr lang="en-US" sz="1200" dirty="0"/>
          </a:p>
          <a:p>
            <a:r>
              <a:rPr lang="en-US" sz="1200" dirty="0"/>
              <a:t>A significant majority agreed with the proposal. However:</a:t>
            </a:r>
          </a:p>
          <a:p>
            <a:pPr marL="171450" indent="-171450">
              <a:buFont typeface="Arial" panose="020B0604020202020204" pitchFamily="34" charset="0"/>
              <a:buChar char="•"/>
            </a:pPr>
            <a:r>
              <a:rPr lang="en-US" sz="1200" dirty="0"/>
              <a:t>Some respondents suggested that a reference to an expert should be required;</a:t>
            </a:r>
          </a:p>
          <a:p>
            <a:pPr marL="171450" indent="-171450">
              <a:buFont typeface="Arial" panose="020B0604020202020204" pitchFamily="34" charset="0"/>
              <a:buChar char="•"/>
            </a:pPr>
            <a:r>
              <a:rPr lang="en-US" sz="1200" dirty="0"/>
              <a:t>While some suggested that reference to an expert should be prohibited</a:t>
            </a:r>
          </a:p>
          <a:p>
            <a:endParaRPr lang="en-US" sz="1200" dirty="0"/>
          </a:p>
          <a:p>
            <a:r>
              <a:rPr lang="en-US" sz="1200" dirty="0"/>
              <a:t>A summary of the respondents’ comments and the TF’s analyses are set out in para. 58 to 69.</a:t>
            </a:r>
          </a:p>
          <a:p>
            <a:endParaRPr lang="en-US" sz="1200" dirty="0"/>
          </a:p>
          <a:p>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22</a:t>
            </a:fld>
            <a:endParaRPr lang="en-US"/>
          </a:p>
        </p:txBody>
      </p:sp>
    </p:spTree>
    <p:extLst>
      <p:ext uri="{BB962C8B-B14F-4D97-AF65-F5344CB8AC3E}">
        <p14:creationId xmlns:p14="http://schemas.microsoft.com/office/powerpoint/2010/main" val="7596734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sz="1200" dirty="0"/>
              <a:t>Read TF’s preliminary views and pause for question]</a:t>
            </a:r>
          </a:p>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23</a:t>
            </a:fld>
            <a:endParaRPr lang="en-US"/>
          </a:p>
        </p:txBody>
      </p:sp>
    </p:spTree>
    <p:extLst>
      <p:ext uri="{BB962C8B-B14F-4D97-AF65-F5344CB8AC3E}">
        <p14:creationId xmlns:p14="http://schemas.microsoft.com/office/powerpoint/2010/main" val="30211379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96875" y="4387136"/>
            <a:ext cx="6156325" cy="4156234"/>
          </a:xfrm>
        </p:spPr>
        <p:txBody>
          <a:bodyPr/>
          <a:lstStyle/>
          <a:p>
            <a:pPr lvl="0"/>
            <a:r>
              <a:rPr lang="en-US" sz="1200" dirty="0"/>
              <a:t>To address broad concerns that AUP reports are often required to be provided to users who are not parties to the terms of the engagement, ED-4400 no longer requires the AUP report to include a statement that the report is restricted.</a:t>
            </a:r>
          </a:p>
          <a:p>
            <a:pPr lvl="0"/>
            <a:endParaRPr lang="en-US" sz="1200" dirty="0"/>
          </a:p>
          <a:p>
            <a:pPr lvl="0"/>
            <a:r>
              <a:rPr lang="en-US" sz="1200" dirty="0">
                <a:highlight>
                  <a:srgbClr val="FFFF00"/>
                </a:highlight>
              </a:rPr>
              <a:t>Of course, the practitioner can always decide to restrict the report (or the engaging party can request that it be restricted)</a:t>
            </a:r>
          </a:p>
          <a:p>
            <a:pPr lvl="0"/>
            <a:endParaRPr lang="en-US" sz="1200" dirty="0"/>
          </a:p>
          <a:p>
            <a:pPr lvl="0"/>
            <a:r>
              <a:rPr lang="en-US" sz="1200" dirty="0"/>
              <a:t>A significant majority agreed with this proposal.</a:t>
            </a:r>
          </a:p>
          <a:p>
            <a:pPr lvl="0"/>
            <a:endParaRPr lang="en-US" sz="1200" dirty="0"/>
          </a:p>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24</a:t>
            </a:fld>
            <a:endParaRPr lang="en-US"/>
          </a:p>
        </p:txBody>
      </p:sp>
    </p:spTree>
    <p:extLst>
      <p:ext uri="{BB962C8B-B14F-4D97-AF65-F5344CB8AC3E}">
        <p14:creationId xmlns:p14="http://schemas.microsoft.com/office/powerpoint/2010/main" val="23370395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96875" y="4387136"/>
            <a:ext cx="6156325" cy="4156234"/>
          </a:xfrm>
        </p:spPr>
        <p:txBody>
          <a:bodyPr>
            <a:normAutofit/>
          </a:bodyPr>
          <a:lstStyle/>
          <a:p>
            <a:pPr lvl="0"/>
            <a:endParaRPr lang="en-US" dirty="0"/>
          </a:p>
          <a:p>
            <a:pPr lvl="0"/>
            <a:r>
              <a:rPr lang="en-US" sz="1200" dirty="0"/>
              <a:t>ED-4400 also sets out additional matters to be included in an AUP report to enhance the transparency of the engagement. In addition, ED-4400 includes new illustrative reports to provide examples of how the procedures and findings may be described in an AUP report. </a:t>
            </a:r>
          </a:p>
          <a:p>
            <a:pPr lvl="0"/>
            <a:endParaRPr lang="en-US" sz="1200" dirty="0"/>
          </a:p>
          <a:p>
            <a:pPr lvl="0"/>
            <a:r>
              <a:rPr lang="en-US" sz="1200" dirty="0"/>
              <a:t>A majority of respondents agreed with the proposals and many provided suggestions to further enhance the AUP report.</a:t>
            </a:r>
          </a:p>
          <a:p>
            <a:pPr lvl="0"/>
            <a:endParaRPr lang="en-US" sz="1200" dirty="0"/>
          </a:p>
          <a:p>
            <a:pPr lvl="0"/>
            <a:r>
              <a:rPr lang="en-US" sz="1200" dirty="0">
                <a:highlight>
                  <a:srgbClr val="FFFF00"/>
                </a:highlight>
              </a:rPr>
              <a:t>One of the suggestions raised by respondents is to re-order the AUP report in a similar manner as the new auditor’s report. The TF discussed this suggestion over the weekend and decided not to place the procedures and findings upfront because:</a:t>
            </a:r>
          </a:p>
          <a:p>
            <a:pPr marL="171450" lvl="0" indent="-171450">
              <a:buFont typeface="Arial" panose="020B0604020202020204" pitchFamily="34" charset="0"/>
              <a:buChar char="•"/>
            </a:pPr>
            <a:r>
              <a:rPr lang="en-US" sz="1200" dirty="0">
                <a:highlight>
                  <a:srgbClr val="FFFF00"/>
                </a:highlight>
              </a:rPr>
              <a:t>The positioning of the procedures &amp; findings at the end – substantive difference in look &amp; feel compared to the auditor’s report</a:t>
            </a:r>
          </a:p>
          <a:p>
            <a:pPr marL="171450" lvl="0" indent="-171450">
              <a:buFont typeface="Arial" panose="020B0604020202020204" pitchFamily="34" charset="0"/>
              <a:buChar char="•"/>
            </a:pPr>
            <a:r>
              <a:rPr lang="en-US" sz="1200" dirty="0">
                <a:highlight>
                  <a:srgbClr val="FFFF00"/>
                </a:highlight>
              </a:rPr>
              <a:t>The “standard wording” dealing with compliance with ethics and QC are key aspects of the value a practitioner brings to an AUP engagement – these should be upfront</a:t>
            </a:r>
          </a:p>
          <a:p>
            <a:pPr marL="171450" lvl="0" indent="-171450">
              <a:buFont typeface="Arial" panose="020B0604020202020204" pitchFamily="34" charset="0"/>
              <a:buChar char="•"/>
            </a:pPr>
            <a:r>
              <a:rPr lang="en-US" sz="1200" dirty="0">
                <a:highlight>
                  <a:srgbClr val="FFFF00"/>
                </a:highlight>
              </a:rPr>
              <a:t>The “standard wording” is only about a page long while the procedures and findings can be tens or hundreds of pages long.  The standard wording can be easily missed if placed at the end.</a:t>
            </a:r>
          </a:p>
          <a:p>
            <a:pPr lvl="0"/>
            <a:r>
              <a:rPr lang="en-US" sz="1200" dirty="0">
                <a:highlight>
                  <a:srgbClr val="FFFF00"/>
                </a:highlight>
              </a:rPr>
              <a:t>In any case, it is important to note that the positioning of the material in an AUP report is not mandated.</a:t>
            </a:r>
          </a:p>
          <a:p>
            <a:pPr lvl="0"/>
            <a:endParaRPr lang="en-US" sz="1200" dirty="0"/>
          </a:p>
          <a:p>
            <a:r>
              <a:rPr lang="en-US" sz="1200" dirty="0"/>
              <a:t>A summary of the respondents’ comments and the TF’s analyses are set out in para. 70 to 82.</a:t>
            </a:r>
          </a:p>
          <a:p>
            <a:pPr lvl="0"/>
            <a:endParaRPr lang="en-US" sz="1200" dirty="0"/>
          </a:p>
          <a:p>
            <a:pPr lvl="0"/>
            <a:endParaRPr lang="en-US" sz="1200" dirty="0"/>
          </a:p>
          <a:p>
            <a:pPr lvl="0"/>
            <a:endParaRPr lang="en-US" sz="1200" dirty="0"/>
          </a:p>
          <a:p>
            <a:pPr lvl="0"/>
            <a:endParaRPr lang="en-US" sz="1200" dirty="0"/>
          </a:p>
          <a:p>
            <a:pPr lvl="0"/>
            <a:endParaRPr lang="en-US" sz="1200" dirty="0"/>
          </a:p>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25</a:t>
            </a:fld>
            <a:endParaRPr lang="en-US"/>
          </a:p>
        </p:txBody>
      </p:sp>
    </p:spTree>
    <p:extLst>
      <p:ext uri="{BB962C8B-B14F-4D97-AF65-F5344CB8AC3E}">
        <p14:creationId xmlns:p14="http://schemas.microsoft.com/office/powerpoint/2010/main" val="29879419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[Read TF’s preliminary views and pause for question]</a:t>
            </a:r>
          </a:p>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26</a:t>
            </a:fld>
            <a:endParaRPr lang="en-US"/>
          </a:p>
        </p:txBody>
      </p:sp>
    </p:spTree>
    <p:extLst>
      <p:ext uri="{BB962C8B-B14F-4D97-AF65-F5344CB8AC3E}">
        <p14:creationId xmlns:p14="http://schemas.microsoft.com/office/powerpoint/2010/main" val="4901241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253219" y="4387136"/>
            <a:ext cx="6414868" cy="4385532"/>
          </a:xfrm>
        </p:spPr>
        <p:txBody>
          <a:bodyPr>
            <a:normAutofit lnSpcReduction="10000"/>
          </a:bodyPr>
          <a:lstStyle/>
          <a:p>
            <a:r>
              <a:rPr lang="en-US" sz="1200" dirty="0"/>
              <a:t>There are a number of areas that have garnered some discussions even though ED-4400 did not specifically pose a question on these areas.</a:t>
            </a:r>
          </a:p>
          <a:p>
            <a:endParaRPr lang="en-US" sz="1200" dirty="0"/>
          </a:p>
          <a:p>
            <a:r>
              <a:rPr lang="en-US" sz="1200" b="1" dirty="0"/>
              <a:t>Written Representations</a:t>
            </a:r>
          </a:p>
          <a:p>
            <a:r>
              <a:rPr lang="en-US" sz="1200" dirty="0"/>
              <a:t>On written reps, ED-4400 requires the practitioner to consider whether it is necessary to request written representations from the engaging party. </a:t>
            </a:r>
          </a:p>
          <a:p>
            <a:pPr marL="171450" indent="-171450">
              <a:buFont typeface="Arial" panose="020B0604020202020204" pitchFamily="34" charset="0"/>
              <a:buChar char="•"/>
            </a:pPr>
            <a:r>
              <a:rPr lang="en-US" sz="1200" dirty="0"/>
              <a:t>Some respondents indicated that this requirement seem overly onerous</a:t>
            </a:r>
          </a:p>
          <a:p>
            <a:pPr marL="171450" indent="-171450">
              <a:buFont typeface="Arial" panose="020B0604020202020204" pitchFamily="34" charset="0"/>
              <a:buChar char="•"/>
            </a:pPr>
            <a:r>
              <a:rPr lang="en-US" sz="1200" dirty="0"/>
              <a:t>A few suggested that written reps should be required in all cases</a:t>
            </a:r>
          </a:p>
          <a:p>
            <a:pPr marL="171450" indent="-171450">
              <a:buFont typeface="Arial" panose="020B0604020202020204" pitchFamily="34" charset="0"/>
              <a:buChar char="•"/>
            </a:pPr>
            <a:r>
              <a:rPr lang="en-US" sz="1200" dirty="0"/>
              <a:t>A few suggested guidance on circumstances when written reps may be appropriate.</a:t>
            </a:r>
          </a:p>
          <a:p>
            <a:r>
              <a:rPr lang="en-US" sz="1200" dirty="0"/>
              <a:t>The TF’s preliminary views are [Read the slide]</a:t>
            </a:r>
          </a:p>
          <a:p>
            <a:endParaRPr lang="en-US" sz="1200" dirty="0"/>
          </a:p>
          <a:p>
            <a:r>
              <a:rPr lang="en-US" sz="1200" b="1" dirty="0"/>
              <a:t>Responsible Party</a:t>
            </a:r>
          </a:p>
          <a:p>
            <a:r>
              <a:rPr lang="en-US" sz="1200" dirty="0"/>
              <a:t>ED-4400 included references to the responsible party. However, this term is not defined. </a:t>
            </a:r>
          </a:p>
          <a:p>
            <a:pPr marL="171450" indent="-171450">
              <a:buFont typeface="Arial" panose="020B0604020202020204" pitchFamily="34" charset="0"/>
              <a:buChar char="•"/>
            </a:pPr>
            <a:r>
              <a:rPr lang="en-US" sz="1200" dirty="0"/>
              <a:t>Several respondents suggested including a definition of the responsible party. </a:t>
            </a:r>
          </a:p>
          <a:p>
            <a:pPr marL="171450" indent="-171450">
              <a:buFont typeface="Arial" panose="020B0604020202020204" pitchFamily="34" charset="0"/>
              <a:buChar char="•"/>
            </a:pPr>
            <a:r>
              <a:rPr lang="en-US" sz="1200" dirty="0"/>
              <a:t>In addition, the respondents encouraged the IAASB to further consider the implications when the engaging party is not the responsible party.</a:t>
            </a:r>
          </a:p>
          <a:p>
            <a:r>
              <a:rPr lang="en-US" sz="1200" dirty="0"/>
              <a:t>The TF’s preliminary views are [Read the slide]</a:t>
            </a:r>
          </a:p>
          <a:p>
            <a:endParaRPr lang="en-US" sz="1200" dirty="0"/>
          </a:p>
          <a:p>
            <a:r>
              <a:rPr lang="en-US" sz="1200" b="1" dirty="0"/>
              <a:t>Fraud and </a:t>
            </a:r>
            <a:r>
              <a:rPr lang="en-US" sz="1200" b="1" dirty="0" err="1"/>
              <a:t>NOCLAR</a:t>
            </a:r>
            <a:endParaRPr lang="en-US" sz="1200" b="1" dirty="0"/>
          </a:p>
          <a:p>
            <a:r>
              <a:rPr lang="en-US" sz="1200" dirty="0"/>
              <a:t>ED-4400 addressed fraud and non-compliance with laws and regulations in the introductory paragraphs</a:t>
            </a:r>
          </a:p>
          <a:p>
            <a:pPr marL="171450" indent="-171450">
              <a:buFont typeface="Arial" panose="020B0604020202020204" pitchFamily="34" charset="0"/>
              <a:buChar char="•"/>
            </a:pPr>
            <a:r>
              <a:rPr lang="en-US" sz="1200" dirty="0"/>
              <a:t>Several respondents suggested that this area be expanded, including adding requirements or application material on specific actions that the practitioner may take if the practitioner becomes aware of actual or suspected fraud or </a:t>
            </a:r>
            <a:r>
              <a:rPr lang="en-US" sz="1200" dirty="0" err="1"/>
              <a:t>NOCLAR</a:t>
            </a:r>
            <a:endParaRPr lang="en-US" sz="1200" dirty="0"/>
          </a:p>
          <a:p>
            <a:r>
              <a:rPr lang="en-US" sz="1200" dirty="0"/>
              <a:t>The TF’s preliminary views are [Read the slide]</a:t>
            </a:r>
          </a:p>
        </p:txBody>
      </p:sp>
      <p:sp>
        <p:nvSpPr>
          <p:cNvPr id="4" name="Slide Number Placeholder 3"/>
          <p:cNvSpPr>
            <a:spLocks noGrp="1"/>
          </p:cNvSpPr>
          <p:nvPr>
            <p:ph type="sldNum" sz="quarter" idx="5"/>
          </p:nvPr>
        </p:nvSpPr>
        <p:spPr/>
        <p:txBody>
          <a:bodyPr/>
          <a:lstStyle/>
          <a:p>
            <a:fld id="{4D410189-AC31-7546-878A-F48FDE4A29F5}" type="slidenum">
              <a:rPr lang="en-US" smtClean="0"/>
              <a:t>27</a:t>
            </a:fld>
            <a:endParaRPr lang="en-US"/>
          </a:p>
        </p:txBody>
      </p:sp>
    </p:spTree>
    <p:extLst>
      <p:ext uri="{BB962C8B-B14F-4D97-AF65-F5344CB8AC3E}">
        <p14:creationId xmlns:p14="http://schemas.microsoft.com/office/powerpoint/2010/main" val="26484779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Documentation</a:t>
            </a:r>
          </a:p>
          <a:p>
            <a:r>
              <a:rPr lang="en-US" sz="1200" dirty="0"/>
              <a:t>ED-4400 set out a requirement and application material on documentation. These paragraphs are derived from ISAE 3000 (Revised). </a:t>
            </a:r>
          </a:p>
          <a:p>
            <a:r>
              <a:rPr lang="en-US" sz="1200" dirty="0"/>
              <a:t>A few respondents provided suggestions on additional documentation requirements</a:t>
            </a:r>
          </a:p>
          <a:p>
            <a:r>
              <a:rPr lang="en-US" sz="1200" dirty="0"/>
              <a:t>TF’s prelim views [Read from the slide]</a:t>
            </a:r>
          </a:p>
          <a:p>
            <a:endParaRPr lang="en-US" sz="1200" b="1" dirty="0"/>
          </a:p>
          <a:p>
            <a:r>
              <a:rPr lang="en-US" sz="1200" b="1" dirty="0"/>
              <a:t>Education and Global Consistency</a:t>
            </a:r>
          </a:p>
          <a:p>
            <a:r>
              <a:rPr lang="en-US" sz="1200" dirty="0"/>
              <a:t>Several respondents emphasized the importance of educating the public on the value and limitations of an AUP engagement, and how it differs from an assurance engagement. </a:t>
            </a:r>
          </a:p>
          <a:p>
            <a:r>
              <a:rPr lang="en-US" sz="1200" dirty="0"/>
              <a:t>TF’s prelim views [Read from the slide]</a:t>
            </a:r>
          </a:p>
          <a:p>
            <a:endParaRPr lang="en-US" sz="1200" dirty="0"/>
          </a:p>
          <a:p>
            <a:r>
              <a:rPr lang="en-US" sz="1200" b="1" dirty="0"/>
              <a:t>Global Consistency</a:t>
            </a:r>
          </a:p>
          <a:p>
            <a:r>
              <a:rPr lang="en-US" sz="1200" dirty="0"/>
              <a:t>Some respondents pointed out that a number of jurisdictions have recently promulgated national standards on AUP engagements. The respondents encouraged the IAASB to consider the implications of such national standards when finalizing </a:t>
            </a:r>
            <a:r>
              <a:rPr lang="en-US" sz="1200" dirty="0" err="1"/>
              <a:t>ISRS</a:t>
            </a:r>
            <a:r>
              <a:rPr lang="en-US" sz="1200" dirty="0"/>
              <a:t> 4400 (Revised). </a:t>
            </a:r>
          </a:p>
          <a:p>
            <a:r>
              <a:rPr lang="en-US" sz="1200" dirty="0"/>
              <a:t>TF’s prelim views [Read from the slide]</a:t>
            </a:r>
          </a:p>
          <a:p>
            <a:endParaRPr lang="en-US" sz="1200" dirty="0"/>
          </a:p>
          <a:p>
            <a:r>
              <a:rPr lang="en-US" sz="1200" dirty="0"/>
              <a:t>A summary of the respondents’ comments on these other issues and the TF’s analyses are set out in para. 83 to 96.</a:t>
            </a:r>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28</a:t>
            </a:fld>
            <a:endParaRPr lang="en-US"/>
          </a:p>
        </p:txBody>
      </p:sp>
    </p:spTree>
    <p:extLst>
      <p:ext uri="{BB962C8B-B14F-4D97-AF65-F5344CB8AC3E}">
        <p14:creationId xmlns:p14="http://schemas.microsoft.com/office/powerpoint/2010/main" val="17702756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[Ask the question]</a:t>
            </a:r>
          </a:p>
        </p:txBody>
      </p:sp>
      <p:sp>
        <p:nvSpPr>
          <p:cNvPr id="4" name="Slide Number Placeholder 3"/>
          <p:cNvSpPr>
            <a:spLocks noGrp="1"/>
          </p:cNvSpPr>
          <p:nvPr>
            <p:ph type="sldNum" sz="quarter" idx="5"/>
          </p:nvPr>
        </p:nvSpPr>
        <p:spPr/>
        <p:txBody>
          <a:bodyPr/>
          <a:lstStyle/>
          <a:p>
            <a:fld id="{4D410189-AC31-7546-878A-F48FDE4A29F5}" type="slidenum">
              <a:rPr lang="en-US" smtClean="0"/>
              <a:t>29</a:t>
            </a:fld>
            <a:endParaRPr lang="en-US"/>
          </a:p>
        </p:txBody>
      </p:sp>
    </p:spTree>
    <p:extLst>
      <p:ext uri="{BB962C8B-B14F-4D97-AF65-F5344CB8AC3E}">
        <p14:creationId xmlns:p14="http://schemas.microsoft.com/office/powerpoint/2010/main" val="3537357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A significant majority of respondents did not raise any concern with translation</a:t>
            </a:r>
          </a:p>
          <a:p>
            <a:endParaRPr lang="en-US" sz="1200" dirty="0"/>
          </a:p>
          <a:p>
            <a:r>
              <a:rPr lang="en-US" sz="1200" dirty="0"/>
              <a:t>Respondents who raised potential translation issues are mostly concerned that the word “findings” may not be properly translated. </a:t>
            </a:r>
          </a:p>
          <a:p>
            <a:endParaRPr lang="en-US" sz="1200" dirty="0"/>
          </a:p>
          <a:p>
            <a:r>
              <a:rPr lang="en-US" sz="1200" dirty="0"/>
              <a:t>Other words that may present potential translation issues include the word “therefor” or the listing of words or terms in paragraphs A22-A23 of ED-4400 (i.e., examples of appropriate and inappropriate terminology).</a:t>
            </a:r>
          </a:p>
          <a:p>
            <a:endParaRPr lang="en-US" sz="1200" dirty="0"/>
          </a:p>
          <a:p>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30</a:t>
            </a:fld>
            <a:endParaRPr lang="en-US"/>
          </a:p>
        </p:txBody>
      </p:sp>
    </p:spTree>
    <p:extLst>
      <p:ext uri="{BB962C8B-B14F-4D97-AF65-F5344CB8AC3E}">
        <p14:creationId xmlns:p14="http://schemas.microsoft.com/office/powerpoint/2010/main" val="8985001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On the Effective Date, a majority agreed with the proposed effective date.</a:t>
            </a:r>
          </a:p>
          <a:p>
            <a:endParaRPr lang="en-US" sz="1200" dirty="0"/>
          </a:p>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31</a:t>
            </a:fld>
            <a:endParaRPr lang="en-US"/>
          </a:p>
        </p:txBody>
      </p:sp>
    </p:spTree>
    <p:extLst>
      <p:ext uri="{BB962C8B-B14F-4D97-AF65-F5344CB8AC3E}">
        <p14:creationId xmlns:p14="http://schemas.microsoft.com/office/powerpoint/2010/main" val="14632103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However, some respondents indicated that basing the effective date on when the engagement is agreed is unclear for recurring engagements or when there are modifications to the engagement agreement.</a:t>
            </a:r>
          </a:p>
          <a:p>
            <a:endParaRPr lang="en-US" sz="1200" dirty="0"/>
          </a:p>
          <a:p>
            <a:r>
              <a:rPr lang="en-US" sz="1200" dirty="0"/>
              <a:t>The TF did consider that but also thought that basing the effective date on the date of Report may be problematic in some cases as well.</a:t>
            </a:r>
          </a:p>
          <a:p>
            <a:endParaRPr lang="en-US" sz="1200" dirty="0"/>
          </a:p>
          <a:p>
            <a:r>
              <a:rPr lang="en-US" sz="1200" dirty="0"/>
              <a:t>A summary of the respondents’ comments on Translation and Effective Date, and the TF’s analyses are set out in para. 97 to 105.</a:t>
            </a:r>
          </a:p>
          <a:p>
            <a:endParaRPr lang="en-US" sz="1200" dirty="0"/>
          </a:p>
          <a:p>
            <a:r>
              <a:rPr lang="en-US" sz="1200" dirty="0">
                <a:highlight>
                  <a:srgbClr val="FFFF00"/>
                </a:highlight>
              </a:rPr>
              <a:t>The TF discussed this issue over the weekend and is now of the view that the position in the ED should be retained – i.e., effective date should be based on when the terms of engagement is agreed. This is because:</a:t>
            </a:r>
          </a:p>
          <a:p>
            <a:pPr marL="171450" indent="-171450">
              <a:buFont typeface="Arial" panose="020B0604020202020204" pitchFamily="34" charset="0"/>
              <a:buChar char="•"/>
            </a:pPr>
            <a:r>
              <a:rPr lang="en-US" sz="1200" dirty="0">
                <a:highlight>
                  <a:srgbClr val="FFFF00"/>
                </a:highlight>
              </a:rPr>
              <a:t>Public sector often requires a multi-year engagement</a:t>
            </a:r>
          </a:p>
          <a:p>
            <a:pPr marL="171450" indent="-171450">
              <a:buFont typeface="Arial" panose="020B0604020202020204" pitchFamily="34" charset="0"/>
              <a:buChar char="•"/>
            </a:pPr>
            <a:r>
              <a:rPr lang="en-US" sz="1200" dirty="0">
                <a:highlight>
                  <a:srgbClr val="FFFF00"/>
                </a:highlight>
              </a:rPr>
              <a:t>May place some firms in a difficult position if engagement agreed before effective date and report date (if effective date is based on date of report) is after effective date)</a:t>
            </a:r>
          </a:p>
          <a:p>
            <a:pPr marL="171450" indent="-171450">
              <a:buFont typeface="Arial" panose="020B0604020202020204" pitchFamily="34" charset="0"/>
              <a:buChar char="•"/>
            </a:pPr>
            <a:r>
              <a:rPr lang="en-US" sz="1200" dirty="0">
                <a:highlight>
                  <a:srgbClr val="FFFF00"/>
                </a:highlight>
              </a:rPr>
              <a:t>Often difficult to amend engagement letter (especially in the public sector) </a:t>
            </a:r>
          </a:p>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32</a:t>
            </a:fld>
            <a:endParaRPr lang="en-US"/>
          </a:p>
        </p:txBody>
      </p:sp>
    </p:spTree>
    <p:extLst>
      <p:ext uri="{BB962C8B-B14F-4D97-AF65-F5344CB8AC3E}">
        <p14:creationId xmlns:p14="http://schemas.microsoft.com/office/powerpoint/2010/main" val="42180432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[Read TF’s preliminary views and pause for question]</a:t>
            </a:r>
          </a:p>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33</a:t>
            </a:fld>
            <a:endParaRPr lang="en-US"/>
          </a:p>
        </p:txBody>
      </p:sp>
    </p:spTree>
    <p:extLst>
      <p:ext uri="{BB962C8B-B14F-4D97-AF65-F5344CB8AC3E}">
        <p14:creationId xmlns:p14="http://schemas.microsoft.com/office/powerpoint/2010/main" val="959291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TF expects to have the 1st read of the post-ED draft ready in September.</a:t>
            </a:r>
          </a:p>
          <a:p>
            <a:endParaRPr lang="en-US" sz="1200" dirty="0"/>
          </a:p>
          <a:p>
            <a:r>
              <a:rPr lang="en-US" sz="1200" dirty="0"/>
              <a:t>As long as we have time on the IAASB’s agenda, we will be ready to go.</a:t>
            </a:r>
          </a:p>
          <a:p>
            <a:endParaRPr lang="en-US" sz="1200" dirty="0"/>
          </a:p>
        </p:txBody>
      </p:sp>
      <p:sp>
        <p:nvSpPr>
          <p:cNvPr id="4" name="Slide Number Placeholder 3"/>
          <p:cNvSpPr>
            <a:spLocks noGrp="1"/>
          </p:cNvSpPr>
          <p:nvPr>
            <p:ph type="sldNum" sz="quarter" idx="10"/>
          </p:nvPr>
        </p:nvSpPr>
        <p:spPr/>
        <p:txBody>
          <a:bodyPr/>
          <a:lstStyle/>
          <a:p>
            <a:fld id="{4D410189-AC31-7546-878A-F48FDE4A29F5}" type="slidenum">
              <a:rPr lang="en-US" smtClean="0"/>
              <a:t>34</a:t>
            </a:fld>
            <a:endParaRPr lang="en-US"/>
          </a:p>
        </p:txBody>
      </p:sp>
    </p:spTree>
    <p:extLst>
      <p:ext uri="{BB962C8B-B14F-4D97-AF65-F5344CB8AC3E}">
        <p14:creationId xmlns:p14="http://schemas.microsoft.com/office/powerpoint/2010/main" val="34627231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D410189-AC31-7546-878A-F48FDE4A29F5}" type="slidenum">
              <a:rPr lang="en-US" smtClean="0"/>
              <a:t>35</a:t>
            </a:fld>
            <a:endParaRPr lang="en-US"/>
          </a:p>
        </p:txBody>
      </p:sp>
    </p:spTree>
    <p:extLst>
      <p:ext uri="{BB962C8B-B14F-4D97-AF65-F5344CB8AC3E}">
        <p14:creationId xmlns:p14="http://schemas.microsoft.com/office/powerpoint/2010/main" val="34502662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177551F-2C26-5D4E-AA97-F437309E4641}" type="slidenum">
              <a:rPr lang="en-US" smtClean="0"/>
              <a:pPr>
                <a:defRPr/>
              </a:pPr>
              <a:t>36</a:t>
            </a:fld>
            <a:endParaRPr lang="en-US" dirty="0"/>
          </a:p>
        </p:txBody>
      </p:sp>
      <p:sp>
        <p:nvSpPr>
          <p:cNvPr id="5" name="Date Placeholder 4"/>
          <p:cNvSpPr>
            <a:spLocks noGrp="1"/>
          </p:cNvSpPr>
          <p:nvPr>
            <p:ph type="dt" idx="11"/>
          </p:nvPr>
        </p:nvSpPr>
        <p:spPr/>
        <p:txBody>
          <a:bodyPr/>
          <a:lstStyle/>
          <a:p>
            <a:pPr>
              <a:defRPr/>
            </a:pPr>
            <a:r>
              <a:rPr lang="en-US" dirty="0"/>
              <a:t>March 2014</a:t>
            </a:r>
          </a:p>
        </p:txBody>
      </p:sp>
      <p:sp>
        <p:nvSpPr>
          <p:cNvPr id="6" name="Header Placeholder 5"/>
          <p:cNvSpPr>
            <a:spLocks noGrp="1"/>
          </p:cNvSpPr>
          <p:nvPr>
            <p:ph type="hdr" sz="quarter" idx="12"/>
          </p:nvPr>
        </p:nvSpPr>
        <p:spPr/>
        <p:txBody>
          <a:bodyPr/>
          <a:lstStyle/>
          <a:p>
            <a:pPr>
              <a:defRPr/>
            </a:pPr>
            <a:r>
              <a:rPr lang="en-US" dirty="0"/>
              <a:t>IAASB Agenda Item 6</a:t>
            </a:r>
          </a:p>
        </p:txBody>
      </p:sp>
    </p:spTree>
    <p:extLst>
      <p:ext uri="{BB962C8B-B14F-4D97-AF65-F5344CB8AC3E}">
        <p14:creationId xmlns:p14="http://schemas.microsoft.com/office/powerpoint/2010/main" val="19337556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www.iaasb.org/" TargetMode="External"/><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hyperlink" Target="mailto:permissions@ifac.org" TargetMode="External"/><Relationship Id="rId5" Type="http://schemas.openxmlformats.org/officeDocument/2006/relationships/image" Target="../media/image8.png"/><Relationship Id="rId10" Type="http://schemas.openxmlformats.org/officeDocument/2006/relationships/hyperlink" Target="http://www.ifac.org/about-ifac/translations-permissions" TargetMode="External"/><Relationship Id="rId4" Type="http://schemas.openxmlformats.org/officeDocument/2006/relationships/image" Target="../media/image7.png"/><Relationship Id="rId9" Type="http://schemas.openxmlformats.org/officeDocument/2006/relationships/image" Target="../media/image1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07"/>
            <a:ext cx="9144000" cy="2345159"/>
          </a:xfrm>
          <a:prstGeom prst="rect">
            <a:avLst/>
          </a:prstGeom>
        </p:spPr>
      </p:pic>
    </p:spTree>
    <p:extLst>
      <p:ext uri="{BB962C8B-B14F-4D97-AF65-F5344CB8AC3E}">
        <p14:creationId xmlns:p14="http://schemas.microsoft.com/office/powerpoint/2010/main" val="3121637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1" y="1"/>
            <a:ext cx="9156700" cy="2377439"/>
          </a:xfrm>
          <a:prstGeom prst="rect">
            <a:avLst/>
          </a:prstGeom>
        </p:spPr>
      </p:pic>
    </p:spTree>
    <p:extLst>
      <p:ext uri="{BB962C8B-B14F-4D97-AF65-F5344CB8AC3E}">
        <p14:creationId xmlns:p14="http://schemas.microsoft.com/office/powerpoint/2010/main" val="2838877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2" name="Picture 1"/>
          <p:cNvPicPr>
            <a:picLocks noChangeAspect="1"/>
          </p:cNvPicPr>
          <p:nvPr userDrawn="1"/>
        </p:nvPicPr>
        <p:blipFill rotWithShape="1">
          <a:blip r:embed="rId3">
            <a:extLst>
              <a:ext uri="{28A0092B-C50C-407E-A947-70E740481C1C}">
                <a14:useLocalDpi xmlns:a14="http://schemas.microsoft.com/office/drawing/2010/main" val="0"/>
              </a:ext>
            </a:extLst>
          </a:blip>
          <a:srcRect l="-76"/>
          <a:stretch/>
        </p:blipFill>
        <p:spPr>
          <a:xfrm>
            <a:off x="-12701" y="-26572"/>
            <a:ext cx="9156701" cy="2405255"/>
          </a:xfrm>
          <a:prstGeom prst="rect">
            <a:avLst/>
          </a:prstGeom>
        </p:spPr>
      </p:pic>
    </p:spTree>
    <p:extLst>
      <p:ext uri="{BB962C8B-B14F-4D97-AF65-F5344CB8AC3E}">
        <p14:creationId xmlns:p14="http://schemas.microsoft.com/office/powerpoint/2010/main" val="579527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2900"/>
            <a:ext cx="2776694" cy="487674"/>
          </a:xfrm>
          <a:prstGeom prst="rect">
            <a:avLst/>
          </a:prstGeom>
        </p:spPr>
      </p:pic>
      <p:pic>
        <p:nvPicPr>
          <p:cNvPr id="9" name="Picture 8" descr="Ribbon_orange_top.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0" y="1201152"/>
            <a:ext cx="9144000" cy="1236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2588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642938" indent="-171450">
              <a:defRPr>
                <a:solidFill>
                  <a:srgbClr val="808080"/>
                </a:solidFill>
                <a:latin typeface="Arial" panose="020B0604020202020204" pitchFamily="34" charset="0"/>
                <a:cs typeface="Arial" panose="020B0604020202020204" pitchFamily="34" charset="0"/>
              </a:defRPr>
            </a:lvl4pPr>
            <a:lvl5pPr marL="813197" indent="-171450">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5928852" y="4883295"/>
            <a:ext cx="2757948" cy="228309"/>
          </a:xfrm>
        </p:spPr>
        <p:txBody>
          <a:bodyPr/>
          <a:lstStyle>
            <a:lvl1pPr marL="0" marR="0" indent="0" algn="r" defTabSz="342900" rtl="0" eaLnBrk="1" fontAlgn="auto" latinLnBrk="0" hangingPunct="1">
              <a:lnSpc>
                <a:spcPct val="100000"/>
              </a:lnSpc>
              <a:spcBef>
                <a:spcPts val="0"/>
              </a:spcBef>
              <a:spcAft>
                <a:spcPts val="0"/>
              </a:spcAft>
              <a:buClrTx/>
              <a:buSzTx/>
              <a:buFontTx/>
              <a:buNone/>
              <a:tabLst/>
              <a:defRPr sz="675">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r>
              <a:rPr lang="en-US" dirty="0">
                <a:latin typeface="Arial" panose="020B0604020202020204" pitchFamily="34" charset="0"/>
                <a:cs typeface="MS PGothic" charset="0"/>
              </a:rPr>
              <a:t>  |  Confidential and Proprietary Information</a:t>
            </a:r>
          </a:p>
        </p:txBody>
      </p:sp>
    </p:spTree>
    <p:extLst>
      <p:ext uri="{BB962C8B-B14F-4D97-AF65-F5344CB8AC3E}">
        <p14:creationId xmlns:p14="http://schemas.microsoft.com/office/powerpoint/2010/main" val="2576669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208161"/>
            <a:ext cx="9144000" cy="39391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4299439"/>
            <a:ext cx="9144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4299438"/>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193993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6606012" y="4873085"/>
            <a:ext cx="2080788" cy="251831"/>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5203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013017"/>
            <a:ext cx="4040188"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502736"/>
            <a:ext cx="4040188"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6" y="1013017"/>
            <a:ext cx="4041775"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502736"/>
            <a:ext cx="4041775"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5498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9045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4776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268002" y="1561874"/>
            <a:ext cx="4393108" cy="73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3821898" y="3756887"/>
            <a:ext cx="1310039" cy="300082"/>
          </a:xfrm>
          <a:prstGeom prst="rect">
            <a:avLst/>
          </a:prstGeom>
        </p:spPr>
        <p:txBody>
          <a:bodyPr wrap="none">
            <a:spAutoFit/>
          </a:bodyPr>
          <a:lstStyle/>
          <a:p>
            <a:pPr marL="0" marR="0">
              <a:spcBef>
                <a:spcPts val="0"/>
              </a:spcBef>
              <a:spcAft>
                <a:spcPts val="0"/>
              </a:spcAft>
            </a:pPr>
            <a:r>
              <a:rPr lang="en-US" sz="1350" u="none" dirty="0">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3"/>
              </a:rPr>
              <a:t>www.iaasb.org</a:t>
            </a:r>
            <a:endParaRPr lang="en-US" sz="1500" u="none" dirty="0">
              <a:effectLst/>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381000" y="4822821"/>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3" name="Picture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83130" y="4168326"/>
            <a:ext cx="577805" cy="193152"/>
          </a:xfrm>
          <a:prstGeom prst="rect">
            <a:avLst/>
          </a:prstGeom>
        </p:spPr>
      </p:pic>
      <p:pic>
        <p:nvPicPr>
          <p:cNvPr id="4" name="Picture 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149166" y="4175640"/>
            <a:ext cx="437481" cy="193152"/>
          </a:xfrm>
          <a:prstGeom prst="rect">
            <a:avLst/>
          </a:prstGeom>
        </p:spPr>
      </p:pic>
      <p:pic>
        <p:nvPicPr>
          <p:cNvPr id="6" name="Picture 5"/>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74878" y="4165672"/>
            <a:ext cx="577805" cy="193152"/>
          </a:xfrm>
          <a:prstGeom prst="rect">
            <a:avLst/>
          </a:prstGeom>
        </p:spPr>
      </p:pic>
      <p:pic>
        <p:nvPicPr>
          <p:cNvPr id="8" name="Picture 7"/>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940914" y="4168326"/>
            <a:ext cx="577805" cy="234424"/>
          </a:xfrm>
          <a:prstGeom prst="rect">
            <a:avLst/>
          </a:prstGeom>
        </p:spPr>
      </p:pic>
      <p:pic>
        <p:nvPicPr>
          <p:cNvPr id="9" name="Pictur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406950" y="4168326"/>
            <a:ext cx="577805" cy="193152"/>
          </a:xfrm>
          <a:prstGeom prst="rect">
            <a:avLst/>
          </a:prstGeom>
        </p:spPr>
      </p:pic>
      <p:pic>
        <p:nvPicPr>
          <p:cNvPr id="10" name="Picture 9"/>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872984" y="4165202"/>
            <a:ext cx="577805" cy="193152"/>
          </a:xfrm>
          <a:prstGeom prst="rect">
            <a:avLst/>
          </a:prstGeom>
        </p:spPr>
      </p:pic>
      <p:sp>
        <p:nvSpPr>
          <p:cNvPr id="11" name="Rectangle 10"/>
          <p:cNvSpPr/>
          <p:nvPr userDrawn="1"/>
        </p:nvSpPr>
        <p:spPr>
          <a:xfrm>
            <a:off x="698501" y="4608029"/>
            <a:ext cx="8128000" cy="230832"/>
          </a:xfrm>
          <a:prstGeom prst="rect">
            <a:avLst/>
          </a:prstGeom>
        </p:spPr>
        <p:txBody>
          <a:bodyPr wrap="square">
            <a:spAutoFit/>
          </a:bodyPr>
          <a:lstStyle/>
          <a:p>
            <a:pPr algn="l"/>
            <a:r>
              <a:rPr lang="en-US" sz="900" dirty="0">
                <a:effectLst/>
                <a:latin typeface="Arial" panose="020B0604020202020204" pitchFamily="34" charset="0"/>
                <a:ea typeface="Calibri" panose="020F0502020204030204" pitchFamily="34" charset="0"/>
              </a:rPr>
              <a:t>For copyright, trademark, and permissions information, please go to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900" dirty="0">
                <a:effectLst/>
                <a:latin typeface="Arial" panose="020B0604020202020204" pitchFamily="34" charset="0"/>
                <a:ea typeface="Calibri" panose="020F0502020204030204" pitchFamily="34" charset="0"/>
              </a:rPr>
              <a:t> or contact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900" dirty="0">
                <a:effectLst/>
                <a:latin typeface="Arial" panose="020B0604020202020204" pitchFamily="34" charset="0"/>
                <a:ea typeface="Calibri" panose="020F0502020204030204" pitchFamily="34" charset="0"/>
              </a:rPr>
              <a:t>.</a:t>
            </a:r>
            <a:endParaRPr lang="en-US" sz="900" dirty="0"/>
          </a:p>
        </p:txBody>
      </p:sp>
    </p:spTree>
    <p:extLst>
      <p:ext uri="{BB962C8B-B14F-4D97-AF65-F5344CB8AC3E}">
        <p14:creationId xmlns:p14="http://schemas.microsoft.com/office/powerpoint/2010/main" val="375457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143500"/>
          </a:xfrm>
          <a:prstGeom prst="rect">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2" name="Rectangle 5"/>
          <p:cNvSpPr>
            <a:spLocks noChangeArrowheads="1"/>
          </p:cNvSpPr>
          <p:nvPr userDrawn="1"/>
        </p:nvSpPr>
        <p:spPr bwMode="auto">
          <a:xfrm>
            <a:off x="0" y="1198961"/>
            <a:ext cx="9144000" cy="3950208"/>
          </a:xfrm>
          <a:prstGeom prst="rect">
            <a:avLst/>
          </a:prstGeom>
          <a:gradFill rotWithShape="0">
            <a:gsLst>
              <a:gs pos="0">
                <a:srgbClr val="18276E"/>
              </a:gs>
              <a:gs pos="100000">
                <a:srgbClr val="0092D2"/>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dirty="0"/>
          </a:p>
        </p:txBody>
      </p:sp>
      <p:pic>
        <p:nvPicPr>
          <p:cNvPr id="13" name="Picture 6" descr="Ribbon_orange_1.25in_width.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14600" y="1198961"/>
            <a:ext cx="6629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267200" y="1398986"/>
            <a:ext cx="4648200" cy="742950"/>
          </a:xfrm>
        </p:spPr>
        <p:txBody>
          <a:bodyPr anchor="ctr"/>
          <a:lstStyle/>
          <a:p>
            <a:r>
              <a:rPr lang="en-US"/>
              <a:t>Click to edit Master title style</a:t>
            </a:r>
            <a:endParaRPr lang="en-US" dirty="0"/>
          </a:p>
        </p:txBody>
      </p:sp>
      <p:sp>
        <p:nvSpPr>
          <p:cNvPr id="8" name="Subtitle 2"/>
          <p:cNvSpPr>
            <a:spLocks noGrp="1"/>
          </p:cNvSpPr>
          <p:nvPr>
            <p:ph type="subTitle" idx="1"/>
          </p:nvPr>
        </p:nvSpPr>
        <p:spPr>
          <a:xfrm>
            <a:off x="4267200" y="2484835"/>
            <a:ext cx="3060700" cy="1314450"/>
          </a:xfrm>
        </p:spPr>
        <p:txBody>
          <a:bodyPr lIns="0" tIns="0" rIns="0" bIns="0"/>
          <a:lstStyle>
            <a:lvl1pPr marL="0" indent="0" algn="l">
              <a:buNone/>
              <a:defRPr sz="14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dirty="0"/>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14185" y="384188"/>
            <a:ext cx="2056917" cy="600560"/>
          </a:xfrm>
          <a:prstGeom prst="rect">
            <a:avLst/>
          </a:prstGeom>
        </p:spPr>
      </p:pic>
    </p:spTree>
    <p:extLst>
      <p:ext uri="{BB962C8B-B14F-4D97-AF65-F5344CB8AC3E}">
        <p14:creationId xmlns:p14="http://schemas.microsoft.com/office/powerpoint/2010/main" val="3877791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0167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427437"/>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 name="Title Placeholder 1"/>
          <p:cNvSpPr>
            <a:spLocks noGrp="1"/>
          </p:cNvSpPr>
          <p:nvPr>
            <p:ph type="title"/>
          </p:nvPr>
        </p:nvSpPr>
        <p:spPr>
          <a:xfrm>
            <a:off x="457200" y="427437"/>
            <a:ext cx="8229600" cy="403875"/>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200151"/>
            <a:ext cx="8229600" cy="318867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454985" y="4883295"/>
            <a:ext cx="2057400" cy="228309"/>
          </a:xfrm>
          <a:prstGeom prst="rect">
            <a:avLst/>
          </a:prstGeom>
        </p:spPr>
        <p:txBody>
          <a:bodyPr vert="horz" lIns="91440" tIns="45720" rIns="91440" bIns="45720" rtlCol="0" anchor="ctr"/>
          <a:lstStyle>
            <a:lvl1pPr algn="l">
              <a:defRPr sz="675">
                <a:solidFill>
                  <a:schemeClr val="tx1">
                    <a:tint val="75000"/>
                  </a:schemeClr>
                </a:solidFill>
                <a:latin typeface="Arial" panose="020B0604020202020204" pitchFamily="34" charset="0"/>
              </a:defRPr>
            </a:lvl1pPr>
          </a:lstStyle>
          <a:p>
            <a:fld id="{289E18CF-C690-4C5C-8392-CD967FC1C437}" type="datetime1">
              <a:rPr lang="en-US" smtClean="0"/>
              <a:t>8/7/2019</a:t>
            </a:fld>
            <a:endParaRPr lang="en-US" dirty="0"/>
          </a:p>
        </p:txBody>
      </p:sp>
      <p:sp>
        <p:nvSpPr>
          <p:cNvPr id="5" name="Footer Placeholder 4"/>
          <p:cNvSpPr>
            <a:spLocks noGrp="1"/>
          </p:cNvSpPr>
          <p:nvPr>
            <p:ph type="ftr" sz="quarter" idx="3"/>
          </p:nvPr>
        </p:nvSpPr>
        <p:spPr>
          <a:xfrm>
            <a:off x="3016148" y="4883295"/>
            <a:ext cx="3086100" cy="228309"/>
          </a:xfrm>
          <a:prstGeom prst="rect">
            <a:avLst/>
          </a:prstGeom>
        </p:spPr>
        <p:txBody>
          <a:bodyPr vert="horz" lIns="91440" tIns="45720" rIns="91440" bIns="45720" rtlCol="0" anchor="ctr"/>
          <a:lstStyle>
            <a:lvl1pPr algn="ctr">
              <a:defRPr sz="675">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6606012" y="4883295"/>
            <a:ext cx="2080788" cy="228309"/>
          </a:xfrm>
          <a:prstGeom prst="rect">
            <a:avLst/>
          </a:prstGeom>
        </p:spPr>
        <p:txBody>
          <a:bodyPr vert="horz" lIns="0" tIns="0" rIns="0" bIns="0" rtlCol="0" anchor="ctr"/>
          <a:lstStyle>
            <a:lvl1pPr algn="ctr">
              <a:defRPr sz="675">
                <a:solidFill>
                  <a:srgbClr val="808080"/>
                </a:solidFill>
                <a:latin typeface="Arial Narrow"/>
                <a:cs typeface="Arial Narrow"/>
              </a:defRPr>
            </a:lvl1p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381000" y="4822228"/>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11" name="Picture 10" descr="IAASB Logo with FullName.jpg"/>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6899368" y="55409"/>
            <a:ext cx="1787432" cy="313929"/>
          </a:xfrm>
          <a:prstGeom prst="rect">
            <a:avLst/>
          </a:prstGeom>
        </p:spPr>
      </p:pic>
    </p:spTree>
    <p:extLst>
      <p:ext uri="{BB962C8B-B14F-4D97-AF65-F5344CB8AC3E}">
        <p14:creationId xmlns:p14="http://schemas.microsoft.com/office/powerpoint/2010/main" val="1054232877"/>
      </p:ext>
    </p:extLst>
  </p:cSld>
  <p:clrMap bg1="lt1" tx1="dk1" bg2="lt2" tx2="dk2" accent1="accent1" accent2="accent2" accent3="accent3" accent4="accent4" accent5="accent5" accent6="accent6" hlink="hlink" folHlink="folHlink"/>
  <p:sldLayoutIdLst>
    <p:sldLayoutId id="2147483657" r:id="rId1"/>
    <p:sldLayoutId id="2147483660" r:id="rId2"/>
    <p:sldLayoutId id="2147483661"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62" r:id="rId12"/>
    <p:sldLayoutId id="2147483663" r:id="rId13"/>
  </p:sldLayoutIdLst>
  <p:hf hdr="0" ftr="0" dt="0"/>
  <p:txStyles>
    <p:title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p:titleStyle>
    <p:bodyStyle>
      <a:lvl1pPr marL="129779" indent="-129779" algn="l" defTabSz="342900" rtl="0" eaLnBrk="1" latinLnBrk="0" hangingPunct="1">
        <a:spcBef>
          <a:spcPts val="900"/>
        </a:spcBef>
        <a:buFont typeface="Arial"/>
        <a:buChar char="•"/>
        <a:defRPr sz="15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2001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4pPr>
      <a:lvl5pPr marL="15430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7.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2.xml"/><Relationship Id="rId1" Type="http://schemas.openxmlformats.org/officeDocument/2006/relationships/slideLayout" Target="../slideLayouts/slideLayout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ctrTitle"/>
          </p:nvPr>
        </p:nvSpPr>
        <p:spPr>
          <a:xfrm>
            <a:off x="685800" y="2568724"/>
            <a:ext cx="7893383" cy="546710"/>
          </a:xfrm>
        </p:spPr>
        <p:txBody>
          <a:bodyPr/>
          <a:lstStyle/>
          <a:p>
            <a:r>
              <a:rPr lang="en-US" dirty="0">
                <a:latin typeface="Arial" charset="0"/>
              </a:rPr>
              <a:t>Agreed-Upon Procedures Engagements</a:t>
            </a:r>
          </a:p>
        </p:txBody>
      </p:sp>
      <p:sp>
        <p:nvSpPr>
          <p:cNvPr id="3" name="Subtitle 2"/>
          <p:cNvSpPr>
            <a:spLocks noGrp="1"/>
          </p:cNvSpPr>
          <p:nvPr>
            <p:ph type="subTitle" idx="1"/>
          </p:nvPr>
        </p:nvSpPr>
        <p:spPr>
          <a:xfrm>
            <a:off x="685801" y="3252999"/>
            <a:ext cx="4732867" cy="1387576"/>
          </a:xfrm>
        </p:spPr>
        <p:txBody>
          <a:bodyPr/>
          <a:lstStyle/>
          <a:p>
            <a:r>
              <a:rPr lang="en-US" b="1" dirty="0">
                <a:latin typeface="Arial" charset="0"/>
              </a:rPr>
              <a:t>Eric Turner</a:t>
            </a:r>
            <a:r>
              <a:rPr lang="en-US" b="1" dirty="0"/>
              <a:t>, IAASB Member and Task Force Chair</a:t>
            </a:r>
          </a:p>
          <a:p>
            <a:r>
              <a:rPr lang="en-US" dirty="0">
                <a:latin typeface="Arial" charset="0"/>
              </a:rPr>
              <a:t>IAASB Meeting</a:t>
            </a:r>
          </a:p>
          <a:p>
            <a:r>
              <a:rPr lang="en-US" dirty="0">
                <a:latin typeface="Arial" charset="0"/>
              </a:rPr>
              <a:t>June 18, 2019</a:t>
            </a:r>
          </a:p>
          <a:p>
            <a:r>
              <a:rPr lang="en-US" dirty="0">
                <a:latin typeface="Arial" charset="0"/>
              </a:rPr>
              <a:t>Agenda Item 3</a:t>
            </a:r>
          </a:p>
        </p:txBody>
      </p:sp>
    </p:spTree>
    <p:extLst>
      <p:ext uri="{BB962C8B-B14F-4D97-AF65-F5344CB8AC3E}">
        <p14:creationId xmlns:p14="http://schemas.microsoft.com/office/powerpoint/2010/main" val="3497635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F2205-3496-4BA0-8695-5AE2BA961150}"/>
              </a:ext>
            </a:extLst>
          </p:cNvPr>
          <p:cNvSpPr>
            <a:spLocks noGrp="1"/>
          </p:cNvSpPr>
          <p:nvPr>
            <p:ph type="title"/>
          </p:nvPr>
        </p:nvSpPr>
        <p:spPr/>
        <p:txBody>
          <a:bodyPr/>
          <a:lstStyle/>
          <a:p>
            <a:r>
              <a:rPr lang="en-US" dirty="0"/>
              <a:t>Task Force Members and Staff Support</a:t>
            </a:r>
          </a:p>
        </p:txBody>
      </p:sp>
      <p:sp>
        <p:nvSpPr>
          <p:cNvPr id="3" name="Content Placeholder 2">
            <a:extLst>
              <a:ext uri="{FF2B5EF4-FFF2-40B4-BE49-F238E27FC236}">
                <a16:creationId xmlns:a16="http://schemas.microsoft.com/office/drawing/2014/main" id="{194EB420-C346-4D86-9544-6C6073E4BCD8}"/>
              </a:ext>
            </a:extLst>
          </p:cNvPr>
          <p:cNvSpPr>
            <a:spLocks noGrp="1"/>
          </p:cNvSpPr>
          <p:nvPr>
            <p:ph idx="1"/>
          </p:nvPr>
        </p:nvSpPr>
        <p:spPr/>
        <p:txBody>
          <a:bodyPr/>
          <a:lstStyle/>
          <a:p>
            <a:r>
              <a:rPr lang="en-US" sz="1600" b="1" dirty="0"/>
              <a:t>Task Force</a:t>
            </a:r>
          </a:p>
          <a:p>
            <a:pPr lvl="1"/>
            <a:r>
              <a:rPr lang="en-US" sz="1400" dirty="0"/>
              <a:t>Eric Turner – Chair</a:t>
            </a:r>
          </a:p>
          <a:p>
            <a:pPr lvl="1" fontAlgn="t"/>
            <a:r>
              <a:rPr lang="en-US" sz="1400" dirty="0"/>
              <a:t>Isabelle Tracq-Sengeissen</a:t>
            </a:r>
          </a:p>
          <a:p>
            <a:pPr lvl="1" fontAlgn="t"/>
            <a:r>
              <a:rPr lang="en-US" sz="1400" dirty="0"/>
              <a:t>Viviene Bauer</a:t>
            </a:r>
          </a:p>
          <a:p>
            <a:pPr lvl="1" fontAlgn="t"/>
            <a:r>
              <a:rPr lang="en-US" sz="1400" dirty="0"/>
              <a:t>Roger </a:t>
            </a:r>
            <a:r>
              <a:rPr lang="en-US" sz="1400"/>
              <a:t>Simnett</a:t>
            </a:r>
            <a:endParaRPr lang="en-US" sz="1400" dirty="0"/>
          </a:p>
          <a:p>
            <a:r>
              <a:rPr lang="en-US" sz="1600" b="1" dirty="0"/>
              <a:t>Staff</a:t>
            </a:r>
          </a:p>
          <a:p>
            <a:pPr lvl="1" fontAlgn="t"/>
            <a:r>
              <a:rPr lang="en-US" sz="1400" dirty="0"/>
              <a:t>Jasper van den Hout</a:t>
            </a:r>
          </a:p>
          <a:p>
            <a:pPr lvl="1" fontAlgn="t"/>
            <a:r>
              <a:rPr lang="en-US" sz="1400" dirty="0"/>
              <a:t>Phil Minnaar</a:t>
            </a:r>
          </a:p>
          <a:p>
            <a:pPr lvl="1" fontAlgn="t"/>
            <a:r>
              <a:rPr lang="en-US" sz="1400" dirty="0"/>
              <a:t>Chi Ho Ng</a:t>
            </a:r>
          </a:p>
        </p:txBody>
      </p:sp>
      <p:sp>
        <p:nvSpPr>
          <p:cNvPr id="4" name="Slide Number Placeholder 3">
            <a:extLst>
              <a:ext uri="{FF2B5EF4-FFF2-40B4-BE49-F238E27FC236}">
                <a16:creationId xmlns:a16="http://schemas.microsoft.com/office/drawing/2014/main" id="{2D86CD8C-F385-4E14-B197-FDD57C6E7877}"/>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a:t>
            </a:fld>
            <a:r>
              <a:rPr lang="en-US">
                <a:latin typeface="Arial" panose="020B0604020202020204" pitchFamily="34" charset="0"/>
                <a:cs typeface="MS PGothic" charset="0"/>
              </a:rPr>
              <a:t>  |  Confidential and Proprietary Information</a:t>
            </a:r>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59447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CCA3FC11-1681-4CDA-B7B9-B7F89FEC8F77}"/>
              </a:ext>
            </a:extLst>
          </p:cNvPr>
          <p:cNvSpPr txBox="1">
            <a:spLocks/>
          </p:cNvSpPr>
          <p:nvPr/>
        </p:nvSpPr>
        <p:spPr>
          <a:xfrm>
            <a:off x="381000" y="461930"/>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Introduction</a:t>
            </a:r>
          </a:p>
        </p:txBody>
      </p:sp>
      <p:sp>
        <p:nvSpPr>
          <p:cNvPr id="3" name="TextBox 2">
            <a:extLst>
              <a:ext uri="{FF2B5EF4-FFF2-40B4-BE49-F238E27FC236}">
                <a16:creationId xmlns:a16="http://schemas.microsoft.com/office/drawing/2014/main" id="{019F0098-EE17-4722-8799-B7ACD630F545}"/>
              </a:ext>
            </a:extLst>
          </p:cNvPr>
          <p:cNvSpPr txBox="1"/>
          <p:nvPr/>
        </p:nvSpPr>
        <p:spPr>
          <a:xfrm>
            <a:off x="3010237" y="1059797"/>
            <a:ext cx="5793897" cy="3208571"/>
          </a:xfrm>
          <a:prstGeom prst="rect">
            <a:avLst/>
          </a:prstGeom>
          <a:noFill/>
        </p:spPr>
        <p:txBody>
          <a:bodyPr wrap="square" rtlCol="0">
            <a:spAutoFit/>
          </a:bodyPr>
          <a:lstStyle/>
          <a:p>
            <a:pPr>
              <a:spcBef>
                <a:spcPts val="900"/>
              </a:spcBef>
            </a:pPr>
            <a:r>
              <a:rPr lang="en-CA" sz="2000" dirty="0">
                <a:solidFill>
                  <a:srgbClr val="808080"/>
                </a:solidFill>
                <a:latin typeface="Arial" panose="020B0604020202020204" pitchFamily="34" charset="0"/>
                <a:cs typeface="Arial" panose="020B0604020202020204" pitchFamily="34" charset="0"/>
              </a:rPr>
              <a:t>IAASB issued Exposure Draft of </a:t>
            </a:r>
            <a:r>
              <a:rPr lang="en-CA" sz="2000" dirty="0" err="1">
                <a:solidFill>
                  <a:srgbClr val="808080"/>
                </a:solidFill>
                <a:latin typeface="Arial" panose="020B0604020202020204" pitchFamily="34" charset="0"/>
                <a:cs typeface="Arial" panose="020B0604020202020204" pitchFamily="34" charset="0"/>
              </a:rPr>
              <a:t>ISRS</a:t>
            </a:r>
            <a:r>
              <a:rPr lang="en-CA" sz="2000" dirty="0">
                <a:solidFill>
                  <a:srgbClr val="808080"/>
                </a:solidFill>
                <a:latin typeface="Arial" panose="020B0604020202020204" pitchFamily="34" charset="0"/>
                <a:cs typeface="Arial" panose="020B0604020202020204" pitchFamily="34" charset="0"/>
              </a:rPr>
              <a:t> 4400 (Revised), </a:t>
            </a:r>
            <a:r>
              <a:rPr lang="en-CA" sz="2000" i="1" dirty="0">
                <a:solidFill>
                  <a:srgbClr val="808080"/>
                </a:solidFill>
                <a:latin typeface="Arial" panose="020B0604020202020204" pitchFamily="34" charset="0"/>
                <a:cs typeface="Arial" panose="020B0604020202020204" pitchFamily="34" charset="0"/>
              </a:rPr>
              <a:t>Agreed-Upon Procedures Engagements</a:t>
            </a:r>
            <a:r>
              <a:rPr lang="en-CA" sz="2000" dirty="0">
                <a:solidFill>
                  <a:srgbClr val="808080"/>
                </a:solidFill>
                <a:latin typeface="Arial" panose="020B0604020202020204" pitchFamily="34" charset="0"/>
                <a:cs typeface="Arial" panose="020B0604020202020204" pitchFamily="34" charset="0"/>
              </a:rPr>
              <a:t> (ED-4400), in November 2018</a:t>
            </a:r>
          </a:p>
          <a:p>
            <a:pPr>
              <a:spcBef>
                <a:spcPts val="900"/>
              </a:spcBef>
            </a:pPr>
            <a:r>
              <a:rPr lang="en-CA" sz="2000" dirty="0">
                <a:solidFill>
                  <a:srgbClr val="808080"/>
                </a:solidFill>
                <a:latin typeface="Arial" panose="020B0604020202020204" pitchFamily="34" charset="0"/>
                <a:cs typeface="Arial" panose="020B0604020202020204" pitchFamily="34" charset="0"/>
              </a:rPr>
              <a:t>Objectives of this session are to:</a:t>
            </a:r>
          </a:p>
          <a:p>
            <a:pPr marL="685800" lvl="1" indent="-342900">
              <a:spcBef>
                <a:spcPts val="900"/>
              </a:spcBef>
              <a:buFont typeface="Arial" panose="020B0604020202020204" pitchFamily="34" charset="0"/>
              <a:buChar char="̶"/>
            </a:pPr>
            <a:r>
              <a:rPr lang="en-CA" sz="2000" dirty="0">
                <a:solidFill>
                  <a:srgbClr val="808080"/>
                </a:solidFill>
                <a:latin typeface="Arial" panose="020B0604020202020204" pitchFamily="34" charset="0"/>
                <a:cs typeface="Arial" panose="020B0604020202020204" pitchFamily="34" charset="0"/>
              </a:rPr>
              <a:t>Provide a summary of the feedback received</a:t>
            </a:r>
          </a:p>
          <a:p>
            <a:pPr marL="685800" lvl="1" indent="-342900">
              <a:spcBef>
                <a:spcPts val="900"/>
              </a:spcBef>
              <a:buFont typeface="Arial" panose="020B0604020202020204" pitchFamily="34" charset="0"/>
              <a:buChar char="̶"/>
            </a:pPr>
            <a:r>
              <a:rPr lang="en-CA" sz="2000" dirty="0">
                <a:solidFill>
                  <a:srgbClr val="808080"/>
                </a:solidFill>
                <a:latin typeface="Arial" panose="020B0604020202020204" pitchFamily="34" charset="0"/>
                <a:cs typeface="Arial" panose="020B0604020202020204" pitchFamily="34" charset="0"/>
              </a:rPr>
              <a:t>Obtain the Board’s views on the Task Force’s preliminary views of the issues presented</a:t>
            </a:r>
          </a:p>
        </p:txBody>
      </p:sp>
      <p:pic>
        <p:nvPicPr>
          <p:cNvPr id="4" name="Picture 3" descr="A screenshot of a cell phone&#10;&#10;Description automatically generated">
            <a:extLst>
              <a:ext uri="{FF2B5EF4-FFF2-40B4-BE49-F238E27FC236}">
                <a16:creationId xmlns:a16="http://schemas.microsoft.com/office/drawing/2014/main" id="{F15DA5B5-2726-438F-8605-DD0BDE0AA3B3}"/>
              </a:ext>
            </a:extLst>
          </p:cNvPr>
          <p:cNvPicPr>
            <a:picLocks noChangeAspect="1"/>
          </p:cNvPicPr>
          <p:nvPr/>
        </p:nvPicPr>
        <p:blipFill>
          <a:blip r:embed="rId3"/>
          <a:stretch>
            <a:fillRect/>
          </a:stretch>
        </p:blipFill>
        <p:spPr>
          <a:xfrm>
            <a:off x="485522" y="1013400"/>
            <a:ext cx="2306230" cy="3089262"/>
          </a:xfrm>
          <a:prstGeom prst="rect">
            <a:avLst/>
          </a:prstGeom>
          <a:scene3d>
            <a:camera prst="orthographicFront"/>
            <a:lightRig rig="threePt" dir="t"/>
          </a:scene3d>
          <a:sp3d>
            <a:bevelT/>
          </a:sp3d>
        </p:spPr>
      </p:pic>
    </p:spTree>
    <p:extLst>
      <p:ext uri="{BB962C8B-B14F-4D97-AF65-F5344CB8AC3E}">
        <p14:creationId xmlns:p14="http://schemas.microsoft.com/office/powerpoint/2010/main" val="1576503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983" y="1271200"/>
            <a:ext cx="4325017" cy="3276600"/>
          </a:xfrm>
          <a:prstGeom prst="rect">
            <a:avLst/>
          </a:prstGeom>
        </p:spPr>
      </p:pic>
      <p:sp>
        <p:nvSpPr>
          <p:cNvPr id="4" name="Title 3"/>
          <p:cNvSpPr txBox="1">
            <a:spLocks/>
          </p:cNvSpPr>
          <p:nvPr/>
        </p:nvSpPr>
        <p:spPr>
          <a:xfrm>
            <a:off x="381000" y="397080"/>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Responses</a:t>
            </a:r>
          </a:p>
        </p:txBody>
      </p:sp>
      <p:sp>
        <p:nvSpPr>
          <p:cNvPr id="3" name="TextBox 2"/>
          <p:cNvSpPr txBox="1"/>
          <p:nvPr/>
        </p:nvSpPr>
        <p:spPr>
          <a:xfrm>
            <a:off x="1997219" y="2519461"/>
            <a:ext cx="1295400" cy="30777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Europe: 12</a:t>
            </a:r>
          </a:p>
        </p:txBody>
      </p:sp>
      <p:sp>
        <p:nvSpPr>
          <p:cNvPr id="6" name="TextBox 5"/>
          <p:cNvSpPr txBox="1"/>
          <p:nvPr/>
        </p:nvSpPr>
        <p:spPr>
          <a:xfrm>
            <a:off x="280821" y="2601723"/>
            <a:ext cx="1485900" cy="30777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N. America: 7</a:t>
            </a:r>
          </a:p>
        </p:txBody>
      </p:sp>
      <p:sp>
        <p:nvSpPr>
          <p:cNvPr id="8" name="TextBox 7"/>
          <p:cNvSpPr txBox="1"/>
          <p:nvPr/>
        </p:nvSpPr>
        <p:spPr>
          <a:xfrm>
            <a:off x="647700" y="3564523"/>
            <a:ext cx="1485900" cy="30777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S. America: 2</a:t>
            </a:r>
          </a:p>
        </p:txBody>
      </p:sp>
      <p:sp>
        <p:nvSpPr>
          <p:cNvPr id="9" name="TextBox 8"/>
          <p:cNvSpPr txBox="1"/>
          <p:nvPr/>
        </p:nvSpPr>
        <p:spPr>
          <a:xfrm>
            <a:off x="2058797" y="3270355"/>
            <a:ext cx="952500" cy="30777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MEA: 8</a:t>
            </a:r>
          </a:p>
        </p:txBody>
      </p:sp>
      <p:sp>
        <p:nvSpPr>
          <p:cNvPr id="10" name="TextBox 9"/>
          <p:cNvSpPr txBox="1"/>
          <p:nvPr/>
        </p:nvSpPr>
        <p:spPr>
          <a:xfrm>
            <a:off x="2155941" y="1618444"/>
            <a:ext cx="1295400" cy="30777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Global: 14</a:t>
            </a:r>
          </a:p>
        </p:txBody>
      </p:sp>
      <p:sp>
        <p:nvSpPr>
          <p:cNvPr id="11" name="TextBox 10"/>
          <p:cNvSpPr txBox="1"/>
          <p:nvPr/>
        </p:nvSpPr>
        <p:spPr>
          <a:xfrm>
            <a:off x="3118361" y="3006178"/>
            <a:ext cx="1676400" cy="30777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Asia Pacific: 9</a:t>
            </a:r>
          </a:p>
        </p:txBody>
      </p:sp>
      <p:graphicFrame>
        <p:nvGraphicFramePr>
          <p:cNvPr id="12" name="Chart 11">
            <a:extLst>
              <a:ext uri="{FF2B5EF4-FFF2-40B4-BE49-F238E27FC236}">
                <a16:creationId xmlns:a16="http://schemas.microsoft.com/office/drawing/2014/main" id="{905FF7FB-91FE-486A-A3E0-1DF5FB0BD83A}"/>
              </a:ext>
            </a:extLst>
          </p:cNvPr>
          <p:cNvGraphicFramePr/>
          <p:nvPr>
            <p:extLst>
              <p:ext uri="{D42A27DB-BD31-4B8C-83A1-F6EECF244321}">
                <p14:modId xmlns:p14="http://schemas.microsoft.com/office/powerpoint/2010/main" val="13783768"/>
              </p:ext>
            </p:extLst>
          </p:nvPr>
        </p:nvGraphicFramePr>
        <p:xfrm>
          <a:off x="4422394" y="742950"/>
          <a:ext cx="4550821" cy="38608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873306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FCEC2-0735-41D1-980B-CD493BD5E312}"/>
              </a:ext>
            </a:extLst>
          </p:cNvPr>
          <p:cNvSpPr>
            <a:spLocks noGrp="1"/>
          </p:cNvSpPr>
          <p:nvPr>
            <p:ph type="title"/>
          </p:nvPr>
        </p:nvSpPr>
        <p:spPr/>
        <p:txBody>
          <a:bodyPr/>
          <a:lstStyle/>
          <a:p>
            <a:r>
              <a:rPr lang="en-US" dirty="0"/>
              <a:t>Overall Summary of Responses</a:t>
            </a:r>
          </a:p>
        </p:txBody>
      </p:sp>
      <p:graphicFrame>
        <p:nvGraphicFramePr>
          <p:cNvPr id="7" name="Content Placeholder 6">
            <a:extLst>
              <a:ext uri="{FF2B5EF4-FFF2-40B4-BE49-F238E27FC236}">
                <a16:creationId xmlns:a16="http://schemas.microsoft.com/office/drawing/2014/main" id="{458075D3-8573-426F-A28A-9461D766E1EE}"/>
              </a:ext>
            </a:extLst>
          </p:cNvPr>
          <p:cNvGraphicFramePr>
            <a:graphicFrameLocks noGrp="1"/>
          </p:cNvGraphicFramePr>
          <p:nvPr>
            <p:ph idx="1"/>
            <p:extLst>
              <p:ext uri="{D42A27DB-BD31-4B8C-83A1-F6EECF244321}">
                <p14:modId xmlns:p14="http://schemas.microsoft.com/office/powerpoint/2010/main" val="1649822306"/>
              </p:ext>
            </p:extLst>
          </p:nvPr>
        </p:nvGraphicFramePr>
        <p:xfrm>
          <a:off x="288235" y="831311"/>
          <a:ext cx="8617226" cy="3979227"/>
        </p:xfrm>
        <a:graphic>
          <a:graphicData uri="http://schemas.openxmlformats.org/drawingml/2006/chart">
            <c:chart xmlns:c="http://schemas.openxmlformats.org/drawingml/2006/chart" xmlns:r="http://schemas.openxmlformats.org/officeDocument/2006/relationships" r:id="rId3"/>
          </a:graphicData>
        </a:graphic>
      </p:graphicFrame>
      <p:sp>
        <p:nvSpPr>
          <p:cNvPr id="4" name="Slide Number Placeholder 3">
            <a:extLst>
              <a:ext uri="{FF2B5EF4-FFF2-40B4-BE49-F238E27FC236}">
                <a16:creationId xmlns:a16="http://schemas.microsoft.com/office/drawing/2014/main" id="{FC50DF36-5208-467D-9175-483D54C48252}"/>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5</a:t>
            </a:fld>
            <a:r>
              <a:rPr lang="en-US">
                <a:latin typeface="Arial" panose="020B0604020202020204" pitchFamily="34" charset="0"/>
                <a:cs typeface="MS PGothic" charset="0"/>
              </a:rPr>
              <a:t>  |  Confidential and Proprietary Information</a:t>
            </a:r>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026546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81944-8AF5-41C8-B93E-1EF1F1167F78}"/>
              </a:ext>
            </a:extLst>
          </p:cNvPr>
          <p:cNvSpPr>
            <a:spLocks noGrp="1"/>
          </p:cNvSpPr>
          <p:nvPr>
            <p:ph type="title"/>
          </p:nvPr>
        </p:nvSpPr>
        <p:spPr/>
        <p:txBody>
          <a:bodyPr/>
          <a:lstStyle/>
          <a:p>
            <a:r>
              <a:rPr lang="en-US" dirty="0"/>
              <a:t>Public Interest</a:t>
            </a:r>
          </a:p>
        </p:txBody>
      </p:sp>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3675473710"/>
              </p:ext>
            </p:extLst>
          </p:nvPr>
        </p:nvGraphicFramePr>
        <p:xfrm>
          <a:off x="652419" y="1200151"/>
          <a:ext cx="7836125" cy="33944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C805B970-1999-4E19-A9E7-F1E99B6B8406}"/>
              </a:ext>
            </a:extLst>
          </p:cNvPr>
          <p:cNvSpPr>
            <a:spLocks noGrp="1"/>
          </p:cNvSpPr>
          <p:nvPr>
            <p:ph type="sldNum" sz="quarter" idx="12"/>
          </p:nvPr>
        </p:nvSpPr>
        <p:spPr/>
        <p:txBody>
          <a:bodyPr/>
          <a:lstStyle/>
          <a:p>
            <a:fld id="{BFBD8A5B-AA7D-49B0-A91A-87A7514A0EF0}" type="slidenum">
              <a:rPr lang="en-US" smtClean="0"/>
              <a:pPr/>
              <a:t>6</a:t>
            </a:fld>
            <a:endParaRPr lang="en-US" dirty="0"/>
          </a:p>
        </p:txBody>
      </p:sp>
    </p:spTree>
    <p:extLst>
      <p:ext uri="{BB962C8B-B14F-4D97-AF65-F5344CB8AC3E}">
        <p14:creationId xmlns:p14="http://schemas.microsoft.com/office/powerpoint/2010/main" val="711969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62886" y="485775"/>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Public Interest</a:t>
            </a:r>
          </a:p>
        </p:txBody>
      </p:sp>
      <p:sp>
        <p:nvSpPr>
          <p:cNvPr id="6" name="Content Placeholder 1"/>
          <p:cNvSpPr txBox="1">
            <a:spLocks/>
          </p:cNvSpPr>
          <p:nvPr/>
        </p:nvSpPr>
        <p:spPr>
          <a:xfrm>
            <a:off x="379819" y="2098117"/>
            <a:ext cx="6118517" cy="947265"/>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r>
              <a:rPr lang="en-US" sz="1800" kern="0" dirty="0">
                <a:solidFill>
                  <a:srgbClr val="808080"/>
                </a:solidFill>
                <a:latin typeface="Arial" panose="020B0604020202020204" pitchFamily="34" charset="0"/>
                <a:cs typeface="Arial" panose="020B0604020202020204" pitchFamily="34" charset="0"/>
              </a:rPr>
              <a:t>A significant majority agreed that ED-4400 has been appropriately clarified and modernized.</a:t>
            </a:r>
          </a:p>
          <a:p>
            <a:endParaRPr lang="en-US" sz="1800" kern="0" dirty="0">
              <a:solidFill>
                <a:srgbClr val="808080"/>
              </a:solidFill>
              <a:latin typeface="Arial" panose="020B0604020202020204" pitchFamily="34" charset="0"/>
              <a:cs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252925345"/>
              </p:ext>
            </p:extLst>
          </p:nvPr>
        </p:nvGraphicFramePr>
        <p:xfrm>
          <a:off x="404037" y="885825"/>
          <a:ext cx="6094299" cy="1012268"/>
        </p:xfrm>
        <a:graphic>
          <a:graphicData uri="http://schemas.openxmlformats.org/drawingml/2006/table">
            <a:tbl>
              <a:tblPr firstRow="1" bandRow="1">
                <a:tableStyleId>{5C22544A-7EE6-4342-B048-85BDC9FD1C3A}</a:tableStyleId>
              </a:tblPr>
              <a:tblGrid>
                <a:gridCol w="6094299">
                  <a:extLst>
                    <a:ext uri="{9D8B030D-6E8A-4147-A177-3AD203B41FA5}">
                      <a16:colId xmlns:a16="http://schemas.microsoft.com/office/drawing/2014/main" val="713251629"/>
                    </a:ext>
                  </a:extLst>
                </a:gridCol>
              </a:tblGrid>
              <a:tr h="1012268">
                <a:tc>
                  <a:txBody>
                    <a:bodyPr/>
                    <a:lstStyle/>
                    <a:p>
                      <a:r>
                        <a:rPr lang="en-US" sz="1800" b="0" i="0" kern="1200" dirty="0">
                          <a:solidFill>
                            <a:schemeClr val="lt1"/>
                          </a:solidFill>
                          <a:effectLst/>
                          <a:latin typeface="Arial" panose="020B0604020202020204" pitchFamily="34" charset="0"/>
                          <a:ea typeface="+mn-ea"/>
                          <a:cs typeface="Arial" panose="020B0604020202020204" pitchFamily="34" charset="0"/>
                        </a:rPr>
                        <a:t>Q1. Has ED-4400 been appropriately clarified and modernized to respond to the needs of stakeholders and address public interest issues?</a:t>
                      </a:r>
                      <a:endParaRPr lang="en-US" sz="1800" b="0" i="0" dirty="0">
                        <a:latin typeface="Arial" panose="020B0604020202020204" pitchFamily="34" charset="0"/>
                        <a:cs typeface="Arial" panose="020B0604020202020204" pitchFamily="34" charset="0"/>
                      </a:endParaRPr>
                    </a:p>
                  </a:txBody>
                  <a:tcPr>
                    <a:solidFill>
                      <a:srgbClr val="005BAA"/>
                    </a:solidFill>
                  </a:tcPr>
                </a:tc>
                <a:extLst>
                  <a:ext uri="{0D108BD9-81ED-4DB2-BD59-A6C34878D82A}">
                    <a16:rowId xmlns:a16="http://schemas.microsoft.com/office/drawing/2014/main" val="493788776"/>
                  </a:ext>
                </a:extLst>
              </a:tr>
            </a:tbl>
          </a:graphicData>
        </a:graphic>
      </p:graphicFrame>
      <p:graphicFrame>
        <p:nvGraphicFramePr>
          <p:cNvPr id="7" name="Chart 6"/>
          <p:cNvGraphicFramePr/>
          <p:nvPr>
            <p:extLst>
              <p:ext uri="{D42A27DB-BD31-4B8C-83A1-F6EECF244321}">
                <p14:modId xmlns:p14="http://schemas.microsoft.com/office/powerpoint/2010/main" val="432297268"/>
              </p:ext>
            </p:extLst>
          </p:nvPr>
        </p:nvGraphicFramePr>
        <p:xfrm>
          <a:off x="6122504" y="885825"/>
          <a:ext cx="2862470" cy="36671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7">
            <a:extLst>
              <a:ext uri="{FF2B5EF4-FFF2-40B4-BE49-F238E27FC236}">
                <a16:creationId xmlns:a16="http://schemas.microsoft.com/office/drawing/2014/main" id="{DCF21A7A-89E6-4D73-9C9E-20947420A5A0}"/>
              </a:ext>
            </a:extLst>
          </p:cNvPr>
          <p:cNvGraphicFramePr>
            <a:graphicFrameLocks noGrp="1"/>
          </p:cNvGraphicFramePr>
          <p:nvPr>
            <p:extLst>
              <p:ext uri="{D42A27DB-BD31-4B8C-83A1-F6EECF244321}">
                <p14:modId xmlns:p14="http://schemas.microsoft.com/office/powerpoint/2010/main" val="633293832"/>
              </p:ext>
            </p:extLst>
          </p:nvPr>
        </p:nvGraphicFramePr>
        <p:xfrm>
          <a:off x="402644" y="3181420"/>
          <a:ext cx="5741504" cy="1235491"/>
        </p:xfrm>
        <a:graphic>
          <a:graphicData uri="http://schemas.openxmlformats.org/drawingml/2006/table">
            <a:tbl>
              <a:tblPr firstRow="1" bandRow="1">
                <a:tableStyleId>{5C22544A-7EE6-4342-B048-85BDC9FD1C3A}</a:tableStyleId>
              </a:tblPr>
              <a:tblGrid>
                <a:gridCol w="5741504">
                  <a:extLst>
                    <a:ext uri="{9D8B030D-6E8A-4147-A177-3AD203B41FA5}">
                      <a16:colId xmlns:a16="http://schemas.microsoft.com/office/drawing/2014/main" val="713251629"/>
                    </a:ext>
                  </a:extLst>
                </a:gridCol>
              </a:tblGrid>
              <a:tr h="1235491">
                <a:tc>
                  <a:txBody>
                    <a:bodyPr/>
                    <a:lstStyle/>
                    <a:p>
                      <a:r>
                        <a:rPr lang="en-CA" sz="2000" b="1" i="0" kern="1200" dirty="0">
                          <a:solidFill>
                            <a:schemeClr val="lt1"/>
                          </a:solidFill>
                          <a:effectLst/>
                          <a:latin typeface="+mn-lt"/>
                          <a:ea typeface="+mn-ea"/>
                          <a:cs typeface="+mn-cs"/>
                        </a:rPr>
                        <a:t>Task Force’s preliminary views</a:t>
                      </a:r>
                    </a:p>
                    <a:p>
                      <a:pPr marL="342900" indent="-342900">
                        <a:buFont typeface="Arial" panose="020B0604020202020204" pitchFamily="34" charset="0"/>
                        <a:buChar char="•"/>
                      </a:pPr>
                      <a:r>
                        <a:rPr lang="en-CA" sz="2000" b="0" i="0" kern="1200" dirty="0">
                          <a:solidFill>
                            <a:schemeClr val="lt1"/>
                          </a:solidFill>
                          <a:effectLst/>
                          <a:latin typeface="+mn-lt"/>
                          <a:ea typeface="+mn-ea"/>
                          <a:cs typeface="+mn-cs"/>
                        </a:rPr>
                        <a:t>Continue to place public interest in the forefront when finalizing </a:t>
                      </a:r>
                      <a:r>
                        <a:rPr lang="en-CA" sz="2000" b="0" i="0" kern="1200" dirty="0" err="1">
                          <a:solidFill>
                            <a:schemeClr val="lt1"/>
                          </a:solidFill>
                          <a:effectLst/>
                          <a:latin typeface="+mn-lt"/>
                          <a:ea typeface="+mn-ea"/>
                          <a:cs typeface="+mn-cs"/>
                        </a:rPr>
                        <a:t>ISRS</a:t>
                      </a:r>
                      <a:r>
                        <a:rPr lang="en-CA" sz="2000" b="0" i="0" kern="1200" dirty="0">
                          <a:solidFill>
                            <a:schemeClr val="lt1"/>
                          </a:solidFill>
                          <a:effectLst/>
                          <a:latin typeface="+mn-lt"/>
                          <a:ea typeface="+mn-ea"/>
                          <a:cs typeface="+mn-cs"/>
                        </a:rPr>
                        <a:t> 4400 (Revised)</a:t>
                      </a:r>
                    </a:p>
                  </a:txBody>
                  <a:tcPr>
                    <a:solidFill>
                      <a:schemeClr val="bg1">
                        <a:lumMod val="50000"/>
                      </a:schemeClr>
                    </a:solidFill>
                  </a:tcPr>
                </a:tc>
                <a:extLst>
                  <a:ext uri="{0D108BD9-81ED-4DB2-BD59-A6C34878D82A}">
                    <a16:rowId xmlns:a16="http://schemas.microsoft.com/office/drawing/2014/main" val="493788776"/>
                  </a:ext>
                </a:extLst>
              </a:tr>
            </a:tbl>
          </a:graphicData>
        </a:graphic>
      </p:graphicFrame>
    </p:spTree>
    <p:extLst>
      <p:ext uri="{BB962C8B-B14F-4D97-AF65-F5344CB8AC3E}">
        <p14:creationId xmlns:p14="http://schemas.microsoft.com/office/powerpoint/2010/main" val="2233427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62886" y="485775"/>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Professional Judgment</a:t>
            </a:r>
          </a:p>
        </p:txBody>
      </p:sp>
      <p:sp>
        <p:nvSpPr>
          <p:cNvPr id="6" name="Content Placeholder 1"/>
          <p:cNvSpPr txBox="1">
            <a:spLocks/>
          </p:cNvSpPr>
          <p:nvPr/>
        </p:nvSpPr>
        <p:spPr>
          <a:xfrm>
            <a:off x="404037" y="2503982"/>
            <a:ext cx="6118517" cy="1753694"/>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r>
              <a:rPr lang="en-US" sz="1800" kern="0" dirty="0">
                <a:solidFill>
                  <a:srgbClr val="808080"/>
                </a:solidFill>
                <a:latin typeface="Arial" panose="020B0604020202020204" pitchFamily="34" charset="0"/>
                <a:cs typeface="Arial" panose="020B0604020202020204" pitchFamily="34" charset="0"/>
              </a:rPr>
              <a:t>Significant support for the proposed requirement and application material on professional judgment (PJ), particularly as they relate to engagement acceptance.</a:t>
            </a:r>
          </a:p>
          <a:p>
            <a:endParaRPr lang="en-US" sz="1800" kern="0" dirty="0">
              <a:solidFill>
                <a:srgbClr val="808080"/>
              </a:solidFill>
              <a:latin typeface="Arial" panose="020B0604020202020204" pitchFamily="34" charset="0"/>
              <a:cs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3469061832"/>
              </p:ext>
            </p:extLst>
          </p:nvPr>
        </p:nvGraphicFramePr>
        <p:xfrm>
          <a:off x="404037" y="885824"/>
          <a:ext cx="6094299" cy="1330601"/>
        </p:xfrm>
        <a:graphic>
          <a:graphicData uri="http://schemas.openxmlformats.org/drawingml/2006/table">
            <a:tbl>
              <a:tblPr firstRow="1" bandRow="1">
                <a:tableStyleId>{5C22544A-7EE6-4342-B048-85BDC9FD1C3A}</a:tableStyleId>
              </a:tblPr>
              <a:tblGrid>
                <a:gridCol w="6094299">
                  <a:extLst>
                    <a:ext uri="{9D8B030D-6E8A-4147-A177-3AD203B41FA5}">
                      <a16:colId xmlns:a16="http://schemas.microsoft.com/office/drawing/2014/main" val="713251629"/>
                    </a:ext>
                  </a:extLst>
                </a:gridCol>
              </a:tblGrid>
              <a:tr h="1330601">
                <a:tc>
                  <a:txBody>
                    <a:bodyPr/>
                    <a:lstStyle/>
                    <a:p>
                      <a:r>
                        <a:rPr lang="en-US" sz="1800" b="0" i="0" kern="1200" dirty="0">
                          <a:solidFill>
                            <a:schemeClr val="lt1"/>
                          </a:solidFill>
                          <a:effectLst/>
                          <a:latin typeface="Arial" panose="020B0604020202020204" pitchFamily="34" charset="0"/>
                          <a:ea typeface="+mn-ea"/>
                          <a:cs typeface="Arial" panose="020B0604020202020204" pitchFamily="34" charset="0"/>
                        </a:rPr>
                        <a:t>Q2. Do the definition, requirement and application material on professional judgment in paragraphs 13(j), 18 and A14-A16 of ED-4400 appropriately reflect the role professional judgment plays in an AUP engagement?</a:t>
                      </a:r>
                      <a:endParaRPr lang="en-US" sz="1800" b="0" i="0" dirty="0">
                        <a:latin typeface="Arial" panose="020B0604020202020204" pitchFamily="34" charset="0"/>
                        <a:cs typeface="Arial" panose="020B0604020202020204" pitchFamily="34" charset="0"/>
                      </a:endParaRPr>
                    </a:p>
                  </a:txBody>
                  <a:tcPr>
                    <a:solidFill>
                      <a:srgbClr val="005BAA"/>
                    </a:solidFill>
                  </a:tcPr>
                </a:tc>
                <a:extLst>
                  <a:ext uri="{0D108BD9-81ED-4DB2-BD59-A6C34878D82A}">
                    <a16:rowId xmlns:a16="http://schemas.microsoft.com/office/drawing/2014/main" val="493788776"/>
                  </a:ext>
                </a:extLst>
              </a:tr>
            </a:tbl>
          </a:graphicData>
        </a:graphic>
      </p:graphicFrame>
      <p:graphicFrame>
        <p:nvGraphicFramePr>
          <p:cNvPr id="7" name="Chart 6"/>
          <p:cNvGraphicFramePr/>
          <p:nvPr>
            <p:extLst>
              <p:ext uri="{D42A27DB-BD31-4B8C-83A1-F6EECF244321}">
                <p14:modId xmlns:p14="http://schemas.microsoft.com/office/powerpoint/2010/main" val="1812417490"/>
              </p:ext>
            </p:extLst>
          </p:nvPr>
        </p:nvGraphicFramePr>
        <p:xfrm>
          <a:off x="6122504" y="885825"/>
          <a:ext cx="2862470" cy="36671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45353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81000" y="412314"/>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Professional Judgment (cont’d)</a:t>
            </a:r>
          </a:p>
        </p:txBody>
      </p:sp>
      <p:sp>
        <p:nvSpPr>
          <p:cNvPr id="6" name="Content Placeholder 1"/>
          <p:cNvSpPr txBox="1">
            <a:spLocks/>
          </p:cNvSpPr>
          <p:nvPr/>
        </p:nvSpPr>
        <p:spPr>
          <a:xfrm>
            <a:off x="381000" y="971550"/>
            <a:ext cx="8268292" cy="3632818"/>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r>
              <a:rPr lang="en-CA" sz="1800" dirty="0">
                <a:solidFill>
                  <a:srgbClr val="808080"/>
                </a:solidFill>
                <a:latin typeface="Arial" panose="020B0604020202020204" pitchFamily="34" charset="0"/>
                <a:cs typeface="Arial" panose="020B0604020202020204" pitchFamily="34" charset="0"/>
              </a:rPr>
              <a:t>However, many respondents indicated PJ cannot be exercised when performing the procedures</a:t>
            </a:r>
          </a:p>
          <a:p>
            <a:endParaRPr lang="en-CA" sz="1800" dirty="0">
              <a:solidFill>
                <a:srgbClr val="808080"/>
              </a:solidFill>
              <a:latin typeface="Arial" panose="020B0604020202020204" pitchFamily="34" charset="0"/>
              <a:cs typeface="Arial" panose="020B0604020202020204" pitchFamily="34" charset="0"/>
            </a:endParaRPr>
          </a:p>
          <a:p>
            <a:endParaRPr lang="en-CA" sz="1800" dirty="0">
              <a:solidFill>
                <a:srgbClr val="808080"/>
              </a:solidFill>
              <a:latin typeface="Arial" panose="020B0604020202020204" pitchFamily="34" charset="0"/>
              <a:cs typeface="Arial" panose="020B0604020202020204" pitchFamily="34" charset="0"/>
            </a:endParaRPr>
          </a:p>
          <a:p>
            <a:endParaRPr lang="en-CA" sz="1800" dirty="0">
              <a:solidFill>
                <a:srgbClr val="808080"/>
              </a:solidFill>
              <a:latin typeface="Arial" panose="020B0604020202020204" pitchFamily="34" charset="0"/>
              <a:cs typeface="Arial" panose="020B0604020202020204" pitchFamily="34" charset="0"/>
            </a:endParaRPr>
          </a:p>
          <a:p>
            <a:endParaRPr lang="en-CA" sz="1800" dirty="0">
              <a:solidFill>
                <a:srgbClr val="808080"/>
              </a:solidFill>
              <a:latin typeface="Arial" panose="020B0604020202020204" pitchFamily="34" charset="0"/>
              <a:cs typeface="Arial" panose="020B0604020202020204" pitchFamily="34" charset="0"/>
            </a:endParaRPr>
          </a:p>
          <a:p>
            <a:pPr lvl="0"/>
            <a:r>
              <a:rPr lang="en-CA" sz="2000" dirty="0">
                <a:solidFill>
                  <a:srgbClr val="808080"/>
                </a:solidFill>
                <a:latin typeface="Arial" panose="020B0604020202020204" pitchFamily="34" charset="0"/>
                <a:cs typeface="Arial" panose="020B0604020202020204" pitchFamily="34" charset="0"/>
              </a:rPr>
              <a:t>Other comments included:</a:t>
            </a:r>
          </a:p>
          <a:p>
            <a:pPr lvl="1"/>
            <a:r>
              <a:rPr lang="en-CA" sz="1600" dirty="0">
                <a:solidFill>
                  <a:srgbClr val="808080"/>
                </a:solidFill>
                <a:latin typeface="Arial" panose="020B0604020202020204" pitchFamily="34" charset="0"/>
                <a:cs typeface="Arial" panose="020B0604020202020204" pitchFamily="34" charset="0"/>
              </a:rPr>
              <a:t>Further examples of when professional judgment may be exercised</a:t>
            </a:r>
          </a:p>
          <a:p>
            <a:pPr lvl="1"/>
            <a:r>
              <a:rPr lang="en-CA" sz="1600" dirty="0">
                <a:solidFill>
                  <a:srgbClr val="808080"/>
                </a:solidFill>
                <a:latin typeface="Arial" panose="020B0604020202020204" pitchFamily="34" charset="0"/>
                <a:cs typeface="Arial" panose="020B0604020202020204" pitchFamily="34" charset="0"/>
              </a:rPr>
              <a:t>Definition of professional judgment </a:t>
            </a:r>
            <a:endParaRPr lang="en-US" sz="1600" dirty="0">
              <a:solidFill>
                <a:srgbClr val="808080"/>
              </a:solidFill>
              <a:latin typeface="Arial" panose="020B0604020202020204" pitchFamily="34" charset="0"/>
              <a:cs typeface="Arial" panose="020B0604020202020204" pitchFamily="34" charset="0"/>
            </a:endParaRPr>
          </a:p>
          <a:p>
            <a:pPr marL="0" indent="0">
              <a:buNone/>
            </a:pPr>
            <a:endParaRPr lang="en-CA" sz="1800" dirty="0">
              <a:solidFill>
                <a:srgbClr val="808080"/>
              </a:solidFill>
              <a:latin typeface="Arial" panose="020B0604020202020204" pitchFamily="34" charset="0"/>
              <a:cs typeface="Arial" panose="020B0604020202020204" pitchFamily="34" charset="0"/>
            </a:endParaRPr>
          </a:p>
          <a:p>
            <a:pPr marL="0" indent="0">
              <a:buNone/>
            </a:pPr>
            <a:endParaRPr lang="en-CA" sz="1800" dirty="0">
              <a:solidFill>
                <a:srgbClr val="808080"/>
              </a:solidFill>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4006A15E-7242-47D1-A6C8-83171D8E7065}"/>
              </a:ext>
            </a:extLst>
          </p:cNvPr>
          <p:cNvGraphicFramePr>
            <a:graphicFrameLocks noGrp="1"/>
          </p:cNvGraphicFramePr>
          <p:nvPr>
            <p:extLst>
              <p:ext uri="{D42A27DB-BD31-4B8C-83A1-F6EECF244321}">
                <p14:modId xmlns:p14="http://schemas.microsoft.com/office/powerpoint/2010/main" val="585152379"/>
              </p:ext>
            </p:extLst>
          </p:nvPr>
        </p:nvGraphicFramePr>
        <p:xfrm>
          <a:off x="744467" y="1579122"/>
          <a:ext cx="7904825" cy="1402629"/>
        </p:xfrm>
        <a:graphic>
          <a:graphicData uri="http://schemas.openxmlformats.org/drawingml/2006/table">
            <a:tbl>
              <a:tblPr firstRow="1" firstCol="1" bandRow="1">
                <a:tableStyleId>{5C22544A-7EE6-4342-B048-85BDC9FD1C3A}</a:tableStyleId>
              </a:tblPr>
              <a:tblGrid>
                <a:gridCol w="2536193">
                  <a:extLst>
                    <a:ext uri="{9D8B030D-6E8A-4147-A177-3AD203B41FA5}">
                      <a16:colId xmlns:a16="http://schemas.microsoft.com/office/drawing/2014/main" val="1570850198"/>
                    </a:ext>
                  </a:extLst>
                </a:gridCol>
                <a:gridCol w="2917839">
                  <a:extLst>
                    <a:ext uri="{9D8B030D-6E8A-4147-A177-3AD203B41FA5}">
                      <a16:colId xmlns:a16="http://schemas.microsoft.com/office/drawing/2014/main" val="1185436542"/>
                    </a:ext>
                  </a:extLst>
                </a:gridCol>
                <a:gridCol w="2450793">
                  <a:extLst>
                    <a:ext uri="{9D8B030D-6E8A-4147-A177-3AD203B41FA5}">
                      <a16:colId xmlns:a16="http://schemas.microsoft.com/office/drawing/2014/main" val="1041379076"/>
                    </a:ext>
                  </a:extLst>
                </a:gridCol>
              </a:tblGrid>
              <a:tr h="910939">
                <a:tc>
                  <a:txBody>
                    <a:bodyPr/>
                    <a:lstStyle/>
                    <a:p>
                      <a:pPr marL="0" marR="0" algn="just">
                        <a:lnSpc>
                          <a:spcPct val="100000"/>
                        </a:lnSpc>
                        <a:spcBef>
                          <a:spcPts val="600"/>
                        </a:spcBef>
                        <a:spcAft>
                          <a:spcPts val="0"/>
                        </a:spcAft>
                      </a:pPr>
                      <a:r>
                        <a:rPr lang="en-US" sz="1600" dirty="0">
                          <a:effectLst/>
                          <a:latin typeface="Arial" panose="020B0604020202020204" pitchFamily="34" charset="0"/>
                          <a:cs typeface="Arial" panose="020B0604020202020204" pitchFamily="34" charset="0"/>
                        </a:rPr>
                        <a:t>Limited or no PJ when performing a procedure</a:t>
                      </a:r>
                      <a:endParaRPr lang="en-US" sz="16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tx2"/>
                    </a:solidFill>
                  </a:tcPr>
                </a:tc>
                <a:tc>
                  <a:txBody>
                    <a:bodyPr/>
                    <a:lstStyle/>
                    <a:p>
                      <a:pPr marL="0" marR="0" algn="just">
                        <a:lnSpc>
                          <a:spcPct val="100000"/>
                        </a:lnSpc>
                        <a:spcBef>
                          <a:spcPts val="600"/>
                        </a:spcBef>
                        <a:spcAft>
                          <a:spcPts val="0"/>
                        </a:spcAft>
                      </a:pPr>
                      <a:r>
                        <a:rPr lang="en-US" sz="1600" dirty="0">
                          <a:effectLst/>
                          <a:latin typeface="Arial" panose="020B0604020202020204" pitchFamily="34" charset="0"/>
                          <a:cs typeface="Arial" panose="020B0604020202020204" pitchFamily="34" charset="0"/>
                        </a:rPr>
                        <a:t>Explicitly agreed or did not express disagreement with proposals in ED-4400</a:t>
                      </a:r>
                      <a:endParaRPr lang="en-US" sz="16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tx2"/>
                    </a:solidFill>
                  </a:tcPr>
                </a:tc>
                <a:tc>
                  <a:txBody>
                    <a:bodyPr/>
                    <a:lstStyle/>
                    <a:p>
                      <a:pPr marL="0" marR="0" algn="just">
                        <a:lnSpc>
                          <a:spcPct val="100000"/>
                        </a:lnSpc>
                        <a:spcBef>
                          <a:spcPts val="600"/>
                        </a:spcBef>
                        <a:spcAft>
                          <a:spcPts val="0"/>
                        </a:spcAft>
                      </a:pPr>
                      <a:r>
                        <a:rPr lang="en-US" sz="1600" dirty="0">
                          <a:effectLst/>
                          <a:latin typeface="Arial" panose="020B0604020202020204" pitchFamily="34" charset="0"/>
                          <a:cs typeface="Arial" panose="020B0604020202020204" pitchFamily="34" charset="0"/>
                        </a:rPr>
                        <a:t>Unclear position re. PJ when performing a procedure</a:t>
                      </a:r>
                      <a:endParaRPr lang="en-US" sz="16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tx2"/>
                    </a:solidFill>
                  </a:tcPr>
                </a:tc>
                <a:extLst>
                  <a:ext uri="{0D108BD9-81ED-4DB2-BD59-A6C34878D82A}">
                    <a16:rowId xmlns:a16="http://schemas.microsoft.com/office/drawing/2014/main" val="4150614669"/>
                  </a:ext>
                </a:extLst>
              </a:tr>
              <a:tr h="491690">
                <a:tc>
                  <a:txBody>
                    <a:bodyPr/>
                    <a:lstStyle/>
                    <a:p>
                      <a:pPr marL="0" marR="0" algn="just">
                        <a:lnSpc>
                          <a:spcPct val="100000"/>
                        </a:lnSpc>
                        <a:spcBef>
                          <a:spcPts val="600"/>
                        </a:spcBef>
                        <a:spcAft>
                          <a:spcPts val="0"/>
                        </a:spcAft>
                      </a:pPr>
                      <a:r>
                        <a:rPr lang="en-US" sz="1600" b="0" dirty="0">
                          <a:solidFill>
                            <a:schemeClr val="tx1"/>
                          </a:solidFill>
                          <a:effectLst/>
                          <a:latin typeface="Arial" panose="020B0604020202020204" pitchFamily="34" charset="0"/>
                          <a:cs typeface="Arial" panose="020B0604020202020204" pitchFamily="34" charset="0"/>
                        </a:rPr>
                        <a:t>19 respondents / ~37%</a:t>
                      </a:r>
                      <a:endParaRPr lang="en-US" sz="1600" b="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bg2">
                        <a:lumMod val="20000"/>
                        <a:lumOff val="80000"/>
                      </a:schemeClr>
                    </a:solidFill>
                  </a:tcPr>
                </a:tc>
                <a:tc>
                  <a:txBody>
                    <a:bodyPr/>
                    <a:lstStyle/>
                    <a:p>
                      <a:pPr marL="0" marR="0" algn="just">
                        <a:lnSpc>
                          <a:spcPct val="100000"/>
                        </a:lnSpc>
                        <a:spcBef>
                          <a:spcPts val="600"/>
                        </a:spcBef>
                        <a:spcAft>
                          <a:spcPts val="0"/>
                        </a:spcAft>
                      </a:pPr>
                      <a:r>
                        <a:rPr lang="en-US" sz="1600" b="0" dirty="0">
                          <a:solidFill>
                            <a:schemeClr val="tx1"/>
                          </a:solidFill>
                          <a:effectLst/>
                          <a:latin typeface="Arial" panose="020B0604020202020204" pitchFamily="34" charset="0"/>
                          <a:cs typeface="Arial" panose="020B0604020202020204" pitchFamily="34" charset="0"/>
                        </a:rPr>
                        <a:t>25 respondents / ~49%</a:t>
                      </a:r>
                      <a:endParaRPr lang="en-US" sz="1600" b="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bg2">
                        <a:lumMod val="20000"/>
                        <a:lumOff val="80000"/>
                      </a:schemeClr>
                    </a:solidFill>
                  </a:tcPr>
                </a:tc>
                <a:tc>
                  <a:txBody>
                    <a:bodyPr/>
                    <a:lstStyle/>
                    <a:p>
                      <a:pPr marL="0" marR="0" algn="just">
                        <a:lnSpc>
                          <a:spcPct val="100000"/>
                        </a:lnSpc>
                        <a:spcBef>
                          <a:spcPts val="600"/>
                        </a:spcBef>
                        <a:spcAft>
                          <a:spcPts val="0"/>
                        </a:spcAft>
                      </a:pPr>
                      <a:r>
                        <a:rPr lang="en-US" sz="1600" b="0" dirty="0">
                          <a:solidFill>
                            <a:schemeClr val="tx1"/>
                          </a:solidFill>
                          <a:effectLst/>
                          <a:latin typeface="Arial" panose="020B0604020202020204" pitchFamily="34" charset="0"/>
                          <a:cs typeface="Arial" panose="020B0604020202020204" pitchFamily="34" charset="0"/>
                        </a:rPr>
                        <a:t>7 respondents / ~14%</a:t>
                      </a:r>
                      <a:endParaRPr lang="en-US" sz="1600" b="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753635112"/>
                  </a:ext>
                </a:extLst>
              </a:tr>
            </a:tbl>
          </a:graphicData>
        </a:graphic>
      </p:graphicFrame>
    </p:spTree>
    <p:extLst>
      <p:ext uri="{BB962C8B-B14F-4D97-AF65-F5344CB8AC3E}">
        <p14:creationId xmlns:p14="http://schemas.microsoft.com/office/powerpoint/2010/main" val="731688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81000" y="405226"/>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Professional Judgment (cont’d)</a:t>
            </a:r>
          </a:p>
        </p:txBody>
      </p:sp>
      <p:sp>
        <p:nvSpPr>
          <p:cNvPr id="6" name="Content Placeholder 1"/>
          <p:cNvSpPr txBox="1">
            <a:spLocks/>
          </p:cNvSpPr>
          <p:nvPr/>
        </p:nvSpPr>
        <p:spPr>
          <a:xfrm>
            <a:off x="378638" y="915230"/>
            <a:ext cx="8497006" cy="1311136"/>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lvl="0" indent="0">
              <a:buNone/>
            </a:pPr>
            <a:r>
              <a:rPr lang="en-US" sz="2000" dirty="0">
                <a:solidFill>
                  <a:srgbClr val="808080"/>
                </a:solidFill>
                <a:latin typeface="Arial" panose="020B0604020202020204" pitchFamily="34" charset="0"/>
                <a:cs typeface="Arial" panose="020B0604020202020204" pitchFamily="34" charset="0"/>
              </a:rPr>
              <a:t>Q1. The IAASB is asked for its views on the application of professional judgment in an AUP engagement</a:t>
            </a:r>
            <a:endParaRPr lang="en-US" sz="1600" dirty="0">
              <a:solidFill>
                <a:srgbClr val="808080"/>
              </a:solidFill>
              <a:latin typeface="Arial" panose="020B0604020202020204" pitchFamily="34" charset="0"/>
              <a:cs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16686337"/>
              </p:ext>
            </p:extLst>
          </p:nvPr>
        </p:nvGraphicFramePr>
        <p:xfrm>
          <a:off x="378638" y="2008147"/>
          <a:ext cx="8384362" cy="2621238"/>
        </p:xfrm>
        <a:graphic>
          <a:graphicData uri="http://schemas.openxmlformats.org/drawingml/2006/table">
            <a:tbl>
              <a:tblPr firstRow="1" bandRow="1">
                <a:tableStyleId>{5C22544A-7EE6-4342-B048-85BDC9FD1C3A}</a:tableStyleId>
              </a:tblPr>
              <a:tblGrid>
                <a:gridCol w="8384362">
                  <a:extLst>
                    <a:ext uri="{9D8B030D-6E8A-4147-A177-3AD203B41FA5}">
                      <a16:colId xmlns:a16="http://schemas.microsoft.com/office/drawing/2014/main" val="713251629"/>
                    </a:ext>
                  </a:extLst>
                </a:gridCol>
              </a:tblGrid>
              <a:tr h="2621238">
                <a:tc>
                  <a:txBody>
                    <a:bodyPr/>
                    <a:lstStyle/>
                    <a:p>
                      <a:r>
                        <a:rPr lang="en-CA" sz="2000" b="1" i="0" kern="1200" dirty="0">
                          <a:solidFill>
                            <a:schemeClr val="lt1"/>
                          </a:solidFill>
                          <a:effectLst/>
                          <a:latin typeface="+mn-lt"/>
                          <a:ea typeface="+mn-ea"/>
                          <a:cs typeface="+mn-cs"/>
                        </a:rPr>
                        <a:t>Task Force’s preliminary views</a:t>
                      </a:r>
                    </a:p>
                    <a:p>
                      <a:pPr marL="342900" indent="-342900">
                        <a:buFont typeface="Arial" panose="020B0604020202020204" pitchFamily="34" charset="0"/>
                        <a:buChar char="•"/>
                      </a:pPr>
                      <a:r>
                        <a:rPr lang="en-CA" sz="2000" b="0" i="0" kern="1200" dirty="0">
                          <a:solidFill>
                            <a:schemeClr val="lt1"/>
                          </a:solidFill>
                          <a:effectLst/>
                          <a:latin typeface="+mn-lt"/>
                          <a:ea typeface="+mn-ea"/>
                          <a:cs typeface="+mn-cs"/>
                        </a:rPr>
                        <a:t>Take a closer look at where, and how, professional judgment is applied when performing procedures</a:t>
                      </a:r>
                    </a:p>
                    <a:p>
                      <a:pPr marL="342900" indent="-342900">
                        <a:buFont typeface="Arial" panose="020B0604020202020204" pitchFamily="34" charset="0"/>
                        <a:buChar char="•"/>
                      </a:pPr>
                      <a:r>
                        <a:rPr lang="en-CA" sz="2000" b="0" i="0" kern="1200" dirty="0">
                          <a:solidFill>
                            <a:schemeClr val="lt1"/>
                          </a:solidFill>
                          <a:effectLst/>
                          <a:latin typeface="+mn-lt"/>
                          <a:ea typeface="+mn-ea"/>
                          <a:cs typeface="+mn-cs"/>
                        </a:rPr>
                        <a:t>Further clarify the role of professional judgment by:</a:t>
                      </a:r>
                    </a:p>
                    <a:p>
                      <a:pPr marL="685800" lvl="1" indent="-342900">
                        <a:buFont typeface="Calibri" panose="020F0502020204030204" pitchFamily="34" charset="0"/>
                        <a:buChar char="̶"/>
                      </a:pPr>
                      <a:r>
                        <a:rPr lang="en-CA" sz="1600" b="0" i="0" kern="1200" dirty="0">
                          <a:solidFill>
                            <a:schemeClr val="lt1"/>
                          </a:solidFill>
                          <a:effectLst/>
                          <a:latin typeface="+mn-lt"/>
                          <a:ea typeface="+mn-ea"/>
                          <a:cs typeface="+mn-cs"/>
                        </a:rPr>
                        <a:t>Adding introductory paragraphs to explain the differences between an AUP engagement and an assurance engagement (including how professional judgment is applied differently)</a:t>
                      </a:r>
                    </a:p>
                    <a:p>
                      <a:pPr marL="685800" lvl="1" indent="-342900">
                        <a:buFont typeface="Calibri" panose="020F0502020204030204" pitchFamily="34" charset="0"/>
                        <a:buChar char="̶"/>
                      </a:pPr>
                      <a:r>
                        <a:rPr lang="en-CA" sz="1600" b="0" i="0" kern="1200" dirty="0">
                          <a:solidFill>
                            <a:schemeClr val="lt1"/>
                          </a:solidFill>
                          <a:effectLst/>
                          <a:latin typeface="+mn-lt"/>
                          <a:ea typeface="+mn-ea"/>
                          <a:cs typeface="+mn-cs"/>
                        </a:rPr>
                        <a:t>Clarifying whether, and if so, how, professional judgment is applied at each stage of an AUP engagement</a:t>
                      </a:r>
                      <a:endParaRPr lang="en-US" sz="1600" b="0" i="0" kern="1200" dirty="0">
                        <a:solidFill>
                          <a:schemeClr val="lt1"/>
                        </a:solidFill>
                        <a:effectLst/>
                        <a:latin typeface="+mn-lt"/>
                        <a:ea typeface="+mn-ea"/>
                        <a:cs typeface="+mn-cs"/>
                      </a:endParaRPr>
                    </a:p>
                  </a:txBody>
                  <a:tcPr>
                    <a:solidFill>
                      <a:schemeClr val="tx1">
                        <a:lumMod val="50000"/>
                        <a:lumOff val="50000"/>
                      </a:schemeClr>
                    </a:solidFill>
                  </a:tcPr>
                </a:tc>
                <a:extLst>
                  <a:ext uri="{0D108BD9-81ED-4DB2-BD59-A6C34878D82A}">
                    <a16:rowId xmlns:a16="http://schemas.microsoft.com/office/drawing/2014/main" val="493788776"/>
                  </a:ext>
                </a:extLst>
              </a:tr>
            </a:tbl>
          </a:graphicData>
        </a:graphic>
      </p:graphicFrame>
    </p:spTree>
    <p:extLst>
      <p:ext uri="{BB962C8B-B14F-4D97-AF65-F5344CB8AC3E}">
        <p14:creationId xmlns:p14="http://schemas.microsoft.com/office/powerpoint/2010/main" val="2673473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62886" y="485775"/>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Independence – Precondition for, and Determination of, Independence</a:t>
            </a:r>
          </a:p>
        </p:txBody>
      </p:sp>
      <p:sp>
        <p:nvSpPr>
          <p:cNvPr id="6" name="Content Placeholder 1"/>
          <p:cNvSpPr txBox="1">
            <a:spLocks/>
          </p:cNvSpPr>
          <p:nvPr/>
        </p:nvSpPr>
        <p:spPr>
          <a:xfrm>
            <a:off x="352119" y="2787704"/>
            <a:ext cx="6145785" cy="1485901"/>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r>
              <a:rPr lang="en-US" sz="1700" kern="0" dirty="0">
                <a:solidFill>
                  <a:srgbClr val="808080"/>
                </a:solidFill>
                <a:latin typeface="Arial" panose="020B0604020202020204" pitchFamily="34" charset="0"/>
                <a:cs typeface="Arial" panose="020B0604020202020204" pitchFamily="34" charset="0"/>
              </a:rPr>
              <a:t>Significant support for not including a precondition for the practitioner to be independent</a:t>
            </a:r>
          </a:p>
          <a:p>
            <a:r>
              <a:rPr lang="en-CA" sz="1700" dirty="0">
                <a:solidFill>
                  <a:srgbClr val="808080"/>
                </a:solidFill>
                <a:latin typeface="Arial" panose="020B0604020202020204" pitchFamily="34" charset="0"/>
                <a:cs typeface="Arial" panose="020B0604020202020204" pitchFamily="34" charset="0"/>
              </a:rPr>
              <a:t>Some suggested that the practitioner should be required to </a:t>
            </a:r>
            <a:r>
              <a:rPr lang="en-CA" sz="1700" b="1" dirty="0">
                <a:solidFill>
                  <a:srgbClr val="808080"/>
                </a:solidFill>
                <a:latin typeface="Arial" panose="020B0604020202020204" pitchFamily="34" charset="0"/>
                <a:cs typeface="Arial" panose="020B0604020202020204" pitchFamily="34" charset="0"/>
              </a:rPr>
              <a:t>determine independence </a:t>
            </a:r>
            <a:r>
              <a:rPr lang="en-CA" sz="1700" dirty="0">
                <a:solidFill>
                  <a:srgbClr val="808080"/>
                </a:solidFill>
                <a:latin typeface="Arial" panose="020B0604020202020204" pitchFamily="34" charset="0"/>
                <a:cs typeface="Arial" panose="020B0604020202020204" pitchFamily="34" charset="0"/>
              </a:rPr>
              <a:t>(regardless of whether the practitioner is required to be independent)</a:t>
            </a:r>
            <a:endParaRPr lang="en-US" sz="1700" kern="0" dirty="0">
              <a:solidFill>
                <a:srgbClr val="808080"/>
              </a:solidFill>
              <a:latin typeface="Arial" panose="020B0604020202020204" pitchFamily="34" charset="0"/>
              <a:cs typeface="Arial" panose="020B0604020202020204" pitchFamily="34" charset="0"/>
            </a:endParaRPr>
          </a:p>
          <a:p>
            <a:endParaRPr lang="en-US" sz="1800" kern="0" dirty="0">
              <a:solidFill>
                <a:srgbClr val="808080"/>
              </a:solidFill>
              <a:latin typeface="Arial" panose="020B0604020202020204" pitchFamily="34" charset="0"/>
              <a:cs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978608619"/>
              </p:ext>
            </p:extLst>
          </p:nvPr>
        </p:nvGraphicFramePr>
        <p:xfrm>
          <a:off x="404037" y="885824"/>
          <a:ext cx="6247616" cy="1905000"/>
        </p:xfrm>
        <a:graphic>
          <a:graphicData uri="http://schemas.openxmlformats.org/drawingml/2006/table">
            <a:tbl>
              <a:tblPr firstRow="1" bandRow="1">
                <a:tableStyleId>{5C22544A-7EE6-4342-B048-85BDC9FD1C3A}</a:tableStyleId>
              </a:tblPr>
              <a:tblGrid>
                <a:gridCol w="6247616">
                  <a:extLst>
                    <a:ext uri="{9D8B030D-6E8A-4147-A177-3AD203B41FA5}">
                      <a16:colId xmlns:a16="http://schemas.microsoft.com/office/drawing/2014/main" val="713251629"/>
                    </a:ext>
                  </a:extLst>
                </a:gridCol>
              </a:tblGrid>
              <a:tr h="1857376">
                <a:tc>
                  <a:txBody>
                    <a:bodyPr/>
                    <a:lstStyle/>
                    <a:p>
                      <a:r>
                        <a:rPr lang="en-US" sz="1700" b="0" i="0" kern="1200" dirty="0">
                          <a:solidFill>
                            <a:schemeClr val="lt1"/>
                          </a:solidFill>
                          <a:effectLst/>
                          <a:latin typeface="Arial" panose="020B0604020202020204" pitchFamily="34" charset="0"/>
                          <a:ea typeface="+mn-ea"/>
                          <a:cs typeface="Arial" panose="020B0604020202020204" pitchFamily="34" charset="0"/>
                        </a:rPr>
                        <a:t>Q3. Do you agree with not including a precondition for the practitioner to be independent when performing an AUP engagement (even though the practitioner is required to be objective)? If not, under what circumstances do you believe a precondition for the practitioner to be independent would be appropriate, and for which the IAASB would discuss the relevant independence considerations with the </a:t>
                      </a:r>
                      <a:r>
                        <a:rPr lang="en-US" sz="1700" b="0" i="0" kern="1200" dirty="0" err="1">
                          <a:solidFill>
                            <a:schemeClr val="lt1"/>
                          </a:solidFill>
                          <a:effectLst/>
                          <a:latin typeface="Arial" panose="020B0604020202020204" pitchFamily="34" charset="0"/>
                          <a:ea typeface="+mn-ea"/>
                          <a:cs typeface="Arial" panose="020B0604020202020204" pitchFamily="34" charset="0"/>
                        </a:rPr>
                        <a:t>IESBA</a:t>
                      </a:r>
                      <a:r>
                        <a:rPr lang="en-US" sz="1700" b="0" i="0" kern="1200" dirty="0">
                          <a:solidFill>
                            <a:schemeClr val="lt1"/>
                          </a:solidFill>
                          <a:effectLst/>
                          <a:latin typeface="Arial" panose="020B0604020202020204" pitchFamily="34" charset="0"/>
                          <a:ea typeface="+mn-ea"/>
                          <a:cs typeface="Arial" panose="020B0604020202020204" pitchFamily="34" charset="0"/>
                        </a:rPr>
                        <a:t>?</a:t>
                      </a:r>
                      <a:endParaRPr lang="en-US" sz="1700" b="0" i="0" dirty="0">
                        <a:latin typeface="Arial" panose="020B0604020202020204" pitchFamily="34" charset="0"/>
                        <a:cs typeface="Arial" panose="020B0604020202020204" pitchFamily="34" charset="0"/>
                      </a:endParaRPr>
                    </a:p>
                  </a:txBody>
                  <a:tcPr>
                    <a:solidFill>
                      <a:srgbClr val="005BAA"/>
                    </a:solidFill>
                  </a:tcPr>
                </a:tc>
                <a:extLst>
                  <a:ext uri="{0D108BD9-81ED-4DB2-BD59-A6C34878D82A}">
                    <a16:rowId xmlns:a16="http://schemas.microsoft.com/office/drawing/2014/main" val="493788776"/>
                  </a:ext>
                </a:extLst>
              </a:tr>
            </a:tbl>
          </a:graphicData>
        </a:graphic>
      </p:graphicFrame>
      <p:graphicFrame>
        <p:nvGraphicFramePr>
          <p:cNvPr id="7" name="Chart 6"/>
          <p:cNvGraphicFramePr/>
          <p:nvPr>
            <p:extLst>
              <p:ext uri="{D42A27DB-BD31-4B8C-83A1-F6EECF244321}">
                <p14:modId xmlns:p14="http://schemas.microsoft.com/office/powerpoint/2010/main" val="1576171238"/>
              </p:ext>
            </p:extLst>
          </p:nvPr>
        </p:nvGraphicFramePr>
        <p:xfrm>
          <a:off x="6122504" y="885825"/>
          <a:ext cx="2862470" cy="36671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69229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81000" y="405226"/>
            <a:ext cx="83820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Independence – Precondition for, and Determination of, Independence (cont’d)</a:t>
            </a:r>
          </a:p>
        </p:txBody>
      </p:sp>
      <p:sp>
        <p:nvSpPr>
          <p:cNvPr id="6" name="Content Placeholder 1"/>
          <p:cNvSpPr txBox="1">
            <a:spLocks/>
          </p:cNvSpPr>
          <p:nvPr/>
        </p:nvSpPr>
        <p:spPr>
          <a:xfrm>
            <a:off x="378638" y="1060886"/>
            <a:ext cx="8497006" cy="1165479"/>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lvl="0" indent="0">
              <a:buNone/>
            </a:pPr>
            <a:r>
              <a:rPr lang="en-US" sz="2000" dirty="0">
                <a:solidFill>
                  <a:srgbClr val="808080"/>
                </a:solidFill>
                <a:latin typeface="Arial" panose="020B0604020202020204" pitchFamily="34" charset="0"/>
                <a:cs typeface="Arial" panose="020B0604020202020204" pitchFamily="34" charset="0"/>
              </a:rPr>
              <a:t>Q2. The IAASB is asked for its views on the precondition for, and determination of, independence</a:t>
            </a:r>
            <a:endParaRPr lang="en-CA" sz="2000" dirty="0">
              <a:solidFill>
                <a:srgbClr val="808080"/>
              </a:solidFill>
              <a:latin typeface="Arial" panose="020B0604020202020204" pitchFamily="34" charset="0"/>
              <a:cs typeface="Arial" panose="020B0604020202020204" pitchFamily="34" charset="0"/>
            </a:endParaRPr>
          </a:p>
          <a:p>
            <a:pPr lvl="0"/>
            <a:endParaRPr lang="en-US" sz="1600" dirty="0">
              <a:solidFill>
                <a:srgbClr val="808080"/>
              </a:solidFill>
              <a:latin typeface="Arial" panose="020B0604020202020204" pitchFamily="34" charset="0"/>
              <a:cs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807433703"/>
              </p:ext>
            </p:extLst>
          </p:nvPr>
        </p:nvGraphicFramePr>
        <p:xfrm>
          <a:off x="378638" y="2261567"/>
          <a:ext cx="8384362" cy="1311136"/>
        </p:xfrm>
        <a:graphic>
          <a:graphicData uri="http://schemas.openxmlformats.org/drawingml/2006/table">
            <a:tbl>
              <a:tblPr firstRow="1" bandRow="1">
                <a:tableStyleId>{5C22544A-7EE6-4342-B048-85BDC9FD1C3A}</a:tableStyleId>
              </a:tblPr>
              <a:tblGrid>
                <a:gridCol w="8384362">
                  <a:extLst>
                    <a:ext uri="{9D8B030D-6E8A-4147-A177-3AD203B41FA5}">
                      <a16:colId xmlns:a16="http://schemas.microsoft.com/office/drawing/2014/main" val="713251629"/>
                    </a:ext>
                  </a:extLst>
                </a:gridCol>
              </a:tblGrid>
              <a:tr h="1311136">
                <a:tc>
                  <a:txBody>
                    <a:bodyPr/>
                    <a:lstStyle/>
                    <a:p>
                      <a:r>
                        <a:rPr lang="en-CA" sz="2000" b="1" i="0" kern="1200" dirty="0">
                          <a:solidFill>
                            <a:schemeClr val="lt1"/>
                          </a:solidFill>
                          <a:effectLst/>
                          <a:latin typeface="+mn-lt"/>
                          <a:ea typeface="+mn-ea"/>
                          <a:cs typeface="+mn-cs"/>
                        </a:rPr>
                        <a:t>Task Force’s preliminary views</a:t>
                      </a:r>
                    </a:p>
                    <a:p>
                      <a:pPr marL="342900" indent="-342900">
                        <a:buFont typeface="Arial" panose="020B0604020202020204" pitchFamily="34" charset="0"/>
                        <a:buChar char="•"/>
                      </a:pPr>
                      <a:r>
                        <a:rPr lang="en-CA" sz="2000" b="0" i="0" kern="1200" dirty="0">
                          <a:solidFill>
                            <a:schemeClr val="lt1"/>
                          </a:solidFill>
                          <a:effectLst/>
                          <a:latin typeface="+mn-lt"/>
                          <a:ea typeface="+mn-ea"/>
                          <a:cs typeface="+mn-cs"/>
                        </a:rPr>
                        <a:t>No precondition for the practitioner to be independent</a:t>
                      </a:r>
                    </a:p>
                    <a:p>
                      <a:pPr marL="342900" indent="-342900">
                        <a:buFont typeface="Arial" panose="020B0604020202020204" pitchFamily="34" charset="0"/>
                        <a:buChar char="•"/>
                      </a:pPr>
                      <a:r>
                        <a:rPr lang="en-CA" sz="2000" b="0" i="0" kern="1200" dirty="0">
                          <a:solidFill>
                            <a:schemeClr val="lt1"/>
                          </a:solidFill>
                          <a:effectLst/>
                          <a:latin typeface="+mn-lt"/>
                          <a:ea typeface="+mn-ea"/>
                          <a:cs typeface="+mn-cs"/>
                        </a:rPr>
                        <a:t>No requirement for the practitioner to determine independence</a:t>
                      </a:r>
                    </a:p>
                  </a:txBody>
                  <a:tcPr>
                    <a:solidFill>
                      <a:schemeClr val="tx1">
                        <a:lumMod val="50000"/>
                        <a:lumOff val="50000"/>
                      </a:schemeClr>
                    </a:solidFill>
                  </a:tcPr>
                </a:tc>
                <a:extLst>
                  <a:ext uri="{0D108BD9-81ED-4DB2-BD59-A6C34878D82A}">
                    <a16:rowId xmlns:a16="http://schemas.microsoft.com/office/drawing/2014/main" val="493788776"/>
                  </a:ext>
                </a:extLst>
              </a:tr>
            </a:tbl>
          </a:graphicData>
        </a:graphic>
      </p:graphicFrame>
    </p:spTree>
    <p:extLst>
      <p:ext uri="{BB962C8B-B14F-4D97-AF65-F5344CB8AC3E}">
        <p14:creationId xmlns:p14="http://schemas.microsoft.com/office/powerpoint/2010/main" val="1631411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62886" y="485775"/>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Independence – Disclosure of Independence</a:t>
            </a:r>
          </a:p>
        </p:txBody>
      </p:sp>
      <p:sp>
        <p:nvSpPr>
          <p:cNvPr id="6" name="Content Placeholder 1"/>
          <p:cNvSpPr txBox="1">
            <a:spLocks/>
          </p:cNvSpPr>
          <p:nvPr/>
        </p:nvSpPr>
        <p:spPr>
          <a:xfrm>
            <a:off x="374402" y="3049904"/>
            <a:ext cx="6118517" cy="1503046"/>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r>
              <a:rPr lang="en-US" sz="1700" kern="0" dirty="0">
                <a:solidFill>
                  <a:srgbClr val="808080"/>
                </a:solidFill>
                <a:latin typeface="Arial" panose="020B0604020202020204" pitchFamily="34" charset="0"/>
                <a:cs typeface="Arial" panose="020B0604020202020204" pitchFamily="34" charset="0"/>
              </a:rPr>
              <a:t>Support for enhanced transparency regarding the practitioner’s independence</a:t>
            </a:r>
          </a:p>
          <a:p>
            <a:r>
              <a:rPr lang="en-CA" sz="1700" dirty="0">
                <a:solidFill>
                  <a:srgbClr val="808080"/>
                </a:solidFill>
                <a:latin typeface="Arial" panose="020B0604020202020204" pitchFamily="34" charset="0"/>
                <a:cs typeface="Arial" panose="020B0604020202020204" pitchFamily="34" charset="0"/>
              </a:rPr>
              <a:t>However, many disagreed with the requirement to state that the practitioner is not independent when the practitioner is not required to be independent</a:t>
            </a:r>
            <a:endParaRPr lang="en-US" sz="1700" kern="0" dirty="0">
              <a:solidFill>
                <a:srgbClr val="808080"/>
              </a:solidFill>
              <a:latin typeface="Arial" panose="020B0604020202020204" pitchFamily="34" charset="0"/>
              <a:cs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150865034"/>
              </p:ext>
            </p:extLst>
          </p:nvPr>
        </p:nvGraphicFramePr>
        <p:xfrm>
          <a:off x="239942" y="885824"/>
          <a:ext cx="6408891" cy="2164080"/>
        </p:xfrm>
        <a:graphic>
          <a:graphicData uri="http://schemas.openxmlformats.org/drawingml/2006/table">
            <a:tbl>
              <a:tblPr firstRow="1" bandRow="1">
                <a:tableStyleId>{5C22544A-7EE6-4342-B048-85BDC9FD1C3A}</a:tableStyleId>
              </a:tblPr>
              <a:tblGrid>
                <a:gridCol w="6408891">
                  <a:extLst>
                    <a:ext uri="{9D8B030D-6E8A-4147-A177-3AD203B41FA5}">
                      <a16:colId xmlns:a16="http://schemas.microsoft.com/office/drawing/2014/main" val="713251629"/>
                    </a:ext>
                  </a:extLst>
                </a:gridCol>
              </a:tblGrid>
              <a:tr h="1330601">
                <a:tc>
                  <a:txBody>
                    <a:bodyPr/>
                    <a:lstStyle/>
                    <a:p>
                      <a:r>
                        <a:rPr lang="en-US" sz="1700" b="0" i="0" kern="1200" dirty="0">
                          <a:solidFill>
                            <a:schemeClr val="lt1"/>
                          </a:solidFill>
                          <a:effectLst/>
                          <a:latin typeface="Arial" panose="020B0604020202020204" pitchFamily="34" charset="0"/>
                          <a:ea typeface="+mn-ea"/>
                          <a:cs typeface="Arial" panose="020B0604020202020204" pitchFamily="34" charset="0"/>
                        </a:rPr>
                        <a:t>Q4. What are your views on the disclosures about independence in the AUP report in the various scenarios described in the table in para. 22 of the EM, and the related requirements and application material in ED-4400? Do you believe that the practitioner should be required to make an independence determination when not required to be independent for an AUP engagement? If so, why and what disclosures might be appropriate in the AUP report in this circumstance?</a:t>
                      </a:r>
                      <a:endParaRPr lang="en-US" sz="1700" b="0" i="0" dirty="0">
                        <a:latin typeface="Arial" panose="020B0604020202020204" pitchFamily="34" charset="0"/>
                        <a:cs typeface="Arial" panose="020B0604020202020204" pitchFamily="34" charset="0"/>
                      </a:endParaRPr>
                    </a:p>
                  </a:txBody>
                  <a:tcPr>
                    <a:solidFill>
                      <a:srgbClr val="005BAA"/>
                    </a:solidFill>
                  </a:tcPr>
                </a:tc>
                <a:extLst>
                  <a:ext uri="{0D108BD9-81ED-4DB2-BD59-A6C34878D82A}">
                    <a16:rowId xmlns:a16="http://schemas.microsoft.com/office/drawing/2014/main" val="493788776"/>
                  </a:ext>
                </a:extLst>
              </a:tr>
            </a:tbl>
          </a:graphicData>
        </a:graphic>
      </p:graphicFrame>
      <p:graphicFrame>
        <p:nvGraphicFramePr>
          <p:cNvPr id="7" name="Chart 6"/>
          <p:cNvGraphicFramePr/>
          <p:nvPr>
            <p:extLst>
              <p:ext uri="{D42A27DB-BD31-4B8C-83A1-F6EECF244321}">
                <p14:modId xmlns:p14="http://schemas.microsoft.com/office/powerpoint/2010/main" val="3676785887"/>
              </p:ext>
            </p:extLst>
          </p:nvPr>
        </p:nvGraphicFramePr>
        <p:xfrm>
          <a:off x="6187241" y="885825"/>
          <a:ext cx="2862470" cy="36671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35013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81000" y="412314"/>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Independence – Disclosure of Independence (cont’d)</a:t>
            </a:r>
          </a:p>
        </p:txBody>
      </p:sp>
      <p:sp>
        <p:nvSpPr>
          <p:cNvPr id="6" name="Content Placeholder 1"/>
          <p:cNvSpPr txBox="1">
            <a:spLocks/>
          </p:cNvSpPr>
          <p:nvPr/>
        </p:nvSpPr>
        <p:spPr>
          <a:xfrm>
            <a:off x="381000" y="971550"/>
            <a:ext cx="8154581" cy="1600200"/>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r>
              <a:rPr lang="en-CA" sz="1600" dirty="0">
                <a:solidFill>
                  <a:srgbClr val="808080"/>
                </a:solidFill>
                <a:latin typeface="Arial" panose="020B0604020202020204" pitchFamily="34" charset="0"/>
                <a:cs typeface="Arial" panose="020B0604020202020204" pitchFamily="34" charset="0"/>
              </a:rPr>
              <a:t>Suggestions include:</a:t>
            </a:r>
          </a:p>
          <a:p>
            <a:pPr lvl="1"/>
            <a:r>
              <a:rPr lang="en-CA" sz="1600" dirty="0">
                <a:solidFill>
                  <a:srgbClr val="808080"/>
                </a:solidFill>
                <a:latin typeface="Arial" panose="020B0604020202020204" pitchFamily="34" charset="0"/>
                <a:cs typeface="Arial" panose="020B0604020202020204" pitchFamily="34" charset="0"/>
              </a:rPr>
              <a:t>Alternative 1 – Removing the requirement to state that the practitioner is not independent</a:t>
            </a:r>
          </a:p>
          <a:p>
            <a:pPr lvl="1"/>
            <a:r>
              <a:rPr lang="en-CA" sz="1600" dirty="0">
                <a:solidFill>
                  <a:srgbClr val="808080"/>
                </a:solidFill>
                <a:latin typeface="Arial" panose="020B0604020202020204" pitchFamily="34" charset="0"/>
                <a:cs typeface="Arial" panose="020B0604020202020204" pitchFamily="34" charset="0"/>
              </a:rPr>
              <a:t>Alternative 2 – Enhancing transparency by providing additional disclosures as to why the practitioner is not independent</a:t>
            </a:r>
          </a:p>
          <a:p>
            <a:pPr marL="0" indent="0">
              <a:buNone/>
            </a:pPr>
            <a:endParaRPr lang="en-CA" sz="1800" dirty="0">
              <a:solidFill>
                <a:srgbClr val="808080"/>
              </a:solidFill>
              <a:latin typeface="Arial" panose="020B0604020202020204" pitchFamily="34" charset="0"/>
              <a:cs typeface="Arial" panose="020B0604020202020204" pitchFamily="34" charset="0"/>
            </a:endParaRPr>
          </a:p>
        </p:txBody>
      </p:sp>
      <p:graphicFrame>
        <p:nvGraphicFramePr>
          <p:cNvPr id="5" name="Content Placeholder 4">
            <a:extLst>
              <a:ext uri="{FF2B5EF4-FFF2-40B4-BE49-F238E27FC236}">
                <a16:creationId xmlns:a16="http://schemas.microsoft.com/office/drawing/2014/main" id="{44767CC5-0331-4308-BE15-5E0584CBC0A5}"/>
              </a:ext>
            </a:extLst>
          </p:cNvPr>
          <p:cNvGraphicFramePr>
            <a:graphicFrameLocks/>
          </p:cNvGraphicFramePr>
          <p:nvPr>
            <p:extLst>
              <p:ext uri="{D42A27DB-BD31-4B8C-83A1-F6EECF244321}">
                <p14:modId xmlns:p14="http://schemas.microsoft.com/office/powerpoint/2010/main" val="1016546228"/>
              </p:ext>
            </p:extLst>
          </p:nvPr>
        </p:nvGraphicFramePr>
        <p:xfrm>
          <a:off x="380999" y="2735487"/>
          <a:ext cx="8382001" cy="1460374"/>
        </p:xfrm>
        <a:graphic>
          <a:graphicData uri="http://schemas.openxmlformats.org/drawingml/2006/table">
            <a:tbl>
              <a:tblPr firstRow="1" firstCol="1" bandRow="1">
                <a:tableStyleId>{5C22544A-7EE6-4342-B048-85BDC9FD1C3A}</a:tableStyleId>
              </a:tblPr>
              <a:tblGrid>
                <a:gridCol w="1585365">
                  <a:extLst>
                    <a:ext uri="{9D8B030D-6E8A-4147-A177-3AD203B41FA5}">
                      <a16:colId xmlns:a16="http://schemas.microsoft.com/office/drawing/2014/main" val="1326364585"/>
                    </a:ext>
                  </a:extLst>
                </a:gridCol>
                <a:gridCol w="2087745">
                  <a:extLst>
                    <a:ext uri="{9D8B030D-6E8A-4147-A177-3AD203B41FA5}">
                      <a16:colId xmlns:a16="http://schemas.microsoft.com/office/drawing/2014/main" val="551080742"/>
                    </a:ext>
                  </a:extLst>
                </a:gridCol>
                <a:gridCol w="2403334">
                  <a:extLst>
                    <a:ext uri="{9D8B030D-6E8A-4147-A177-3AD203B41FA5}">
                      <a16:colId xmlns:a16="http://schemas.microsoft.com/office/drawing/2014/main" val="2182706926"/>
                    </a:ext>
                  </a:extLst>
                </a:gridCol>
                <a:gridCol w="2305557">
                  <a:extLst>
                    <a:ext uri="{9D8B030D-6E8A-4147-A177-3AD203B41FA5}">
                      <a16:colId xmlns:a16="http://schemas.microsoft.com/office/drawing/2014/main" val="593254726"/>
                    </a:ext>
                  </a:extLst>
                </a:gridCol>
              </a:tblGrid>
              <a:tr h="744044">
                <a:tc>
                  <a:txBody>
                    <a:bodyPr/>
                    <a:lstStyle/>
                    <a:p>
                      <a:pPr marL="0" marR="0" algn="just">
                        <a:lnSpc>
                          <a:spcPts val="1200"/>
                        </a:lnSpc>
                        <a:spcBef>
                          <a:spcPts val="0"/>
                        </a:spcBef>
                        <a:spcAft>
                          <a:spcPts val="600"/>
                        </a:spcAft>
                      </a:pPr>
                      <a:r>
                        <a:rPr lang="en-US" sz="1600" dirty="0">
                          <a:effectLst/>
                        </a:rPr>
                        <a:t> </a:t>
                      </a:r>
                      <a:endParaRPr lang="en-US" sz="1600" dirty="0">
                        <a:effectLst/>
                        <a:latin typeface="Arial" panose="020B0604020202020204" pitchFamily="34" charset="0"/>
                        <a:ea typeface="Calibri" panose="020F0502020204030204" pitchFamily="34" charset="0"/>
                      </a:endParaRPr>
                    </a:p>
                  </a:txBody>
                  <a:tcPr marL="68580" marR="68580" marT="91440" marB="91440">
                    <a:solidFill>
                      <a:schemeClr val="tx2"/>
                    </a:solidFill>
                  </a:tcPr>
                </a:tc>
                <a:tc>
                  <a:txBody>
                    <a:bodyPr/>
                    <a:lstStyle/>
                    <a:p>
                      <a:pPr marL="0" marR="0" algn="just">
                        <a:lnSpc>
                          <a:spcPts val="1200"/>
                        </a:lnSpc>
                        <a:spcBef>
                          <a:spcPts val="0"/>
                        </a:spcBef>
                        <a:spcAft>
                          <a:spcPts val="600"/>
                        </a:spcAft>
                      </a:pPr>
                      <a:r>
                        <a:rPr lang="en-US" sz="1600" b="0" dirty="0">
                          <a:effectLst/>
                        </a:rPr>
                        <a:t>Alt 1: Removing requirement to state that the practitioner is not independent</a:t>
                      </a:r>
                      <a:endParaRPr lang="en-US" sz="1600" b="0" dirty="0">
                        <a:effectLst/>
                        <a:latin typeface="Arial" panose="020B0604020202020204" pitchFamily="34" charset="0"/>
                        <a:ea typeface="Calibri" panose="020F0502020204030204" pitchFamily="34" charset="0"/>
                      </a:endParaRPr>
                    </a:p>
                  </a:txBody>
                  <a:tcPr marL="68580" marR="68580" marT="91440" marB="91440">
                    <a:solidFill>
                      <a:schemeClr val="tx2"/>
                    </a:solidFill>
                  </a:tcPr>
                </a:tc>
                <a:tc>
                  <a:txBody>
                    <a:bodyPr/>
                    <a:lstStyle/>
                    <a:p>
                      <a:pPr marL="0" marR="0" algn="just">
                        <a:lnSpc>
                          <a:spcPts val="1200"/>
                        </a:lnSpc>
                        <a:spcBef>
                          <a:spcPts val="0"/>
                        </a:spcBef>
                        <a:spcAft>
                          <a:spcPts val="600"/>
                        </a:spcAft>
                      </a:pPr>
                      <a:r>
                        <a:rPr lang="en-US" sz="1600" b="0" dirty="0">
                          <a:effectLst/>
                        </a:rPr>
                        <a:t>As proposed in ED-4400: Statement that the practitioner is not independent but no explanation as to why</a:t>
                      </a:r>
                      <a:endParaRPr lang="en-US" sz="1600" b="0" dirty="0">
                        <a:effectLst/>
                        <a:latin typeface="Arial" panose="020B0604020202020204" pitchFamily="34" charset="0"/>
                        <a:ea typeface="Calibri" panose="020F0502020204030204" pitchFamily="34" charset="0"/>
                      </a:endParaRPr>
                    </a:p>
                  </a:txBody>
                  <a:tcPr marL="68580" marR="68580" marT="91440" marB="91440">
                    <a:solidFill>
                      <a:schemeClr val="tx2"/>
                    </a:solidFill>
                  </a:tcPr>
                </a:tc>
                <a:tc>
                  <a:txBody>
                    <a:bodyPr/>
                    <a:lstStyle/>
                    <a:p>
                      <a:pPr marL="0" marR="0" algn="just">
                        <a:lnSpc>
                          <a:spcPts val="1200"/>
                        </a:lnSpc>
                        <a:spcBef>
                          <a:spcPts val="0"/>
                        </a:spcBef>
                        <a:spcAft>
                          <a:spcPts val="600"/>
                        </a:spcAft>
                      </a:pPr>
                      <a:r>
                        <a:rPr lang="en-US" sz="1600" b="0" dirty="0">
                          <a:effectLst/>
                        </a:rPr>
                        <a:t>Alt 2: Enhancing transparency by providing additional disclosures as to why the practitioner is not independent</a:t>
                      </a:r>
                      <a:endParaRPr lang="en-US" sz="1600" b="0" dirty="0">
                        <a:effectLst/>
                        <a:latin typeface="Arial" panose="020B0604020202020204" pitchFamily="34" charset="0"/>
                        <a:ea typeface="Calibri" panose="020F0502020204030204" pitchFamily="34" charset="0"/>
                      </a:endParaRPr>
                    </a:p>
                  </a:txBody>
                  <a:tcPr marL="68580" marR="68580" marT="91440" marB="91440">
                    <a:solidFill>
                      <a:schemeClr val="tx2"/>
                    </a:solidFill>
                  </a:tcPr>
                </a:tc>
                <a:extLst>
                  <a:ext uri="{0D108BD9-81ED-4DB2-BD59-A6C34878D82A}">
                    <a16:rowId xmlns:a16="http://schemas.microsoft.com/office/drawing/2014/main" val="4034800736"/>
                  </a:ext>
                </a:extLst>
              </a:tr>
              <a:tr h="481395">
                <a:tc>
                  <a:txBody>
                    <a:bodyPr/>
                    <a:lstStyle/>
                    <a:p>
                      <a:pPr marL="0" marR="0" algn="just">
                        <a:lnSpc>
                          <a:spcPts val="1200"/>
                        </a:lnSpc>
                        <a:spcBef>
                          <a:spcPts val="0"/>
                        </a:spcBef>
                        <a:spcAft>
                          <a:spcPts val="600"/>
                        </a:spcAft>
                      </a:pPr>
                      <a:r>
                        <a:rPr lang="en-US" sz="1600" b="0" dirty="0">
                          <a:effectLst/>
                        </a:rPr>
                        <a:t>Respondents who commented</a:t>
                      </a:r>
                      <a:endParaRPr lang="en-US" sz="1600" b="0" dirty="0">
                        <a:effectLst/>
                        <a:latin typeface="Arial" panose="020B0604020202020204" pitchFamily="34" charset="0"/>
                        <a:ea typeface="Calibri" panose="020F0502020204030204" pitchFamily="34" charset="0"/>
                      </a:endParaRPr>
                    </a:p>
                  </a:txBody>
                  <a:tcPr marL="68580" marR="68580" marT="91440" marB="91440">
                    <a:solidFill>
                      <a:schemeClr val="tx2"/>
                    </a:solidFill>
                  </a:tcPr>
                </a:tc>
                <a:tc>
                  <a:txBody>
                    <a:bodyPr/>
                    <a:lstStyle/>
                    <a:p>
                      <a:pPr marL="0" marR="0" algn="just">
                        <a:lnSpc>
                          <a:spcPts val="1200"/>
                        </a:lnSpc>
                        <a:spcBef>
                          <a:spcPts val="0"/>
                        </a:spcBef>
                        <a:spcAft>
                          <a:spcPts val="600"/>
                        </a:spcAft>
                      </a:pPr>
                      <a:r>
                        <a:rPr lang="en-US" sz="1600" dirty="0">
                          <a:effectLst/>
                        </a:rPr>
                        <a:t>16 respondents</a:t>
                      </a:r>
                      <a:endParaRPr lang="en-US" sz="1600" dirty="0">
                        <a:effectLst/>
                        <a:latin typeface="Arial" panose="020B0604020202020204" pitchFamily="34" charset="0"/>
                        <a:ea typeface="Calibri" panose="020F0502020204030204" pitchFamily="34" charset="0"/>
                      </a:endParaRPr>
                    </a:p>
                  </a:txBody>
                  <a:tcPr marL="68580" marR="68580" marT="91440" marB="91440">
                    <a:solidFill>
                      <a:schemeClr val="bg2">
                        <a:lumMod val="20000"/>
                        <a:lumOff val="80000"/>
                      </a:schemeClr>
                    </a:solidFill>
                  </a:tcPr>
                </a:tc>
                <a:tc>
                  <a:txBody>
                    <a:bodyPr/>
                    <a:lstStyle/>
                    <a:p>
                      <a:pPr marL="0" marR="0" algn="just">
                        <a:lnSpc>
                          <a:spcPts val="1200"/>
                        </a:lnSpc>
                        <a:spcBef>
                          <a:spcPts val="0"/>
                        </a:spcBef>
                        <a:spcAft>
                          <a:spcPts val="600"/>
                        </a:spcAft>
                      </a:pPr>
                      <a:r>
                        <a:rPr lang="en-US" sz="1600" dirty="0">
                          <a:effectLst/>
                        </a:rPr>
                        <a:t>28 respondents</a:t>
                      </a:r>
                      <a:endParaRPr lang="en-US" sz="1600" dirty="0">
                        <a:effectLst/>
                        <a:latin typeface="Arial" panose="020B0604020202020204" pitchFamily="34" charset="0"/>
                        <a:ea typeface="Calibri" panose="020F0502020204030204" pitchFamily="34" charset="0"/>
                      </a:endParaRPr>
                    </a:p>
                  </a:txBody>
                  <a:tcPr marL="68580" marR="68580" marT="91440" marB="91440">
                    <a:solidFill>
                      <a:schemeClr val="bg2">
                        <a:lumMod val="20000"/>
                        <a:lumOff val="80000"/>
                      </a:schemeClr>
                    </a:solidFill>
                  </a:tcPr>
                </a:tc>
                <a:tc>
                  <a:txBody>
                    <a:bodyPr/>
                    <a:lstStyle/>
                    <a:p>
                      <a:pPr marL="0" marR="0" algn="just">
                        <a:lnSpc>
                          <a:spcPts val="1200"/>
                        </a:lnSpc>
                        <a:spcBef>
                          <a:spcPts val="0"/>
                        </a:spcBef>
                        <a:spcAft>
                          <a:spcPts val="600"/>
                        </a:spcAft>
                      </a:pPr>
                      <a:r>
                        <a:rPr lang="en-US" sz="1600" dirty="0">
                          <a:effectLst/>
                        </a:rPr>
                        <a:t>7 respondents</a:t>
                      </a:r>
                      <a:endParaRPr lang="en-US" sz="1600" dirty="0">
                        <a:effectLst/>
                        <a:latin typeface="Arial" panose="020B0604020202020204" pitchFamily="34" charset="0"/>
                        <a:ea typeface="Calibri" panose="020F0502020204030204" pitchFamily="34" charset="0"/>
                      </a:endParaRPr>
                    </a:p>
                  </a:txBody>
                  <a:tcPr marL="68580" marR="68580" marT="91440" marB="91440">
                    <a:solidFill>
                      <a:schemeClr val="bg2">
                        <a:lumMod val="20000"/>
                        <a:lumOff val="80000"/>
                      </a:schemeClr>
                    </a:solidFill>
                  </a:tcPr>
                </a:tc>
                <a:extLst>
                  <a:ext uri="{0D108BD9-81ED-4DB2-BD59-A6C34878D82A}">
                    <a16:rowId xmlns:a16="http://schemas.microsoft.com/office/drawing/2014/main" val="1310982422"/>
                  </a:ext>
                </a:extLst>
              </a:tr>
            </a:tbl>
          </a:graphicData>
        </a:graphic>
      </p:graphicFrame>
    </p:spTree>
    <p:extLst>
      <p:ext uri="{BB962C8B-B14F-4D97-AF65-F5344CB8AC3E}">
        <p14:creationId xmlns:p14="http://schemas.microsoft.com/office/powerpoint/2010/main" val="3860893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81000" y="412314"/>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Independence – Disclosure of Independence (cont’d)</a:t>
            </a:r>
          </a:p>
        </p:txBody>
      </p:sp>
      <p:sp>
        <p:nvSpPr>
          <p:cNvPr id="6" name="Content Placeholder 1"/>
          <p:cNvSpPr txBox="1">
            <a:spLocks/>
          </p:cNvSpPr>
          <p:nvPr/>
        </p:nvSpPr>
        <p:spPr>
          <a:xfrm>
            <a:off x="381000" y="971550"/>
            <a:ext cx="8154581" cy="3131112"/>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buNone/>
            </a:pPr>
            <a:endParaRPr lang="en-CA" sz="1800" dirty="0">
              <a:solidFill>
                <a:srgbClr val="808080"/>
              </a:solidFill>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49AFA918-DC84-4FC7-A23B-6E70B3B5BA93}"/>
              </a:ext>
            </a:extLst>
          </p:cNvPr>
          <p:cNvGraphicFramePr>
            <a:graphicFrameLocks noGrp="1"/>
          </p:cNvGraphicFramePr>
          <p:nvPr>
            <p:extLst>
              <p:ext uri="{D42A27DB-BD31-4B8C-83A1-F6EECF244321}">
                <p14:modId xmlns:p14="http://schemas.microsoft.com/office/powerpoint/2010/main" val="2251262448"/>
              </p:ext>
            </p:extLst>
          </p:nvPr>
        </p:nvGraphicFramePr>
        <p:xfrm>
          <a:off x="315589" y="880958"/>
          <a:ext cx="8512821" cy="3781040"/>
        </p:xfrm>
        <a:graphic>
          <a:graphicData uri="http://schemas.openxmlformats.org/drawingml/2006/table">
            <a:tbl>
              <a:tblPr firstRow="1" bandRow="1">
                <a:tableStyleId>{5C22544A-7EE6-4342-B048-85BDC9FD1C3A}</a:tableStyleId>
              </a:tblPr>
              <a:tblGrid>
                <a:gridCol w="299406">
                  <a:extLst>
                    <a:ext uri="{9D8B030D-6E8A-4147-A177-3AD203B41FA5}">
                      <a16:colId xmlns:a16="http://schemas.microsoft.com/office/drawing/2014/main" val="1076511392"/>
                    </a:ext>
                  </a:extLst>
                </a:gridCol>
                <a:gridCol w="825387">
                  <a:extLst>
                    <a:ext uri="{9D8B030D-6E8A-4147-A177-3AD203B41FA5}">
                      <a16:colId xmlns:a16="http://schemas.microsoft.com/office/drawing/2014/main" val="1418836247"/>
                    </a:ext>
                  </a:extLst>
                </a:gridCol>
                <a:gridCol w="3285367">
                  <a:extLst>
                    <a:ext uri="{9D8B030D-6E8A-4147-A177-3AD203B41FA5}">
                      <a16:colId xmlns:a16="http://schemas.microsoft.com/office/drawing/2014/main" val="1918439209"/>
                    </a:ext>
                  </a:extLst>
                </a:gridCol>
                <a:gridCol w="4102661">
                  <a:extLst>
                    <a:ext uri="{9D8B030D-6E8A-4147-A177-3AD203B41FA5}">
                      <a16:colId xmlns:a16="http://schemas.microsoft.com/office/drawing/2014/main" val="2696006829"/>
                    </a:ext>
                  </a:extLst>
                </a:gridCol>
              </a:tblGrid>
              <a:tr h="197867">
                <a:tc rowSpan="2" gridSpan="2">
                  <a:txBody>
                    <a:bodyPr/>
                    <a:lstStyle/>
                    <a:p>
                      <a:pPr marL="0" marR="0" algn="l">
                        <a:lnSpc>
                          <a:spcPts val="1200"/>
                        </a:lnSpc>
                        <a:spcBef>
                          <a:spcPts val="0"/>
                        </a:spcBef>
                        <a:spcAft>
                          <a:spcPts val="0"/>
                        </a:spcAft>
                      </a:pPr>
                      <a:r>
                        <a:rPr lang="en-US" sz="1400" dirty="0">
                          <a:solidFill>
                            <a:schemeClr val="tx1"/>
                          </a:solidFill>
                          <a:effectLst/>
                        </a:rPr>
                        <a:t> </a:t>
                      </a:r>
                      <a:endParaRPr lang="en-US" sz="1400" dirty="0">
                        <a:solidFill>
                          <a:schemeClr val="tx1"/>
                        </a:solidFill>
                        <a:effectLst/>
                        <a:latin typeface="Arial" panose="020B0604020202020204" pitchFamily="34" charset="0"/>
                        <a:ea typeface="Calibri" panose="020F0502020204030204" pitchFamily="34" charset="0"/>
                      </a:endParaRPr>
                    </a:p>
                  </a:txBody>
                  <a:tcPr marL="0" marR="0" marT="0" marB="0">
                    <a:solidFill>
                      <a:schemeClr val="accent2"/>
                    </a:solidFill>
                  </a:tcPr>
                </a:tc>
                <a:tc rowSpan="2" hMerge="1">
                  <a:txBody>
                    <a:bodyPr/>
                    <a:lstStyle/>
                    <a:p>
                      <a:endParaRPr lang="en-US"/>
                    </a:p>
                  </a:txBody>
                  <a:tcPr/>
                </a:tc>
                <a:tc gridSpan="2">
                  <a:txBody>
                    <a:bodyPr/>
                    <a:lstStyle/>
                    <a:p>
                      <a:pPr marL="0" marR="0" algn="ctr">
                        <a:lnSpc>
                          <a:spcPts val="1200"/>
                        </a:lnSpc>
                        <a:spcBef>
                          <a:spcPts val="0"/>
                        </a:spcBef>
                        <a:spcAft>
                          <a:spcPts val="0"/>
                        </a:spcAft>
                      </a:pPr>
                      <a:r>
                        <a:rPr lang="en-US" sz="1400" dirty="0">
                          <a:solidFill>
                            <a:schemeClr val="tx1"/>
                          </a:solidFill>
                          <a:effectLst/>
                        </a:rPr>
                        <a:t>Is practitioner required to be independent?</a:t>
                      </a:r>
                      <a:endParaRPr lang="en-US" sz="1400" dirty="0">
                        <a:solidFill>
                          <a:schemeClr val="tx1"/>
                        </a:solidFill>
                        <a:effectLst/>
                        <a:latin typeface="Arial" panose="020B0604020202020204" pitchFamily="34" charset="0"/>
                        <a:ea typeface="Calibri" panose="020F0502020204030204" pitchFamily="34" charset="0"/>
                      </a:endParaRPr>
                    </a:p>
                  </a:txBody>
                  <a:tcPr marL="42903" marR="42903" marT="21452" marB="21452">
                    <a:solidFill>
                      <a:schemeClr val="accent2"/>
                    </a:solidFill>
                  </a:tcPr>
                </a:tc>
                <a:tc hMerge="1">
                  <a:txBody>
                    <a:bodyPr/>
                    <a:lstStyle/>
                    <a:p>
                      <a:endParaRPr lang="en-US"/>
                    </a:p>
                  </a:txBody>
                  <a:tcPr/>
                </a:tc>
                <a:extLst>
                  <a:ext uri="{0D108BD9-81ED-4DB2-BD59-A6C34878D82A}">
                    <a16:rowId xmlns:a16="http://schemas.microsoft.com/office/drawing/2014/main" val="836130908"/>
                  </a:ext>
                </a:extLst>
              </a:tr>
              <a:tr h="197867">
                <a:tc gridSpan="2" vMerge="1">
                  <a:txBody>
                    <a:bodyPr/>
                    <a:lstStyle/>
                    <a:p>
                      <a:endParaRPr lang="en-US"/>
                    </a:p>
                  </a:txBody>
                  <a:tcPr/>
                </a:tc>
                <a:tc hMerge="1" vMerge="1">
                  <a:txBody>
                    <a:bodyPr/>
                    <a:lstStyle/>
                    <a:p>
                      <a:endParaRPr lang="en-US"/>
                    </a:p>
                  </a:txBody>
                  <a:tcPr/>
                </a:tc>
                <a:tc>
                  <a:txBody>
                    <a:bodyPr/>
                    <a:lstStyle/>
                    <a:p>
                      <a:pPr marL="0" marR="0" algn="ctr">
                        <a:lnSpc>
                          <a:spcPts val="1200"/>
                        </a:lnSpc>
                        <a:spcBef>
                          <a:spcPts val="0"/>
                        </a:spcBef>
                        <a:spcAft>
                          <a:spcPts val="0"/>
                        </a:spcAft>
                      </a:pPr>
                      <a:r>
                        <a:rPr lang="en-US" sz="1400" b="1" dirty="0">
                          <a:solidFill>
                            <a:schemeClr val="tx1"/>
                          </a:solidFill>
                          <a:effectLst/>
                        </a:rPr>
                        <a:t>Yes</a:t>
                      </a:r>
                      <a:endParaRPr lang="en-US" sz="1400" b="1" dirty="0">
                        <a:solidFill>
                          <a:schemeClr val="tx1"/>
                        </a:solidFill>
                        <a:effectLst/>
                        <a:latin typeface="Arial" panose="020B0604020202020204" pitchFamily="34" charset="0"/>
                        <a:ea typeface="Calibri" panose="020F0502020204030204" pitchFamily="34" charset="0"/>
                      </a:endParaRPr>
                    </a:p>
                  </a:txBody>
                  <a:tcPr marL="42903" marR="42903" marT="21452" marB="21452">
                    <a:solidFill>
                      <a:schemeClr val="accent2"/>
                    </a:solidFill>
                  </a:tcPr>
                </a:tc>
                <a:tc>
                  <a:txBody>
                    <a:bodyPr/>
                    <a:lstStyle/>
                    <a:p>
                      <a:pPr marL="0" marR="0" algn="ctr">
                        <a:lnSpc>
                          <a:spcPts val="1200"/>
                        </a:lnSpc>
                        <a:spcBef>
                          <a:spcPts val="0"/>
                        </a:spcBef>
                        <a:spcAft>
                          <a:spcPts val="0"/>
                        </a:spcAft>
                      </a:pPr>
                      <a:r>
                        <a:rPr lang="en-US" sz="1400" b="1" dirty="0">
                          <a:solidFill>
                            <a:schemeClr val="tx1"/>
                          </a:solidFill>
                          <a:effectLst/>
                        </a:rPr>
                        <a:t>No</a:t>
                      </a:r>
                      <a:endParaRPr lang="en-US" sz="1400" b="1" dirty="0">
                        <a:solidFill>
                          <a:schemeClr val="tx1"/>
                        </a:solidFill>
                        <a:effectLst/>
                        <a:latin typeface="Arial" panose="020B0604020202020204" pitchFamily="34" charset="0"/>
                        <a:ea typeface="Calibri" panose="020F0502020204030204" pitchFamily="34" charset="0"/>
                      </a:endParaRPr>
                    </a:p>
                  </a:txBody>
                  <a:tcPr marL="42903" marR="42903" marT="21452" marB="21452">
                    <a:solidFill>
                      <a:schemeClr val="accent2"/>
                    </a:solidFill>
                  </a:tcPr>
                </a:tc>
                <a:extLst>
                  <a:ext uri="{0D108BD9-81ED-4DB2-BD59-A6C34878D82A}">
                    <a16:rowId xmlns:a16="http://schemas.microsoft.com/office/drawing/2014/main" val="103870178"/>
                  </a:ext>
                </a:extLst>
              </a:tr>
              <a:tr h="647570">
                <a:tc rowSpan="3">
                  <a:txBody>
                    <a:bodyPr/>
                    <a:lstStyle/>
                    <a:p>
                      <a:pPr marL="71755" marR="71755" algn="ctr">
                        <a:lnSpc>
                          <a:spcPts val="1200"/>
                        </a:lnSpc>
                        <a:spcBef>
                          <a:spcPts val="0"/>
                        </a:spcBef>
                        <a:spcAft>
                          <a:spcPts val="0"/>
                        </a:spcAft>
                      </a:pPr>
                      <a:r>
                        <a:rPr lang="en-US" sz="1400" b="1" dirty="0">
                          <a:solidFill>
                            <a:schemeClr val="tx1"/>
                          </a:solidFill>
                          <a:effectLst/>
                        </a:rPr>
                        <a:t>Is practitioner independent?</a:t>
                      </a:r>
                      <a:endParaRPr lang="en-US" sz="1400" b="1" dirty="0">
                        <a:solidFill>
                          <a:schemeClr val="tx1"/>
                        </a:solidFill>
                        <a:effectLst/>
                        <a:latin typeface="Arial" panose="020B0604020202020204" pitchFamily="34" charset="0"/>
                        <a:ea typeface="Calibri" panose="020F0502020204030204" pitchFamily="34" charset="0"/>
                      </a:endParaRPr>
                    </a:p>
                  </a:txBody>
                  <a:tcPr marL="0" marR="0" marT="0" marB="0" vert="vert270" anchor="ctr">
                    <a:solidFill>
                      <a:schemeClr val="accent2"/>
                    </a:solidFill>
                  </a:tcPr>
                </a:tc>
                <a:tc>
                  <a:txBody>
                    <a:bodyPr/>
                    <a:lstStyle/>
                    <a:p>
                      <a:pPr marL="0" marR="0" algn="l">
                        <a:lnSpc>
                          <a:spcPts val="1200"/>
                        </a:lnSpc>
                        <a:spcBef>
                          <a:spcPts val="0"/>
                        </a:spcBef>
                        <a:spcAft>
                          <a:spcPts val="0"/>
                        </a:spcAft>
                      </a:pPr>
                      <a:r>
                        <a:rPr lang="en-US" sz="1400" b="1" dirty="0">
                          <a:solidFill>
                            <a:schemeClr val="tx1"/>
                          </a:solidFill>
                          <a:effectLst/>
                        </a:rPr>
                        <a:t>Unknown (i.e., not determined)</a:t>
                      </a:r>
                      <a:endParaRPr lang="en-US" sz="1400" b="1" dirty="0">
                        <a:solidFill>
                          <a:schemeClr val="tx1"/>
                        </a:solidFill>
                        <a:effectLst/>
                        <a:latin typeface="Arial" panose="020B0604020202020204" pitchFamily="34" charset="0"/>
                        <a:ea typeface="Calibri" panose="020F0502020204030204" pitchFamily="34" charset="0"/>
                      </a:endParaRPr>
                    </a:p>
                  </a:txBody>
                  <a:tcPr marL="42903" marR="42903" marT="21452" marB="21452">
                    <a:solidFill>
                      <a:schemeClr val="accent3">
                        <a:lumMod val="20000"/>
                        <a:lumOff val="80000"/>
                      </a:schemeClr>
                    </a:solidFill>
                  </a:tcPr>
                </a:tc>
                <a:tc>
                  <a:txBody>
                    <a:bodyPr/>
                    <a:lstStyle/>
                    <a:p>
                      <a:pPr marL="0" marR="0" algn="l">
                        <a:lnSpc>
                          <a:spcPts val="1200"/>
                        </a:lnSpc>
                        <a:spcBef>
                          <a:spcPts val="0"/>
                        </a:spcBef>
                        <a:spcAft>
                          <a:spcPts val="0"/>
                        </a:spcAft>
                      </a:pPr>
                      <a:r>
                        <a:rPr lang="en-US" sz="1400" dirty="0">
                          <a:solidFill>
                            <a:schemeClr val="tx1"/>
                          </a:solidFill>
                          <a:effectLst/>
                        </a:rPr>
                        <a:t>Not Applicable: Practitioner is unable to perform the agreed-upon procedures engagement because the practitioner has not determined independence.</a:t>
                      </a:r>
                      <a:endParaRPr lang="en-US" sz="1400" dirty="0">
                        <a:solidFill>
                          <a:schemeClr val="tx1"/>
                        </a:solidFill>
                        <a:effectLst/>
                        <a:latin typeface="Arial" panose="020B0604020202020204" pitchFamily="34" charset="0"/>
                        <a:ea typeface="Calibri" panose="020F0502020204030204" pitchFamily="34" charset="0"/>
                      </a:endParaRPr>
                    </a:p>
                  </a:txBody>
                  <a:tcPr marL="42903" marR="42903" marT="21452" marB="21452">
                    <a:solidFill>
                      <a:schemeClr val="accent3">
                        <a:lumMod val="20000"/>
                        <a:lumOff val="80000"/>
                      </a:schemeClr>
                    </a:solidFill>
                  </a:tcPr>
                </a:tc>
                <a:tc>
                  <a:txBody>
                    <a:bodyPr/>
                    <a:lstStyle/>
                    <a:p>
                      <a:pPr marL="0" marR="0" algn="l">
                        <a:lnSpc>
                          <a:spcPts val="1200"/>
                        </a:lnSpc>
                        <a:spcBef>
                          <a:spcPts val="0"/>
                        </a:spcBef>
                        <a:spcAft>
                          <a:spcPts val="0"/>
                        </a:spcAft>
                      </a:pPr>
                      <a:r>
                        <a:rPr lang="en-US" sz="1400" b="1" dirty="0">
                          <a:solidFill>
                            <a:schemeClr val="tx1"/>
                          </a:solidFill>
                          <a:effectLst/>
                        </a:rPr>
                        <a:t>Alternative 1: Statement that the practitioner is not required to be independent.</a:t>
                      </a:r>
                    </a:p>
                    <a:p>
                      <a:pPr marL="0" marR="0" algn="l">
                        <a:lnSpc>
                          <a:spcPts val="1200"/>
                        </a:lnSpc>
                        <a:spcBef>
                          <a:spcPts val="0"/>
                        </a:spcBef>
                        <a:spcAft>
                          <a:spcPts val="0"/>
                        </a:spcAft>
                      </a:pPr>
                      <a:r>
                        <a:rPr lang="en-US" sz="1400" b="1" dirty="0">
                          <a:solidFill>
                            <a:schemeClr val="tx1"/>
                          </a:solidFill>
                          <a:effectLst/>
                        </a:rPr>
                        <a:t> </a:t>
                      </a:r>
                    </a:p>
                    <a:p>
                      <a:pPr marL="0" marR="0" algn="l">
                        <a:lnSpc>
                          <a:spcPts val="1200"/>
                        </a:lnSpc>
                        <a:spcBef>
                          <a:spcPts val="0"/>
                        </a:spcBef>
                        <a:spcAft>
                          <a:spcPts val="0"/>
                        </a:spcAft>
                      </a:pPr>
                      <a:r>
                        <a:rPr lang="en-US" sz="1400" b="1" dirty="0">
                          <a:solidFill>
                            <a:schemeClr val="tx1"/>
                          </a:solidFill>
                          <a:effectLst/>
                        </a:rPr>
                        <a:t>Alternative 2: Statement that the practitioner is not required to be independent and that the practitioner has not determined independence.</a:t>
                      </a:r>
                    </a:p>
                    <a:p>
                      <a:pPr marL="0" marR="0" algn="l">
                        <a:lnSpc>
                          <a:spcPts val="1200"/>
                        </a:lnSpc>
                        <a:spcBef>
                          <a:spcPts val="0"/>
                        </a:spcBef>
                        <a:spcAft>
                          <a:spcPts val="0"/>
                        </a:spcAft>
                      </a:pPr>
                      <a:endParaRPr lang="en-US" sz="1400" dirty="0">
                        <a:solidFill>
                          <a:schemeClr val="tx1"/>
                        </a:solidFill>
                        <a:effectLst/>
                        <a:latin typeface="Arial" panose="020B0604020202020204" pitchFamily="34" charset="0"/>
                        <a:ea typeface="Calibri" panose="020F0502020204030204" pitchFamily="34" charset="0"/>
                      </a:endParaRPr>
                    </a:p>
                  </a:txBody>
                  <a:tcPr marL="42903" marR="42903" marT="21452" marB="21452">
                    <a:solidFill>
                      <a:schemeClr val="accent3">
                        <a:lumMod val="20000"/>
                        <a:lumOff val="80000"/>
                      </a:schemeClr>
                    </a:solidFill>
                  </a:tcPr>
                </a:tc>
                <a:extLst>
                  <a:ext uri="{0D108BD9-81ED-4DB2-BD59-A6C34878D82A}">
                    <a16:rowId xmlns:a16="http://schemas.microsoft.com/office/drawing/2014/main" val="3491910170"/>
                  </a:ext>
                </a:extLst>
              </a:tr>
              <a:tr h="791320">
                <a:tc vMerge="1">
                  <a:txBody>
                    <a:bodyPr/>
                    <a:lstStyle/>
                    <a:p>
                      <a:endParaRPr lang="en-US"/>
                    </a:p>
                  </a:txBody>
                  <a:tcPr/>
                </a:tc>
                <a:tc>
                  <a:txBody>
                    <a:bodyPr/>
                    <a:lstStyle/>
                    <a:p>
                      <a:pPr marL="0" marR="0" algn="l">
                        <a:lnSpc>
                          <a:spcPts val="1200"/>
                        </a:lnSpc>
                        <a:spcBef>
                          <a:spcPts val="0"/>
                        </a:spcBef>
                        <a:spcAft>
                          <a:spcPts val="0"/>
                        </a:spcAft>
                      </a:pPr>
                      <a:r>
                        <a:rPr lang="en-US" sz="1400" b="1" dirty="0">
                          <a:solidFill>
                            <a:schemeClr val="tx1"/>
                          </a:solidFill>
                          <a:effectLst/>
                        </a:rPr>
                        <a:t>Yes</a:t>
                      </a:r>
                      <a:endParaRPr lang="en-US" sz="1400" b="1" dirty="0">
                        <a:solidFill>
                          <a:schemeClr val="tx1"/>
                        </a:solidFill>
                        <a:effectLst/>
                        <a:latin typeface="Arial" panose="020B0604020202020204" pitchFamily="34" charset="0"/>
                        <a:ea typeface="Calibri" panose="020F0502020204030204" pitchFamily="34" charset="0"/>
                      </a:endParaRPr>
                    </a:p>
                  </a:txBody>
                  <a:tcPr marL="42903" marR="42903" marT="21452" marB="21452">
                    <a:solidFill>
                      <a:schemeClr val="bg1">
                        <a:lumMod val="85000"/>
                      </a:schemeClr>
                    </a:solidFill>
                  </a:tcPr>
                </a:tc>
                <a:tc>
                  <a:txBody>
                    <a:bodyPr/>
                    <a:lstStyle/>
                    <a:p>
                      <a:pPr marL="0" marR="0" algn="l">
                        <a:lnSpc>
                          <a:spcPts val="1200"/>
                        </a:lnSpc>
                        <a:spcBef>
                          <a:spcPts val="0"/>
                        </a:spcBef>
                        <a:spcAft>
                          <a:spcPts val="0"/>
                        </a:spcAft>
                      </a:pPr>
                      <a:r>
                        <a:rPr lang="en-US" sz="1400" dirty="0">
                          <a:solidFill>
                            <a:schemeClr val="tx1"/>
                          </a:solidFill>
                          <a:effectLst/>
                        </a:rPr>
                        <a:t>Statement that the practitioner is independent and the basis therefor (i.e., the independence criteria against which the practitioner determined independence).</a:t>
                      </a:r>
                    </a:p>
                    <a:p>
                      <a:pPr marL="0" marR="0" algn="l">
                        <a:lnSpc>
                          <a:spcPts val="1200"/>
                        </a:lnSpc>
                        <a:spcBef>
                          <a:spcPts val="0"/>
                        </a:spcBef>
                        <a:spcAft>
                          <a:spcPts val="0"/>
                        </a:spcAft>
                      </a:pPr>
                      <a:endParaRPr lang="en-US" sz="1400" dirty="0">
                        <a:solidFill>
                          <a:schemeClr val="tx1"/>
                        </a:solidFill>
                        <a:effectLst/>
                        <a:latin typeface="Arial" panose="020B0604020202020204" pitchFamily="34" charset="0"/>
                        <a:ea typeface="Calibri" panose="020F0502020204030204" pitchFamily="34" charset="0"/>
                      </a:endParaRPr>
                    </a:p>
                  </a:txBody>
                  <a:tcPr marL="42903" marR="42903" marT="21452" marB="21452">
                    <a:solidFill>
                      <a:schemeClr val="bg1">
                        <a:lumMod val="85000"/>
                      </a:schemeClr>
                    </a:solidFill>
                  </a:tcPr>
                </a:tc>
                <a:tc>
                  <a:txBody>
                    <a:bodyPr/>
                    <a:lstStyle/>
                    <a:p>
                      <a:pPr marL="0" marR="0" algn="l">
                        <a:lnSpc>
                          <a:spcPts val="1200"/>
                        </a:lnSpc>
                        <a:spcBef>
                          <a:spcPts val="0"/>
                        </a:spcBef>
                        <a:spcAft>
                          <a:spcPts val="0"/>
                        </a:spcAft>
                      </a:pPr>
                      <a:r>
                        <a:rPr lang="en-US" sz="1400" dirty="0">
                          <a:solidFill>
                            <a:schemeClr val="tx1"/>
                          </a:solidFill>
                          <a:effectLst/>
                        </a:rPr>
                        <a:t>Statement that the practitioner is independent and the basis therefor (i.e., the independence criteria against which the practitioner determined independence).</a:t>
                      </a:r>
                      <a:endParaRPr lang="en-US" sz="1400" dirty="0">
                        <a:solidFill>
                          <a:schemeClr val="tx1"/>
                        </a:solidFill>
                        <a:effectLst/>
                        <a:latin typeface="Arial" panose="020B0604020202020204" pitchFamily="34" charset="0"/>
                        <a:ea typeface="Calibri" panose="020F0502020204030204" pitchFamily="34" charset="0"/>
                      </a:endParaRPr>
                    </a:p>
                  </a:txBody>
                  <a:tcPr marL="42903" marR="42903" marT="21452" marB="21452">
                    <a:solidFill>
                      <a:schemeClr val="bg1">
                        <a:lumMod val="85000"/>
                      </a:schemeClr>
                    </a:solidFill>
                  </a:tcPr>
                </a:tc>
                <a:extLst>
                  <a:ext uri="{0D108BD9-81ED-4DB2-BD59-A6C34878D82A}">
                    <a16:rowId xmlns:a16="http://schemas.microsoft.com/office/drawing/2014/main" val="2096185684"/>
                  </a:ext>
                </a:extLst>
              </a:tr>
              <a:tr h="1456264">
                <a:tc vMerge="1">
                  <a:txBody>
                    <a:bodyPr/>
                    <a:lstStyle/>
                    <a:p>
                      <a:endParaRPr lang="en-US"/>
                    </a:p>
                  </a:txBody>
                  <a:tcPr/>
                </a:tc>
                <a:tc>
                  <a:txBody>
                    <a:bodyPr/>
                    <a:lstStyle/>
                    <a:p>
                      <a:pPr marL="0" marR="0" algn="l">
                        <a:lnSpc>
                          <a:spcPts val="1200"/>
                        </a:lnSpc>
                        <a:spcBef>
                          <a:spcPts val="0"/>
                        </a:spcBef>
                        <a:spcAft>
                          <a:spcPts val="0"/>
                        </a:spcAft>
                      </a:pPr>
                      <a:r>
                        <a:rPr lang="en-US" sz="1400" b="1" dirty="0">
                          <a:solidFill>
                            <a:schemeClr val="tx1"/>
                          </a:solidFill>
                          <a:effectLst/>
                        </a:rPr>
                        <a:t>No</a:t>
                      </a:r>
                      <a:endParaRPr lang="en-US" sz="1400" b="1" dirty="0">
                        <a:solidFill>
                          <a:schemeClr val="tx1"/>
                        </a:solidFill>
                        <a:effectLst/>
                        <a:latin typeface="Arial" panose="020B0604020202020204" pitchFamily="34" charset="0"/>
                        <a:ea typeface="Calibri" panose="020F0502020204030204" pitchFamily="34" charset="0"/>
                      </a:endParaRPr>
                    </a:p>
                  </a:txBody>
                  <a:tcPr marL="42903" marR="42903" marT="21452" marB="21452">
                    <a:solidFill>
                      <a:schemeClr val="accent3">
                        <a:lumMod val="20000"/>
                        <a:lumOff val="80000"/>
                      </a:schemeClr>
                    </a:solidFill>
                  </a:tcPr>
                </a:tc>
                <a:tc>
                  <a:txBody>
                    <a:bodyPr/>
                    <a:lstStyle/>
                    <a:p>
                      <a:pPr marL="0" marR="0" algn="l">
                        <a:lnSpc>
                          <a:spcPts val="1200"/>
                        </a:lnSpc>
                        <a:spcBef>
                          <a:spcPts val="0"/>
                        </a:spcBef>
                        <a:spcAft>
                          <a:spcPts val="0"/>
                        </a:spcAft>
                      </a:pPr>
                      <a:r>
                        <a:rPr lang="en-US" sz="1400" dirty="0">
                          <a:solidFill>
                            <a:schemeClr val="tx1"/>
                          </a:solidFill>
                          <a:effectLst/>
                        </a:rPr>
                        <a:t>Not applicable: Practitioner is not able to perform the agreed-upon procedures engagement because the practitioner is not independent.</a:t>
                      </a:r>
                      <a:endParaRPr lang="en-US" sz="1400" dirty="0">
                        <a:solidFill>
                          <a:schemeClr val="tx1"/>
                        </a:solidFill>
                        <a:effectLst/>
                        <a:latin typeface="Arial" panose="020B0604020202020204" pitchFamily="34" charset="0"/>
                        <a:ea typeface="Calibri" panose="020F0502020204030204" pitchFamily="34" charset="0"/>
                      </a:endParaRPr>
                    </a:p>
                  </a:txBody>
                  <a:tcPr marL="42903" marR="42903" marT="21452" marB="21452">
                    <a:solidFill>
                      <a:schemeClr val="accent3">
                        <a:lumMod val="20000"/>
                        <a:lumOff val="80000"/>
                      </a:schemeClr>
                    </a:solidFill>
                  </a:tcPr>
                </a:tc>
                <a:tc>
                  <a:txBody>
                    <a:bodyPr/>
                    <a:lstStyle/>
                    <a:p>
                      <a:pPr marL="0" marR="0" algn="l">
                        <a:lnSpc>
                          <a:spcPts val="1200"/>
                        </a:lnSpc>
                        <a:spcBef>
                          <a:spcPts val="0"/>
                        </a:spcBef>
                        <a:spcAft>
                          <a:spcPts val="0"/>
                        </a:spcAft>
                      </a:pPr>
                      <a:r>
                        <a:rPr lang="en-US" sz="1400" b="1" dirty="0">
                          <a:solidFill>
                            <a:schemeClr val="tx1"/>
                          </a:solidFill>
                          <a:effectLst/>
                        </a:rPr>
                        <a:t>Alternative 1: Statement that the practitioner is not required to be independent.</a:t>
                      </a:r>
                    </a:p>
                    <a:p>
                      <a:pPr marL="0" marR="0" algn="l">
                        <a:lnSpc>
                          <a:spcPts val="1200"/>
                        </a:lnSpc>
                        <a:spcBef>
                          <a:spcPts val="0"/>
                        </a:spcBef>
                        <a:spcAft>
                          <a:spcPts val="0"/>
                        </a:spcAft>
                      </a:pPr>
                      <a:r>
                        <a:rPr lang="en-US" sz="1400" b="1" dirty="0">
                          <a:solidFill>
                            <a:schemeClr val="tx1"/>
                          </a:solidFill>
                          <a:effectLst/>
                        </a:rPr>
                        <a:t> </a:t>
                      </a:r>
                    </a:p>
                    <a:p>
                      <a:pPr marL="0" marR="0" algn="l">
                        <a:lnSpc>
                          <a:spcPts val="1200"/>
                        </a:lnSpc>
                        <a:spcBef>
                          <a:spcPts val="0"/>
                        </a:spcBef>
                        <a:spcAft>
                          <a:spcPts val="0"/>
                        </a:spcAft>
                      </a:pPr>
                      <a:r>
                        <a:rPr lang="en-US" sz="1400" b="1" dirty="0">
                          <a:solidFill>
                            <a:schemeClr val="tx1"/>
                          </a:solidFill>
                          <a:effectLst/>
                        </a:rPr>
                        <a:t>Alternative 2: Statement that, although the practitioner is not required to be independent, the practitioner is not independent. Explanation as to why the practitioner is not independent. </a:t>
                      </a:r>
                      <a:endParaRPr lang="en-US" sz="1400" b="1" dirty="0">
                        <a:solidFill>
                          <a:schemeClr val="tx1"/>
                        </a:solidFill>
                        <a:effectLst/>
                        <a:latin typeface="Arial" panose="020B0604020202020204" pitchFamily="34" charset="0"/>
                        <a:ea typeface="Calibri" panose="020F0502020204030204" pitchFamily="34" charset="0"/>
                      </a:endParaRPr>
                    </a:p>
                  </a:txBody>
                  <a:tcPr marL="42903" marR="42903" marT="21452" marB="21452">
                    <a:solidFill>
                      <a:schemeClr val="accent3">
                        <a:lumMod val="20000"/>
                        <a:lumOff val="80000"/>
                      </a:schemeClr>
                    </a:solidFill>
                  </a:tcPr>
                </a:tc>
                <a:extLst>
                  <a:ext uri="{0D108BD9-81ED-4DB2-BD59-A6C34878D82A}">
                    <a16:rowId xmlns:a16="http://schemas.microsoft.com/office/drawing/2014/main" val="2056379992"/>
                  </a:ext>
                </a:extLst>
              </a:tr>
            </a:tbl>
          </a:graphicData>
        </a:graphic>
      </p:graphicFrame>
    </p:spTree>
    <p:extLst>
      <p:ext uri="{BB962C8B-B14F-4D97-AF65-F5344CB8AC3E}">
        <p14:creationId xmlns:p14="http://schemas.microsoft.com/office/powerpoint/2010/main" val="13299652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81000" y="405226"/>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Independence – Disclosure of Independence (cont’d)</a:t>
            </a:r>
          </a:p>
        </p:txBody>
      </p:sp>
      <p:sp>
        <p:nvSpPr>
          <p:cNvPr id="6" name="Content Placeholder 1"/>
          <p:cNvSpPr txBox="1">
            <a:spLocks/>
          </p:cNvSpPr>
          <p:nvPr/>
        </p:nvSpPr>
        <p:spPr>
          <a:xfrm>
            <a:off x="378638" y="1060886"/>
            <a:ext cx="8497006" cy="1311136"/>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lvl="0" indent="0">
              <a:buNone/>
            </a:pPr>
            <a:r>
              <a:rPr lang="en-US" sz="2000" dirty="0">
                <a:solidFill>
                  <a:srgbClr val="808080"/>
                </a:solidFill>
                <a:latin typeface="Arial" panose="020B0604020202020204" pitchFamily="34" charset="0"/>
                <a:cs typeface="Arial" panose="020B0604020202020204" pitchFamily="34" charset="0"/>
              </a:rPr>
              <a:t>Q3. The IAASB is asked for its views on the independence disclosure requirements</a:t>
            </a:r>
            <a:endParaRPr lang="en-US" sz="1600" dirty="0">
              <a:solidFill>
                <a:srgbClr val="808080"/>
              </a:solidFill>
              <a:latin typeface="Arial" panose="020B0604020202020204" pitchFamily="34" charset="0"/>
              <a:cs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47008365"/>
              </p:ext>
            </p:extLst>
          </p:nvPr>
        </p:nvGraphicFramePr>
        <p:xfrm>
          <a:off x="378638" y="2394781"/>
          <a:ext cx="8384362" cy="1656521"/>
        </p:xfrm>
        <a:graphic>
          <a:graphicData uri="http://schemas.openxmlformats.org/drawingml/2006/table">
            <a:tbl>
              <a:tblPr firstRow="1" bandRow="1">
                <a:tableStyleId>{5C22544A-7EE6-4342-B048-85BDC9FD1C3A}</a:tableStyleId>
              </a:tblPr>
              <a:tblGrid>
                <a:gridCol w="8384362">
                  <a:extLst>
                    <a:ext uri="{9D8B030D-6E8A-4147-A177-3AD203B41FA5}">
                      <a16:colId xmlns:a16="http://schemas.microsoft.com/office/drawing/2014/main" val="713251629"/>
                    </a:ext>
                  </a:extLst>
                </a:gridCol>
              </a:tblGrid>
              <a:tr h="1656521">
                <a:tc>
                  <a:txBody>
                    <a:bodyPr/>
                    <a:lstStyle/>
                    <a:p>
                      <a:r>
                        <a:rPr lang="en-CA" sz="2000" b="1" i="0" kern="1200" dirty="0">
                          <a:solidFill>
                            <a:schemeClr val="lt1"/>
                          </a:solidFill>
                          <a:effectLst/>
                          <a:latin typeface="+mn-lt"/>
                          <a:ea typeface="+mn-ea"/>
                          <a:cs typeface="+mn-cs"/>
                        </a:rPr>
                        <a:t>Task Force’s preliminary views</a:t>
                      </a:r>
                    </a:p>
                    <a:p>
                      <a:pPr marL="342900" indent="-342900">
                        <a:buFont typeface="Arial" panose="020B0604020202020204" pitchFamily="34" charset="0"/>
                        <a:buChar char="•"/>
                      </a:pPr>
                      <a:r>
                        <a:rPr lang="en-CA" sz="2000" b="0" i="0" kern="1200" dirty="0">
                          <a:solidFill>
                            <a:schemeClr val="lt1"/>
                          </a:solidFill>
                          <a:effectLst/>
                          <a:latin typeface="+mn-lt"/>
                          <a:ea typeface="+mn-ea"/>
                          <a:cs typeface="+mn-cs"/>
                        </a:rPr>
                        <a:t>Lean towards enhancing transparency (Alternative 2)</a:t>
                      </a:r>
                    </a:p>
                  </a:txBody>
                  <a:tcPr>
                    <a:solidFill>
                      <a:schemeClr val="tx1">
                        <a:lumMod val="50000"/>
                        <a:lumOff val="50000"/>
                      </a:schemeClr>
                    </a:solidFill>
                  </a:tcPr>
                </a:tc>
                <a:extLst>
                  <a:ext uri="{0D108BD9-81ED-4DB2-BD59-A6C34878D82A}">
                    <a16:rowId xmlns:a16="http://schemas.microsoft.com/office/drawing/2014/main" val="493788776"/>
                  </a:ext>
                </a:extLst>
              </a:tr>
            </a:tbl>
          </a:graphicData>
        </a:graphic>
      </p:graphicFrame>
    </p:spTree>
    <p:extLst>
      <p:ext uri="{BB962C8B-B14F-4D97-AF65-F5344CB8AC3E}">
        <p14:creationId xmlns:p14="http://schemas.microsoft.com/office/powerpoint/2010/main" val="3681925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62886" y="485775"/>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Findings</a:t>
            </a:r>
          </a:p>
        </p:txBody>
      </p:sp>
      <p:sp>
        <p:nvSpPr>
          <p:cNvPr id="6" name="Content Placeholder 1"/>
          <p:cNvSpPr txBox="1">
            <a:spLocks/>
          </p:cNvSpPr>
          <p:nvPr/>
        </p:nvSpPr>
        <p:spPr>
          <a:xfrm>
            <a:off x="379819" y="2098117"/>
            <a:ext cx="6118517" cy="2036913"/>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r>
              <a:rPr lang="en-US" sz="1800" kern="0" dirty="0">
                <a:solidFill>
                  <a:srgbClr val="808080"/>
                </a:solidFill>
                <a:latin typeface="Arial" panose="020B0604020202020204" pitchFamily="34" charset="0"/>
                <a:cs typeface="Arial" panose="020B0604020202020204" pitchFamily="34" charset="0"/>
              </a:rPr>
              <a:t>Support for using the term “findings”</a:t>
            </a:r>
          </a:p>
          <a:p>
            <a:r>
              <a:rPr lang="en-US" sz="1800" kern="0" dirty="0">
                <a:solidFill>
                  <a:srgbClr val="808080"/>
                </a:solidFill>
                <a:latin typeface="Arial" panose="020B0604020202020204" pitchFamily="34" charset="0"/>
                <a:cs typeface="Arial" panose="020B0604020202020204" pitchFamily="34" charset="0"/>
              </a:rPr>
              <a:t>However, several respondents preferred to revert to the term “factual findings.” </a:t>
            </a:r>
          </a:p>
          <a:p>
            <a:pPr lvl="1"/>
            <a:r>
              <a:rPr lang="en-US" sz="1600" kern="0" dirty="0">
                <a:solidFill>
                  <a:srgbClr val="808080"/>
                </a:solidFill>
                <a:latin typeface="Arial" panose="020B0604020202020204" pitchFamily="34" charset="0"/>
                <a:cs typeface="Arial" panose="020B0604020202020204" pitchFamily="34" charset="0"/>
              </a:rPr>
              <a:t>A few of these respondents suggested that, if the term “findings” is retained, an explanation of the term “findings” be included in the engagement letter and the AUP report</a:t>
            </a:r>
          </a:p>
        </p:txBody>
      </p:sp>
      <p:graphicFrame>
        <p:nvGraphicFramePr>
          <p:cNvPr id="2" name="Table 1"/>
          <p:cNvGraphicFramePr>
            <a:graphicFrameLocks noGrp="1"/>
          </p:cNvGraphicFramePr>
          <p:nvPr>
            <p:extLst>
              <p:ext uri="{D42A27DB-BD31-4B8C-83A1-F6EECF244321}">
                <p14:modId xmlns:p14="http://schemas.microsoft.com/office/powerpoint/2010/main" val="4277366515"/>
              </p:ext>
            </p:extLst>
          </p:nvPr>
        </p:nvGraphicFramePr>
        <p:xfrm>
          <a:off x="404037" y="885825"/>
          <a:ext cx="6094299" cy="1012268"/>
        </p:xfrm>
        <a:graphic>
          <a:graphicData uri="http://schemas.openxmlformats.org/drawingml/2006/table">
            <a:tbl>
              <a:tblPr firstRow="1" bandRow="1">
                <a:tableStyleId>{5C22544A-7EE6-4342-B048-85BDC9FD1C3A}</a:tableStyleId>
              </a:tblPr>
              <a:tblGrid>
                <a:gridCol w="6094299">
                  <a:extLst>
                    <a:ext uri="{9D8B030D-6E8A-4147-A177-3AD203B41FA5}">
                      <a16:colId xmlns:a16="http://schemas.microsoft.com/office/drawing/2014/main" val="713251629"/>
                    </a:ext>
                  </a:extLst>
                </a:gridCol>
              </a:tblGrid>
              <a:tr h="1012268">
                <a:tc>
                  <a:txBody>
                    <a:bodyPr/>
                    <a:lstStyle/>
                    <a:p>
                      <a:r>
                        <a:rPr lang="en-US" sz="1800" b="0" i="0" kern="1200" dirty="0">
                          <a:solidFill>
                            <a:schemeClr val="lt1"/>
                          </a:solidFill>
                          <a:effectLst/>
                          <a:latin typeface="Arial" panose="020B0604020202020204" pitchFamily="34" charset="0"/>
                          <a:ea typeface="+mn-ea"/>
                          <a:cs typeface="Arial" panose="020B0604020202020204" pitchFamily="34" charset="0"/>
                        </a:rPr>
                        <a:t>Q5. Do you agree with the term “findings” and the related definitions and application material in para. 13(f) and A10-A11 of ED-4400?</a:t>
                      </a:r>
                      <a:endParaRPr lang="en-US" sz="1800" b="0" i="0" dirty="0">
                        <a:latin typeface="Arial" panose="020B0604020202020204" pitchFamily="34" charset="0"/>
                        <a:cs typeface="Arial" panose="020B0604020202020204" pitchFamily="34" charset="0"/>
                      </a:endParaRPr>
                    </a:p>
                  </a:txBody>
                  <a:tcPr>
                    <a:solidFill>
                      <a:srgbClr val="005BAA"/>
                    </a:solidFill>
                  </a:tcPr>
                </a:tc>
                <a:extLst>
                  <a:ext uri="{0D108BD9-81ED-4DB2-BD59-A6C34878D82A}">
                    <a16:rowId xmlns:a16="http://schemas.microsoft.com/office/drawing/2014/main" val="493788776"/>
                  </a:ext>
                </a:extLst>
              </a:tr>
            </a:tbl>
          </a:graphicData>
        </a:graphic>
      </p:graphicFrame>
      <p:graphicFrame>
        <p:nvGraphicFramePr>
          <p:cNvPr id="7" name="Chart 6"/>
          <p:cNvGraphicFramePr/>
          <p:nvPr>
            <p:extLst>
              <p:ext uri="{D42A27DB-BD31-4B8C-83A1-F6EECF244321}">
                <p14:modId xmlns:p14="http://schemas.microsoft.com/office/powerpoint/2010/main" val="2246657392"/>
              </p:ext>
            </p:extLst>
          </p:nvPr>
        </p:nvGraphicFramePr>
        <p:xfrm>
          <a:off x="6122504" y="885825"/>
          <a:ext cx="2862470" cy="36671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49491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81000" y="405226"/>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Findings (cont’d)</a:t>
            </a:r>
          </a:p>
        </p:txBody>
      </p:sp>
      <p:sp>
        <p:nvSpPr>
          <p:cNvPr id="6" name="Content Placeholder 1"/>
          <p:cNvSpPr txBox="1">
            <a:spLocks/>
          </p:cNvSpPr>
          <p:nvPr/>
        </p:nvSpPr>
        <p:spPr>
          <a:xfrm>
            <a:off x="378638" y="1027688"/>
            <a:ext cx="8497006" cy="1198678"/>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lvl="0" indent="0">
              <a:buNone/>
            </a:pPr>
            <a:r>
              <a:rPr lang="en-US" sz="2000" dirty="0">
                <a:solidFill>
                  <a:srgbClr val="808080"/>
                </a:solidFill>
                <a:latin typeface="Arial" panose="020B0604020202020204" pitchFamily="34" charset="0"/>
                <a:cs typeface="Arial" panose="020B0604020202020204" pitchFamily="34" charset="0"/>
              </a:rPr>
              <a:t>Q4. The IAASB is asked for its views on the use of the term “findings</a:t>
            </a:r>
            <a:endParaRPr lang="en-US" sz="1600" dirty="0">
              <a:solidFill>
                <a:srgbClr val="808080"/>
              </a:solidFill>
              <a:latin typeface="Arial" panose="020B0604020202020204" pitchFamily="34" charset="0"/>
              <a:cs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133771480"/>
              </p:ext>
            </p:extLst>
          </p:nvPr>
        </p:nvGraphicFramePr>
        <p:xfrm>
          <a:off x="378638" y="1894591"/>
          <a:ext cx="8384362" cy="2403019"/>
        </p:xfrm>
        <a:graphic>
          <a:graphicData uri="http://schemas.openxmlformats.org/drawingml/2006/table">
            <a:tbl>
              <a:tblPr firstRow="1" bandRow="1">
                <a:tableStyleId>{5C22544A-7EE6-4342-B048-85BDC9FD1C3A}</a:tableStyleId>
              </a:tblPr>
              <a:tblGrid>
                <a:gridCol w="8384362">
                  <a:extLst>
                    <a:ext uri="{9D8B030D-6E8A-4147-A177-3AD203B41FA5}">
                      <a16:colId xmlns:a16="http://schemas.microsoft.com/office/drawing/2014/main" val="713251629"/>
                    </a:ext>
                  </a:extLst>
                </a:gridCol>
              </a:tblGrid>
              <a:tr h="2403019">
                <a:tc>
                  <a:txBody>
                    <a:bodyPr/>
                    <a:lstStyle/>
                    <a:p>
                      <a:r>
                        <a:rPr lang="en-CA" sz="2000" b="1" i="0" kern="1200" dirty="0">
                          <a:solidFill>
                            <a:schemeClr val="lt1"/>
                          </a:solidFill>
                          <a:effectLst/>
                          <a:latin typeface="+mn-lt"/>
                          <a:ea typeface="+mn-ea"/>
                          <a:cs typeface="+mn-cs"/>
                        </a:rPr>
                        <a:t>Task Force’s preliminary views</a:t>
                      </a:r>
                    </a:p>
                    <a:p>
                      <a:pPr marL="342900" indent="-342900">
                        <a:buFont typeface="Arial" panose="020B0604020202020204" pitchFamily="34" charset="0"/>
                        <a:buChar char="•"/>
                      </a:pPr>
                      <a:r>
                        <a:rPr lang="en-CA" sz="2000" b="0" i="0" kern="1200" dirty="0">
                          <a:solidFill>
                            <a:schemeClr val="lt1"/>
                          </a:solidFill>
                          <a:effectLst/>
                          <a:latin typeface="+mn-lt"/>
                          <a:ea typeface="+mn-ea"/>
                          <a:cs typeface="+mn-cs"/>
                        </a:rPr>
                        <a:t>Retain the use of the term “findings”</a:t>
                      </a:r>
                    </a:p>
                    <a:p>
                      <a:pPr marL="342900" indent="-342900">
                        <a:buFont typeface="Arial" panose="020B0604020202020204" pitchFamily="34" charset="0"/>
                        <a:buChar char="•"/>
                      </a:pPr>
                      <a:r>
                        <a:rPr lang="en-CA" sz="2000" b="0" i="0" kern="1200" dirty="0">
                          <a:solidFill>
                            <a:schemeClr val="lt1"/>
                          </a:solidFill>
                          <a:effectLst/>
                          <a:latin typeface="+mn-lt"/>
                          <a:ea typeface="+mn-ea"/>
                          <a:cs typeface="+mn-cs"/>
                        </a:rPr>
                        <a:t>Retain the ability of some jurisdictions to use the term “factual findings”</a:t>
                      </a:r>
                    </a:p>
                    <a:p>
                      <a:pPr marL="342900" indent="-342900">
                        <a:buFont typeface="Arial" panose="020B0604020202020204" pitchFamily="34" charset="0"/>
                        <a:buChar char="•"/>
                      </a:pPr>
                      <a:r>
                        <a:rPr lang="en-US" sz="2000" b="0" i="0" kern="1200" dirty="0">
                          <a:solidFill>
                            <a:schemeClr val="lt1"/>
                          </a:solidFill>
                          <a:effectLst/>
                          <a:latin typeface="+mn-lt"/>
                          <a:ea typeface="+mn-ea"/>
                          <a:cs typeface="+mn-cs"/>
                        </a:rPr>
                        <a:t>Require the practitioner to include in the engagement letter and the AUP report an explanation of the term “findings”</a:t>
                      </a:r>
                      <a:endParaRPr lang="en-US" sz="1600" b="0" i="0" kern="1200" dirty="0">
                        <a:solidFill>
                          <a:schemeClr val="lt1"/>
                        </a:solidFill>
                        <a:effectLst/>
                        <a:latin typeface="+mn-lt"/>
                        <a:ea typeface="+mn-ea"/>
                        <a:cs typeface="+mn-cs"/>
                      </a:endParaRPr>
                    </a:p>
                  </a:txBody>
                  <a:tcPr>
                    <a:solidFill>
                      <a:schemeClr val="tx1">
                        <a:lumMod val="50000"/>
                        <a:lumOff val="50000"/>
                      </a:schemeClr>
                    </a:solidFill>
                  </a:tcPr>
                </a:tc>
                <a:extLst>
                  <a:ext uri="{0D108BD9-81ED-4DB2-BD59-A6C34878D82A}">
                    <a16:rowId xmlns:a16="http://schemas.microsoft.com/office/drawing/2014/main" val="493788776"/>
                  </a:ext>
                </a:extLst>
              </a:tr>
            </a:tbl>
          </a:graphicData>
        </a:graphic>
      </p:graphicFrame>
    </p:spTree>
    <p:extLst>
      <p:ext uri="{BB962C8B-B14F-4D97-AF65-F5344CB8AC3E}">
        <p14:creationId xmlns:p14="http://schemas.microsoft.com/office/powerpoint/2010/main" val="8015601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62886" y="485775"/>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Engagement Acceptance and Continuance</a:t>
            </a:r>
          </a:p>
        </p:txBody>
      </p:sp>
      <p:sp>
        <p:nvSpPr>
          <p:cNvPr id="6" name="Content Placeholder 1"/>
          <p:cNvSpPr txBox="1">
            <a:spLocks/>
          </p:cNvSpPr>
          <p:nvPr/>
        </p:nvSpPr>
        <p:spPr>
          <a:xfrm>
            <a:off x="379819" y="1927546"/>
            <a:ext cx="6037165" cy="2635724"/>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r>
              <a:rPr lang="en-US" sz="1800" kern="0" dirty="0">
                <a:solidFill>
                  <a:srgbClr val="808080"/>
                </a:solidFill>
                <a:latin typeface="Arial" panose="020B0604020202020204" pitchFamily="34" charset="0"/>
                <a:cs typeface="Arial" panose="020B0604020202020204" pitchFamily="34" charset="0"/>
              </a:rPr>
              <a:t>Significant support for the proposals on the engagement acceptance and continuance conditions</a:t>
            </a:r>
          </a:p>
          <a:p>
            <a:r>
              <a:rPr lang="en-US" sz="1800" kern="0" dirty="0">
                <a:solidFill>
                  <a:srgbClr val="808080"/>
                </a:solidFill>
                <a:latin typeface="Arial" panose="020B0604020202020204" pitchFamily="34" charset="0"/>
                <a:cs typeface="Arial" panose="020B0604020202020204" pitchFamily="34" charset="0"/>
              </a:rPr>
              <a:t>Some expressed a concern that the engagement acceptance and continuance conditions seem to imply that the procedures to be performed are “set in stone” at the beginning of the engagement</a:t>
            </a:r>
          </a:p>
          <a:p>
            <a:r>
              <a:rPr lang="en-US" sz="1800" kern="0" dirty="0">
                <a:solidFill>
                  <a:srgbClr val="808080"/>
                </a:solidFill>
                <a:latin typeface="Arial" panose="020B0604020202020204" pitchFamily="34" charset="0"/>
                <a:cs typeface="Arial" panose="020B0604020202020204" pitchFamily="34" charset="0"/>
              </a:rPr>
              <a:t>Many provided suggestions on additional acceptance and continuance conditions</a:t>
            </a:r>
          </a:p>
          <a:p>
            <a:endParaRPr lang="en-US" sz="1800" kern="0" dirty="0">
              <a:solidFill>
                <a:srgbClr val="808080"/>
              </a:solidFill>
              <a:latin typeface="Arial" panose="020B0604020202020204" pitchFamily="34" charset="0"/>
              <a:cs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862305084"/>
              </p:ext>
            </p:extLst>
          </p:nvPr>
        </p:nvGraphicFramePr>
        <p:xfrm>
          <a:off x="404037" y="885825"/>
          <a:ext cx="6223340" cy="1012268"/>
        </p:xfrm>
        <a:graphic>
          <a:graphicData uri="http://schemas.openxmlformats.org/drawingml/2006/table">
            <a:tbl>
              <a:tblPr firstRow="1" bandRow="1">
                <a:tableStyleId>{5C22544A-7EE6-4342-B048-85BDC9FD1C3A}</a:tableStyleId>
              </a:tblPr>
              <a:tblGrid>
                <a:gridCol w="6223340">
                  <a:extLst>
                    <a:ext uri="{9D8B030D-6E8A-4147-A177-3AD203B41FA5}">
                      <a16:colId xmlns:a16="http://schemas.microsoft.com/office/drawing/2014/main" val="713251629"/>
                    </a:ext>
                  </a:extLst>
                </a:gridCol>
              </a:tblGrid>
              <a:tr h="1012268">
                <a:tc>
                  <a:txBody>
                    <a:bodyPr/>
                    <a:lstStyle/>
                    <a:p>
                      <a:r>
                        <a:rPr lang="en-US" sz="1800" b="0" i="0" kern="1200" dirty="0">
                          <a:solidFill>
                            <a:schemeClr val="lt1"/>
                          </a:solidFill>
                          <a:effectLst/>
                          <a:latin typeface="Arial" panose="020B0604020202020204" pitchFamily="34" charset="0"/>
                          <a:ea typeface="+mn-ea"/>
                          <a:cs typeface="Arial" panose="020B0604020202020204" pitchFamily="34" charset="0"/>
                        </a:rPr>
                        <a:t>Q6. Are the requirements and application material regarding engagement acceptance and continuance, as set out in para. 20-21 and A20-A29 of ED-4400, appropriate?</a:t>
                      </a:r>
                      <a:endParaRPr lang="en-US" sz="1800" b="0" i="0" dirty="0">
                        <a:latin typeface="Arial" panose="020B0604020202020204" pitchFamily="34" charset="0"/>
                        <a:cs typeface="Arial" panose="020B0604020202020204" pitchFamily="34" charset="0"/>
                      </a:endParaRPr>
                    </a:p>
                  </a:txBody>
                  <a:tcPr>
                    <a:solidFill>
                      <a:srgbClr val="005BAA"/>
                    </a:solidFill>
                  </a:tcPr>
                </a:tc>
                <a:extLst>
                  <a:ext uri="{0D108BD9-81ED-4DB2-BD59-A6C34878D82A}">
                    <a16:rowId xmlns:a16="http://schemas.microsoft.com/office/drawing/2014/main" val="493788776"/>
                  </a:ext>
                </a:extLst>
              </a:tr>
            </a:tbl>
          </a:graphicData>
        </a:graphic>
      </p:graphicFrame>
      <p:graphicFrame>
        <p:nvGraphicFramePr>
          <p:cNvPr id="7" name="Chart 6"/>
          <p:cNvGraphicFramePr/>
          <p:nvPr>
            <p:extLst>
              <p:ext uri="{D42A27DB-BD31-4B8C-83A1-F6EECF244321}">
                <p14:modId xmlns:p14="http://schemas.microsoft.com/office/powerpoint/2010/main" val="1894611432"/>
              </p:ext>
            </p:extLst>
          </p:nvPr>
        </p:nvGraphicFramePr>
        <p:xfrm>
          <a:off x="6122504" y="885825"/>
          <a:ext cx="2862470" cy="36671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22204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81000" y="405226"/>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Engagement Acceptance and Continuance (cont’d)</a:t>
            </a:r>
          </a:p>
        </p:txBody>
      </p:sp>
      <p:sp>
        <p:nvSpPr>
          <p:cNvPr id="6" name="Content Placeholder 1"/>
          <p:cNvSpPr txBox="1">
            <a:spLocks/>
          </p:cNvSpPr>
          <p:nvPr/>
        </p:nvSpPr>
        <p:spPr>
          <a:xfrm>
            <a:off x="378638" y="1027688"/>
            <a:ext cx="8497006" cy="1198678"/>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lvl="0" indent="0">
              <a:buNone/>
            </a:pPr>
            <a:r>
              <a:rPr lang="en-US" sz="2000" dirty="0">
                <a:solidFill>
                  <a:srgbClr val="808080"/>
                </a:solidFill>
                <a:latin typeface="Arial" panose="020B0604020202020204" pitchFamily="34" charset="0"/>
                <a:cs typeface="Arial" panose="020B0604020202020204" pitchFamily="34" charset="0"/>
              </a:rPr>
              <a:t>Q5. The IAASB is asked for its views on the engagement acceptance and continuance conditions</a:t>
            </a:r>
            <a:endParaRPr lang="en-US" sz="1600" dirty="0">
              <a:solidFill>
                <a:srgbClr val="808080"/>
              </a:solidFill>
              <a:latin typeface="Arial" panose="020B0604020202020204" pitchFamily="34" charset="0"/>
              <a:cs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403360551"/>
              </p:ext>
            </p:extLst>
          </p:nvPr>
        </p:nvGraphicFramePr>
        <p:xfrm>
          <a:off x="378638" y="1894591"/>
          <a:ext cx="8384362" cy="2529840"/>
        </p:xfrm>
        <a:graphic>
          <a:graphicData uri="http://schemas.openxmlformats.org/drawingml/2006/table">
            <a:tbl>
              <a:tblPr firstRow="1" bandRow="1">
                <a:tableStyleId>{5C22544A-7EE6-4342-B048-85BDC9FD1C3A}</a:tableStyleId>
              </a:tblPr>
              <a:tblGrid>
                <a:gridCol w="8384362">
                  <a:extLst>
                    <a:ext uri="{9D8B030D-6E8A-4147-A177-3AD203B41FA5}">
                      <a16:colId xmlns:a16="http://schemas.microsoft.com/office/drawing/2014/main" val="713251629"/>
                    </a:ext>
                  </a:extLst>
                </a:gridCol>
              </a:tblGrid>
              <a:tr h="2403019">
                <a:tc>
                  <a:txBody>
                    <a:bodyPr/>
                    <a:lstStyle/>
                    <a:p>
                      <a:r>
                        <a:rPr lang="en-CA" sz="2000" b="1" i="0" kern="1200" dirty="0">
                          <a:solidFill>
                            <a:schemeClr val="lt1"/>
                          </a:solidFill>
                          <a:effectLst/>
                          <a:latin typeface="+mn-lt"/>
                          <a:ea typeface="+mn-ea"/>
                          <a:cs typeface="+mn-cs"/>
                        </a:rPr>
                        <a:t>Task Force’s preliminary views</a:t>
                      </a:r>
                    </a:p>
                    <a:p>
                      <a:pPr marL="342900" indent="-342900">
                        <a:buFont typeface="Arial" panose="020B0604020202020204" pitchFamily="34" charset="0"/>
                        <a:buChar char="•"/>
                      </a:pPr>
                      <a:r>
                        <a:rPr lang="en-US" sz="2000" b="0" i="0" kern="1200" dirty="0">
                          <a:solidFill>
                            <a:schemeClr val="lt1"/>
                          </a:solidFill>
                          <a:effectLst/>
                          <a:latin typeface="+mn-lt"/>
                          <a:ea typeface="+mn-ea"/>
                          <a:cs typeface="+mn-cs"/>
                        </a:rPr>
                        <a:t>On the issue that these conditions are seemingly “set in stone”: </a:t>
                      </a:r>
                    </a:p>
                    <a:p>
                      <a:pPr marL="685800" lvl="1" indent="-342900">
                        <a:buFont typeface="Calibri" panose="020F0502020204030204" pitchFamily="34" charset="0"/>
                        <a:buChar char="̶"/>
                      </a:pPr>
                      <a:r>
                        <a:rPr lang="en-US" sz="2000" b="0" i="0" kern="1200" dirty="0">
                          <a:solidFill>
                            <a:schemeClr val="lt1"/>
                          </a:solidFill>
                          <a:effectLst/>
                          <a:latin typeface="+mn-lt"/>
                          <a:ea typeface="+mn-ea"/>
                          <a:cs typeface="+mn-cs"/>
                        </a:rPr>
                        <a:t>The practitioner should be required to agree the terms of the engagement</a:t>
                      </a:r>
                    </a:p>
                    <a:p>
                      <a:pPr marL="685800" lvl="1" indent="-342900">
                        <a:buFont typeface="Calibri" panose="020F0502020204030204" pitchFamily="34" charset="0"/>
                        <a:buChar char="̶"/>
                      </a:pPr>
                      <a:r>
                        <a:rPr lang="en-US" sz="2000" b="0" i="0" kern="1200" dirty="0">
                          <a:solidFill>
                            <a:schemeClr val="lt1"/>
                          </a:solidFill>
                          <a:effectLst/>
                          <a:latin typeface="+mn-lt"/>
                          <a:ea typeface="+mn-ea"/>
                          <a:cs typeface="+mn-cs"/>
                        </a:rPr>
                        <a:t>Emphasize that meeting the engagement acceptance and continuance conditions remains an iterative process during the AUP engagement</a:t>
                      </a:r>
                    </a:p>
                    <a:p>
                      <a:pPr marL="342900" indent="-342900">
                        <a:buFont typeface="Arial" panose="020B0604020202020204" pitchFamily="34" charset="0"/>
                        <a:buChar char="•"/>
                      </a:pPr>
                      <a:r>
                        <a:rPr lang="en-US" sz="2000" b="0" i="0" kern="1200" dirty="0">
                          <a:solidFill>
                            <a:schemeClr val="lt1"/>
                          </a:solidFill>
                          <a:effectLst/>
                          <a:latin typeface="+mn-lt"/>
                          <a:ea typeface="+mn-ea"/>
                          <a:cs typeface="+mn-cs"/>
                        </a:rPr>
                        <a:t>The Task Force will consider other suggestions to improve the engagement acceptance and continuance conditions </a:t>
                      </a:r>
                      <a:endParaRPr lang="en-CA" sz="2000" b="0" i="0" kern="1200" dirty="0">
                        <a:solidFill>
                          <a:schemeClr val="lt1"/>
                        </a:solidFill>
                        <a:effectLst/>
                        <a:latin typeface="+mn-lt"/>
                        <a:ea typeface="+mn-ea"/>
                        <a:cs typeface="+mn-cs"/>
                      </a:endParaRPr>
                    </a:p>
                  </a:txBody>
                  <a:tcPr>
                    <a:solidFill>
                      <a:schemeClr val="tx1">
                        <a:lumMod val="50000"/>
                        <a:lumOff val="50000"/>
                      </a:schemeClr>
                    </a:solidFill>
                  </a:tcPr>
                </a:tc>
                <a:extLst>
                  <a:ext uri="{0D108BD9-81ED-4DB2-BD59-A6C34878D82A}">
                    <a16:rowId xmlns:a16="http://schemas.microsoft.com/office/drawing/2014/main" val="493788776"/>
                  </a:ext>
                </a:extLst>
              </a:tr>
            </a:tbl>
          </a:graphicData>
        </a:graphic>
      </p:graphicFrame>
    </p:spTree>
    <p:extLst>
      <p:ext uri="{BB962C8B-B14F-4D97-AF65-F5344CB8AC3E}">
        <p14:creationId xmlns:p14="http://schemas.microsoft.com/office/powerpoint/2010/main" val="4020822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62886" y="485775"/>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Practitioner’s Expert</a:t>
            </a:r>
          </a:p>
        </p:txBody>
      </p:sp>
      <p:sp>
        <p:nvSpPr>
          <p:cNvPr id="6" name="Content Placeholder 1"/>
          <p:cNvSpPr txBox="1">
            <a:spLocks/>
          </p:cNvSpPr>
          <p:nvPr/>
        </p:nvSpPr>
        <p:spPr>
          <a:xfrm>
            <a:off x="380326" y="2013584"/>
            <a:ext cx="6036658" cy="2644141"/>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r>
              <a:rPr lang="en-US" sz="1700" kern="0" dirty="0">
                <a:solidFill>
                  <a:srgbClr val="808080"/>
                </a:solidFill>
                <a:latin typeface="Arial" panose="020B0604020202020204" pitchFamily="34" charset="0"/>
                <a:cs typeface="Arial" panose="020B0604020202020204" pitchFamily="34" charset="0"/>
              </a:rPr>
              <a:t>Significant support for addressing the use of the work of a practitioner’s expert in ED-4400</a:t>
            </a:r>
          </a:p>
          <a:p>
            <a:r>
              <a:rPr lang="en-US" sz="1700" kern="0" dirty="0">
                <a:solidFill>
                  <a:srgbClr val="808080"/>
                </a:solidFill>
                <a:latin typeface="Arial" panose="020B0604020202020204" pitchFamily="34" charset="0"/>
                <a:cs typeface="Arial" panose="020B0604020202020204" pitchFamily="34" charset="0"/>
              </a:rPr>
              <a:t>However, there were concerns regarding whether:</a:t>
            </a:r>
          </a:p>
          <a:p>
            <a:pPr lvl="1">
              <a:buFont typeface="Arial" panose="020B0604020202020204" pitchFamily="34" charset="0"/>
              <a:buChar char="̶"/>
            </a:pPr>
            <a:r>
              <a:rPr lang="en-US" sz="1700" kern="0" dirty="0">
                <a:solidFill>
                  <a:srgbClr val="808080"/>
                </a:solidFill>
                <a:latin typeface="Arial" panose="020B0604020202020204" pitchFamily="34" charset="0"/>
                <a:cs typeface="Arial" panose="020B0604020202020204" pitchFamily="34" charset="0"/>
              </a:rPr>
              <a:t>The practitioner possesses the competencies necessary to evaluate the expert’s work; and</a:t>
            </a:r>
          </a:p>
          <a:p>
            <a:pPr lvl="1">
              <a:buFont typeface="Arial" panose="020B0604020202020204" pitchFamily="34" charset="0"/>
              <a:buChar char="̶"/>
            </a:pPr>
            <a:r>
              <a:rPr lang="en-US" sz="1700" kern="0" dirty="0">
                <a:solidFill>
                  <a:srgbClr val="808080"/>
                </a:solidFill>
                <a:latin typeface="Arial" panose="020B0604020202020204" pitchFamily="34" charset="0"/>
                <a:cs typeface="Arial" panose="020B0604020202020204" pitchFamily="34" charset="0"/>
              </a:rPr>
              <a:t>The use of an expert would involve the application of significant professional judgment beyond that contemplated in an AUP engagement</a:t>
            </a:r>
          </a:p>
        </p:txBody>
      </p:sp>
      <p:graphicFrame>
        <p:nvGraphicFramePr>
          <p:cNvPr id="2" name="Table 1"/>
          <p:cNvGraphicFramePr>
            <a:graphicFrameLocks noGrp="1"/>
          </p:cNvGraphicFramePr>
          <p:nvPr>
            <p:extLst>
              <p:ext uri="{D42A27DB-BD31-4B8C-83A1-F6EECF244321}">
                <p14:modId xmlns:p14="http://schemas.microsoft.com/office/powerpoint/2010/main" val="2805608281"/>
              </p:ext>
            </p:extLst>
          </p:nvPr>
        </p:nvGraphicFramePr>
        <p:xfrm>
          <a:off x="404036" y="885825"/>
          <a:ext cx="6271893" cy="1127760"/>
        </p:xfrm>
        <a:graphic>
          <a:graphicData uri="http://schemas.openxmlformats.org/drawingml/2006/table">
            <a:tbl>
              <a:tblPr firstRow="1" bandRow="1">
                <a:tableStyleId>{5C22544A-7EE6-4342-B048-85BDC9FD1C3A}</a:tableStyleId>
              </a:tblPr>
              <a:tblGrid>
                <a:gridCol w="6271893">
                  <a:extLst>
                    <a:ext uri="{9D8B030D-6E8A-4147-A177-3AD203B41FA5}">
                      <a16:colId xmlns:a16="http://schemas.microsoft.com/office/drawing/2014/main" val="713251629"/>
                    </a:ext>
                  </a:extLst>
                </a:gridCol>
              </a:tblGrid>
              <a:tr h="1012268">
                <a:tc>
                  <a:txBody>
                    <a:bodyPr/>
                    <a:lstStyle/>
                    <a:p>
                      <a:r>
                        <a:rPr lang="en-US" sz="1700" b="0" i="0" kern="1200" dirty="0">
                          <a:solidFill>
                            <a:schemeClr val="lt1"/>
                          </a:solidFill>
                          <a:effectLst/>
                          <a:latin typeface="Arial" panose="020B0604020202020204" pitchFamily="34" charset="0"/>
                          <a:ea typeface="+mn-ea"/>
                          <a:cs typeface="Arial" panose="020B0604020202020204" pitchFamily="34" charset="0"/>
                        </a:rPr>
                        <a:t>Q7. Do you agree with the proposed requirements and application material on the use of a practitioner’s expert in para. 28 and A35-A36 of ED-4400, and references to the use of the expert in an AUP report in para. 31 and A44 of ED-4400?</a:t>
                      </a:r>
                      <a:endParaRPr lang="en-US" sz="1700" b="0" i="0" dirty="0">
                        <a:latin typeface="Arial" panose="020B0604020202020204" pitchFamily="34" charset="0"/>
                        <a:cs typeface="Arial" panose="020B0604020202020204" pitchFamily="34" charset="0"/>
                      </a:endParaRPr>
                    </a:p>
                  </a:txBody>
                  <a:tcPr>
                    <a:solidFill>
                      <a:srgbClr val="005BAA"/>
                    </a:solidFill>
                  </a:tcPr>
                </a:tc>
                <a:extLst>
                  <a:ext uri="{0D108BD9-81ED-4DB2-BD59-A6C34878D82A}">
                    <a16:rowId xmlns:a16="http://schemas.microsoft.com/office/drawing/2014/main" val="493788776"/>
                  </a:ext>
                </a:extLst>
              </a:tr>
            </a:tbl>
          </a:graphicData>
        </a:graphic>
      </p:graphicFrame>
      <p:graphicFrame>
        <p:nvGraphicFramePr>
          <p:cNvPr id="7" name="Chart 6"/>
          <p:cNvGraphicFramePr/>
          <p:nvPr>
            <p:extLst>
              <p:ext uri="{D42A27DB-BD31-4B8C-83A1-F6EECF244321}">
                <p14:modId xmlns:p14="http://schemas.microsoft.com/office/powerpoint/2010/main" val="1519408791"/>
              </p:ext>
            </p:extLst>
          </p:nvPr>
        </p:nvGraphicFramePr>
        <p:xfrm>
          <a:off x="6122504" y="885825"/>
          <a:ext cx="2862470" cy="36671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605894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81000" y="412314"/>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Practitioner’s Expert (cont’d)</a:t>
            </a:r>
          </a:p>
        </p:txBody>
      </p:sp>
      <p:sp>
        <p:nvSpPr>
          <p:cNvPr id="6" name="Content Placeholder 1"/>
          <p:cNvSpPr txBox="1">
            <a:spLocks/>
          </p:cNvSpPr>
          <p:nvPr/>
        </p:nvSpPr>
        <p:spPr>
          <a:xfrm>
            <a:off x="381000" y="971550"/>
            <a:ext cx="8268292" cy="3632818"/>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r>
              <a:rPr lang="en-US" sz="1800" dirty="0">
                <a:solidFill>
                  <a:srgbClr val="808080"/>
                </a:solidFill>
                <a:latin typeface="Arial" panose="020B0604020202020204" pitchFamily="34" charset="0"/>
                <a:cs typeface="Arial" panose="020B0604020202020204" pitchFamily="34" charset="0"/>
              </a:rPr>
              <a:t>Some commented on the issue of referring to a practitioner’s expert in an AUP report</a:t>
            </a:r>
          </a:p>
          <a:p>
            <a:pPr lvl="1"/>
            <a:r>
              <a:rPr lang="en-US" sz="1600" dirty="0">
                <a:solidFill>
                  <a:srgbClr val="808080"/>
                </a:solidFill>
                <a:latin typeface="Arial" panose="020B0604020202020204" pitchFamily="34" charset="0"/>
                <a:cs typeface="Arial" panose="020B0604020202020204" pitchFamily="34" charset="0"/>
              </a:rPr>
              <a:t>Views are split between requiring a reference to the expert and prohibiting a reference to the expert</a:t>
            </a:r>
            <a:endParaRPr lang="en-CA" sz="1600" dirty="0">
              <a:solidFill>
                <a:srgbClr val="808080"/>
              </a:solidFill>
              <a:latin typeface="Arial" panose="020B0604020202020204" pitchFamily="34" charset="0"/>
              <a:cs typeface="Arial" panose="020B0604020202020204" pitchFamily="34" charset="0"/>
            </a:endParaRPr>
          </a:p>
          <a:p>
            <a:endParaRPr lang="en-CA" sz="1800" dirty="0">
              <a:solidFill>
                <a:srgbClr val="808080"/>
              </a:solidFill>
              <a:latin typeface="Arial" panose="020B0604020202020204" pitchFamily="34" charset="0"/>
              <a:cs typeface="Arial" panose="020B0604020202020204" pitchFamily="34" charset="0"/>
            </a:endParaRPr>
          </a:p>
          <a:p>
            <a:pPr marL="0" indent="0">
              <a:buNone/>
            </a:pPr>
            <a:endParaRPr lang="en-CA" sz="1800" dirty="0">
              <a:solidFill>
                <a:srgbClr val="808080"/>
              </a:solidFill>
              <a:latin typeface="Arial" panose="020B0604020202020204" pitchFamily="34" charset="0"/>
              <a:cs typeface="Arial" panose="020B0604020202020204" pitchFamily="34" charset="0"/>
            </a:endParaRPr>
          </a:p>
          <a:p>
            <a:pPr marL="0" indent="0">
              <a:buNone/>
            </a:pPr>
            <a:endParaRPr lang="en-CA" sz="1800" dirty="0">
              <a:solidFill>
                <a:srgbClr val="808080"/>
              </a:solidFill>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4006A15E-7242-47D1-A6C8-83171D8E7065}"/>
              </a:ext>
            </a:extLst>
          </p:cNvPr>
          <p:cNvGraphicFramePr>
            <a:graphicFrameLocks noGrp="1"/>
          </p:cNvGraphicFramePr>
          <p:nvPr>
            <p:extLst>
              <p:ext uri="{D42A27DB-BD31-4B8C-83A1-F6EECF244321}">
                <p14:modId xmlns:p14="http://schemas.microsoft.com/office/powerpoint/2010/main" val="391853542"/>
              </p:ext>
            </p:extLst>
          </p:nvPr>
        </p:nvGraphicFramePr>
        <p:xfrm>
          <a:off x="744467" y="2475220"/>
          <a:ext cx="7904825" cy="1467050"/>
        </p:xfrm>
        <a:graphic>
          <a:graphicData uri="http://schemas.openxmlformats.org/drawingml/2006/table">
            <a:tbl>
              <a:tblPr firstRow="1" firstCol="1" bandRow="1">
                <a:tableStyleId>{5C22544A-7EE6-4342-B048-85BDC9FD1C3A}</a:tableStyleId>
              </a:tblPr>
              <a:tblGrid>
                <a:gridCol w="2613727">
                  <a:extLst>
                    <a:ext uri="{9D8B030D-6E8A-4147-A177-3AD203B41FA5}">
                      <a16:colId xmlns:a16="http://schemas.microsoft.com/office/drawing/2014/main" val="1570850198"/>
                    </a:ext>
                  </a:extLst>
                </a:gridCol>
                <a:gridCol w="2816029">
                  <a:extLst>
                    <a:ext uri="{9D8B030D-6E8A-4147-A177-3AD203B41FA5}">
                      <a16:colId xmlns:a16="http://schemas.microsoft.com/office/drawing/2014/main" val="1185436542"/>
                    </a:ext>
                  </a:extLst>
                </a:gridCol>
                <a:gridCol w="2475069">
                  <a:extLst>
                    <a:ext uri="{9D8B030D-6E8A-4147-A177-3AD203B41FA5}">
                      <a16:colId xmlns:a16="http://schemas.microsoft.com/office/drawing/2014/main" val="1041379076"/>
                    </a:ext>
                  </a:extLst>
                </a:gridCol>
              </a:tblGrid>
              <a:tr h="910939">
                <a:tc>
                  <a:txBody>
                    <a:bodyPr/>
                    <a:lstStyle/>
                    <a:p>
                      <a:pPr marL="0" marR="0" algn="just">
                        <a:lnSpc>
                          <a:spcPct val="100000"/>
                        </a:lnSpc>
                        <a:spcBef>
                          <a:spcPts val="600"/>
                        </a:spcBef>
                        <a:spcAft>
                          <a:spcPts val="0"/>
                        </a:spcAft>
                      </a:pPr>
                      <a:r>
                        <a:rPr lang="en-US" sz="1600" dirty="0">
                          <a:effectLst/>
                          <a:latin typeface="Arial" panose="020B0604020202020204" pitchFamily="34" charset="0"/>
                          <a:cs typeface="Arial" panose="020B0604020202020204" pitchFamily="34" charset="0"/>
                        </a:rPr>
                        <a:t>Require reference to an expert in the AUP report</a:t>
                      </a:r>
                    </a:p>
                  </a:txBody>
                  <a:tcPr marL="68580" marR="68580" marT="0" marB="0">
                    <a:solidFill>
                      <a:schemeClr val="tx2"/>
                    </a:solidFill>
                  </a:tcPr>
                </a:tc>
                <a:tc>
                  <a:txBody>
                    <a:bodyPr/>
                    <a:lstStyle/>
                    <a:p>
                      <a:pPr marL="0" marR="0" algn="just">
                        <a:lnSpc>
                          <a:spcPct val="100000"/>
                        </a:lnSpc>
                        <a:spcBef>
                          <a:spcPts val="600"/>
                        </a:spcBef>
                        <a:spcAft>
                          <a:spcPts val="0"/>
                        </a:spcAft>
                      </a:pPr>
                      <a:r>
                        <a:rPr lang="en-US" sz="1600" dirty="0">
                          <a:effectLst/>
                          <a:latin typeface="Arial" panose="020B0604020202020204" pitchFamily="34" charset="0"/>
                          <a:cs typeface="Arial" panose="020B0604020202020204" pitchFamily="34" charset="0"/>
                        </a:rPr>
                        <a:t>Permit (neither require nor prohibit) reference to an expert (as proposed in ED-4400)</a:t>
                      </a:r>
                    </a:p>
                  </a:txBody>
                  <a:tcPr marL="68580" marR="68580" marT="0" marB="0">
                    <a:solidFill>
                      <a:schemeClr val="tx2"/>
                    </a:solidFill>
                  </a:tcPr>
                </a:tc>
                <a:tc>
                  <a:txBody>
                    <a:bodyPr/>
                    <a:lstStyle/>
                    <a:p>
                      <a:pPr marL="0" marR="0" algn="just">
                        <a:lnSpc>
                          <a:spcPct val="100000"/>
                        </a:lnSpc>
                        <a:spcBef>
                          <a:spcPts val="600"/>
                        </a:spcBef>
                        <a:spcAft>
                          <a:spcPts val="0"/>
                        </a:spcAft>
                      </a:pPr>
                      <a:r>
                        <a:rPr lang="en-US" sz="1600" dirty="0">
                          <a:effectLst/>
                          <a:latin typeface="Arial" panose="020B0604020202020204" pitchFamily="34" charset="0"/>
                          <a:cs typeface="Arial" panose="020B0604020202020204" pitchFamily="34" charset="0"/>
                        </a:rPr>
                        <a:t>Prohibit reference to an expert in the AUP report</a:t>
                      </a:r>
                    </a:p>
                  </a:txBody>
                  <a:tcPr marL="68580" marR="68580" marT="0" marB="0">
                    <a:solidFill>
                      <a:schemeClr val="tx2"/>
                    </a:solidFill>
                  </a:tcPr>
                </a:tc>
                <a:extLst>
                  <a:ext uri="{0D108BD9-81ED-4DB2-BD59-A6C34878D82A}">
                    <a16:rowId xmlns:a16="http://schemas.microsoft.com/office/drawing/2014/main" val="4150614669"/>
                  </a:ext>
                </a:extLst>
              </a:tr>
              <a:tr h="491690">
                <a:tc>
                  <a:txBody>
                    <a:bodyPr/>
                    <a:lstStyle/>
                    <a:p>
                      <a:pPr marL="0" marR="0" algn="just">
                        <a:lnSpc>
                          <a:spcPct val="100000"/>
                        </a:lnSpc>
                        <a:spcBef>
                          <a:spcPts val="600"/>
                        </a:spcBef>
                        <a:spcAft>
                          <a:spcPts val="0"/>
                        </a:spcAft>
                      </a:pPr>
                      <a:r>
                        <a:rPr lang="en-US" sz="1600" b="0" dirty="0">
                          <a:solidFill>
                            <a:schemeClr val="tx1"/>
                          </a:solidFill>
                          <a:effectLst/>
                          <a:latin typeface="Arial" panose="020B0604020202020204" pitchFamily="34" charset="0"/>
                          <a:cs typeface="Arial" panose="020B0604020202020204" pitchFamily="34" charset="0"/>
                        </a:rPr>
                        <a:t>3 respondents / ~6%</a:t>
                      </a:r>
                      <a:endParaRPr lang="en-US" sz="1600" b="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bg2">
                        <a:lumMod val="20000"/>
                        <a:lumOff val="80000"/>
                      </a:schemeClr>
                    </a:solidFill>
                  </a:tcPr>
                </a:tc>
                <a:tc>
                  <a:txBody>
                    <a:bodyPr/>
                    <a:lstStyle/>
                    <a:p>
                      <a:pPr marL="0" marR="0" algn="just">
                        <a:lnSpc>
                          <a:spcPct val="100000"/>
                        </a:lnSpc>
                        <a:spcBef>
                          <a:spcPts val="600"/>
                        </a:spcBef>
                        <a:spcAft>
                          <a:spcPts val="0"/>
                        </a:spcAft>
                      </a:pPr>
                      <a:r>
                        <a:rPr lang="en-US" sz="1600" b="0" dirty="0">
                          <a:solidFill>
                            <a:schemeClr val="tx1"/>
                          </a:solidFill>
                          <a:effectLst/>
                          <a:latin typeface="Arial" panose="020B0604020202020204" pitchFamily="34" charset="0"/>
                          <a:cs typeface="Arial" panose="020B0604020202020204" pitchFamily="34" charset="0"/>
                        </a:rPr>
                        <a:t>45 respondents / ~88%</a:t>
                      </a:r>
                      <a:endParaRPr lang="en-US" sz="1600" b="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bg2">
                        <a:lumMod val="20000"/>
                        <a:lumOff val="80000"/>
                      </a:schemeClr>
                    </a:solidFill>
                  </a:tcPr>
                </a:tc>
                <a:tc>
                  <a:txBody>
                    <a:bodyPr/>
                    <a:lstStyle/>
                    <a:p>
                      <a:pPr marL="0" marR="0" algn="just">
                        <a:lnSpc>
                          <a:spcPct val="100000"/>
                        </a:lnSpc>
                        <a:spcBef>
                          <a:spcPts val="600"/>
                        </a:spcBef>
                        <a:spcAft>
                          <a:spcPts val="0"/>
                        </a:spcAft>
                      </a:pPr>
                      <a:r>
                        <a:rPr lang="en-US" sz="1600" b="0" dirty="0">
                          <a:solidFill>
                            <a:schemeClr val="tx1"/>
                          </a:solidFill>
                          <a:effectLst/>
                          <a:latin typeface="Arial" panose="020B0604020202020204" pitchFamily="34" charset="0"/>
                          <a:cs typeface="Arial" panose="020B0604020202020204" pitchFamily="34" charset="0"/>
                        </a:rPr>
                        <a:t>3 respondents / ~6%</a:t>
                      </a:r>
                      <a:endParaRPr lang="en-US" sz="1600" b="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753635112"/>
                  </a:ext>
                </a:extLst>
              </a:tr>
            </a:tbl>
          </a:graphicData>
        </a:graphic>
      </p:graphicFrame>
    </p:spTree>
    <p:extLst>
      <p:ext uri="{BB962C8B-B14F-4D97-AF65-F5344CB8AC3E}">
        <p14:creationId xmlns:p14="http://schemas.microsoft.com/office/powerpoint/2010/main" val="31160708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81000" y="405226"/>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Practitioner’s Expert (cont’d)</a:t>
            </a:r>
          </a:p>
        </p:txBody>
      </p:sp>
      <p:sp>
        <p:nvSpPr>
          <p:cNvPr id="6" name="Content Placeholder 1"/>
          <p:cNvSpPr txBox="1">
            <a:spLocks/>
          </p:cNvSpPr>
          <p:nvPr/>
        </p:nvSpPr>
        <p:spPr>
          <a:xfrm>
            <a:off x="378638" y="1027688"/>
            <a:ext cx="8497006" cy="1198678"/>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lvl="0" indent="0">
              <a:buNone/>
            </a:pPr>
            <a:r>
              <a:rPr lang="en-US" sz="2000" dirty="0">
                <a:solidFill>
                  <a:srgbClr val="808080"/>
                </a:solidFill>
                <a:latin typeface="Arial" panose="020B0604020202020204" pitchFamily="34" charset="0"/>
                <a:cs typeface="Arial" panose="020B0604020202020204" pitchFamily="34" charset="0"/>
              </a:rPr>
              <a:t>Q6. The IAASB is asked for its views on the using the work of a practitioner’s expert</a:t>
            </a:r>
            <a:endParaRPr lang="en-US" sz="1600" dirty="0">
              <a:solidFill>
                <a:srgbClr val="808080"/>
              </a:solidFill>
              <a:latin typeface="Arial" panose="020B0604020202020204" pitchFamily="34" charset="0"/>
              <a:cs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554334401"/>
              </p:ext>
            </p:extLst>
          </p:nvPr>
        </p:nvGraphicFramePr>
        <p:xfrm>
          <a:off x="378638" y="1894591"/>
          <a:ext cx="8384362" cy="2403019"/>
        </p:xfrm>
        <a:graphic>
          <a:graphicData uri="http://schemas.openxmlformats.org/drawingml/2006/table">
            <a:tbl>
              <a:tblPr firstRow="1" bandRow="1">
                <a:tableStyleId>{5C22544A-7EE6-4342-B048-85BDC9FD1C3A}</a:tableStyleId>
              </a:tblPr>
              <a:tblGrid>
                <a:gridCol w="8384362">
                  <a:extLst>
                    <a:ext uri="{9D8B030D-6E8A-4147-A177-3AD203B41FA5}">
                      <a16:colId xmlns:a16="http://schemas.microsoft.com/office/drawing/2014/main" val="713251629"/>
                    </a:ext>
                  </a:extLst>
                </a:gridCol>
              </a:tblGrid>
              <a:tr h="2403019">
                <a:tc>
                  <a:txBody>
                    <a:bodyPr/>
                    <a:lstStyle/>
                    <a:p>
                      <a:r>
                        <a:rPr lang="en-CA" sz="2000" b="1" i="0" kern="1200" dirty="0">
                          <a:solidFill>
                            <a:schemeClr val="lt1"/>
                          </a:solidFill>
                          <a:effectLst/>
                          <a:latin typeface="+mn-lt"/>
                          <a:ea typeface="+mn-ea"/>
                          <a:cs typeface="+mn-cs"/>
                        </a:rPr>
                        <a:t>Task Force’s preliminary views</a:t>
                      </a:r>
                    </a:p>
                    <a:p>
                      <a:pPr marL="342900" indent="-342900">
                        <a:buFont typeface="Arial" panose="020B0604020202020204" pitchFamily="34" charset="0"/>
                        <a:buChar char="•"/>
                      </a:pPr>
                      <a:r>
                        <a:rPr lang="en-US" sz="2000" b="0" i="0" kern="1200" dirty="0">
                          <a:solidFill>
                            <a:schemeClr val="lt1"/>
                          </a:solidFill>
                          <a:effectLst/>
                          <a:latin typeface="+mn-lt"/>
                          <a:ea typeface="+mn-ea"/>
                          <a:cs typeface="+mn-cs"/>
                        </a:rPr>
                        <a:t>On the issue of referring to the practitioner’s expert in the AUP report:</a:t>
                      </a:r>
                    </a:p>
                    <a:p>
                      <a:pPr marL="685800" lvl="1" indent="-342900">
                        <a:buFont typeface="Calibri" panose="020F0502020204030204" pitchFamily="34" charset="0"/>
                        <a:buChar char="̶"/>
                      </a:pPr>
                      <a:r>
                        <a:rPr lang="en-US" sz="2000" b="0" i="0" kern="1200" dirty="0">
                          <a:solidFill>
                            <a:schemeClr val="lt1"/>
                          </a:solidFill>
                          <a:effectLst/>
                          <a:latin typeface="+mn-lt"/>
                          <a:ea typeface="+mn-ea"/>
                          <a:cs typeface="+mn-cs"/>
                        </a:rPr>
                        <a:t>Retain the proposed approach of neither requiring nor prohibiting a reference to the practitioner’s expert. </a:t>
                      </a:r>
                    </a:p>
                    <a:p>
                      <a:pPr marL="342900" indent="-342900">
                        <a:buFont typeface="Arial" panose="020B0604020202020204" pitchFamily="34" charset="0"/>
                        <a:buChar char="•"/>
                      </a:pPr>
                      <a:r>
                        <a:rPr lang="en-US" sz="2000" b="0" i="0" kern="1200" dirty="0">
                          <a:solidFill>
                            <a:schemeClr val="lt1"/>
                          </a:solidFill>
                          <a:effectLst/>
                          <a:latin typeface="+mn-lt"/>
                          <a:ea typeface="+mn-ea"/>
                          <a:cs typeface="+mn-cs"/>
                        </a:rPr>
                        <a:t>Further clarifications to the requirements and the application material to address other concerns expressed</a:t>
                      </a:r>
                    </a:p>
                  </a:txBody>
                  <a:tcPr>
                    <a:solidFill>
                      <a:schemeClr val="tx1">
                        <a:lumMod val="50000"/>
                        <a:lumOff val="50000"/>
                      </a:schemeClr>
                    </a:solidFill>
                  </a:tcPr>
                </a:tc>
                <a:extLst>
                  <a:ext uri="{0D108BD9-81ED-4DB2-BD59-A6C34878D82A}">
                    <a16:rowId xmlns:a16="http://schemas.microsoft.com/office/drawing/2014/main" val="493788776"/>
                  </a:ext>
                </a:extLst>
              </a:tr>
            </a:tbl>
          </a:graphicData>
        </a:graphic>
      </p:graphicFrame>
    </p:spTree>
    <p:extLst>
      <p:ext uri="{BB962C8B-B14F-4D97-AF65-F5344CB8AC3E}">
        <p14:creationId xmlns:p14="http://schemas.microsoft.com/office/powerpoint/2010/main" val="37181244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62886" y="485775"/>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AUP report – Restrictions </a:t>
            </a:r>
          </a:p>
        </p:txBody>
      </p:sp>
      <p:sp>
        <p:nvSpPr>
          <p:cNvPr id="6" name="Content Placeholder 1"/>
          <p:cNvSpPr txBox="1">
            <a:spLocks/>
          </p:cNvSpPr>
          <p:nvPr/>
        </p:nvSpPr>
        <p:spPr>
          <a:xfrm>
            <a:off x="379819" y="2451887"/>
            <a:ext cx="6037165" cy="2111382"/>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r>
              <a:rPr lang="en-US" sz="1800" kern="0" dirty="0">
                <a:solidFill>
                  <a:srgbClr val="808080"/>
                </a:solidFill>
                <a:latin typeface="Arial" panose="020B0604020202020204" pitchFamily="34" charset="0"/>
                <a:cs typeface="Arial" panose="020B0604020202020204" pitchFamily="34" charset="0"/>
              </a:rPr>
              <a:t>Significant support for not restricting the AUP report to parties that have agreed to the procedures to be performed</a:t>
            </a:r>
          </a:p>
        </p:txBody>
      </p:sp>
      <p:graphicFrame>
        <p:nvGraphicFramePr>
          <p:cNvPr id="2" name="Table 1"/>
          <p:cNvGraphicFramePr>
            <a:graphicFrameLocks noGrp="1"/>
          </p:cNvGraphicFramePr>
          <p:nvPr>
            <p:extLst>
              <p:ext uri="{D42A27DB-BD31-4B8C-83A1-F6EECF244321}">
                <p14:modId xmlns:p14="http://schemas.microsoft.com/office/powerpoint/2010/main" val="1132005520"/>
              </p:ext>
            </p:extLst>
          </p:nvPr>
        </p:nvGraphicFramePr>
        <p:xfrm>
          <a:off x="404037" y="885825"/>
          <a:ext cx="6223340" cy="1463040"/>
        </p:xfrm>
        <a:graphic>
          <a:graphicData uri="http://schemas.openxmlformats.org/drawingml/2006/table">
            <a:tbl>
              <a:tblPr firstRow="1" bandRow="1">
                <a:tableStyleId>{5C22544A-7EE6-4342-B048-85BDC9FD1C3A}</a:tableStyleId>
              </a:tblPr>
              <a:tblGrid>
                <a:gridCol w="6223340">
                  <a:extLst>
                    <a:ext uri="{9D8B030D-6E8A-4147-A177-3AD203B41FA5}">
                      <a16:colId xmlns:a16="http://schemas.microsoft.com/office/drawing/2014/main" val="713251629"/>
                    </a:ext>
                  </a:extLst>
                </a:gridCol>
              </a:tblGrid>
              <a:tr h="1012268">
                <a:tc>
                  <a:txBody>
                    <a:bodyPr/>
                    <a:lstStyle/>
                    <a:p>
                      <a:r>
                        <a:rPr lang="en-US" sz="1800" b="0" i="0" kern="1200" dirty="0">
                          <a:solidFill>
                            <a:schemeClr val="lt1"/>
                          </a:solidFill>
                          <a:effectLst/>
                          <a:latin typeface="Arial" panose="020B0604020202020204" pitchFamily="34" charset="0"/>
                          <a:ea typeface="+mn-ea"/>
                          <a:cs typeface="Arial" panose="020B0604020202020204" pitchFamily="34" charset="0"/>
                        </a:rPr>
                        <a:t>Q8. Do you agree that the AUP report should not be required to be restricted to parties that have agreed to the procedures to be performed, and how para. A43 of ED-4400 addresses circumstances when the practitioner may consider it appropriate to restrict the AUP report?</a:t>
                      </a:r>
                      <a:endParaRPr lang="en-US" sz="1800" b="0" i="0" dirty="0">
                        <a:latin typeface="Arial" panose="020B0604020202020204" pitchFamily="34" charset="0"/>
                        <a:cs typeface="Arial" panose="020B0604020202020204" pitchFamily="34" charset="0"/>
                      </a:endParaRPr>
                    </a:p>
                  </a:txBody>
                  <a:tcPr>
                    <a:solidFill>
                      <a:srgbClr val="005BAA"/>
                    </a:solidFill>
                  </a:tcPr>
                </a:tc>
                <a:extLst>
                  <a:ext uri="{0D108BD9-81ED-4DB2-BD59-A6C34878D82A}">
                    <a16:rowId xmlns:a16="http://schemas.microsoft.com/office/drawing/2014/main" val="493788776"/>
                  </a:ext>
                </a:extLst>
              </a:tr>
            </a:tbl>
          </a:graphicData>
        </a:graphic>
      </p:graphicFrame>
      <p:graphicFrame>
        <p:nvGraphicFramePr>
          <p:cNvPr id="7" name="Chart 6"/>
          <p:cNvGraphicFramePr/>
          <p:nvPr>
            <p:extLst>
              <p:ext uri="{D42A27DB-BD31-4B8C-83A1-F6EECF244321}">
                <p14:modId xmlns:p14="http://schemas.microsoft.com/office/powerpoint/2010/main" val="3939824919"/>
              </p:ext>
            </p:extLst>
          </p:nvPr>
        </p:nvGraphicFramePr>
        <p:xfrm>
          <a:off x="6122504" y="885825"/>
          <a:ext cx="2862470" cy="36671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621428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62886" y="485775"/>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AUP report – Content and Structure </a:t>
            </a:r>
          </a:p>
        </p:txBody>
      </p:sp>
      <p:sp>
        <p:nvSpPr>
          <p:cNvPr id="6" name="Content Placeholder 1"/>
          <p:cNvSpPr txBox="1">
            <a:spLocks/>
          </p:cNvSpPr>
          <p:nvPr/>
        </p:nvSpPr>
        <p:spPr>
          <a:xfrm>
            <a:off x="379819" y="2282332"/>
            <a:ext cx="6037165" cy="2111382"/>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r>
              <a:rPr lang="en-US" sz="1800" kern="0" dirty="0">
                <a:solidFill>
                  <a:srgbClr val="808080"/>
                </a:solidFill>
                <a:latin typeface="Arial" panose="020B0604020202020204" pitchFamily="34" charset="0"/>
                <a:cs typeface="Arial" panose="020B0604020202020204" pitchFamily="34" charset="0"/>
              </a:rPr>
              <a:t>Support for the proposed structure and content of the AUP report</a:t>
            </a:r>
          </a:p>
          <a:p>
            <a:r>
              <a:rPr lang="en-US" sz="1800" kern="0" dirty="0">
                <a:solidFill>
                  <a:srgbClr val="808080"/>
                </a:solidFill>
                <a:latin typeface="Arial" panose="020B0604020202020204" pitchFamily="34" charset="0"/>
                <a:cs typeface="Arial" panose="020B0604020202020204" pitchFamily="34" charset="0"/>
              </a:rPr>
              <a:t>Many provided suggestions to enhance the AUP report</a:t>
            </a:r>
          </a:p>
        </p:txBody>
      </p:sp>
      <p:graphicFrame>
        <p:nvGraphicFramePr>
          <p:cNvPr id="2" name="Table 1"/>
          <p:cNvGraphicFramePr>
            <a:graphicFrameLocks noGrp="1"/>
          </p:cNvGraphicFramePr>
          <p:nvPr>
            <p:extLst>
              <p:ext uri="{D42A27DB-BD31-4B8C-83A1-F6EECF244321}">
                <p14:modId xmlns:p14="http://schemas.microsoft.com/office/powerpoint/2010/main" val="3513573994"/>
              </p:ext>
            </p:extLst>
          </p:nvPr>
        </p:nvGraphicFramePr>
        <p:xfrm>
          <a:off x="404037" y="885825"/>
          <a:ext cx="6223340" cy="1188720"/>
        </p:xfrm>
        <a:graphic>
          <a:graphicData uri="http://schemas.openxmlformats.org/drawingml/2006/table">
            <a:tbl>
              <a:tblPr firstRow="1" bandRow="1">
                <a:tableStyleId>{5C22544A-7EE6-4342-B048-85BDC9FD1C3A}</a:tableStyleId>
              </a:tblPr>
              <a:tblGrid>
                <a:gridCol w="6223340">
                  <a:extLst>
                    <a:ext uri="{9D8B030D-6E8A-4147-A177-3AD203B41FA5}">
                      <a16:colId xmlns:a16="http://schemas.microsoft.com/office/drawing/2014/main" val="713251629"/>
                    </a:ext>
                  </a:extLst>
                </a:gridCol>
              </a:tblGrid>
              <a:tr h="1012268">
                <a:tc>
                  <a:txBody>
                    <a:bodyPr/>
                    <a:lstStyle/>
                    <a:p>
                      <a:r>
                        <a:rPr lang="en-US" sz="1800" b="0" i="0" kern="1200" dirty="0">
                          <a:solidFill>
                            <a:schemeClr val="lt1"/>
                          </a:solidFill>
                          <a:effectLst/>
                          <a:latin typeface="Arial" panose="020B0604020202020204" pitchFamily="34" charset="0"/>
                          <a:ea typeface="+mn-ea"/>
                          <a:cs typeface="Arial" panose="020B0604020202020204" pitchFamily="34" charset="0"/>
                        </a:rPr>
                        <a:t>Q9. Do you support the content and structure of the proposed AUP report as set out in para. 30-32 and A37-A44 and Appendix 2 of ED-4400? What do you believe should be added or changed, if anything?</a:t>
                      </a:r>
                      <a:endParaRPr lang="en-US" sz="1800" b="0" i="0" dirty="0">
                        <a:latin typeface="Arial" panose="020B0604020202020204" pitchFamily="34" charset="0"/>
                        <a:cs typeface="Arial" panose="020B0604020202020204" pitchFamily="34" charset="0"/>
                      </a:endParaRPr>
                    </a:p>
                  </a:txBody>
                  <a:tcPr>
                    <a:solidFill>
                      <a:srgbClr val="005BAA"/>
                    </a:solidFill>
                  </a:tcPr>
                </a:tc>
                <a:extLst>
                  <a:ext uri="{0D108BD9-81ED-4DB2-BD59-A6C34878D82A}">
                    <a16:rowId xmlns:a16="http://schemas.microsoft.com/office/drawing/2014/main" val="493788776"/>
                  </a:ext>
                </a:extLst>
              </a:tr>
            </a:tbl>
          </a:graphicData>
        </a:graphic>
      </p:graphicFrame>
      <p:graphicFrame>
        <p:nvGraphicFramePr>
          <p:cNvPr id="7" name="Chart 6"/>
          <p:cNvGraphicFramePr/>
          <p:nvPr>
            <p:extLst>
              <p:ext uri="{D42A27DB-BD31-4B8C-83A1-F6EECF244321}">
                <p14:modId xmlns:p14="http://schemas.microsoft.com/office/powerpoint/2010/main" val="2835653250"/>
              </p:ext>
            </p:extLst>
          </p:nvPr>
        </p:nvGraphicFramePr>
        <p:xfrm>
          <a:off x="6122504" y="885825"/>
          <a:ext cx="2862470" cy="36671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836196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81000" y="405226"/>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AUP Report (cont’d)</a:t>
            </a:r>
          </a:p>
        </p:txBody>
      </p:sp>
      <p:sp>
        <p:nvSpPr>
          <p:cNvPr id="6" name="Content Placeholder 1"/>
          <p:cNvSpPr txBox="1">
            <a:spLocks/>
          </p:cNvSpPr>
          <p:nvPr/>
        </p:nvSpPr>
        <p:spPr>
          <a:xfrm>
            <a:off x="378638" y="1027688"/>
            <a:ext cx="8497006" cy="768744"/>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lvl="0" indent="0">
              <a:buNone/>
            </a:pPr>
            <a:r>
              <a:rPr lang="en-US" sz="2000" dirty="0">
                <a:solidFill>
                  <a:srgbClr val="808080"/>
                </a:solidFill>
                <a:latin typeface="Arial" panose="020B0604020202020204" pitchFamily="34" charset="0"/>
                <a:cs typeface="Arial" panose="020B0604020202020204" pitchFamily="34" charset="0"/>
              </a:rPr>
              <a:t>Q7. The IAASB is asked for its views on the AUP report.</a:t>
            </a:r>
            <a:endParaRPr lang="en-US" sz="1600" dirty="0">
              <a:solidFill>
                <a:srgbClr val="808080"/>
              </a:solidFill>
              <a:latin typeface="Arial" panose="020B0604020202020204" pitchFamily="34" charset="0"/>
              <a:cs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39929215"/>
              </p:ext>
            </p:extLst>
          </p:nvPr>
        </p:nvGraphicFramePr>
        <p:xfrm>
          <a:off x="378638" y="2018844"/>
          <a:ext cx="8384362" cy="1920240"/>
        </p:xfrm>
        <a:graphic>
          <a:graphicData uri="http://schemas.openxmlformats.org/drawingml/2006/table">
            <a:tbl>
              <a:tblPr firstRow="1" bandRow="1">
                <a:tableStyleId>{5C22544A-7EE6-4342-B048-85BDC9FD1C3A}</a:tableStyleId>
              </a:tblPr>
              <a:tblGrid>
                <a:gridCol w="8384362">
                  <a:extLst>
                    <a:ext uri="{9D8B030D-6E8A-4147-A177-3AD203B41FA5}">
                      <a16:colId xmlns:a16="http://schemas.microsoft.com/office/drawing/2014/main" val="713251629"/>
                    </a:ext>
                  </a:extLst>
                </a:gridCol>
              </a:tblGrid>
              <a:tr h="1747879">
                <a:tc>
                  <a:txBody>
                    <a:bodyPr/>
                    <a:lstStyle/>
                    <a:p>
                      <a:r>
                        <a:rPr lang="en-CA" sz="2000" b="1" i="0" kern="1200" dirty="0">
                          <a:solidFill>
                            <a:schemeClr val="lt1"/>
                          </a:solidFill>
                          <a:effectLst/>
                          <a:latin typeface="+mn-lt"/>
                          <a:ea typeface="+mn-ea"/>
                          <a:cs typeface="+mn-cs"/>
                        </a:rPr>
                        <a:t>Task Force’s preliminary views</a:t>
                      </a:r>
                    </a:p>
                    <a:p>
                      <a:pPr marL="342900" indent="-342900">
                        <a:buFont typeface="Arial" panose="020B0604020202020204" pitchFamily="34" charset="0"/>
                        <a:buChar char="•"/>
                      </a:pPr>
                      <a:r>
                        <a:rPr lang="en-US" sz="2000" b="0" i="0" kern="1200" dirty="0">
                          <a:solidFill>
                            <a:schemeClr val="lt1"/>
                          </a:solidFill>
                          <a:effectLst/>
                          <a:latin typeface="+mn-lt"/>
                          <a:ea typeface="+mn-ea"/>
                          <a:cs typeface="+mn-cs"/>
                        </a:rPr>
                        <a:t>Not requiring a restriction of distribution or use to be placed on the AUP report </a:t>
                      </a:r>
                    </a:p>
                    <a:p>
                      <a:pPr marL="342900" indent="-342900">
                        <a:buFont typeface="Arial" panose="020B0604020202020204" pitchFamily="34" charset="0"/>
                        <a:buChar char="•"/>
                      </a:pPr>
                      <a:r>
                        <a:rPr lang="en-US" sz="2000" b="0" i="0" kern="1200" dirty="0">
                          <a:solidFill>
                            <a:schemeClr val="lt1"/>
                          </a:solidFill>
                          <a:effectLst/>
                          <a:latin typeface="+mn-lt"/>
                          <a:ea typeface="+mn-ea"/>
                          <a:cs typeface="+mn-cs"/>
                        </a:rPr>
                        <a:t>Further requirements or application material to enhance the structure and content of the AUP report</a:t>
                      </a:r>
                    </a:p>
                    <a:p>
                      <a:pPr marL="342900" indent="-342900">
                        <a:buFont typeface="Arial" panose="020B0604020202020204" pitchFamily="34" charset="0"/>
                        <a:buChar char="•"/>
                      </a:pPr>
                      <a:r>
                        <a:rPr lang="en-US" sz="2000" b="0" i="0" kern="1200" dirty="0">
                          <a:solidFill>
                            <a:schemeClr val="lt1"/>
                          </a:solidFill>
                          <a:effectLst/>
                          <a:latin typeface="+mn-lt"/>
                          <a:ea typeface="+mn-ea"/>
                          <a:cs typeface="+mn-cs"/>
                        </a:rPr>
                        <a:t>Retain the overall structure of the AUP report</a:t>
                      </a:r>
                      <a:endParaRPr lang="en-CA" sz="2000" b="0" i="0" kern="1200" dirty="0">
                        <a:solidFill>
                          <a:schemeClr val="lt1"/>
                        </a:solidFill>
                        <a:effectLst/>
                        <a:latin typeface="+mn-lt"/>
                        <a:ea typeface="+mn-ea"/>
                        <a:cs typeface="+mn-cs"/>
                      </a:endParaRPr>
                    </a:p>
                  </a:txBody>
                  <a:tcPr>
                    <a:solidFill>
                      <a:schemeClr val="tx1">
                        <a:lumMod val="50000"/>
                        <a:lumOff val="50000"/>
                      </a:schemeClr>
                    </a:solidFill>
                  </a:tcPr>
                </a:tc>
                <a:extLst>
                  <a:ext uri="{0D108BD9-81ED-4DB2-BD59-A6C34878D82A}">
                    <a16:rowId xmlns:a16="http://schemas.microsoft.com/office/drawing/2014/main" val="493788776"/>
                  </a:ext>
                </a:extLst>
              </a:tr>
            </a:tbl>
          </a:graphicData>
        </a:graphic>
      </p:graphicFrame>
    </p:spTree>
    <p:extLst>
      <p:ext uri="{BB962C8B-B14F-4D97-AF65-F5344CB8AC3E}">
        <p14:creationId xmlns:p14="http://schemas.microsoft.com/office/powerpoint/2010/main" val="36078910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8095C-EF37-4D53-B55C-09C3C5414601}"/>
              </a:ext>
            </a:extLst>
          </p:cNvPr>
          <p:cNvSpPr>
            <a:spLocks noGrp="1"/>
          </p:cNvSpPr>
          <p:nvPr>
            <p:ph type="title"/>
          </p:nvPr>
        </p:nvSpPr>
        <p:spPr/>
        <p:txBody>
          <a:bodyPr/>
          <a:lstStyle/>
          <a:p>
            <a:r>
              <a:rPr lang="en-US" dirty="0"/>
              <a:t>Other Matters</a:t>
            </a:r>
          </a:p>
        </p:txBody>
      </p:sp>
      <p:graphicFrame>
        <p:nvGraphicFramePr>
          <p:cNvPr id="5" name="Content Placeholder 4">
            <a:extLst>
              <a:ext uri="{FF2B5EF4-FFF2-40B4-BE49-F238E27FC236}">
                <a16:creationId xmlns:a16="http://schemas.microsoft.com/office/drawing/2014/main" id="{BBE25EB6-4822-4BED-8D5B-BAC04490F6B1}"/>
              </a:ext>
            </a:extLst>
          </p:cNvPr>
          <p:cNvGraphicFramePr>
            <a:graphicFrameLocks noGrp="1"/>
          </p:cNvGraphicFramePr>
          <p:nvPr>
            <p:ph idx="1"/>
            <p:extLst>
              <p:ext uri="{D42A27DB-BD31-4B8C-83A1-F6EECF244321}">
                <p14:modId xmlns:p14="http://schemas.microsoft.com/office/powerpoint/2010/main" val="3460230826"/>
              </p:ext>
            </p:extLst>
          </p:nvPr>
        </p:nvGraphicFramePr>
        <p:xfrm>
          <a:off x="457199" y="831312"/>
          <a:ext cx="8306475" cy="39672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AAC4939C-3C64-493B-AAEE-CA27F9456B8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27</a:t>
            </a:fld>
            <a:r>
              <a:rPr lang="en-US">
                <a:latin typeface="Arial" panose="020B0604020202020204" pitchFamily="34" charset="0"/>
                <a:cs typeface="MS PGothic" charset="0"/>
              </a:rPr>
              <a:t>  |  Confidential and Proprietary Information</a:t>
            </a:r>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9339512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8095C-EF37-4D53-B55C-09C3C5414601}"/>
              </a:ext>
            </a:extLst>
          </p:cNvPr>
          <p:cNvSpPr>
            <a:spLocks noGrp="1"/>
          </p:cNvSpPr>
          <p:nvPr>
            <p:ph type="title"/>
          </p:nvPr>
        </p:nvSpPr>
        <p:spPr/>
        <p:txBody>
          <a:bodyPr/>
          <a:lstStyle/>
          <a:p>
            <a:r>
              <a:rPr lang="en-US" dirty="0"/>
              <a:t>Other Matters (cont’d)</a:t>
            </a:r>
          </a:p>
        </p:txBody>
      </p:sp>
      <p:graphicFrame>
        <p:nvGraphicFramePr>
          <p:cNvPr id="5" name="Content Placeholder 4">
            <a:extLst>
              <a:ext uri="{FF2B5EF4-FFF2-40B4-BE49-F238E27FC236}">
                <a16:creationId xmlns:a16="http://schemas.microsoft.com/office/drawing/2014/main" id="{BBE25EB6-4822-4BED-8D5B-BAC04490F6B1}"/>
              </a:ext>
            </a:extLst>
          </p:cNvPr>
          <p:cNvGraphicFramePr>
            <a:graphicFrameLocks noGrp="1"/>
          </p:cNvGraphicFramePr>
          <p:nvPr>
            <p:ph idx="1"/>
            <p:extLst>
              <p:ext uri="{D42A27DB-BD31-4B8C-83A1-F6EECF244321}">
                <p14:modId xmlns:p14="http://schemas.microsoft.com/office/powerpoint/2010/main" val="3270143902"/>
              </p:ext>
            </p:extLst>
          </p:nvPr>
        </p:nvGraphicFramePr>
        <p:xfrm>
          <a:off x="457199" y="831312"/>
          <a:ext cx="8306475" cy="39672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AAC4939C-3C64-493B-AAEE-CA27F9456B8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28</a:t>
            </a:fld>
            <a:r>
              <a:rPr lang="en-US">
                <a:latin typeface="Arial" panose="020B0604020202020204" pitchFamily="34" charset="0"/>
                <a:cs typeface="MS PGothic" charset="0"/>
              </a:rPr>
              <a:t>  |  Confidential and Proprietary Information</a:t>
            </a:r>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7087996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81000" y="405226"/>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Other Significant Issues (cont’d)</a:t>
            </a:r>
          </a:p>
        </p:txBody>
      </p:sp>
      <p:sp>
        <p:nvSpPr>
          <p:cNvPr id="6" name="Content Placeholder 1"/>
          <p:cNvSpPr txBox="1">
            <a:spLocks/>
          </p:cNvSpPr>
          <p:nvPr/>
        </p:nvSpPr>
        <p:spPr>
          <a:xfrm>
            <a:off x="378638" y="1027688"/>
            <a:ext cx="8497006" cy="3123526"/>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lvl="0" indent="0">
              <a:buNone/>
            </a:pPr>
            <a:r>
              <a:rPr lang="en-US" sz="2000" dirty="0">
                <a:solidFill>
                  <a:srgbClr val="808080"/>
                </a:solidFill>
                <a:latin typeface="Arial" panose="020B0604020202020204" pitchFamily="34" charset="0"/>
                <a:cs typeface="Arial" panose="020B0604020202020204" pitchFamily="34" charset="0"/>
              </a:rPr>
              <a:t>Q8. The IAASB is asked for its views on:</a:t>
            </a:r>
          </a:p>
          <a:p>
            <a:pPr marL="352044" lvl="1" indent="0">
              <a:buNone/>
            </a:pPr>
            <a:r>
              <a:rPr lang="en-US" dirty="0">
                <a:solidFill>
                  <a:srgbClr val="808080"/>
                </a:solidFill>
                <a:latin typeface="Arial" panose="020B0604020202020204" pitchFamily="34" charset="0"/>
                <a:cs typeface="Arial" panose="020B0604020202020204" pitchFamily="34" charset="0"/>
              </a:rPr>
              <a:t>(a)	Written representations;</a:t>
            </a:r>
          </a:p>
          <a:p>
            <a:pPr marL="352044" lvl="1" indent="0">
              <a:buNone/>
            </a:pPr>
            <a:r>
              <a:rPr lang="en-US" dirty="0">
                <a:solidFill>
                  <a:srgbClr val="808080"/>
                </a:solidFill>
                <a:latin typeface="Arial" panose="020B0604020202020204" pitchFamily="34" charset="0"/>
                <a:cs typeface="Arial" panose="020B0604020202020204" pitchFamily="34" charset="0"/>
              </a:rPr>
              <a:t>(b)	Responsible party;</a:t>
            </a:r>
          </a:p>
          <a:p>
            <a:pPr marL="352044" lvl="1" indent="0">
              <a:buNone/>
            </a:pPr>
            <a:r>
              <a:rPr lang="en-US" dirty="0">
                <a:solidFill>
                  <a:srgbClr val="808080"/>
                </a:solidFill>
                <a:latin typeface="Arial" panose="020B0604020202020204" pitchFamily="34" charset="0"/>
                <a:cs typeface="Arial" panose="020B0604020202020204" pitchFamily="34" charset="0"/>
              </a:rPr>
              <a:t>(c)	Fraud and non-compliance with laws and regulations;</a:t>
            </a:r>
          </a:p>
          <a:p>
            <a:pPr marL="352044" lvl="1" indent="0">
              <a:buNone/>
            </a:pPr>
            <a:r>
              <a:rPr lang="en-US" dirty="0">
                <a:solidFill>
                  <a:srgbClr val="808080"/>
                </a:solidFill>
                <a:latin typeface="Arial" panose="020B0604020202020204" pitchFamily="34" charset="0"/>
                <a:cs typeface="Arial" panose="020B0604020202020204" pitchFamily="34" charset="0"/>
              </a:rPr>
              <a:t>(d)	Documentation; and</a:t>
            </a:r>
          </a:p>
          <a:p>
            <a:pPr marL="352044" lvl="1" indent="0">
              <a:buNone/>
            </a:pPr>
            <a:r>
              <a:rPr lang="en-US" dirty="0">
                <a:solidFill>
                  <a:srgbClr val="808080"/>
                </a:solidFill>
                <a:latin typeface="Arial" panose="020B0604020202020204" pitchFamily="34" charset="0"/>
                <a:cs typeface="Arial" panose="020B0604020202020204" pitchFamily="34" charset="0"/>
              </a:rPr>
              <a:t>(e)	Education and global consistency.</a:t>
            </a:r>
          </a:p>
        </p:txBody>
      </p:sp>
    </p:spTree>
    <p:extLst>
      <p:ext uri="{BB962C8B-B14F-4D97-AF65-F5344CB8AC3E}">
        <p14:creationId xmlns:p14="http://schemas.microsoft.com/office/powerpoint/2010/main" val="23559665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62886" y="485775"/>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General Comments - Translations</a:t>
            </a:r>
          </a:p>
        </p:txBody>
      </p:sp>
      <p:sp>
        <p:nvSpPr>
          <p:cNvPr id="6" name="Content Placeholder 1"/>
          <p:cNvSpPr txBox="1">
            <a:spLocks/>
          </p:cNvSpPr>
          <p:nvPr/>
        </p:nvSpPr>
        <p:spPr>
          <a:xfrm>
            <a:off x="379819" y="2571750"/>
            <a:ext cx="6037165" cy="1991520"/>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r>
              <a:rPr lang="en-US" sz="1800" kern="0" dirty="0">
                <a:solidFill>
                  <a:srgbClr val="808080"/>
                </a:solidFill>
                <a:latin typeface="Arial" panose="020B0604020202020204" pitchFamily="34" charset="0"/>
                <a:cs typeface="Arial" panose="020B0604020202020204" pitchFamily="34" charset="0"/>
              </a:rPr>
              <a:t>Respondents who raised potential translation issues are mostly concerned that the word “findings” may not be properly translated</a:t>
            </a:r>
          </a:p>
          <a:p>
            <a:r>
              <a:rPr lang="en-US" sz="1800" kern="0" dirty="0">
                <a:solidFill>
                  <a:srgbClr val="808080"/>
                </a:solidFill>
                <a:latin typeface="Arial" panose="020B0604020202020204" pitchFamily="34" charset="0"/>
                <a:cs typeface="Arial" panose="020B0604020202020204" pitchFamily="34" charset="0"/>
              </a:rPr>
              <a:t>Other words that may present potential translation issues include the word “therefor” or the listing of words or terms in para. A22-A23 of ED-4400</a:t>
            </a:r>
          </a:p>
        </p:txBody>
      </p:sp>
      <p:graphicFrame>
        <p:nvGraphicFramePr>
          <p:cNvPr id="2" name="Table 1"/>
          <p:cNvGraphicFramePr>
            <a:graphicFrameLocks noGrp="1"/>
          </p:cNvGraphicFramePr>
          <p:nvPr>
            <p:extLst>
              <p:ext uri="{D42A27DB-BD31-4B8C-83A1-F6EECF244321}">
                <p14:modId xmlns:p14="http://schemas.microsoft.com/office/powerpoint/2010/main" val="1778275225"/>
              </p:ext>
            </p:extLst>
          </p:nvPr>
        </p:nvGraphicFramePr>
        <p:xfrm>
          <a:off x="404037" y="885825"/>
          <a:ext cx="6223340" cy="1463040"/>
        </p:xfrm>
        <a:graphic>
          <a:graphicData uri="http://schemas.openxmlformats.org/drawingml/2006/table">
            <a:tbl>
              <a:tblPr firstRow="1" bandRow="1">
                <a:tableStyleId>{5C22544A-7EE6-4342-B048-85BDC9FD1C3A}</a:tableStyleId>
              </a:tblPr>
              <a:tblGrid>
                <a:gridCol w="6223340">
                  <a:extLst>
                    <a:ext uri="{9D8B030D-6E8A-4147-A177-3AD203B41FA5}">
                      <a16:colId xmlns:a16="http://schemas.microsoft.com/office/drawing/2014/main" val="713251629"/>
                    </a:ext>
                  </a:extLst>
                </a:gridCol>
              </a:tblGrid>
              <a:tr h="1012268">
                <a:tc>
                  <a:txBody>
                    <a:bodyPr/>
                    <a:lstStyle/>
                    <a:p>
                      <a:r>
                        <a:rPr lang="en-US" sz="1800" b="0" i="0" kern="1200" dirty="0">
                          <a:solidFill>
                            <a:schemeClr val="lt1"/>
                          </a:solidFill>
                          <a:effectLst/>
                          <a:latin typeface="Arial" panose="020B0604020202020204" pitchFamily="34" charset="0"/>
                          <a:ea typeface="+mn-ea"/>
                          <a:cs typeface="Arial" panose="020B0604020202020204" pitchFamily="34" charset="0"/>
                        </a:rPr>
                        <a:t>Q10(a). Recognizing that many respondents may intend to translate the final </a:t>
                      </a:r>
                      <a:r>
                        <a:rPr lang="en-US" sz="1800" b="0" i="0" kern="1200" dirty="0" err="1">
                          <a:solidFill>
                            <a:schemeClr val="lt1"/>
                          </a:solidFill>
                          <a:effectLst/>
                          <a:latin typeface="Arial" panose="020B0604020202020204" pitchFamily="34" charset="0"/>
                          <a:ea typeface="+mn-ea"/>
                          <a:cs typeface="Arial" panose="020B0604020202020204" pitchFamily="34" charset="0"/>
                        </a:rPr>
                        <a:t>ISRS</a:t>
                      </a:r>
                      <a:r>
                        <a:rPr lang="en-US" sz="1800" b="0" i="0" kern="1200" dirty="0">
                          <a:solidFill>
                            <a:schemeClr val="lt1"/>
                          </a:solidFill>
                          <a:effectLst/>
                          <a:latin typeface="Arial" panose="020B0604020202020204" pitchFamily="34" charset="0"/>
                          <a:ea typeface="+mn-ea"/>
                          <a:cs typeface="Arial" panose="020B0604020202020204" pitchFamily="34" charset="0"/>
                        </a:rPr>
                        <a:t> for adoption in their own environments, the IAASB welcomes comment on potential translation issues respondents note in reviewing the ED-4400.</a:t>
                      </a:r>
                    </a:p>
                  </a:txBody>
                  <a:tcPr>
                    <a:solidFill>
                      <a:srgbClr val="005BAA"/>
                    </a:solidFill>
                  </a:tcPr>
                </a:tc>
                <a:extLst>
                  <a:ext uri="{0D108BD9-81ED-4DB2-BD59-A6C34878D82A}">
                    <a16:rowId xmlns:a16="http://schemas.microsoft.com/office/drawing/2014/main" val="493788776"/>
                  </a:ext>
                </a:extLst>
              </a:tr>
            </a:tbl>
          </a:graphicData>
        </a:graphic>
      </p:graphicFrame>
      <p:graphicFrame>
        <p:nvGraphicFramePr>
          <p:cNvPr id="7" name="Chart 6"/>
          <p:cNvGraphicFramePr/>
          <p:nvPr>
            <p:extLst>
              <p:ext uri="{D42A27DB-BD31-4B8C-83A1-F6EECF244321}">
                <p14:modId xmlns:p14="http://schemas.microsoft.com/office/powerpoint/2010/main" val="525010529"/>
              </p:ext>
            </p:extLst>
          </p:nvPr>
        </p:nvGraphicFramePr>
        <p:xfrm>
          <a:off x="6122504" y="885825"/>
          <a:ext cx="2862470" cy="36671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189947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62886" y="485775"/>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General Comments – Effective Date</a:t>
            </a:r>
          </a:p>
        </p:txBody>
      </p:sp>
      <p:sp>
        <p:nvSpPr>
          <p:cNvPr id="6" name="Content Placeholder 1"/>
          <p:cNvSpPr txBox="1">
            <a:spLocks/>
          </p:cNvSpPr>
          <p:nvPr/>
        </p:nvSpPr>
        <p:spPr>
          <a:xfrm>
            <a:off x="379819" y="3754704"/>
            <a:ext cx="6037165" cy="808566"/>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r>
              <a:rPr lang="en-US" sz="1600" kern="0" dirty="0">
                <a:solidFill>
                  <a:srgbClr val="808080"/>
                </a:solidFill>
                <a:latin typeface="Arial" panose="020B0604020202020204" pitchFamily="34" charset="0"/>
                <a:cs typeface="Arial" panose="020B0604020202020204" pitchFamily="34" charset="0"/>
              </a:rPr>
              <a:t>Majority did not raise any concern with the proposed effective date</a:t>
            </a:r>
          </a:p>
        </p:txBody>
      </p:sp>
      <p:graphicFrame>
        <p:nvGraphicFramePr>
          <p:cNvPr id="2" name="Table 1"/>
          <p:cNvGraphicFramePr>
            <a:graphicFrameLocks noGrp="1"/>
          </p:cNvGraphicFramePr>
          <p:nvPr>
            <p:extLst>
              <p:ext uri="{D42A27DB-BD31-4B8C-83A1-F6EECF244321}">
                <p14:modId xmlns:p14="http://schemas.microsoft.com/office/powerpoint/2010/main" val="829563081"/>
              </p:ext>
            </p:extLst>
          </p:nvPr>
        </p:nvGraphicFramePr>
        <p:xfrm>
          <a:off x="362886" y="885825"/>
          <a:ext cx="6353503" cy="2773680"/>
        </p:xfrm>
        <a:graphic>
          <a:graphicData uri="http://schemas.openxmlformats.org/drawingml/2006/table">
            <a:tbl>
              <a:tblPr firstRow="1" bandRow="1">
                <a:tableStyleId>{5C22544A-7EE6-4342-B048-85BDC9FD1C3A}</a:tableStyleId>
              </a:tblPr>
              <a:tblGrid>
                <a:gridCol w="6353503">
                  <a:extLst>
                    <a:ext uri="{9D8B030D-6E8A-4147-A177-3AD203B41FA5}">
                      <a16:colId xmlns:a16="http://schemas.microsoft.com/office/drawing/2014/main" val="713251629"/>
                    </a:ext>
                  </a:extLst>
                </a:gridCol>
              </a:tblGrid>
              <a:tr h="1012268">
                <a:tc>
                  <a:txBody>
                    <a:bodyPr/>
                    <a:lstStyle/>
                    <a:p>
                      <a:r>
                        <a:rPr lang="en-US" sz="1600" b="0" i="0" kern="1200" dirty="0">
                          <a:solidFill>
                            <a:schemeClr val="lt1"/>
                          </a:solidFill>
                          <a:effectLst/>
                          <a:latin typeface="Arial" panose="020B0604020202020204" pitchFamily="34" charset="0"/>
                          <a:ea typeface="+mn-ea"/>
                          <a:cs typeface="Arial" panose="020B0604020202020204" pitchFamily="34" charset="0"/>
                        </a:rPr>
                        <a:t>Q10(b). Recognizing that ED-4400 is a substantive revision and given the need for national due process and translation, as applicable, the IAASB believes that an appropriate effective date for the standard would be for AUP engagements for which the terms of engagement are agreed approximately 18–24 months after the approval of the final </a:t>
                      </a:r>
                      <a:r>
                        <a:rPr lang="en-US" sz="1600" b="0" i="0" kern="1200" dirty="0" err="1">
                          <a:solidFill>
                            <a:schemeClr val="lt1"/>
                          </a:solidFill>
                          <a:effectLst/>
                          <a:latin typeface="Arial" panose="020B0604020202020204" pitchFamily="34" charset="0"/>
                          <a:ea typeface="+mn-ea"/>
                          <a:cs typeface="Arial" panose="020B0604020202020204" pitchFamily="34" charset="0"/>
                        </a:rPr>
                        <a:t>ISRS</a:t>
                      </a:r>
                      <a:r>
                        <a:rPr lang="en-US" sz="1600" b="0" i="0" kern="1200" dirty="0">
                          <a:solidFill>
                            <a:schemeClr val="lt1"/>
                          </a:solidFill>
                          <a:effectLst/>
                          <a:latin typeface="Arial" panose="020B0604020202020204" pitchFamily="34" charset="0"/>
                          <a:ea typeface="+mn-ea"/>
                          <a:cs typeface="Arial" panose="020B0604020202020204" pitchFamily="34" charset="0"/>
                        </a:rPr>
                        <a:t>. Earlier application would be permitted and encouraged. The IAASB welcomes comments on whether this would provide a sufficient period to support effective implementation of the </a:t>
                      </a:r>
                      <a:r>
                        <a:rPr lang="en-US" sz="1600" b="0" i="0" kern="1200" dirty="0" err="1">
                          <a:solidFill>
                            <a:schemeClr val="lt1"/>
                          </a:solidFill>
                          <a:effectLst/>
                          <a:latin typeface="Arial" panose="020B0604020202020204" pitchFamily="34" charset="0"/>
                          <a:ea typeface="+mn-ea"/>
                          <a:cs typeface="Arial" panose="020B0604020202020204" pitchFamily="34" charset="0"/>
                        </a:rPr>
                        <a:t>ISRS</a:t>
                      </a:r>
                      <a:r>
                        <a:rPr lang="en-US" sz="1600" b="0" i="0" kern="1200" dirty="0">
                          <a:solidFill>
                            <a:schemeClr val="lt1"/>
                          </a:solidFill>
                          <a:effectLst/>
                          <a:latin typeface="Arial" panose="020B0604020202020204" pitchFamily="34" charset="0"/>
                          <a:ea typeface="+mn-ea"/>
                          <a:cs typeface="Arial" panose="020B0604020202020204" pitchFamily="34" charset="0"/>
                        </a:rPr>
                        <a:t>. Respondents are also asked to comment on whether a shorter period between the approval of the final </a:t>
                      </a:r>
                      <a:r>
                        <a:rPr lang="en-US" sz="1600" b="0" i="0" kern="1200" dirty="0" err="1">
                          <a:solidFill>
                            <a:schemeClr val="lt1"/>
                          </a:solidFill>
                          <a:effectLst/>
                          <a:latin typeface="Arial" panose="020B0604020202020204" pitchFamily="34" charset="0"/>
                          <a:ea typeface="+mn-ea"/>
                          <a:cs typeface="Arial" panose="020B0604020202020204" pitchFamily="34" charset="0"/>
                        </a:rPr>
                        <a:t>ISRS</a:t>
                      </a:r>
                      <a:r>
                        <a:rPr lang="en-US" sz="1600" b="0" i="0" kern="1200" dirty="0">
                          <a:solidFill>
                            <a:schemeClr val="lt1"/>
                          </a:solidFill>
                          <a:effectLst/>
                          <a:latin typeface="Arial" panose="020B0604020202020204" pitchFamily="34" charset="0"/>
                          <a:ea typeface="+mn-ea"/>
                          <a:cs typeface="Arial" panose="020B0604020202020204" pitchFamily="34" charset="0"/>
                        </a:rPr>
                        <a:t> and the effective date is practicable?</a:t>
                      </a:r>
                      <a:endParaRPr lang="en-US" sz="1600" b="0" i="0" dirty="0">
                        <a:latin typeface="Arial" panose="020B0604020202020204" pitchFamily="34" charset="0"/>
                        <a:cs typeface="Arial" panose="020B0604020202020204" pitchFamily="34" charset="0"/>
                      </a:endParaRPr>
                    </a:p>
                  </a:txBody>
                  <a:tcPr>
                    <a:solidFill>
                      <a:srgbClr val="005BAA"/>
                    </a:solidFill>
                  </a:tcPr>
                </a:tc>
                <a:extLst>
                  <a:ext uri="{0D108BD9-81ED-4DB2-BD59-A6C34878D82A}">
                    <a16:rowId xmlns:a16="http://schemas.microsoft.com/office/drawing/2014/main" val="493788776"/>
                  </a:ext>
                </a:extLst>
              </a:tr>
            </a:tbl>
          </a:graphicData>
        </a:graphic>
      </p:graphicFrame>
      <p:graphicFrame>
        <p:nvGraphicFramePr>
          <p:cNvPr id="7" name="Chart 6"/>
          <p:cNvGraphicFramePr/>
          <p:nvPr>
            <p:extLst>
              <p:ext uri="{D42A27DB-BD31-4B8C-83A1-F6EECF244321}">
                <p14:modId xmlns:p14="http://schemas.microsoft.com/office/powerpoint/2010/main" val="2828820053"/>
              </p:ext>
            </p:extLst>
          </p:nvPr>
        </p:nvGraphicFramePr>
        <p:xfrm>
          <a:off x="6122504" y="885825"/>
          <a:ext cx="2862470" cy="36671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822534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71624-5726-48D0-AC63-887246B6B6EE}"/>
              </a:ext>
            </a:extLst>
          </p:cNvPr>
          <p:cNvSpPr>
            <a:spLocks noGrp="1"/>
          </p:cNvSpPr>
          <p:nvPr>
            <p:ph type="title"/>
          </p:nvPr>
        </p:nvSpPr>
        <p:spPr/>
        <p:txBody>
          <a:bodyPr/>
          <a:lstStyle/>
          <a:p>
            <a:r>
              <a:rPr lang="en-US" kern="0" dirty="0"/>
              <a:t>General Comments – Effective Date (cont’d)</a:t>
            </a:r>
            <a:endParaRPr lang="en-US" dirty="0"/>
          </a:p>
        </p:txBody>
      </p:sp>
      <p:graphicFrame>
        <p:nvGraphicFramePr>
          <p:cNvPr id="5" name="Content Placeholder 4">
            <a:extLst>
              <a:ext uri="{FF2B5EF4-FFF2-40B4-BE49-F238E27FC236}">
                <a16:creationId xmlns:a16="http://schemas.microsoft.com/office/drawing/2014/main" id="{C345AF56-B86B-4106-99B8-602B801AB7D1}"/>
              </a:ext>
            </a:extLst>
          </p:cNvPr>
          <p:cNvGraphicFramePr>
            <a:graphicFrameLocks noGrp="1"/>
          </p:cNvGraphicFramePr>
          <p:nvPr>
            <p:ph idx="1"/>
            <p:extLst>
              <p:ext uri="{D42A27DB-BD31-4B8C-83A1-F6EECF244321}">
                <p14:modId xmlns:p14="http://schemas.microsoft.com/office/powerpoint/2010/main" val="3484545328"/>
              </p:ext>
            </p:extLst>
          </p:nvPr>
        </p:nvGraphicFramePr>
        <p:xfrm>
          <a:off x="457200" y="890125"/>
          <a:ext cx="8229600" cy="33258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465B221C-7CC7-45DE-B91C-6056A81EF0C7}"/>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32</a:t>
            </a:fld>
            <a:r>
              <a:rPr lang="en-US" dirty="0">
                <a:latin typeface="Arial" panose="020B0604020202020204" pitchFamily="34" charset="0"/>
                <a:cs typeface="MS PGothic" charset="0"/>
              </a:rPr>
              <a:t>  |  Confidential and Proprietary Information</a:t>
            </a:r>
          </a:p>
        </p:txBody>
      </p:sp>
    </p:spTree>
    <p:extLst>
      <p:ext uri="{BB962C8B-B14F-4D97-AF65-F5344CB8AC3E}">
        <p14:creationId xmlns:p14="http://schemas.microsoft.com/office/powerpoint/2010/main" val="26807203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p:cNvSpPr>
          <p:nvPr/>
        </p:nvSpPr>
        <p:spPr>
          <a:xfrm>
            <a:off x="381000" y="405226"/>
            <a:ext cx="7543800" cy="400050"/>
          </a:xfrm>
          <a:prstGeom prst="rect">
            <a:avLst/>
          </a:prstGeom>
        </p:spPr>
        <p:txBody>
          <a:bodyPr/>
          <a:lstStyle>
            <a:lvl1pPr algn="l" rtl="0" eaLnBrk="1" fontAlgn="base" hangingPunct="1">
              <a:spcBef>
                <a:spcPct val="0"/>
              </a:spcBef>
              <a:spcAft>
                <a:spcPct val="0"/>
              </a:spcAft>
              <a:defRPr sz="2400" b="1">
                <a:solidFill>
                  <a:schemeClr val="bg1"/>
                </a:solidFill>
                <a:latin typeface="+mj-lt"/>
                <a:ea typeface="ＭＳ Ｐゴシック" charset="0"/>
                <a:cs typeface="ＭＳ Ｐゴシック" charset="0"/>
              </a:defRPr>
            </a:lvl1pPr>
            <a:lvl2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cs typeface="ＭＳ Ｐゴシック" charset="0"/>
              </a:defRPr>
            </a:lvl5pPr>
            <a:lvl6pPr marL="4572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6pPr>
            <a:lvl7pPr marL="9144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7pPr>
            <a:lvl8pPr marL="13716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8pPr>
            <a:lvl9pPr marL="1828800" algn="l" rtl="0" eaLnBrk="1" fontAlgn="base" hangingPunct="1">
              <a:spcBef>
                <a:spcPct val="0"/>
              </a:spcBef>
              <a:spcAft>
                <a:spcPct val="0"/>
              </a:spcAft>
              <a:defRPr sz="2400">
                <a:solidFill>
                  <a:schemeClr val="bg1"/>
                </a:solidFill>
                <a:latin typeface="Arial" charset="0"/>
                <a:ea typeface="ヒラギノ角ゴ Pro W3" charset="-128"/>
                <a:cs typeface="ヒラギノ角ゴ Pro W3" charset="-128"/>
              </a:defRPr>
            </a:lvl9pPr>
          </a:lstStyle>
          <a:p>
            <a:r>
              <a:rPr lang="en-US" sz="1800" b="0" kern="0" dirty="0">
                <a:latin typeface="Arial" panose="020B0604020202020204" pitchFamily="34" charset="0"/>
                <a:cs typeface="Arial" panose="020B0604020202020204" pitchFamily="34" charset="0"/>
              </a:rPr>
              <a:t>General Comments</a:t>
            </a:r>
          </a:p>
        </p:txBody>
      </p:sp>
      <p:sp>
        <p:nvSpPr>
          <p:cNvPr id="6" name="Content Placeholder 1"/>
          <p:cNvSpPr txBox="1">
            <a:spLocks/>
          </p:cNvSpPr>
          <p:nvPr/>
        </p:nvSpPr>
        <p:spPr>
          <a:xfrm>
            <a:off x="378638" y="937238"/>
            <a:ext cx="8497006" cy="1198678"/>
          </a:xfrm>
          <a:prstGeom prst="rect">
            <a:avLst/>
          </a:prstGeom>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lvl="0" indent="0">
              <a:buNone/>
            </a:pPr>
            <a:r>
              <a:rPr lang="en-US" sz="1800" dirty="0">
                <a:solidFill>
                  <a:srgbClr val="808080"/>
                </a:solidFill>
                <a:latin typeface="Arial" panose="020B0604020202020204" pitchFamily="34" charset="0"/>
                <a:cs typeface="Arial" panose="020B0604020202020204" pitchFamily="34" charset="0"/>
              </a:rPr>
              <a:t>Q9. The IAASB is asked for its views on:</a:t>
            </a:r>
          </a:p>
          <a:p>
            <a:pPr marL="352044" lvl="1" indent="0">
              <a:buNone/>
            </a:pPr>
            <a:r>
              <a:rPr lang="en-US" sz="1800" dirty="0">
                <a:solidFill>
                  <a:srgbClr val="808080"/>
                </a:solidFill>
                <a:latin typeface="Arial" panose="020B0604020202020204" pitchFamily="34" charset="0"/>
                <a:cs typeface="Arial" panose="020B0604020202020204" pitchFamily="34" charset="0"/>
              </a:rPr>
              <a:t>(a)	Effective date;</a:t>
            </a:r>
          </a:p>
          <a:p>
            <a:pPr marL="352044" lvl="1" indent="0">
              <a:buNone/>
            </a:pPr>
            <a:r>
              <a:rPr lang="en-US" sz="1800" dirty="0">
                <a:solidFill>
                  <a:srgbClr val="808080"/>
                </a:solidFill>
                <a:latin typeface="Arial" panose="020B0604020202020204" pitchFamily="34" charset="0"/>
                <a:cs typeface="Arial" panose="020B0604020202020204" pitchFamily="34" charset="0"/>
              </a:rPr>
              <a:t>(b)	Translation issues</a:t>
            </a:r>
          </a:p>
          <a:p>
            <a:pPr marL="0" lvl="0" indent="0">
              <a:buNone/>
            </a:pPr>
            <a:endParaRPr lang="en-US" sz="1600" dirty="0">
              <a:solidFill>
                <a:srgbClr val="808080"/>
              </a:solidFill>
              <a:latin typeface="Arial" panose="020B0604020202020204" pitchFamily="34" charset="0"/>
              <a:cs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623163258"/>
              </p:ext>
            </p:extLst>
          </p:nvPr>
        </p:nvGraphicFramePr>
        <p:xfrm>
          <a:off x="434960" y="2235510"/>
          <a:ext cx="8384362" cy="2560320"/>
        </p:xfrm>
        <a:graphic>
          <a:graphicData uri="http://schemas.openxmlformats.org/drawingml/2006/table">
            <a:tbl>
              <a:tblPr firstRow="1" bandRow="1">
                <a:tableStyleId>{5C22544A-7EE6-4342-B048-85BDC9FD1C3A}</a:tableStyleId>
              </a:tblPr>
              <a:tblGrid>
                <a:gridCol w="8384362">
                  <a:extLst>
                    <a:ext uri="{9D8B030D-6E8A-4147-A177-3AD203B41FA5}">
                      <a16:colId xmlns:a16="http://schemas.microsoft.com/office/drawing/2014/main" val="713251629"/>
                    </a:ext>
                  </a:extLst>
                </a:gridCol>
              </a:tblGrid>
              <a:tr h="2228543">
                <a:tc>
                  <a:txBody>
                    <a:bodyPr/>
                    <a:lstStyle/>
                    <a:p>
                      <a:r>
                        <a:rPr lang="en-CA" sz="1800" b="1" i="0" kern="1200" dirty="0">
                          <a:solidFill>
                            <a:schemeClr val="lt1"/>
                          </a:solidFill>
                          <a:effectLst/>
                          <a:latin typeface="+mn-lt"/>
                          <a:ea typeface="+mn-ea"/>
                          <a:cs typeface="+mn-cs"/>
                        </a:rPr>
                        <a:t>Task Force’s preliminary views</a:t>
                      </a:r>
                    </a:p>
                    <a:p>
                      <a:pPr marL="342900" marR="0" lvl="0" indent="-34290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kern="1200" dirty="0">
                          <a:solidFill>
                            <a:schemeClr val="lt1"/>
                          </a:solidFill>
                          <a:effectLst/>
                          <a:latin typeface="+mn-lt"/>
                          <a:ea typeface="+mn-ea"/>
                          <a:cs typeface="+mn-cs"/>
                        </a:rPr>
                        <a:t>On the Effective Date, the Task Force did not reach a conclusion on the issue</a:t>
                      </a:r>
                      <a:endParaRPr lang="en-CA" sz="1800" b="0" i="0" kern="1200" dirty="0">
                        <a:solidFill>
                          <a:schemeClr val="lt1"/>
                        </a:solidFill>
                        <a:effectLst/>
                        <a:latin typeface="+mn-lt"/>
                        <a:ea typeface="+mn-ea"/>
                        <a:cs typeface="+mn-cs"/>
                      </a:endParaRPr>
                    </a:p>
                    <a:p>
                      <a:pPr marL="342900" indent="-342900">
                        <a:buFont typeface="Arial" panose="020B0604020202020204" pitchFamily="34" charset="0"/>
                        <a:buChar char="•"/>
                      </a:pPr>
                      <a:r>
                        <a:rPr lang="en-US" sz="1800" b="0" i="0" kern="1200" dirty="0">
                          <a:solidFill>
                            <a:schemeClr val="lt1"/>
                          </a:solidFill>
                          <a:effectLst/>
                          <a:latin typeface="+mn-lt"/>
                          <a:ea typeface="+mn-ea"/>
                          <a:cs typeface="+mn-cs"/>
                        </a:rPr>
                        <a:t>On Translations, the Task Force: </a:t>
                      </a:r>
                    </a:p>
                    <a:p>
                      <a:pPr marL="685800" lvl="1" indent="-342900">
                        <a:buFont typeface="Calibri" panose="020F0502020204030204" pitchFamily="34" charset="0"/>
                        <a:buChar char="̶"/>
                      </a:pPr>
                      <a:r>
                        <a:rPr lang="en-US" sz="1800" b="0" i="0" kern="1200" dirty="0">
                          <a:solidFill>
                            <a:schemeClr val="lt1"/>
                          </a:solidFill>
                          <a:effectLst/>
                          <a:latin typeface="+mn-lt"/>
                          <a:ea typeface="+mn-ea"/>
                          <a:cs typeface="+mn-cs"/>
                        </a:rPr>
                        <a:t>Notes that para. A11 of ED-4400 would address potential jurisdictional differences and translation issues</a:t>
                      </a:r>
                    </a:p>
                    <a:p>
                      <a:pPr marL="685800" lvl="1" indent="-342900">
                        <a:buFont typeface="Calibri" panose="020F0502020204030204" pitchFamily="34" charset="0"/>
                        <a:buChar char="̶"/>
                      </a:pPr>
                      <a:r>
                        <a:rPr lang="en-US" sz="1800" b="0" i="0" kern="1200" dirty="0">
                          <a:solidFill>
                            <a:schemeClr val="lt1"/>
                          </a:solidFill>
                          <a:effectLst/>
                          <a:latin typeface="+mn-lt"/>
                          <a:ea typeface="+mn-ea"/>
                          <a:cs typeface="+mn-cs"/>
                        </a:rPr>
                        <a:t>Plans to replace the word “therefor”</a:t>
                      </a:r>
                    </a:p>
                    <a:p>
                      <a:pPr marL="685800" lvl="1" indent="-342900">
                        <a:buFont typeface="Calibri" panose="020F0502020204030204" pitchFamily="34" charset="0"/>
                        <a:buChar char="̶"/>
                      </a:pPr>
                      <a:r>
                        <a:rPr lang="en-US" sz="1800" b="0" i="0" kern="1200" dirty="0">
                          <a:solidFill>
                            <a:schemeClr val="lt1"/>
                          </a:solidFill>
                          <a:effectLst/>
                          <a:latin typeface="+mn-lt"/>
                          <a:ea typeface="+mn-ea"/>
                          <a:cs typeface="+mn-cs"/>
                        </a:rPr>
                        <a:t>Notes that the respondent did not identify any specific issues with the listing of words in para. A22-A23, and that many of these words are used in other IAASB pronouncements</a:t>
                      </a:r>
                    </a:p>
                  </a:txBody>
                  <a:tcPr>
                    <a:solidFill>
                      <a:schemeClr val="tx1">
                        <a:lumMod val="50000"/>
                        <a:lumOff val="50000"/>
                      </a:schemeClr>
                    </a:solidFill>
                  </a:tcPr>
                </a:tc>
                <a:extLst>
                  <a:ext uri="{0D108BD9-81ED-4DB2-BD59-A6C34878D82A}">
                    <a16:rowId xmlns:a16="http://schemas.microsoft.com/office/drawing/2014/main" val="493788776"/>
                  </a:ext>
                </a:extLst>
              </a:tr>
            </a:tbl>
          </a:graphicData>
        </a:graphic>
      </p:graphicFrame>
    </p:spTree>
    <p:extLst>
      <p:ext uri="{BB962C8B-B14F-4D97-AF65-F5344CB8AC3E}">
        <p14:creationId xmlns:p14="http://schemas.microsoft.com/office/powerpoint/2010/main" val="35420223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574" y="427437"/>
            <a:ext cx="8375226" cy="403875"/>
          </a:xfrm>
        </p:spPr>
        <p:txBody>
          <a:bodyPr/>
          <a:lstStyle/>
          <a:p>
            <a:r>
              <a:rPr lang="en-US" dirty="0" err="1"/>
              <a:t>ISRS</a:t>
            </a:r>
            <a:r>
              <a:rPr lang="en-US" dirty="0"/>
              <a:t> 4400 (Revised) – The Way Forward </a:t>
            </a:r>
          </a:p>
        </p:txBody>
      </p:sp>
      <p:sp>
        <p:nvSpPr>
          <p:cNvPr id="6" name="Slide Number Placeholder 5"/>
          <p:cNvSpPr txBox="1">
            <a:spLocks/>
          </p:cNvSpPr>
          <p:nvPr/>
        </p:nvSpPr>
        <p:spPr>
          <a:xfrm>
            <a:off x="7126209" y="4883295"/>
            <a:ext cx="1560591" cy="228309"/>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675" dirty="0">
                <a:latin typeface="Arial" panose="020B0604020202020204" pitchFamily="34" charset="0"/>
                <a:cs typeface="MS PGothic" charset="0"/>
              </a:rPr>
              <a:t>Page </a:t>
            </a:r>
            <a:fld id="{53CD5F42-02DE-44B4-A2E5-4D62A1A07C24}" type="slidenum">
              <a:rPr lang="en-US" sz="675">
                <a:latin typeface="Arial" panose="020B0604020202020204" pitchFamily="34" charset="0"/>
                <a:cs typeface="Arial" panose="020B0604020202020204" pitchFamily="34" charset="0"/>
              </a:rPr>
              <a:t>34</a:t>
            </a:fld>
            <a:endParaRPr lang="en-US" sz="675" dirty="0">
              <a:latin typeface="Arial" panose="020B0604020202020204" pitchFamily="34" charset="0"/>
              <a:cs typeface="Arial" panose="020B0604020202020204" pitchFamily="34" charset="0"/>
            </a:endParaRPr>
          </a:p>
        </p:txBody>
      </p:sp>
      <p:sp>
        <p:nvSpPr>
          <p:cNvPr id="5" name="Content Placeholder 1"/>
          <p:cNvSpPr>
            <a:spLocks noGrp="1"/>
          </p:cNvSpPr>
          <p:nvPr>
            <p:ph idx="1"/>
          </p:nvPr>
        </p:nvSpPr>
        <p:spPr>
          <a:xfrm>
            <a:off x="229798" y="831312"/>
            <a:ext cx="8233790" cy="3902266"/>
          </a:xfrm>
        </p:spPr>
        <p:txBody>
          <a:bodyPr/>
          <a:lstStyle/>
          <a:p>
            <a:pPr marL="347472" indent="-347472" algn="just">
              <a:spcBef>
                <a:spcPts val="300"/>
              </a:spcBef>
              <a:buNone/>
            </a:pPr>
            <a:endParaRPr lang="en-US" sz="400" dirty="0"/>
          </a:p>
          <a:p>
            <a:pPr marL="1397" indent="0" algn="just">
              <a:spcBef>
                <a:spcPts val="600"/>
              </a:spcBef>
              <a:buNone/>
            </a:pPr>
            <a:endParaRPr lang="en-US" sz="1700" dirty="0">
              <a:solidFill>
                <a:schemeClr val="tx1">
                  <a:lumMod val="65000"/>
                  <a:lumOff val="35000"/>
                </a:schemeClr>
              </a:solidFill>
            </a:endParaRPr>
          </a:p>
          <a:p>
            <a:pPr marL="1397" indent="0" algn="just">
              <a:spcBef>
                <a:spcPts val="600"/>
              </a:spcBef>
              <a:buNone/>
            </a:pPr>
            <a:endParaRPr lang="en-US" sz="1700" dirty="0">
              <a:solidFill>
                <a:schemeClr val="tx1">
                  <a:lumMod val="65000"/>
                  <a:lumOff val="35000"/>
                </a:schemeClr>
              </a:solidFill>
            </a:endParaRPr>
          </a:p>
        </p:txBody>
      </p:sp>
      <p:grpSp>
        <p:nvGrpSpPr>
          <p:cNvPr id="8" name="Group 7"/>
          <p:cNvGrpSpPr/>
          <p:nvPr/>
        </p:nvGrpSpPr>
        <p:grpSpPr>
          <a:xfrm>
            <a:off x="-7300" y="1826878"/>
            <a:ext cx="7423610" cy="2867042"/>
            <a:chOff x="-28575" y="1898650"/>
            <a:chExt cx="9956800" cy="4429126"/>
          </a:xfrm>
          <a:solidFill>
            <a:schemeClr val="tx1">
              <a:lumMod val="75000"/>
              <a:lumOff val="25000"/>
            </a:schemeClr>
          </a:solidFill>
        </p:grpSpPr>
        <p:sp>
          <p:nvSpPr>
            <p:cNvPr id="9" name="Freeform 5"/>
            <p:cNvSpPr>
              <a:spLocks/>
            </p:cNvSpPr>
            <p:nvPr/>
          </p:nvSpPr>
          <p:spPr bwMode="auto">
            <a:xfrm>
              <a:off x="3052763" y="2152650"/>
              <a:ext cx="3460750" cy="3467100"/>
            </a:xfrm>
            <a:custGeom>
              <a:avLst/>
              <a:gdLst>
                <a:gd name="T0" fmla="*/ 522 w 1204"/>
                <a:gd name="T1" fmla="*/ 1077 h 1205"/>
                <a:gd name="T2" fmla="*/ 463 w 1204"/>
                <a:gd name="T3" fmla="*/ 602 h 1205"/>
                <a:gd name="T4" fmla="*/ 692 w 1204"/>
                <a:gd name="T5" fmla="*/ 106 h 1205"/>
                <a:gd name="T6" fmla="*/ 268 w 1204"/>
                <a:gd name="T7" fmla="*/ 0 h 1205"/>
                <a:gd name="T8" fmla="*/ 237 w 1204"/>
                <a:gd name="T9" fmla="*/ 28 h 1205"/>
                <a:gd name="T10" fmla="*/ 616 w 1204"/>
                <a:gd name="T11" fmla="*/ 123 h 1205"/>
                <a:gd name="T12" fmla="*/ 718 w 1204"/>
                <a:gd name="T13" fmla="*/ 427 h 1205"/>
                <a:gd name="T14" fmla="*/ 26 w 1204"/>
                <a:gd name="T15" fmla="*/ 845 h 1205"/>
                <a:gd name="T16" fmla="*/ 475 w 1204"/>
                <a:gd name="T17" fmla="*/ 1205 h 1205"/>
                <a:gd name="T18" fmla="*/ 662 w 1204"/>
                <a:gd name="T19" fmla="*/ 1119 h 1205"/>
                <a:gd name="T20" fmla="*/ 522 w 1204"/>
                <a:gd name="T21" fmla="*/ 1077 h 1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04" h="1205">
                  <a:moveTo>
                    <a:pt x="522" y="1077"/>
                  </a:moveTo>
                  <a:cubicBezTo>
                    <a:pt x="0" y="897"/>
                    <a:pt x="260" y="682"/>
                    <a:pt x="463" y="602"/>
                  </a:cubicBezTo>
                  <a:cubicBezTo>
                    <a:pt x="666" y="522"/>
                    <a:pt x="1204" y="330"/>
                    <a:pt x="692" y="106"/>
                  </a:cubicBezTo>
                  <a:cubicBezTo>
                    <a:pt x="692" y="106"/>
                    <a:pt x="513" y="40"/>
                    <a:pt x="268" y="0"/>
                  </a:cubicBezTo>
                  <a:cubicBezTo>
                    <a:pt x="237" y="28"/>
                    <a:pt x="237" y="28"/>
                    <a:pt x="237" y="28"/>
                  </a:cubicBezTo>
                  <a:cubicBezTo>
                    <a:pt x="415" y="59"/>
                    <a:pt x="519" y="90"/>
                    <a:pt x="616" y="123"/>
                  </a:cubicBezTo>
                  <a:cubicBezTo>
                    <a:pt x="774" y="177"/>
                    <a:pt x="930" y="311"/>
                    <a:pt x="718" y="427"/>
                  </a:cubicBezTo>
                  <a:cubicBezTo>
                    <a:pt x="506" y="543"/>
                    <a:pt x="44" y="661"/>
                    <a:pt x="26" y="845"/>
                  </a:cubicBezTo>
                  <a:cubicBezTo>
                    <a:pt x="13" y="972"/>
                    <a:pt x="185" y="1108"/>
                    <a:pt x="475" y="1205"/>
                  </a:cubicBezTo>
                  <a:cubicBezTo>
                    <a:pt x="662" y="1119"/>
                    <a:pt x="662" y="1119"/>
                    <a:pt x="662" y="1119"/>
                  </a:cubicBezTo>
                  <a:cubicBezTo>
                    <a:pt x="613" y="1106"/>
                    <a:pt x="566" y="1092"/>
                    <a:pt x="522" y="1077"/>
                  </a:cubicBez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endParaRPr lang="en-US" sz="1013"/>
            </a:p>
          </p:txBody>
        </p:sp>
        <p:sp>
          <p:nvSpPr>
            <p:cNvPr id="10" name="Freeform 6"/>
            <p:cNvSpPr>
              <a:spLocks/>
            </p:cNvSpPr>
            <p:nvPr/>
          </p:nvSpPr>
          <p:spPr bwMode="auto">
            <a:xfrm>
              <a:off x="-28575" y="1898650"/>
              <a:ext cx="1481138" cy="87313"/>
            </a:xfrm>
            <a:custGeom>
              <a:avLst/>
              <a:gdLst>
                <a:gd name="T0" fmla="*/ 0 w 515"/>
                <a:gd name="T1" fmla="*/ 2 h 30"/>
                <a:gd name="T2" fmla="*/ 0 w 515"/>
                <a:gd name="T3" fmla="*/ 23 h 30"/>
                <a:gd name="T4" fmla="*/ 504 w 515"/>
                <a:gd name="T5" fmla="*/ 30 h 30"/>
                <a:gd name="T6" fmla="*/ 515 w 515"/>
                <a:gd name="T7" fmla="*/ 18 h 30"/>
                <a:gd name="T8" fmla="*/ 0 w 515"/>
                <a:gd name="T9" fmla="*/ 2 h 30"/>
              </a:gdLst>
              <a:ahLst/>
              <a:cxnLst>
                <a:cxn ang="0">
                  <a:pos x="T0" y="T1"/>
                </a:cxn>
                <a:cxn ang="0">
                  <a:pos x="T2" y="T3"/>
                </a:cxn>
                <a:cxn ang="0">
                  <a:pos x="T4" y="T5"/>
                </a:cxn>
                <a:cxn ang="0">
                  <a:pos x="T6" y="T7"/>
                </a:cxn>
                <a:cxn ang="0">
                  <a:pos x="T8" y="T9"/>
                </a:cxn>
              </a:cxnLst>
              <a:rect l="0" t="0" r="r" b="b"/>
              <a:pathLst>
                <a:path w="515" h="30">
                  <a:moveTo>
                    <a:pt x="0" y="2"/>
                  </a:moveTo>
                  <a:cubicBezTo>
                    <a:pt x="0" y="23"/>
                    <a:pt x="0" y="23"/>
                    <a:pt x="0" y="23"/>
                  </a:cubicBezTo>
                  <a:cubicBezTo>
                    <a:pt x="0" y="23"/>
                    <a:pt x="200" y="14"/>
                    <a:pt x="504" y="30"/>
                  </a:cubicBezTo>
                  <a:cubicBezTo>
                    <a:pt x="515" y="18"/>
                    <a:pt x="515" y="18"/>
                    <a:pt x="515" y="18"/>
                  </a:cubicBezTo>
                  <a:cubicBezTo>
                    <a:pt x="323" y="7"/>
                    <a:pt x="138" y="0"/>
                    <a:pt x="0" y="2"/>
                  </a:cubicBez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endParaRPr lang="en-US" sz="1013"/>
            </a:p>
          </p:txBody>
        </p:sp>
        <p:sp>
          <p:nvSpPr>
            <p:cNvPr id="11" name="Freeform 7"/>
            <p:cNvSpPr>
              <a:spLocks/>
            </p:cNvSpPr>
            <p:nvPr/>
          </p:nvSpPr>
          <p:spPr bwMode="auto">
            <a:xfrm>
              <a:off x="1581150" y="1958975"/>
              <a:ext cx="2084388" cy="247650"/>
            </a:xfrm>
            <a:custGeom>
              <a:avLst/>
              <a:gdLst>
                <a:gd name="T0" fmla="*/ 595 w 725"/>
                <a:gd name="T1" fmla="*/ 43 h 86"/>
                <a:gd name="T2" fmla="*/ 13 w 725"/>
                <a:gd name="T3" fmla="*/ 0 h 86"/>
                <a:gd name="T4" fmla="*/ 0 w 725"/>
                <a:gd name="T5" fmla="*/ 12 h 86"/>
                <a:gd name="T6" fmla="*/ 298 w 725"/>
                <a:gd name="T7" fmla="*/ 36 h 86"/>
                <a:gd name="T8" fmla="*/ 695 w 725"/>
                <a:gd name="T9" fmla="*/ 86 h 86"/>
                <a:gd name="T10" fmla="*/ 725 w 725"/>
                <a:gd name="T11" fmla="*/ 58 h 86"/>
                <a:gd name="T12" fmla="*/ 595 w 725"/>
                <a:gd name="T13" fmla="*/ 43 h 86"/>
              </a:gdLst>
              <a:ahLst/>
              <a:cxnLst>
                <a:cxn ang="0">
                  <a:pos x="T0" y="T1"/>
                </a:cxn>
                <a:cxn ang="0">
                  <a:pos x="T2" y="T3"/>
                </a:cxn>
                <a:cxn ang="0">
                  <a:pos x="T4" y="T5"/>
                </a:cxn>
                <a:cxn ang="0">
                  <a:pos x="T6" y="T7"/>
                </a:cxn>
                <a:cxn ang="0">
                  <a:pos x="T8" y="T9"/>
                </a:cxn>
                <a:cxn ang="0">
                  <a:pos x="T10" y="T11"/>
                </a:cxn>
                <a:cxn ang="0">
                  <a:pos x="T12" y="T13"/>
                </a:cxn>
              </a:cxnLst>
              <a:rect l="0" t="0" r="r" b="b"/>
              <a:pathLst>
                <a:path w="725" h="86">
                  <a:moveTo>
                    <a:pt x="595" y="43"/>
                  </a:moveTo>
                  <a:cubicBezTo>
                    <a:pt x="430" y="28"/>
                    <a:pt x="220" y="12"/>
                    <a:pt x="13" y="0"/>
                  </a:cubicBezTo>
                  <a:cubicBezTo>
                    <a:pt x="0" y="12"/>
                    <a:pt x="0" y="12"/>
                    <a:pt x="0" y="12"/>
                  </a:cubicBezTo>
                  <a:cubicBezTo>
                    <a:pt x="92" y="18"/>
                    <a:pt x="192" y="25"/>
                    <a:pt x="298" y="36"/>
                  </a:cubicBezTo>
                  <a:cubicBezTo>
                    <a:pt x="461" y="53"/>
                    <a:pt x="590" y="69"/>
                    <a:pt x="695" y="86"/>
                  </a:cubicBezTo>
                  <a:cubicBezTo>
                    <a:pt x="725" y="58"/>
                    <a:pt x="725" y="58"/>
                    <a:pt x="725" y="58"/>
                  </a:cubicBezTo>
                  <a:cubicBezTo>
                    <a:pt x="683" y="52"/>
                    <a:pt x="639" y="47"/>
                    <a:pt x="595" y="43"/>
                  </a:cubicBez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endParaRPr lang="en-US" sz="1013"/>
            </a:p>
          </p:txBody>
        </p:sp>
        <p:sp>
          <p:nvSpPr>
            <p:cNvPr id="12" name="Freeform 8"/>
            <p:cNvSpPr>
              <a:spLocks/>
            </p:cNvSpPr>
            <p:nvPr/>
          </p:nvSpPr>
          <p:spPr bwMode="auto">
            <a:xfrm>
              <a:off x="4826000" y="5472113"/>
              <a:ext cx="5102225" cy="855663"/>
            </a:xfrm>
            <a:custGeom>
              <a:avLst/>
              <a:gdLst>
                <a:gd name="T0" fmla="*/ 1775 w 1775"/>
                <a:gd name="T1" fmla="*/ 213 h 297"/>
                <a:gd name="T2" fmla="*/ 1443 w 1775"/>
                <a:gd name="T3" fmla="*/ 57 h 297"/>
                <a:gd name="T4" fmla="*/ 1397 w 1775"/>
                <a:gd name="T5" fmla="*/ 95 h 297"/>
                <a:gd name="T6" fmla="*/ 205 w 1775"/>
                <a:gd name="T7" fmla="*/ 0 h 297"/>
                <a:gd name="T8" fmla="*/ 0 w 1775"/>
                <a:gd name="T9" fmla="*/ 93 h 297"/>
                <a:gd name="T10" fmla="*/ 309 w 1775"/>
                <a:gd name="T11" fmla="*/ 153 h 297"/>
                <a:gd name="T12" fmla="*/ 1225 w 1775"/>
                <a:gd name="T13" fmla="*/ 235 h 297"/>
                <a:gd name="T14" fmla="*/ 1153 w 1775"/>
                <a:gd name="T15" fmla="*/ 297 h 297"/>
                <a:gd name="T16" fmla="*/ 1775 w 1775"/>
                <a:gd name="T17" fmla="*/ 21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75" h="297">
                  <a:moveTo>
                    <a:pt x="1775" y="213"/>
                  </a:moveTo>
                  <a:cubicBezTo>
                    <a:pt x="1443" y="57"/>
                    <a:pt x="1443" y="57"/>
                    <a:pt x="1443" y="57"/>
                  </a:cubicBezTo>
                  <a:cubicBezTo>
                    <a:pt x="1397" y="95"/>
                    <a:pt x="1397" y="95"/>
                    <a:pt x="1397" y="95"/>
                  </a:cubicBezTo>
                  <a:cubicBezTo>
                    <a:pt x="1397" y="95"/>
                    <a:pt x="730" y="100"/>
                    <a:pt x="205" y="0"/>
                  </a:cubicBezTo>
                  <a:cubicBezTo>
                    <a:pt x="0" y="93"/>
                    <a:pt x="0" y="93"/>
                    <a:pt x="0" y="93"/>
                  </a:cubicBezTo>
                  <a:cubicBezTo>
                    <a:pt x="95" y="117"/>
                    <a:pt x="198" y="138"/>
                    <a:pt x="309" y="153"/>
                  </a:cubicBezTo>
                  <a:cubicBezTo>
                    <a:pt x="859" y="229"/>
                    <a:pt x="1225" y="235"/>
                    <a:pt x="1225" y="235"/>
                  </a:cubicBezTo>
                  <a:cubicBezTo>
                    <a:pt x="1153" y="297"/>
                    <a:pt x="1153" y="297"/>
                    <a:pt x="1153" y="297"/>
                  </a:cubicBezTo>
                  <a:lnTo>
                    <a:pt x="1775" y="213"/>
                  </a:ln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endParaRPr lang="en-US" sz="1013"/>
            </a:p>
          </p:txBody>
        </p:sp>
      </p:grpSp>
      <p:grpSp>
        <p:nvGrpSpPr>
          <p:cNvPr id="13" name="Group 12"/>
          <p:cNvGrpSpPr/>
          <p:nvPr/>
        </p:nvGrpSpPr>
        <p:grpSpPr>
          <a:xfrm>
            <a:off x="751722" y="789292"/>
            <a:ext cx="767249" cy="1100092"/>
            <a:chOff x="6285507" y="4056652"/>
            <a:chExt cx="1361612" cy="1952296"/>
          </a:xfrm>
        </p:grpSpPr>
        <p:grpSp>
          <p:nvGrpSpPr>
            <p:cNvPr id="14" name="Group 13"/>
            <p:cNvGrpSpPr/>
            <p:nvPr/>
          </p:nvGrpSpPr>
          <p:grpSpPr>
            <a:xfrm>
              <a:off x="6285507" y="4056652"/>
              <a:ext cx="1361612" cy="1952296"/>
              <a:chOff x="5808789" y="2272281"/>
              <a:chExt cx="1993536" cy="2858355"/>
            </a:xfrm>
          </p:grpSpPr>
          <p:sp>
            <p:nvSpPr>
              <p:cNvPr id="16" name="Rectangle 15"/>
              <p:cNvSpPr/>
              <p:nvPr/>
            </p:nvSpPr>
            <p:spPr>
              <a:xfrm>
                <a:off x="6718887" y="4188899"/>
                <a:ext cx="191914" cy="941737"/>
              </a:xfrm>
              <a:prstGeom prst="rect">
                <a:avLst/>
              </a:prstGeom>
              <a:gradFill>
                <a:gsLst>
                  <a:gs pos="0">
                    <a:sysClr val="windowText" lastClr="000000">
                      <a:lumMod val="75000"/>
                      <a:lumOff val="25000"/>
                      <a:shade val="30000"/>
                      <a:satMod val="115000"/>
                    </a:sysClr>
                  </a:gs>
                  <a:gs pos="50000">
                    <a:sysClr val="window" lastClr="FFFFFF"/>
                  </a:gs>
                  <a:gs pos="100000">
                    <a:sysClr val="windowText" lastClr="000000">
                      <a:lumMod val="75000"/>
                      <a:lumOff val="25000"/>
                      <a:shade val="100000"/>
                      <a:satMod val="115000"/>
                    </a:sysClr>
                  </a:gs>
                </a:gsLst>
                <a:lin ang="0" scaled="0"/>
              </a:gradFill>
              <a:ln w="25400" cap="flat" cmpd="sng" algn="ctr">
                <a:noFill/>
                <a:prstDash val="solid"/>
              </a:ln>
              <a:effectLst/>
            </p:spPr>
            <p:txBody>
              <a:bodyPr rtlCol="0" anchor="ctr"/>
              <a:lstStyle/>
              <a:p>
                <a:pPr algn="ctr" defTabSz="685800">
                  <a:defRPr/>
                </a:pPr>
                <a:endParaRPr lang="en-US" kern="0">
                  <a:solidFill>
                    <a:prstClr val="white"/>
                  </a:solidFill>
                  <a:latin typeface="Calibri"/>
                </a:endParaRPr>
              </a:p>
            </p:txBody>
          </p:sp>
          <p:grpSp>
            <p:nvGrpSpPr>
              <p:cNvPr id="17" name="Group 16"/>
              <p:cNvGrpSpPr/>
              <p:nvPr/>
            </p:nvGrpSpPr>
            <p:grpSpPr>
              <a:xfrm>
                <a:off x="5808789" y="2272281"/>
                <a:ext cx="1993536" cy="1989348"/>
                <a:chOff x="8140701" y="1890712"/>
                <a:chExt cx="1511300" cy="1508125"/>
              </a:xfrm>
            </p:grpSpPr>
            <p:sp>
              <p:nvSpPr>
                <p:cNvPr id="18" name="Freeform 25"/>
                <p:cNvSpPr>
                  <a:spLocks/>
                </p:cNvSpPr>
                <p:nvPr/>
              </p:nvSpPr>
              <p:spPr bwMode="auto">
                <a:xfrm>
                  <a:off x="8140701" y="1890712"/>
                  <a:ext cx="1511300" cy="1508125"/>
                </a:xfrm>
                <a:custGeom>
                  <a:avLst/>
                  <a:gdLst>
                    <a:gd name="T0" fmla="*/ 385 w 402"/>
                    <a:gd name="T1" fmla="*/ 171 h 401"/>
                    <a:gd name="T2" fmla="*/ 385 w 402"/>
                    <a:gd name="T3" fmla="*/ 231 h 401"/>
                    <a:gd name="T4" fmla="*/ 231 w 402"/>
                    <a:gd name="T5" fmla="*/ 385 h 401"/>
                    <a:gd name="T6" fmla="*/ 171 w 402"/>
                    <a:gd name="T7" fmla="*/ 385 h 401"/>
                    <a:gd name="T8" fmla="*/ 17 w 402"/>
                    <a:gd name="T9" fmla="*/ 231 h 401"/>
                    <a:gd name="T10" fmla="*/ 17 w 402"/>
                    <a:gd name="T11" fmla="*/ 171 h 401"/>
                    <a:gd name="T12" fmla="*/ 171 w 402"/>
                    <a:gd name="T13" fmla="*/ 17 h 401"/>
                    <a:gd name="T14" fmla="*/ 231 w 402"/>
                    <a:gd name="T15" fmla="*/ 17 h 401"/>
                    <a:gd name="T16" fmla="*/ 385 w 402"/>
                    <a:gd name="T17" fmla="*/ 17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401">
                      <a:moveTo>
                        <a:pt x="385" y="171"/>
                      </a:moveTo>
                      <a:cubicBezTo>
                        <a:pt x="402" y="187"/>
                        <a:pt x="402" y="214"/>
                        <a:pt x="385" y="231"/>
                      </a:cubicBezTo>
                      <a:cubicBezTo>
                        <a:pt x="231" y="385"/>
                        <a:pt x="231" y="385"/>
                        <a:pt x="231" y="385"/>
                      </a:cubicBezTo>
                      <a:cubicBezTo>
                        <a:pt x="214" y="401"/>
                        <a:pt x="187" y="401"/>
                        <a:pt x="171" y="385"/>
                      </a:cubicBezTo>
                      <a:cubicBezTo>
                        <a:pt x="17" y="231"/>
                        <a:pt x="17" y="231"/>
                        <a:pt x="17" y="231"/>
                      </a:cubicBezTo>
                      <a:cubicBezTo>
                        <a:pt x="0" y="214"/>
                        <a:pt x="0" y="187"/>
                        <a:pt x="17" y="171"/>
                      </a:cubicBezTo>
                      <a:cubicBezTo>
                        <a:pt x="171" y="17"/>
                        <a:pt x="171" y="17"/>
                        <a:pt x="171" y="17"/>
                      </a:cubicBezTo>
                      <a:cubicBezTo>
                        <a:pt x="187" y="0"/>
                        <a:pt x="214" y="0"/>
                        <a:pt x="231" y="17"/>
                      </a:cubicBezTo>
                      <a:lnTo>
                        <a:pt x="385" y="171"/>
                      </a:lnTo>
                      <a:close/>
                    </a:path>
                  </a:pathLst>
                </a:custGeom>
                <a:solidFill>
                  <a:srgbClr val="F1C96C">
                    <a:lumMod val="75000"/>
                  </a:srgbClr>
                </a:solidFill>
                <a:ln>
                  <a:noFill/>
                </a:ln>
              </p:spPr>
              <p:txBody>
                <a:bodyPr vert="horz" wrap="square" lIns="68580" tIns="34290" rIns="68580" bIns="34290" numCol="1" anchor="t" anchorCtr="0" compatLnSpc="1">
                  <a:prstTxWarp prst="textNoShape">
                    <a:avLst/>
                  </a:prstTxWarp>
                </a:bodyPr>
                <a:lstStyle/>
                <a:p>
                  <a:pPr defTabSz="685800">
                    <a:defRPr/>
                  </a:pPr>
                  <a:endParaRPr lang="en-US" kern="0">
                    <a:solidFill>
                      <a:prstClr val="black"/>
                    </a:solidFill>
                  </a:endParaRPr>
                </a:p>
              </p:txBody>
            </p:sp>
            <p:sp>
              <p:nvSpPr>
                <p:cNvPr id="19" name="Freeform 26"/>
                <p:cNvSpPr>
                  <a:spLocks noEditPoints="1"/>
                </p:cNvSpPr>
                <p:nvPr/>
              </p:nvSpPr>
              <p:spPr bwMode="auto">
                <a:xfrm>
                  <a:off x="8283576" y="2033588"/>
                  <a:ext cx="1225550" cy="1227138"/>
                </a:xfrm>
                <a:custGeom>
                  <a:avLst/>
                  <a:gdLst>
                    <a:gd name="T0" fmla="*/ 323 w 326"/>
                    <a:gd name="T1" fmla="*/ 157 h 326"/>
                    <a:gd name="T2" fmla="*/ 169 w 326"/>
                    <a:gd name="T3" fmla="*/ 2 h 326"/>
                    <a:gd name="T4" fmla="*/ 163 w 326"/>
                    <a:gd name="T5" fmla="*/ 0 h 326"/>
                    <a:gd name="T6" fmla="*/ 157 w 326"/>
                    <a:gd name="T7" fmla="*/ 2 h 326"/>
                    <a:gd name="T8" fmla="*/ 3 w 326"/>
                    <a:gd name="T9" fmla="*/ 157 h 326"/>
                    <a:gd name="T10" fmla="*/ 0 w 326"/>
                    <a:gd name="T11" fmla="*/ 163 h 326"/>
                    <a:gd name="T12" fmla="*/ 3 w 326"/>
                    <a:gd name="T13" fmla="*/ 169 h 326"/>
                    <a:gd name="T14" fmla="*/ 157 w 326"/>
                    <a:gd name="T15" fmla="*/ 323 h 326"/>
                    <a:gd name="T16" fmla="*/ 163 w 326"/>
                    <a:gd name="T17" fmla="*/ 326 h 326"/>
                    <a:gd name="T18" fmla="*/ 169 w 326"/>
                    <a:gd name="T19" fmla="*/ 323 h 326"/>
                    <a:gd name="T20" fmla="*/ 323 w 326"/>
                    <a:gd name="T21" fmla="*/ 169 h 326"/>
                    <a:gd name="T22" fmla="*/ 326 w 326"/>
                    <a:gd name="T23" fmla="*/ 163 h 326"/>
                    <a:gd name="T24" fmla="*/ 323 w 326"/>
                    <a:gd name="T25" fmla="*/ 157 h 326"/>
                    <a:gd name="T26" fmla="*/ 306 w 326"/>
                    <a:gd name="T27" fmla="*/ 168 h 326"/>
                    <a:gd name="T28" fmla="*/ 168 w 326"/>
                    <a:gd name="T29" fmla="*/ 306 h 326"/>
                    <a:gd name="T30" fmla="*/ 163 w 326"/>
                    <a:gd name="T31" fmla="*/ 308 h 326"/>
                    <a:gd name="T32" fmla="*/ 157 w 326"/>
                    <a:gd name="T33" fmla="*/ 306 h 326"/>
                    <a:gd name="T34" fmla="*/ 20 w 326"/>
                    <a:gd name="T35" fmla="*/ 168 h 326"/>
                    <a:gd name="T36" fmla="*/ 17 w 326"/>
                    <a:gd name="T37" fmla="*/ 163 h 326"/>
                    <a:gd name="T38" fmla="*/ 20 w 326"/>
                    <a:gd name="T39" fmla="*/ 157 h 326"/>
                    <a:gd name="T40" fmla="*/ 157 w 326"/>
                    <a:gd name="T41" fmla="*/ 19 h 326"/>
                    <a:gd name="T42" fmla="*/ 163 w 326"/>
                    <a:gd name="T43" fmla="*/ 17 h 326"/>
                    <a:gd name="T44" fmla="*/ 168 w 326"/>
                    <a:gd name="T45" fmla="*/ 19 h 326"/>
                    <a:gd name="T46" fmla="*/ 306 w 326"/>
                    <a:gd name="T47" fmla="*/ 157 h 326"/>
                    <a:gd name="T48" fmla="*/ 309 w 326"/>
                    <a:gd name="T49" fmla="*/ 163 h 326"/>
                    <a:gd name="T50" fmla="*/ 306 w 326"/>
                    <a:gd name="T51" fmla="*/ 168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26" h="326">
                      <a:moveTo>
                        <a:pt x="323" y="157"/>
                      </a:moveTo>
                      <a:cubicBezTo>
                        <a:pt x="169" y="2"/>
                        <a:pt x="169" y="2"/>
                        <a:pt x="169" y="2"/>
                      </a:cubicBezTo>
                      <a:cubicBezTo>
                        <a:pt x="167" y="0"/>
                        <a:pt x="164" y="0"/>
                        <a:pt x="163" y="0"/>
                      </a:cubicBezTo>
                      <a:cubicBezTo>
                        <a:pt x="162" y="0"/>
                        <a:pt x="159" y="0"/>
                        <a:pt x="157" y="2"/>
                      </a:cubicBezTo>
                      <a:cubicBezTo>
                        <a:pt x="3" y="157"/>
                        <a:pt x="3" y="157"/>
                        <a:pt x="3" y="157"/>
                      </a:cubicBezTo>
                      <a:cubicBezTo>
                        <a:pt x="1" y="158"/>
                        <a:pt x="0" y="160"/>
                        <a:pt x="0" y="163"/>
                      </a:cubicBezTo>
                      <a:cubicBezTo>
                        <a:pt x="0" y="165"/>
                        <a:pt x="1" y="167"/>
                        <a:pt x="3" y="169"/>
                      </a:cubicBezTo>
                      <a:cubicBezTo>
                        <a:pt x="157" y="323"/>
                        <a:pt x="157" y="323"/>
                        <a:pt x="157" y="323"/>
                      </a:cubicBezTo>
                      <a:cubicBezTo>
                        <a:pt x="159" y="325"/>
                        <a:pt x="162" y="326"/>
                        <a:pt x="163" y="326"/>
                      </a:cubicBezTo>
                      <a:cubicBezTo>
                        <a:pt x="164" y="326"/>
                        <a:pt x="167" y="325"/>
                        <a:pt x="169" y="323"/>
                      </a:cubicBezTo>
                      <a:cubicBezTo>
                        <a:pt x="323" y="169"/>
                        <a:pt x="323" y="169"/>
                        <a:pt x="323" y="169"/>
                      </a:cubicBezTo>
                      <a:cubicBezTo>
                        <a:pt x="325" y="167"/>
                        <a:pt x="326" y="164"/>
                        <a:pt x="326" y="163"/>
                      </a:cubicBezTo>
                      <a:cubicBezTo>
                        <a:pt x="326" y="161"/>
                        <a:pt x="325" y="159"/>
                        <a:pt x="323" y="157"/>
                      </a:cubicBezTo>
                      <a:close/>
                      <a:moveTo>
                        <a:pt x="306" y="168"/>
                      </a:moveTo>
                      <a:cubicBezTo>
                        <a:pt x="168" y="306"/>
                        <a:pt x="168" y="306"/>
                        <a:pt x="168" y="306"/>
                      </a:cubicBezTo>
                      <a:cubicBezTo>
                        <a:pt x="167" y="308"/>
                        <a:pt x="164" y="308"/>
                        <a:pt x="163" y="308"/>
                      </a:cubicBezTo>
                      <a:cubicBezTo>
                        <a:pt x="162" y="308"/>
                        <a:pt x="159" y="308"/>
                        <a:pt x="157" y="306"/>
                      </a:cubicBezTo>
                      <a:cubicBezTo>
                        <a:pt x="20" y="168"/>
                        <a:pt x="20" y="168"/>
                        <a:pt x="20" y="168"/>
                      </a:cubicBezTo>
                      <a:cubicBezTo>
                        <a:pt x="18" y="167"/>
                        <a:pt x="17" y="165"/>
                        <a:pt x="17" y="163"/>
                      </a:cubicBezTo>
                      <a:cubicBezTo>
                        <a:pt x="17" y="161"/>
                        <a:pt x="18" y="159"/>
                        <a:pt x="20" y="157"/>
                      </a:cubicBezTo>
                      <a:cubicBezTo>
                        <a:pt x="157" y="19"/>
                        <a:pt x="157" y="19"/>
                        <a:pt x="157" y="19"/>
                      </a:cubicBezTo>
                      <a:cubicBezTo>
                        <a:pt x="159" y="17"/>
                        <a:pt x="162" y="17"/>
                        <a:pt x="163" y="17"/>
                      </a:cubicBezTo>
                      <a:cubicBezTo>
                        <a:pt x="164" y="17"/>
                        <a:pt x="167" y="17"/>
                        <a:pt x="168" y="19"/>
                      </a:cubicBezTo>
                      <a:cubicBezTo>
                        <a:pt x="306" y="157"/>
                        <a:pt x="306" y="157"/>
                        <a:pt x="306" y="157"/>
                      </a:cubicBezTo>
                      <a:cubicBezTo>
                        <a:pt x="308" y="159"/>
                        <a:pt x="309" y="161"/>
                        <a:pt x="309" y="163"/>
                      </a:cubicBezTo>
                      <a:cubicBezTo>
                        <a:pt x="309" y="164"/>
                        <a:pt x="308" y="166"/>
                        <a:pt x="306" y="168"/>
                      </a:cubicBezTo>
                      <a:close/>
                    </a:path>
                  </a:pathLst>
                </a:custGeom>
                <a:solidFill>
                  <a:sysClr val="windowText" lastClr="000000">
                    <a:lumMod val="85000"/>
                    <a:lumOff val="15000"/>
                  </a:sysClr>
                </a:solidFill>
                <a:ln>
                  <a:noFill/>
                </a:ln>
              </p:spPr>
              <p:txBody>
                <a:bodyPr vert="horz" wrap="square" lIns="68580" tIns="34290" rIns="68580" bIns="34290" numCol="1" anchor="t" anchorCtr="0" compatLnSpc="1">
                  <a:prstTxWarp prst="textNoShape">
                    <a:avLst/>
                  </a:prstTxWarp>
                </a:bodyPr>
                <a:lstStyle/>
                <a:p>
                  <a:pPr defTabSz="685800">
                    <a:defRPr/>
                  </a:pPr>
                  <a:endParaRPr lang="en-US" kern="0">
                    <a:solidFill>
                      <a:prstClr val="black"/>
                    </a:solidFill>
                  </a:endParaRPr>
                </a:p>
              </p:txBody>
            </p:sp>
          </p:grpSp>
        </p:grpSp>
        <p:sp>
          <p:nvSpPr>
            <p:cNvPr id="15" name="TextBox 14"/>
            <p:cNvSpPr txBox="1"/>
            <p:nvPr/>
          </p:nvSpPr>
          <p:spPr>
            <a:xfrm>
              <a:off x="6371735" y="4442269"/>
              <a:ext cx="1189155" cy="655441"/>
            </a:xfrm>
            <a:prstGeom prst="rect">
              <a:avLst/>
            </a:prstGeom>
            <a:noFill/>
          </p:spPr>
          <p:txBody>
            <a:bodyPr wrap="square" rtlCol="0" anchor="ctr">
              <a:spAutoFit/>
            </a:bodyPr>
            <a:lstStyle/>
            <a:p>
              <a:pPr algn="ctr"/>
              <a:r>
                <a:rPr lang="en-US" sz="900" b="1" kern="0" dirty="0">
                  <a:latin typeface="Arial" panose="020B0604020202020204" pitchFamily="34" charset="0"/>
                  <a:cs typeface="Arial" panose="020B0604020202020204" pitchFamily="34" charset="0"/>
                </a:rPr>
                <a:t>Jun 2019</a:t>
              </a:r>
              <a:endParaRPr lang="en-US" sz="900" b="1" dirty="0"/>
            </a:p>
          </p:txBody>
        </p:sp>
      </p:grpSp>
      <p:grpSp>
        <p:nvGrpSpPr>
          <p:cNvPr id="20" name="Group 19"/>
          <p:cNvGrpSpPr/>
          <p:nvPr/>
        </p:nvGrpSpPr>
        <p:grpSpPr>
          <a:xfrm>
            <a:off x="298113" y="1975505"/>
            <a:ext cx="2750812" cy="567572"/>
            <a:chOff x="4027694" y="1669969"/>
            <a:chExt cx="1708669" cy="756763"/>
          </a:xfrm>
        </p:grpSpPr>
        <p:sp>
          <p:nvSpPr>
            <p:cNvPr id="21" name="TextBox 20"/>
            <p:cNvSpPr txBox="1"/>
            <p:nvPr/>
          </p:nvSpPr>
          <p:spPr>
            <a:xfrm>
              <a:off x="4027695" y="2057400"/>
              <a:ext cx="1708668" cy="369332"/>
            </a:xfrm>
            <a:prstGeom prst="rect">
              <a:avLst/>
            </a:prstGeom>
            <a:noFill/>
          </p:spPr>
          <p:txBody>
            <a:bodyPr wrap="square" rtlCol="0">
              <a:spAutoFit/>
            </a:bodyPr>
            <a:lstStyle/>
            <a:p>
              <a:endParaRPr lang="en-US" sz="1200" dirty="0">
                <a:solidFill>
                  <a:schemeClr val="tx1">
                    <a:lumMod val="75000"/>
                    <a:lumOff val="25000"/>
                  </a:schemeClr>
                </a:solidFill>
              </a:endParaRPr>
            </a:p>
          </p:txBody>
        </p:sp>
        <p:sp>
          <p:nvSpPr>
            <p:cNvPr id="22" name="TextBox 21"/>
            <p:cNvSpPr txBox="1"/>
            <p:nvPr/>
          </p:nvSpPr>
          <p:spPr>
            <a:xfrm>
              <a:off x="4027694" y="1669969"/>
              <a:ext cx="1122431" cy="615554"/>
            </a:xfrm>
            <a:prstGeom prst="rect">
              <a:avLst/>
            </a:prstGeom>
            <a:noFill/>
          </p:spPr>
          <p:txBody>
            <a:bodyPr wrap="square" rtlCol="0">
              <a:spAutoFit/>
            </a:bodyPr>
            <a:lstStyle/>
            <a:p>
              <a:r>
                <a:rPr lang="en-US" sz="1200" b="1" dirty="0">
                  <a:solidFill>
                    <a:schemeClr val="tx1">
                      <a:lumMod val="75000"/>
                      <a:lumOff val="25000"/>
                    </a:schemeClr>
                  </a:solidFill>
                  <a:latin typeface="Arial" panose="020B0604020202020204" pitchFamily="34" charset="0"/>
                  <a:cs typeface="Arial" panose="020B0604020202020204" pitchFamily="34" charset="0"/>
                </a:rPr>
                <a:t>Discuss stakeholders’ input and issues</a:t>
              </a:r>
            </a:p>
          </p:txBody>
        </p:sp>
      </p:grpSp>
      <p:grpSp>
        <p:nvGrpSpPr>
          <p:cNvPr id="23" name="Group 22"/>
          <p:cNvGrpSpPr/>
          <p:nvPr/>
        </p:nvGrpSpPr>
        <p:grpSpPr>
          <a:xfrm>
            <a:off x="2246756" y="753233"/>
            <a:ext cx="1021209" cy="1317421"/>
            <a:chOff x="6285507" y="4056652"/>
            <a:chExt cx="1361612" cy="1952296"/>
          </a:xfrm>
        </p:grpSpPr>
        <p:grpSp>
          <p:nvGrpSpPr>
            <p:cNvPr id="24" name="Group 23"/>
            <p:cNvGrpSpPr/>
            <p:nvPr/>
          </p:nvGrpSpPr>
          <p:grpSpPr>
            <a:xfrm>
              <a:off x="6285507" y="4056652"/>
              <a:ext cx="1361612" cy="1952296"/>
              <a:chOff x="5808789" y="2272281"/>
              <a:chExt cx="1993536" cy="2858355"/>
            </a:xfrm>
          </p:grpSpPr>
          <p:sp>
            <p:nvSpPr>
              <p:cNvPr id="26" name="Rectangle 25"/>
              <p:cNvSpPr/>
              <p:nvPr/>
            </p:nvSpPr>
            <p:spPr>
              <a:xfrm>
                <a:off x="6718887" y="4188899"/>
                <a:ext cx="191914" cy="941737"/>
              </a:xfrm>
              <a:prstGeom prst="rect">
                <a:avLst/>
              </a:prstGeom>
              <a:gradFill>
                <a:gsLst>
                  <a:gs pos="0">
                    <a:sysClr val="windowText" lastClr="000000">
                      <a:lumMod val="75000"/>
                      <a:lumOff val="25000"/>
                      <a:shade val="30000"/>
                      <a:satMod val="115000"/>
                    </a:sysClr>
                  </a:gs>
                  <a:gs pos="50000">
                    <a:sysClr val="window" lastClr="FFFFFF"/>
                  </a:gs>
                  <a:gs pos="100000">
                    <a:sysClr val="windowText" lastClr="000000">
                      <a:lumMod val="75000"/>
                      <a:lumOff val="25000"/>
                      <a:shade val="100000"/>
                      <a:satMod val="115000"/>
                    </a:sysClr>
                  </a:gs>
                </a:gsLst>
                <a:lin ang="0" scaled="0"/>
              </a:gradFill>
              <a:ln w="25400" cap="flat" cmpd="sng" algn="ctr">
                <a:noFill/>
                <a:prstDash val="solid"/>
              </a:ln>
              <a:effectLst/>
            </p:spPr>
            <p:txBody>
              <a:bodyPr rtlCol="0" anchor="ctr"/>
              <a:lstStyle/>
              <a:p>
                <a:pPr algn="ctr" defTabSz="685800">
                  <a:defRPr/>
                </a:pPr>
                <a:endParaRPr lang="en-US" kern="0">
                  <a:solidFill>
                    <a:prstClr val="white"/>
                  </a:solidFill>
                  <a:latin typeface="Calibri"/>
                </a:endParaRPr>
              </a:p>
            </p:txBody>
          </p:sp>
          <p:grpSp>
            <p:nvGrpSpPr>
              <p:cNvPr id="27" name="Group 26"/>
              <p:cNvGrpSpPr/>
              <p:nvPr/>
            </p:nvGrpSpPr>
            <p:grpSpPr>
              <a:xfrm>
                <a:off x="5808789" y="2272281"/>
                <a:ext cx="1993536" cy="1989348"/>
                <a:chOff x="8140701" y="1890712"/>
                <a:chExt cx="1511300" cy="1508125"/>
              </a:xfrm>
            </p:grpSpPr>
            <p:sp>
              <p:nvSpPr>
                <p:cNvPr id="28" name="Freeform 25"/>
                <p:cNvSpPr>
                  <a:spLocks/>
                </p:cNvSpPr>
                <p:nvPr/>
              </p:nvSpPr>
              <p:spPr bwMode="auto">
                <a:xfrm>
                  <a:off x="8140701" y="1890712"/>
                  <a:ext cx="1511300" cy="1508125"/>
                </a:xfrm>
                <a:custGeom>
                  <a:avLst/>
                  <a:gdLst>
                    <a:gd name="T0" fmla="*/ 385 w 402"/>
                    <a:gd name="T1" fmla="*/ 171 h 401"/>
                    <a:gd name="T2" fmla="*/ 385 w 402"/>
                    <a:gd name="T3" fmla="*/ 231 h 401"/>
                    <a:gd name="T4" fmla="*/ 231 w 402"/>
                    <a:gd name="T5" fmla="*/ 385 h 401"/>
                    <a:gd name="T6" fmla="*/ 171 w 402"/>
                    <a:gd name="T7" fmla="*/ 385 h 401"/>
                    <a:gd name="T8" fmla="*/ 17 w 402"/>
                    <a:gd name="T9" fmla="*/ 231 h 401"/>
                    <a:gd name="T10" fmla="*/ 17 w 402"/>
                    <a:gd name="T11" fmla="*/ 171 h 401"/>
                    <a:gd name="T12" fmla="*/ 171 w 402"/>
                    <a:gd name="T13" fmla="*/ 17 h 401"/>
                    <a:gd name="T14" fmla="*/ 231 w 402"/>
                    <a:gd name="T15" fmla="*/ 17 h 401"/>
                    <a:gd name="T16" fmla="*/ 385 w 402"/>
                    <a:gd name="T17" fmla="*/ 17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401">
                      <a:moveTo>
                        <a:pt x="385" y="171"/>
                      </a:moveTo>
                      <a:cubicBezTo>
                        <a:pt x="402" y="187"/>
                        <a:pt x="402" y="214"/>
                        <a:pt x="385" y="231"/>
                      </a:cubicBezTo>
                      <a:cubicBezTo>
                        <a:pt x="231" y="385"/>
                        <a:pt x="231" y="385"/>
                        <a:pt x="231" y="385"/>
                      </a:cubicBezTo>
                      <a:cubicBezTo>
                        <a:pt x="214" y="401"/>
                        <a:pt x="187" y="401"/>
                        <a:pt x="171" y="385"/>
                      </a:cubicBezTo>
                      <a:cubicBezTo>
                        <a:pt x="17" y="231"/>
                        <a:pt x="17" y="231"/>
                        <a:pt x="17" y="231"/>
                      </a:cubicBezTo>
                      <a:cubicBezTo>
                        <a:pt x="0" y="214"/>
                        <a:pt x="0" y="187"/>
                        <a:pt x="17" y="171"/>
                      </a:cubicBezTo>
                      <a:cubicBezTo>
                        <a:pt x="171" y="17"/>
                        <a:pt x="171" y="17"/>
                        <a:pt x="171" y="17"/>
                      </a:cubicBezTo>
                      <a:cubicBezTo>
                        <a:pt x="187" y="0"/>
                        <a:pt x="214" y="0"/>
                        <a:pt x="231" y="17"/>
                      </a:cubicBezTo>
                      <a:lnTo>
                        <a:pt x="385" y="171"/>
                      </a:lnTo>
                      <a:close/>
                    </a:path>
                  </a:pathLst>
                </a:custGeom>
                <a:solidFill>
                  <a:srgbClr val="F1C96C">
                    <a:lumMod val="75000"/>
                  </a:srgbClr>
                </a:solidFill>
                <a:ln>
                  <a:noFill/>
                </a:ln>
              </p:spPr>
              <p:txBody>
                <a:bodyPr vert="horz" wrap="square" lIns="68580" tIns="34290" rIns="68580" bIns="34290" numCol="1" anchor="t" anchorCtr="0" compatLnSpc="1">
                  <a:prstTxWarp prst="textNoShape">
                    <a:avLst/>
                  </a:prstTxWarp>
                </a:bodyPr>
                <a:lstStyle/>
                <a:p>
                  <a:pPr defTabSz="685800">
                    <a:defRPr/>
                  </a:pPr>
                  <a:endParaRPr lang="en-US" kern="0">
                    <a:solidFill>
                      <a:prstClr val="black"/>
                    </a:solidFill>
                  </a:endParaRPr>
                </a:p>
              </p:txBody>
            </p:sp>
            <p:sp>
              <p:nvSpPr>
                <p:cNvPr id="29" name="Freeform 26"/>
                <p:cNvSpPr>
                  <a:spLocks noEditPoints="1"/>
                </p:cNvSpPr>
                <p:nvPr/>
              </p:nvSpPr>
              <p:spPr bwMode="auto">
                <a:xfrm>
                  <a:off x="8283576" y="2033588"/>
                  <a:ext cx="1225550" cy="1227138"/>
                </a:xfrm>
                <a:custGeom>
                  <a:avLst/>
                  <a:gdLst>
                    <a:gd name="T0" fmla="*/ 323 w 326"/>
                    <a:gd name="T1" fmla="*/ 157 h 326"/>
                    <a:gd name="T2" fmla="*/ 169 w 326"/>
                    <a:gd name="T3" fmla="*/ 2 h 326"/>
                    <a:gd name="T4" fmla="*/ 163 w 326"/>
                    <a:gd name="T5" fmla="*/ 0 h 326"/>
                    <a:gd name="T6" fmla="*/ 157 w 326"/>
                    <a:gd name="T7" fmla="*/ 2 h 326"/>
                    <a:gd name="T8" fmla="*/ 3 w 326"/>
                    <a:gd name="T9" fmla="*/ 157 h 326"/>
                    <a:gd name="T10" fmla="*/ 0 w 326"/>
                    <a:gd name="T11" fmla="*/ 163 h 326"/>
                    <a:gd name="T12" fmla="*/ 3 w 326"/>
                    <a:gd name="T13" fmla="*/ 169 h 326"/>
                    <a:gd name="T14" fmla="*/ 157 w 326"/>
                    <a:gd name="T15" fmla="*/ 323 h 326"/>
                    <a:gd name="T16" fmla="*/ 163 w 326"/>
                    <a:gd name="T17" fmla="*/ 326 h 326"/>
                    <a:gd name="T18" fmla="*/ 169 w 326"/>
                    <a:gd name="T19" fmla="*/ 323 h 326"/>
                    <a:gd name="T20" fmla="*/ 323 w 326"/>
                    <a:gd name="T21" fmla="*/ 169 h 326"/>
                    <a:gd name="T22" fmla="*/ 326 w 326"/>
                    <a:gd name="T23" fmla="*/ 163 h 326"/>
                    <a:gd name="T24" fmla="*/ 323 w 326"/>
                    <a:gd name="T25" fmla="*/ 157 h 326"/>
                    <a:gd name="T26" fmla="*/ 306 w 326"/>
                    <a:gd name="T27" fmla="*/ 168 h 326"/>
                    <a:gd name="T28" fmla="*/ 168 w 326"/>
                    <a:gd name="T29" fmla="*/ 306 h 326"/>
                    <a:gd name="T30" fmla="*/ 163 w 326"/>
                    <a:gd name="T31" fmla="*/ 308 h 326"/>
                    <a:gd name="T32" fmla="*/ 157 w 326"/>
                    <a:gd name="T33" fmla="*/ 306 h 326"/>
                    <a:gd name="T34" fmla="*/ 20 w 326"/>
                    <a:gd name="T35" fmla="*/ 168 h 326"/>
                    <a:gd name="T36" fmla="*/ 17 w 326"/>
                    <a:gd name="T37" fmla="*/ 163 h 326"/>
                    <a:gd name="T38" fmla="*/ 20 w 326"/>
                    <a:gd name="T39" fmla="*/ 157 h 326"/>
                    <a:gd name="T40" fmla="*/ 157 w 326"/>
                    <a:gd name="T41" fmla="*/ 19 h 326"/>
                    <a:gd name="T42" fmla="*/ 163 w 326"/>
                    <a:gd name="T43" fmla="*/ 17 h 326"/>
                    <a:gd name="T44" fmla="*/ 168 w 326"/>
                    <a:gd name="T45" fmla="*/ 19 h 326"/>
                    <a:gd name="T46" fmla="*/ 306 w 326"/>
                    <a:gd name="T47" fmla="*/ 157 h 326"/>
                    <a:gd name="T48" fmla="*/ 309 w 326"/>
                    <a:gd name="T49" fmla="*/ 163 h 326"/>
                    <a:gd name="T50" fmla="*/ 306 w 326"/>
                    <a:gd name="T51" fmla="*/ 168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26" h="326">
                      <a:moveTo>
                        <a:pt x="323" y="157"/>
                      </a:moveTo>
                      <a:cubicBezTo>
                        <a:pt x="169" y="2"/>
                        <a:pt x="169" y="2"/>
                        <a:pt x="169" y="2"/>
                      </a:cubicBezTo>
                      <a:cubicBezTo>
                        <a:pt x="167" y="0"/>
                        <a:pt x="164" y="0"/>
                        <a:pt x="163" y="0"/>
                      </a:cubicBezTo>
                      <a:cubicBezTo>
                        <a:pt x="162" y="0"/>
                        <a:pt x="159" y="0"/>
                        <a:pt x="157" y="2"/>
                      </a:cubicBezTo>
                      <a:cubicBezTo>
                        <a:pt x="3" y="157"/>
                        <a:pt x="3" y="157"/>
                        <a:pt x="3" y="157"/>
                      </a:cubicBezTo>
                      <a:cubicBezTo>
                        <a:pt x="1" y="158"/>
                        <a:pt x="0" y="160"/>
                        <a:pt x="0" y="163"/>
                      </a:cubicBezTo>
                      <a:cubicBezTo>
                        <a:pt x="0" y="165"/>
                        <a:pt x="1" y="167"/>
                        <a:pt x="3" y="169"/>
                      </a:cubicBezTo>
                      <a:cubicBezTo>
                        <a:pt x="157" y="323"/>
                        <a:pt x="157" y="323"/>
                        <a:pt x="157" y="323"/>
                      </a:cubicBezTo>
                      <a:cubicBezTo>
                        <a:pt x="159" y="325"/>
                        <a:pt x="162" y="326"/>
                        <a:pt x="163" y="326"/>
                      </a:cubicBezTo>
                      <a:cubicBezTo>
                        <a:pt x="164" y="326"/>
                        <a:pt x="167" y="325"/>
                        <a:pt x="169" y="323"/>
                      </a:cubicBezTo>
                      <a:cubicBezTo>
                        <a:pt x="323" y="169"/>
                        <a:pt x="323" y="169"/>
                        <a:pt x="323" y="169"/>
                      </a:cubicBezTo>
                      <a:cubicBezTo>
                        <a:pt x="325" y="167"/>
                        <a:pt x="326" y="164"/>
                        <a:pt x="326" y="163"/>
                      </a:cubicBezTo>
                      <a:cubicBezTo>
                        <a:pt x="326" y="161"/>
                        <a:pt x="325" y="159"/>
                        <a:pt x="323" y="157"/>
                      </a:cubicBezTo>
                      <a:close/>
                      <a:moveTo>
                        <a:pt x="306" y="168"/>
                      </a:moveTo>
                      <a:cubicBezTo>
                        <a:pt x="168" y="306"/>
                        <a:pt x="168" y="306"/>
                        <a:pt x="168" y="306"/>
                      </a:cubicBezTo>
                      <a:cubicBezTo>
                        <a:pt x="167" y="308"/>
                        <a:pt x="164" y="308"/>
                        <a:pt x="163" y="308"/>
                      </a:cubicBezTo>
                      <a:cubicBezTo>
                        <a:pt x="162" y="308"/>
                        <a:pt x="159" y="308"/>
                        <a:pt x="157" y="306"/>
                      </a:cubicBezTo>
                      <a:cubicBezTo>
                        <a:pt x="20" y="168"/>
                        <a:pt x="20" y="168"/>
                        <a:pt x="20" y="168"/>
                      </a:cubicBezTo>
                      <a:cubicBezTo>
                        <a:pt x="18" y="167"/>
                        <a:pt x="17" y="165"/>
                        <a:pt x="17" y="163"/>
                      </a:cubicBezTo>
                      <a:cubicBezTo>
                        <a:pt x="17" y="161"/>
                        <a:pt x="18" y="159"/>
                        <a:pt x="20" y="157"/>
                      </a:cubicBezTo>
                      <a:cubicBezTo>
                        <a:pt x="157" y="19"/>
                        <a:pt x="157" y="19"/>
                        <a:pt x="157" y="19"/>
                      </a:cubicBezTo>
                      <a:cubicBezTo>
                        <a:pt x="159" y="17"/>
                        <a:pt x="162" y="17"/>
                        <a:pt x="163" y="17"/>
                      </a:cubicBezTo>
                      <a:cubicBezTo>
                        <a:pt x="164" y="17"/>
                        <a:pt x="167" y="17"/>
                        <a:pt x="168" y="19"/>
                      </a:cubicBezTo>
                      <a:cubicBezTo>
                        <a:pt x="306" y="157"/>
                        <a:pt x="306" y="157"/>
                        <a:pt x="306" y="157"/>
                      </a:cubicBezTo>
                      <a:cubicBezTo>
                        <a:pt x="308" y="159"/>
                        <a:pt x="309" y="161"/>
                        <a:pt x="309" y="163"/>
                      </a:cubicBezTo>
                      <a:cubicBezTo>
                        <a:pt x="309" y="164"/>
                        <a:pt x="308" y="166"/>
                        <a:pt x="306" y="168"/>
                      </a:cubicBezTo>
                      <a:close/>
                    </a:path>
                  </a:pathLst>
                </a:custGeom>
                <a:solidFill>
                  <a:sysClr val="windowText" lastClr="000000">
                    <a:lumMod val="85000"/>
                    <a:lumOff val="15000"/>
                  </a:sysClr>
                </a:solidFill>
                <a:ln>
                  <a:noFill/>
                </a:ln>
              </p:spPr>
              <p:txBody>
                <a:bodyPr vert="horz" wrap="square" lIns="68580" tIns="34290" rIns="68580" bIns="34290" numCol="1" anchor="t" anchorCtr="0" compatLnSpc="1">
                  <a:prstTxWarp prst="textNoShape">
                    <a:avLst/>
                  </a:prstTxWarp>
                </a:bodyPr>
                <a:lstStyle/>
                <a:p>
                  <a:pPr defTabSz="685800">
                    <a:defRPr/>
                  </a:pPr>
                  <a:endParaRPr lang="en-US" kern="0">
                    <a:solidFill>
                      <a:prstClr val="black"/>
                    </a:solidFill>
                  </a:endParaRPr>
                </a:p>
              </p:txBody>
            </p:sp>
          </p:grpSp>
        </p:grpSp>
        <p:sp>
          <p:nvSpPr>
            <p:cNvPr id="25" name="TextBox 24"/>
            <p:cNvSpPr txBox="1"/>
            <p:nvPr/>
          </p:nvSpPr>
          <p:spPr>
            <a:xfrm>
              <a:off x="6371735" y="4565165"/>
              <a:ext cx="1189155" cy="409650"/>
            </a:xfrm>
            <a:prstGeom prst="rect">
              <a:avLst/>
            </a:prstGeom>
            <a:noFill/>
          </p:spPr>
          <p:txBody>
            <a:bodyPr wrap="square" rtlCol="0" anchor="ctr">
              <a:spAutoFit/>
            </a:bodyPr>
            <a:lstStyle/>
            <a:p>
              <a:pPr algn="ctr"/>
              <a:r>
                <a:rPr lang="en-US" sz="900" b="1" dirty="0">
                  <a:latin typeface="Arial" panose="020B0604020202020204" pitchFamily="34" charset="0"/>
                  <a:cs typeface="Arial" panose="020B0604020202020204" pitchFamily="34" charset="0"/>
                </a:rPr>
                <a:t>Q4 2019</a:t>
              </a:r>
            </a:p>
          </p:txBody>
        </p:sp>
      </p:grpSp>
      <p:grpSp>
        <p:nvGrpSpPr>
          <p:cNvPr id="30" name="Group 29"/>
          <p:cNvGrpSpPr/>
          <p:nvPr/>
        </p:nvGrpSpPr>
        <p:grpSpPr>
          <a:xfrm>
            <a:off x="3230963" y="1062339"/>
            <a:ext cx="3381863" cy="520307"/>
            <a:chOff x="4017265" y="1669969"/>
            <a:chExt cx="1733033" cy="1011567"/>
          </a:xfrm>
        </p:grpSpPr>
        <p:sp>
          <p:nvSpPr>
            <p:cNvPr id="31" name="TextBox 30"/>
            <p:cNvSpPr txBox="1"/>
            <p:nvPr/>
          </p:nvSpPr>
          <p:spPr>
            <a:xfrm>
              <a:off x="4017265" y="2312204"/>
              <a:ext cx="1708668" cy="369332"/>
            </a:xfrm>
            <a:prstGeom prst="rect">
              <a:avLst/>
            </a:prstGeom>
            <a:noFill/>
          </p:spPr>
          <p:txBody>
            <a:bodyPr wrap="square" rtlCol="0">
              <a:spAutoFit/>
            </a:bodyPr>
            <a:lstStyle/>
            <a:p>
              <a:endParaRPr lang="en-US" sz="1200" dirty="0">
                <a:solidFill>
                  <a:schemeClr val="tx1">
                    <a:lumMod val="75000"/>
                    <a:lumOff val="25000"/>
                  </a:schemeClr>
                </a:solidFill>
              </a:endParaRPr>
            </a:p>
          </p:txBody>
        </p:sp>
        <p:sp>
          <p:nvSpPr>
            <p:cNvPr id="32" name="TextBox 31"/>
            <p:cNvSpPr txBox="1"/>
            <p:nvPr/>
          </p:nvSpPr>
          <p:spPr>
            <a:xfrm>
              <a:off x="4027695" y="1669969"/>
              <a:ext cx="1722603" cy="897557"/>
            </a:xfrm>
            <a:prstGeom prst="rect">
              <a:avLst/>
            </a:prstGeom>
            <a:noFill/>
          </p:spPr>
          <p:txBody>
            <a:bodyPr wrap="square" rtlCol="0">
              <a:spAutoFit/>
            </a:bodyPr>
            <a:lstStyle/>
            <a:p>
              <a:r>
                <a:rPr lang="en-US" sz="1200" b="1" dirty="0">
                  <a:solidFill>
                    <a:schemeClr val="tx1">
                      <a:lumMod val="75000"/>
                      <a:lumOff val="25000"/>
                    </a:schemeClr>
                  </a:solidFill>
                  <a:latin typeface="Arial" panose="020B0604020202020204" pitchFamily="34" charset="0"/>
                  <a:cs typeface="Arial" panose="020B0604020202020204" pitchFamily="34" charset="0"/>
                </a:rPr>
                <a:t>1</a:t>
              </a:r>
              <a:r>
                <a:rPr lang="en-US" sz="1200" b="1" baseline="30000" dirty="0">
                  <a:solidFill>
                    <a:schemeClr val="tx1">
                      <a:lumMod val="75000"/>
                      <a:lumOff val="25000"/>
                    </a:schemeClr>
                  </a:solidFill>
                  <a:latin typeface="Arial" panose="020B0604020202020204" pitchFamily="34" charset="0"/>
                  <a:cs typeface="Arial" panose="020B0604020202020204" pitchFamily="34" charset="0"/>
                </a:rPr>
                <a:t>st</a:t>
              </a:r>
              <a:r>
                <a:rPr lang="en-US" sz="1200" b="1" dirty="0">
                  <a:solidFill>
                    <a:schemeClr val="tx1">
                      <a:lumMod val="75000"/>
                      <a:lumOff val="25000"/>
                    </a:schemeClr>
                  </a:solidFill>
                  <a:latin typeface="Arial" panose="020B0604020202020204" pitchFamily="34" charset="0"/>
                  <a:cs typeface="Arial" panose="020B0604020202020204" pitchFamily="34" charset="0"/>
                </a:rPr>
                <a:t> read of post-ED </a:t>
              </a:r>
            </a:p>
            <a:p>
              <a:r>
                <a:rPr lang="en-US" sz="1200" b="1" dirty="0" err="1">
                  <a:solidFill>
                    <a:schemeClr val="tx1">
                      <a:lumMod val="75000"/>
                      <a:lumOff val="25000"/>
                    </a:schemeClr>
                  </a:solidFill>
                  <a:latin typeface="Arial" panose="020B0604020202020204" pitchFamily="34" charset="0"/>
                  <a:cs typeface="Arial" panose="020B0604020202020204" pitchFamily="34" charset="0"/>
                </a:rPr>
                <a:t>ISRS</a:t>
              </a:r>
              <a:r>
                <a:rPr lang="en-US" sz="1200" b="1" dirty="0">
                  <a:solidFill>
                    <a:schemeClr val="tx1">
                      <a:lumMod val="75000"/>
                      <a:lumOff val="25000"/>
                    </a:schemeClr>
                  </a:solidFill>
                  <a:latin typeface="Arial" panose="020B0604020202020204" pitchFamily="34" charset="0"/>
                  <a:cs typeface="Arial" panose="020B0604020202020204" pitchFamily="34" charset="0"/>
                </a:rPr>
                <a:t> 4400 (Revised)</a:t>
              </a:r>
            </a:p>
          </p:txBody>
        </p:sp>
      </p:grpSp>
      <p:grpSp>
        <p:nvGrpSpPr>
          <p:cNvPr id="43" name="Group 42"/>
          <p:cNvGrpSpPr/>
          <p:nvPr/>
        </p:nvGrpSpPr>
        <p:grpSpPr>
          <a:xfrm>
            <a:off x="2994351" y="2463731"/>
            <a:ext cx="1235663" cy="1771709"/>
            <a:chOff x="6285507" y="4056652"/>
            <a:chExt cx="1361612" cy="1952296"/>
          </a:xfrm>
        </p:grpSpPr>
        <p:grpSp>
          <p:nvGrpSpPr>
            <p:cNvPr id="44" name="Group 43"/>
            <p:cNvGrpSpPr/>
            <p:nvPr/>
          </p:nvGrpSpPr>
          <p:grpSpPr>
            <a:xfrm>
              <a:off x="6285507" y="4056652"/>
              <a:ext cx="1361612" cy="1952296"/>
              <a:chOff x="5808789" y="2272281"/>
              <a:chExt cx="1993536" cy="2858355"/>
            </a:xfrm>
          </p:grpSpPr>
          <p:sp>
            <p:nvSpPr>
              <p:cNvPr id="46" name="Rectangle 45"/>
              <p:cNvSpPr/>
              <p:nvPr/>
            </p:nvSpPr>
            <p:spPr>
              <a:xfrm>
                <a:off x="6718887" y="4188899"/>
                <a:ext cx="191914" cy="941737"/>
              </a:xfrm>
              <a:prstGeom prst="rect">
                <a:avLst/>
              </a:prstGeom>
              <a:gradFill>
                <a:gsLst>
                  <a:gs pos="0">
                    <a:sysClr val="windowText" lastClr="000000">
                      <a:lumMod val="75000"/>
                      <a:lumOff val="25000"/>
                      <a:shade val="30000"/>
                      <a:satMod val="115000"/>
                    </a:sysClr>
                  </a:gs>
                  <a:gs pos="50000">
                    <a:sysClr val="window" lastClr="FFFFFF"/>
                  </a:gs>
                  <a:gs pos="100000">
                    <a:sysClr val="windowText" lastClr="000000">
                      <a:lumMod val="75000"/>
                      <a:lumOff val="25000"/>
                      <a:shade val="100000"/>
                      <a:satMod val="115000"/>
                    </a:sysClr>
                  </a:gs>
                </a:gsLst>
                <a:lin ang="0" scaled="0"/>
              </a:gradFill>
              <a:ln w="25400" cap="flat" cmpd="sng" algn="ctr">
                <a:noFill/>
                <a:prstDash val="solid"/>
              </a:ln>
              <a:effectLst/>
            </p:spPr>
            <p:txBody>
              <a:bodyPr rtlCol="0" anchor="ctr"/>
              <a:lstStyle/>
              <a:p>
                <a:pPr algn="ctr" defTabSz="685800">
                  <a:defRPr/>
                </a:pPr>
                <a:endParaRPr lang="en-US" kern="0">
                  <a:solidFill>
                    <a:prstClr val="white"/>
                  </a:solidFill>
                  <a:latin typeface="Calibri"/>
                </a:endParaRPr>
              </a:p>
            </p:txBody>
          </p:sp>
          <p:grpSp>
            <p:nvGrpSpPr>
              <p:cNvPr id="47" name="Group 46"/>
              <p:cNvGrpSpPr/>
              <p:nvPr/>
            </p:nvGrpSpPr>
            <p:grpSpPr>
              <a:xfrm>
                <a:off x="5808789" y="2272281"/>
                <a:ext cx="1993536" cy="1989348"/>
                <a:chOff x="8140701" y="1890712"/>
                <a:chExt cx="1511300" cy="1508125"/>
              </a:xfrm>
            </p:grpSpPr>
            <p:sp>
              <p:nvSpPr>
                <p:cNvPr id="48" name="Freeform 25"/>
                <p:cNvSpPr>
                  <a:spLocks/>
                </p:cNvSpPr>
                <p:nvPr/>
              </p:nvSpPr>
              <p:spPr bwMode="auto">
                <a:xfrm>
                  <a:off x="8140701" y="1890712"/>
                  <a:ext cx="1511300" cy="1508125"/>
                </a:xfrm>
                <a:custGeom>
                  <a:avLst/>
                  <a:gdLst>
                    <a:gd name="T0" fmla="*/ 385 w 402"/>
                    <a:gd name="T1" fmla="*/ 171 h 401"/>
                    <a:gd name="T2" fmla="*/ 385 w 402"/>
                    <a:gd name="T3" fmla="*/ 231 h 401"/>
                    <a:gd name="T4" fmla="*/ 231 w 402"/>
                    <a:gd name="T5" fmla="*/ 385 h 401"/>
                    <a:gd name="T6" fmla="*/ 171 w 402"/>
                    <a:gd name="T7" fmla="*/ 385 h 401"/>
                    <a:gd name="T8" fmla="*/ 17 w 402"/>
                    <a:gd name="T9" fmla="*/ 231 h 401"/>
                    <a:gd name="T10" fmla="*/ 17 w 402"/>
                    <a:gd name="T11" fmla="*/ 171 h 401"/>
                    <a:gd name="T12" fmla="*/ 171 w 402"/>
                    <a:gd name="T13" fmla="*/ 17 h 401"/>
                    <a:gd name="T14" fmla="*/ 231 w 402"/>
                    <a:gd name="T15" fmla="*/ 17 h 401"/>
                    <a:gd name="T16" fmla="*/ 385 w 402"/>
                    <a:gd name="T17" fmla="*/ 17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401">
                      <a:moveTo>
                        <a:pt x="385" y="171"/>
                      </a:moveTo>
                      <a:cubicBezTo>
                        <a:pt x="402" y="187"/>
                        <a:pt x="402" y="214"/>
                        <a:pt x="385" y="231"/>
                      </a:cubicBezTo>
                      <a:cubicBezTo>
                        <a:pt x="231" y="385"/>
                        <a:pt x="231" y="385"/>
                        <a:pt x="231" y="385"/>
                      </a:cubicBezTo>
                      <a:cubicBezTo>
                        <a:pt x="214" y="401"/>
                        <a:pt x="187" y="401"/>
                        <a:pt x="171" y="385"/>
                      </a:cubicBezTo>
                      <a:cubicBezTo>
                        <a:pt x="17" y="231"/>
                        <a:pt x="17" y="231"/>
                        <a:pt x="17" y="231"/>
                      </a:cubicBezTo>
                      <a:cubicBezTo>
                        <a:pt x="0" y="214"/>
                        <a:pt x="0" y="187"/>
                        <a:pt x="17" y="171"/>
                      </a:cubicBezTo>
                      <a:cubicBezTo>
                        <a:pt x="171" y="17"/>
                        <a:pt x="171" y="17"/>
                        <a:pt x="171" y="17"/>
                      </a:cubicBezTo>
                      <a:cubicBezTo>
                        <a:pt x="187" y="0"/>
                        <a:pt x="214" y="0"/>
                        <a:pt x="231" y="17"/>
                      </a:cubicBezTo>
                      <a:lnTo>
                        <a:pt x="385" y="171"/>
                      </a:lnTo>
                      <a:close/>
                    </a:path>
                  </a:pathLst>
                </a:custGeom>
                <a:solidFill>
                  <a:srgbClr val="F1C96C">
                    <a:lumMod val="75000"/>
                  </a:srgbClr>
                </a:solidFill>
                <a:ln>
                  <a:noFill/>
                </a:ln>
              </p:spPr>
              <p:txBody>
                <a:bodyPr vert="horz" wrap="square" lIns="68580" tIns="34290" rIns="68580" bIns="34290" numCol="1" anchor="t" anchorCtr="0" compatLnSpc="1">
                  <a:prstTxWarp prst="textNoShape">
                    <a:avLst/>
                  </a:prstTxWarp>
                </a:bodyPr>
                <a:lstStyle/>
                <a:p>
                  <a:pPr defTabSz="685800">
                    <a:defRPr/>
                  </a:pPr>
                  <a:endParaRPr lang="en-US" kern="0">
                    <a:solidFill>
                      <a:prstClr val="black"/>
                    </a:solidFill>
                  </a:endParaRPr>
                </a:p>
              </p:txBody>
            </p:sp>
            <p:sp>
              <p:nvSpPr>
                <p:cNvPr id="49" name="Freeform 26"/>
                <p:cNvSpPr>
                  <a:spLocks noEditPoints="1"/>
                </p:cNvSpPr>
                <p:nvPr/>
              </p:nvSpPr>
              <p:spPr bwMode="auto">
                <a:xfrm>
                  <a:off x="8283576" y="2033588"/>
                  <a:ext cx="1225550" cy="1227138"/>
                </a:xfrm>
                <a:custGeom>
                  <a:avLst/>
                  <a:gdLst>
                    <a:gd name="T0" fmla="*/ 323 w 326"/>
                    <a:gd name="T1" fmla="*/ 157 h 326"/>
                    <a:gd name="T2" fmla="*/ 169 w 326"/>
                    <a:gd name="T3" fmla="*/ 2 h 326"/>
                    <a:gd name="T4" fmla="*/ 163 w 326"/>
                    <a:gd name="T5" fmla="*/ 0 h 326"/>
                    <a:gd name="T6" fmla="*/ 157 w 326"/>
                    <a:gd name="T7" fmla="*/ 2 h 326"/>
                    <a:gd name="T8" fmla="*/ 3 w 326"/>
                    <a:gd name="T9" fmla="*/ 157 h 326"/>
                    <a:gd name="T10" fmla="*/ 0 w 326"/>
                    <a:gd name="T11" fmla="*/ 163 h 326"/>
                    <a:gd name="T12" fmla="*/ 3 w 326"/>
                    <a:gd name="T13" fmla="*/ 169 h 326"/>
                    <a:gd name="T14" fmla="*/ 157 w 326"/>
                    <a:gd name="T15" fmla="*/ 323 h 326"/>
                    <a:gd name="T16" fmla="*/ 163 w 326"/>
                    <a:gd name="T17" fmla="*/ 326 h 326"/>
                    <a:gd name="T18" fmla="*/ 169 w 326"/>
                    <a:gd name="T19" fmla="*/ 323 h 326"/>
                    <a:gd name="T20" fmla="*/ 323 w 326"/>
                    <a:gd name="T21" fmla="*/ 169 h 326"/>
                    <a:gd name="T22" fmla="*/ 326 w 326"/>
                    <a:gd name="T23" fmla="*/ 163 h 326"/>
                    <a:gd name="T24" fmla="*/ 323 w 326"/>
                    <a:gd name="T25" fmla="*/ 157 h 326"/>
                    <a:gd name="T26" fmla="*/ 306 w 326"/>
                    <a:gd name="T27" fmla="*/ 168 h 326"/>
                    <a:gd name="T28" fmla="*/ 168 w 326"/>
                    <a:gd name="T29" fmla="*/ 306 h 326"/>
                    <a:gd name="T30" fmla="*/ 163 w 326"/>
                    <a:gd name="T31" fmla="*/ 308 h 326"/>
                    <a:gd name="T32" fmla="*/ 157 w 326"/>
                    <a:gd name="T33" fmla="*/ 306 h 326"/>
                    <a:gd name="T34" fmla="*/ 20 w 326"/>
                    <a:gd name="T35" fmla="*/ 168 h 326"/>
                    <a:gd name="T36" fmla="*/ 17 w 326"/>
                    <a:gd name="T37" fmla="*/ 163 h 326"/>
                    <a:gd name="T38" fmla="*/ 20 w 326"/>
                    <a:gd name="T39" fmla="*/ 157 h 326"/>
                    <a:gd name="T40" fmla="*/ 157 w 326"/>
                    <a:gd name="T41" fmla="*/ 19 h 326"/>
                    <a:gd name="T42" fmla="*/ 163 w 326"/>
                    <a:gd name="T43" fmla="*/ 17 h 326"/>
                    <a:gd name="T44" fmla="*/ 168 w 326"/>
                    <a:gd name="T45" fmla="*/ 19 h 326"/>
                    <a:gd name="T46" fmla="*/ 306 w 326"/>
                    <a:gd name="T47" fmla="*/ 157 h 326"/>
                    <a:gd name="T48" fmla="*/ 309 w 326"/>
                    <a:gd name="T49" fmla="*/ 163 h 326"/>
                    <a:gd name="T50" fmla="*/ 306 w 326"/>
                    <a:gd name="T51" fmla="*/ 168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26" h="326">
                      <a:moveTo>
                        <a:pt x="323" y="157"/>
                      </a:moveTo>
                      <a:cubicBezTo>
                        <a:pt x="169" y="2"/>
                        <a:pt x="169" y="2"/>
                        <a:pt x="169" y="2"/>
                      </a:cubicBezTo>
                      <a:cubicBezTo>
                        <a:pt x="167" y="0"/>
                        <a:pt x="164" y="0"/>
                        <a:pt x="163" y="0"/>
                      </a:cubicBezTo>
                      <a:cubicBezTo>
                        <a:pt x="162" y="0"/>
                        <a:pt x="159" y="0"/>
                        <a:pt x="157" y="2"/>
                      </a:cubicBezTo>
                      <a:cubicBezTo>
                        <a:pt x="3" y="157"/>
                        <a:pt x="3" y="157"/>
                        <a:pt x="3" y="157"/>
                      </a:cubicBezTo>
                      <a:cubicBezTo>
                        <a:pt x="1" y="158"/>
                        <a:pt x="0" y="160"/>
                        <a:pt x="0" y="163"/>
                      </a:cubicBezTo>
                      <a:cubicBezTo>
                        <a:pt x="0" y="165"/>
                        <a:pt x="1" y="167"/>
                        <a:pt x="3" y="169"/>
                      </a:cubicBezTo>
                      <a:cubicBezTo>
                        <a:pt x="157" y="323"/>
                        <a:pt x="157" y="323"/>
                        <a:pt x="157" y="323"/>
                      </a:cubicBezTo>
                      <a:cubicBezTo>
                        <a:pt x="159" y="325"/>
                        <a:pt x="162" y="326"/>
                        <a:pt x="163" y="326"/>
                      </a:cubicBezTo>
                      <a:cubicBezTo>
                        <a:pt x="164" y="326"/>
                        <a:pt x="167" y="325"/>
                        <a:pt x="169" y="323"/>
                      </a:cubicBezTo>
                      <a:cubicBezTo>
                        <a:pt x="323" y="169"/>
                        <a:pt x="323" y="169"/>
                        <a:pt x="323" y="169"/>
                      </a:cubicBezTo>
                      <a:cubicBezTo>
                        <a:pt x="325" y="167"/>
                        <a:pt x="326" y="164"/>
                        <a:pt x="326" y="163"/>
                      </a:cubicBezTo>
                      <a:cubicBezTo>
                        <a:pt x="326" y="161"/>
                        <a:pt x="325" y="159"/>
                        <a:pt x="323" y="157"/>
                      </a:cubicBezTo>
                      <a:close/>
                      <a:moveTo>
                        <a:pt x="306" y="168"/>
                      </a:moveTo>
                      <a:cubicBezTo>
                        <a:pt x="168" y="306"/>
                        <a:pt x="168" y="306"/>
                        <a:pt x="168" y="306"/>
                      </a:cubicBezTo>
                      <a:cubicBezTo>
                        <a:pt x="167" y="308"/>
                        <a:pt x="164" y="308"/>
                        <a:pt x="163" y="308"/>
                      </a:cubicBezTo>
                      <a:cubicBezTo>
                        <a:pt x="162" y="308"/>
                        <a:pt x="159" y="308"/>
                        <a:pt x="157" y="306"/>
                      </a:cubicBezTo>
                      <a:cubicBezTo>
                        <a:pt x="20" y="168"/>
                        <a:pt x="20" y="168"/>
                        <a:pt x="20" y="168"/>
                      </a:cubicBezTo>
                      <a:cubicBezTo>
                        <a:pt x="18" y="167"/>
                        <a:pt x="17" y="165"/>
                        <a:pt x="17" y="163"/>
                      </a:cubicBezTo>
                      <a:cubicBezTo>
                        <a:pt x="17" y="161"/>
                        <a:pt x="18" y="159"/>
                        <a:pt x="20" y="157"/>
                      </a:cubicBezTo>
                      <a:cubicBezTo>
                        <a:pt x="157" y="19"/>
                        <a:pt x="157" y="19"/>
                        <a:pt x="157" y="19"/>
                      </a:cubicBezTo>
                      <a:cubicBezTo>
                        <a:pt x="159" y="17"/>
                        <a:pt x="162" y="17"/>
                        <a:pt x="163" y="17"/>
                      </a:cubicBezTo>
                      <a:cubicBezTo>
                        <a:pt x="164" y="17"/>
                        <a:pt x="167" y="17"/>
                        <a:pt x="168" y="19"/>
                      </a:cubicBezTo>
                      <a:cubicBezTo>
                        <a:pt x="306" y="157"/>
                        <a:pt x="306" y="157"/>
                        <a:pt x="306" y="157"/>
                      </a:cubicBezTo>
                      <a:cubicBezTo>
                        <a:pt x="308" y="159"/>
                        <a:pt x="309" y="161"/>
                        <a:pt x="309" y="163"/>
                      </a:cubicBezTo>
                      <a:cubicBezTo>
                        <a:pt x="309" y="164"/>
                        <a:pt x="308" y="166"/>
                        <a:pt x="306" y="168"/>
                      </a:cubicBezTo>
                      <a:close/>
                    </a:path>
                  </a:pathLst>
                </a:custGeom>
                <a:solidFill>
                  <a:sysClr val="windowText" lastClr="000000">
                    <a:lumMod val="85000"/>
                    <a:lumOff val="15000"/>
                  </a:sysClr>
                </a:solidFill>
                <a:ln>
                  <a:noFill/>
                </a:ln>
              </p:spPr>
              <p:txBody>
                <a:bodyPr vert="horz" wrap="square" lIns="68580" tIns="34290" rIns="68580" bIns="34290" numCol="1" anchor="t" anchorCtr="0" compatLnSpc="1">
                  <a:prstTxWarp prst="textNoShape">
                    <a:avLst/>
                  </a:prstTxWarp>
                </a:bodyPr>
                <a:lstStyle/>
                <a:p>
                  <a:pPr defTabSz="685800">
                    <a:defRPr/>
                  </a:pPr>
                  <a:endParaRPr lang="en-US" kern="0">
                    <a:solidFill>
                      <a:prstClr val="black"/>
                    </a:solidFill>
                  </a:endParaRPr>
                </a:p>
              </p:txBody>
            </p:sp>
          </p:grpSp>
        </p:grpSp>
        <p:sp>
          <p:nvSpPr>
            <p:cNvPr id="45" name="TextBox 44"/>
            <p:cNvSpPr txBox="1"/>
            <p:nvPr/>
          </p:nvSpPr>
          <p:spPr>
            <a:xfrm>
              <a:off x="6371735" y="4496207"/>
              <a:ext cx="1189156" cy="508722"/>
            </a:xfrm>
            <a:prstGeom prst="rect">
              <a:avLst/>
            </a:prstGeom>
            <a:noFill/>
          </p:spPr>
          <p:txBody>
            <a:bodyPr wrap="square" rtlCol="0" anchor="ctr">
              <a:spAutoFit/>
            </a:bodyPr>
            <a:lstStyle/>
            <a:p>
              <a:pPr algn="ctr"/>
              <a:r>
                <a:rPr lang="en-US" sz="1200" b="1" kern="0" dirty="0">
                  <a:latin typeface="Arial" panose="020B0604020202020204" pitchFamily="34" charset="0"/>
                  <a:cs typeface="Arial" panose="020B0604020202020204" pitchFamily="34" charset="0"/>
                </a:rPr>
                <a:t>Q4/2019-</a:t>
              </a:r>
            </a:p>
            <a:p>
              <a:pPr algn="ctr"/>
              <a:r>
                <a:rPr lang="en-US" sz="1200" b="1" kern="0" dirty="0">
                  <a:latin typeface="Arial" panose="020B0604020202020204" pitchFamily="34" charset="0"/>
                  <a:cs typeface="Arial" panose="020B0604020202020204" pitchFamily="34" charset="0"/>
                </a:rPr>
                <a:t>Q1/2020</a:t>
              </a:r>
            </a:p>
          </p:txBody>
        </p:sp>
      </p:grpSp>
      <p:grpSp>
        <p:nvGrpSpPr>
          <p:cNvPr id="50" name="Group 49"/>
          <p:cNvGrpSpPr/>
          <p:nvPr/>
        </p:nvGrpSpPr>
        <p:grpSpPr>
          <a:xfrm>
            <a:off x="3968224" y="2923309"/>
            <a:ext cx="5189497" cy="637255"/>
            <a:chOff x="3681424" y="2057399"/>
            <a:chExt cx="2054939" cy="849673"/>
          </a:xfrm>
        </p:grpSpPr>
        <p:sp>
          <p:nvSpPr>
            <p:cNvPr id="51" name="TextBox 50"/>
            <p:cNvSpPr txBox="1"/>
            <p:nvPr/>
          </p:nvSpPr>
          <p:spPr>
            <a:xfrm>
              <a:off x="4027695" y="2057399"/>
              <a:ext cx="1708668" cy="369332"/>
            </a:xfrm>
            <a:prstGeom prst="rect">
              <a:avLst/>
            </a:prstGeom>
            <a:noFill/>
          </p:spPr>
          <p:txBody>
            <a:bodyPr wrap="square" rtlCol="0">
              <a:spAutoFit/>
            </a:bodyPr>
            <a:lstStyle/>
            <a:p>
              <a:endParaRPr lang="en-US" sz="1200" kern="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52" name="TextBox 51"/>
            <p:cNvSpPr txBox="1"/>
            <p:nvPr/>
          </p:nvSpPr>
          <p:spPr>
            <a:xfrm>
              <a:off x="3681424" y="2537740"/>
              <a:ext cx="1722603" cy="369332"/>
            </a:xfrm>
            <a:prstGeom prst="rect">
              <a:avLst/>
            </a:prstGeom>
            <a:noFill/>
          </p:spPr>
          <p:txBody>
            <a:bodyPr wrap="square" rtlCol="0">
              <a:spAutoFit/>
            </a:bodyPr>
            <a:lstStyle/>
            <a:p>
              <a:r>
                <a:rPr lang="en-US" sz="1200" b="1" dirty="0">
                  <a:solidFill>
                    <a:schemeClr val="tx1">
                      <a:lumMod val="75000"/>
                      <a:lumOff val="25000"/>
                    </a:schemeClr>
                  </a:solidFill>
                  <a:latin typeface="Arial" panose="020B0604020202020204" pitchFamily="34" charset="0"/>
                  <a:cs typeface="Arial" panose="020B0604020202020204" pitchFamily="34" charset="0"/>
                </a:rPr>
                <a:t>Anticipated approval of final </a:t>
              </a:r>
              <a:r>
                <a:rPr lang="en-US" sz="1200" b="1" dirty="0" err="1">
                  <a:solidFill>
                    <a:schemeClr val="tx1">
                      <a:lumMod val="75000"/>
                      <a:lumOff val="25000"/>
                    </a:schemeClr>
                  </a:solidFill>
                  <a:latin typeface="Arial" panose="020B0604020202020204" pitchFamily="34" charset="0"/>
                  <a:cs typeface="Arial" panose="020B0604020202020204" pitchFamily="34" charset="0"/>
                </a:rPr>
                <a:t>ISRS</a:t>
              </a:r>
              <a:r>
                <a:rPr lang="en-US" sz="1200" b="1" dirty="0">
                  <a:solidFill>
                    <a:schemeClr val="tx1">
                      <a:lumMod val="75000"/>
                      <a:lumOff val="25000"/>
                    </a:schemeClr>
                  </a:solidFill>
                  <a:latin typeface="Arial" panose="020B0604020202020204" pitchFamily="34" charset="0"/>
                  <a:cs typeface="Arial" panose="020B0604020202020204" pitchFamily="34" charset="0"/>
                </a:rPr>
                <a:t> 4400 (Revised)</a:t>
              </a:r>
            </a:p>
          </p:txBody>
        </p:sp>
      </p:grpSp>
    </p:spTree>
    <p:extLst>
      <p:ext uri="{BB962C8B-B14F-4D97-AF65-F5344CB8AC3E}">
        <p14:creationId xmlns:p14="http://schemas.microsoft.com/office/powerpoint/2010/main" val="11834678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9F8CA-13C5-4386-AFDC-4F75626B08D1}"/>
              </a:ext>
            </a:extLst>
          </p:cNvPr>
          <p:cNvSpPr>
            <a:spLocks noGrp="1"/>
          </p:cNvSpPr>
          <p:nvPr>
            <p:ph type="title"/>
          </p:nvPr>
        </p:nvSpPr>
        <p:spPr/>
        <p:txBody>
          <a:bodyPr/>
          <a:lstStyle/>
          <a:p>
            <a:r>
              <a:rPr lang="en-US" dirty="0"/>
              <a:t>The Way Forward (cont’d)</a:t>
            </a:r>
          </a:p>
        </p:txBody>
      </p:sp>
      <p:sp>
        <p:nvSpPr>
          <p:cNvPr id="3" name="Content Placeholder 2">
            <a:extLst>
              <a:ext uri="{FF2B5EF4-FFF2-40B4-BE49-F238E27FC236}">
                <a16:creationId xmlns:a16="http://schemas.microsoft.com/office/drawing/2014/main" id="{66173ACC-4CF0-4C15-9EDD-94210BEAD023}"/>
              </a:ext>
            </a:extLst>
          </p:cNvPr>
          <p:cNvSpPr>
            <a:spLocks noGrp="1"/>
          </p:cNvSpPr>
          <p:nvPr>
            <p:ph idx="1"/>
          </p:nvPr>
        </p:nvSpPr>
        <p:spPr>
          <a:xfrm>
            <a:off x="457200" y="1200151"/>
            <a:ext cx="8229600" cy="1263973"/>
          </a:xfrm>
        </p:spPr>
        <p:txBody>
          <a:bodyPr/>
          <a:lstStyle/>
          <a:p>
            <a:pPr marL="0" lvl="0" indent="0">
              <a:buNone/>
            </a:pPr>
            <a:r>
              <a:rPr lang="en-US" dirty="0"/>
              <a:t>Q10. The IAASB is asked whether it supports the Task Force’s planned next steps.</a:t>
            </a:r>
          </a:p>
          <a:p>
            <a:pPr marL="0" lvl="0" indent="0">
              <a:buNone/>
            </a:pPr>
            <a:r>
              <a:rPr lang="en-US" dirty="0"/>
              <a:t>Q11. Are there other significant matters raised by respondents that the Task Force have not covered in this paper?</a:t>
            </a:r>
          </a:p>
        </p:txBody>
      </p:sp>
      <p:sp>
        <p:nvSpPr>
          <p:cNvPr id="4" name="Slide Number Placeholder 3">
            <a:extLst>
              <a:ext uri="{FF2B5EF4-FFF2-40B4-BE49-F238E27FC236}">
                <a16:creationId xmlns:a16="http://schemas.microsoft.com/office/drawing/2014/main" id="{1C7C42F3-927B-4EDF-8002-DAF7243B800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35</a:t>
            </a:fld>
            <a:r>
              <a:rPr lang="en-US">
                <a:latin typeface="Arial" panose="020B0604020202020204" pitchFamily="34" charset="0"/>
                <a:cs typeface="MS PGothic" charset="0"/>
              </a:rPr>
              <a:t>  |  Confidential and Proprietary Information</a:t>
            </a:r>
            <a:endParaRPr lang="en-US" dirty="0">
              <a:latin typeface="Arial" panose="020B0604020202020204" pitchFamily="34" charset="0"/>
              <a:cs typeface="MS PGothic" charset="0"/>
            </a:endParaRPr>
          </a:p>
        </p:txBody>
      </p:sp>
      <p:graphicFrame>
        <p:nvGraphicFramePr>
          <p:cNvPr id="5" name="Table 4">
            <a:extLst>
              <a:ext uri="{FF2B5EF4-FFF2-40B4-BE49-F238E27FC236}">
                <a16:creationId xmlns:a16="http://schemas.microsoft.com/office/drawing/2014/main" id="{09E5DBB4-2346-4034-9992-658CA5B8D9E8}"/>
              </a:ext>
            </a:extLst>
          </p:cNvPr>
          <p:cNvGraphicFramePr>
            <a:graphicFrameLocks noGrp="1"/>
          </p:cNvGraphicFramePr>
          <p:nvPr>
            <p:extLst>
              <p:ext uri="{D42A27DB-BD31-4B8C-83A1-F6EECF244321}">
                <p14:modId xmlns:p14="http://schemas.microsoft.com/office/powerpoint/2010/main" val="3944019411"/>
              </p:ext>
            </p:extLst>
          </p:nvPr>
        </p:nvGraphicFramePr>
        <p:xfrm>
          <a:off x="457200" y="2679376"/>
          <a:ext cx="8384362" cy="1800968"/>
        </p:xfrm>
        <a:graphic>
          <a:graphicData uri="http://schemas.openxmlformats.org/drawingml/2006/table">
            <a:tbl>
              <a:tblPr firstRow="1" bandRow="1">
                <a:tableStyleId>{5C22544A-7EE6-4342-B048-85BDC9FD1C3A}</a:tableStyleId>
              </a:tblPr>
              <a:tblGrid>
                <a:gridCol w="8384362">
                  <a:extLst>
                    <a:ext uri="{9D8B030D-6E8A-4147-A177-3AD203B41FA5}">
                      <a16:colId xmlns:a16="http://schemas.microsoft.com/office/drawing/2014/main" val="713251629"/>
                    </a:ext>
                  </a:extLst>
                </a:gridCol>
              </a:tblGrid>
              <a:tr h="1800968">
                <a:tc>
                  <a:txBody>
                    <a:bodyPr/>
                    <a:lstStyle/>
                    <a:p>
                      <a:pPr marL="0" indent="0">
                        <a:buFont typeface="Arial" panose="020B0604020202020204" pitchFamily="34" charset="0"/>
                        <a:buNone/>
                      </a:pPr>
                      <a:r>
                        <a:rPr lang="en-US" sz="1800" b="1" i="0" kern="1200" dirty="0">
                          <a:solidFill>
                            <a:schemeClr val="lt1"/>
                          </a:solidFill>
                          <a:effectLst/>
                          <a:latin typeface="+mn-lt"/>
                          <a:ea typeface="+mn-ea"/>
                          <a:cs typeface="+mn-cs"/>
                        </a:rPr>
                        <a:t>Task Force’s preliminary views</a:t>
                      </a:r>
                    </a:p>
                    <a:p>
                      <a:pPr marL="342900" indent="-342900">
                        <a:buFont typeface="Arial" panose="020B0604020202020204" pitchFamily="34" charset="0"/>
                        <a:buChar char="•"/>
                      </a:pPr>
                      <a:r>
                        <a:rPr lang="en-US" sz="1800" b="0" i="0" kern="1200" dirty="0">
                          <a:solidFill>
                            <a:schemeClr val="lt1"/>
                          </a:solidFill>
                          <a:effectLst/>
                          <a:latin typeface="+mn-lt"/>
                          <a:ea typeface="+mn-ea"/>
                          <a:cs typeface="+mn-cs"/>
                        </a:rPr>
                        <a:t>The Task Force will develop the 1</a:t>
                      </a:r>
                      <a:r>
                        <a:rPr lang="en-US" sz="1800" b="0" i="0" kern="1200" baseline="30000" dirty="0">
                          <a:solidFill>
                            <a:schemeClr val="lt1"/>
                          </a:solidFill>
                          <a:effectLst/>
                          <a:latin typeface="+mn-lt"/>
                          <a:ea typeface="+mn-ea"/>
                          <a:cs typeface="+mn-cs"/>
                        </a:rPr>
                        <a:t>st</a:t>
                      </a:r>
                      <a:r>
                        <a:rPr lang="en-US" sz="1800" b="0" i="0" kern="1200" dirty="0">
                          <a:solidFill>
                            <a:schemeClr val="lt1"/>
                          </a:solidFill>
                          <a:effectLst/>
                          <a:latin typeface="+mn-lt"/>
                          <a:ea typeface="+mn-ea"/>
                          <a:cs typeface="+mn-cs"/>
                        </a:rPr>
                        <a:t> read of the post-ED </a:t>
                      </a:r>
                      <a:r>
                        <a:rPr lang="en-US" sz="1800" b="0" i="0" kern="1200" dirty="0" err="1">
                          <a:solidFill>
                            <a:schemeClr val="lt1"/>
                          </a:solidFill>
                          <a:effectLst/>
                          <a:latin typeface="+mn-lt"/>
                          <a:ea typeface="+mn-ea"/>
                          <a:cs typeface="+mn-cs"/>
                        </a:rPr>
                        <a:t>ISRS</a:t>
                      </a:r>
                      <a:r>
                        <a:rPr lang="en-US" sz="1800" b="0" i="0" kern="1200" dirty="0">
                          <a:solidFill>
                            <a:schemeClr val="lt1"/>
                          </a:solidFill>
                          <a:effectLst/>
                          <a:latin typeface="+mn-lt"/>
                          <a:ea typeface="+mn-ea"/>
                          <a:cs typeface="+mn-cs"/>
                        </a:rPr>
                        <a:t> 4400 (Revised) based on analyses of the respondents’ comments.</a:t>
                      </a:r>
                    </a:p>
                    <a:p>
                      <a:pPr marL="342900" indent="-342900">
                        <a:buFont typeface="Arial" panose="020B0604020202020204" pitchFamily="34" charset="0"/>
                        <a:buChar char="•"/>
                      </a:pPr>
                      <a:r>
                        <a:rPr lang="en-US" sz="1800" b="0" i="0" kern="1200" dirty="0">
                          <a:solidFill>
                            <a:schemeClr val="lt1"/>
                          </a:solidFill>
                          <a:effectLst/>
                          <a:latin typeface="+mn-lt"/>
                          <a:ea typeface="+mn-ea"/>
                          <a:cs typeface="+mn-cs"/>
                        </a:rPr>
                        <a:t>The Task Force will consider using the “What, Why and How” of the practitioner’s responsibilities (similar to the approach taken in the ISA 315 agenda papers) in developing the 1</a:t>
                      </a:r>
                      <a:r>
                        <a:rPr lang="en-US" sz="1800" b="0" i="0" kern="1200" baseline="30000" dirty="0">
                          <a:solidFill>
                            <a:schemeClr val="lt1"/>
                          </a:solidFill>
                          <a:effectLst/>
                          <a:latin typeface="+mn-lt"/>
                          <a:ea typeface="+mn-ea"/>
                          <a:cs typeface="+mn-cs"/>
                        </a:rPr>
                        <a:t>st</a:t>
                      </a:r>
                      <a:r>
                        <a:rPr lang="en-US" sz="1800" b="0" i="0" kern="1200" dirty="0">
                          <a:solidFill>
                            <a:schemeClr val="lt1"/>
                          </a:solidFill>
                          <a:effectLst/>
                          <a:latin typeface="+mn-lt"/>
                          <a:ea typeface="+mn-ea"/>
                          <a:cs typeface="+mn-cs"/>
                        </a:rPr>
                        <a:t> read of the post-ED </a:t>
                      </a:r>
                      <a:r>
                        <a:rPr lang="en-US" sz="1800" b="0" i="0" kern="1200" dirty="0" err="1">
                          <a:solidFill>
                            <a:schemeClr val="lt1"/>
                          </a:solidFill>
                          <a:effectLst/>
                          <a:latin typeface="+mn-lt"/>
                          <a:ea typeface="+mn-ea"/>
                          <a:cs typeface="+mn-cs"/>
                        </a:rPr>
                        <a:t>ISRS</a:t>
                      </a:r>
                      <a:r>
                        <a:rPr lang="en-US" sz="1800" b="0" i="0" kern="1200" dirty="0">
                          <a:solidFill>
                            <a:schemeClr val="lt1"/>
                          </a:solidFill>
                          <a:effectLst/>
                          <a:latin typeface="+mn-lt"/>
                          <a:ea typeface="+mn-ea"/>
                          <a:cs typeface="+mn-cs"/>
                        </a:rPr>
                        <a:t> 4400 (Revised)</a:t>
                      </a:r>
                    </a:p>
                  </a:txBody>
                  <a:tcPr>
                    <a:solidFill>
                      <a:schemeClr val="tx1">
                        <a:lumMod val="50000"/>
                        <a:lumOff val="50000"/>
                      </a:schemeClr>
                    </a:solidFill>
                  </a:tcPr>
                </a:tc>
                <a:extLst>
                  <a:ext uri="{0D108BD9-81ED-4DB2-BD59-A6C34878D82A}">
                    <a16:rowId xmlns:a16="http://schemas.microsoft.com/office/drawing/2014/main" val="493788776"/>
                  </a:ext>
                </a:extLst>
              </a:tr>
            </a:tbl>
          </a:graphicData>
        </a:graphic>
      </p:graphicFrame>
    </p:spTree>
    <p:extLst>
      <p:ext uri="{BB962C8B-B14F-4D97-AF65-F5344CB8AC3E}">
        <p14:creationId xmlns:p14="http://schemas.microsoft.com/office/powerpoint/2010/main" val="704690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8102811"/>
      </p:ext>
    </p:extLst>
  </p:cSld>
  <p:clrMapOvr>
    <a:masterClrMapping/>
  </p:clrMapOvr>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IAASB_Powerpoint_template_2016_Widescreen</Template>
  <TotalTime>1332</TotalTime>
  <Words>5315</Words>
  <Application>Microsoft Office PowerPoint</Application>
  <PresentationFormat>On-screen Show (16:9)</PresentationFormat>
  <Paragraphs>552</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Arial Narrow</vt:lpstr>
      <vt:lpstr>Calibri</vt:lpstr>
      <vt:lpstr>Office Theme</vt:lpstr>
      <vt:lpstr>Agreed-Upon Procedures Engagements</vt:lpstr>
      <vt:lpstr>Task Force Members and Staff Support</vt:lpstr>
      <vt:lpstr>PowerPoint Presentation</vt:lpstr>
      <vt:lpstr>PowerPoint Presentation</vt:lpstr>
      <vt:lpstr>Overall Summary of Responses</vt:lpstr>
      <vt:lpstr>Public Interest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Other Matters</vt:lpstr>
      <vt:lpstr>Other Matters (cont’d)</vt:lpstr>
      <vt:lpstr>PowerPoint Presentation</vt:lpstr>
      <vt:lpstr>PowerPoint Presentation</vt:lpstr>
      <vt:lpstr>PowerPoint Presentation</vt:lpstr>
      <vt:lpstr>General Comments – Effective Date (cont’d)</vt:lpstr>
      <vt:lpstr>PowerPoint Presentation</vt:lpstr>
      <vt:lpstr>ISRS 4400 (Revised) – The Way Forward </vt:lpstr>
      <vt:lpstr>The Way Forward (cont’d)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Bradley Williams</dc:creator>
  <cp:lastModifiedBy>Phil Minnaar</cp:lastModifiedBy>
  <cp:revision>235</cp:revision>
  <cp:lastPrinted>2016-03-04T17:09:52Z</cp:lastPrinted>
  <dcterms:created xsi:type="dcterms:W3CDTF">2016-11-09T14:56:20Z</dcterms:created>
  <dcterms:modified xsi:type="dcterms:W3CDTF">2019-08-07T14:57:51Z</dcterms:modified>
</cp:coreProperties>
</file>