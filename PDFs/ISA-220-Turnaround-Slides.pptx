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3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3" r:id="rId2"/>
    <p:sldId id="334" r:id="rId3"/>
    <p:sldId id="354" r:id="rId4"/>
    <p:sldId id="355" r:id="rId5"/>
    <p:sldId id="357" r:id="rId6"/>
    <p:sldId id="361" r:id="rId7"/>
    <p:sldId id="358" r:id="rId8"/>
    <p:sldId id="359" r:id="rId9"/>
    <p:sldId id="360" r:id="rId10"/>
    <p:sldId id="259" r:id="rId11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15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Schuyler Simms" initials="SS" lastIdx="17" clrIdx="2"/>
  <p:cmAuthor id="4" name="Schuyler Simms" initials="SSS" lastIdx="15" clrIdx="3">
    <p:extLst>
      <p:ext uri="{19B8F6BF-5375-455C-9EA6-DF929625EA0E}">
        <p15:presenceInfo xmlns:p15="http://schemas.microsoft.com/office/powerpoint/2012/main" userId="Schuyler Simms" providerId="None"/>
      </p:ext>
    </p:extLst>
  </p:cmAuthor>
  <p:cmAuthor id="5" name="BJ" initials="BJ" lastIdx="3" clrIdx="4">
    <p:extLst>
      <p:ext uri="{19B8F6BF-5375-455C-9EA6-DF929625EA0E}">
        <p15:presenceInfo xmlns:p15="http://schemas.microsoft.com/office/powerpoint/2012/main" userId="BJ" providerId="None"/>
      </p:ext>
    </p:extLst>
  </p:cmAuthor>
  <p:cmAuthor id="6" name="Megan Zietsman" initials="MZ" lastIdx="4" clrIdx="5">
    <p:extLst>
      <p:ext uri="{19B8F6BF-5375-455C-9EA6-DF929625EA0E}">
        <p15:presenceInfo xmlns:p15="http://schemas.microsoft.com/office/powerpoint/2012/main" userId="Megan Ziets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8764" autoAdjust="0"/>
  </p:normalViewPr>
  <p:slideViewPr>
    <p:cSldViewPr snapToGrid="0" snapToObjects="1">
      <p:cViewPr varScale="1">
        <p:scale>
          <a:sx n="71" d="100"/>
          <a:sy n="71" d="100"/>
        </p:scale>
        <p:origin x="1742" y="62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8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75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8948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  <a:ea typeface="ＭＳ Ｐゴシック" charset="0"/>
                <a:cs typeface="ＭＳ Ｐゴシック" charset="0"/>
              </a:rPr>
              <a:t>Sky to add the actual references in 315 for Megan notes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998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82806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5294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Pros: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Solves</a:t>
            </a:r>
            <a:r>
              <a:rPr lang="en-US" baseline="0" dirty="0" smtClean="0"/>
              <a:t> the “significant appropriate”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“bar” is implicit in the language, “such that the engagement has the basis for…”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 smtClean="0"/>
              <a:t>Cons: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bar is implicit, rather than explicit</a:t>
            </a: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7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76690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Pros: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Solves</a:t>
            </a:r>
            <a:r>
              <a:rPr lang="en-US" baseline="0" dirty="0" smtClean="0"/>
              <a:t> the “significant appropriate”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“bar” is implicit in the language, “such that the engagement has the basis for…”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 smtClean="0"/>
              <a:t>Cons: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bar is implicit, rather than explicit</a:t>
            </a: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8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1047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90525" y="690563"/>
            <a:ext cx="6135688" cy="34512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Pros: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Solves</a:t>
            </a:r>
            <a:r>
              <a:rPr lang="en-US" baseline="0" dirty="0" smtClean="0"/>
              <a:t> the “significant appropriate”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Clarifies that the involvement of the EP flexes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“bar” is implicit in the language, “such that the engagement has the basis for…”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 smtClean="0"/>
              <a:t>Cons: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The bar is implicit, rather than explicit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Some may feel that “nature timing and extent” apply only in the context of procedures</a:t>
            </a: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8448" indent="-287865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51458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12041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72625" indent="-230292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3320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93791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54375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914958" indent="-23029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9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7228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715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"/>
          <a:stretch/>
        </p:blipFill>
        <p:spPr>
          <a:xfrm>
            <a:off x="-12701" y="-26572"/>
            <a:ext cx="9156701" cy="24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2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9/20/2018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1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Quality Management at the Engagement Level</a:t>
            </a:r>
            <a:br>
              <a:rPr lang="en-US" dirty="0"/>
            </a:br>
            <a:r>
              <a:rPr lang="en-US" dirty="0" smtClean="0"/>
              <a:t>Proposed ISA </a:t>
            </a:r>
            <a:r>
              <a:rPr lang="en-US" dirty="0"/>
              <a:t>220 (Revised)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Megan Zietsman, Task Force Chair </a:t>
            </a:r>
          </a:p>
          <a:p>
            <a:r>
              <a:rPr lang="en-US" dirty="0"/>
              <a:t>IAASB Meeting, New York, USA</a:t>
            </a:r>
          </a:p>
          <a:p>
            <a:r>
              <a:rPr lang="en-US" dirty="0"/>
              <a:t>Agenda Item </a:t>
            </a:r>
            <a:r>
              <a:rPr lang="en-US" dirty="0" smtClean="0"/>
              <a:t>4</a:t>
            </a:r>
            <a:endParaRPr lang="en-US" dirty="0"/>
          </a:p>
          <a:p>
            <a:r>
              <a:rPr lang="en-US" dirty="0" smtClean="0"/>
              <a:t>September 21,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6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 smtClean="0"/>
              <a:t>Issue 1: ISA 220 Objective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921488"/>
            <a:ext cx="8229600" cy="388688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objective of the auditor is to manage quality at the engagement level to obtain reasonable assurance that quality has been achieved, </a:t>
            </a:r>
            <a:r>
              <a:rPr lang="en-US" sz="1800" strike="sngStrik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such </a:t>
            </a:r>
            <a:r>
              <a:rPr 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that:</a:t>
            </a:r>
          </a:p>
          <a:p>
            <a:pPr marL="914400" indent="-91440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	The auditor has fulfilled the auditor’s responsibilities, and has conducted the audit</a:t>
            </a:r>
            <a:r>
              <a:rPr 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[in the public interest],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accordance with </a:t>
            </a:r>
            <a:r>
              <a:rPr 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has achieved the objectives of, applicable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professional standards and applicable legal and regulatory requirements; </a:t>
            </a:r>
            <a:r>
              <a:rPr lang="en-US" sz="1800" strike="sngStrik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indent="-914400">
              <a:buNone/>
            </a:pPr>
            <a:r>
              <a:rPr lang="en-US" sz="18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(aa)	In doing so, the significant judgments made and conclusions reached by the auditor are appropriate, given the nature and circumstances of the engagement; and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indent="-91440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	The auditor’s report issued is appropriate in the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395850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 smtClean="0"/>
              <a:t>Issue 2: Use of “Sufficiently and Appropriately” Involved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999460"/>
            <a:ext cx="8229600" cy="3808916"/>
          </a:xfrm>
        </p:spPr>
        <p:txBody>
          <a:bodyPr/>
          <a:lstStyle/>
          <a:p>
            <a:pPr lvl="0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TF Recommendation: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Option 1: “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sufficiently and appropriately involved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39725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…In doing so, the engagement partner shall be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sufficiently and appropriately involved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throughout the audit engagement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 provide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basis for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engagement partner to determine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whether the significant judgments made and the conclusions reached are appropriate given the nature and circumstances of the engagement.</a:t>
            </a:r>
          </a:p>
        </p:txBody>
      </p:sp>
    </p:spTree>
    <p:extLst>
      <p:ext uri="{BB962C8B-B14F-4D97-AF65-F5344CB8AC3E}">
        <p14:creationId xmlns:p14="http://schemas.microsoft.com/office/powerpoint/2010/main" val="253791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/>
              <a:t>Issue 2: Use of “Sufficiently and Appropriately” Involved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831312"/>
            <a:ext cx="8229600" cy="397706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These are easily understood terms in the English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language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These terms are used throughout the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ISAs (e.g., proposed ISA 315 Revised)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definition of these terms in the glossary are in the context of audit evidence; it is clear that this definition does not apply to the use of the terms under different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contexts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Clarifies that the involvement of the EP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flexes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loss of the “bar” created by the use of the terms “sufficiently and appropriately” may lead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 bad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behavior; EPs may feel that they meet the requirement by being superficially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involved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 think that “sufficient appropriate” are only defined in the context of audit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evidence and therefore using the terms here would pull in related requirements for ISA 500 (e.g., relevance and reliability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84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/>
              <a:t>Issue 2: Use of “Sufficiently and Appropriately” Involved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1002632"/>
            <a:ext cx="8229600" cy="3805744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Other Options Considered by the Task Force</a:t>
            </a: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2: Appropriate only</a:t>
            </a: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3: Delete the phrase completely</a:t>
            </a:r>
          </a:p>
          <a:p>
            <a:pPr marL="560593" lvl="1" indent="-347472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4: Nature, timing and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extent</a:t>
            </a:r>
          </a:p>
          <a:p>
            <a:pPr marL="213121" lvl="1" indent="0">
              <a:buNone/>
            </a:pPr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7472" lvl="0" indent="-347472"/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83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2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/>
              <a:t>Issue 2: Use of “Sufficiently and Appropriately” Involved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1002632"/>
            <a:ext cx="8229600" cy="3805744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2: Appropriate only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doing so, the engagement partner shall be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appropriately involved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throughout the audit engagement to provide the basis for the engagement partner to determine whether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significant judgments made and the conclusions reached are appropriate given the nature and circumstances of the engagement.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With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material to indicate that “appropriately” in this context involves an element of sufficiency.</a:t>
            </a: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7472" lvl="0" indent="-347472"/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3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/>
              <a:t>Issue 2: Use of “Sufficiently and Appropriately” Involved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1002632"/>
            <a:ext cx="8229600" cy="3805744"/>
          </a:xfrm>
        </p:spPr>
        <p:txBody>
          <a:bodyPr/>
          <a:lstStyle/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3: Delete the phrase completely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…In doing so, the engagement partner shall be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involved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throughout the audit engagement to provide the basis for the engagement partner to determine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whether the significant judgments made and the conclusions reached are appropriate given the nature and circumstances of the engagement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7472" lvl="0" indent="-347472"/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17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8776" y="427437"/>
            <a:ext cx="8358984" cy="403875"/>
          </a:xfrm>
        </p:spPr>
        <p:txBody>
          <a:bodyPr/>
          <a:lstStyle/>
          <a:p>
            <a:r>
              <a:rPr lang="en-US" dirty="0"/>
              <a:t>Issue 2: Use of “Sufficiently and Appropriately” Involved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32792" y="1002632"/>
            <a:ext cx="8229600" cy="3805744"/>
          </a:xfrm>
        </p:spPr>
        <p:txBody>
          <a:bodyPr/>
          <a:lstStyle/>
          <a:p>
            <a:pPr marL="129779" lvl="1" indent="-129779">
              <a:spcBef>
                <a:spcPts val="900"/>
              </a:spcBef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 4: Nature, timing and extent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…In doing so, </a:t>
            </a: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nature timing and extent of involvement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the engagement partner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throughout the audit engagement shall provide a basis for the engagement partner to determine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whether the significant judgments made and the conclusions reached are appropriate given the nature and circumstances of the engagement.</a:t>
            </a: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60593" lvl="1" indent="-347472"/>
            <a:endParaRPr lang="en-US" sz="165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7472" lvl="0" indent="-347472"/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49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17317</TotalTime>
  <Words>714</Words>
  <Application>Microsoft Office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MS PGothic</vt:lpstr>
      <vt:lpstr>MS PGothic</vt:lpstr>
      <vt:lpstr>Arial</vt:lpstr>
      <vt:lpstr>Arial Narrow</vt:lpstr>
      <vt:lpstr>Calibri</vt:lpstr>
      <vt:lpstr>Times New Roman</vt:lpstr>
      <vt:lpstr>ヒラギノ角ゴ Pro W3</vt:lpstr>
      <vt:lpstr>Office Theme</vt:lpstr>
      <vt:lpstr>Quality Management at the Engagement Level Proposed ISA 220 (Revised)</vt:lpstr>
      <vt:lpstr>Issue 1: ISA 220 Objective </vt:lpstr>
      <vt:lpstr>Issue 2: Use of “Sufficiently and Appropriately” Involved</vt:lpstr>
      <vt:lpstr>Issue 2: Use of “Sufficiently and Appropriately” Involved</vt:lpstr>
      <vt:lpstr>Issue 2: Use of “Sufficiently and Appropriately” Involved</vt:lpstr>
      <vt:lpstr>PowerPoint Presentation</vt:lpstr>
      <vt:lpstr>Issue 2: Use of “Sufficiently and Appropriately” Involved</vt:lpstr>
      <vt:lpstr>Issue 2: Use of “Sufficiently and Appropriately” Involved</vt:lpstr>
      <vt:lpstr>Issue 2: Use of “Sufficiently and Appropriately” Involved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Schuyler Simms</cp:lastModifiedBy>
  <cp:revision>207</cp:revision>
  <cp:lastPrinted>2018-09-19T19:08:15Z</cp:lastPrinted>
  <dcterms:created xsi:type="dcterms:W3CDTF">2016-11-09T14:56:20Z</dcterms:created>
  <dcterms:modified xsi:type="dcterms:W3CDTF">2018-09-20T13:11:42Z</dcterms:modified>
</cp:coreProperties>
</file>