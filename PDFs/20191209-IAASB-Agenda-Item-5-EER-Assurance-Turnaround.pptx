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4"/>
  </p:notesMasterIdLst>
  <p:sldIdLst>
    <p:sldId id="449" r:id="rId5"/>
    <p:sldId id="471" r:id="rId6"/>
    <p:sldId id="478" r:id="rId7"/>
    <p:sldId id="479" r:id="rId8"/>
    <p:sldId id="473" r:id="rId9"/>
    <p:sldId id="474" r:id="rId10"/>
    <p:sldId id="475" r:id="rId11"/>
    <p:sldId id="480" r:id="rId12"/>
    <p:sldId id="294" r:id="rId13"/>
  </p:sldIdLst>
  <p:sldSz cx="12192000" cy="6858000"/>
  <p:notesSz cx="6797675" cy="987425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20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ek Grabowski" initials="MG" lastIdx="24" clrIdx="0">
    <p:extLst>
      <p:ext uri="{19B8F6BF-5375-455C-9EA6-DF929625EA0E}">
        <p15:presenceInfo xmlns:p15="http://schemas.microsoft.com/office/powerpoint/2012/main" userId="S::M.Grabowski@frc.org.uk::776b50aa-4428-4d28-8fa1-1e8000cbd154" providerId="AD"/>
      </p:ext>
    </p:extLst>
  </p:cmAuthor>
  <p:cmAuthor id="2" name="Pauline Irwin" initials="PI" lastIdx="10" clrIdx="1">
    <p:extLst>
      <p:ext uri="{19B8F6BF-5375-455C-9EA6-DF929625EA0E}">
        <p15:presenceInfo xmlns:p15="http://schemas.microsoft.com/office/powerpoint/2012/main" userId="Pauline Irw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FF4C03"/>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autoAdjust="0"/>
    <p:restoredTop sz="78266" autoAdjust="0"/>
  </p:normalViewPr>
  <p:slideViewPr>
    <p:cSldViewPr snapToGrid="0" showGuides="1">
      <p:cViewPr varScale="1">
        <p:scale>
          <a:sx n="67" d="100"/>
          <a:sy n="67" d="100"/>
        </p:scale>
        <p:origin x="1200" y="58"/>
      </p:cViewPr>
      <p:guideLst>
        <p:guide orient="horz" pos="2160"/>
        <p:guide pos="2207"/>
      </p:guideLst>
    </p:cSldViewPr>
  </p:slideViewPr>
  <p:notesTextViewPr>
    <p:cViewPr>
      <p:scale>
        <a:sx n="1" d="1"/>
        <a:sy n="1" d="1"/>
      </p:scale>
      <p:origin x="0" y="0"/>
    </p:cViewPr>
  </p:notesTextViewPr>
  <p:notesViewPr>
    <p:cSldViewPr snapToGrid="0">
      <p:cViewPr varScale="1">
        <p:scale>
          <a:sx n="60" d="100"/>
          <a:sy n="60" d="100"/>
        </p:scale>
        <p:origin x="3274" y="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6400" cy="49576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49688" y="1"/>
            <a:ext cx="2946400" cy="495765"/>
          </a:xfrm>
          <a:prstGeom prst="rect">
            <a:avLst/>
          </a:prstGeom>
        </p:spPr>
        <p:txBody>
          <a:bodyPr vert="horz" lIns="91440" tIns="45720" rIns="91440" bIns="45720" rtlCol="0"/>
          <a:lstStyle>
            <a:lvl1pPr algn="r">
              <a:defRPr sz="1200"/>
            </a:lvl1pPr>
          </a:lstStyle>
          <a:p>
            <a:fld id="{3002CE1A-B037-4479-976B-9CF538C18F87}" type="datetimeFigureOut">
              <a:rPr lang="en-US" smtClean="0"/>
              <a:t>12/13/2019</a:t>
            </a:fld>
            <a:endParaRPr lang="en-US" dirty="0"/>
          </a:p>
        </p:txBody>
      </p:sp>
      <p:sp>
        <p:nvSpPr>
          <p:cNvPr id="4" name="Slide Image Placeholder 3"/>
          <p:cNvSpPr>
            <a:spLocks noGrp="1" noRot="1" noChangeAspect="1"/>
          </p:cNvSpPr>
          <p:nvPr>
            <p:ph type="sldImg" idx="2"/>
          </p:nvPr>
        </p:nvSpPr>
        <p:spPr>
          <a:xfrm>
            <a:off x="438150" y="1235075"/>
            <a:ext cx="5921375" cy="3330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450" y="4752398"/>
            <a:ext cx="5438775" cy="38871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8485"/>
            <a:ext cx="2946400" cy="49576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49688" y="9378485"/>
            <a:ext cx="2946400" cy="495765"/>
          </a:xfrm>
          <a:prstGeom prst="rect">
            <a:avLst/>
          </a:prstGeom>
        </p:spPr>
        <p:txBody>
          <a:bodyPr vert="horz" lIns="91440" tIns="45720" rIns="91440" bIns="45720" rtlCol="0" anchor="b"/>
          <a:lstStyle>
            <a:lvl1pPr algn="r">
              <a:defRPr sz="1200"/>
            </a:lvl1pPr>
          </a:lstStyle>
          <a:p>
            <a:fld id="{88F61214-B916-4CCA-9541-0FEB1C228969}" type="slidenum">
              <a:rPr lang="en-US" smtClean="0"/>
              <a:t>‹#›</a:t>
            </a:fld>
            <a:endParaRPr lang="en-US" dirty="0"/>
          </a:p>
        </p:txBody>
      </p:sp>
    </p:spTree>
    <p:extLst>
      <p:ext uri="{BB962C8B-B14F-4D97-AF65-F5344CB8AC3E}">
        <p14:creationId xmlns:p14="http://schemas.microsoft.com/office/powerpoint/2010/main" val="3489482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8F61214-B916-4CCA-9541-0FEB1C228969}" type="slidenum">
              <a:rPr lang="en-US" smtClean="0"/>
              <a:t>1</a:t>
            </a:fld>
            <a:endParaRPr lang="en-US" dirty="0"/>
          </a:p>
        </p:txBody>
      </p:sp>
    </p:spTree>
    <p:extLst>
      <p:ext uri="{BB962C8B-B14F-4D97-AF65-F5344CB8AC3E}">
        <p14:creationId xmlns:p14="http://schemas.microsoft.com/office/powerpoint/2010/main" val="2446767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7</a:t>
            </a:fld>
            <a:endParaRPr lang="en-US" dirty="0"/>
          </a:p>
        </p:txBody>
      </p:sp>
    </p:spTree>
    <p:extLst>
      <p:ext uri="{BB962C8B-B14F-4D97-AF65-F5344CB8AC3E}">
        <p14:creationId xmlns:p14="http://schemas.microsoft.com/office/powerpoint/2010/main" val="3844629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61214-B916-4CCA-9541-0FEB1C228969}" type="slidenum">
              <a:rPr lang="en-US" smtClean="0"/>
              <a:t>9</a:t>
            </a:fld>
            <a:endParaRPr lang="en-US" dirty="0"/>
          </a:p>
        </p:txBody>
      </p:sp>
    </p:spTree>
    <p:extLst>
      <p:ext uri="{BB962C8B-B14F-4D97-AF65-F5344CB8AC3E}">
        <p14:creationId xmlns:p14="http://schemas.microsoft.com/office/powerpoint/2010/main" val="5829641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www.iaasb.org/" TargetMode="External"/><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mailto:permissions@ifac.org" TargetMode="External"/><Relationship Id="rId5" Type="http://schemas.openxmlformats.org/officeDocument/2006/relationships/image" Target="../media/image8.png"/><Relationship Id="rId10" Type="http://schemas.openxmlformats.org/officeDocument/2006/relationships/hyperlink" Target="http://www.ifac.org/about-ifac/translations-permissions" TargetMode="External"/><Relationship Id="rId4" Type="http://schemas.openxmlformats.org/officeDocument/2006/relationships/image" Target="../media/image7.png"/><Relationship Id="rId9"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dirty="0">
              <a:solidFill>
                <a:prstClr val="white"/>
              </a:solidFill>
            </a:endParaRPr>
          </a:p>
        </p:txBody>
      </p:sp>
      <p:sp>
        <p:nvSpPr>
          <p:cNvPr id="11" name="Title 1"/>
          <p:cNvSpPr>
            <a:spLocks noGrp="1"/>
          </p:cNvSpPr>
          <p:nvPr>
            <p:ph type="ctrTitle"/>
          </p:nvPr>
        </p:nvSpPr>
        <p:spPr>
          <a:xfrm>
            <a:off x="914399"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1" y="4961468"/>
            <a:ext cx="6310489" cy="1225964"/>
          </a:xfrm>
        </p:spPr>
        <p:txBody>
          <a:bodyPr anchor="b"/>
          <a:lstStyle>
            <a:lvl1pPr marL="0" indent="0" algn="l">
              <a:buNone/>
              <a:defRPr sz="18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57403" y="5699752"/>
            <a:ext cx="2881505" cy="487680"/>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601536"/>
            <a:ext cx="121920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Page topper.jpg"/>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1"/>
            <a:ext cx="12192000" cy="3196799"/>
          </a:xfrm>
          <a:prstGeom prst="rect">
            <a:avLst/>
          </a:prstGeom>
        </p:spPr>
      </p:pic>
    </p:spTree>
    <p:extLst>
      <p:ext uri="{BB962C8B-B14F-4D97-AF65-F5344CB8AC3E}">
        <p14:creationId xmlns:p14="http://schemas.microsoft.com/office/powerpoint/2010/main" val="3520993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dirty="0">
              <a:solidFill>
                <a:prstClr val="white"/>
              </a:solidFill>
            </a:endParaRPr>
          </a:p>
        </p:txBody>
      </p:sp>
      <p:sp>
        <p:nvSpPr>
          <p:cNvPr id="11" name="Title 1"/>
          <p:cNvSpPr>
            <a:spLocks noGrp="1"/>
          </p:cNvSpPr>
          <p:nvPr>
            <p:ph type="ctrTitle"/>
          </p:nvPr>
        </p:nvSpPr>
        <p:spPr>
          <a:xfrm>
            <a:off x="914399"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1" y="4961468"/>
            <a:ext cx="6310489" cy="1225964"/>
          </a:xfrm>
        </p:spPr>
        <p:txBody>
          <a:bodyPr anchor="b"/>
          <a:lstStyle>
            <a:lvl1pPr marL="0" indent="0" algn="l">
              <a:buNone/>
              <a:defRPr sz="18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699752"/>
            <a:ext cx="3702304" cy="487680"/>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601536"/>
            <a:ext cx="121920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2" y="1"/>
            <a:ext cx="12208933" cy="3200400"/>
          </a:xfrm>
          <a:prstGeom prst="rect">
            <a:avLst/>
          </a:prstGeom>
        </p:spPr>
      </p:pic>
    </p:spTree>
    <p:extLst>
      <p:ext uri="{BB962C8B-B14F-4D97-AF65-F5344CB8AC3E}">
        <p14:creationId xmlns:p14="http://schemas.microsoft.com/office/powerpoint/2010/main" val="145102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dirty="0">
              <a:solidFill>
                <a:prstClr val="white"/>
              </a:solidFill>
            </a:endParaRPr>
          </a:p>
        </p:txBody>
      </p:sp>
      <p:sp>
        <p:nvSpPr>
          <p:cNvPr id="11" name="Title 1"/>
          <p:cNvSpPr>
            <a:spLocks noGrp="1"/>
          </p:cNvSpPr>
          <p:nvPr>
            <p:ph type="ctrTitle"/>
          </p:nvPr>
        </p:nvSpPr>
        <p:spPr>
          <a:xfrm>
            <a:off x="914399"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1" y="4961468"/>
            <a:ext cx="6310489" cy="1225964"/>
          </a:xfrm>
        </p:spPr>
        <p:txBody>
          <a:bodyPr anchor="b"/>
          <a:lstStyle>
            <a:lvl1pPr marL="0" indent="0" algn="l">
              <a:buNone/>
              <a:defRPr sz="18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699752"/>
            <a:ext cx="3702304" cy="487680"/>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601536"/>
            <a:ext cx="121920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6218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857250" indent="-228600">
              <a:defRPr>
                <a:solidFill>
                  <a:srgbClr val="808080"/>
                </a:solidFill>
                <a:latin typeface="Arial" panose="020B0604020202020204" pitchFamily="34" charset="0"/>
                <a:cs typeface="Arial" panose="020B0604020202020204" pitchFamily="34" charset="0"/>
              </a:defRPr>
            </a:lvl4pPr>
            <a:lvl5pPr marL="1084263" indent="-22860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7905136" y="6511060"/>
            <a:ext cx="3677264" cy="304412"/>
          </a:xfrm>
        </p:spPr>
        <p:txBody>
          <a:bodyPr/>
          <a:lstStyle>
            <a:lvl1pPr marL="0" marR="0" indent="0" algn="r" defTabSz="457200"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147672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610881"/>
            <a:ext cx="12192000" cy="52522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dirty="0">
              <a:solidFill>
                <a:prstClr val="white"/>
              </a:solidFill>
            </a:endParaRPr>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5732585"/>
            <a:ext cx="12192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5732584"/>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dirty="0">
              <a:solidFill>
                <a:prstClr val="white"/>
              </a:solidFill>
            </a:endParaRPr>
          </a:p>
        </p:txBody>
      </p:sp>
    </p:spTree>
    <p:extLst>
      <p:ext uri="{BB962C8B-B14F-4D97-AF65-F5344CB8AC3E}">
        <p14:creationId xmlns:p14="http://schemas.microsoft.com/office/powerpoint/2010/main" val="2902206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8808016" y="6497447"/>
            <a:ext cx="2774384" cy="335774"/>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0129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350689"/>
            <a:ext cx="5386917" cy="480663"/>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003648"/>
            <a:ext cx="5386917"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8" y="1350689"/>
            <a:ext cx="5389033" cy="480663"/>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003648"/>
            <a:ext cx="5389033"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0889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6448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1597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939174" y="2240324"/>
            <a:ext cx="5998518" cy="918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5095863" y="5009183"/>
            <a:ext cx="1685141" cy="369332"/>
          </a:xfrm>
          <a:prstGeom prst="rect">
            <a:avLst/>
          </a:prstGeom>
        </p:spPr>
        <p:txBody>
          <a:bodyPr wrap="none">
            <a:spAutoFit/>
          </a:bodyPr>
          <a:lstStyle/>
          <a:p>
            <a:pPr defTabSz="457200"/>
            <a:r>
              <a:rPr lang="en-US" sz="1800" dirty="0">
                <a:solidFill>
                  <a:srgbClr val="1F497D"/>
                </a:solidFill>
                <a:latin typeface="Arial" panose="020B0604020202020204" pitchFamily="34" charset="0"/>
                <a:ea typeface="Calibri" panose="020F0502020204030204" pitchFamily="34" charset="0"/>
                <a:cs typeface="Arial" panose="020B0604020202020204" pitchFamily="34" charset="0"/>
                <a:hlinkClick r:id="rId3"/>
              </a:rPr>
              <a:t>www.iaasb.org</a:t>
            </a:r>
            <a:endParaRPr lang="en-US" sz="2000" dirty="0">
              <a:solidFill>
                <a:prstClr val="black"/>
              </a:solidFill>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508000" y="6430428"/>
            <a:ext cx="11684000" cy="46038"/>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200"/>
            <a:endParaRPr lang="en-US" sz="1800" dirty="0">
              <a:solidFill>
                <a:prstClr val="black"/>
              </a:solidFill>
            </a:endParaRPr>
          </a:p>
        </p:txBody>
      </p:sp>
      <p:pic>
        <p:nvPicPr>
          <p:cNvPr id="3" name="Picture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31333" y="5658033"/>
            <a:ext cx="1019144" cy="255514"/>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949697" y="5658033"/>
            <a:ext cx="771637" cy="255514"/>
          </a:xfrm>
          <a:prstGeom prst="rect">
            <a:avLst/>
          </a:prstGeom>
        </p:spPr>
      </p:pic>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622621" y="5658033"/>
            <a:ext cx="1019144" cy="255514"/>
          </a:xfrm>
          <a:prstGeom prst="rect">
            <a:avLst/>
          </a:prstGeom>
        </p:spPr>
      </p:pic>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640985" y="5619933"/>
            <a:ext cx="1019144" cy="310111"/>
          </a:xfrm>
          <a:prstGeom prst="rect">
            <a:avLst/>
          </a:prstGeom>
        </p:spPr>
      </p:pic>
      <p:pic>
        <p:nvPicPr>
          <p:cNvPr id="9" name="Picture 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659349" y="5658033"/>
            <a:ext cx="1019144" cy="255514"/>
          </a:xfrm>
          <a:prstGeom prst="rect">
            <a:avLst/>
          </a:prstGeom>
        </p:spPr>
      </p:pic>
      <p:pic>
        <p:nvPicPr>
          <p:cNvPr id="10" name="Picture 9"/>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547508" y="5658033"/>
            <a:ext cx="1019144" cy="255514"/>
          </a:xfrm>
          <a:prstGeom prst="rect">
            <a:avLst/>
          </a:prstGeom>
        </p:spPr>
      </p:pic>
      <p:sp>
        <p:nvSpPr>
          <p:cNvPr id="11" name="Rectangle 10"/>
          <p:cNvSpPr/>
          <p:nvPr userDrawn="1"/>
        </p:nvSpPr>
        <p:spPr>
          <a:xfrm>
            <a:off x="931334" y="6144038"/>
            <a:ext cx="10837333" cy="276999"/>
          </a:xfrm>
          <a:prstGeom prst="rect">
            <a:avLst/>
          </a:prstGeom>
        </p:spPr>
        <p:txBody>
          <a:bodyPr wrap="square">
            <a:spAutoFit/>
          </a:bodyPr>
          <a:lstStyle/>
          <a:p>
            <a:pPr defTabSz="457200"/>
            <a:r>
              <a:rPr lang="en-US" sz="1200" dirty="0">
                <a:solidFill>
                  <a:prstClr val="black"/>
                </a:solidFill>
                <a:latin typeface="Arial" panose="020B0604020202020204" pitchFamily="34" charset="0"/>
                <a:ea typeface="Calibri" panose="020F0502020204030204" pitchFamily="34" charset="0"/>
              </a:rPr>
              <a:t>For copyright, trademark, and permissions information, please go to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1200" dirty="0">
                <a:solidFill>
                  <a:prstClr val="black"/>
                </a:solidFill>
                <a:latin typeface="Arial" panose="020B0604020202020204" pitchFamily="34" charset="0"/>
                <a:ea typeface="Calibri" panose="020F0502020204030204" pitchFamily="34" charset="0"/>
              </a:rPr>
              <a:t> or contact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1200" dirty="0">
                <a:solidFill>
                  <a:prstClr val="black"/>
                </a:solidFill>
                <a:latin typeface="Arial" panose="020B0604020202020204" pitchFamily="34" charset="0"/>
                <a:ea typeface="Calibri" panose="020F0502020204030204" pitchFamily="34" charset="0"/>
              </a:rPr>
              <a:t>.</a:t>
            </a:r>
            <a:endParaRPr lang="en-US" sz="1200" dirty="0">
              <a:solidFill>
                <a:prstClr val="black"/>
              </a:solidFill>
            </a:endParaRPr>
          </a:p>
        </p:txBody>
      </p:sp>
    </p:spTree>
    <p:extLst>
      <p:ext uri="{BB962C8B-B14F-4D97-AF65-F5344CB8AC3E}">
        <p14:creationId xmlns:p14="http://schemas.microsoft.com/office/powerpoint/2010/main" val="2900939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500"/>
                                        <p:tgtEl>
                                          <p:spTgt spid="3"/>
                                        </p:tgtEl>
                                      </p:cBhvr>
                                    </p:animEffect>
                                  </p:childTnLst>
                                </p:cTn>
                              </p:par>
                              <p:par>
                                <p:cTn id="8" presetID="10" presetClass="entr" presetSubtype="0" fill="hold" nodeType="withEffect">
                                  <p:stCondLst>
                                    <p:cond delay="10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500"/>
                                        <p:tgtEl>
                                          <p:spTgt spid="4"/>
                                        </p:tgtEl>
                                      </p:cBhvr>
                                    </p:animEffect>
                                  </p:childTnLst>
                                </p:cTn>
                              </p:par>
                              <p:par>
                                <p:cTn id="11" presetID="10" presetClass="entr" presetSubtype="0" fill="hold" nodeType="withEffect">
                                  <p:stCondLst>
                                    <p:cond delay="17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500"/>
                                        <p:tgtEl>
                                          <p:spTgt spid="6"/>
                                        </p:tgtEl>
                                      </p:cBhvr>
                                    </p:animEffect>
                                  </p:childTnLst>
                                </p:cTn>
                              </p:par>
                              <p:par>
                                <p:cTn id="14" presetID="10" presetClass="entr" presetSubtype="0" fill="hold" nodeType="withEffect">
                                  <p:stCondLst>
                                    <p:cond delay="25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500"/>
                                        <p:tgtEl>
                                          <p:spTgt spid="8"/>
                                        </p:tgtEl>
                                      </p:cBhvr>
                                    </p:animEffect>
                                  </p:childTnLst>
                                </p:cTn>
                              </p:par>
                              <p:par>
                                <p:cTn id="17" presetID="10" presetClass="entr" presetSubtype="0" fill="hold" nodeType="withEffect">
                                  <p:stCondLst>
                                    <p:cond delay="325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500"/>
                                        <p:tgtEl>
                                          <p:spTgt spid="9"/>
                                        </p:tgtEl>
                                      </p:cBhvr>
                                    </p:animEffect>
                                  </p:childTnLst>
                                </p:cTn>
                              </p:par>
                              <p:par>
                                <p:cTn id="20" presetID="10" presetClass="entr" presetSubtype="0" fill="hold" nodeType="withEffect">
                                  <p:stCondLst>
                                    <p:cond delay="40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564078"/>
            <a:ext cx="10058400" cy="533400"/>
          </a:xfrm>
        </p:spPr>
        <p:txBody>
          <a:bodyPr anchor="ct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ubtitle 2"/>
          <p:cNvSpPr>
            <a:spLocks noGrp="1"/>
          </p:cNvSpPr>
          <p:nvPr>
            <p:ph type="subTitle" idx="10"/>
          </p:nvPr>
        </p:nvSpPr>
        <p:spPr>
          <a:xfrm>
            <a:off x="508000" y="152400"/>
            <a:ext cx="3556000" cy="22860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sp>
        <p:nvSpPr>
          <p:cNvPr id="5" name="Slide Number Placeholder 5">
            <a:extLst>
              <a:ext uri="{FF2B5EF4-FFF2-40B4-BE49-F238E27FC236}">
                <a16:creationId xmlns:a16="http://schemas.microsoft.com/office/drawing/2014/main" id="{4DFB4106-AFAF-4C3F-96BE-EEC27417FA4F}"/>
              </a:ext>
            </a:extLst>
          </p:cNvPr>
          <p:cNvSpPr>
            <a:spLocks noGrp="1"/>
          </p:cNvSpPr>
          <p:nvPr>
            <p:ph type="sldNum" sz="quarter" idx="12"/>
          </p:nvPr>
        </p:nvSpPr>
        <p:spPr>
          <a:xfrm>
            <a:off x="7905136" y="6511060"/>
            <a:ext cx="3677264" cy="304412"/>
          </a:xfrm>
        </p:spPr>
        <p:txBody>
          <a:bodyPr/>
          <a:lstStyle>
            <a:lvl1pPr marL="0" marR="0" indent="0" algn="r" defTabSz="457200"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2729608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457200"/>
            <a:ext cx="10058400" cy="533400"/>
          </a:xfrm>
        </p:spPr>
        <p:txBody>
          <a:bodyPr anchor="ct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2">
                    <a:lumMod val="65000"/>
                    <a:lumOff val="35000"/>
                  </a:schemeClr>
                </a:solidFill>
              </a:defRPr>
            </a:lvl1pPr>
            <a:lvl2pPr>
              <a:defRPr>
                <a:solidFill>
                  <a:schemeClr val="tx2">
                    <a:lumMod val="65000"/>
                    <a:lumOff val="35000"/>
                  </a:schemeClr>
                </a:solidFill>
              </a:defRPr>
            </a:lvl2pPr>
            <a:lvl3pPr>
              <a:defRPr>
                <a:solidFill>
                  <a:schemeClr val="tx2">
                    <a:lumMod val="65000"/>
                    <a:lumOff val="35000"/>
                  </a:schemeClr>
                </a:solidFill>
              </a:defRPr>
            </a:lvl3pPr>
            <a:lvl4pPr>
              <a:defRPr>
                <a:solidFill>
                  <a:schemeClr val="tx2">
                    <a:lumMod val="65000"/>
                    <a:lumOff val="35000"/>
                  </a:schemeClr>
                </a:solidFill>
              </a:defRPr>
            </a:lvl4pPr>
            <a:lvl5pPr>
              <a:defRPr>
                <a:solidFill>
                  <a:schemeClr val="tx2">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2"/>
          <p:cNvSpPr>
            <a:spLocks noGrp="1"/>
          </p:cNvSpPr>
          <p:nvPr>
            <p:ph type="subTitle" idx="10"/>
          </p:nvPr>
        </p:nvSpPr>
        <p:spPr>
          <a:xfrm>
            <a:off x="508000" y="152400"/>
            <a:ext cx="3556000" cy="22860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B6452E12-8942-4E20-BAB3-AECBD9FCC915}"/>
              </a:ext>
            </a:extLst>
          </p:cNvPr>
          <p:cNvSpPr txBox="1">
            <a:spLocks/>
          </p:cNvSpPr>
          <p:nvPr userDrawn="1"/>
        </p:nvSpPr>
        <p:spPr>
          <a:xfrm>
            <a:off x="7905136" y="6511060"/>
            <a:ext cx="3677264" cy="304412"/>
          </a:xfrm>
          <a:prstGeom prst="rect">
            <a:avLst/>
          </a:prstGeom>
        </p:spPr>
        <p:txBody>
          <a:bodyPr vert="horz" lIns="0" tIns="0" rIns="0" bIns="0" rtlCol="0" anchor="ctr"/>
          <a:lstStyle>
            <a:defPPr>
              <a:defRPr lang="nl-NL"/>
            </a:defPPr>
            <a:lvl1pPr marL="0" marR="0" indent="0" algn="r" defTabSz="457200" rtl="0" eaLnBrk="1" fontAlgn="auto" latinLnBrk="0" hangingPunct="1">
              <a:lnSpc>
                <a:spcPct val="100000"/>
              </a:lnSpc>
              <a:spcBef>
                <a:spcPts val="0"/>
              </a:spcBef>
              <a:spcAft>
                <a:spcPts val="0"/>
              </a:spcAft>
              <a:buClrTx/>
              <a:buSzTx/>
              <a:buFontTx/>
              <a:buNone/>
              <a:tabLst/>
              <a:defRPr sz="900" kern="1200">
                <a:solidFill>
                  <a:srgbClr val="808080"/>
                </a:solidFill>
                <a:latin typeface="Arial Narrow"/>
                <a:ea typeface="+mn-ea"/>
                <a:cs typeface="Arial Narrow"/>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774996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569916"/>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dirty="0">
              <a:solidFill>
                <a:prstClr val="white"/>
              </a:solidFill>
            </a:endParaRPr>
          </a:p>
        </p:txBody>
      </p:sp>
      <p:sp>
        <p:nvSpPr>
          <p:cNvPr id="2" name="Title Placeholder 1"/>
          <p:cNvSpPr>
            <a:spLocks noGrp="1"/>
          </p:cNvSpPr>
          <p:nvPr>
            <p:ph type="title"/>
          </p:nvPr>
        </p:nvSpPr>
        <p:spPr>
          <a:xfrm>
            <a:off x="609600" y="569916"/>
            <a:ext cx="10972800" cy="538500"/>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1"/>
            <a:ext cx="10972800" cy="425156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606647" y="6511060"/>
            <a:ext cx="2743200" cy="304412"/>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defRPr>
            </a:lvl1pPr>
          </a:lstStyle>
          <a:p>
            <a:pPr defTabSz="457200"/>
            <a:endParaRPr lang="en-US" dirty="0">
              <a:solidFill>
                <a:prstClr val="black">
                  <a:tint val="75000"/>
                </a:prstClr>
              </a:solidFill>
            </a:endParaRPr>
          </a:p>
        </p:txBody>
      </p:sp>
      <p:sp>
        <p:nvSpPr>
          <p:cNvPr id="5" name="Footer Placeholder 4"/>
          <p:cNvSpPr>
            <a:spLocks noGrp="1"/>
          </p:cNvSpPr>
          <p:nvPr>
            <p:ph type="ftr" sz="quarter" idx="3"/>
          </p:nvPr>
        </p:nvSpPr>
        <p:spPr>
          <a:xfrm>
            <a:off x="4021531" y="6511060"/>
            <a:ext cx="4114800" cy="304412"/>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defRPr>
            </a:lvl1pPr>
          </a:lstStyle>
          <a:p>
            <a:pPr defTabSz="457200"/>
            <a:endParaRPr lang="en-US" dirty="0">
              <a:solidFill>
                <a:prstClr val="black">
                  <a:tint val="75000"/>
                </a:prstClr>
              </a:solidFill>
            </a:endParaRPr>
          </a:p>
        </p:txBody>
      </p:sp>
      <p:sp>
        <p:nvSpPr>
          <p:cNvPr id="6" name="Slide Number Placeholder 5"/>
          <p:cNvSpPr>
            <a:spLocks noGrp="1"/>
          </p:cNvSpPr>
          <p:nvPr>
            <p:ph type="sldNum" sz="quarter" idx="4"/>
          </p:nvPr>
        </p:nvSpPr>
        <p:spPr>
          <a:xfrm>
            <a:off x="8808016" y="6511060"/>
            <a:ext cx="2774384" cy="304412"/>
          </a:xfrm>
          <a:prstGeom prst="rect">
            <a:avLst/>
          </a:prstGeom>
        </p:spPr>
        <p:txBody>
          <a:bodyPr vert="horz" lIns="0" tIns="0" rIns="0" bIns="0" rtlCol="0" anchor="ctr"/>
          <a:lstStyle>
            <a:lvl1pPr algn="ctr">
              <a:defRPr sz="900">
                <a:solidFill>
                  <a:srgbClr val="808080"/>
                </a:solidFill>
                <a:latin typeface="Arial Narrow"/>
                <a:cs typeface="Arial Narrow"/>
              </a:defRPr>
            </a:lvl1pPr>
          </a:lstStyle>
          <a:p>
            <a:pPr algn="r" defTabSz="457200"/>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defTabSz="457200"/>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508000" y="6429637"/>
            <a:ext cx="11684000" cy="46038"/>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200"/>
            <a:endParaRPr lang="en-US" sz="1800" dirty="0">
              <a:solidFill>
                <a:prstClr val="black"/>
              </a:solidFill>
            </a:endParaRPr>
          </a:p>
        </p:txBody>
      </p:sp>
      <p:pic>
        <p:nvPicPr>
          <p:cNvPr id="11" name="Picture 10" descr="IAASB Logo with FullNam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161916" y="178653"/>
            <a:ext cx="1746545" cy="313929"/>
          </a:xfrm>
          <a:prstGeom prst="rect">
            <a:avLst/>
          </a:prstGeom>
        </p:spPr>
      </p:pic>
    </p:spTree>
    <p:extLst>
      <p:ext uri="{BB962C8B-B14F-4D97-AF65-F5344CB8AC3E}">
        <p14:creationId xmlns:p14="http://schemas.microsoft.com/office/powerpoint/2010/main" val="37963745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457200" rtl="0" eaLnBrk="1" latinLnBrk="0" hangingPunct="1">
        <a:spcBef>
          <a:spcPct val="0"/>
        </a:spcBef>
        <a:buNone/>
        <a:defRPr sz="2400" kern="1200">
          <a:solidFill>
            <a:schemeClr val="bg1"/>
          </a:solidFill>
          <a:latin typeface="Arial" panose="020B0604020202020204" pitchFamily="34" charset="0"/>
          <a:ea typeface="+mj-ea"/>
          <a:cs typeface="Arial" panose="020B0604020202020204" pitchFamily="34" charset="0"/>
        </a:defRPr>
      </a:lvl1pPr>
    </p:titleStyle>
    <p:bodyStyle>
      <a:lvl1pPr marL="173038" indent="-173038" algn="l" defTabSz="457200"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4pPr>
      <a:lvl5pPr marL="20574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14401" y="3424964"/>
            <a:ext cx="10524509" cy="1870049"/>
          </a:xfrm>
        </p:spPr>
        <p:txBody>
          <a:bodyPr>
            <a:normAutofit/>
          </a:bodyPr>
          <a:lstStyle/>
          <a:p>
            <a:r>
              <a:rPr lang="en-GB" sz="2800" b="1" dirty="0"/>
              <a:t>N</a:t>
            </a:r>
            <a:r>
              <a:rPr lang="en-US" sz="2800" b="1" dirty="0"/>
              <a:t>on-authoritative EER assurance guidance</a:t>
            </a:r>
            <a:r>
              <a:rPr lang="en-US" sz="2800" dirty="0"/>
              <a:t>: </a:t>
            </a:r>
            <a:br>
              <a:rPr lang="en-US" sz="2800" dirty="0"/>
            </a:br>
            <a:r>
              <a:rPr lang="en-US" sz="2800" i="1" dirty="0"/>
              <a:t>Special Considerations in Performing Assurance Engagements on Extended External Reporting </a:t>
            </a:r>
            <a:endParaRPr lang="en-US" sz="2800" dirty="0"/>
          </a:p>
        </p:txBody>
      </p:sp>
      <p:sp>
        <p:nvSpPr>
          <p:cNvPr id="3" name="Subtitle 2">
            <a:extLst>
              <a:ext uri="{FF2B5EF4-FFF2-40B4-BE49-F238E27FC236}">
                <a16:creationId xmlns:a16="http://schemas.microsoft.com/office/drawing/2014/main" id="{059798CF-04D5-4809-86A7-C2BE240E0318}"/>
              </a:ext>
            </a:extLst>
          </p:cNvPr>
          <p:cNvSpPr>
            <a:spLocks noGrp="1"/>
          </p:cNvSpPr>
          <p:nvPr>
            <p:ph type="subTitle" idx="1"/>
          </p:nvPr>
        </p:nvSpPr>
        <p:spPr>
          <a:xfrm>
            <a:off x="914401" y="5050368"/>
            <a:ext cx="6310489" cy="1225964"/>
          </a:xfrm>
        </p:spPr>
        <p:txBody>
          <a:bodyPr/>
          <a:lstStyle/>
          <a:p>
            <a:pPr>
              <a:lnSpc>
                <a:spcPct val="114000"/>
              </a:lnSpc>
            </a:pPr>
            <a:r>
              <a:rPr lang="en-GB" dirty="0"/>
              <a:t>Marek Grabowski, EER Task Force Chair &amp; IAASB Member</a:t>
            </a:r>
            <a:br>
              <a:rPr lang="en-GB" dirty="0"/>
            </a:br>
            <a:r>
              <a:rPr lang="en-GB" dirty="0"/>
              <a:t>IAASB Meeting – New York, USA</a:t>
            </a:r>
            <a:br>
              <a:rPr lang="en-GB" dirty="0"/>
            </a:br>
            <a:r>
              <a:rPr lang="en-GB" dirty="0"/>
              <a:t>Agenda Item 5</a:t>
            </a:r>
            <a:br>
              <a:rPr lang="en-GB" dirty="0">
                <a:highlight>
                  <a:srgbClr val="FFFF00"/>
                </a:highlight>
              </a:rPr>
            </a:br>
            <a:r>
              <a:rPr lang="en-GB" dirty="0"/>
              <a:t>December 13</a:t>
            </a:r>
            <a:r>
              <a:rPr lang="en-GB" baseline="30000" dirty="0"/>
              <a:t>th</a:t>
            </a:r>
            <a:r>
              <a:rPr lang="en-GB" dirty="0"/>
              <a:t>, 2019</a:t>
            </a:r>
          </a:p>
        </p:txBody>
      </p:sp>
    </p:spTree>
    <p:extLst>
      <p:ext uri="{BB962C8B-B14F-4D97-AF65-F5344CB8AC3E}">
        <p14:creationId xmlns:p14="http://schemas.microsoft.com/office/powerpoint/2010/main" val="2804668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961AD-E785-4F27-9DF1-9EEFB229ECC8}"/>
              </a:ext>
            </a:extLst>
          </p:cNvPr>
          <p:cNvSpPr>
            <a:spLocks noGrp="1"/>
          </p:cNvSpPr>
          <p:nvPr>
            <p:ph type="title"/>
          </p:nvPr>
        </p:nvSpPr>
        <p:spPr/>
        <p:txBody>
          <a:bodyPr/>
          <a:lstStyle/>
          <a:p>
            <a:r>
              <a:rPr lang="en-GB" dirty="0"/>
              <a:t>What We Heard and What We’ve Done: General Comments and Chapter 1</a:t>
            </a:r>
            <a:endParaRPr lang="en-US" dirty="0"/>
          </a:p>
        </p:txBody>
      </p:sp>
      <p:sp>
        <p:nvSpPr>
          <p:cNvPr id="3" name="Content Placeholder 2">
            <a:extLst>
              <a:ext uri="{FF2B5EF4-FFF2-40B4-BE49-F238E27FC236}">
                <a16:creationId xmlns:a16="http://schemas.microsoft.com/office/drawing/2014/main" id="{B1EE7336-6755-423A-85FC-F13075810343}"/>
              </a:ext>
            </a:extLst>
          </p:cNvPr>
          <p:cNvSpPr>
            <a:spLocks noGrp="1"/>
          </p:cNvSpPr>
          <p:nvPr>
            <p:ph sz="half" idx="1"/>
          </p:nvPr>
        </p:nvSpPr>
        <p:spPr>
          <a:xfrm>
            <a:off x="609600" y="1166018"/>
            <a:ext cx="5384800" cy="4525963"/>
          </a:xfrm>
        </p:spPr>
        <p:txBody>
          <a:bodyPr/>
          <a:lstStyle/>
          <a:p>
            <a:pPr lvl="0"/>
            <a:r>
              <a:rPr lang="en-NZ" sz="1800" dirty="0"/>
              <a:t>Easier to read</a:t>
            </a:r>
            <a:r>
              <a:rPr lang="en-US" sz="1800" dirty="0"/>
              <a:t> and </a:t>
            </a:r>
            <a:r>
              <a:rPr lang="en-NZ" sz="1800" dirty="0"/>
              <a:t>useful guidance</a:t>
            </a:r>
            <a:endParaRPr lang="en-US" sz="1800" dirty="0"/>
          </a:p>
          <a:p>
            <a:pPr lvl="0"/>
            <a:r>
              <a:rPr lang="en-NZ" sz="1800" dirty="0"/>
              <a:t>Long, so a good candidate for a technology solution, including hyperlinking</a:t>
            </a:r>
            <a:endParaRPr lang="en-US" sz="1800" dirty="0"/>
          </a:p>
          <a:p>
            <a:r>
              <a:rPr lang="en-NZ" sz="1800" dirty="0"/>
              <a:t>Legend not easy to use</a:t>
            </a:r>
          </a:p>
          <a:p>
            <a:endParaRPr lang="en-NZ" sz="1800" dirty="0"/>
          </a:p>
        </p:txBody>
      </p:sp>
      <p:sp>
        <p:nvSpPr>
          <p:cNvPr id="4" name="Content Placeholder 3">
            <a:extLst>
              <a:ext uri="{FF2B5EF4-FFF2-40B4-BE49-F238E27FC236}">
                <a16:creationId xmlns:a16="http://schemas.microsoft.com/office/drawing/2014/main" id="{35EBC5FB-6C70-48FD-998B-2E0056DF4010}"/>
              </a:ext>
            </a:extLst>
          </p:cNvPr>
          <p:cNvSpPr>
            <a:spLocks noGrp="1"/>
          </p:cNvSpPr>
          <p:nvPr>
            <p:ph sz="half" idx="2"/>
          </p:nvPr>
        </p:nvSpPr>
        <p:spPr>
          <a:xfrm>
            <a:off x="6197600" y="1108416"/>
            <a:ext cx="5384800" cy="5389031"/>
          </a:xfrm>
        </p:spPr>
        <p:txBody>
          <a:bodyPr/>
          <a:lstStyle/>
          <a:p>
            <a:pPr lvl="0"/>
            <a:r>
              <a:rPr lang="en-NZ" sz="1800" dirty="0"/>
              <a:t>Sought to reduce duplication within a chapter</a:t>
            </a:r>
            <a:r>
              <a:rPr lang="en-US" sz="1800" dirty="0"/>
              <a:t>; s</a:t>
            </a:r>
            <a:r>
              <a:rPr lang="en-NZ" sz="1800" dirty="0"/>
              <a:t>ome duplication between chapters remains as guidance intended to be used as a reference source in applying the Standard, rather than a ‘cover to cover’ read, so useful</a:t>
            </a:r>
            <a:endParaRPr lang="en-US" sz="1800" dirty="0"/>
          </a:p>
          <a:p>
            <a:pPr lvl="0"/>
            <a:r>
              <a:rPr lang="en-NZ" sz="1800" dirty="0"/>
              <a:t>Chapter 1 now introduction (consequent updates needed to number chapters in post approval alignment)</a:t>
            </a:r>
            <a:endParaRPr lang="en-US" sz="1800" dirty="0"/>
          </a:p>
          <a:p>
            <a:r>
              <a:rPr lang="en-NZ" sz="1800" dirty="0"/>
              <a:t>Technology aspects to be addressed in EM and questions</a:t>
            </a:r>
          </a:p>
          <a:p>
            <a:pPr lvl="0"/>
            <a:r>
              <a:rPr lang="en-NZ" sz="1800" dirty="0"/>
              <a:t>Removed legend, replaced with simple paragraph on cross referencing, using examples rather than the table</a:t>
            </a:r>
            <a:r>
              <a:rPr lang="en-US" sz="1800" dirty="0"/>
              <a:t>. </a:t>
            </a:r>
          </a:p>
          <a:p>
            <a:pPr lvl="0"/>
            <a:r>
              <a:rPr lang="en-NZ" sz="1800" dirty="0"/>
              <a:t>Moved icons to chapter 3 on PS/PJ and clarified that used only in examples and that many other parts of guidance explain when exercise of PS/PJ may be important</a:t>
            </a:r>
            <a:endParaRPr lang="en-US" sz="1800" dirty="0"/>
          </a:p>
          <a:p>
            <a:endParaRPr lang="en-US" dirty="0"/>
          </a:p>
        </p:txBody>
      </p:sp>
      <p:sp>
        <p:nvSpPr>
          <p:cNvPr id="5" name="Slide Number Placeholder 4">
            <a:extLst>
              <a:ext uri="{FF2B5EF4-FFF2-40B4-BE49-F238E27FC236}">
                <a16:creationId xmlns:a16="http://schemas.microsoft.com/office/drawing/2014/main" id="{C2385373-CFEF-44F5-854D-7DE683E919CE}"/>
              </a:ext>
            </a:extLst>
          </p:cNvPr>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4290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961AD-E785-4F27-9DF1-9EEFB229ECC8}"/>
              </a:ext>
            </a:extLst>
          </p:cNvPr>
          <p:cNvSpPr>
            <a:spLocks noGrp="1"/>
          </p:cNvSpPr>
          <p:nvPr>
            <p:ph type="title"/>
          </p:nvPr>
        </p:nvSpPr>
        <p:spPr/>
        <p:txBody>
          <a:bodyPr/>
          <a:lstStyle/>
          <a:p>
            <a:r>
              <a:rPr lang="en-GB" sz="2000" dirty="0"/>
              <a:t>What We Heard and What We’ve Done: General Comments and Chapter 1 (cont)</a:t>
            </a:r>
            <a:endParaRPr lang="en-US" sz="2000" dirty="0"/>
          </a:p>
        </p:txBody>
      </p:sp>
      <p:sp>
        <p:nvSpPr>
          <p:cNvPr id="3" name="Content Placeholder 2">
            <a:extLst>
              <a:ext uri="{FF2B5EF4-FFF2-40B4-BE49-F238E27FC236}">
                <a16:creationId xmlns:a16="http://schemas.microsoft.com/office/drawing/2014/main" id="{B1EE7336-6755-423A-85FC-F13075810343}"/>
              </a:ext>
            </a:extLst>
          </p:cNvPr>
          <p:cNvSpPr>
            <a:spLocks noGrp="1"/>
          </p:cNvSpPr>
          <p:nvPr>
            <p:ph sz="half" idx="1"/>
          </p:nvPr>
        </p:nvSpPr>
        <p:spPr>
          <a:xfrm>
            <a:off x="609600" y="1166018"/>
            <a:ext cx="5384800" cy="4525963"/>
          </a:xfrm>
        </p:spPr>
        <p:txBody>
          <a:bodyPr/>
          <a:lstStyle/>
          <a:p>
            <a:r>
              <a:rPr lang="en-NZ" sz="1800" dirty="0"/>
              <a:t>Clarify ISAE 3000 (Revised) is the authoritative material, and that Guidance is a reference tool</a:t>
            </a:r>
          </a:p>
          <a:p>
            <a:r>
              <a:rPr lang="en-NZ" sz="1800" dirty="0"/>
              <a:t>Add in introduction how to use guidance</a:t>
            </a:r>
          </a:p>
          <a:p>
            <a:r>
              <a:rPr lang="en-NZ" sz="1800" dirty="0"/>
              <a:t>Separate first chapter as an Introduction; possibly split Guidance into part 1 and part 2</a:t>
            </a:r>
          </a:p>
          <a:p>
            <a:r>
              <a:rPr lang="en-NZ" sz="1800" dirty="0"/>
              <a:t>Complex subject matter – important to describe in layman’s terms difference between assurance, audit and what practitioner does so public understands credibility added</a:t>
            </a:r>
          </a:p>
          <a:p>
            <a:r>
              <a:rPr lang="en-NZ" sz="1800" dirty="0"/>
              <a:t>Question raised about interconnectedness with Supplements</a:t>
            </a:r>
          </a:p>
          <a:p>
            <a:endParaRPr lang="en-US" sz="1800" dirty="0"/>
          </a:p>
        </p:txBody>
      </p:sp>
      <p:sp>
        <p:nvSpPr>
          <p:cNvPr id="4" name="Content Placeholder 3">
            <a:extLst>
              <a:ext uri="{FF2B5EF4-FFF2-40B4-BE49-F238E27FC236}">
                <a16:creationId xmlns:a16="http://schemas.microsoft.com/office/drawing/2014/main" id="{35EBC5FB-6C70-48FD-998B-2E0056DF4010}"/>
              </a:ext>
            </a:extLst>
          </p:cNvPr>
          <p:cNvSpPr>
            <a:spLocks noGrp="1"/>
          </p:cNvSpPr>
          <p:nvPr>
            <p:ph sz="half" idx="2"/>
          </p:nvPr>
        </p:nvSpPr>
        <p:spPr>
          <a:xfrm>
            <a:off x="6197600" y="1108416"/>
            <a:ext cx="5384800" cy="5389031"/>
          </a:xfrm>
        </p:spPr>
        <p:txBody>
          <a:bodyPr/>
          <a:lstStyle/>
          <a:p>
            <a:pPr lvl="0"/>
            <a:r>
              <a:rPr lang="en-NZ" sz="1600" dirty="0"/>
              <a:t>Updates to emphasise that (para 9C1) Standard is the authoritative source; Guidance is non-authoritative and is not required to be used</a:t>
            </a:r>
            <a:r>
              <a:rPr lang="en-US" sz="1600" dirty="0"/>
              <a:t>; not </a:t>
            </a:r>
            <a:r>
              <a:rPr lang="en-NZ" sz="1600" dirty="0"/>
              <a:t>intended as a text to be read from cover to cover, but a useful reference source in applying particular requirements of the Standard</a:t>
            </a:r>
          </a:p>
          <a:p>
            <a:r>
              <a:rPr lang="en-NZ" sz="1600" dirty="0"/>
              <a:t>To ask question about splitting into parts in ED</a:t>
            </a:r>
            <a:endParaRPr lang="en-US" sz="1600" dirty="0"/>
          </a:p>
          <a:p>
            <a:r>
              <a:rPr lang="en-NZ" sz="1600" dirty="0"/>
              <a:t>To address complexity in presentation (e.g. ‘At a Glance’ or other outreach support) to enable non-practitioner stakeholders to engage with the issues and respond to the ED</a:t>
            </a:r>
          </a:p>
          <a:p>
            <a:pPr lvl="0"/>
            <a:r>
              <a:rPr lang="en-NZ" sz="1600" dirty="0"/>
              <a:t>Proposal to retain links generally supported, based on discussion in EER session (10 Dec), and explanation that process would:</a:t>
            </a:r>
            <a:r>
              <a:rPr lang="en-US" sz="1600" dirty="0"/>
              <a:t> allow </a:t>
            </a:r>
            <a:r>
              <a:rPr lang="en-NZ" sz="1600" dirty="0"/>
              <a:t>for Board member written comments by second week of January 2020, and Supplements would come back to the Board for ‘no objection’</a:t>
            </a:r>
          </a:p>
          <a:p>
            <a:pPr lvl="0"/>
            <a:r>
              <a:rPr lang="en-NZ" sz="1600" dirty="0"/>
              <a:t>Once Supplements finalised, references to be amended to align with final versions of the Supplements; rest of Guidance is ‘closed text’</a:t>
            </a:r>
            <a:endParaRPr lang="en-US" sz="1600" dirty="0"/>
          </a:p>
        </p:txBody>
      </p:sp>
      <p:sp>
        <p:nvSpPr>
          <p:cNvPr id="5" name="Slide Number Placeholder 4">
            <a:extLst>
              <a:ext uri="{FF2B5EF4-FFF2-40B4-BE49-F238E27FC236}">
                <a16:creationId xmlns:a16="http://schemas.microsoft.com/office/drawing/2014/main" id="{C2385373-CFEF-44F5-854D-7DE683E919CE}"/>
              </a:ext>
            </a:extLst>
          </p:cNvPr>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00022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961AD-E785-4F27-9DF1-9EEFB229ECC8}"/>
              </a:ext>
            </a:extLst>
          </p:cNvPr>
          <p:cNvSpPr>
            <a:spLocks noGrp="1"/>
          </p:cNvSpPr>
          <p:nvPr>
            <p:ph type="title"/>
          </p:nvPr>
        </p:nvSpPr>
        <p:spPr/>
        <p:txBody>
          <a:bodyPr/>
          <a:lstStyle/>
          <a:p>
            <a:r>
              <a:rPr lang="en-GB" dirty="0"/>
              <a:t>What We Heard and What We’ve Done: Chapters 2, 3, 4</a:t>
            </a:r>
            <a:endParaRPr lang="en-US" dirty="0"/>
          </a:p>
        </p:txBody>
      </p:sp>
      <p:sp>
        <p:nvSpPr>
          <p:cNvPr id="3" name="Content Placeholder 2">
            <a:extLst>
              <a:ext uri="{FF2B5EF4-FFF2-40B4-BE49-F238E27FC236}">
                <a16:creationId xmlns:a16="http://schemas.microsoft.com/office/drawing/2014/main" id="{B1EE7336-6755-423A-85FC-F13075810343}"/>
              </a:ext>
            </a:extLst>
          </p:cNvPr>
          <p:cNvSpPr>
            <a:spLocks noGrp="1"/>
          </p:cNvSpPr>
          <p:nvPr>
            <p:ph sz="half" idx="1"/>
          </p:nvPr>
        </p:nvSpPr>
        <p:spPr>
          <a:xfrm>
            <a:off x="609600" y="1166018"/>
            <a:ext cx="5384800" cy="4525963"/>
          </a:xfrm>
        </p:spPr>
        <p:txBody>
          <a:bodyPr/>
          <a:lstStyle/>
          <a:p>
            <a:r>
              <a:rPr lang="en-NZ" sz="1800" dirty="0"/>
              <a:t>Differing views on ‘umbrella’ diagram</a:t>
            </a:r>
          </a:p>
          <a:p>
            <a:r>
              <a:rPr lang="en-NZ" sz="1800" dirty="0"/>
              <a:t>Icons not used much, which could suggest exercise of PS/PJ not needed often</a:t>
            </a:r>
          </a:p>
          <a:p>
            <a:r>
              <a:rPr lang="en-NZ" sz="1800" dirty="0"/>
              <a:t>Engagement partner responsibility – different to the Standard</a:t>
            </a:r>
          </a:p>
          <a:p>
            <a:r>
              <a:rPr lang="en-NZ" sz="1800" dirty="0"/>
              <a:t>Is chapter 2 consistent with s113 in the IESBA Code of Ethics about competence</a:t>
            </a:r>
          </a:p>
          <a:p>
            <a:r>
              <a:rPr lang="en-NZ" sz="1800" dirty="0"/>
              <a:t>Rolling program in chapter 4 – mixed views</a:t>
            </a:r>
          </a:p>
          <a:p>
            <a:r>
              <a:rPr lang="en-NZ" sz="1800" dirty="0"/>
              <a:t>Chapter 4 difficult to read. Consider stripping back and aligning more closely to ISAE 3000 (Revised)</a:t>
            </a:r>
          </a:p>
          <a:p>
            <a:r>
              <a:rPr lang="en-NZ" sz="1800" dirty="0"/>
              <a:t>Where the Standard is referred to, include paragraph references</a:t>
            </a:r>
            <a:endParaRPr lang="en-US" sz="1800" dirty="0"/>
          </a:p>
          <a:p>
            <a:endParaRPr lang="en-US" sz="1800" dirty="0"/>
          </a:p>
        </p:txBody>
      </p:sp>
      <p:sp>
        <p:nvSpPr>
          <p:cNvPr id="4" name="Content Placeholder 3">
            <a:extLst>
              <a:ext uri="{FF2B5EF4-FFF2-40B4-BE49-F238E27FC236}">
                <a16:creationId xmlns:a16="http://schemas.microsoft.com/office/drawing/2014/main" id="{35EBC5FB-6C70-48FD-998B-2E0056DF4010}"/>
              </a:ext>
            </a:extLst>
          </p:cNvPr>
          <p:cNvSpPr>
            <a:spLocks noGrp="1"/>
          </p:cNvSpPr>
          <p:nvPr>
            <p:ph sz="half" idx="2"/>
          </p:nvPr>
        </p:nvSpPr>
        <p:spPr>
          <a:xfrm>
            <a:off x="6197600" y="1108416"/>
            <a:ext cx="5384800" cy="5389031"/>
          </a:xfrm>
        </p:spPr>
        <p:txBody>
          <a:bodyPr/>
          <a:lstStyle/>
          <a:p>
            <a:pPr lvl="0"/>
            <a:r>
              <a:rPr lang="en-NZ" sz="1600" dirty="0"/>
              <a:t>Ask about (all) diagrams on exposure</a:t>
            </a:r>
          </a:p>
          <a:p>
            <a:pPr lvl="0"/>
            <a:r>
              <a:rPr lang="en-US" sz="1600" dirty="0"/>
              <a:t>Icons addressed in Chapter 3 as noted on earlier slide</a:t>
            </a:r>
          </a:p>
          <a:p>
            <a:pPr lvl="0"/>
            <a:r>
              <a:rPr lang="en-NZ" sz="1600" dirty="0"/>
              <a:t>Guidance updated in paragraph 101 to clarify that the guidance is in the context of the competence of the engagement partner; reference to para 33 of the Standard added (only 2 other points that do not relate directly to competence)</a:t>
            </a:r>
          </a:p>
          <a:p>
            <a:pPr lvl="0"/>
            <a:r>
              <a:rPr lang="en-NZ" sz="1600" dirty="0"/>
              <a:t>Not intended to align with the Code, but to provide guidance on application of ISAE 3000 (Revised), checked no conflict with section 113 of the Code</a:t>
            </a:r>
          </a:p>
          <a:p>
            <a:pPr lvl="0"/>
            <a:r>
              <a:rPr lang="en-NZ" sz="1600" dirty="0"/>
              <a:t>Guidance on rolling program asked for by practitioners, guidance retained</a:t>
            </a:r>
            <a:r>
              <a:rPr lang="en-US" sz="1600" dirty="0"/>
              <a:t>; ch</a:t>
            </a:r>
            <a:r>
              <a:rPr lang="en-NZ" sz="1600" dirty="0"/>
              <a:t>anges made (G.60) to make the distinction between rolling program and selection of items for testing clearer</a:t>
            </a:r>
          </a:p>
          <a:p>
            <a:r>
              <a:rPr lang="en-NZ" sz="1600" dirty="0"/>
              <a:t>Included additional references where possible; additional references to Standard could be included as part of alignment exercise after document approval</a:t>
            </a:r>
            <a:endParaRPr lang="en-US" sz="1600" dirty="0"/>
          </a:p>
          <a:p>
            <a:pPr lvl="0"/>
            <a:endParaRPr lang="en-US" sz="1800" dirty="0"/>
          </a:p>
        </p:txBody>
      </p:sp>
      <p:sp>
        <p:nvSpPr>
          <p:cNvPr id="5" name="Slide Number Placeholder 4">
            <a:extLst>
              <a:ext uri="{FF2B5EF4-FFF2-40B4-BE49-F238E27FC236}">
                <a16:creationId xmlns:a16="http://schemas.microsoft.com/office/drawing/2014/main" id="{C2385373-CFEF-44F5-854D-7DE683E919CE}"/>
              </a:ext>
            </a:extLst>
          </p:cNvPr>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0150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961AD-E785-4F27-9DF1-9EEFB229ECC8}"/>
              </a:ext>
            </a:extLst>
          </p:cNvPr>
          <p:cNvSpPr>
            <a:spLocks noGrp="1"/>
          </p:cNvSpPr>
          <p:nvPr>
            <p:ph type="title"/>
          </p:nvPr>
        </p:nvSpPr>
        <p:spPr/>
        <p:txBody>
          <a:bodyPr/>
          <a:lstStyle/>
          <a:p>
            <a:r>
              <a:rPr lang="en-GB" dirty="0"/>
              <a:t>What We Heard and What We’ve Done: Chapters 5, 6, 7</a:t>
            </a:r>
            <a:endParaRPr lang="en-US" dirty="0"/>
          </a:p>
        </p:txBody>
      </p:sp>
      <p:sp>
        <p:nvSpPr>
          <p:cNvPr id="3" name="Content Placeholder 2">
            <a:extLst>
              <a:ext uri="{FF2B5EF4-FFF2-40B4-BE49-F238E27FC236}">
                <a16:creationId xmlns:a16="http://schemas.microsoft.com/office/drawing/2014/main" id="{B1EE7336-6755-423A-85FC-F13075810343}"/>
              </a:ext>
            </a:extLst>
          </p:cNvPr>
          <p:cNvSpPr>
            <a:spLocks noGrp="1"/>
          </p:cNvSpPr>
          <p:nvPr>
            <p:ph sz="half" idx="1"/>
          </p:nvPr>
        </p:nvSpPr>
        <p:spPr/>
        <p:txBody>
          <a:bodyPr/>
          <a:lstStyle/>
          <a:p>
            <a:r>
              <a:rPr lang="en-NZ" sz="1800" dirty="0"/>
              <a:t>Chapter 5 on suitability of criteria – can it be explained how framework criteria and entity-developed criteria differ?</a:t>
            </a:r>
            <a:endParaRPr lang="en-US" sz="1800" dirty="0"/>
          </a:p>
          <a:p>
            <a:r>
              <a:rPr lang="en-US" sz="1800" dirty="0"/>
              <a:t>Diagram in Chapter 6 is inconsistent with COSO pyramid</a:t>
            </a:r>
          </a:p>
          <a:p>
            <a:endParaRPr lang="en-US" dirty="0"/>
          </a:p>
        </p:txBody>
      </p:sp>
      <p:sp>
        <p:nvSpPr>
          <p:cNvPr id="4" name="Content Placeholder 3">
            <a:extLst>
              <a:ext uri="{FF2B5EF4-FFF2-40B4-BE49-F238E27FC236}">
                <a16:creationId xmlns:a16="http://schemas.microsoft.com/office/drawing/2014/main" id="{35EBC5FB-6C70-48FD-998B-2E0056DF4010}"/>
              </a:ext>
            </a:extLst>
          </p:cNvPr>
          <p:cNvSpPr>
            <a:spLocks noGrp="1"/>
          </p:cNvSpPr>
          <p:nvPr>
            <p:ph sz="half" idx="2"/>
          </p:nvPr>
        </p:nvSpPr>
        <p:spPr/>
        <p:txBody>
          <a:bodyPr/>
          <a:lstStyle/>
          <a:p>
            <a:pPr lvl="0"/>
            <a:r>
              <a:rPr lang="en-NZ" sz="1800" dirty="0"/>
              <a:t>Guidance in Chapter 5 further clarified that there are 3 possible approaches (and example in 11 updated to align with this):</a:t>
            </a:r>
            <a:endParaRPr lang="en-US" sz="1800" dirty="0"/>
          </a:p>
          <a:p>
            <a:pPr lvl="1"/>
            <a:r>
              <a:rPr lang="en-NZ" dirty="0"/>
              <a:t>Framework criteria that are suitable to be applied ‘as is’</a:t>
            </a:r>
            <a:endParaRPr lang="en-US" dirty="0"/>
          </a:p>
          <a:p>
            <a:pPr lvl="1"/>
            <a:r>
              <a:rPr lang="en-NZ" dirty="0"/>
              <a:t>Framework criteria that are supplemented by the entity, entity developed or selected from other frameworks with or without additional entity development</a:t>
            </a:r>
            <a:endParaRPr lang="en-US" dirty="0"/>
          </a:p>
          <a:p>
            <a:pPr lvl="1"/>
            <a:r>
              <a:rPr lang="en-NZ" dirty="0"/>
              <a:t>Entity-developed criteria </a:t>
            </a:r>
          </a:p>
          <a:p>
            <a:pPr lvl="0"/>
            <a:r>
              <a:rPr lang="en-NZ" sz="1800" dirty="0"/>
              <a:t>Task Force did not intend to replicate COSO diagram and there is no reference to COSO in the Guidance</a:t>
            </a:r>
            <a:r>
              <a:rPr lang="en-US" sz="1800" dirty="0"/>
              <a:t>; to </a:t>
            </a:r>
            <a:r>
              <a:rPr lang="en-NZ" sz="1800" dirty="0"/>
              <a:t>seek feedback on exposure</a:t>
            </a:r>
            <a:endParaRPr lang="en-US" sz="1800" dirty="0"/>
          </a:p>
        </p:txBody>
      </p:sp>
      <p:sp>
        <p:nvSpPr>
          <p:cNvPr id="5" name="Slide Number Placeholder 4">
            <a:extLst>
              <a:ext uri="{FF2B5EF4-FFF2-40B4-BE49-F238E27FC236}">
                <a16:creationId xmlns:a16="http://schemas.microsoft.com/office/drawing/2014/main" id="{C2385373-CFEF-44F5-854D-7DE683E919CE}"/>
              </a:ext>
            </a:extLst>
          </p:cNvPr>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82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961AD-E785-4F27-9DF1-9EEFB229ECC8}"/>
              </a:ext>
            </a:extLst>
          </p:cNvPr>
          <p:cNvSpPr>
            <a:spLocks noGrp="1"/>
          </p:cNvSpPr>
          <p:nvPr>
            <p:ph type="title"/>
          </p:nvPr>
        </p:nvSpPr>
        <p:spPr/>
        <p:txBody>
          <a:bodyPr/>
          <a:lstStyle/>
          <a:p>
            <a:r>
              <a:rPr lang="en-GB" dirty="0"/>
              <a:t>What We Heard and What We’ve Done: Chapters 8, 9, 10</a:t>
            </a:r>
            <a:endParaRPr lang="en-US" dirty="0"/>
          </a:p>
        </p:txBody>
      </p:sp>
      <p:sp>
        <p:nvSpPr>
          <p:cNvPr id="3" name="Content Placeholder 2">
            <a:extLst>
              <a:ext uri="{FF2B5EF4-FFF2-40B4-BE49-F238E27FC236}">
                <a16:creationId xmlns:a16="http://schemas.microsoft.com/office/drawing/2014/main" id="{B1EE7336-6755-423A-85FC-F13075810343}"/>
              </a:ext>
            </a:extLst>
          </p:cNvPr>
          <p:cNvSpPr>
            <a:spLocks noGrp="1"/>
          </p:cNvSpPr>
          <p:nvPr>
            <p:ph sz="half" idx="1"/>
          </p:nvPr>
        </p:nvSpPr>
        <p:spPr/>
        <p:txBody>
          <a:bodyPr/>
          <a:lstStyle/>
          <a:p>
            <a:r>
              <a:rPr lang="en-NZ" sz="1800" dirty="0"/>
              <a:t>Explanation about thought process – ‘considerations’ may be better than ‘thought process’</a:t>
            </a:r>
          </a:p>
          <a:p>
            <a:r>
              <a:rPr lang="en-NZ" sz="1800" dirty="0"/>
              <a:t>Performance materiality Chapter 9 – Don’t say it is not required to determine; does it belong in Chapter 9 or is it better in chapter 10?</a:t>
            </a:r>
          </a:p>
          <a:p>
            <a:r>
              <a:rPr lang="en-NZ" sz="1800" dirty="0"/>
              <a:t>Chapter 10 - to loop back whenever there are misstatements that might affect assessment of the control environment</a:t>
            </a:r>
          </a:p>
          <a:p>
            <a:r>
              <a:rPr lang="en-NZ" sz="1800" dirty="0"/>
              <a:t>Guidance on fraud needed</a:t>
            </a:r>
          </a:p>
          <a:p>
            <a:endParaRPr lang="en-NZ" dirty="0"/>
          </a:p>
          <a:p>
            <a:endParaRPr lang="en-US" dirty="0"/>
          </a:p>
        </p:txBody>
      </p:sp>
      <p:sp>
        <p:nvSpPr>
          <p:cNvPr id="4" name="Content Placeholder 3">
            <a:extLst>
              <a:ext uri="{FF2B5EF4-FFF2-40B4-BE49-F238E27FC236}">
                <a16:creationId xmlns:a16="http://schemas.microsoft.com/office/drawing/2014/main" id="{35EBC5FB-6C70-48FD-998B-2E0056DF4010}"/>
              </a:ext>
            </a:extLst>
          </p:cNvPr>
          <p:cNvSpPr>
            <a:spLocks noGrp="1"/>
          </p:cNvSpPr>
          <p:nvPr>
            <p:ph sz="half" idx="2"/>
          </p:nvPr>
        </p:nvSpPr>
        <p:spPr/>
        <p:txBody>
          <a:bodyPr/>
          <a:lstStyle/>
          <a:p>
            <a:r>
              <a:rPr lang="en-US" sz="1800" dirty="0"/>
              <a:t>Confirmed these are ‘considerations’</a:t>
            </a:r>
          </a:p>
          <a:p>
            <a:pPr lvl="0"/>
            <a:r>
              <a:rPr lang="en-NZ" sz="1800" dirty="0"/>
              <a:t>Included in Chapter 9, rather than Chapter 10 as:</a:t>
            </a:r>
            <a:endParaRPr lang="en-US" sz="1800" dirty="0"/>
          </a:p>
          <a:p>
            <a:pPr lvl="1"/>
            <a:r>
              <a:rPr lang="en-NZ" dirty="0"/>
              <a:t>Is considered in designing and performing procedures (links well to Chapter 9 and the considerations on obtaining evidence)</a:t>
            </a:r>
            <a:endParaRPr lang="en-US" dirty="0"/>
          </a:p>
          <a:p>
            <a:pPr lvl="1"/>
            <a:r>
              <a:rPr lang="en-NZ" dirty="0"/>
              <a:t>Is considered before considering the materiality of misstatements (identified)</a:t>
            </a:r>
            <a:endParaRPr lang="en-US" dirty="0"/>
          </a:p>
          <a:p>
            <a:r>
              <a:rPr lang="en-NZ" sz="1800" dirty="0"/>
              <a:t>Reference included in Chapter 10 to the material in Chapter 9</a:t>
            </a:r>
          </a:p>
          <a:p>
            <a:r>
              <a:rPr lang="en-NZ" sz="1800" dirty="0"/>
              <a:t>Chapter 10 Guidance updated (para 323a -323d) for last two points</a:t>
            </a:r>
          </a:p>
          <a:p>
            <a:endParaRPr lang="en-US" dirty="0"/>
          </a:p>
        </p:txBody>
      </p:sp>
      <p:sp>
        <p:nvSpPr>
          <p:cNvPr id="5" name="Slide Number Placeholder 4">
            <a:extLst>
              <a:ext uri="{FF2B5EF4-FFF2-40B4-BE49-F238E27FC236}">
                <a16:creationId xmlns:a16="http://schemas.microsoft.com/office/drawing/2014/main" id="{C2385373-CFEF-44F5-854D-7DE683E919CE}"/>
              </a:ext>
            </a:extLst>
          </p:cNvPr>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0342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961AD-E785-4F27-9DF1-9EEFB229ECC8}"/>
              </a:ext>
            </a:extLst>
          </p:cNvPr>
          <p:cNvSpPr>
            <a:spLocks noGrp="1"/>
          </p:cNvSpPr>
          <p:nvPr>
            <p:ph type="title"/>
          </p:nvPr>
        </p:nvSpPr>
        <p:spPr/>
        <p:txBody>
          <a:bodyPr/>
          <a:lstStyle/>
          <a:p>
            <a:r>
              <a:rPr lang="en-GB" dirty="0"/>
              <a:t>What We Heard and What We’ve Done: Chapters 11, 12, 13</a:t>
            </a:r>
            <a:endParaRPr lang="en-US" dirty="0"/>
          </a:p>
        </p:txBody>
      </p:sp>
      <p:sp>
        <p:nvSpPr>
          <p:cNvPr id="3" name="Content Placeholder 2">
            <a:extLst>
              <a:ext uri="{FF2B5EF4-FFF2-40B4-BE49-F238E27FC236}">
                <a16:creationId xmlns:a16="http://schemas.microsoft.com/office/drawing/2014/main" id="{B1EE7336-6755-423A-85FC-F13075810343}"/>
              </a:ext>
            </a:extLst>
          </p:cNvPr>
          <p:cNvSpPr>
            <a:spLocks noGrp="1"/>
          </p:cNvSpPr>
          <p:nvPr>
            <p:ph sz="half" idx="1"/>
          </p:nvPr>
        </p:nvSpPr>
        <p:spPr/>
        <p:txBody>
          <a:bodyPr/>
          <a:lstStyle/>
          <a:p>
            <a:r>
              <a:rPr lang="en-NZ" sz="1800" dirty="0"/>
              <a:t>Materiality in 332(e) could be seen as a hidden requirement.  </a:t>
            </a:r>
            <a:endParaRPr lang="en-US" sz="1800" dirty="0"/>
          </a:p>
          <a:p>
            <a:r>
              <a:rPr lang="en-NZ" sz="1800" dirty="0"/>
              <a:t>Paragraph 343: </a:t>
            </a:r>
            <a:r>
              <a:rPr lang="en-NZ" sz="1800" dirty="0" err="1"/>
              <a:t>A160</a:t>
            </a:r>
            <a:r>
              <a:rPr lang="en-NZ" sz="1800" dirty="0"/>
              <a:t> relates to disclosure of materiality. Is the wording used  suitable?</a:t>
            </a:r>
          </a:p>
          <a:p>
            <a:r>
              <a:rPr lang="en-NZ" sz="1800" dirty="0"/>
              <a:t>Page 85: the table is misleading as it could be seen as a conclusion, ‘in accordance with framework’</a:t>
            </a:r>
            <a:endParaRPr lang="en-US" sz="1800" dirty="0"/>
          </a:p>
        </p:txBody>
      </p:sp>
      <p:sp>
        <p:nvSpPr>
          <p:cNvPr id="4" name="Content Placeholder 3">
            <a:extLst>
              <a:ext uri="{FF2B5EF4-FFF2-40B4-BE49-F238E27FC236}">
                <a16:creationId xmlns:a16="http://schemas.microsoft.com/office/drawing/2014/main" id="{35EBC5FB-6C70-48FD-998B-2E0056DF4010}"/>
              </a:ext>
            </a:extLst>
          </p:cNvPr>
          <p:cNvSpPr>
            <a:spLocks noGrp="1"/>
          </p:cNvSpPr>
          <p:nvPr>
            <p:ph sz="half" idx="2"/>
          </p:nvPr>
        </p:nvSpPr>
        <p:spPr/>
        <p:txBody>
          <a:bodyPr/>
          <a:lstStyle/>
          <a:p>
            <a:pPr lvl="0"/>
            <a:r>
              <a:rPr lang="en-NZ" sz="1800" dirty="0"/>
              <a:t>332(e) is not in conflict with ISAE 3000 (Revised); some changes to clarify wording of 332(e) in context of long form reporting</a:t>
            </a:r>
          </a:p>
          <a:p>
            <a:pPr lvl="0"/>
            <a:r>
              <a:rPr lang="en-NZ" sz="1800" dirty="0"/>
              <a:t>Guidance added to clarify that the examples would all be within the context of an additional paragraph  in the assurance report setting out the respective responsibilities of the preparer and practitioner</a:t>
            </a:r>
            <a:endParaRPr lang="en-US" sz="1800" dirty="0"/>
          </a:p>
          <a:p>
            <a:endParaRPr lang="en-US" dirty="0"/>
          </a:p>
        </p:txBody>
      </p:sp>
      <p:sp>
        <p:nvSpPr>
          <p:cNvPr id="5" name="Slide Number Placeholder 4">
            <a:extLst>
              <a:ext uri="{FF2B5EF4-FFF2-40B4-BE49-F238E27FC236}">
                <a16:creationId xmlns:a16="http://schemas.microsoft.com/office/drawing/2014/main" id="{C2385373-CFEF-44F5-854D-7DE683E919CE}"/>
              </a:ext>
            </a:extLst>
          </p:cNvPr>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1334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DFFA8-FCFA-4B8A-961F-9FD22444937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06B6197-170C-44B1-B084-E50CE71225D9}"/>
              </a:ext>
            </a:extLst>
          </p:cNvPr>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3200" dirty="0"/>
              <a:t>Comments</a:t>
            </a:r>
          </a:p>
        </p:txBody>
      </p:sp>
      <p:sp>
        <p:nvSpPr>
          <p:cNvPr id="4" name="Subtitle 3">
            <a:extLst>
              <a:ext uri="{FF2B5EF4-FFF2-40B4-BE49-F238E27FC236}">
                <a16:creationId xmlns:a16="http://schemas.microsoft.com/office/drawing/2014/main" id="{0A36CF0B-1EC6-4C44-A8A4-ED53ABECB752}"/>
              </a:ext>
            </a:extLst>
          </p:cNvPr>
          <p:cNvSpPr>
            <a:spLocks noGrp="1"/>
          </p:cNvSpPr>
          <p:nvPr>
            <p:ph type="subTitle" idx="10"/>
          </p:nvPr>
        </p:nvSpPr>
        <p:spPr/>
        <p:txBody>
          <a:bodyPr/>
          <a:lstStyle/>
          <a:p>
            <a:endParaRPr lang="en-US" dirty="0"/>
          </a:p>
        </p:txBody>
      </p:sp>
      <p:sp>
        <p:nvSpPr>
          <p:cNvPr id="5" name="Slide Number Placeholder 4">
            <a:extLst>
              <a:ext uri="{FF2B5EF4-FFF2-40B4-BE49-F238E27FC236}">
                <a16:creationId xmlns:a16="http://schemas.microsoft.com/office/drawing/2014/main" id="{9A551220-EE18-4D7C-A060-F1527EEF862A}"/>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8</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654854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432346"/>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ctr">
          <a:defRPr sz="1200"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IAASB_PowerPoint_template_2016_update" id="{84781494-0989-47EE-A3A7-2D255A13323B}" vid="{1A50CD82-07D8-4D3F-9AC1-AB2CFB482A7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65534F253E5CD469705343EDC065E1C" ma:contentTypeVersion="8" ma:contentTypeDescription="Create a new document." ma:contentTypeScope="" ma:versionID="9e44815aebb7a0568bea1cee5818ffa4">
  <xsd:schema xmlns:xsd="http://www.w3.org/2001/XMLSchema" xmlns:xs="http://www.w3.org/2001/XMLSchema" xmlns:p="http://schemas.microsoft.com/office/2006/metadata/properties" xmlns:ns3="0a6679bd-afbc-4e9d-9586-e8b9cae1c10d" targetNamespace="http://schemas.microsoft.com/office/2006/metadata/properties" ma:root="true" ma:fieldsID="7518f889024894246abbaf025907505f" ns3:_="">
    <xsd:import namespace="0a6679bd-afbc-4e9d-9586-e8b9cae1c10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EventHashCode" minOccurs="0"/>
                <xsd:element ref="ns3:MediaServiceGenerationTime"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6679bd-afbc-4e9d-9586-e8b9cae1c1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70DD39-67A7-4FFF-9684-E7B707E1BA2A}">
  <ds:schemaRefs>
    <ds:schemaRef ds:uri="http://purl.org/dc/elements/1.1/"/>
    <ds:schemaRef ds:uri="http://schemas.microsoft.com/office/2006/documentManagement/types"/>
    <ds:schemaRef ds:uri="0a6679bd-afbc-4e9d-9586-e8b9cae1c10d"/>
    <ds:schemaRef ds:uri="http://purl.org/dc/terms/"/>
    <ds:schemaRef ds:uri="http://schemas.openxmlformats.org/package/2006/metadata/core-properties"/>
    <ds:schemaRef ds:uri="http://purl.org/dc/dcmitype/"/>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0C942C01-F927-49E4-ADEA-64AE2045DD00}">
  <ds:schemaRefs>
    <ds:schemaRef ds:uri="http://schemas.microsoft.com/sharepoint/v3/contenttype/forms"/>
  </ds:schemaRefs>
</ds:datastoreItem>
</file>

<file path=customXml/itemProps3.xml><?xml version="1.0" encoding="utf-8"?>
<ds:datastoreItem xmlns:ds="http://schemas.openxmlformats.org/officeDocument/2006/customXml" ds:itemID="{06D26280-66E5-4D0C-B5CC-108AF8DF31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6679bd-afbc-4e9d-9586-e8b9cae1c1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16095</TotalTime>
  <Words>1117</Words>
  <Application>Microsoft Office PowerPoint</Application>
  <PresentationFormat>Widescreen</PresentationFormat>
  <Paragraphs>76</Paragraphs>
  <Slides>9</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Arial Narrow</vt:lpstr>
      <vt:lpstr>Calibri</vt:lpstr>
      <vt:lpstr>Office Theme</vt:lpstr>
      <vt:lpstr>Non-authoritative EER assurance guidance:  Special Considerations in Performing Assurance Engagements on Extended External Reporting </vt:lpstr>
      <vt:lpstr>What We Heard and What We’ve Done: General Comments and Chapter 1</vt:lpstr>
      <vt:lpstr>What We Heard and What We’ve Done: General Comments and Chapter 1 (cont)</vt:lpstr>
      <vt:lpstr>What We Heard and What We’ve Done: Chapters 2, 3, 4</vt:lpstr>
      <vt:lpstr>What We Heard and What We’ve Done: Chapters 5, 6, 7</vt:lpstr>
      <vt:lpstr>What We Heard and What We’ve Done: Chapters 8, 9, 10</vt:lpstr>
      <vt:lpstr>What We Heard and What We’ve Done: Chapters 11, 12, 13</vt:lpstr>
      <vt:lpstr>PowerPoint Presentation</vt:lpstr>
      <vt:lpstr>PowerPoint Presentation</vt:lpstr>
    </vt:vector>
  </TitlesOfParts>
  <Company>NBA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Jan Thijs Drupsteen</dc:creator>
  <cp:lastModifiedBy>Pauline Irwin</cp:lastModifiedBy>
  <cp:revision>587</cp:revision>
  <cp:lastPrinted>2019-08-31T01:10:46Z</cp:lastPrinted>
  <dcterms:created xsi:type="dcterms:W3CDTF">2017-11-13T09:28:46Z</dcterms:created>
  <dcterms:modified xsi:type="dcterms:W3CDTF">2019-12-13T16:14:20Z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0x010100765534F253E5CD469705343EDC065E1C</vt:lpwstr>
  </property>
</Properties>
</file>