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9" r:id="rId3"/>
    <p:sldId id="273" r:id="rId4"/>
    <p:sldId id="283" r:id="rId5"/>
    <p:sldId id="278" r:id="rId6"/>
    <p:sldId id="281" r:id="rId7"/>
    <p:sldId id="286" r:id="rId8"/>
    <p:sldId id="284" r:id="rId9"/>
    <p:sldId id="28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alie Klonaridis" initials="NK" lastIdx="1" clrIdx="0">
    <p:extLst>
      <p:ext uri="{19B8F6BF-5375-455C-9EA6-DF929625EA0E}">
        <p15:presenceInfo xmlns:p15="http://schemas.microsoft.com/office/powerpoint/2012/main" userId="S::NatalieKlonaridis@iaasb.org::f4aa4316-d059-440e-b12a-ca731c4153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46" autoAdjust="0"/>
  </p:normalViewPr>
  <p:slideViewPr>
    <p:cSldViewPr snapToGrid="0">
      <p:cViewPr varScale="1">
        <p:scale>
          <a:sx n="62" d="100"/>
          <a:sy n="62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16T11:54:21.228" idx="1">
    <p:pos x="2743" y="432"/>
    <p:text>I think the Oct - Dec for info gatehring should be Oct - March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E319F3-3784-49AA-BD3C-DCFB84C9C58D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8F4AB0-C747-416D-8BEE-8783D1C969D2}">
      <dgm:prSet phldrT="[Text]" custT="1"/>
      <dgm:spPr/>
      <dgm:t>
        <a:bodyPr/>
        <a:lstStyle/>
        <a:p>
          <a:pPr algn="l"/>
          <a:r>
            <a:rPr lang="en-US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   </a:t>
          </a:r>
          <a:r>
            <a:rPr lang="en-US" sz="16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Audit Evidence Workstream Plan</a:t>
          </a:r>
          <a:endParaRPr lang="en-US" sz="1400" b="1" dirty="0">
            <a:solidFill>
              <a:schemeClr val="tx1">
                <a:lumMod val="65000"/>
                <a:lumOff val="35000"/>
              </a:schemeClr>
            </a:solidFill>
            <a:effectLst/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DF3AC9-2536-4CAD-9254-C7B6F0B9C403}" type="parTrans" cxnId="{B24AF546-6859-4D42-9EDD-470EA19EA6C8}">
      <dgm:prSet/>
      <dgm:spPr/>
      <dgm:t>
        <a:bodyPr/>
        <a:lstStyle/>
        <a:p>
          <a:endParaRPr lang="en-US"/>
        </a:p>
      </dgm:t>
    </dgm:pt>
    <dgm:pt modelId="{B99AD35D-5255-41CE-92F9-E64BC6BE2013}" type="sibTrans" cxnId="{B24AF546-6859-4D42-9EDD-470EA19EA6C8}">
      <dgm:prSet/>
      <dgm:spPr/>
      <dgm:t>
        <a:bodyPr/>
        <a:lstStyle/>
        <a:p>
          <a:endParaRPr lang="en-US"/>
        </a:p>
      </dgm:t>
    </dgm:pt>
    <dgm:pt modelId="{4F372C92-F8F9-49D5-9EDC-3872C09C6550}">
      <dgm:prSet phldrT="[Text]" custT="1"/>
      <dgm:spPr/>
      <dgm:t>
        <a:bodyPr/>
        <a:lstStyle/>
        <a:p>
          <a:pPr algn="r"/>
          <a:r>
            <a: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Technology Workstream Plan </a:t>
          </a:r>
        </a:p>
      </dgm:t>
    </dgm:pt>
    <dgm:pt modelId="{370A9F2F-D67F-4E20-899D-6FBA49FFD7A0}" type="parTrans" cxnId="{C1F185B0-A99D-4A99-94A1-AA833ABC6037}">
      <dgm:prSet/>
      <dgm:spPr/>
      <dgm:t>
        <a:bodyPr/>
        <a:lstStyle/>
        <a:p>
          <a:endParaRPr lang="en-US"/>
        </a:p>
      </dgm:t>
    </dgm:pt>
    <dgm:pt modelId="{525918A5-35E5-46CF-A64C-4F4AB64BB436}" type="sibTrans" cxnId="{C1F185B0-A99D-4A99-94A1-AA833ABC6037}">
      <dgm:prSet/>
      <dgm:spPr/>
      <dgm:t>
        <a:bodyPr/>
        <a:lstStyle/>
        <a:p>
          <a:endParaRPr lang="en-US"/>
        </a:p>
      </dgm:t>
    </dgm:pt>
    <dgm:pt modelId="{02A11184-E284-492E-ABDC-A95EFA3698BD}" type="pres">
      <dgm:prSet presAssocID="{3FE319F3-3784-49AA-BD3C-DCFB84C9C58D}" presName="compositeShape" presStyleCnt="0">
        <dgm:presLayoutVars>
          <dgm:chMax val="2"/>
          <dgm:dir/>
          <dgm:resizeHandles val="exact"/>
        </dgm:presLayoutVars>
      </dgm:prSet>
      <dgm:spPr/>
    </dgm:pt>
    <dgm:pt modelId="{92B48CD0-7093-4FA7-A5F7-4BE2496B4DEA}" type="pres">
      <dgm:prSet presAssocID="{3FE319F3-3784-49AA-BD3C-DCFB84C9C58D}" presName="ribbon" presStyleLbl="node1" presStyleIdx="0" presStyleCnt="1" custScaleX="230706" custLinFactNeighborX="15000" custLinFactNeighborY="2046"/>
      <dgm:spPr>
        <a:solidFill>
          <a:schemeClr val="accent1">
            <a:lumMod val="20000"/>
            <a:lumOff val="80000"/>
          </a:schemeClr>
        </a:solidFill>
        <a:ln>
          <a:solidFill>
            <a:schemeClr val="accent2"/>
          </a:solidFill>
        </a:ln>
      </dgm:spPr>
    </dgm:pt>
    <dgm:pt modelId="{9939D738-D044-4B86-884C-F6D85E032F99}" type="pres">
      <dgm:prSet presAssocID="{3FE319F3-3784-49AA-BD3C-DCFB84C9C58D}" presName="leftArrowText" presStyleLbl="node1" presStyleIdx="0" presStyleCnt="1" custScaleX="465295">
        <dgm:presLayoutVars>
          <dgm:chMax val="0"/>
          <dgm:bulletEnabled val="1"/>
        </dgm:presLayoutVars>
      </dgm:prSet>
      <dgm:spPr/>
    </dgm:pt>
    <dgm:pt modelId="{AB6B15AE-F6DD-41BA-9017-BFB3775BC06A}" type="pres">
      <dgm:prSet presAssocID="{3FE319F3-3784-49AA-BD3C-DCFB84C9C58D}" presName="rightArrowText" presStyleLbl="node1" presStyleIdx="0" presStyleCnt="1" custScaleX="329150">
        <dgm:presLayoutVars>
          <dgm:chMax val="0"/>
          <dgm:bulletEnabled val="1"/>
        </dgm:presLayoutVars>
      </dgm:prSet>
      <dgm:spPr/>
    </dgm:pt>
  </dgm:ptLst>
  <dgm:cxnLst>
    <dgm:cxn modelId="{B24AF546-6859-4D42-9EDD-470EA19EA6C8}" srcId="{3FE319F3-3784-49AA-BD3C-DCFB84C9C58D}" destId="{C48F4AB0-C747-416D-8BEE-8783D1C969D2}" srcOrd="0" destOrd="0" parTransId="{82DF3AC9-2536-4CAD-9254-C7B6F0B9C403}" sibTransId="{B99AD35D-5255-41CE-92F9-E64BC6BE2013}"/>
    <dgm:cxn modelId="{17A7D74B-4B19-4ECC-A3B0-A3ED17D413BE}" type="presOf" srcId="{3FE319F3-3784-49AA-BD3C-DCFB84C9C58D}" destId="{02A11184-E284-492E-ABDC-A95EFA3698BD}" srcOrd="0" destOrd="0" presId="urn:microsoft.com/office/officeart/2005/8/layout/arrow6"/>
    <dgm:cxn modelId="{CA2A08A7-4A8B-4CAC-8D91-51AC574D4F80}" type="presOf" srcId="{C48F4AB0-C747-416D-8BEE-8783D1C969D2}" destId="{9939D738-D044-4B86-884C-F6D85E032F99}" srcOrd="0" destOrd="0" presId="urn:microsoft.com/office/officeart/2005/8/layout/arrow6"/>
    <dgm:cxn modelId="{C1F185B0-A99D-4A99-94A1-AA833ABC6037}" srcId="{3FE319F3-3784-49AA-BD3C-DCFB84C9C58D}" destId="{4F372C92-F8F9-49D5-9EDC-3872C09C6550}" srcOrd="1" destOrd="0" parTransId="{370A9F2F-D67F-4E20-899D-6FBA49FFD7A0}" sibTransId="{525918A5-35E5-46CF-A64C-4F4AB64BB436}"/>
    <dgm:cxn modelId="{34CD37BD-E6ED-4320-B41A-4187E24252B9}" type="presOf" srcId="{4F372C92-F8F9-49D5-9EDC-3872C09C6550}" destId="{AB6B15AE-F6DD-41BA-9017-BFB3775BC06A}" srcOrd="0" destOrd="0" presId="urn:microsoft.com/office/officeart/2005/8/layout/arrow6"/>
    <dgm:cxn modelId="{3225B75A-1ED2-4AA0-85BA-F19A6D16BE2F}" type="presParOf" srcId="{02A11184-E284-492E-ABDC-A95EFA3698BD}" destId="{92B48CD0-7093-4FA7-A5F7-4BE2496B4DEA}" srcOrd="0" destOrd="0" presId="urn:microsoft.com/office/officeart/2005/8/layout/arrow6"/>
    <dgm:cxn modelId="{41A7169A-3B83-42F4-A4D2-E0211357351D}" type="presParOf" srcId="{02A11184-E284-492E-ABDC-A95EFA3698BD}" destId="{9939D738-D044-4B86-884C-F6D85E032F99}" srcOrd="1" destOrd="0" presId="urn:microsoft.com/office/officeart/2005/8/layout/arrow6"/>
    <dgm:cxn modelId="{F20BBF8D-4EB3-47B9-BB63-2A7F5C5FA2E4}" type="presParOf" srcId="{02A11184-E284-492E-ABDC-A95EFA3698BD}" destId="{AB6B15AE-F6DD-41BA-9017-BFB3775BC06A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48CD0-7093-4FA7-A5F7-4BE2496B4DEA}">
      <dsp:nvSpPr>
        <dsp:cNvPr id="0" name=""/>
        <dsp:cNvSpPr/>
      </dsp:nvSpPr>
      <dsp:spPr>
        <a:xfrm>
          <a:off x="-237066" y="0"/>
          <a:ext cx="9606845" cy="1665643"/>
        </a:xfrm>
        <a:prstGeom prst="leftRightRibb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9D738-D044-4B86-884C-F6D85E032F99}">
      <dsp:nvSpPr>
        <dsp:cNvPr id="0" name=""/>
        <dsp:cNvSpPr/>
      </dsp:nvSpPr>
      <dsp:spPr>
        <a:xfrm>
          <a:off x="474134" y="291487"/>
          <a:ext cx="6393876" cy="81616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9784" rIns="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   </a:t>
          </a:r>
          <a:r>
            <a:rPr lang="en-US" sz="1600" b="1" kern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Audit Evidence Workstream Plan</a:t>
          </a:r>
          <a:endParaRPr lang="en-US" sz="1400" b="1" kern="1200" dirty="0">
            <a:solidFill>
              <a:schemeClr val="tx1">
                <a:lumMod val="65000"/>
                <a:lumOff val="35000"/>
              </a:schemeClr>
            </a:solidFill>
            <a:effectLst/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4134" y="291487"/>
        <a:ext cx="6393876" cy="816165"/>
      </dsp:txXfrm>
    </dsp:sp>
    <dsp:sp modelId="{AB6B15AE-F6DD-41BA-9017-BFB3775BC06A}">
      <dsp:nvSpPr>
        <dsp:cNvPr id="0" name=""/>
        <dsp:cNvSpPr/>
      </dsp:nvSpPr>
      <dsp:spPr>
        <a:xfrm>
          <a:off x="2705655" y="557990"/>
          <a:ext cx="5345402" cy="81616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6896" rIns="0" bIns="609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Technology Workstream Plan </a:t>
          </a:r>
        </a:p>
      </dsp:txBody>
      <dsp:txXfrm>
        <a:off x="2705655" y="557990"/>
        <a:ext cx="5345402" cy="816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2D069-970D-4398-BD95-A219843A6AD4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CB90A-9334-4ADC-8CB5-77F605DA7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6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11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Issues were also shared with the CAG in March 2019: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of the standard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 appropriate?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to other standards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(ISA 200, ISA 315 (Revised) and ISA 330)</a:t>
            </a:r>
          </a:p>
          <a:p>
            <a:pPr marL="0" lvl="1" indent="-342900">
              <a:spcBef>
                <a:spcPts val="500"/>
              </a:spcBef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information obtained through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audit techniques fit within the audit evidence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(i.e., tests of controls, substantive procedures, inspection, observation, inquiry etc.)</a:t>
            </a:r>
          </a:p>
          <a:p>
            <a:pPr marL="0" indent="-342900">
              <a:spcBef>
                <a:spcPts val="500"/>
              </a:spcBef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definition of sufficient appropriate audit evidence still appropriate?</a:t>
            </a:r>
          </a:p>
          <a:p>
            <a:pPr marL="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Sufficiency currently focused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quantity</a:t>
            </a:r>
          </a:p>
          <a:p>
            <a:pPr marL="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 to incorporate concept of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persuasiveness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(professional skepticism)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342900">
              <a:spcBef>
                <a:spcPts val="5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Embedding concepts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enhance professional skepticism</a:t>
            </a:r>
          </a:p>
          <a:p>
            <a:pPr marL="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Enhancing how the standard deals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contradictory evidence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obtaining evidence in an unbiased manner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affects the determination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whether sufficient appropriate audit evidence has been obtained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71450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does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nature, timing and extent of the audit procedures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affect this determination?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requirement addressing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relevance and reliability 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information to be used as audit evidence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still appropriate?</a:t>
            </a:r>
          </a:p>
          <a:p>
            <a:pPr marL="291772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availability of information,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sources of information,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changes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information is generated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1772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other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attributes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be considered (e.g., completeness and accuracy)?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requirements addressing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 of items for testing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 appropriate given new audit techniques?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still appropriate that the requirements dealing with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experts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ISA 500?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areas in need of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modernization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e.g.:</a:t>
            </a:r>
          </a:p>
          <a:p>
            <a:pPr marL="291772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of accounting records</a:t>
            </a:r>
          </a:p>
          <a:p>
            <a:pPr marL="291772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that are factually questionable (such as “reliability of audit evidence is increased when it is obtained from independent sources”)</a:t>
            </a:r>
          </a:p>
          <a:p>
            <a:pPr marL="291772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examples that recognize emerging tools and techniques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3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5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8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44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58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CB90A-9334-4ADC-8CB5-77F605DA77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8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1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EC16-5153-4444-ADE5-376764F931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96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7036-7F39-45B7-B8E7-90186E26FD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7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F55C-F0A0-40C2-92AA-13448C1B6DE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60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1662-97DA-482D-BB44-A5E7E146358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65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3B72-01DD-4123-ABCF-B71DC3DF9A3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64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7D7D-1F9A-439A-9B1F-FAD176DAAE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15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415-7CDF-4724-8022-A789958CE2B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93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8A9-3F54-4B3A-97B0-C24F2AA0F4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4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5935-DE68-40A0-AD95-3EF9318A56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9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BD7C1-6C21-4A0C-AB04-28957353C2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97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AA40-D496-4BA5-94BC-EC2395AF4BA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4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21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58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9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072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036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36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82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202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669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67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6EE5-B36E-4704-9EC0-BD21A5BAD42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>
              <a:solidFill>
                <a:prstClr val="white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42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9/16/2019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7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Audit Evidence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2" y="4295163"/>
            <a:ext cx="6310489" cy="1892271"/>
          </a:xfrm>
        </p:spPr>
        <p:txBody>
          <a:bodyPr/>
          <a:lstStyle/>
          <a:p>
            <a:r>
              <a:rPr lang="en-US" dirty="0"/>
              <a:t>Bob Dohrer, Audit Evidence Working Group Chair</a:t>
            </a:r>
          </a:p>
          <a:p>
            <a:r>
              <a:rPr lang="en-US" dirty="0"/>
              <a:t>IAASB Meeting, New York</a:t>
            </a:r>
          </a:p>
          <a:p>
            <a:r>
              <a:rPr lang="en-US" dirty="0"/>
              <a:t>Agenda Item 12</a:t>
            </a:r>
          </a:p>
          <a:p>
            <a:r>
              <a:rPr lang="en-US" dirty="0"/>
              <a:t>September 20, 2019</a:t>
            </a:r>
          </a:p>
        </p:txBody>
      </p:sp>
    </p:spTree>
    <p:extLst>
      <p:ext uri="{BB962C8B-B14F-4D97-AF65-F5344CB8AC3E}">
        <p14:creationId xmlns:p14="http://schemas.microsoft.com/office/powerpoint/2010/main" val="331025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0" y="1041748"/>
            <a:ext cx="11271311" cy="5151022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ctr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Since the IAASB CAG met in March 2019: </a:t>
            </a:r>
          </a:p>
          <a:p>
            <a:pPr marL="457200" lvl="1" indent="-34290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IAASB meeting June 2019: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6576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Issues related to audit evidence and technology, including potential actions to address such issues (e.g. standard setting and guidance)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6576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 in agreement that issues are comprehensive, the Board</a:t>
            </a:r>
          </a:p>
          <a:p>
            <a:pPr marL="1234440" lvl="2" indent="-365760">
              <a:lnSpc>
                <a:spcPts val="28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 NOT support the development of project proposal</a:t>
            </a:r>
          </a:p>
          <a:p>
            <a:pPr marL="1234440" lvl="2" indent="-365760">
              <a:lnSpc>
                <a:spcPts val="28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further information-gathering and research activities (IG&amp;R)  </a:t>
            </a:r>
          </a:p>
          <a:p>
            <a:pPr marL="1234440" lvl="2" indent="-365760">
              <a:lnSpc>
                <a:spcPts val="28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establishing an ‘</a:t>
            </a:r>
            <a:r>
              <a:rPr lang="en-US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 Workstream Plan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– i.e. for conducting IG&amp;R, with the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provide informed recommendations to the Board on possible further actions </a:t>
            </a:r>
          </a:p>
          <a:p>
            <a:pPr marL="1234440" lvl="2" indent="-365760">
              <a:lnSpc>
                <a:spcPts val="28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Encouraged clarity in differentiating between the activities of the AEWG and TWG</a:t>
            </a:r>
          </a:p>
          <a:p>
            <a:pPr marL="457200" lvl="2" indent="0">
              <a:lnSpc>
                <a:spcPts val="28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o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verview of the input initially considered by the AEWG was presented to the CAG in March 2019 </a:t>
            </a:r>
          </a:p>
        </p:txBody>
      </p:sp>
    </p:spTree>
    <p:extLst>
      <p:ext uri="{BB962C8B-B14F-4D97-AF65-F5344CB8AC3E}">
        <p14:creationId xmlns:p14="http://schemas.microsoft.com/office/powerpoint/2010/main" val="314855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0" y="1041748"/>
            <a:ext cx="11486697" cy="5061059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Audit Evidence Workstream Plan </a:t>
            </a:r>
          </a:p>
          <a:p>
            <a:pPr marL="502920" lvl="1" indent="-34290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Objective – to provide informed recommendations to the Board, by </a:t>
            </a:r>
          </a:p>
          <a:p>
            <a:pPr marL="868680" lvl="1" indent="-36576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Further understanding audit evidence issues as presented to the Board in June 2019 </a:t>
            </a:r>
          </a:p>
          <a:p>
            <a:pPr marL="868680" lvl="1" indent="-36576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Exploring whether there are additional issues </a:t>
            </a:r>
          </a:p>
          <a:p>
            <a:pPr marL="868680" lvl="1" indent="-36576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Exploring stakeholder views about possible actions to address the issues </a:t>
            </a:r>
          </a:p>
          <a:p>
            <a:pPr marL="502920" lvl="1" indent="-34290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Information-gathering and research activities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868680" lvl="1" indent="-365760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Targeted outreach activities with stakeholders, including 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Regulators and audit oversight bodies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Public sector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National standard setters and IFAC member bodies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Practitioners 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Respondents to ITC and RFI (who commented on audit evidence issues)</a:t>
            </a:r>
          </a:p>
          <a:p>
            <a:pPr marL="502920" lvl="1" indent="-347472"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EBCFFF-D77A-409C-801C-46D87AD5F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925" y="3657252"/>
            <a:ext cx="1958875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2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0" y="1041748"/>
            <a:ext cx="11486697" cy="5061059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Audit Evidence Workstream Plan</a:t>
            </a:r>
          </a:p>
          <a:p>
            <a:pPr marL="502920" lvl="1" indent="-342900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Information-gathering and research activities (cont.)</a:t>
            </a:r>
          </a:p>
          <a:p>
            <a:pPr marL="868680" lvl="1" indent="-36576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Academic research  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Existing research that may be relevant 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New research? </a:t>
            </a:r>
          </a:p>
          <a:p>
            <a:pPr marL="868680" lvl="1" indent="-36576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activities / sources of information, including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 implementation review of relevant ISAs  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2016 Request for input, ‘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Exploring the Growing Use of Technology</a:t>
            </a:r>
            <a:b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 the Audit, With a Focus on Data Analytics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Feedback from respondents to the 2015 ‘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Invitation to Comment, Enhancing Audit Quality: A Focus on Professional Skepticism, Quality Control and Group Audits’ 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Inputs received from stakeholders in response to the IAASB’s consultation on its ‘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Proposed Strategy for 2020-2023 and Work Plan for 2020-2021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marL="1280160" lvl="2" indent="-365760">
              <a:lnSpc>
                <a:spcPts val="22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Responses to the AICPA’s Proposed Statement on Auditing Standards, Audit Evidence’</a:t>
            </a: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lvl="1" indent="-347472"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DEDE83-40F3-408B-ABE7-E4B9B9F2F8D4}"/>
              </a:ext>
            </a:extLst>
          </p:cNvPr>
          <p:cNvSpPr/>
          <p:nvPr/>
        </p:nvSpPr>
        <p:spPr>
          <a:xfrm>
            <a:off x="8212220" y="1295291"/>
            <a:ext cx="3141580" cy="248648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IAASB? </a:t>
            </a:r>
          </a:p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sz="2000" b="1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by Steering Committee </a:t>
            </a:r>
          </a:p>
          <a:p>
            <a:pPr algn="ctr">
              <a:lnSpc>
                <a:spcPts val="2400"/>
              </a:lnSpc>
              <a:spcBef>
                <a:spcPts val="600"/>
              </a:spcBef>
            </a:pPr>
            <a:r>
              <a:rPr lang="en-US" sz="2000" b="1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to Board </a:t>
            </a:r>
          </a:p>
        </p:txBody>
      </p:sp>
    </p:spTree>
    <p:extLst>
      <p:ext uri="{BB962C8B-B14F-4D97-AF65-F5344CB8AC3E}">
        <p14:creationId xmlns:p14="http://schemas.microsoft.com/office/powerpoint/2010/main" val="56501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  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460344" y="2530479"/>
            <a:ext cx="11271311" cy="3172178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ctr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>
              <a:lnSpc>
                <a:spcPts val="2600"/>
              </a:lnSpc>
              <a:spcBef>
                <a:spcPts val="60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C1091FA-22E7-43EE-9A57-882D16826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857550"/>
              </p:ext>
            </p:extLst>
          </p:nvPr>
        </p:nvGraphicFramePr>
        <p:xfrm>
          <a:off x="1154288" y="1155343"/>
          <a:ext cx="9132712" cy="1665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CA3927E-03FD-41F6-A493-35F1D2A788BF}"/>
              </a:ext>
            </a:extLst>
          </p:cNvPr>
          <p:cNvSpPr/>
          <p:nvPr/>
        </p:nvSpPr>
        <p:spPr>
          <a:xfrm>
            <a:off x="696367" y="2920746"/>
            <a:ext cx="5219011" cy="3073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IG&amp;R to pinpoint and prioritize </a:t>
            </a: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related issues when applying the ISAs. Main drivers: </a:t>
            </a:r>
          </a:p>
          <a:p>
            <a:pPr marL="594360" indent="-285750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‒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</a:t>
            </a:r>
          </a:p>
          <a:p>
            <a:pPr marL="594360" indent="-285750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‒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skepticism</a:t>
            </a:r>
          </a:p>
          <a:p>
            <a:pPr marL="594360" indent="-285750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‒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of information</a:t>
            </a:r>
          </a:p>
          <a:p>
            <a:pPr marL="285750" indent="-285750" algn="just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informed recommendations to the Board for possible further actions (e.g. standard setting or guidance)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27C502-6D43-412B-866C-BFE8E2861043}"/>
              </a:ext>
            </a:extLst>
          </p:cNvPr>
          <p:cNvSpPr/>
          <p:nvPr/>
        </p:nvSpPr>
        <p:spPr>
          <a:xfrm>
            <a:off x="6138332" y="2934580"/>
            <a:ext cx="4653846" cy="3059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matters for which there is an opportunity for a more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immediate response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developing and issuing of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guidance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address the effect of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applying certain aspects of the ISAs.  </a:t>
            </a:r>
          </a:p>
          <a:p>
            <a:pPr marL="285750" indent="-285750" algn="just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topics have been identified</a:t>
            </a:r>
          </a:p>
          <a:p>
            <a:pPr>
              <a:lnSpc>
                <a:spcPts val="22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6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0" y="1205328"/>
            <a:ext cx="11271311" cy="5151022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Feedback from the CAG: </a:t>
            </a:r>
          </a:p>
          <a:p>
            <a:pPr marL="457200" lvl="1" indent="-34290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Need for harmonious standards across various Standard Setters (e.g., ASB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PCAOB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-34290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Concern about determining the ‘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and ‘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completeness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of information in accordance with ISA 500 in circumstances when the auditor is dealing with large amounts of data</a:t>
            </a:r>
          </a:p>
          <a:p>
            <a:pPr marL="114300" lvl="1" indent="0">
              <a:lnSpc>
                <a:spcPts val="2800"/>
              </a:lnSpc>
              <a:spcAft>
                <a:spcPts val="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65760">
              <a:lnSpc>
                <a:spcPts val="2800"/>
              </a:lnSpc>
              <a:spcAft>
                <a:spcPts val="0"/>
              </a:spcAft>
              <a:buFont typeface="Arial" panose="020B0604020202020204" pitchFamily="34" charset="0"/>
              <a:buChar char="‒"/>
            </a:pPr>
            <a:endParaRPr lang="en-US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32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 – Way Forward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8D9687-DA30-4732-A0D1-69D25EB31728}"/>
              </a:ext>
            </a:extLst>
          </p:cNvPr>
          <p:cNvGrpSpPr/>
          <p:nvPr/>
        </p:nvGrpSpPr>
        <p:grpSpPr>
          <a:xfrm>
            <a:off x="538379" y="3367661"/>
            <a:ext cx="9871764" cy="2565205"/>
            <a:chOff x="-41169" y="1915318"/>
            <a:chExt cx="9082098" cy="4289329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7E9980-6079-4324-87DE-2555CC826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556" y="2111064"/>
              <a:ext cx="3460750" cy="3467100"/>
            </a:xfrm>
            <a:custGeom>
              <a:avLst/>
              <a:gdLst>
                <a:gd name="T0" fmla="*/ 522 w 1204"/>
                <a:gd name="T1" fmla="*/ 1077 h 1205"/>
                <a:gd name="T2" fmla="*/ 463 w 1204"/>
                <a:gd name="T3" fmla="*/ 602 h 1205"/>
                <a:gd name="T4" fmla="*/ 692 w 1204"/>
                <a:gd name="T5" fmla="*/ 106 h 1205"/>
                <a:gd name="T6" fmla="*/ 268 w 1204"/>
                <a:gd name="T7" fmla="*/ 0 h 1205"/>
                <a:gd name="T8" fmla="*/ 237 w 1204"/>
                <a:gd name="T9" fmla="*/ 28 h 1205"/>
                <a:gd name="T10" fmla="*/ 616 w 1204"/>
                <a:gd name="T11" fmla="*/ 123 h 1205"/>
                <a:gd name="T12" fmla="*/ 718 w 1204"/>
                <a:gd name="T13" fmla="*/ 427 h 1205"/>
                <a:gd name="T14" fmla="*/ 26 w 1204"/>
                <a:gd name="T15" fmla="*/ 845 h 1205"/>
                <a:gd name="T16" fmla="*/ 475 w 1204"/>
                <a:gd name="T17" fmla="*/ 1205 h 1205"/>
                <a:gd name="T18" fmla="*/ 662 w 1204"/>
                <a:gd name="T19" fmla="*/ 1119 h 1205"/>
                <a:gd name="T20" fmla="*/ 522 w 1204"/>
                <a:gd name="T21" fmla="*/ 1077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4" h="1205">
                  <a:moveTo>
                    <a:pt x="522" y="1077"/>
                  </a:moveTo>
                  <a:cubicBezTo>
                    <a:pt x="0" y="897"/>
                    <a:pt x="260" y="682"/>
                    <a:pt x="463" y="602"/>
                  </a:cubicBezTo>
                  <a:cubicBezTo>
                    <a:pt x="666" y="522"/>
                    <a:pt x="1204" y="330"/>
                    <a:pt x="692" y="106"/>
                  </a:cubicBezTo>
                  <a:cubicBezTo>
                    <a:pt x="692" y="106"/>
                    <a:pt x="513" y="40"/>
                    <a:pt x="268" y="0"/>
                  </a:cubicBezTo>
                  <a:cubicBezTo>
                    <a:pt x="237" y="28"/>
                    <a:pt x="237" y="28"/>
                    <a:pt x="237" y="28"/>
                  </a:cubicBezTo>
                  <a:cubicBezTo>
                    <a:pt x="415" y="59"/>
                    <a:pt x="519" y="90"/>
                    <a:pt x="616" y="123"/>
                  </a:cubicBezTo>
                  <a:cubicBezTo>
                    <a:pt x="774" y="177"/>
                    <a:pt x="930" y="311"/>
                    <a:pt x="718" y="427"/>
                  </a:cubicBezTo>
                  <a:cubicBezTo>
                    <a:pt x="506" y="543"/>
                    <a:pt x="44" y="661"/>
                    <a:pt x="26" y="845"/>
                  </a:cubicBezTo>
                  <a:cubicBezTo>
                    <a:pt x="13" y="972"/>
                    <a:pt x="185" y="1108"/>
                    <a:pt x="475" y="1205"/>
                  </a:cubicBezTo>
                  <a:cubicBezTo>
                    <a:pt x="662" y="1119"/>
                    <a:pt x="662" y="1119"/>
                    <a:pt x="662" y="1119"/>
                  </a:cubicBezTo>
                  <a:cubicBezTo>
                    <a:pt x="613" y="1106"/>
                    <a:pt x="566" y="1092"/>
                    <a:pt x="522" y="107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189"/>
              <a:endParaRPr lang="en-US" sz="1351" dirty="0">
                <a:solidFill>
                  <a:prstClr val="black"/>
                </a:solidFill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F7141A-B398-4DFD-9946-12E8A3245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169" y="1915318"/>
              <a:ext cx="1481138" cy="87314"/>
            </a:xfrm>
            <a:custGeom>
              <a:avLst/>
              <a:gdLst>
                <a:gd name="T0" fmla="*/ 0 w 515"/>
                <a:gd name="T1" fmla="*/ 2 h 30"/>
                <a:gd name="T2" fmla="*/ 0 w 515"/>
                <a:gd name="T3" fmla="*/ 23 h 30"/>
                <a:gd name="T4" fmla="*/ 504 w 515"/>
                <a:gd name="T5" fmla="*/ 30 h 30"/>
                <a:gd name="T6" fmla="*/ 515 w 515"/>
                <a:gd name="T7" fmla="*/ 18 h 30"/>
                <a:gd name="T8" fmla="*/ 0 w 515"/>
                <a:gd name="T9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30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200" y="14"/>
                    <a:pt x="504" y="30"/>
                  </a:cubicBezTo>
                  <a:cubicBezTo>
                    <a:pt x="515" y="18"/>
                    <a:pt x="515" y="18"/>
                    <a:pt x="515" y="18"/>
                  </a:cubicBezTo>
                  <a:cubicBezTo>
                    <a:pt x="323" y="7"/>
                    <a:pt x="138" y="0"/>
                    <a:pt x="0" y="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189"/>
              <a:endParaRPr lang="en-US" sz="1351" dirty="0">
                <a:solidFill>
                  <a:prstClr val="black"/>
                </a:solidFill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E4311299-C50D-49FA-98E3-CBC7F751D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0" y="1958975"/>
              <a:ext cx="2084388" cy="247650"/>
            </a:xfrm>
            <a:custGeom>
              <a:avLst/>
              <a:gdLst>
                <a:gd name="T0" fmla="*/ 595 w 725"/>
                <a:gd name="T1" fmla="*/ 43 h 86"/>
                <a:gd name="T2" fmla="*/ 13 w 725"/>
                <a:gd name="T3" fmla="*/ 0 h 86"/>
                <a:gd name="T4" fmla="*/ 0 w 725"/>
                <a:gd name="T5" fmla="*/ 12 h 86"/>
                <a:gd name="T6" fmla="*/ 298 w 725"/>
                <a:gd name="T7" fmla="*/ 36 h 86"/>
                <a:gd name="T8" fmla="*/ 695 w 725"/>
                <a:gd name="T9" fmla="*/ 86 h 86"/>
                <a:gd name="T10" fmla="*/ 725 w 725"/>
                <a:gd name="T11" fmla="*/ 58 h 86"/>
                <a:gd name="T12" fmla="*/ 595 w 725"/>
                <a:gd name="T1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5" h="86">
                  <a:moveTo>
                    <a:pt x="595" y="43"/>
                  </a:moveTo>
                  <a:cubicBezTo>
                    <a:pt x="430" y="28"/>
                    <a:pt x="220" y="12"/>
                    <a:pt x="1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2" y="18"/>
                    <a:pt x="192" y="25"/>
                    <a:pt x="298" y="36"/>
                  </a:cubicBezTo>
                  <a:cubicBezTo>
                    <a:pt x="461" y="53"/>
                    <a:pt x="590" y="69"/>
                    <a:pt x="695" y="86"/>
                  </a:cubicBezTo>
                  <a:cubicBezTo>
                    <a:pt x="725" y="58"/>
                    <a:pt x="725" y="58"/>
                    <a:pt x="725" y="58"/>
                  </a:cubicBezTo>
                  <a:cubicBezTo>
                    <a:pt x="683" y="52"/>
                    <a:pt x="639" y="47"/>
                    <a:pt x="595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189"/>
              <a:endParaRPr lang="en-US" sz="1351" dirty="0">
                <a:solidFill>
                  <a:prstClr val="black"/>
                </a:solidFill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C530639-1CA2-4E4E-A9AF-BC36F90D1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021" y="5334307"/>
              <a:ext cx="4946908" cy="870340"/>
            </a:xfrm>
            <a:custGeom>
              <a:avLst/>
              <a:gdLst>
                <a:gd name="T0" fmla="*/ 1775 w 1775"/>
                <a:gd name="T1" fmla="*/ 213 h 297"/>
                <a:gd name="T2" fmla="*/ 1443 w 1775"/>
                <a:gd name="T3" fmla="*/ 57 h 297"/>
                <a:gd name="T4" fmla="*/ 1397 w 1775"/>
                <a:gd name="T5" fmla="*/ 95 h 297"/>
                <a:gd name="T6" fmla="*/ 205 w 1775"/>
                <a:gd name="T7" fmla="*/ 0 h 297"/>
                <a:gd name="T8" fmla="*/ 0 w 1775"/>
                <a:gd name="T9" fmla="*/ 93 h 297"/>
                <a:gd name="T10" fmla="*/ 309 w 1775"/>
                <a:gd name="T11" fmla="*/ 153 h 297"/>
                <a:gd name="T12" fmla="*/ 1225 w 1775"/>
                <a:gd name="T13" fmla="*/ 235 h 297"/>
                <a:gd name="T14" fmla="*/ 1153 w 1775"/>
                <a:gd name="T15" fmla="*/ 297 h 297"/>
                <a:gd name="T16" fmla="*/ 1775 w 1775"/>
                <a:gd name="T17" fmla="*/ 21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5" h="297">
                  <a:moveTo>
                    <a:pt x="1775" y="213"/>
                  </a:moveTo>
                  <a:cubicBezTo>
                    <a:pt x="1443" y="57"/>
                    <a:pt x="1443" y="57"/>
                    <a:pt x="1443" y="57"/>
                  </a:cubicBezTo>
                  <a:cubicBezTo>
                    <a:pt x="1397" y="95"/>
                    <a:pt x="1397" y="95"/>
                    <a:pt x="1397" y="95"/>
                  </a:cubicBezTo>
                  <a:cubicBezTo>
                    <a:pt x="1397" y="95"/>
                    <a:pt x="730" y="100"/>
                    <a:pt x="205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95" y="117"/>
                    <a:pt x="198" y="138"/>
                    <a:pt x="309" y="153"/>
                  </a:cubicBezTo>
                  <a:cubicBezTo>
                    <a:pt x="859" y="229"/>
                    <a:pt x="1225" y="235"/>
                    <a:pt x="1225" y="235"/>
                  </a:cubicBezTo>
                  <a:cubicBezTo>
                    <a:pt x="1153" y="297"/>
                    <a:pt x="1153" y="297"/>
                    <a:pt x="1153" y="297"/>
                  </a:cubicBezTo>
                  <a:lnTo>
                    <a:pt x="1775" y="21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189"/>
              <a:endParaRPr lang="en-US" sz="135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C0E9A1-DFA6-46BD-9A5E-F58B29C30216}"/>
              </a:ext>
            </a:extLst>
          </p:cNvPr>
          <p:cNvGrpSpPr/>
          <p:nvPr/>
        </p:nvGrpSpPr>
        <p:grpSpPr>
          <a:xfrm>
            <a:off x="1356404" y="1490630"/>
            <a:ext cx="1705414" cy="1941867"/>
            <a:chOff x="6285507" y="4056654"/>
            <a:chExt cx="1361612" cy="195229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D2B2746-8488-4E0F-9F7B-0F0710B9193E}"/>
                </a:ext>
              </a:extLst>
            </p:cNvPr>
            <p:cNvGrpSpPr/>
            <p:nvPr/>
          </p:nvGrpSpPr>
          <p:grpSpPr>
            <a:xfrm>
              <a:off x="6285507" y="4056654"/>
              <a:ext cx="1361612" cy="1952294"/>
              <a:chOff x="5808790" y="2272283"/>
              <a:chExt cx="1993536" cy="2858353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1A16F93-8C07-4E27-A1B2-C5E0D9B97B22}"/>
                  </a:ext>
                </a:extLst>
              </p:cNvPr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en-US" kern="0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E975E3A-FE9A-42EA-83EF-55F20297FE8F}"/>
                  </a:ext>
                </a:extLst>
              </p:cNvPr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19" name="Freeform 25">
                  <a:extLst>
                    <a:ext uri="{FF2B5EF4-FFF2-40B4-BE49-F238E27FC236}">
                      <a16:creationId xmlns:a16="http://schemas.microsoft.com/office/drawing/2014/main" id="{546F57C6-178C-415E-B9D3-FD2B35AFA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 26">
                  <a:extLst>
                    <a:ext uri="{FF2B5EF4-FFF2-40B4-BE49-F238E27FC236}">
                      <a16:creationId xmlns:a16="http://schemas.microsoft.com/office/drawing/2014/main" id="{E71B21B9-2D14-4F71-8431-BDE1AB67C4A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ABAA0C-15F0-465E-865B-BCC18280C98D}"/>
                </a:ext>
              </a:extLst>
            </p:cNvPr>
            <p:cNvSpPr txBox="1"/>
            <p:nvPr/>
          </p:nvSpPr>
          <p:spPr>
            <a:xfrm>
              <a:off x="6371735" y="4537918"/>
              <a:ext cx="1189157" cy="4641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June </a:t>
              </a:r>
            </a:p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ADC9D23-0618-46A8-B154-E67B948F524E}"/>
              </a:ext>
            </a:extLst>
          </p:cNvPr>
          <p:cNvSpPr txBox="1"/>
          <p:nvPr/>
        </p:nvSpPr>
        <p:spPr>
          <a:xfrm>
            <a:off x="99426" y="1386689"/>
            <a:ext cx="1821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Board </a:t>
            </a:r>
          </a:p>
          <a:p>
            <a:pPr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99AE78-1206-4418-8DCD-6483843B0951}"/>
              </a:ext>
            </a:extLst>
          </p:cNvPr>
          <p:cNvGrpSpPr/>
          <p:nvPr/>
        </p:nvGrpSpPr>
        <p:grpSpPr>
          <a:xfrm>
            <a:off x="3678537" y="1593391"/>
            <a:ext cx="1705414" cy="1941867"/>
            <a:chOff x="6285507" y="4056654"/>
            <a:chExt cx="1361612" cy="195229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045538C-9376-402C-A8CA-8CB96E5EE66B}"/>
                </a:ext>
              </a:extLst>
            </p:cNvPr>
            <p:cNvGrpSpPr/>
            <p:nvPr/>
          </p:nvGrpSpPr>
          <p:grpSpPr>
            <a:xfrm>
              <a:off x="6285507" y="4056654"/>
              <a:ext cx="1361612" cy="1952294"/>
              <a:chOff x="5808790" y="2272283"/>
              <a:chExt cx="1993536" cy="285835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9156A11-3209-4AA4-BE3C-257C0B9618A2}"/>
                  </a:ext>
                </a:extLst>
              </p:cNvPr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en-US" kern="0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75586C2-706A-4145-9A0C-BF1E0A30B3AB}"/>
                  </a:ext>
                </a:extLst>
              </p:cNvPr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30" name="Freeform 25">
                  <a:extLst>
                    <a:ext uri="{FF2B5EF4-FFF2-40B4-BE49-F238E27FC236}">
                      <a16:creationId xmlns:a16="http://schemas.microsoft.com/office/drawing/2014/main" id="{672DC820-D86D-4067-A8A2-359855717D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Freeform 26">
                  <a:extLst>
                    <a:ext uri="{FF2B5EF4-FFF2-40B4-BE49-F238E27FC236}">
                      <a16:creationId xmlns:a16="http://schemas.microsoft.com/office/drawing/2014/main" id="{0A244421-9E9B-4A9C-8CF4-79896FD4F4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359A85-B465-4E44-B935-E103F85E50BB}"/>
                </a:ext>
              </a:extLst>
            </p:cNvPr>
            <p:cNvSpPr txBox="1"/>
            <p:nvPr/>
          </p:nvSpPr>
          <p:spPr>
            <a:xfrm>
              <a:off x="6371735" y="4537918"/>
              <a:ext cx="1189157" cy="4641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August </a:t>
              </a:r>
            </a:p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175A35-21A5-4575-895C-F80C55B5AC3C}"/>
              </a:ext>
            </a:extLst>
          </p:cNvPr>
          <p:cNvSpPr txBox="1"/>
          <p:nvPr/>
        </p:nvSpPr>
        <p:spPr>
          <a:xfrm>
            <a:off x="1354586" y="4162497"/>
            <a:ext cx="3433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Information-gathering activities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71E7A37-063E-4FBD-8C96-1D6E89449985}"/>
              </a:ext>
            </a:extLst>
          </p:cNvPr>
          <p:cNvGrpSpPr/>
          <p:nvPr/>
        </p:nvGrpSpPr>
        <p:grpSpPr>
          <a:xfrm>
            <a:off x="4212456" y="3283133"/>
            <a:ext cx="1705414" cy="2301844"/>
            <a:chOff x="6285507" y="4056655"/>
            <a:chExt cx="1361612" cy="195229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B9FFFD9-FDD4-45DC-9FFE-C19957329C24}"/>
                </a:ext>
              </a:extLst>
            </p:cNvPr>
            <p:cNvGrpSpPr/>
            <p:nvPr/>
          </p:nvGrpSpPr>
          <p:grpSpPr>
            <a:xfrm>
              <a:off x="6285507" y="4056655"/>
              <a:ext cx="1361612" cy="1952295"/>
              <a:chOff x="5808790" y="2272283"/>
              <a:chExt cx="1993536" cy="285835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A296C14-4454-4D07-A81B-78BA8AFF93F7}"/>
                  </a:ext>
                </a:extLst>
              </p:cNvPr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en-US" kern="0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6CB3E7A-09FF-4529-87F6-3052691BBA6F}"/>
                  </a:ext>
                </a:extLst>
              </p:cNvPr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38" name="Freeform 25">
                  <a:extLst>
                    <a:ext uri="{FF2B5EF4-FFF2-40B4-BE49-F238E27FC236}">
                      <a16:creationId xmlns:a16="http://schemas.microsoft.com/office/drawing/2014/main" id="{C3C29788-96BB-4442-91E9-1271DF48E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9" name="Freeform 26">
                  <a:extLst>
                    <a:ext uri="{FF2B5EF4-FFF2-40B4-BE49-F238E27FC236}">
                      <a16:creationId xmlns:a16="http://schemas.microsoft.com/office/drawing/2014/main" id="{3407AEFA-9C14-4F74-9BF9-13E69884BE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FF8476-643C-4DD9-88B9-1D0B1492710B}"/>
                </a:ext>
              </a:extLst>
            </p:cNvPr>
            <p:cNvSpPr txBox="1"/>
            <p:nvPr/>
          </p:nvSpPr>
          <p:spPr>
            <a:xfrm>
              <a:off x="6371735" y="4574211"/>
              <a:ext cx="1189157" cy="391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Oct – Dec </a:t>
              </a:r>
            </a:p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12ED0AC-9820-455D-B87D-6F45639C1D9A}"/>
              </a:ext>
            </a:extLst>
          </p:cNvPr>
          <p:cNvSpPr txBox="1"/>
          <p:nvPr/>
        </p:nvSpPr>
        <p:spPr>
          <a:xfrm>
            <a:off x="3559359" y="1193519"/>
            <a:ext cx="3433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 workstream </a:t>
            </a:r>
          </a:p>
          <a:p>
            <a:pPr algn="ctr"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BC125C-E2B7-44E5-B37D-772297A451DB}"/>
              </a:ext>
            </a:extLst>
          </p:cNvPr>
          <p:cNvGrpSpPr/>
          <p:nvPr/>
        </p:nvGrpSpPr>
        <p:grpSpPr>
          <a:xfrm>
            <a:off x="7250050" y="3425520"/>
            <a:ext cx="1705414" cy="2301844"/>
            <a:chOff x="6285507" y="4056655"/>
            <a:chExt cx="1361612" cy="195229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5EF0DA9-4774-4347-9F75-088D6B58454F}"/>
                </a:ext>
              </a:extLst>
            </p:cNvPr>
            <p:cNvGrpSpPr/>
            <p:nvPr/>
          </p:nvGrpSpPr>
          <p:grpSpPr>
            <a:xfrm>
              <a:off x="6285507" y="4056655"/>
              <a:ext cx="1361612" cy="1952295"/>
              <a:chOff x="5808790" y="2272283"/>
              <a:chExt cx="1993536" cy="285835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663B2E2-1175-427B-9FC5-3FBD24123CD5}"/>
                  </a:ext>
                </a:extLst>
              </p:cNvPr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en-US" kern="0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0AE67BF-73F2-4B20-9B8F-4FF6B5725104}"/>
                  </a:ext>
                </a:extLst>
              </p:cNvPr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46" name="Freeform 25">
                  <a:extLst>
                    <a:ext uri="{FF2B5EF4-FFF2-40B4-BE49-F238E27FC236}">
                      <a16:creationId xmlns:a16="http://schemas.microsoft.com/office/drawing/2014/main" id="{D351FCFA-AFCE-4F14-A973-7C94A3CD32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7" name="Freeform 26">
                  <a:extLst>
                    <a:ext uri="{FF2B5EF4-FFF2-40B4-BE49-F238E27FC236}">
                      <a16:creationId xmlns:a16="http://schemas.microsoft.com/office/drawing/2014/main" id="{00DB346C-05D4-4CD8-B342-35495CFC3C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310DBB-8D3D-4F2D-9C06-F01B9B198396}"/>
                </a:ext>
              </a:extLst>
            </p:cNvPr>
            <p:cNvSpPr txBox="1"/>
            <p:nvPr/>
          </p:nvSpPr>
          <p:spPr>
            <a:xfrm>
              <a:off x="6371735" y="4574210"/>
              <a:ext cx="1189157" cy="391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March – June  </a:t>
              </a:r>
            </a:p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7D16A59-00E8-414D-8035-FEF7AF519730}"/>
              </a:ext>
            </a:extLst>
          </p:cNvPr>
          <p:cNvSpPr txBox="1"/>
          <p:nvPr/>
        </p:nvSpPr>
        <p:spPr>
          <a:xfrm>
            <a:off x="8861709" y="3283133"/>
            <a:ext cx="2579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 to IAASB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516776-4304-4DA0-A59B-4F200AB54148}"/>
              </a:ext>
            </a:extLst>
          </p:cNvPr>
          <p:cNvGrpSpPr/>
          <p:nvPr/>
        </p:nvGrpSpPr>
        <p:grpSpPr>
          <a:xfrm>
            <a:off x="5529424" y="2048600"/>
            <a:ext cx="1705414" cy="1941867"/>
            <a:chOff x="6285507" y="4056654"/>
            <a:chExt cx="1361612" cy="195229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A6CBB7-1124-493D-8693-3C29382A273B}"/>
                </a:ext>
              </a:extLst>
            </p:cNvPr>
            <p:cNvGrpSpPr/>
            <p:nvPr/>
          </p:nvGrpSpPr>
          <p:grpSpPr>
            <a:xfrm>
              <a:off x="6285507" y="4056654"/>
              <a:ext cx="1361612" cy="1952294"/>
              <a:chOff x="5808790" y="2272283"/>
              <a:chExt cx="1993536" cy="285835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82987EE-D898-4DE9-B76E-C2BC1B674983}"/>
                  </a:ext>
                </a:extLst>
              </p:cNvPr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en-US" kern="0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375B27C5-AC01-4E6B-8ACA-8E992F1C3F0B}"/>
                  </a:ext>
                </a:extLst>
              </p:cNvPr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61" name="Freeform 25">
                  <a:extLst>
                    <a:ext uri="{FF2B5EF4-FFF2-40B4-BE49-F238E27FC236}">
                      <a16:creationId xmlns:a16="http://schemas.microsoft.com/office/drawing/2014/main" id="{AA058F58-872A-4BD3-BBAB-7A24352149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2" name="Freeform 26">
                  <a:extLst>
                    <a:ext uri="{FF2B5EF4-FFF2-40B4-BE49-F238E27FC236}">
                      <a16:creationId xmlns:a16="http://schemas.microsoft.com/office/drawing/2014/main" id="{77C38EA9-0577-443B-B306-2361096ED7D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89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91304FE-279D-4C3E-B0CE-0087A4931013}"/>
                </a:ext>
              </a:extLst>
            </p:cNvPr>
            <p:cNvSpPr txBox="1"/>
            <p:nvPr/>
          </p:nvSpPr>
          <p:spPr>
            <a:xfrm>
              <a:off x="6371735" y="4537918"/>
              <a:ext cx="1189157" cy="4641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Sept </a:t>
              </a:r>
            </a:p>
            <a:p>
              <a:pPr algn="ctr" defTabSz="457189"/>
              <a:r>
                <a:rPr lang="en-US" sz="12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F747444-63BE-4BAA-A3C5-58330C81EB82}"/>
              </a:ext>
            </a:extLst>
          </p:cNvPr>
          <p:cNvSpPr txBox="1"/>
          <p:nvPr/>
        </p:nvSpPr>
        <p:spPr>
          <a:xfrm>
            <a:off x="7037604" y="1854764"/>
            <a:ext cx="2309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/>
            <a:r>
              <a:rPr lang="en-US" sz="20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to CAG and IAASB </a:t>
            </a:r>
          </a:p>
        </p:txBody>
      </p:sp>
    </p:spTree>
    <p:extLst>
      <p:ext uri="{BB962C8B-B14F-4D97-AF65-F5344CB8AC3E}">
        <p14:creationId xmlns:p14="http://schemas.microsoft.com/office/powerpoint/2010/main" val="309381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97873" y="665230"/>
            <a:ext cx="11055927" cy="3765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Evidence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666044" y="1041748"/>
            <a:ext cx="10419645" cy="5061059"/>
          </a:xfrm>
          <a:prstGeom prst="roundRect">
            <a:avLst/>
          </a:prstGeom>
          <a:noFill/>
          <a:ln w="5715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808080"/>
                </a:solidFill>
                <a:latin typeface="+mn-lt"/>
                <a:ea typeface="+mn-ea"/>
                <a:cs typeface="+mn-cs"/>
              </a:defRPr>
            </a:lvl3pPr>
            <a:lvl4pPr marL="857229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4236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917" indent="0" algn="ctr">
              <a:lnSpc>
                <a:spcPts val="2600"/>
              </a:lnSpc>
              <a:spcBef>
                <a:spcPts val="600"/>
              </a:spcBef>
              <a:buNone/>
            </a:pP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1917" indent="0" algn="ctr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QUESTIONS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0160" lvl="2" indent="-365760">
              <a:lnSpc>
                <a:spcPts val="2400"/>
              </a:lnSpc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lvl="1" indent="-347472"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699172-65DA-469A-9DF9-9309D168B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30" y="2291926"/>
            <a:ext cx="4015140" cy="37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1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27546"/>
      </p:ext>
    </p:extLst>
  </p:cSld>
  <p:clrMapOvr>
    <a:masterClrMapping/>
  </p:clrMapOvr>
</p:sld>
</file>

<file path=ppt/theme/theme1.xml><?xml version="1.0" encoding="utf-8"?>
<a:theme xmlns:a="http://schemas.openxmlformats.org/drawingml/2006/main" name="6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777</Words>
  <Application>Microsoft Office PowerPoint</Application>
  <PresentationFormat>Widescreen</PresentationFormat>
  <Paragraphs>112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Courier New</vt:lpstr>
      <vt:lpstr>6_Custom Design</vt:lpstr>
      <vt:lpstr>2_Office Theme</vt:lpstr>
      <vt:lpstr>Audit Evidence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BJ</dc:creator>
  <cp:lastModifiedBy>Armand Kotze</cp:lastModifiedBy>
  <cp:revision>67</cp:revision>
  <dcterms:created xsi:type="dcterms:W3CDTF">2019-02-14T19:07:31Z</dcterms:created>
  <dcterms:modified xsi:type="dcterms:W3CDTF">2019-09-16T19:54:55Z</dcterms:modified>
</cp:coreProperties>
</file>