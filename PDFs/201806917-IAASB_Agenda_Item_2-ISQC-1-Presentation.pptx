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0"/>
  </p:notesMasterIdLst>
  <p:handoutMasterIdLst>
    <p:handoutMasterId r:id="rId31"/>
  </p:handoutMasterIdLst>
  <p:sldIdLst>
    <p:sldId id="256" r:id="rId2"/>
    <p:sldId id="338" r:id="rId3"/>
    <p:sldId id="389" r:id="rId4"/>
    <p:sldId id="372" r:id="rId5"/>
    <p:sldId id="374" r:id="rId6"/>
    <p:sldId id="391" r:id="rId7"/>
    <p:sldId id="373" r:id="rId8"/>
    <p:sldId id="371" r:id="rId9"/>
    <p:sldId id="375" r:id="rId10"/>
    <p:sldId id="376" r:id="rId11"/>
    <p:sldId id="377" r:id="rId12"/>
    <p:sldId id="378" r:id="rId13"/>
    <p:sldId id="394" r:id="rId14"/>
    <p:sldId id="379" r:id="rId15"/>
    <p:sldId id="380" r:id="rId16"/>
    <p:sldId id="392" r:id="rId17"/>
    <p:sldId id="395" r:id="rId18"/>
    <p:sldId id="381" r:id="rId19"/>
    <p:sldId id="393" r:id="rId20"/>
    <p:sldId id="382" r:id="rId21"/>
    <p:sldId id="383" r:id="rId22"/>
    <p:sldId id="384" r:id="rId23"/>
    <p:sldId id="385" r:id="rId24"/>
    <p:sldId id="386" r:id="rId25"/>
    <p:sldId id="387" r:id="rId26"/>
    <p:sldId id="390" r:id="rId27"/>
    <p:sldId id="388" r:id="rId28"/>
    <p:sldId id="259" r:id="rId29"/>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Natalie Klonaridis" initials="NK" lastIdx="12" clrIdx="2">
    <p:extLst>
      <p:ext uri="{19B8F6BF-5375-455C-9EA6-DF929625EA0E}">
        <p15:presenceInfo xmlns:p15="http://schemas.microsoft.com/office/powerpoint/2012/main" userId="S-1-5-21-1801674531-1972579041-839522115-133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DDEA"/>
    <a:srgbClr val="ACC5DC"/>
    <a:srgbClr val="6398EF"/>
    <a:srgbClr val="96BAF4"/>
    <a:srgbClr val="808080"/>
    <a:srgbClr val="1D9E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43" autoAdjust="0"/>
    <p:restoredTop sz="76684" autoAdjust="0"/>
  </p:normalViewPr>
  <p:slideViewPr>
    <p:cSldViewPr snapToGrid="0" snapToObjects="1">
      <p:cViewPr varScale="1">
        <p:scale>
          <a:sx n="66" d="100"/>
          <a:sy n="66" d="100"/>
        </p:scale>
        <p:origin x="1243" y="53"/>
      </p:cViewPr>
      <p:guideLst>
        <p:guide orient="horz" pos="1620"/>
        <p:guide pos="2880"/>
      </p:guideLst>
    </p:cSldViewPr>
  </p:slideViewPr>
  <p:outlineViewPr>
    <p:cViewPr>
      <p:scale>
        <a:sx n="66" d="100"/>
        <a:sy n="66" d="100"/>
      </p:scale>
      <p:origin x="0" y="0"/>
    </p:cViewPr>
  </p:outlineViewPr>
  <p:notesTextViewPr>
    <p:cViewPr>
      <p:scale>
        <a:sx n="100" d="100"/>
        <a:sy n="100" d="100"/>
      </p:scale>
      <p:origin x="0" y="0"/>
    </p:cViewPr>
  </p:notesTextViewPr>
  <p:sorterViewPr>
    <p:cViewPr>
      <p:scale>
        <a:sx n="201" d="100"/>
        <a:sy n="201" d="100"/>
      </p:scale>
      <p:origin x="0" y="0"/>
    </p:cViewPr>
  </p:sorterViewPr>
  <p:notesViewPr>
    <p:cSldViewPr snapToGrid="0" snapToObjects="1">
      <p:cViewPr varScale="1">
        <p:scale>
          <a:sx n="88" d="100"/>
          <a:sy n="88" d="100"/>
        </p:scale>
        <p:origin x="3798"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9/14/2018</a:t>
            </a:fld>
            <a:endParaRPr lang="en-US"/>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9/14/2018</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410189-AC31-7546-878A-F48FDE4A29F5}" type="slidenum">
              <a:rPr lang="en-US" smtClean="0"/>
              <a:t>1</a:t>
            </a:fld>
            <a:endParaRPr lang="en-US"/>
          </a:p>
        </p:txBody>
      </p:sp>
    </p:spTree>
    <p:extLst>
      <p:ext uri="{BB962C8B-B14F-4D97-AF65-F5344CB8AC3E}">
        <p14:creationId xmlns:p14="http://schemas.microsoft.com/office/powerpoint/2010/main" val="4171193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a:t>
            </a:fld>
            <a:endParaRPr lang="en-US" sz="1200"/>
          </a:p>
        </p:txBody>
      </p:sp>
    </p:spTree>
    <p:extLst>
      <p:ext uri="{BB962C8B-B14F-4D97-AF65-F5344CB8AC3E}">
        <p14:creationId xmlns:p14="http://schemas.microsoft.com/office/powerpoint/2010/main" val="3255479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3</a:t>
            </a:fld>
            <a:endParaRPr lang="en-US" sz="1200"/>
          </a:p>
        </p:txBody>
      </p:sp>
    </p:spTree>
    <p:extLst>
      <p:ext uri="{BB962C8B-B14F-4D97-AF65-F5344CB8AC3E}">
        <p14:creationId xmlns:p14="http://schemas.microsoft.com/office/powerpoint/2010/main" val="3766278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4</a:t>
            </a:fld>
            <a:endParaRPr lang="en-US" sz="1200"/>
          </a:p>
        </p:txBody>
      </p:sp>
    </p:spTree>
    <p:extLst>
      <p:ext uri="{BB962C8B-B14F-4D97-AF65-F5344CB8AC3E}">
        <p14:creationId xmlns:p14="http://schemas.microsoft.com/office/powerpoint/2010/main" val="3846042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5</a:t>
            </a:fld>
            <a:endParaRPr lang="en-US" sz="1200"/>
          </a:p>
        </p:txBody>
      </p:sp>
    </p:spTree>
    <p:extLst>
      <p:ext uri="{BB962C8B-B14F-4D97-AF65-F5344CB8AC3E}">
        <p14:creationId xmlns:p14="http://schemas.microsoft.com/office/powerpoint/2010/main" val="2242242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6</a:t>
            </a:fld>
            <a:endParaRPr lang="en-US" sz="1200"/>
          </a:p>
        </p:txBody>
      </p:sp>
    </p:spTree>
    <p:extLst>
      <p:ext uri="{BB962C8B-B14F-4D97-AF65-F5344CB8AC3E}">
        <p14:creationId xmlns:p14="http://schemas.microsoft.com/office/powerpoint/2010/main" val="340532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7</a:t>
            </a:fld>
            <a:endParaRPr lang="en-US" sz="1200"/>
          </a:p>
        </p:txBody>
      </p:sp>
    </p:spTree>
    <p:extLst>
      <p:ext uri="{BB962C8B-B14F-4D97-AF65-F5344CB8AC3E}">
        <p14:creationId xmlns:p14="http://schemas.microsoft.com/office/powerpoint/2010/main" val="2549924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8</a:t>
            </a:fld>
            <a:endParaRPr lang="en-US" sz="1200"/>
          </a:p>
        </p:txBody>
      </p:sp>
    </p:spTree>
    <p:extLst>
      <p:ext uri="{BB962C8B-B14F-4D97-AF65-F5344CB8AC3E}">
        <p14:creationId xmlns:p14="http://schemas.microsoft.com/office/powerpoint/2010/main" val="2029739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9</a:t>
            </a:fld>
            <a:endParaRPr lang="en-US" sz="1200"/>
          </a:p>
        </p:txBody>
      </p:sp>
    </p:spTree>
    <p:extLst>
      <p:ext uri="{BB962C8B-B14F-4D97-AF65-F5344CB8AC3E}">
        <p14:creationId xmlns:p14="http://schemas.microsoft.com/office/powerpoint/2010/main" val="3585061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10</a:t>
            </a:fld>
            <a:endParaRPr lang="en-US" sz="1200"/>
          </a:p>
        </p:txBody>
      </p:sp>
    </p:spTree>
    <p:extLst>
      <p:ext uri="{BB962C8B-B14F-4D97-AF65-F5344CB8AC3E}">
        <p14:creationId xmlns:p14="http://schemas.microsoft.com/office/powerpoint/2010/main" val="3654762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11</a:t>
            </a:fld>
            <a:endParaRPr lang="en-US" sz="1200"/>
          </a:p>
        </p:txBody>
      </p:sp>
    </p:spTree>
    <p:extLst>
      <p:ext uri="{BB962C8B-B14F-4D97-AF65-F5344CB8AC3E}">
        <p14:creationId xmlns:p14="http://schemas.microsoft.com/office/powerpoint/2010/main" val="1316240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12</a:t>
            </a:fld>
            <a:endParaRPr lang="en-US" sz="1200"/>
          </a:p>
        </p:txBody>
      </p:sp>
    </p:spTree>
    <p:extLst>
      <p:ext uri="{BB962C8B-B14F-4D97-AF65-F5344CB8AC3E}">
        <p14:creationId xmlns:p14="http://schemas.microsoft.com/office/powerpoint/2010/main" val="366477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13</a:t>
            </a:fld>
            <a:endParaRPr lang="en-US" sz="1200"/>
          </a:p>
        </p:txBody>
      </p:sp>
    </p:spTree>
    <p:extLst>
      <p:ext uri="{BB962C8B-B14F-4D97-AF65-F5344CB8AC3E}">
        <p14:creationId xmlns:p14="http://schemas.microsoft.com/office/powerpoint/2010/main" val="11187336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14</a:t>
            </a:fld>
            <a:endParaRPr lang="en-US" sz="1200"/>
          </a:p>
        </p:txBody>
      </p:sp>
    </p:spTree>
    <p:extLst>
      <p:ext uri="{BB962C8B-B14F-4D97-AF65-F5344CB8AC3E}">
        <p14:creationId xmlns:p14="http://schemas.microsoft.com/office/powerpoint/2010/main" val="13073134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15</a:t>
            </a:fld>
            <a:endParaRPr lang="en-US" sz="1200"/>
          </a:p>
        </p:txBody>
      </p:sp>
    </p:spTree>
    <p:extLst>
      <p:ext uri="{BB962C8B-B14F-4D97-AF65-F5344CB8AC3E}">
        <p14:creationId xmlns:p14="http://schemas.microsoft.com/office/powerpoint/2010/main" val="3368681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16</a:t>
            </a:fld>
            <a:endParaRPr lang="en-US" sz="1200"/>
          </a:p>
        </p:txBody>
      </p:sp>
    </p:spTree>
    <p:extLst>
      <p:ext uri="{BB962C8B-B14F-4D97-AF65-F5344CB8AC3E}">
        <p14:creationId xmlns:p14="http://schemas.microsoft.com/office/powerpoint/2010/main" val="12570394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17</a:t>
            </a:fld>
            <a:endParaRPr lang="en-US" sz="1200"/>
          </a:p>
        </p:txBody>
      </p:sp>
    </p:spTree>
    <p:extLst>
      <p:ext uri="{BB962C8B-B14F-4D97-AF65-F5344CB8AC3E}">
        <p14:creationId xmlns:p14="http://schemas.microsoft.com/office/powerpoint/2010/main" val="1245528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18</a:t>
            </a:fld>
            <a:endParaRPr lang="en-US" sz="1200"/>
          </a:p>
        </p:txBody>
      </p:sp>
    </p:spTree>
    <p:extLst>
      <p:ext uri="{BB962C8B-B14F-4D97-AF65-F5344CB8AC3E}">
        <p14:creationId xmlns:p14="http://schemas.microsoft.com/office/powerpoint/2010/main" val="42006978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19</a:t>
            </a:fld>
            <a:endParaRPr lang="en-US" sz="1200"/>
          </a:p>
        </p:txBody>
      </p:sp>
    </p:spTree>
    <p:extLst>
      <p:ext uri="{BB962C8B-B14F-4D97-AF65-F5344CB8AC3E}">
        <p14:creationId xmlns:p14="http://schemas.microsoft.com/office/powerpoint/2010/main" val="4181961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20</a:t>
            </a:fld>
            <a:endParaRPr lang="en-US" sz="1200"/>
          </a:p>
        </p:txBody>
      </p:sp>
    </p:spTree>
    <p:extLst>
      <p:ext uri="{BB962C8B-B14F-4D97-AF65-F5344CB8AC3E}">
        <p14:creationId xmlns:p14="http://schemas.microsoft.com/office/powerpoint/2010/main" val="7031603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21</a:t>
            </a:fld>
            <a:endParaRPr lang="en-US" sz="1200"/>
          </a:p>
        </p:txBody>
      </p:sp>
    </p:spTree>
    <p:extLst>
      <p:ext uri="{BB962C8B-B14F-4D97-AF65-F5344CB8AC3E}">
        <p14:creationId xmlns:p14="http://schemas.microsoft.com/office/powerpoint/2010/main" val="23351488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22</a:t>
            </a:fld>
            <a:endParaRPr lang="en-US" sz="1200"/>
          </a:p>
        </p:txBody>
      </p:sp>
    </p:spTree>
    <p:extLst>
      <p:ext uri="{BB962C8B-B14F-4D97-AF65-F5344CB8AC3E}">
        <p14:creationId xmlns:p14="http://schemas.microsoft.com/office/powerpoint/2010/main" val="37471434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23</a:t>
            </a:fld>
            <a:endParaRPr lang="en-US" sz="1200"/>
          </a:p>
        </p:txBody>
      </p:sp>
    </p:spTree>
    <p:extLst>
      <p:ext uri="{BB962C8B-B14F-4D97-AF65-F5344CB8AC3E}">
        <p14:creationId xmlns:p14="http://schemas.microsoft.com/office/powerpoint/2010/main" val="30904456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24</a:t>
            </a:fld>
            <a:endParaRPr lang="en-US" sz="1200"/>
          </a:p>
        </p:txBody>
      </p:sp>
    </p:spTree>
    <p:extLst>
      <p:ext uri="{BB962C8B-B14F-4D97-AF65-F5344CB8AC3E}">
        <p14:creationId xmlns:p14="http://schemas.microsoft.com/office/powerpoint/2010/main" val="25987830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25</a:t>
            </a:fld>
            <a:endParaRPr lang="en-US" sz="1200"/>
          </a:p>
        </p:txBody>
      </p:sp>
    </p:spTree>
    <p:extLst>
      <p:ext uri="{BB962C8B-B14F-4D97-AF65-F5344CB8AC3E}">
        <p14:creationId xmlns:p14="http://schemas.microsoft.com/office/powerpoint/2010/main" val="20517098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26</a:t>
            </a:fld>
            <a:endParaRPr lang="en-US" sz="1200"/>
          </a:p>
        </p:txBody>
      </p:sp>
    </p:spTree>
    <p:extLst>
      <p:ext uri="{BB962C8B-B14F-4D97-AF65-F5344CB8AC3E}">
        <p14:creationId xmlns:p14="http://schemas.microsoft.com/office/powerpoint/2010/main" val="29138487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27</a:t>
            </a:fld>
            <a:endParaRPr lang="en-US" sz="1200"/>
          </a:p>
        </p:txBody>
      </p:sp>
    </p:spTree>
    <p:extLst>
      <p:ext uri="{BB962C8B-B14F-4D97-AF65-F5344CB8AC3E}">
        <p14:creationId xmlns:p14="http://schemas.microsoft.com/office/powerpoint/2010/main" val="19517381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www.iaasb.org/" TargetMode="External"/><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hyperlink" Target="mailto:permissions@ifac.org" TargetMode="External"/><Relationship Id="rId5" Type="http://schemas.openxmlformats.org/officeDocument/2006/relationships/image" Target="../media/image7.png"/><Relationship Id="rId10" Type="http://schemas.openxmlformats.org/officeDocument/2006/relationships/hyperlink" Target="http://www.ifac.org/about-ifac/translations-permissions" TargetMode="External"/><Relationship Id="rId4" Type="http://schemas.openxmlformats.org/officeDocument/2006/relationships/image" Target="../media/image6.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smtClean="0"/>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smtClean="0"/>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smtClean="0"/>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smtClean="0">
              <a:latin typeface="Arial" panose="020B0604020202020204" pitchFamily="34" charset="0"/>
              <a:cs typeface="MS PGothic" charset="0"/>
            </a:endParaRPr>
          </a:p>
        </p:txBody>
      </p:sp>
    </p:spTree>
    <p:extLst>
      <p:ext uri="{BB962C8B-B14F-4D97-AF65-F5344CB8AC3E}">
        <p14:creationId xmlns:p14="http://schemas.microsoft.com/office/powerpoint/2010/main" val="257666932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6" name="Slide Number Placeholder 5"/>
          <p:cNvSpPr>
            <a:spLocks noGrp="1"/>
          </p:cNvSpPr>
          <p:nvPr>
            <p:ph type="sldNum" sz="quarter" idx="12"/>
          </p:nvPr>
        </p:nvSpPr>
        <p:spPr/>
        <p:txBody>
          <a:bodyPr/>
          <a:lstStyle>
            <a:lvl1pPr algn="r">
              <a:defRPr/>
            </a:lvl1pPr>
          </a:lstStyle>
          <a:p>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193993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Slide Number Placeholder 8"/>
          <p:cNvSpPr>
            <a:spLocks noGrp="1"/>
          </p:cNvSpPr>
          <p:nvPr>
            <p:ph type="sldNum" sz="quarter" idx="12"/>
          </p:nvPr>
        </p:nvSpPr>
        <p:spPr/>
        <p:txBody>
          <a:body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p:txBody>
          <a:body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smtClean="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9559"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68002"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0292"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875897"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78511"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335213"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smtClean="0">
                <a:effectLst/>
                <a:latin typeface="Arial" panose="020B0604020202020204" pitchFamily="34" charset="0"/>
                <a:ea typeface="Calibri" panose="020F0502020204030204" pitchFamily="34" charset="0"/>
              </a:rPr>
              <a:t>For copyright, trademark, and permissions information, please go to </a:t>
            </a:r>
            <a:r>
              <a:rPr lang="en-US" sz="900" u="sng" dirty="0" smtClean="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smtClean="0">
                <a:effectLst/>
                <a:latin typeface="Arial" panose="020B0604020202020204" pitchFamily="34" charset="0"/>
                <a:ea typeface="Calibri" panose="020F0502020204030204" pitchFamily="34" charset="0"/>
              </a:rPr>
              <a:t> or contact </a:t>
            </a:r>
            <a:r>
              <a:rPr lang="en-US" sz="900" u="sng" dirty="0" smtClean="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smtClean="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fld id="{AF73A935-0AD8-4B38-AD39-55437B5CA1D2}" type="datetime1">
              <a:rPr lang="en-US" smtClean="0"/>
              <a:t>9/14/2018</a:t>
            </a:fld>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timing>
    <p:tnLst>
      <p:par>
        <p:cTn id="1" dur="indefinite" restart="never" nodeType="tmRoot"/>
      </p:par>
    </p:tnLst>
  </p:timing>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Proposed ISQC 1 (Revised)</a:t>
            </a:r>
            <a:endParaRPr lang="en-US" dirty="0"/>
          </a:p>
        </p:txBody>
      </p:sp>
      <p:sp>
        <p:nvSpPr>
          <p:cNvPr id="6" name="Subtitle 5"/>
          <p:cNvSpPr>
            <a:spLocks noGrp="1"/>
          </p:cNvSpPr>
          <p:nvPr>
            <p:ph type="subTitle" idx="1"/>
          </p:nvPr>
        </p:nvSpPr>
        <p:spPr>
          <a:xfrm>
            <a:off x="685801" y="3221372"/>
            <a:ext cx="4732867" cy="1419203"/>
          </a:xfrm>
        </p:spPr>
        <p:txBody>
          <a:bodyPr/>
          <a:lstStyle/>
          <a:p>
            <a:r>
              <a:rPr lang="en-US" dirty="0" smtClean="0"/>
              <a:t>Karin French, Quality Control Task Force Chair</a:t>
            </a:r>
            <a:endParaRPr lang="en-US" dirty="0"/>
          </a:p>
          <a:p>
            <a:r>
              <a:rPr lang="en-US" dirty="0" smtClean="0"/>
              <a:t>IAASB Meeting, New York</a:t>
            </a:r>
          </a:p>
          <a:p>
            <a:r>
              <a:rPr lang="en-US" dirty="0" smtClean="0"/>
              <a:t>Agenda Item </a:t>
            </a:r>
            <a:r>
              <a:rPr lang="en-US" dirty="0" smtClean="0"/>
              <a:t>2</a:t>
            </a:r>
            <a:endParaRPr lang="en-US" dirty="0" smtClean="0"/>
          </a:p>
          <a:p>
            <a:r>
              <a:rPr lang="en-US" dirty="0" smtClean="0"/>
              <a:t>September 17</a:t>
            </a:r>
            <a:r>
              <a:rPr lang="en-US" dirty="0" smtClean="0"/>
              <a:t>, </a:t>
            </a:r>
            <a:r>
              <a:rPr lang="en-US" dirty="0" smtClean="0"/>
              <a:t>2018 </a:t>
            </a:r>
            <a:endParaRPr lang="en-US" dirty="0"/>
          </a:p>
        </p:txBody>
      </p:sp>
    </p:spTree>
    <p:extLst>
      <p:ext uri="{BB962C8B-B14F-4D97-AF65-F5344CB8AC3E}">
        <p14:creationId xmlns:p14="http://schemas.microsoft.com/office/powerpoint/2010/main" val="4240407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8512" y="427437"/>
            <a:ext cx="8229600" cy="403875"/>
          </a:xfrm>
        </p:spPr>
        <p:txBody>
          <a:bodyPr/>
          <a:lstStyle/>
          <a:p>
            <a:r>
              <a:rPr lang="en-US" dirty="0"/>
              <a:t>Structure of Proposed ISQC 1 (Revised) and Interrelationship of the Components </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2</a:t>
            </a:fld>
            <a:endParaRPr lang="en-US" sz="750" dirty="0">
              <a:solidFill>
                <a:schemeClr val="tx1"/>
              </a:solidFill>
              <a:latin typeface="+mn-lt"/>
            </a:endParaRPr>
          </a:p>
          <a:p>
            <a:endParaRPr lang="en-US" sz="750" dirty="0">
              <a:solidFill>
                <a:schemeClr val="tx1"/>
              </a:solidFill>
              <a:latin typeface="+mn-lt"/>
            </a:endParaRPr>
          </a:p>
        </p:txBody>
      </p:sp>
      <p:pic>
        <p:nvPicPr>
          <p:cNvPr id="8" name="Picture 7"/>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4747" y="976571"/>
            <a:ext cx="4047967" cy="3622062"/>
          </a:xfrm>
          <a:prstGeom prst="rect">
            <a:avLst/>
          </a:prstGeom>
          <a:noFill/>
        </p:spPr>
      </p:pic>
      <p:pic>
        <p:nvPicPr>
          <p:cNvPr id="9" name="Picture 8"/>
          <p:cNvPicPr/>
          <p:nvPr/>
        </p:nvPicPr>
        <p:blipFill rotWithShape="1">
          <a:blip r:embed="rId4">
            <a:extLst>
              <a:ext uri="{28A0092B-C50C-407E-A947-70E740481C1C}">
                <a14:useLocalDpi xmlns:a14="http://schemas.microsoft.com/office/drawing/2010/main" val="0"/>
              </a:ext>
            </a:extLst>
          </a:blip>
          <a:srcRect l="13077" t="3647" r="9231" b="6536"/>
          <a:stretch/>
        </p:blipFill>
        <p:spPr bwMode="auto">
          <a:xfrm>
            <a:off x="4301492" y="1055154"/>
            <a:ext cx="4656077" cy="335704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341520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8512" y="441842"/>
            <a:ext cx="8229600" cy="403875"/>
          </a:xfrm>
        </p:spPr>
        <p:txBody>
          <a:bodyPr/>
          <a:lstStyle/>
          <a:p>
            <a:r>
              <a:rPr lang="en-US" dirty="0" smtClean="0"/>
              <a:t>CAG and SMPC Feedback: Overarching Comments</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3</a:t>
            </a:fld>
            <a:endParaRPr lang="en-US" sz="750" dirty="0">
              <a:solidFill>
                <a:schemeClr val="tx1"/>
              </a:solidFill>
              <a:latin typeface="+mn-lt"/>
            </a:endParaRPr>
          </a:p>
          <a:p>
            <a:endParaRPr lang="en-US" sz="750" dirty="0">
              <a:solidFill>
                <a:schemeClr val="tx1"/>
              </a:solidFill>
              <a:latin typeface="+mn-lt"/>
            </a:endParaRPr>
          </a:p>
        </p:txBody>
      </p:sp>
      <p:sp>
        <p:nvSpPr>
          <p:cNvPr id="2" name="Content Placeholder 1"/>
          <p:cNvSpPr>
            <a:spLocks noGrp="1"/>
          </p:cNvSpPr>
          <p:nvPr>
            <p:ph idx="1"/>
          </p:nvPr>
        </p:nvSpPr>
        <p:spPr>
          <a:xfrm>
            <a:off x="248512" y="868862"/>
            <a:ext cx="8229600" cy="3188677"/>
          </a:xfrm>
        </p:spPr>
        <p:txBody>
          <a:bodyPr/>
          <a:lstStyle/>
          <a:p>
            <a:pPr>
              <a:lnSpc>
                <a:spcPts val="1960"/>
              </a:lnSpc>
              <a:spcBef>
                <a:spcPts val="400"/>
              </a:spcBef>
            </a:pPr>
            <a:r>
              <a:rPr lang="en-US" sz="1800" dirty="0" smtClean="0"/>
              <a:t>CAG Comments</a:t>
            </a:r>
          </a:p>
          <a:p>
            <a:pPr lvl="1">
              <a:lnSpc>
                <a:spcPts val="1960"/>
              </a:lnSpc>
              <a:spcBef>
                <a:spcPts val="400"/>
              </a:spcBef>
              <a:spcAft>
                <a:spcPts val="0"/>
              </a:spcAft>
            </a:pPr>
            <a:r>
              <a:rPr lang="en-US" sz="1600" dirty="0" smtClean="0"/>
              <a:t>Very important standard given the state of the profession, need to improve the perception of the profession and close relationship with firm’s business model and culture</a:t>
            </a:r>
          </a:p>
          <a:p>
            <a:pPr lvl="1">
              <a:lnSpc>
                <a:spcPts val="1960"/>
              </a:lnSpc>
              <a:spcBef>
                <a:spcPts val="400"/>
              </a:spcBef>
              <a:spcAft>
                <a:spcPts val="0"/>
              </a:spcAft>
            </a:pPr>
            <a:r>
              <a:rPr lang="en-US" sz="1600" dirty="0" smtClean="0"/>
              <a:t>September 2018 version much simpler and easier to understand from March 2018</a:t>
            </a:r>
          </a:p>
          <a:p>
            <a:pPr lvl="1">
              <a:lnSpc>
                <a:spcPts val="1960"/>
              </a:lnSpc>
              <a:spcBef>
                <a:spcPts val="400"/>
              </a:spcBef>
              <a:spcAft>
                <a:spcPts val="0"/>
              </a:spcAft>
            </a:pPr>
            <a:r>
              <a:rPr lang="en-US" sz="1600" dirty="0" smtClean="0"/>
              <a:t>Improve </a:t>
            </a:r>
            <a:r>
              <a:rPr lang="en-US" sz="1600" dirty="0"/>
              <a:t>emphasis </a:t>
            </a:r>
            <a:r>
              <a:rPr lang="en-US" sz="1600" dirty="0" smtClean="0"/>
              <a:t>on </a:t>
            </a:r>
            <a:r>
              <a:rPr lang="en-US" sz="1600" dirty="0"/>
              <a:t>risk-based </a:t>
            </a:r>
            <a:r>
              <a:rPr lang="en-US" sz="1600" dirty="0" smtClean="0"/>
              <a:t>approach</a:t>
            </a:r>
          </a:p>
          <a:p>
            <a:pPr lvl="1">
              <a:lnSpc>
                <a:spcPts val="1960"/>
              </a:lnSpc>
              <a:spcBef>
                <a:spcPts val="400"/>
              </a:spcBef>
              <a:spcAft>
                <a:spcPts val="0"/>
              </a:spcAft>
            </a:pPr>
            <a:r>
              <a:rPr lang="en-US" sz="1600" dirty="0"/>
              <a:t>Q</a:t>
            </a:r>
            <a:r>
              <a:rPr lang="en-US" sz="1600" dirty="0" smtClean="0"/>
              <a:t>uestioned use </a:t>
            </a:r>
            <a:r>
              <a:rPr lang="en-US" sz="1600" dirty="0"/>
              <a:t>of the term “reasonable </a:t>
            </a:r>
            <a:r>
              <a:rPr lang="en-US" sz="1600" dirty="0" smtClean="0"/>
              <a:t>assurance”, i.e., it </a:t>
            </a:r>
            <a:r>
              <a:rPr lang="en-US" sz="1600" dirty="0"/>
              <a:t>is </a:t>
            </a:r>
            <a:r>
              <a:rPr lang="en-US" sz="1600" dirty="0" smtClean="0"/>
              <a:t>a term associated with an </a:t>
            </a:r>
            <a:r>
              <a:rPr lang="en-US" sz="1600" dirty="0"/>
              <a:t>assurance engagement and </a:t>
            </a:r>
            <a:r>
              <a:rPr lang="en-US" sz="1600" dirty="0" smtClean="0"/>
              <a:t>could </a:t>
            </a:r>
            <a:r>
              <a:rPr lang="en-US" sz="1600" dirty="0"/>
              <a:t>be </a:t>
            </a:r>
            <a:r>
              <a:rPr lang="en-US" sz="1600" dirty="0" smtClean="0"/>
              <a:t>misinterpreted</a:t>
            </a:r>
          </a:p>
          <a:p>
            <a:pPr>
              <a:lnSpc>
                <a:spcPts val="1960"/>
              </a:lnSpc>
              <a:spcBef>
                <a:spcPts val="400"/>
              </a:spcBef>
            </a:pPr>
            <a:r>
              <a:rPr lang="en-US" sz="1800" dirty="0" smtClean="0"/>
              <a:t>SMPC </a:t>
            </a:r>
            <a:r>
              <a:rPr lang="en-US" sz="1800" dirty="0"/>
              <a:t>Comments</a:t>
            </a:r>
          </a:p>
          <a:p>
            <a:pPr lvl="1">
              <a:lnSpc>
                <a:spcPts val="1960"/>
              </a:lnSpc>
              <a:spcBef>
                <a:spcPts val="400"/>
              </a:spcBef>
              <a:spcAft>
                <a:spcPts val="0"/>
              </a:spcAft>
            </a:pPr>
            <a:r>
              <a:rPr lang="en-US" sz="1600" dirty="0" smtClean="0"/>
              <a:t>Overall improvement from March 2018</a:t>
            </a:r>
          </a:p>
          <a:p>
            <a:pPr lvl="1">
              <a:lnSpc>
                <a:spcPts val="1960"/>
              </a:lnSpc>
              <a:spcBef>
                <a:spcPts val="400"/>
              </a:spcBef>
              <a:spcAft>
                <a:spcPts val="0"/>
              </a:spcAft>
            </a:pPr>
            <a:r>
              <a:rPr lang="en-US" sz="1600" dirty="0" smtClean="0"/>
              <a:t>Suggestion to have a more positive tone (i.e., terms such as deficiencies and remediation have a negative tone)</a:t>
            </a:r>
          </a:p>
          <a:p>
            <a:pPr lvl="1">
              <a:lnSpc>
                <a:spcPts val="1960"/>
              </a:lnSpc>
              <a:spcBef>
                <a:spcPts val="400"/>
              </a:spcBef>
              <a:spcAft>
                <a:spcPts val="0"/>
              </a:spcAft>
            </a:pPr>
            <a:r>
              <a:rPr lang="en-US" sz="1600" dirty="0"/>
              <a:t>Consider reverting back to previous diagram</a:t>
            </a:r>
          </a:p>
          <a:p>
            <a:pPr lvl="1">
              <a:lnSpc>
                <a:spcPts val="1960"/>
              </a:lnSpc>
              <a:spcBef>
                <a:spcPts val="400"/>
              </a:spcBef>
              <a:spcAft>
                <a:spcPts val="0"/>
              </a:spcAft>
            </a:pPr>
            <a:r>
              <a:rPr lang="en-US" sz="1600" dirty="0"/>
              <a:t>Concern about retaining extant requirements in the revised </a:t>
            </a:r>
            <a:r>
              <a:rPr lang="en-US" sz="1600" dirty="0" smtClean="0"/>
              <a:t>standard </a:t>
            </a:r>
            <a:endParaRPr lang="en-US" dirty="0"/>
          </a:p>
        </p:txBody>
      </p:sp>
    </p:spTree>
    <p:extLst>
      <p:ext uri="{BB962C8B-B14F-4D97-AF65-F5344CB8AC3E}">
        <p14:creationId xmlns:p14="http://schemas.microsoft.com/office/powerpoint/2010/main" val="11185960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7451" y="427437"/>
            <a:ext cx="8229600" cy="403875"/>
          </a:xfrm>
        </p:spPr>
        <p:txBody>
          <a:bodyPr/>
          <a:lstStyle/>
          <a:p>
            <a:r>
              <a:rPr lang="en-US" dirty="0"/>
              <a:t>Structure of Proposed ISQC 1 (Revised) and Interrelationship of the Components </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4</a:t>
            </a:fld>
            <a:endParaRPr lang="en-US" sz="750" dirty="0">
              <a:solidFill>
                <a:schemeClr val="tx1"/>
              </a:solidFill>
              <a:latin typeface="+mn-lt"/>
            </a:endParaRPr>
          </a:p>
          <a:p>
            <a:endParaRPr lang="en-US" sz="750" dirty="0">
              <a:solidFill>
                <a:schemeClr val="tx1"/>
              </a:solidFill>
              <a:latin typeface="+mn-lt"/>
            </a:endParaRPr>
          </a:p>
        </p:txBody>
      </p:sp>
      <p:sp>
        <p:nvSpPr>
          <p:cNvPr id="7" name="Content Placeholder 6"/>
          <p:cNvSpPr>
            <a:spLocks noGrp="1"/>
          </p:cNvSpPr>
          <p:nvPr>
            <p:ph idx="1"/>
          </p:nvPr>
        </p:nvSpPr>
        <p:spPr>
          <a:xfrm>
            <a:off x="257451" y="1104020"/>
            <a:ext cx="8673483" cy="2455926"/>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a:solidFill>
                  <a:schemeClr val="tx1">
                    <a:lumMod val="50000"/>
                    <a:lumOff val="50000"/>
                  </a:schemeClr>
                </a:solidFill>
                <a:latin typeface="Arial" panose="020B0604020202020204" pitchFamily="34" charset="0"/>
                <a:cs typeface="Arial" panose="020B0604020202020204" pitchFamily="34" charset="0"/>
              </a:rPr>
              <a:t>1</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Paragraph </a:t>
            </a:r>
            <a:r>
              <a:rPr lang="en-US" sz="1600" dirty="0">
                <a:solidFill>
                  <a:schemeClr val="tx1">
                    <a:lumMod val="50000"/>
                    <a:lumOff val="50000"/>
                  </a:schemeClr>
                </a:solidFill>
                <a:latin typeface="Arial" panose="020B0604020202020204" pitchFamily="34" charset="0"/>
                <a:cs typeface="Arial" panose="020B0604020202020204" pitchFamily="34" charset="0"/>
              </a:rPr>
              <a:t>10 explains how proposed ISQC 1 (Revised) describes the interrelationship of the components. Does the IAASB have any further suggestions for describing or depicting the interrelationships of the components</a:t>
            </a:r>
            <a:r>
              <a:rPr lang="en-US" sz="1600" dirty="0" smtClean="0">
                <a:solidFill>
                  <a:schemeClr val="tx1">
                    <a:lumMod val="50000"/>
                    <a:lumOff val="50000"/>
                  </a:schemeClr>
                </a:solidFill>
                <a:latin typeface="Arial" panose="020B0604020202020204" pitchFamily="34" charset="0"/>
                <a:cs typeface="Arial" panose="020B0604020202020204" pitchFamily="34" charset="0"/>
              </a:rPr>
              <a:t>?</a:t>
            </a:r>
          </a:p>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2:</a:t>
            </a:r>
            <a:endParaRPr lang="en-US" sz="1800"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indicate which of the two proposed diagrams is preferred and whether the preferred diagram should be included in the standard</a:t>
            </a:r>
            <a:r>
              <a:rPr lang="en-US" sz="1600" dirty="0" smtClean="0">
                <a:solidFill>
                  <a:schemeClr val="tx1">
                    <a:lumMod val="50000"/>
                    <a:lumOff val="50000"/>
                  </a:schemeClr>
                </a:solidFill>
                <a:latin typeface="Arial" panose="020B0604020202020204" pitchFamily="34" charset="0"/>
                <a:cs typeface="Arial" panose="020B0604020202020204" pitchFamily="34" charset="0"/>
              </a:rPr>
              <a:t>.</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68643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9878" y="427437"/>
            <a:ext cx="8229600" cy="403875"/>
          </a:xfrm>
        </p:spPr>
        <p:txBody>
          <a:bodyPr/>
          <a:lstStyle/>
          <a:p>
            <a:r>
              <a:rPr lang="en-US" dirty="0" smtClean="0"/>
              <a:t>Introduction</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5</a:t>
            </a:fld>
            <a:endParaRPr lang="en-US" sz="750" dirty="0">
              <a:solidFill>
                <a:schemeClr val="tx1"/>
              </a:solidFill>
              <a:latin typeface="+mn-lt"/>
            </a:endParaRPr>
          </a:p>
          <a:p>
            <a:endParaRPr lang="en-US" sz="750" dirty="0">
              <a:solidFill>
                <a:schemeClr val="tx1"/>
              </a:solidFill>
              <a:latin typeface="+mn-lt"/>
            </a:endParaRPr>
          </a:p>
        </p:txBody>
      </p:sp>
      <p:sp>
        <p:nvSpPr>
          <p:cNvPr id="8" name="Content Placeholder 1"/>
          <p:cNvSpPr txBox="1">
            <a:spLocks/>
          </p:cNvSpPr>
          <p:nvPr/>
        </p:nvSpPr>
        <p:spPr>
          <a:xfrm>
            <a:off x="343462" y="933934"/>
            <a:ext cx="8374284" cy="3188677"/>
          </a:xfrm>
          <a:prstGeom prst="rect">
            <a:avLst/>
          </a:prstGeom>
        </p:spPr>
        <p:txBody>
          <a:bodyPr vert="horz" lIns="0" tIns="0" rIns="0" bIns="0" rtlCol="0">
            <a:noAutofit/>
          </a:bodyPr>
          <a:lstStyle>
            <a:lvl1pPr marL="129779" indent="-129779" algn="l" defTabSz="342900" rtl="0" eaLnBrk="1" latinLnBrk="0" hangingPunct="1">
              <a:spcBef>
                <a:spcPts val="900"/>
              </a:spcBef>
              <a:buFont typeface="Arial"/>
              <a:buChar char="•"/>
              <a:defRPr sz="1500" kern="1200">
                <a:solidFill>
                  <a:srgbClr val="808080"/>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rgbClr val="808080"/>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rgbClr val="808080"/>
                </a:solidFill>
                <a:latin typeface="Arial" panose="020B0604020202020204" pitchFamily="34" charset="0"/>
                <a:ea typeface="+mn-ea"/>
                <a:cs typeface="Arial" panose="020B0604020202020204" pitchFamily="34" charset="0"/>
              </a:defRPr>
            </a:lvl3pPr>
            <a:lvl4pPr marL="642938"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4pPr>
            <a:lvl5pPr marL="813197"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sz="1800" dirty="0" smtClean="0"/>
              <a:t>CAG Comments:</a:t>
            </a:r>
          </a:p>
          <a:p>
            <a:pPr lvl="1"/>
            <a:r>
              <a:rPr lang="en-US" sz="1600" dirty="0" smtClean="0"/>
              <a:t>Mixed views on reference to public interest – some support, others suggested it has gone too far as not all audits performed in the public interest</a:t>
            </a:r>
          </a:p>
          <a:p>
            <a:pPr lvl="1"/>
            <a:r>
              <a:rPr lang="en-US" sz="1600" dirty="0" smtClean="0"/>
              <a:t>Further consideration needed of the public interest in the context of the profession – recognition of the paper being developed by the PIOB</a:t>
            </a:r>
          </a:p>
          <a:p>
            <a:pPr lvl="1"/>
            <a:r>
              <a:rPr lang="en-US" sz="1600" dirty="0" smtClean="0"/>
              <a:t>Concern over broader reference to professional skepticism - standard </a:t>
            </a:r>
            <a:r>
              <a:rPr lang="en-US" sz="1600" dirty="0"/>
              <a:t>extends to all engagement types and entities</a:t>
            </a:r>
            <a:endParaRPr lang="en-US" sz="1600" dirty="0" smtClean="0"/>
          </a:p>
          <a:p>
            <a:pPr lvl="1"/>
            <a:r>
              <a:rPr lang="en-US" sz="1600" dirty="0" smtClean="0"/>
              <a:t>Recent development of IESBA that another term will be used instead of the term “professional skepticism” in the context of all professional accountants (i.e., as it relates to professional skepticism about judgments related to the SOQM)</a:t>
            </a:r>
          </a:p>
          <a:p>
            <a:r>
              <a:rPr lang="en-US" sz="1750" dirty="0" smtClean="0"/>
              <a:t>SMPC Comments:</a:t>
            </a:r>
          </a:p>
          <a:p>
            <a:pPr lvl="1"/>
            <a:r>
              <a:rPr lang="en-US" sz="1600" dirty="0"/>
              <a:t>Concern over broader reference to professional skepticism - standard extends to all engagement types and </a:t>
            </a:r>
            <a:r>
              <a:rPr lang="en-US" sz="1600" dirty="0" smtClean="0"/>
              <a:t>entities</a:t>
            </a:r>
          </a:p>
          <a:p>
            <a:endParaRPr lang="en-US" sz="1800" dirty="0" smtClean="0"/>
          </a:p>
          <a:p>
            <a:endParaRPr lang="en-US" dirty="0"/>
          </a:p>
        </p:txBody>
      </p:sp>
    </p:spTree>
    <p:extLst>
      <p:ext uri="{BB962C8B-B14F-4D97-AF65-F5344CB8AC3E}">
        <p14:creationId xmlns:p14="http://schemas.microsoft.com/office/powerpoint/2010/main" val="7536360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8512" y="427437"/>
            <a:ext cx="8229600" cy="403875"/>
          </a:xfrm>
        </p:spPr>
        <p:txBody>
          <a:bodyPr/>
          <a:lstStyle/>
          <a:p>
            <a:r>
              <a:rPr lang="en-US" dirty="0" smtClean="0"/>
              <a:t>Introduction</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6</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35258" y="1013058"/>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a:t>
            </a:r>
            <a:r>
              <a:rPr lang="en-US" sz="1600" dirty="0" smtClean="0">
                <a:solidFill>
                  <a:schemeClr val="bg1"/>
                </a:solidFill>
                <a:latin typeface="Arial" panose="020B0604020202020204" pitchFamily="34" charset="0"/>
                <a:cs typeface="Arial" panose="020B0604020202020204" pitchFamily="34" charset="0"/>
              </a:rPr>
              <a:t>1 </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10</a:t>
            </a: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Application material:	A1</a:t>
            </a:r>
            <a:r>
              <a:rPr lang="en-US" sz="1600" dirty="0">
                <a:solidFill>
                  <a:schemeClr val="bg1"/>
                </a:solidFill>
                <a:latin typeface="Arial" panose="020B0604020202020204" pitchFamily="34" charset="0"/>
                <a:cs typeface="Arial" panose="020B0604020202020204" pitchFamily="34" charset="0"/>
              </a:rPr>
              <a:t> – </a:t>
            </a:r>
            <a:r>
              <a:rPr lang="en-US" sz="1600" dirty="0" smtClean="0">
                <a:solidFill>
                  <a:schemeClr val="bg1"/>
                </a:solidFill>
                <a:latin typeface="Arial" panose="020B0604020202020204" pitchFamily="34" charset="0"/>
                <a:cs typeface="Arial" panose="020B0604020202020204" pitchFamily="34" charset="0"/>
              </a:rPr>
              <a:t>A3A</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35258" y="2307702"/>
            <a:ext cx="8673483" cy="1819923"/>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3:</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share their views regarding:</a:t>
            </a:r>
          </a:p>
          <a:p>
            <a:pPr marL="91440" lvl="0" indent="-182880">
              <a:spcBef>
                <a:spcPts val="800"/>
              </a:spcBef>
              <a:buNone/>
              <a:tabLst>
                <a:tab pos="514350" algn="l"/>
              </a:tabLst>
            </a:pPr>
            <a:r>
              <a:rPr lang="en-US" sz="1600" dirty="0" smtClean="0">
                <a:solidFill>
                  <a:schemeClr val="tx1">
                    <a:lumMod val="50000"/>
                    <a:lumOff val="50000"/>
                  </a:schemeClr>
                </a:solidFill>
                <a:latin typeface="Arial" panose="020B0604020202020204" pitchFamily="34" charset="0"/>
                <a:cs typeface="Arial" panose="020B0604020202020204" pitchFamily="34" charset="0"/>
              </a:rPr>
              <a:t>	(a)	How </a:t>
            </a:r>
            <a:r>
              <a:rPr lang="en-US" sz="1600" dirty="0">
                <a:solidFill>
                  <a:schemeClr val="tx1">
                    <a:lumMod val="50000"/>
                    <a:lumOff val="50000"/>
                  </a:schemeClr>
                </a:solidFill>
                <a:latin typeface="Arial" panose="020B0604020202020204" pitchFamily="34" charset="0"/>
                <a:cs typeface="Arial" panose="020B0604020202020204" pitchFamily="34" charset="0"/>
              </a:rPr>
              <a:t>the introductory material has addressed the public </a:t>
            </a:r>
            <a:r>
              <a:rPr lang="en-US" sz="1600" dirty="0" smtClean="0">
                <a:solidFill>
                  <a:schemeClr val="tx1">
                    <a:lumMod val="50000"/>
                    <a:lumOff val="50000"/>
                  </a:schemeClr>
                </a:solidFill>
                <a:latin typeface="Arial" panose="020B0604020202020204" pitchFamily="34" charset="0"/>
                <a:cs typeface="Arial" panose="020B0604020202020204" pitchFamily="34" charset="0"/>
              </a:rPr>
              <a:t>interest.</a:t>
            </a:r>
          </a:p>
          <a:p>
            <a:pPr marL="91440" lvl="0" indent="-182880">
              <a:spcBef>
                <a:spcPts val="800"/>
              </a:spcBef>
              <a:buNone/>
              <a:tabLst>
                <a:tab pos="514350" algn="l"/>
              </a:tabLst>
            </a:pPr>
            <a:r>
              <a:rPr lang="en-US" sz="1600" dirty="0" smtClean="0">
                <a:solidFill>
                  <a:schemeClr val="tx1">
                    <a:lumMod val="50000"/>
                    <a:lumOff val="50000"/>
                  </a:schemeClr>
                </a:solidFill>
                <a:latin typeface="Arial" panose="020B0604020202020204" pitchFamily="34" charset="0"/>
                <a:cs typeface="Arial" panose="020B0604020202020204" pitchFamily="34" charset="0"/>
              </a:rPr>
              <a:t>	(b)	The </a:t>
            </a:r>
            <a:r>
              <a:rPr lang="en-US" sz="1600" dirty="0">
                <a:solidFill>
                  <a:schemeClr val="tx1">
                    <a:lumMod val="50000"/>
                    <a:lumOff val="50000"/>
                  </a:schemeClr>
                </a:solidFill>
                <a:latin typeface="Arial" panose="020B0604020202020204" pitchFamily="34" charset="0"/>
                <a:cs typeface="Arial" panose="020B0604020202020204" pitchFamily="34" charset="0"/>
              </a:rPr>
              <a:t>QCTF’s proposal to address professional skepticism at the engagement level as a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broad </a:t>
            </a:r>
            <a:r>
              <a:rPr lang="en-US" sz="1600" dirty="0">
                <a:solidFill>
                  <a:schemeClr val="tx1">
                    <a:lumMod val="50000"/>
                    <a:lumOff val="50000"/>
                  </a:schemeClr>
                </a:solidFill>
                <a:latin typeface="Arial" panose="020B0604020202020204" pitchFamily="34" charset="0"/>
                <a:cs typeface="Arial" panose="020B0604020202020204" pitchFamily="34" charset="0"/>
              </a:rPr>
              <a:t>concept in proposed ISQC 1 (Revised</a:t>
            </a:r>
            <a:r>
              <a:rPr lang="en-US" sz="1600" dirty="0" smtClean="0">
                <a:solidFill>
                  <a:schemeClr val="tx1">
                    <a:lumMod val="50000"/>
                    <a:lumOff val="50000"/>
                  </a:schemeClr>
                </a:solidFill>
                <a:latin typeface="Arial" panose="020B0604020202020204" pitchFamily="34" charset="0"/>
                <a:cs typeface="Arial" panose="020B0604020202020204" pitchFamily="34" charset="0"/>
              </a:rPr>
              <a:t>).</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90121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7452" y="411270"/>
            <a:ext cx="8229600" cy="403875"/>
          </a:xfrm>
        </p:spPr>
        <p:txBody>
          <a:bodyPr/>
          <a:lstStyle/>
          <a:p>
            <a:r>
              <a:rPr lang="en-US" dirty="0" smtClean="0"/>
              <a:t>Authority</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7</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1" y="940996"/>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a:t>
            </a:r>
            <a:r>
              <a:rPr lang="en-US" sz="1600" dirty="0" smtClean="0">
                <a:solidFill>
                  <a:schemeClr val="bg1"/>
                </a:solidFill>
                <a:latin typeface="Arial" panose="020B0604020202020204" pitchFamily="34" charset="0"/>
                <a:cs typeface="Arial" panose="020B0604020202020204" pitchFamily="34" charset="0"/>
              </a:rPr>
              <a:t>13 </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17</a:t>
            </a: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Application material:	A4</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57452" y="2228295"/>
            <a:ext cx="8673483" cy="1207363"/>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a:solidFill>
                  <a:schemeClr val="tx1">
                    <a:lumMod val="50000"/>
                    <a:lumOff val="50000"/>
                  </a:schemeClr>
                </a:solidFill>
                <a:latin typeface="Arial" panose="020B0604020202020204" pitchFamily="34" charset="0"/>
                <a:cs typeface="Arial" panose="020B0604020202020204" pitchFamily="34" charset="0"/>
              </a:rPr>
              <a:t>4</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Does </a:t>
            </a:r>
            <a:r>
              <a:rPr lang="en-US" sz="1600" dirty="0">
                <a:solidFill>
                  <a:schemeClr val="tx1">
                    <a:lumMod val="50000"/>
                    <a:lumOff val="50000"/>
                  </a:schemeClr>
                </a:solidFill>
                <a:latin typeface="Arial" panose="020B0604020202020204" pitchFamily="34" charset="0"/>
                <a:cs typeface="Arial" panose="020B0604020202020204" pitchFamily="34" charset="0"/>
              </a:rPr>
              <a:t>the IAASB support the QCTF proposal to locate the authority of the ISQCs in each ISQC individually</a:t>
            </a:r>
            <a:r>
              <a:rPr lang="en-US" sz="1600" dirty="0" smtClean="0">
                <a:solidFill>
                  <a:schemeClr val="tx1">
                    <a:lumMod val="50000"/>
                    <a:lumOff val="50000"/>
                  </a:schemeClr>
                </a:solidFill>
                <a:latin typeface="Arial" panose="020B0604020202020204" pitchFamily="34" charset="0"/>
                <a:cs typeface="Arial" panose="020B0604020202020204" pitchFamily="34" charset="0"/>
              </a:rPr>
              <a:t>?</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24405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3462" y="428975"/>
            <a:ext cx="8229600" cy="403875"/>
          </a:xfrm>
        </p:spPr>
        <p:txBody>
          <a:bodyPr/>
          <a:lstStyle/>
          <a:p>
            <a:r>
              <a:rPr lang="en-US" dirty="0" smtClean="0"/>
              <a:t>Objective and Definitions</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8</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343462" y="1613621"/>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a:t>
            </a:r>
            <a:r>
              <a:rPr lang="en-US" sz="1600" dirty="0" smtClean="0">
                <a:solidFill>
                  <a:schemeClr val="bg1"/>
                </a:solidFill>
                <a:latin typeface="Arial" panose="020B0604020202020204" pitchFamily="34" charset="0"/>
                <a:cs typeface="Arial" panose="020B0604020202020204" pitchFamily="34" charset="0"/>
              </a:rPr>
              <a:t>19 </a:t>
            </a:r>
            <a:r>
              <a:rPr lang="en-US" sz="1600" dirty="0" smtClean="0">
                <a:solidFill>
                  <a:schemeClr val="bg1"/>
                </a:solidFill>
                <a:latin typeface="Arial" panose="020B0604020202020204" pitchFamily="34" charset="0"/>
                <a:cs typeface="Arial" panose="020B0604020202020204" pitchFamily="34" charset="0"/>
              </a:rPr>
              <a:t>– </a:t>
            </a:r>
            <a:r>
              <a:rPr lang="en-US" sz="1600" dirty="0">
                <a:solidFill>
                  <a:schemeClr val="bg1"/>
                </a:solidFill>
                <a:latin typeface="Arial" panose="020B0604020202020204" pitchFamily="34" charset="0"/>
                <a:cs typeface="Arial" panose="020B0604020202020204" pitchFamily="34" charset="0"/>
              </a:rPr>
              <a:t>2</a:t>
            </a:r>
            <a:r>
              <a:rPr lang="en-US" sz="1600" dirty="0" smtClean="0">
                <a:solidFill>
                  <a:schemeClr val="bg1"/>
                </a:solidFill>
                <a:latin typeface="Arial" panose="020B0604020202020204" pitchFamily="34" charset="0"/>
                <a:cs typeface="Arial" panose="020B0604020202020204" pitchFamily="34" charset="0"/>
              </a:rPr>
              <a:t>0</a:t>
            </a: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Application material:	A5 </a:t>
            </a:r>
            <a:r>
              <a:rPr lang="en-US" sz="1600" dirty="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A9</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331887" y="2870523"/>
            <a:ext cx="8673483" cy="1908443"/>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5:</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Does </a:t>
            </a:r>
            <a:r>
              <a:rPr lang="en-US" sz="1600" dirty="0">
                <a:solidFill>
                  <a:schemeClr val="tx1">
                    <a:lumMod val="50000"/>
                    <a:lumOff val="50000"/>
                  </a:schemeClr>
                </a:solidFill>
                <a:latin typeface="Arial" panose="020B0604020202020204" pitchFamily="34" charset="0"/>
                <a:cs typeface="Arial" panose="020B0604020202020204" pitchFamily="34" charset="0"/>
              </a:rPr>
              <a:t>the IAASB support the revisions to the definition for ‘deficiencies’ and agree that this should remain as a definition rather than being located in application material supporting the monitoring and remediation component? </a:t>
            </a:r>
            <a:endParaRPr lang="en-US" sz="1600" dirty="0" smtClean="0">
              <a:solidFill>
                <a:schemeClr val="tx1">
                  <a:lumMod val="50000"/>
                  <a:lumOff val="50000"/>
                </a:schemeClr>
              </a:solidFill>
              <a:latin typeface="Arial" panose="020B0604020202020204" pitchFamily="34" charset="0"/>
              <a:cs typeface="Arial" panose="020B0604020202020204" pitchFamily="34" charset="0"/>
            </a:endParaRPr>
          </a:p>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6:</a:t>
            </a:r>
            <a:endParaRPr lang="en-US" sz="1800"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Does </a:t>
            </a:r>
            <a:r>
              <a:rPr lang="en-US" sz="1600" dirty="0">
                <a:solidFill>
                  <a:schemeClr val="tx1">
                    <a:lumMod val="50000"/>
                    <a:lumOff val="50000"/>
                  </a:schemeClr>
                </a:solidFill>
                <a:latin typeface="Arial" panose="020B0604020202020204" pitchFamily="34" charset="0"/>
                <a:cs typeface="Arial" panose="020B0604020202020204" pitchFamily="34" charset="0"/>
              </a:rPr>
              <a:t>the IAASB support the revisions to the definition of ‘relevant ethical requirements</a:t>
            </a:r>
            <a:r>
              <a:rPr lang="en-US" sz="1600" dirty="0" smtClean="0">
                <a:solidFill>
                  <a:schemeClr val="tx1">
                    <a:lumMod val="50000"/>
                    <a:lumOff val="50000"/>
                  </a:schemeClr>
                </a:solidFill>
                <a:latin typeface="Arial" panose="020B0604020202020204" pitchFamily="34" charset="0"/>
                <a:cs typeface="Arial" panose="020B0604020202020204" pitchFamily="34" charset="0"/>
              </a:rPr>
              <a:t>’?</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8" name="Content Placeholder 1"/>
          <p:cNvSpPr txBox="1">
            <a:spLocks/>
          </p:cNvSpPr>
          <p:nvPr/>
        </p:nvSpPr>
        <p:spPr>
          <a:xfrm>
            <a:off x="457200" y="942600"/>
            <a:ext cx="8374284" cy="3188677"/>
          </a:xfrm>
          <a:prstGeom prst="rect">
            <a:avLst/>
          </a:prstGeom>
        </p:spPr>
        <p:txBody>
          <a:bodyPr vert="horz" lIns="0" tIns="0" rIns="0" bIns="0" rtlCol="0">
            <a:noAutofit/>
          </a:bodyPr>
          <a:lstStyle>
            <a:lvl1pPr marL="129779" indent="-129779" algn="l" defTabSz="342900" rtl="0" eaLnBrk="1" latinLnBrk="0" hangingPunct="1">
              <a:spcBef>
                <a:spcPts val="900"/>
              </a:spcBef>
              <a:buFont typeface="Arial"/>
              <a:buChar char="•"/>
              <a:defRPr sz="1500" kern="1200">
                <a:solidFill>
                  <a:srgbClr val="808080"/>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rgbClr val="808080"/>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rgbClr val="808080"/>
                </a:solidFill>
                <a:latin typeface="Arial" panose="020B0604020202020204" pitchFamily="34" charset="0"/>
                <a:ea typeface="+mn-ea"/>
                <a:cs typeface="Arial" panose="020B0604020202020204" pitchFamily="34" charset="0"/>
              </a:defRPr>
            </a:lvl3pPr>
            <a:lvl4pPr marL="642938"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4pPr>
            <a:lvl5pPr marL="813197"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sz="1800" dirty="0" smtClean="0"/>
              <a:t>CAG Comments:</a:t>
            </a:r>
          </a:p>
          <a:p>
            <a:pPr lvl="1"/>
            <a:r>
              <a:rPr lang="en-US" sz="1600" dirty="0" smtClean="0"/>
              <a:t>Difference between definition of professional judgment in ISQC 1 and other standards</a:t>
            </a:r>
          </a:p>
        </p:txBody>
      </p:sp>
    </p:spTree>
    <p:extLst>
      <p:ext uri="{BB962C8B-B14F-4D97-AF65-F5344CB8AC3E}">
        <p14:creationId xmlns:p14="http://schemas.microsoft.com/office/powerpoint/2010/main" val="34602888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2044" y="411569"/>
            <a:ext cx="9268286" cy="403875"/>
          </a:xfrm>
        </p:spPr>
        <p:txBody>
          <a:bodyPr/>
          <a:lstStyle/>
          <a:p>
            <a:r>
              <a:rPr lang="en-US" dirty="0" smtClean="0"/>
              <a:t>Applying and Complying with Relevant Requirements &amp; System of Quality Management</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9</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2" y="2191063"/>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a:t>
            </a:r>
            <a:r>
              <a:rPr lang="en-US" sz="1600" dirty="0" smtClean="0">
                <a:solidFill>
                  <a:schemeClr val="bg1"/>
                </a:solidFill>
                <a:latin typeface="Arial" panose="020B0604020202020204" pitchFamily="34" charset="0"/>
                <a:cs typeface="Arial" panose="020B0604020202020204" pitchFamily="34" charset="0"/>
              </a:rPr>
              <a:t>21</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25</a:t>
            </a:r>
            <a:endParaRPr lang="en-US" sz="1600" dirty="0" smtClean="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Application material:	A10 </a:t>
            </a:r>
            <a:r>
              <a:rPr lang="en-US" sz="1600" dirty="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A12</a:t>
            </a:r>
            <a:endParaRPr lang="en-US" sz="1600" dirty="0">
              <a:solidFill>
                <a:schemeClr val="bg1"/>
              </a:solidFill>
              <a:latin typeface="Arial" panose="020B0604020202020204" pitchFamily="34" charset="0"/>
              <a:cs typeface="Arial" panose="020B0604020202020204" pitchFamily="34" charset="0"/>
            </a:endParaRPr>
          </a:p>
        </p:txBody>
      </p:sp>
      <p:sp>
        <p:nvSpPr>
          <p:cNvPr id="8" name="Content Placeholder 1"/>
          <p:cNvSpPr txBox="1">
            <a:spLocks/>
          </p:cNvSpPr>
          <p:nvPr/>
        </p:nvSpPr>
        <p:spPr>
          <a:xfrm>
            <a:off x="257452" y="1049681"/>
            <a:ext cx="8429348" cy="3188677"/>
          </a:xfrm>
          <a:prstGeom prst="rect">
            <a:avLst/>
          </a:prstGeom>
        </p:spPr>
        <p:txBody>
          <a:bodyPr vert="horz" lIns="0" tIns="0" rIns="0" bIns="0" rtlCol="0">
            <a:noAutofit/>
          </a:bodyPr>
          <a:lstStyle>
            <a:lvl1pPr marL="129779" indent="-129779" algn="l" defTabSz="342900" rtl="0" eaLnBrk="1" latinLnBrk="0" hangingPunct="1">
              <a:spcBef>
                <a:spcPts val="900"/>
              </a:spcBef>
              <a:buFont typeface="Arial"/>
              <a:buChar char="•"/>
              <a:defRPr sz="1500" kern="1200">
                <a:solidFill>
                  <a:srgbClr val="808080"/>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rgbClr val="808080"/>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rgbClr val="808080"/>
                </a:solidFill>
                <a:latin typeface="Arial" panose="020B0604020202020204" pitchFamily="34" charset="0"/>
                <a:ea typeface="+mn-ea"/>
                <a:cs typeface="Arial" panose="020B0604020202020204" pitchFamily="34" charset="0"/>
              </a:defRPr>
            </a:lvl3pPr>
            <a:lvl4pPr marL="642938"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4pPr>
            <a:lvl5pPr marL="813197"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sz="1800" dirty="0" smtClean="0"/>
              <a:t>CAG Comments:</a:t>
            </a:r>
          </a:p>
          <a:p>
            <a:pPr lvl="1"/>
            <a:r>
              <a:rPr lang="en-US" sz="1600" dirty="0" smtClean="0"/>
              <a:t>Application </a:t>
            </a:r>
            <a:r>
              <a:rPr lang="en-US" sz="1600" dirty="0"/>
              <a:t>material explaining entities that have a significant public interest may inappropriately limit the scope of </a:t>
            </a:r>
            <a:r>
              <a:rPr lang="en-US" sz="1600" dirty="0" smtClean="0"/>
              <a:t>entities, however other representatives supported this material</a:t>
            </a:r>
          </a:p>
          <a:p>
            <a:endParaRPr lang="en-US" sz="1800" dirty="0" smtClean="0"/>
          </a:p>
          <a:p>
            <a:endParaRPr lang="en-US" dirty="0"/>
          </a:p>
        </p:txBody>
      </p:sp>
    </p:spTree>
    <p:extLst>
      <p:ext uri="{BB962C8B-B14F-4D97-AF65-F5344CB8AC3E}">
        <p14:creationId xmlns:p14="http://schemas.microsoft.com/office/powerpoint/2010/main" val="3890198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7452" y="423287"/>
            <a:ext cx="8229600" cy="403875"/>
          </a:xfrm>
        </p:spPr>
        <p:txBody>
          <a:bodyPr/>
          <a:lstStyle/>
          <a:p>
            <a:r>
              <a:rPr lang="en-US" dirty="0" smtClean="0"/>
              <a:t>Governance and Leadership</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10</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1" y="2401705"/>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a:t>
            </a:r>
            <a:r>
              <a:rPr lang="en-US" sz="1600" dirty="0" smtClean="0">
                <a:solidFill>
                  <a:schemeClr val="bg1"/>
                </a:solidFill>
                <a:latin typeface="Arial" panose="020B0604020202020204" pitchFamily="34" charset="0"/>
                <a:cs typeface="Arial" panose="020B0604020202020204" pitchFamily="34" charset="0"/>
              </a:rPr>
              <a:t>26</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28</a:t>
            </a:r>
            <a:endParaRPr lang="en-US" sz="1600" dirty="0" smtClean="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Application material:	A13 </a:t>
            </a:r>
            <a:r>
              <a:rPr lang="en-US" sz="1600" dirty="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A35</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57450" y="3588152"/>
            <a:ext cx="8673483" cy="1218497"/>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7:</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share its views on the revisions to the governance and leadership component, in particular whether the IAASB supports the direct reference to the firm’s role in performing engagements in the public interest in the quality objectives? </a:t>
            </a:r>
            <a:endParaRPr lang="en-US" sz="1600" dirty="0" smtClean="0">
              <a:solidFill>
                <a:schemeClr val="tx1">
                  <a:lumMod val="50000"/>
                  <a:lumOff val="50000"/>
                </a:schemeClr>
              </a:solidFill>
              <a:latin typeface="Arial" panose="020B0604020202020204" pitchFamily="34" charset="0"/>
              <a:cs typeface="Arial" panose="020B0604020202020204" pitchFamily="34" charset="0"/>
            </a:endParaRPr>
          </a:p>
        </p:txBody>
      </p:sp>
      <p:sp>
        <p:nvSpPr>
          <p:cNvPr id="8" name="Content Placeholder 1"/>
          <p:cNvSpPr txBox="1">
            <a:spLocks/>
          </p:cNvSpPr>
          <p:nvPr/>
        </p:nvSpPr>
        <p:spPr>
          <a:xfrm>
            <a:off x="257452" y="908567"/>
            <a:ext cx="8429348" cy="848567"/>
          </a:xfrm>
          <a:prstGeom prst="rect">
            <a:avLst/>
          </a:prstGeom>
        </p:spPr>
        <p:txBody>
          <a:bodyPr vert="horz" lIns="0" tIns="0" rIns="0" bIns="0" rtlCol="0">
            <a:noAutofit/>
          </a:bodyPr>
          <a:lstStyle>
            <a:lvl1pPr marL="129779" indent="-129779" algn="l" defTabSz="342900" rtl="0" eaLnBrk="1" latinLnBrk="0" hangingPunct="1">
              <a:spcBef>
                <a:spcPts val="900"/>
              </a:spcBef>
              <a:buFont typeface="Arial"/>
              <a:buChar char="•"/>
              <a:defRPr sz="1500" kern="1200">
                <a:solidFill>
                  <a:srgbClr val="808080"/>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rgbClr val="808080"/>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rgbClr val="808080"/>
                </a:solidFill>
                <a:latin typeface="Arial" panose="020B0604020202020204" pitchFamily="34" charset="0"/>
                <a:ea typeface="+mn-ea"/>
                <a:cs typeface="Arial" panose="020B0604020202020204" pitchFamily="34" charset="0"/>
              </a:defRPr>
            </a:lvl3pPr>
            <a:lvl4pPr marL="642938"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4pPr>
            <a:lvl5pPr marL="813197"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a:lnSpc>
                <a:spcPts val="2000"/>
              </a:lnSpc>
              <a:spcBef>
                <a:spcPts val="400"/>
              </a:spcBef>
            </a:pPr>
            <a:r>
              <a:rPr lang="en-US" sz="1800" dirty="0" smtClean="0"/>
              <a:t>CAG Comments:</a:t>
            </a:r>
          </a:p>
          <a:p>
            <a:pPr lvl="1">
              <a:lnSpc>
                <a:spcPts val="2000"/>
              </a:lnSpc>
              <a:spcBef>
                <a:spcPts val="400"/>
              </a:spcBef>
            </a:pPr>
            <a:r>
              <a:rPr lang="en-US" sz="1600" dirty="0" smtClean="0"/>
              <a:t>Concern on paragraph A30 - not appropriate to allow SMPs to avoid undertaking performance evaluations</a:t>
            </a:r>
          </a:p>
          <a:p>
            <a:pPr>
              <a:lnSpc>
                <a:spcPts val="2000"/>
              </a:lnSpc>
              <a:spcBef>
                <a:spcPts val="400"/>
              </a:spcBef>
            </a:pPr>
            <a:r>
              <a:rPr lang="en-US" sz="1800" dirty="0" smtClean="0"/>
              <a:t>SMPC </a:t>
            </a:r>
            <a:r>
              <a:rPr lang="en-US" sz="1800" dirty="0"/>
              <a:t>Comments:</a:t>
            </a:r>
          </a:p>
          <a:p>
            <a:pPr lvl="1">
              <a:lnSpc>
                <a:spcPts val="2000"/>
              </a:lnSpc>
              <a:spcBef>
                <a:spcPts val="400"/>
              </a:spcBef>
            </a:pPr>
            <a:r>
              <a:rPr lang="en-US" sz="1600" dirty="0" smtClean="0"/>
              <a:t>Performance evaluations are not possible in some scenarios</a:t>
            </a:r>
            <a:endParaRPr lang="en-US" sz="1600" dirty="0"/>
          </a:p>
          <a:p>
            <a:pPr marL="171450" lvl="1" indent="0">
              <a:buNone/>
            </a:pPr>
            <a:endParaRPr lang="en-US" sz="1600" dirty="0" smtClean="0"/>
          </a:p>
          <a:p>
            <a:pPr lvl="1"/>
            <a:endParaRPr lang="en-US" sz="1600" dirty="0" smtClean="0"/>
          </a:p>
          <a:p>
            <a:endParaRPr lang="en-US" sz="1800" dirty="0" smtClean="0"/>
          </a:p>
          <a:p>
            <a:endParaRPr lang="en-US" dirty="0"/>
          </a:p>
        </p:txBody>
      </p:sp>
    </p:spTree>
    <p:extLst>
      <p:ext uri="{BB962C8B-B14F-4D97-AF65-F5344CB8AC3E}">
        <p14:creationId xmlns:p14="http://schemas.microsoft.com/office/powerpoint/2010/main" val="5844325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7452" y="436350"/>
            <a:ext cx="8229600" cy="403875"/>
          </a:xfrm>
        </p:spPr>
        <p:txBody>
          <a:bodyPr/>
          <a:lstStyle/>
          <a:p>
            <a:r>
              <a:rPr lang="en-US" dirty="0" smtClean="0"/>
              <a:t>Firm’s Risk Assessment Process</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11</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2" y="2113901"/>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a:t>
            </a:r>
            <a:r>
              <a:rPr lang="en-US" sz="1600" dirty="0" smtClean="0">
                <a:solidFill>
                  <a:schemeClr val="bg1"/>
                </a:solidFill>
                <a:latin typeface="Arial" panose="020B0604020202020204" pitchFamily="34" charset="0"/>
                <a:cs typeface="Arial" panose="020B0604020202020204" pitchFamily="34" charset="0"/>
              </a:rPr>
              <a:t>29</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35</a:t>
            </a: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Application material:	A36 </a:t>
            </a:r>
            <a:r>
              <a:rPr lang="en-US" sz="1600" dirty="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A54</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57452" y="3321234"/>
            <a:ext cx="8673483" cy="1213668"/>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a:solidFill>
                  <a:schemeClr val="tx1">
                    <a:lumMod val="50000"/>
                    <a:lumOff val="50000"/>
                  </a:schemeClr>
                </a:solidFill>
                <a:latin typeface="Arial" panose="020B0604020202020204" pitchFamily="34" charset="0"/>
                <a:cs typeface="Arial" panose="020B0604020202020204" pitchFamily="34" charset="0"/>
              </a:rPr>
              <a:t>8</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Taking </a:t>
            </a:r>
            <a:r>
              <a:rPr lang="en-US" sz="1600" dirty="0">
                <a:solidFill>
                  <a:schemeClr val="tx1">
                    <a:lumMod val="50000"/>
                    <a:lumOff val="50000"/>
                  </a:schemeClr>
                </a:solidFill>
                <a:latin typeface="Arial" panose="020B0604020202020204" pitchFamily="34" charset="0"/>
                <a:cs typeface="Arial" panose="020B0604020202020204" pitchFamily="34" charset="0"/>
              </a:rPr>
              <a:t>into consideration the explanations in paragraphs 30–31, does the IAASB agree that the definitions for ‘quality objectives’ and ‘quality risks’ are no longer needed</a:t>
            </a:r>
            <a:r>
              <a:rPr lang="en-US" sz="1600" dirty="0" smtClean="0">
                <a:solidFill>
                  <a:schemeClr val="tx1">
                    <a:lumMod val="50000"/>
                    <a:lumOff val="50000"/>
                  </a:schemeClr>
                </a:solidFill>
                <a:latin typeface="Arial" panose="020B0604020202020204" pitchFamily="34" charset="0"/>
                <a:cs typeface="Arial" panose="020B0604020202020204" pitchFamily="34" charset="0"/>
              </a:rPr>
              <a:t>?</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8" name="Content Placeholder 1"/>
          <p:cNvSpPr txBox="1">
            <a:spLocks/>
          </p:cNvSpPr>
          <p:nvPr/>
        </p:nvSpPr>
        <p:spPr>
          <a:xfrm>
            <a:off x="257452" y="908567"/>
            <a:ext cx="8429348" cy="848567"/>
          </a:xfrm>
          <a:prstGeom prst="rect">
            <a:avLst/>
          </a:prstGeom>
        </p:spPr>
        <p:txBody>
          <a:bodyPr vert="horz" lIns="0" tIns="0" rIns="0" bIns="0" rtlCol="0">
            <a:noAutofit/>
          </a:bodyPr>
          <a:lstStyle>
            <a:lvl1pPr marL="129779" indent="-129779" algn="l" defTabSz="342900" rtl="0" eaLnBrk="1" latinLnBrk="0" hangingPunct="1">
              <a:spcBef>
                <a:spcPts val="900"/>
              </a:spcBef>
              <a:buFont typeface="Arial"/>
              <a:buChar char="•"/>
              <a:defRPr sz="1500" kern="1200">
                <a:solidFill>
                  <a:srgbClr val="808080"/>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rgbClr val="808080"/>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rgbClr val="808080"/>
                </a:solidFill>
                <a:latin typeface="Arial" panose="020B0604020202020204" pitchFamily="34" charset="0"/>
                <a:ea typeface="+mn-ea"/>
                <a:cs typeface="Arial" panose="020B0604020202020204" pitchFamily="34" charset="0"/>
              </a:defRPr>
            </a:lvl3pPr>
            <a:lvl4pPr marL="642938"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4pPr>
            <a:lvl5pPr marL="813197"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a:lnSpc>
                <a:spcPts val="2000"/>
              </a:lnSpc>
              <a:spcBef>
                <a:spcPts val="400"/>
              </a:spcBef>
            </a:pPr>
            <a:r>
              <a:rPr lang="en-US" sz="1800" dirty="0" smtClean="0"/>
              <a:t>SMPC </a:t>
            </a:r>
            <a:r>
              <a:rPr lang="en-US" sz="1800" dirty="0"/>
              <a:t>Comments:</a:t>
            </a:r>
          </a:p>
          <a:p>
            <a:pPr lvl="1">
              <a:lnSpc>
                <a:spcPts val="2000"/>
              </a:lnSpc>
              <a:spcBef>
                <a:spcPts val="400"/>
              </a:spcBef>
            </a:pPr>
            <a:r>
              <a:rPr lang="en-US" sz="1600" dirty="0" smtClean="0"/>
              <a:t>Concern about work effort over the identification and assessment of quality risks and that it may result in too many risks being identified</a:t>
            </a:r>
          </a:p>
          <a:p>
            <a:pPr lvl="1">
              <a:lnSpc>
                <a:spcPts val="2000"/>
              </a:lnSpc>
              <a:spcBef>
                <a:spcPts val="400"/>
              </a:spcBef>
            </a:pPr>
            <a:r>
              <a:rPr lang="en-US" sz="1600" dirty="0" smtClean="0"/>
              <a:t>Clarity needed on what is meant by additional or more granular quality objectives</a:t>
            </a:r>
            <a:endParaRPr lang="en-US" sz="1600" dirty="0"/>
          </a:p>
          <a:p>
            <a:pPr marL="171450" lvl="1" indent="0">
              <a:buNone/>
            </a:pPr>
            <a:endParaRPr lang="en-US" sz="1600" dirty="0" smtClean="0"/>
          </a:p>
          <a:p>
            <a:pPr lvl="1"/>
            <a:endParaRPr lang="en-US" sz="1600" dirty="0" smtClean="0"/>
          </a:p>
          <a:p>
            <a:endParaRPr lang="en-US" sz="1800" dirty="0" smtClean="0"/>
          </a:p>
          <a:p>
            <a:endParaRPr lang="en-US" dirty="0"/>
          </a:p>
        </p:txBody>
      </p:sp>
    </p:spTree>
    <p:extLst>
      <p:ext uri="{BB962C8B-B14F-4D97-AF65-F5344CB8AC3E}">
        <p14:creationId xmlns:p14="http://schemas.microsoft.com/office/powerpoint/2010/main" val="24060552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94812" y="418637"/>
            <a:ext cx="8229600" cy="403875"/>
          </a:xfrm>
        </p:spPr>
        <p:txBody>
          <a:bodyPr/>
          <a:lstStyle/>
          <a:p>
            <a:r>
              <a:rPr lang="en-US" dirty="0" smtClean="0"/>
              <a:t>Firm’s Risk Assessment Process</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12</a:t>
            </a:fld>
            <a:endParaRPr lang="en-US" sz="750" dirty="0">
              <a:solidFill>
                <a:schemeClr val="tx1"/>
              </a:solidFill>
              <a:latin typeface="+mn-lt"/>
            </a:endParaRPr>
          </a:p>
          <a:p>
            <a:endParaRPr lang="en-US" sz="750" dirty="0">
              <a:solidFill>
                <a:schemeClr val="tx1"/>
              </a:solidFill>
              <a:latin typeface="+mn-lt"/>
            </a:endParaRPr>
          </a:p>
        </p:txBody>
      </p:sp>
      <p:sp>
        <p:nvSpPr>
          <p:cNvPr id="7" name="Content Placeholder 6"/>
          <p:cNvSpPr>
            <a:spLocks noGrp="1"/>
          </p:cNvSpPr>
          <p:nvPr>
            <p:ph idx="1"/>
          </p:nvPr>
        </p:nvSpPr>
        <p:spPr>
          <a:xfrm>
            <a:off x="235258" y="994299"/>
            <a:ext cx="8673483" cy="3151573"/>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9:</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share its views on the proposed revisions to the firm’s RAP, in particular whether the IAASB supports:</a:t>
            </a:r>
          </a:p>
          <a:p>
            <a:pPr marL="91440" lvl="0" indent="0">
              <a:spcBef>
                <a:spcPts val="800"/>
              </a:spcBef>
              <a:buNone/>
              <a:tabLst>
                <a:tab pos="514350" algn="l"/>
              </a:tabLst>
            </a:pPr>
            <a:r>
              <a:rPr lang="en-US" sz="1600" dirty="0" smtClean="0">
                <a:solidFill>
                  <a:schemeClr val="tx1">
                    <a:lumMod val="50000"/>
                    <a:lumOff val="50000"/>
                  </a:schemeClr>
                </a:solidFill>
                <a:latin typeface="Arial" panose="020B0604020202020204" pitchFamily="34" charset="0"/>
                <a:cs typeface="Arial" panose="020B0604020202020204" pitchFamily="34" charset="0"/>
              </a:rPr>
              <a:t>(a</a:t>
            </a:r>
            <a:r>
              <a:rPr lang="en-US" sz="1600" dirty="0">
                <a:solidFill>
                  <a:schemeClr val="tx1">
                    <a:lumMod val="50000"/>
                    <a:lumOff val="50000"/>
                  </a:schemeClr>
                </a:solidFill>
                <a:latin typeface="Arial" panose="020B0604020202020204" pitchFamily="34" charset="0"/>
                <a:cs typeface="Arial" panose="020B0604020202020204" pitchFamily="34" charset="0"/>
              </a:rPr>
              <a:t>)	The reference to ‘a reasonable possibility of occurrence’ in the threshold for </a:t>
            </a:r>
            <a:r>
              <a:rPr lang="en-US" sz="1600" dirty="0" smtClean="0">
                <a:solidFill>
                  <a:schemeClr val="tx1">
                    <a:lumMod val="50000"/>
                    <a:lumOff val="50000"/>
                  </a:schemeClr>
                </a:solidFill>
                <a:latin typeface="Arial" panose="020B0604020202020204" pitchFamily="34" charset="0"/>
                <a:cs typeface="Arial" panose="020B0604020202020204" pitchFamily="34" charset="0"/>
              </a:rPr>
              <a:t>the 	identification </a:t>
            </a:r>
            <a:r>
              <a:rPr lang="en-US" sz="1600" dirty="0">
                <a:solidFill>
                  <a:schemeClr val="tx1">
                    <a:lumMod val="50000"/>
                    <a:lumOff val="50000"/>
                  </a:schemeClr>
                </a:solidFill>
                <a:latin typeface="Arial" panose="020B0604020202020204" pitchFamily="34" charset="0"/>
                <a:cs typeface="Arial" panose="020B0604020202020204" pitchFamily="34" charset="0"/>
              </a:rPr>
              <a:t>of quality risks.</a:t>
            </a:r>
          </a:p>
          <a:p>
            <a:pPr marL="91440" lvl="0" indent="0">
              <a:spcBef>
                <a:spcPts val="800"/>
              </a:spcBef>
              <a:buNone/>
              <a:tabLst>
                <a:tab pos="514350"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(b)	The approach to linking responses required by the standard to quality risks.</a:t>
            </a:r>
          </a:p>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10:</a:t>
            </a:r>
            <a:endParaRPr lang="en-US" sz="1800"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share its views on the review of the quality objectives and responses required by the </a:t>
            </a:r>
            <a:r>
              <a:rPr lang="en-US" sz="1600" dirty="0" smtClean="0">
                <a:solidFill>
                  <a:schemeClr val="tx1">
                    <a:lumMod val="50000"/>
                    <a:lumOff val="50000"/>
                  </a:schemeClr>
                </a:solidFill>
                <a:latin typeface="Arial" panose="020B0604020202020204" pitchFamily="34" charset="0"/>
                <a:cs typeface="Arial" panose="020B0604020202020204" pitchFamily="34" charset="0"/>
              </a:rPr>
              <a:t>standard</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43316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Other Components</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13</a:t>
            </a:fld>
            <a:endParaRPr lang="en-US" sz="750" dirty="0">
              <a:solidFill>
                <a:schemeClr val="tx1"/>
              </a:solidFill>
              <a:latin typeface="+mn-lt"/>
            </a:endParaRPr>
          </a:p>
          <a:p>
            <a:endParaRPr lang="en-US" sz="750" dirty="0">
              <a:solidFill>
                <a:schemeClr val="tx1"/>
              </a:solidFill>
              <a:latin typeface="+mn-lt"/>
            </a:endParaRPr>
          </a:p>
        </p:txBody>
      </p:sp>
      <p:sp>
        <p:nvSpPr>
          <p:cNvPr id="8" name="Content Placeholder 1"/>
          <p:cNvSpPr txBox="1">
            <a:spLocks/>
          </p:cNvSpPr>
          <p:nvPr/>
        </p:nvSpPr>
        <p:spPr>
          <a:xfrm>
            <a:off x="257452" y="968658"/>
            <a:ext cx="8429348" cy="3188677"/>
          </a:xfrm>
          <a:prstGeom prst="rect">
            <a:avLst/>
          </a:prstGeom>
        </p:spPr>
        <p:txBody>
          <a:bodyPr vert="horz" lIns="0" tIns="0" rIns="0" bIns="0" rtlCol="0">
            <a:noAutofit/>
          </a:bodyPr>
          <a:lstStyle>
            <a:lvl1pPr marL="129779" indent="-129779" algn="l" defTabSz="342900" rtl="0" eaLnBrk="1" latinLnBrk="0" hangingPunct="1">
              <a:spcBef>
                <a:spcPts val="900"/>
              </a:spcBef>
              <a:buFont typeface="Arial"/>
              <a:buChar char="•"/>
              <a:defRPr sz="1500" kern="1200">
                <a:solidFill>
                  <a:srgbClr val="808080"/>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rgbClr val="808080"/>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rgbClr val="808080"/>
                </a:solidFill>
                <a:latin typeface="Arial" panose="020B0604020202020204" pitchFamily="34" charset="0"/>
                <a:ea typeface="+mn-ea"/>
                <a:cs typeface="Arial" panose="020B0604020202020204" pitchFamily="34" charset="0"/>
              </a:defRPr>
            </a:lvl3pPr>
            <a:lvl4pPr marL="642938"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4pPr>
            <a:lvl5pPr marL="813197"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sz="1800" dirty="0" smtClean="0"/>
              <a:t>CAG Comments:</a:t>
            </a:r>
          </a:p>
          <a:p>
            <a:pPr lvl="1"/>
            <a:r>
              <a:rPr lang="en-US" sz="1600" dirty="0" smtClean="0"/>
              <a:t>Various suggestions for acceptance and continuance, e.g.:</a:t>
            </a:r>
          </a:p>
          <a:p>
            <a:pPr lvl="2"/>
            <a:r>
              <a:rPr lang="en-US" sz="1450" dirty="0" smtClean="0"/>
              <a:t>Shouldn’t be a binary decision – rather reflect spectrum of risk and firm responds to the risk</a:t>
            </a:r>
          </a:p>
          <a:p>
            <a:pPr lvl="2"/>
            <a:r>
              <a:rPr lang="en-US" sz="1450" dirty="0" smtClean="0"/>
              <a:t>Clarify meaning of what is meant by financial and operational priorities</a:t>
            </a:r>
          </a:p>
          <a:p>
            <a:pPr lvl="1"/>
            <a:endParaRPr lang="en-US" sz="1600" dirty="0" smtClean="0"/>
          </a:p>
          <a:p>
            <a:endParaRPr lang="en-US" sz="1800" dirty="0" smtClean="0"/>
          </a:p>
          <a:p>
            <a:endParaRPr lang="en-US" dirty="0"/>
          </a:p>
        </p:txBody>
      </p:sp>
    </p:spTree>
    <p:extLst>
      <p:ext uri="{BB962C8B-B14F-4D97-AF65-F5344CB8AC3E}">
        <p14:creationId xmlns:p14="http://schemas.microsoft.com/office/powerpoint/2010/main" val="40572431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Other Components</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14</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2" y="940996"/>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a:t>
            </a:r>
            <a:r>
              <a:rPr lang="en-US" sz="1600" dirty="0">
                <a:solidFill>
                  <a:schemeClr val="bg1"/>
                </a:solidFill>
                <a:latin typeface="Arial" panose="020B0604020202020204" pitchFamily="34" charset="0"/>
                <a:cs typeface="Arial" panose="020B0604020202020204" pitchFamily="34" charset="0"/>
              </a:rPr>
              <a:t>3</a:t>
            </a:r>
            <a:r>
              <a:rPr lang="en-US" sz="1600" dirty="0" smtClean="0">
                <a:solidFill>
                  <a:schemeClr val="bg1"/>
                </a:solidFill>
                <a:latin typeface="Arial" panose="020B0604020202020204" pitchFamily="34" charset="0"/>
                <a:cs typeface="Arial" panose="020B0604020202020204" pitchFamily="34" charset="0"/>
              </a:rPr>
              <a:t>6</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43</a:t>
            </a: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Application material:	A55 </a:t>
            </a:r>
            <a:r>
              <a:rPr lang="en-US" sz="1600" dirty="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A114</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35258" y="2259112"/>
            <a:ext cx="8673483" cy="2463807"/>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11:</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share its views on the proposed revisions to the following components:</a:t>
            </a: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(a)	Relevant ethical requirements. </a:t>
            </a: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(b)	Engagement acceptance and continuance.</a:t>
            </a: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(c)	Resources. </a:t>
            </a: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(d)	Engagement </a:t>
            </a:r>
            <a:r>
              <a:rPr lang="en-US" sz="1600" dirty="0" smtClean="0">
                <a:solidFill>
                  <a:schemeClr val="tx1">
                    <a:lumMod val="50000"/>
                    <a:lumOff val="50000"/>
                  </a:schemeClr>
                </a:solidFill>
                <a:latin typeface="Arial" panose="020B0604020202020204" pitchFamily="34" charset="0"/>
                <a:cs typeface="Arial" panose="020B0604020202020204" pitchFamily="34" charset="0"/>
              </a:rPr>
              <a:t>performance.</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8070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Information and Communication</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15</a:t>
            </a:fld>
            <a:endParaRPr lang="en-US" sz="750" dirty="0">
              <a:solidFill>
                <a:schemeClr val="tx1"/>
              </a:solidFill>
              <a:latin typeface="+mn-lt"/>
            </a:endParaRPr>
          </a:p>
          <a:p>
            <a:endParaRPr lang="en-US" sz="750" dirty="0">
              <a:solidFill>
                <a:schemeClr val="tx1"/>
              </a:solidFill>
              <a:latin typeface="+mn-lt"/>
            </a:endParaRPr>
          </a:p>
        </p:txBody>
      </p:sp>
      <p:sp>
        <p:nvSpPr>
          <p:cNvPr id="8" name="Content Placeholder 1"/>
          <p:cNvSpPr txBox="1">
            <a:spLocks/>
          </p:cNvSpPr>
          <p:nvPr/>
        </p:nvSpPr>
        <p:spPr>
          <a:xfrm>
            <a:off x="257452" y="968658"/>
            <a:ext cx="8429348" cy="3188677"/>
          </a:xfrm>
          <a:prstGeom prst="rect">
            <a:avLst/>
          </a:prstGeom>
        </p:spPr>
        <p:txBody>
          <a:bodyPr vert="horz" lIns="0" tIns="0" rIns="0" bIns="0" rtlCol="0">
            <a:noAutofit/>
          </a:bodyPr>
          <a:lstStyle>
            <a:lvl1pPr marL="129779" indent="-129779" algn="l" defTabSz="342900" rtl="0" eaLnBrk="1" latinLnBrk="0" hangingPunct="1">
              <a:spcBef>
                <a:spcPts val="900"/>
              </a:spcBef>
              <a:buFont typeface="Arial"/>
              <a:buChar char="•"/>
              <a:defRPr sz="1500" kern="1200">
                <a:solidFill>
                  <a:srgbClr val="808080"/>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rgbClr val="808080"/>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rgbClr val="808080"/>
                </a:solidFill>
                <a:latin typeface="Arial" panose="020B0604020202020204" pitchFamily="34" charset="0"/>
                <a:ea typeface="+mn-ea"/>
                <a:cs typeface="Arial" panose="020B0604020202020204" pitchFamily="34" charset="0"/>
              </a:defRPr>
            </a:lvl3pPr>
            <a:lvl4pPr marL="642938"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4pPr>
            <a:lvl5pPr marL="813197"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sz="1800" dirty="0" smtClean="0"/>
              <a:t>CAG Comments:</a:t>
            </a:r>
          </a:p>
          <a:p>
            <a:pPr lvl="1"/>
            <a:r>
              <a:rPr lang="en-US" sz="1600" dirty="0" smtClean="0"/>
              <a:t>Support for how standard addresses communication externally, including increased emphasis on transparency reporting</a:t>
            </a:r>
          </a:p>
          <a:p>
            <a:pPr lvl="1"/>
            <a:r>
              <a:rPr lang="en-US" sz="1600" dirty="0" smtClean="0"/>
              <a:t>Requirement not clearly articulating the “strong encouragement” to communicate – needs improvement</a:t>
            </a:r>
          </a:p>
          <a:p>
            <a:pPr lvl="1"/>
            <a:r>
              <a:rPr lang="en-US" sz="1600" dirty="0" smtClean="0"/>
              <a:t>Suggestion that standard should more explicitly indicate circumstances when external communication is necessary</a:t>
            </a:r>
          </a:p>
          <a:p>
            <a:pPr lvl="1"/>
            <a:endParaRPr lang="en-US" sz="1600" dirty="0" smtClean="0"/>
          </a:p>
          <a:p>
            <a:endParaRPr lang="en-US" sz="1800" dirty="0" smtClean="0"/>
          </a:p>
          <a:p>
            <a:endParaRPr lang="en-US" dirty="0"/>
          </a:p>
        </p:txBody>
      </p:sp>
    </p:spTree>
    <p:extLst>
      <p:ext uri="{BB962C8B-B14F-4D97-AF65-F5344CB8AC3E}">
        <p14:creationId xmlns:p14="http://schemas.microsoft.com/office/powerpoint/2010/main" val="26866182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Information and Communication</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16</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2" y="940996"/>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a:t>
            </a:r>
            <a:r>
              <a:rPr lang="en-US" sz="1600" dirty="0" smtClean="0">
                <a:solidFill>
                  <a:schemeClr val="bg1"/>
                </a:solidFill>
                <a:latin typeface="Arial" panose="020B0604020202020204" pitchFamily="34" charset="0"/>
                <a:cs typeface="Arial" panose="020B0604020202020204" pitchFamily="34" charset="0"/>
              </a:rPr>
              <a:t>44</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45</a:t>
            </a: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Application material:	A115 </a:t>
            </a:r>
            <a:r>
              <a:rPr lang="en-US" sz="1600" dirty="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A130</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35258" y="2259112"/>
            <a:ext cx="8673483" cy="2463807"/>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12:</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share its views on the proposed revisions to the information and communication component, in particular whether:</a:t>
            </a: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(a)	The interrelationships with the other components are clear and sufficiently emphasized. </a:t>
            </a: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(b)	The response addressing the communication with external parties is appropriate and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adequately </a:t>
            </a:r>
            <a:r>
              <a:rPr lang="en-US" sz="1600" dirty="0">
                <a:solidFill>
                  <a:schemeClr val="tx1">
                    <a:lumMod val="50000"/>
                    <a:lumOff val="50000"/>
                  </a:schemeClr>
                </a:solidFill>
                <a:latin typeface="Arial" panose="020B0604020202020204" pitchFamily="34" charset="0"/>
                <a:cs typeface="Arial" panose="020B0604020202020204" pitchFamily="34" charset="0"/>
              </a:rPr>
              <a:t>addresses the public interest need for such communication. </a:t>
            </a: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(c)	The scalability of the quality objective addressing the firm’s information system is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appropriately highlighted.</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6846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Monitoring and Remediation</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17</a:t>
            </a:fld>
            <a:endParaRPr lang="en-US" sz="750" dirty="0">
              <a:solidFill>
                <a:schemeClr val="tx1"/>
              </a:solidFill>
              <a:latin typeface="+mn-lt"/>
            </a:endParaRPr>
          </a:p>
          <a:p>
            <a:endParaRPr lang="en-US" sz="750" dirty="0">
              <a:solidFill>
                <a:schemeClr val="tx1"/>
              </a:solidFill>
              <a:latin typeface="+mn-lt"/>
            </a:endParaRPr>
          </a:p>
        </p:txBody>
      </p:sp>
      <p:sp>
        <p:nvSpPr>
          <p:cNvPr id="8" name="Content Placeholder 1"/>
          <p:cNvSpPr txBox="1">
            <a:spLocks/>
          </p:cNvSpPr>
          <p:nvPr/>
        </p:nvSpPr>
        <p:spPr>
          <a:xfrm>
            <a:off x="257452" y="945508"/>
            <a:ext cx="8429348" cy="3188677"/>
          </a:xfrm>
          <a:prstGeom prst="rect">
            <a:avLst/>
          </a:prstGeom>
        </p:spPr>
        <p:txBody>
          <a:bodyPr vert="horz" lIns="0" tIns="0" rIns="0" bIns="0" rtlCol="0">
            <a:noAutofit/>
          </a:bodyPr>
          <a:lstStyle>
            <a:lvl1pPr marL="129779" indent="-129779" algn="l" defTabSz="342900" rtl="0" eaLnBrk="1" latinLnBrk="0" hangingPunct="1">
              <a:spcBef>
                <a:spcPts val="900"/>
              </a:spcBef>
              <a:buFont typeface="Arial"/>
              <a:buChar char="•"/>
              <a:defRPr sz="1500" kern="1200">
                <a:solidFill>
                  <a:srgbClr val="808080"/>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rgbClr val="808080"/>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rgbClr val="808080"/>
                </a:solidFill>
                <a:latin typeface="Arial" panose="020B0604020202020204" pitchFamily="34" charset="0"/>
                <a:ea typeface="+mn-ea"/>
                <a:cs typeface="Arial" panose="020B0604020202020204" pitchFamily="34" charset="0"/>
              </a:defRPr>
            </a:lvl3pPr>
            <a:lvl4pPr marL="642938"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4pPr>
            <a:lvl5pPr marL="813197"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sz="1800" dirty="0" smtClean="0"/>
              <a:t>SMPC Comments:</a:t>
            </a:r>
          </a:p>
          <a:p>
            <a:pPr lvl="1"/>
            <a:r>
              <a:rPr lang="en-US" sz="1600" dirty="0" smtClean="0"/>
              <a:t>Should be more focused on improvement, e.g., title of component (improvement instead of remediation) and in requirements</a:t>
            </a:r>
          </a:p>
          <a:p>
            <a:pPr lvl="1"/>
            <a:endParaRPr lang="en-US" sz="1450" dirty="0" smtClean="0"/>
          </a:p>
          <a:p>
            <a:pPr lvl="1"/>
            <a:endParaRPr lang="en-US" sz="1600" dirty="0" smtClean="0"/>
          </a:p>
          <a:p>
            <a:endParaRPr lang="en-US" sz="1800" dirty="0" smtClean="0"/>
          </a:p>
          <a:p>
            <a:endParaRPr lang="en-US" dirty="0"/>
          </a:p>
        </p:txBody>
      </p:sp>
    </p:spTree>
    <p:extLst>
      <p:ext uri="{BB962C8B-B14F-4D97-AF65-F5344CB8AC3E}">
        <p14:creationId xmlns:p14="http://schemas.microsoft.com/office/powerpoint/2010/main" val="28523492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Monitoring and Remediation</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18</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2" y="940996"/>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a:t>
            </a:r>
            <a:r>
              <a:rPr lang="en-US" sz="1600" dirty="0" smtClean="0">
                <a:solidFill>
                  <a:schemeClr val="bg1"/>
                </a:solidFill>
                <a:latin typeface="Arial" panose="020B0604020202020204" pitchFamily="34" charset="0"/>
                <a:cs typeface="Arial" panose="020B0604020202020204" pitchFamily="34" charset="0"/>
              </a:rPr>
              <a:t>46</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59</a:t>
            </a: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Application material:	A131 </a:t>
            </a:r>
            <a:r>
              <a:rPr lang="en-US" sz="1600" dirty="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A163</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35258" y="2259113"/>
            <a:ext cx="8673483" cy="2312888"/>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13:</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share its views on:</a:t>
            </a: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(a)	The proposed revisions to the monitoring and remediation component.</a:t>
            </a: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(b)	Whether the revisions to the requirements addressing the inspection of engagements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improves </a:t>
            </a:r>
            <a:r>
              <a:rPr lang="en-US" sz="1600" dirty="0">
                <a:solidFill>
                  <a:schemeClr val="tx1">
                    <a:lumMod val="50000"/>
                    <a:lumOff val="50000"/>
                  </a:schemeClr>
                </a:solidFill>
                <a:latin typeface="Arial" panose="020B0604020202020204" pitchFamily="34" charset="0"/>
                <a:cs typeface="Arial" panose="020B0604020202020204" pitchFamily="34" charset="0"/>
              </a:rPr>
              <a:t>the flexibility of the nature, timing and extent of the firm’s monitoring activities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while </a:t>
            </a:r>
            <a:r>
              <a:rPr lang="en-US" sz="1600" dirty="0">
                <a:solidFill>
                  <a:schemeClr val="tx1">
                    <a:lumMod val="50000"/>
                    <a:lumOff val="50000"/>
                  </a:schemeClr>
                </a:solidFill>
                <a:latin typeface="Arial" panose="020B0604020202020204" pitchFamily="34" charset="0"/>
                <a:cs typeface="Arial" panose="020B0604020202020204" pitchFamily="34" charset="0"/>
              </a:rPr>
              <a:t>retaining the necessary robustness. If not, how does the IAASB suggest this be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further addressed.</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04488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Network Requirements or Services</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19</a:t>
            </a:fld>
            <a:endParaRPr lang="en-US" sz="750" dirty="0">
              <a:solidFill>
                <a:schemeClr val="tx1"/>
              </a:solidFill>
              <a:latin typeface="+mn-lt"/>
            </a:endParaRPr>
          </a:p>
          <a:p>
            <a:endParaRPr lang="en-US" sz="750" dirty="0">
              <a:solidFill>
                <a:schemeClr val="tx1"/>
              </a:solidFill>
              <a:latin typeface="+mn-lt"/>
            </a:endParaRPr>
          </a:p>
        </p:txBody>
      </p:sp>
      <p:sp>
        <p:nvSpPr>
          <p:cNvPr id="8" name="Content Placeholder 1"/>
          <p:cNvSpPr txBox="1">
            <a:spLocks/>
          </p:cNvSpPr>
          <p:nvPr/>
        </p:nvSpPr>
        <p:spPr>
          <a:xfrm>
            <a:off x="257452" y="945508"/>
            <a:ext cx="8429348" cy="3188677"/>
          </a:xfrm>
          <a:prstGeom prst="rect">
            <a:avLst/>
          </a:prstGeom>
        </p:spPr>
        <p:txBody>
          <a:bodyPr vert="horz" lIns="0" tIns="0" rIns="0" bIns="0" rtlCol="0">
            <a:noAutofit/>
          </a:bodyPr>
          <a:lstStyle>
            <a:lvl1pPr marL="129779" indent="-129779" algn="l" defTabSz="342900" rtl="0" eaLnBrk="1" latinLnBrk="0" hangingPunct="1">
              <a:spcBef>
                <a:spcPts val="900"/>
              </a:spcBef>
              <a:buFont typeface="Arial"/>
              <a:buChar char="•"/>
              <a:defRPr sz="1500" kern="1200">
                <a:solidFill>
                  <a:srgbClr val="808080"/>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rgbClr val="808080"/>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rgbClr val="808080"/>
                </a:solidFill>
                <a:latin typeface="Arial" panose="020B0604020202020204" pitchFamily="34" charset="0"/>
                <a:ea typeface="+mn-ea"/>
                <a:cs typeface="Arial" panose="020B0604020202020204" pitchFamily="34" charset="0"/>
              </a:defRPr>
            </a:lvl3pPr>
            <a:lvl4pPr marL="642938"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4pPr>
            <a:lvl5pPr marL="813197"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sz="1800" dirty="0" smtClean="0"/>
              <a:t>CAG Comments:</a:t>
            </a:r>
          </a:p>
          <a:p>
            <a:pPr lvl="1"/>
            <a:r>
              <a:rPr lang="en-US" sz="1600" dirty="0" smtClean="0"/>
              <a:t>Improvement, but further work needed to properly address undue reliance on networks</a:t>
            </a:r>
          </a:p>
          <a:p>
            <a:pPr lvl="1"/>
            <a:r>
              <a:rPr lang="en-US" sz="1600" dirty="0" smtClean="0"/>
              <a:t>Some representatives still seeking requirements for networks – establishing expectations for networks and implications for the firm if such expectations are not met</a:t>
            </a:r>
          </a:p>
          <a:p>
            <a:pPr lvl="2"/>
            <a:r>
              <a:rPr lang="en-US" sz="1400" dirty="0" smtClean="0"/>
              <a:t>Reputation of the profession is significantly affected by actions of networks</a:t>
            </a:r>
          </a:p>
          <a:p>
            <a:pPr lvl="1"/>
            <a:r>
              <a:rPr lang="en-US" sz="1600" dirty="0" smtClean="0"/>
              <a:t>Need to better address issue that users perceive that quality is consistent across the network, when it is not</a:t>
            </a:r>
          </a:p>
          <a:p>
            <a:pPr lvl="1"/>
            <a:r>
              <a:rPr lang="en-US" sz="1600" dirty="0" smtClean="0"/>
              <a:t>Clarity needed </a:t>
            </a:r>
            <a:r>
              <a:rPr lang="en-US" sz="1600" dirty="0"/>
              <a:t>on what information the firm is expected to obtain from the network that would facilitate reliance on the network requirements </a:t>
            </a:r>
            <a:r>
              <a:rPr lang="en-US" sz="1600" dirty="0" smtClean="0"/>
              <a:t>or services</a:t>
            </a:r>
          </a:p>
          <a:p>
            <a:pPr lvl="1"/>
            <a:r>
              <a:rPr lang="en-US" sz="1600" dirty="0" smtClean="0"/>
              <a:t>Increase </a:t>
            </a:r>
            <a:r>
              <a:rPr lang="en-US" sz="1600" dirty="0"/>
              <a:t>emphasis on the firm and the network communicating best practices in addition to </a:t>
            </a:r>
            <a:r>
              <a:rPr lang="en-US" sz="1600" dirty="0" smtClean="0"/>
              <a:t>deficiencies</a:t>
            </a:r>
          </a:p>
          <a:p>
            <a:pPr lvl="1"/>
            <a:r>
              <a:rPr lang="en-US" sz="1600" dirty="0"/>
              <a:t>Mixed views on application material addressing transparency about relationship between firm and network (paragraph A129), i.e., whether it is enough</a:t>
            </a:r>
          </a:p>
          <a:p>
            <a:pPr lvl="1"/>
            <a:endParaRPr lang="en-US" sz="1450" dirty="0" smtClean="0"/>
          </a:p>
          <a:p>
            <a:pPr lvl="1"/>
            <a:endParaRPr lang="en-US" sz="1600" dirty="0" smtClean="0"/>
          </a:p>
          <a:p>
            <a:endParaRPr lang="en-US" sz="1800" dirty="0" smtClean="0"/>
          </a:p>
          <a:p>
            <a:endParaRPr lang="en-US" dirty="0"/>
          </a:p>
        </p:txBody>
      </p:sp>
    </p:spTree>
    <p:extLst>
      <p:ext uri="{BB962C8B-B14F-4D97-AF65-F5344CB8AC3E}">
        <p14:creationId xmlns:p14="http://schemas.microsoft.com/office/powerpoint/2010/main" val="18942301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Network Requirements or Services</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20</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2" y="940996"/>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a:t>
            </a:r>
            <a:r>
              <a:rPr lang="en-US" sz="1600" dirty="0" smtClean="0">
                <a:solidFill>
                  <a:schemeClr val="bg1"/>
                </a:solidFill>
                <a:latin typeface="Arial" panose="020B0604020202020204" pitchFamily="34" charset="0"/>
                <a:cs typeface="Arial" panose="020B0604020202020204" pitchFamily="34" charset="0"/>
              </a:rPr>
              <a:t>60 </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65</a:t>
            </a:r>
            <a:endParaRPr lang="en-US" sz="1600" dirty="0" smtClean="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Application material:	A164 </a:t>
            </a:r>
            <a:r>
              <a:rPr lang="en-US" sz="1600" dirty="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A173</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35258" y="2259113"/>
            <a:ext cx="8673483" cy="2312888"/>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14:</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share its views regarding the requirements and application material for networks, including:</a:t>
            </a: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(a)	Whether the public interest issues in relation to networks have been appropriately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addressed </a:t>
            </a:r>
            <a:r>
              <a:rPr lang="en-US" sz="1600" dirty="0">
                <a:solidFill>
                  <a:schemeClr val="tx1">
                    <a:lumMod val="50000"/>
                    <a:lumOff val="50000"/>
                  </a:schemeClr>
                </a:solidFill>
                <a:latin typeface="Arial" panose="020B0604020202020204" pitchFamily="34" charset="0"/>
                <a:cs typeface="Arial" panose="020B0604020202020204" pitchFamily="34" charset="0"/>
              </a:rPr>
              <a:t>in the standard. If not, what further actions should the QCTF take to address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these </a:t>
            </a:r>
            <a:r>
              <a:rPr lang="en-US" sz="1600" dirty="0">
                <a:solidFill>
                  <a:schemeClr val="tx1">
                    <a:lumMod val="50000"/>
                    <a:lumOff val="50000"/>
                  </a:schemeClr>
                </a:solidFill>
                <a:latin typeface="Arial" panose="020B0604020202020204" pitchFamily="34" charset="0"/>
                <a:cs typeface="Arial" panose="020B0604020202020204" pitchFamily="34" charset="0"/>
              </a:rPr>
              <a:t>issues?</a:t>
            </a: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(b)	The revisions that link the requirements for networks with the components of the </a:t>
            </a:r>
            <a:r>
              <a:rPr lang="en-US" sz="1600" dirty="0" smtClean="0">
                <a:solidFill>
                  <a:schemeClr val="tx1">
                    <a:lumMod val="50000"/>
                    <a:lumOff val="50000"/>
                  </a:schemeClr>
                </a:solidFill>
                <a:latin typeface="Arial" panose="020B0604020202020204" pitchFamily="34" charset="0"/>
                <a:cs typeface="Arial" panose="020B0604020202020204" pitchFamily="34" charset="0"/>
              </a:rPr>
              <a:t>SOQM.</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34283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Service Providers</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21</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2" y="940996"/>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a:t>
            </a:r>
            <a:r>
              <a:rPr lang="en-US" sz="1600" dirty="0">
                <a:solidFill>
                  <a:schemeClr val="bg1"/>
                </a:solidFill>
                <a:latin typeface="Arial" panose="020B0604020202020204" pitchFamily="34" charset="0"/>
                <a:cs typeface="Arial" panose="020B0604020202020204" pitchFamily="34" charset="0"/>
              </a:rPr>
              <a:t>6</a:t>
            </a:r>
            <a:r>
              <a:rPr lang="en-US" sz="1600" dirty="0" smtClean="0">
                <a:solidFill>
                  <a:schemeClr val="bg1"/>
                </a:solidFill>
                <a:latin typeface="Arial" panose="020B0604020202020204" pitchFamily="34" charset="0"/>
                <a:cs typeface="Arial" panose="020B0604020202020204" pitchFamily="34" charset="0"/>
              </a:rPr>
              <a:t>6</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67</a:t>
            </a: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Application material:	A174 </a:t>
            </a:r>
            <a:r>
              <a:rPr lang="en-US" sz="1600" dirty="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A179</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57452" y="2246049"/>
            <a:ext cx="8673483" cy="1162976"/>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15:</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The </a:t>
            </a:r>
            <a:r>
              <a:rPr lang="en-US" sz="1600" dirty="0">
                <a:solidFill>
                  <a:schemeClr val="tx1">
                    <a:lumMod val="50000"/>
                    <a:lumOff val="50000"/>
                  </a:schemeClr>
                </a:solidFill>
                <a:latin typeface="Arial" panose="020B0604020202020204" pitchFamily="34" charset="0"/>
                <a:cs typeface="Arial" panose="020B0604020202020204" pitchFamily="34" charset="0"/>
              </a:rPr>
              <a:t>IAASB is asked to share its views regarding the requirements and application material for service </a:t>
            </a:r>
            <a:r>
              <a:rPr lang="en-US" sz="1600" dirty="0" smtClean="0">
                <a:solidFill>
                  <a:schemeClr val="tx1">
                    <a:lumMod val="50000"/>
                    <a:lumOff val="50000"/>
                  </a:schemeClr>
                </a:solidFill>
                <a:latin typeface="Arial" panose="020B0604020202020204" pitchFamily="34" charset="0"/>
                <a:cs typeface="Arial" panose="020B0604020202020204" pitchFamily="34" charset="0"/>
              </a:rPr>
              <a:t>providers.</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31574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Documentation</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22</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257452" y="940996"/>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References 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Requirements:	</a:t>
            </a:r>
            <a:r>
              <a:rPr lang="en-US" sz="1600" dirty="0" smtClean="0">
                <a:solidFill>
                  <a:schemeClr val="bg1"/>
                </a:solidFill>
                <a:latin typeface="Arial" panose="020B0604020202020204" pitchFamily="34" charset="0"/>
                <a:cs typeface="Arial" panose="020B0604020202020204" pitchFamily="34" charset="0"/>
              </a:rPr>
              <a:t>6</a:t>
            </a:r>
            <a:r>
              <a:rPr lang="en-US" sz="1600" dirty="0">
                <a:solidFill>
                  <a:schemeClr val="bg1"/>
                </a:solidFill>
                <a:latin typeface="Arial" panose="020B0604020202020204" pitchFamily="34" charset="0"/>
                <a:cs typeface="Arial" panose="020B0604020202020204" pitchFamily="34" charset="0"/>
              </a:rPr>
              <a:t>8</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71</a:t>
            </a: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Application material:	A180 </a:t>
            </a:r>
            <a:r>
              <a:rPr lang="en-US" sz="1600" dirty="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A183</a:t>
            </a:r>
            <a:endParaRPr lang="en-US" sz="1600"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57452" y="2246049"/>
            <a:ext cx="8673483" cy="1162976"/>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16:</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In </a:t>
            </a:r>
            <a:r>
              <a:rPr lang="en-US" sz="1600" dirty="0">
                <a:solidFill>
                  <a:schemeClr val="tx1">
                    <a:lumMod val="50000"/>
                    <a:lumOff val="50000"/>
                  </a:schemeClr>
                </a:solidFill>
                <a:latin typeface="Arial" panose="020B0604020202020204" pitchFamily="34" charset="0"/>
                <a:cs typeface="Arial" panose="020B0604020202020204" pitchFamily="34" charset="0"/>
              </a:rPr>
              <a:t>the view of the IAASB, are there any further revisions needed to the documentation requirements and application </a:t>
            </a:r>
            <a:r>
              <a:rPr lang="en-US" sz="1600" dirty="0" smtClean="0">
                <a:solidFill>
                  <a:schemeClr val="tx1">
                    <a:lumMod val="50000"/>
                    <a:lumOff val="50000"/>
                  </a:schemeClr>
                </a:solidFill>
                <a:latin typeface="Arial" panose="020B0604020202020204" pitchFamily="34" charset="0"/>
                <a:cs typeface="Arial" panose="020B0604020202020204" pitchFamily="34" charset="0"/>
              </a:rPr>
              <a:t>material?</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30933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Appendix</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23</a:t>
            </a:fld>
            <a:endParaRPr lang="en-US" sz="750" dirty="0">
              <a:solidFill>
                <a:schemeClr val="tx1"/>
              </a:solidFill>
              <a:latin typeface="+mn-lt"/>
            </a:endParaRPr>
          </a:p>
          <a:p>
            <a:endParaRPr lang="en-US" sz="750" dirty="0">
              <a:solidFill>
                <a:schemeClr val="tx1"/>
              </a:solidFill>
              <a:latin typeface="+mn-lt"/>
            </a:endParaRPr>
          </a:p>
        </p:txBody>
      </p:sp>
      <p:sp>
        <p:nvSpPr>
          <p:cNvPr id="12" name="Rounded Rectangle 11"/>
          <p:cNvSpPr/>
          <p:nvPr/>
        </p:nvSpPr>
        <p:spPr>
          <a:xfrm>
            <a:off x="341790" y="1835571"/>
            <a:ext cx="8673483" cy="111289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800"/>
              </a:spcBef>
            </a:pPr>
            <a:r>
              <a:rPr lang="en-US" sz="1600" b="1" dirty="0">
                <a:solidFill>
                  <a:schemeClr val="bg1"/>
                </a:solidFill>
                <a:latin typeface="Arial" panose="020B0604020202020204" pitchFamily="34" charset="0"/>
                <a:cs typeface="Arial" panose="020B0604020202020204" pitchFamily="34" charset="0"/>
              </a:rPr>
              <a:t>Paragraph </a:t>
            </a:r>
            <a:r>
              <a:rPr lang="en-US" sz="1600" b="1" dirty="0" smtClean="0">
                <a:solidFill>
                  <a:schemeClr val="bg1"/>
                </a:solidFill>
                <a:latin typeface="Arial" panose="020B0604020202020204" pitchFamily="34" charset="0"/>
                <a:cs typeface="Arial" panose="020B0604020202020204" pitchFamily="34" charset="0"/>
              </a:rPr>
              <a:t>References </a:t>
            </a:r>
            <a:r>
              <a:rPr lang="en-US" sz="1600" b="1" dirty="0">
                <a:solidFill>
                  <a:schemeClr val="bg1"/>
                </a:solidFill>
                <a:latin typeface="Arial" panose="020B0604020202020204" pitchFamily="34" charset="0"/>
                <a:cs typeface="Arial" panose="020B0604020202020204" pitchFamily="34" charset="0"/>
              </a:rPr>
              <a:t>for IAASB </a:t>
            </a:r>
            <a:r>
              <a:rPr lang="en-US" sz="1600" b="1" dirty="0" smtClean="0">
                <a:solidFill>
                  <a:schemeClr val="bg1"/>
                </a:solidFill>
                <a:latin typeface="Arial" panose="020B0604020202020204" pitchFamily="34" charset="0"/>
                <a:cs typeface="Arial" panose="020B0604020202020204" pitchFamily="34" charset="0"/>
              </a:rPr>
              <a:t>Discussion</a:t>
            </a:r>
            <a:endParaRPr lang="en-US" sz="1600" b="1" dirty="0">
              <a:solidFill>
                <a:schemeClr val="bg1"/>
              </a:solidFill>
              <a:latin typeface="Arial" panose="020B0604020202020204" pitchFamily="34" charset="0"/>
              <a:cs typeface="Arial" panose="020B0604020202020204" pitchFamily="34" charset="0"/>
            </a:endParaRPr>
          </a:p>
          <a:p>
            <a:pPr>
              <a:spcBef>
                <a:spcPts val="800"/>
              </a:spcBef>
              <a:tabLst>
                <a:tab pos="2290763" algn="l"/>
              </a:tabLst>
            </a:pPr>
            <a:r>
              <a:rPr lang="en-US" sz="1600" dirty="0" smtClean="0">
                <a:solidFill>
                  <a:schemeClr val="bg1"/>
                </a:solidFill>
                <a:latin typeface="Arial" panose="020B0604020202020204" pitchFamily="34" charset="0"/>
                <a:cs typeface="Arial" panose="020B0604020202020204" pitchFamily="34" charset="0"/>
              </a:rPr>
              <a:t>Appendix 1 paragraphs 1 </a:t>
            </a:r>
            <a:r>
              <a:rPr lang="en-US" sz="1600" dirty="0" smtClean="0">
                <a:solidFill>
                  <a:schemeClr val="bg1"/>
                </a:solidFill>
                <a:latin typeface="Arial" panose="020B0604020202020204" pitchFamily="34" charset="0"/>
                <a:cs typeface="Arial" panose="020B0604020202020204" pitchFamily="34" charset="0"/>
              </a:rPr>
              <a:t>– </a:t>
            </a:r>
            <a:r>
              <a:rPr lang="en-US" sz="1600" dirty="0" smtClean="0">
                <a:solidFill>
                  <a:schemeClr val="bg1"/>
                </a:solidFill>
                <a:latin typeface="Arial" panose="020B0604020202020204" pitchFamily="34" charset="0"/>
                <a:cs typeface="Arial" panose="020B0604020202020204" pitchFamily="34" charset="0"/>
              </a:rPr>
              <a:t>22</a:t>
            </a:r>
            <a:endParaRPr lang="en-US" sz="1600" dirty="0" smtClean="0">
              <a:solidFill>
                <a:schemeClr val="bg1"/>
              </a:solidFill>
              <a:latin typeface="Arial" panose="020B0604020202020204" pitchFamily="34" charset="0"/>
              <a:cs typeface="Arial" panose="020B0604020202020204" pitchFamily="34" charset="0"/>
            </a:endParaRPr>
          </a:p>
        </p:txBody>
      </p:sp>
      <p:sp>
        <p:nvSpPr>
          <p:cNvPr id="8" name="Content Placeholder 1"/>
          <p:cNvSpPr>
            <a:spLocks noGrp="1"/>
          </p:cNvSpPr>
          <p:nvPr>
            <p:ph idx="1"/>
          </p:nvPr>
        </p:nvSpPr>
        <p:spPr>
          <a:xfrm>
            <a:off x="457200" y="1049682"/>
            <a:ext cx="8229600" cy="1068486"/>
          </a:xfrm>
        </p:spPr>
        <p:txBody>
          <a:bodyPr/>
          <a:lstStyle/>
          <a:p>
            <a:r>
              <a:rPr lang="en-US" sz="1800" dirty="0" smtClean="0"/>
              <a:t>CAG comments</a:t>
            </a:r>
          </a:p>
          <a:p>
            <a:pPr lvl="1"/>
            <a:r>
              <a:rPr lang="en-US" sz="1650" dirty="0" smtClean="0"/>
              <a:t>Replace appendix with diagram</a:t>
            </a:r>
            <a:endParaRPr lang="en-US" sz="1650" dirty="0"/>
          </a:p>
          <a:p>
            <a:endParaRPr lang="en-US" dirty="0"/>
          </a:p>
        </p:txBody>
      </p:sp>
    </p:spTree>
    <p:extLst>
      <p:ext uri="{BB962C8B-B14F-4D97-AF65-F5344CB8AC3E}">
        <p14:creationId xmlns:p14="http://schemas.microsoft.com/office/powerpoint/2010/main" val="28709702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Title of the ISQCs</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24</a:t>
            </a:fld>
            <a:endParaRPr lang="en-US" sz="750" dirty="0">
              <a:solidFill>
                <a:schemeClr val="tx1"/>
              </a:solidFill>
              <a:latin typeface="+mn-lt"/>
            </a:endParaRPr>
          </a:p>
          <a:p>
            <a:endParaRPr lang="en-US" sz="750" dirty="0">
              <a:solidFill>
                <a:schemeClr val="tx1"/>
              </a:solidFill>
              <a:latin typeface="+mn-lt"/>
            </a:endParaRPr>
          </a:p>
        </p:txBody>
      </p:sp>
      <p:sp>
        <p:nvSpPr>
          <p:cNvPr id="7" name="Content Placeholder 6"/>
          <p:cNvSpPr>
            <a:spLocks noGrp="1"/>
          </p:cNvSpPr>
          <p:nvPr>
            <p:ph idx="1"/>
          </p:nvPr>
        </p:nvSpPr>
        <p:spPr>
          <a:xfrm>
            <a:off x="257452" y="1018572"/>
            <a:ext cx="8673483" cy="901814"/>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17:</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Does </a:t>
            </a:r>
            <a:r>
              <a:rPr lang="en-US" sz="1600" dirty="0">
                <a:solidFill>
                  <a:schemeClr val="tx1">
                    <a:lumMod val="50000"/>
                    <a:lumOff val="50000"/>
                  </a:schemeClr>
                </a:solidFill>
                <a:latin typeface="Arial" panose="020B0604020202020204" pitchFamily="34" charset="0"/>
                <a:cs typeface="Arial" panose="020B0604020202020204" pitchFamily="34" charset="0"/>
              </a:rPr>
              <a:t>the IAASB support the QCTF’s proposal to retain the title of the </a:t>
            </a:r>
            <a:r>
              <a:rPr lang="en-US" sz="1600" dirty="0" smtClean="0">
                <a:solidFill>
                  <a:schemeClr val="tx1">
                    <a:lumMod val="50000"/>
                    <a:lumOff val="50000"/>
                  </a:schemeClr>
                </a:solidFill>
                <a:latin typeface="Arial" panose="020B0604020202020204" pitchFamily="34" charset="0"/>
                <a:cs typeface="Arial" panose="020B0604020202020204" pitchFamily="34" charset="0"/>
              </a:rPr>
              <a:t>ISQCs?</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70263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Length and Simplicity</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25</a:t>
            </a:fld>
            <a:endParaRPr lang="en-US" sz="750" dirty="0">
              <a:solidFill>
                <a:schemeClr val="tx1"/>
              </a:solidFill>
              <a:latin typeface="+mn-lt"/>
            </a:endParaRPr>
          </a:p>
          <a:p>
            <a:endParaRPr lang="en-US" sz="750" dirty="0">
              <a:solidFill>
                <a:schemeClr val="tx1"/>
              </a:solidFill>
              <a:latin typeface="+mn-lt"/>
            </a:endParaRPr>
          </a:p>
        </p:txBody>
      </p:sp>
      <p:sp>
        <p:nvSpPr>
          <p:cNvPr id="7" name="Content Placeholder 6"/>
          <p:cNvSpPr>
            <a:spLocks noGrp="1"/>
          </p:cNvSpPr>
          <p:nvPr>
            <p:ph idx="1"/>
          </p:nvPr>
        </p:nvSpPr>
        <p:spPr>
          <a:xfrm>
            <a:off x="257452" y="1012052"/>
            <a:ext cx="8673483" cy="1296141"/>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18:</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Does </a:t>
            </a:r>
            <a:r>
              <a:rPr lang="en-US" sz="1600" dirty="0">
                <a:solidFill>
                  <a:schemeClr val="tx1">
                    <a:lumMod val="50000"/>
                    <a:lumOff val="50000"/>
                  </a:schemeClr>
                </a:solidFill>
                <a:latin typeface="Arial" panose="020B0604020202020204" pitchFamily="34" charset="0"/>
                <a:cs typeface="Arial" panose="020B0604020202020204" pitchFamily="34" charset="0"/>
              </a:rPr>
              <a:t>the IAASB support the revisions made to proposed ISQC (Revised) to reduce the length of the standard and to improve its simplicity? If not, does the IAASB have any further suggestions in this regard?</a:t>
            </a:r>
          </a:p>
        </p:txBody>
      </p:sp>
    </p:spTree>
    <p:extLst>
      <p:ext uri="{BB962C8B-B14F-4D97-AF65-F5344CB8AC3E}">
        <p14:creationId xmlns:p14="http://schemas.microsoft.com/office/powerpoint/2010/main" val="341162457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8512" y="427437"/>
            <a:ext cx="8229600" cy="403875"/>
          </a:xfrm>
        </p:spPr>
        <p:txBody>
          <a:bodyPr/>
          <a:lstStyle/>
          <a:p>
            <a:r>
              <a:rPr lang="en-US" dirty="0" smtClean="0"/>
              <a:t>Scalability and Additional Guidance</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26</a:t>
            </a:fld>
            <a:endParaRPr lang="en-US" sz="750" dirty="0">
              <a:solidFill>
                <a:schemeClr val="tx1"/>
              </a:solidFill>
              <a:latin typeface="+mn-lt"/>
            </a:endParaRPr>
          </a:p>
          <a:p>
            <a:endParaRPr lang="en-US" sz="750" dirty="0">
              <a:solidFill>
                <a:schemeClr val="tx1"/>
              </a:solidFill>
              <a:latin typeface="+mn-lt"/>
            </a:endParaRPr>
          </a:p>
        </p:txBody>
      </p:sp>
      <p:sp>
        <p:nvSpPr>
          <p:cNvPr id="2" name="Content Placeholder 1"/>
          <p:cNvSpPr>
            <a:spLocks noGrp="1"/>
          </p:cNvSpPr>
          <p:nvPr>
            <p:ph idx="1"/>
          </p:nvPr>
        </p:nvSpPr>
        <p:spPr>
          <a:xfrm>
            <a:off x="248512" y="1049681"/>
            <a:ext cx="8229600" cy="3188677"/>
          </a:xfrm>
        </p:spPr>
        <p:txBody>
          <a:bodyPr/>
          <a:lstStyle/>
          <a:p>
            <a:r>
              <a:rPr lang="en-US" sz="1800" dirty="0" smtClean="0"/>
              <a:t>CAG comments</a:t>
            </a:r>
          </a:p>
          <a:p>
            <a:pPr lvl="1"/>
            <a:r>
              <a:rPr lang="en-US" sz="1600" dirty="0" smtClean="0"/>
              <a:t>Good progress made with scalability, although some areas continue to be complex and signposting would be helpful</a:t>
            </a:r>
          </a:p>
          <a:p>
            <a:pPr lvl="1"/>
            <a:r>
              <a:rPr lang="en-US" sz="1600" dirty="0" smtClean="0"/>
              <a:t>Support for supporting materials and encouragement to provide these with the ED</a:t>
            </a:r>
          </a:p>
        </p:txBody>
      </p:sp>
    </p:spTree>
    <p:extLst>
      <p:ext uri="{BB962C8B-B14F-4D97-AF65-F5344CB8AC3E}">
        <p14:creationId xmlns:p14="http://schemas.microsoft.com/office/powerpoint/2010/main" val="7537416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790" y="434511"/>
            <a:ext cx="8229600" cy="403875"/>
          </a:xfrm>
        </p:spPr>
        <p:txBody>
          <a:bodyPr/>
          <a:lstStyle/>
          <a:p>
            <a:r>
              <a:rPr lang="en-US" dirty="0" smtClean="0"/>
              <a:t>Scalability and Additional Guidance</a:t>
            </a:r>
            <a:endParaRPr lang="en-US" dirty="0"/>
          </a:p>
        </p:txBody>
      </p:sp>
      <p:sp>
        <p:nvSpPr>
          <p:cNvPr id="6"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F9F5955-1F7F-4661-8A16-F4B0468EE63D}" type="slidenum">
              <a:rPr lang="en-US" sz="750" smtClean="0">
                <a:solidFill>
                  <a:schemeClr val="tx1"/>
                </a:solidFill>
                <a:latin typeface="+mn-lt"/>
              </a:rPr>
              <a:t>27</a:t>
            </a:fld>
            <a:endParaRPr lang="en-US" sz="750" dirty="0">
              <a:solidFill>
                <a:schemeClr val="tx1"/>
              </a:solidFill>
              <a:latin typeface="+mn-lt"/>
            </a:endParaRPr>
          </a:p>
          <a:p>
            <a:endParaRPr lang="en-US" sz="750" dirty="0">
              <a:solidFill>
                <a:schemeClr val="tx1"/>
              </a:solidFill>
              <a:latin typeface="+mn-lt"/>
            </a:endParaRPr>
          </a:p>
        </p:txBody>
      </p:sp>
      <p:sp>
        <p:nvSpPr>
          <p:cNvPr id="7" name="Content Placeholder 6"/>
          <p:cNvSpPr>
            <a:spLocks noGrp="1"/>
          </p:cNvSpPr>
          <p:nvPr>
            <p:ph idx="1"/>
          </p:nvPr>
        </p:nvSpPr>
        <p:spPr>
          <a:xfrm>
            <a:off x="257452" y="1012052"/>
            <a:ext cx="8673483" cy="3364639"/>
          </a:xfrm>
          <a:prstGeom prst="round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19:</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Does </a:t>
            </a:r>
            <a:r>
              <a:rPr lang="en-US" sz="1600" dirty="0">
                <a:solidFill>
                  <a:schemeClr val="tx1">
                    <a:lumMod val="50000"/>
                    <a:lumOff val="50000"/>
                  </a:schemeClr>
                </a:solidFill>
                <a:latin typeface="Arial" panose="020B0604020202020204" pitchFamily="34" charset="0"/>
                <a:cs typeface="Arial" panose="020B0604020202020204" pitchFamily="34" charset="0"/>
              </a:rPr>
              <a:t>the IAASB support how scalability has been addressed in proposed ISQC 1 (Revised)? If not, what further actions should be taken to address scalability?</a:t>
            </a:r>
          </a:p>
          <a:p>
            <a:pPr marL="91440" indent="0">
              <a:spcBef>
                <a:spcPts val="800"/>
              </a:spcBef>
              <a:buNone/>
            </a:pPr>
            <a:r>
              <a:rPr lang="en-US" sz="1800" b="1" dirty="0">
                <a:solidFill>
                  <a:schemeClr val="tx1">
                    <a:lumMod val="50000"/>
                    <a:lumOff val="50000"/>
                  </a:schemeClr>
                </a:solidFill>
                <a:latin typeface="Arial" panose="020B0604020202020204" pitchFamily="34" charset="0"/>
                <a:cs typeface="Arial" panose="020B0604020202020204" pitchFamily="34" charset="0"/>
              </a:rPr>
              <a:t>Question </a:t>
            </a:r>
            <a:r>
              <a:rPr lang="en-US" sz="1800" b="1" dirty="0" smtClean="0">
                <a:solidFill>
                  <a:schemeClr val="tx1">
                    <a:lumMod val="50000"/>
                    <a:lumOff val="50000"/>
                  </a:schemeClr>
                </a:solidFill>
                <a:latin typeface="Arial" panose="020B0604020202020204" pitchFamily="34" charset="0"/>
                <a:cs typeface="Arial" panose="020B0604020202020204" pitchFamily="34" charset="0"/>
              </a:rPr>
              <a:t>20:</a:t>
            </a:r>
            <a:endParaRPr lang="en-US" sz="1800" b="1"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pPr>
            <a:r>
              <a:rPr lang="en-US" sz="1600" dirty="0" smtClean="0">
                <a:solidFill>
                  <a:schemeClr val="tx1">
                    <a:lumMod val="50000"/>
                    <a:lumOff val="50000"/>
                  </a:schemeClr>
                </a:solidFill>
                <a:latin typeface="Arial" panose="020B0604020202020204" pitchFamily="34" charset="0"/>
                <a:cs typeface="Arial" panose="020B0604020202020204" pitchFamily="34" charset="0"/>
              </a:rPr>
              <a:t>In </a:t>
            </a:r>
            <a:r>
              <a:rPr lang="en-US" sz="1600" dirty="0">
                <a:solidFill>
                  <a:schemeClr val="tx1">
                    <a:lumMod val="50000"/>
                    <a:lumOff val="50000"/>
                  </a:schemeClr>
                </a:solidFill>
                <a:latin typeface="Arial" panose="020B0604020202020204" pitchFamily="34" charset="0"/>
                <a:cs typeface="Arial" panose="020B0604020202020204" pitchFamily="34" charset="0"/>
              </a:rPr>
              <a:t>relation to the reference materials in Agenda Item 2–D and Agenda Item 2–E, the IAASB is asked to share their views about:</a:t>
            </a: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(a)	Whether these materials should be published with the explanatory memorandum of the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ED </a:t>
            </a:r>
            <a:r>
              <a:rPr lang="en-US" sz="1600" dirty="0">
                <a:solidFill>
                  <a:schemeClr val="tx1">
                    <a:lumMod val="50000"/>
                    <a:lumOff val="50000"/>
                  </a:schemeClr>
                </a:solidFill>
                <a:latin typeface="Arial" panose="020B0604020202020204" pitchFamily="34" charset="0"/>
                <a:cs typeface="Arial" panose="020B0604020202020204" pitchFamily="34" charset="0"/>
              </a:rPr>
              <a:t>of proposed ISQC 1 (Revised</a:t>
            </a:r>
            <a:r>
              <a:rPr lang="en-US" sz="1600" dirty="0" smtClean="0">
                <a:solidFill>
                  <a:schemeClr val="tx1">
                    <a:lumMod val="50000"/>
                    <a:lumOff val="50000"/>
                  </a:schemeClr>
                </a:solidFill>
                <a:latin typeface="Arial" panose="020B0604020202020204" pitchFamily="34" charset="0"/>
                <a:cs typeface="Arial" panose="020B0604020202020204" pitchFamily="34" charset="0"/>
              </a:rPr>
              <a:t>).</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a:p>
            <a:pPr marL="91440" lvl="0" indent="0">
              <a:spcBef>
                <a:spcPts val="800"/>
              </a:spcBef>
              <a:buNone/>
              <a:tabLst>
                <a:tab pos="461963" algn="l"/>
              </a:tabLst>
            </a:pPr>
            <a:r>
              <a:rPr lang="en-US" sz="1600" dirty="0">
                <a:solidFill>
                  <a:schemeClr val="tx1">
                    <a:lumMod val="50000"/>
                    <a:lumOff val="50000"/>
                  </a:schemeClr>
                </a:solidFill>
                <a:latin typeface="Arial" panose="020B0604020202020204" pitchFamily="34" charset="0"/>
                <a:cs typeface="Arial" panose="020B0604020202020204" pitchFamily="34" charset="0"/>
              </a:rPr>
              <a:t>(b)	Whether an additional example should be developed to illustrate the scalability of the </a:t>
            </a:r>
            <a:r>
              <a:rPr lang="en-US" sz="1600" dirty="0" smtClean="0">
                <a:solidFill>
                  <a:schemeClr val="tx1">
                    <a:lumMod val="50000"/>
                    <a:lumOff val="50000"/>
                  </a:schemeClr>
                </a:solidFill>
                <a:latin typeface="Arial" panose="020B0604020202020204" pitchFamily="34" charset="0"/>
                <a:cs typeface="Arial" panose="020B0604020202020204" pitchFamily="34" charset="0"/>
              </a:rPr>
              <a:t>	standard</a:t>
            </a:r>
            <a:r>
              <a:rPr lang="en-US" sz="1600" dirty="0">
                <a:solidFill>
                  <a:schemeClr val="tx1">
                    <a:lumMod val="50000"/>
                    <a:lumOff val="50000"/>
                  </a:schemeClr>
                </a:solidFill>
                <a:latin typeface="Arial" panose="020B0604020202020204" pitchFamily="34" charset="0"/>
                <a:cs typeface="Arial" panose="020B0604020202020204" pitchFamily="34" charset="0"/>
              </a:rPr>
              <a:t>, and if so, the nature of the additional </a:t>
            </a:r>
            <a:r>
              <a:rPr lang="en-US" sz="1600" dirty="0" smtClean="0">
                <a:solidFill>
                  <a:schemeClr val="tx1">
                    <a:lumMod val="50000"/>
                    <a:lumOff val="50000"/>
                  </a:schemeClr>
                </a:solidFill>
                <a:latin typeface="Arial" panose="020B0604020202020204" pitchFamily="34" charset="0"/>
                <a:cs typeface="Arial" panose="020B0604020202020204" pitchFamily="34" charset="0"/>
              </a:rPr>
              <a:t>example.</a:t>
            </a:r>
            <a:endParaRPr lang="en-US" sz="16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32221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73714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10487</TotalTime>
  <Words>1464</Words>
  <Application>Microsoft Office PowerPoint</Application>
  <PresentationFormat>On-screen Show (16:9)</PresentationFormat>
  <Paragraphs>240</Paragraphs>
  <Slides>28</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MS PGothic</vt:lpstr>
      <vt:lpstr>MS PGothic</vt:lpstr>
      <vt:lpstr>Arial</vt:lpstr>
      <vt:lpstr>Arial Narrow</vt:lpstr>
      <vt:lpstr>Calibri</vt:lpstr>
      <vt:lpstr>Times New Roman</vt:lpstr>
      <vt:lpstr>ヒラギノ角ゴ Pro W3</vt:lpstr>
      <vt:lpstr>Office Theme</vt:lpstr>
      <vt:lpstr>Proposed ISQC 1 (Revised)</vt:lpstr>
      <vt:lpstr>Structure of Proposed ISQC 1 (Revised) and Interrelationship of the Components </vt:lpstr>
      <vt:lpstr>CAG and SMPC Feedback: Overarching Comments</vt:lpstr>
      <vt:lpstr>Structure of Proposed ISQC 1 (Revised) and Interrelationship of the Components </vt:lpstr>
      <vt:lpstr>Introduction</vt:lpstr>
      <vt:lpstr>Introduction</vt:lpstr>
      <vt:lpstr>Authority</vt:lpstr>
      <vt:lpstr>Objective and Definitions</vt:lpstr>
      <vt:lpstr>Applying and Complying with Relevant Requirements &amp; System of Quality Management</vt:lpstr>
      <vt:lpstr>Governance and Leadership</vt:lpstr>
      <vt:lpstr>Firm’s Risk Assessment Process</vt:lpstr>
      <vt:lpstr>Firm’s Risk Assessment Process</vt:lpstr>
      <vt:lpstr>Other Components</vt:lpstr>
      <vt:lpstr>Other Components</vt:lpstr>
      <vt:lpstr>Information and Communication</vt:lpstr>
      <vt:lpstr>Information and Communication</vt:lpstr>
      <vt:lpstr>Monitoring and Remediation</vt:lpstr>
      <vt:lpstr>Monitoring and Remediation</vt:lpstr>
      <vt:lpstr>Network Requirements or Services</vt:lpstr>
      <vt:lpstr>Network Requirements or Services</vt:lpstr>
      <vt:lpstr>Service Providers</vt:lpstr>
      <vt:lpstr>Documentation</vt:lpstr>
      <vt:lpstr>Appendix</vt:lpstr>
      <vt:lpstr>Title of the ISQCs</vt:lpstr>
      <vt:lpstr>Length and Simplicity</vt:lpstr>
      <vt:lpstr>Scalability and Additional Guidance</vt:lpstr>
      <vt:lpstr>Scalability and Additional Guidance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Natalie Klonaridis</cp:lastModifiedBy>
  <cp:revision>164</cp:revision>
  <cp:lastPrinted>2016-03-04T17:09:52Z</cp:lastPrinted>
  <dcterms:created xsi:type="dcterms:W3CDTF">2016-11-09T14:56:20Z</dcterms:created>
  <dcterms:modified xsi:type="dcterms:W3CDTF">2018-09-14T20:30:03Z</dcterms:modified>
</cp:coreProperties>
</file>