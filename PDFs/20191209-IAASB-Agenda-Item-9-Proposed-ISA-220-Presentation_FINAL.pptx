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heme/themeOverride2.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4"/>
  </p:notesMasterIdLst>
  <p:handoutMasterIdLst>
    <p:handoutMasterId r:id="rId45"/>
  </p:handoutMasterIdLst>
  <p:sldIdLst>
    <p:sldId id="271" r:id="rId2"/>
    <p:sldId id="295" r:id="rId3"/>
    <p:sldId id="559" r:id="rId4"/>
    <p:sldId id="547" r:id="rId5"/>
    <p:sldId id="570" r:id="rId6"/>
    <p:sldId id="572" r:id="rId7"/>
    <p:sldId id="573" r:id="rId8"/>
    <p:sldId id="574" r:id="rId9"/>
    <p:sldId id="561" r:id="rId10"/>
    <p:sldId id="552" r:id="rId11"/>
    <p:sldId id="553" r:id="rId12"/>
    <p:sldId id="557" r:id="rId13"/>
    <p:sldId id="558" r:id="rId14"/>
    <p:sldId id="581" r:id="rId15"/>
    <p:sldId id="564" r:id="rId16"/>
    <p:sldId id="565" r:id="rId17"/>
    <p:sldId id="571" r:id="rId18"/>
    <p:sldId id="555" r:id="rId19"/>
    <p:sldId id="554" r:id="rId20"/>
    <p:sldId id="556" r:id="rId21"/>
    <p:sldId id="563" r:id="rId22"/>
    <p:sldId id="568" r:id="rId23"/>
    <p:sldId id="526" r:id="rId24"/>
    <p:sldId id="569" r:id="rId25"/>
    <p:sldId id="567" r:id="rId26"/>
    <p:sldId id="582" r:id="rId27"/>
    <p:sldId id="534" r:id="rId28"/>
    <p:sldId id="521" r:id="rId29"/>
    <p:sldId id="577" r:id="rId30"/>
    <p:sldId id="583" r:id="rId31"/>
    <p:sldId id="584" r:id="rId32"/>
    <p:sldId id="580" r:id="rId33"/>
    <p:sldId id="537" r:id="rId34"/>
    <p:sldId id="579" r:id="rId35"/>
    <p:sldId id="541" r:id="rId36"/>
    <p:sldId id="587" r:id="rId37"/>
    <p:sldId id="566" r:id="rId38"/>
    <p:sldId id="531" r:id="rId39"/>
    <p:sldId id="578" r:id="rId40"/>
    <p:sldId id="585" r:id="rId41"/>
    <p:sldId id="586" r:id="rId42"/>
    <p:sldId id="294" r:id="rId43"/>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15A22"/>
    <a:srgbClr val="005BAA"/>
    <a:srgbClr val="808080"/>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3" autoAdjust="0"/>
    <p:restoredTop sz="76328" autoAdjust="0"/>
  </p:normalViewPr>
  <p:slideViewPr>
    <p:cSldViewPr snapToGrid="0" snapToObjects="1">
      <p:cViewPr varScale="1">
        <p:scale>
          <a:sx n="82" d="100"/>
          <a:sy n="82" d="100"/>
        </p:scale>
        <p:origin x="1382" y="62"/>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62" d="100"/>
          <a:sy n="62" d="100"/>
        </p:scale>
        <p:origin x="3134"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Sheet1!$A$2:$A$5</c:f>
              <c:strCache>
                <c:ptCount val="4"/>
                <c:pt idx="0">
                  <c:v>Agree</c:v>
                </c:pt>
                <c:pt idx="1">
                  <c:v>Agree but with further comments</c:v>
                </c:pt>
                <c:pt idx="2">
                  <c:v>Disagree</c:v>
                </c:pt>
                <c:pt idx="3">
                  <c:v>Did not comment</c:v>
                </c:pt>
              </c:strCache>
            </c:strRef>
          </c:cat>
          <c:val>
            <c:numRef>
              <c:f>Sheet1!$B$2:$B$5</c:f>
              <c:numCache>
                <c:formatCode>General</c:formatCode>
                <c:ptCount val="4"/>
                <c:pt idx="0">
                  <c:v>3</c:v>
                </c:pt>
                <c:pt idx="1">
                  <c:v>18</c:v>
                </c:pt>
                <c:pt idx="2">
                  <c:v>8</c:v>
                </c:pt>
                <c:pt idx="3">
                  <c:v>29</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Sheet1!$A$2:$A$5</c:f>
              <c:strCache>
                <c:ptCount val="4"/>
                <c:pt idx="0">
                  <c:v>Agree</c:v>
                </c:pt>
                <c:pt idx="1">
                  <c:v>Agree but with further comments</c:v>
                </c:pt>
                <c:pt idx="2">
                  <c:v>Disagree</c:v>
                </c:pt>
                <c:pt idx="3">
                  <c:v>Did not comment</c:v>
                </c:pt>
              </c:strCache>
            </c:strRef>
          </c:cat>
          <c:val>
            <c:numRef>
              <c:f>Sheet1!$B$2:$B$5</c:f>
              <c:numCache>
                <c:formatCode>General</c:formatCode>
                <c:ptCount val="4"/>
                <c:pt idx="0">
                  <c:v>3</c:v>
                </c:pt>
                <c:pt idx="1">
                  <c:v>18</c:v>
                </c:pt>
                <c:pt idx="2">
                  <c:v>8</c:v>
                </c:pt>
                <c:pt idx="3">
                  <c:v>63</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09229057214459"/>
          <c:y val="0.17008554974016071"/>
          <c:w val="0.76635990391867759"/>
          <c:h val="0.52279921067958146"/>
        </c:manualLayout>
      </c:layout>
      <c:doughnutChart>
        <c:varyColors val="1"/>
        <c:ser>
          <c:idx val="0"/>
          <c:order val="0"/>
          <c:tx>
            <c:strRef>
              <c:f>Sheet1!$B$1</c:f>
              <c:strCache>
                <c:ptCount val="1"/>
                <c:pt idx="0">
                  <c:v>Column1</c:v>
                </c:pt>
              </c:strCache>
            </c:strRef>
          </c:tx>
          <c:spPr>
            <a:solidFill>
              <a:srgbClr val="00B050"/>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6BCA-4D10-98A8-94B350D3A3BF}"/>
              </c:ext>
            </c:extLst>
          </c:dPt>
          <c:dPt>
            <c:idx val="1"/>
            <c:bubble3D val="0"/>
            <c:spPr>
              <a:solidFill>
                <a:srgbClr val="FFC000"/>
              </a:solidFill>
              <a:ln w="19050">
                <a:solidFill>
                  <a:schemeClr val="lt1"/>
                </a:solidFill>
              </a:ln>
              <a:effectLst/>
            </c:spPr>
            <c:extLst>
              <c:ext xmlns:c16="http://schemas.microsoft.com/office/drawing/2014/chart" uri="{C3380CC4-5D6E-409C-BE32-E72D297353CC}">
                <c16:uniqueId val="{00000003-6BCA-4D10-98A8-94B350D3A3BF}"/>
              </c:ext>
            </c:extLst>
          </c:dPt>
          <c:dPt>
            <c:idx val="2"/>
            <c:bubble3D val="0"/>
            <c:spPr>
              <a:solidFill>
                <a:srgbClr val="FF0000"/>
              </a:solidFill>
              <a:ln w="19050">
                <a:solidFill>
                  <a:schemeClr val="lt1"/>
                </a:solidFill>
              </a:ln>
              <a:effectLst/>
            </c:spPr>
            <c:extLst>
              <c:ext xmlns:c16="http://schemas.microsoft.com/office/drawing/2014/chart" uri="{C3380CC4-5D6E-409C-BE32-E72D297353CC}">
                <c16:uniqueId val="{00000005-6BCA-4D10-98A8-94B350D3A3BF}"/>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6BCA-4D10-98A8-94B350D3A3BF}"/>
              </c:ext>
            </c:extLst>
          </c:dPt>
          <c:dLbls>
            <c:delete val="1"/>
          </c:dLbls>
          <c:cat>
            <c:strRef>
              <c:f>Sheet1!$A$2:$A$5</c:f>
              <c:strCache>
                <c:ptCount val="4"/>
                <c:pt idx="0">
                  <c:v>Agree</c:v>
                </c:pt>
                <c:pt idx="1">
                  <c:v>Agree but with further comments</c:v>
                </c:pt>
                <c:pt idx="2">
                  <c:v>Disagree</c:v>
                </c:pt>
                <c:pt idx="3">
                  <c:v>Did not comment</c:v>
                </c:pt>
              </c:strCache>
            </c:strRef>
          </c:cat>
          <c:val>
            <c:numRef>
              <c:f>Sheet1!$B$2:$B$5</c:f>
              <c:numCache>
                <c:formatCode>General</c:formatCode>
                <c:ptCount val="4"/>
                <c:pt idx="0">
                  <c:v>44</c:v>
                </c:pt>
                <c:pt idx="1">
                  <c:v>29</c:v>
                </c:pt>
                <c:pt idx="2">
                  <c:v>0</c:v>
                </c:pt>
                <c:pt idx="3">
                  <c:v>19</c:v>
                </c:pt>
              </c:numCache>
            </c:numRef>
          </c:val>
          <c:extLst>
            <c:ext xmlns:c16="http://schemas.microsoft.com/office/drawing/2014/chart" uri="{C3380CC4-5D6E-409C-BE32-E72D297353CC}">
              <c16:uniqueId val="{00000008-6BCA-4D10-98A8-94B350D3A3B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72295965396877859"/>
          <c:w val="1"/>
          <c:h val="0.2770403460312214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chart>
  <c:spPr>
    <a:noFill/>
    <a:ln>
      <a:noFill/>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12/12/2019</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12/12/2019</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a:t>
            </a:fld>
            <a:endParaRPr lang="en-US" sz="1200" dirty="0"/>
          </a:p>
        </p:txBody>
      </p:sp>
    </p:spTree>
    <p:extLst>
      <p:ext uri="{BB962C8B-B14F-4D97-AF65-F5344CB8AC3E}">
        <p14:creationId xmlns:p14="http://schemas.microsoft.com/office/powerpoint/2010/main" val="3133060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95008" y="4387136"/>
            <a:ext cx="5560060" cy="4596226"/>
          </a:xfrm>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dirty="0"/>
          </a:p>
        </p:txBody>
      </p:sp>
    </p:spTree>
    <p:extLst>
      <p:ext uri="{BB962C8B-B14F-4D97-AF65-F5344CB8AC3E}">
        <p14:creationId xmlns:p14="http://schemas.microsoft.com/office/powerpoint/2010/main" val="3390995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dirty="0"/>
          </a:p>
        </p:txBody>
      </p:sp>
    </p:spTree>
    <p:extLst>
      <p:ext uri="{BB962C8B-B14F-4D97-AF65-F5344CB8AC3E}">
        <p14:creationId xmlns:p14="http://schemas.microsoft.com/office/powerpoint/2010/main" val="1714656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342900" rtl="0" eaLnBrk="1" fontAlgn="auto" latinLnBrk="0" hangingPunct="1">
              <a:spcBef>
                <a:spcPts val="600"/>
              </a:spcBef>
              <a:buClrTx/>
              <a:buSzTx/>
              <a:buFont typeface="Arial" panose="020B0604020202020204" pitchFamily="34" charset="0"/>
              <a:buChar char="•"/>
              <a:tabLst/>
              <a:defRPr/>
            </a:pPr>
            <a:endParaRPr lang="en-US" sz="1600" dirty="0"/>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dirty="0"/>
          </a:p>
        </p:txBody>
      </p:sp>
    </p:spTree>
    <p:extLst>
      <p:ext uri="{BB962C8B-B14F-4D97-AF65-F5344CB8AC3E}">
        <p14:creationId xmlns:p14="http://schemas.microsoft.com/office/powerpoint/2010/main" val="479552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spcBef>
                <a:spcPts val="600"/>
              </a:spcBef>
              <a:buFont typeface="Arial" panose="020B0604020202020204" pitchFamily="34" charset="0"/>
              <a:buChar char="•"/>
            </a:pPr>
            <a:endParaRPr lang="en-US" sz="1600" dirty="0"/>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2757418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600"/>
              </a:spcBef>
              <a:buFont typeface="Arial" panose="020B0604020202020204" pitchFamily="34" charset="0"/>
              <a:buNone/>
            </a:pPr>
            <a:endParaRPr lang="en-US" sz="1600" dirty="0"/>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145590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600"/>
              </a:spcBef>
              <a:buFont typeface="Arial" panose="020B0604020202020204" pitchFamily="34" charset="0"/>
              <a:buNone/>
            </a:pPr>
            <a:endParaRPr lang="en-US" sz="1600" dirty="0"/>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3839437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1" indent="-171450" algn="l" defTabSz="342900" rtl="0" eaLnBrk="1" latinLnBrk="0" hangingPunct="1">
              <a:buFont typeface="Arial" panose="020B0604020202020204" pitchFamily="34" charset="0"/>
              <a:buChar char="•"/>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dirty="0"/>
          </a:p>
        </p:txBody>
      </p:sp>
    </p:spTree>
    <p:extLst>
      <p:ext uri="{BB962C8B-B14F-4D97-AF65-F5344CB8AC3E}">
        <p14:creationId xmlns:p14="http://schemas.microsoft.com/office/powerpoint/2010/main" val="4099900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dirty="0"/>
          </a:p>
        </p:txBody>
      </p:sp>
    </p:spTree>
    <p:extLst>
      <p:ext uri="{BB962C8B-B14F-4D97-AF65-F5344CB8AC3E}">
        <p14:creationId xmlns:p14="http://schemas.microsoft.com/office/powerpoint/2010/main" val="2000809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spcBef>
                <a:spcPts val="600"/>
              </a:spcBef>
              <a:buFont typeface="Arial" panose="020B0604020202020204" pitchFamily="34" charset="0"/>
              <a:buChar char="•"/>
            </a:pPr>
            <a:endParaRPr lang="en-US" sz="1600" kern="120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dirty="0"/>
          </a:p>
        </p:txBody>
      </p:sp>
    </p:spTree>
    <p:extLst>
      <p:ext uri="{BB962C8B-B14F-4D97-AF65-F5344CB8AC3E}">
        <p14:creationId xmlns:p14="http://schemas.microsoft.com/office/powerpoint/2010/main" val="3628971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6075" lvl="2" indent="-346075" algn="l" defTabSz="342900" rtl="0" eaLnBrk="1" latinLnBrk="0" hangingPunct="1">
              <a:spcBef>
                <a:spcPts val="600"/>
              </a:spcBef>
              <a:buFont typeface="Arial" panose="020B0604020202020204" pitchFamily="34" charset="0"/>
              <a:buChar char="•"/>
            </a:pPr>
            <a:endParaRPr lang="en-US" sz="16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dirty="0"/>
          </a:p>
        </p:txBody>
      </p:sp>
    </p:spTree>
    <p:extLst>
      <p:ext uri="{BB962C8B-B14F-4D97-AF65-F5344CB8AC3E}">
        <p14:creationId xmlns:p14="http://schemas.microsoft.com/office/powerpoint/2010/main" val="1166817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1" indent="-171450" algn="l" defTabSz="342900" rtl="0" eaLnBrk="1" latinLnBrk="0" hangingPunct="1">
              <a:buFont typeface="Arial" panose="020B0604020202020204" pitchFamily="34" charset="0"/>
              <a:buChar char="•"/>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13</a:t>
            </a:fld>
            <a:endParaRPr lang="en-US" dirty="0"/>
          </a:p>
        </p:txBody>
      </p:sp>
    </p:spTree>
    <p:extLst>
      <p:ext uri="{BB962C8B-B14F-4D97-AF65-F5344CB8AC3E}">
        <p14:creationId xmlns:p14="http://schemas.microsoft.com/office/powerpoint/2010/main" val="516077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14</a:t>
            </a:fld>
            <a:endParaRPr lang="en-US" dirty="0"/>
          </a:p>
        </p:txBody>
      </p:sp>
    </p:spTree>
    <p:extLst>
      <p:ext uri="{BB962C8B-B14F-4D97-AF65-F5344CB8AC3E}">
        <p14:creationId xmlns:p14="http://schemas.microsoft.com/office/powerpoint/2010/main" val="2324103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15</a:t>
            </a:fld>
            <a:endParaRPr lang="en-US" dirty="0"/>
          </a:p>
        </p:txBody>
      </p:sp>
    </p:spTree>
    <p:extLst>
      <p:ext uri="{BB962C8B-B14F-4D97-AF65-F5344CB8AC3E}">
        <p14:creationId xmlns:p14="http://schemas.microsoft.com/office/powerpoint/2010/main" val="2475997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4163" lvl="2" indent="-282575" algn="l" defTabSz="0" rtl="0" eaLnBrk="1" latinLnBrk="0" hangingPunct="1">
              <a:spcBef>
                <a:spcPts val="600"/>
              </a:spcBef>
              <a:buFont typeface="Arial" panose="020B0604020202020204" pitchFamily="34" charset="0"/>
              <a:buChar char="•"/>
            </a:pPr>
            <a:endParaRPr lang="en-US" sz="16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16</a:t>
            </a:fld>
            <a:endParaRPr lang="en-US" dirty="0"/>
          </a:p>
        </p:txBody>
      </p:sp>
    </p:spTree>
    <p:extLst>
      <p:ext uri="{BB962C8B-B14F-4D97-AF65-F5344CB8AC3E}">
        <p14:creationId xmlns:p14="http://schemas.microsoft.com/office/powerpoint/2010/main" val="3374269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1" indent="-171450" algn="l" defTabSz="342900" rtl="0" eaLnBrk="1" latinLnBrk="0" hangingPunct="1">
              <a:buFont typeface="Arial" panose="020B0604020202020204" pitchFamily="34" charset="0"/>
              <a:buChar char="•"/>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dirty="0"/>
          </a:p>
        </p:txBody>
      </p:sp>
    </p:spTree>
    <p:extLst>
      <p:ext uri="{BB962C8B-B14F-4D97-AF65-F5344CB8AC3E}">
        <p14:creationId xmlns:p14="http://schemas.microsoft.com/office/powerpoint/2010/main" val="3320177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18</a:t>
            </a:fld>
            <a:endParaRPr lang="en-US" dirty="0"/>
          </a:p>
        </p:txBody>
      </p:sp>
    </p:spTree>
    <p:extLst>
      <p:ext uri="{BB962C8B-B14F-4D97-AF65-F5344CB8AC3E}">
        <p14:creationId xmlns:p14="http://schemas.microsoft.com/office/powerpoint/2010/main" val="878949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spcBef>
                <a:spcPts val="600"/>
              </a:spcBef>
              <a:buFont typeface="Arial" panose="020B0604020202020204" pitchFamily="34" charset="0"/>
              <a:buChar cha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19</a:t>
            </a:fld>
            <a:endParaRPr lang="en-US" dirty="0"/>
          </a:p>
        </p:txBody>
      </p:sp>
    </p:spTree>
    <p:extLst>
      <p:ext uri="{BB962C8B-B14F-4D97-AF65-F5344CB8AC3E}">
        <p14:creationId xmlns:p14="http://schemas.microsoft.com/office/powerpoint/2010/main" val="2987968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lvl="2" indent="-171450" algn="l" defTabSz="342900" rtl="0" eaLnBrk="1" latinLnBrk="0" hangingPunct="1">
              <a:buFont typeface="Courier New" panose="02070309020205020404" pitchFamily="49" charset="0"/>
              <a:buChar char="o"/>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dirty="0"/>
          </a:p>
        </p:txBody>
      </p:sp>
    </p:spTree>
    <p:extLst>
      <p:ext uri="{BB962C8B-B14F-4D97-AF65-F5344CB8AC3E}">
        <p14:creationId xmlns:p14="http://schemas.microsoft.com/office/powerpoint/2010/main" val="4031107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1" indent="-171450" algn="l" defTabSz="342900" rtl="0" eaLnBrk="1" latinLnBrk="0" hangingPunct="1">
              <a:buFont typeface="Arial" panose="020B0604020202020204" pitchFamily="34" charset="0"/>
              <a:buChar char="•"/>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21</a:t>
            </a:fld>
            <a:endParaRPr lang="en-US" dirty="0"/>
          </a:p>
        </p:txBody>
      </p:sp>
    </p:spTree>
    <p:extLst>
      <p:ext uri="{BB962C8B-B14F-4D97-AF65-F5344CB8AC3E}">
        <p14:creationId xmlns:p14="http://schemas.microsoft.com/office/powerpoint/2010/main" val="3975497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endParaRPr lang="en-US" sz="1200" b="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22</a:t>
            </a:fld>
            <a:endParaRPr lang="en-US" dirty="0"/>
          </a:p>
        </p:txBody>
      </p:sp>
    </p:spTree>
    <p:extLst>
      <p:ext uri="{BB962C8B-B14F-4D97-AF65-F5344CB8AC3E}">
        <p14:creationId xmlns:p14="http://schemas.microsoft.com/office/powerpoint/2010/main" val="22680567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6075" lvl="1" indent="-346075" algn="l" defTabSz="342900" rtl="0" eaLnBrk="1" latinLnBrk="0" hangingPunct="1">
              <a:buFont typeface="Arial" panose="020B0604020202020204" pitchFamily="34" charset="0"/>
              <a:buChar char="•"/>
            </a:pPr>
            <a:endParaRPr lang="en-US" sz="1200" b="0" i="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23</a:t>
            </a:fld>
            <a:endParaRPr lang="en-US" dirty="0"/>
          </a:p>
        </p:txBody>
      </p:sp>
    </p:spTree>
    <p:extLst>
      <p:ext uri="{BB962C8B-B14F-4D97-AF65-F5344CB8AC3E}">
        <p14:creationId xmlns:p14="http://schemas.microsoft.com/office/powerpoint/2010/main" val="10805215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spcBef>
                <a:spcPts val="600"/>
              </a:spcBef>
              <a:buFont typeface="Arial" panose="020B0604020202020204" pitchFamily="34" charset="0"/>
              <a:buChar char="•"/>
            </a:pPr>
            <a:endParaRPr lang="en-US" sz="1600" kern="120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24</a:t>
            </a:fld>
            <a:endParaRPr lang="en-US" dirty="0"/>
          </a:p>
        </p:txBody>
      </p:sp>
    </p:spTree>
    <p:extLst>
      <p:ext uri="{BB962C8B-B14F-4D97-AF65-F5344CB8AC3E}">
        <p14:creationId xmlns:p14="http://schemas.microsoft.com/office/powerpoint/2010/main" val="500421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1" indent="-171450" algn="l" defTabSz="342900" rtl="0" eaLnBrk="1" latinLnBrk="0" hangingPunct="1">
              <a:buFont typeface="Arial" panose="020B0604020202020204" pitchFamily="34" charset="0"/>
              <a:buChar char="•"/>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25</a:t>
            </a:fld>
            <a:endParaRPr lang="en-US" dirty="0"/>
          </a:p>
        </p:txBody>
      </p:sp>
    </p:spTree>
    <p:extLst>
      <p:ext uri="{BB962C8B-B14F-4D97-AF65-F5344CB8AC3E}">
        <p14:creationId xmlns:p14="http://schemas.microsoft.com/office/powerpoint/2010/main" val="31400855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spcBef>
                <a:spcPts val="600"/>
              </a:spcBef>
              <a:buFont typeface="Arial" panose="020B0604020202020204" pitchFamily="34" charset="0"/>
              <a:buChar char="•"/>
            </a:pPr>
            <a:endParaRPr lang="en-US" sz="1600" dirty="0"/>
          </a:p>
        </p:txBody>
      </p:sp>
      <p:sp>
        <p:nvSpPr>
          <p:cNvPr id="4" name="Slide Number Placeholder 3"/>
          <p:cNvSpPr>
            <a:spLocks noGrp="1"/>
          </p:cNvSpPr>
          <p:nvPr>
            <p:ph type="sldNum" sz="quarter" idx="5"/>
          </p:nvPr>
        </p:nvSpPr>
        <p:spPr/>
        <p:txBody>
          <a:bodyPr/>
          <a:lstStyle/>
          <a:p>
            <a:fld id="{4D410189-AC31-7546-878A-F48FDE4A29F5}" type="slidenum">
              <a:rPr lang="en-US" smtClean="0"/>
              <a:t>26</a:t>
            </a:fld>
            <a:endParaRPr lang="en-US" dirty="0"/>
          </a:p>
        </p:txBody>
      </p:sp>
    </p:spTree>
    <p:extLst>
      <p:ext uri="{BB962C8B-B14F-4D97-AF65-F5344CB8AC3E}">
        <p14:creationId xmlns:p14="http://schemas.microsoft.com/office/powerpoint/2010/main" val="3779294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2" indent="-171450" algn="l" defTabSz="342900" rtl="0" eaLnBrk="1" latinLnBrk="0" hangingPunct="1">
              <a:buFont typeface="Arial" panose="020B0604020202020204" pitchFamily="34" charset="0"/>
              <a:buChar char="•"/>
            </a:pPr>
            <a:endParaRPr lang="en-US" sz="16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27</a:t>
            </a:fld>
            <a:endParaRPr lang="en-US" dirty="0"/>
          </a:p>
        </p:txBody>
      </p:sp>
    </p:spTree>
    <p:extLst>
      <p:ext uri="{BB962C8B-B14F-4D97-AF65-F5344CB8AC3E}">
        <p14:creationId xmlns:p14="http://schemas.microsoft.com/office/powerpoint/2010/main" val="1284209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1" indent="-171450" algn="l" defTabSz="342900" rtl="0" eaLnBrk="1" latinLnBrk="0" hangingPunct="1">
              <a:buFont typeface="Arial" panose="020B0604020202020204" pitchFamily="34" charset="0"/>
              <a:buChar char="•"/>
            </a:pP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28</a:t>
            </a:fld>
            <a:endParaRPr lang="en-US" dirty="0"/>
          </a:p>
        </p:txBody>
      </p:sp>
    </p:spTree>
    <p:extLst>
      <p:ext uri="{BB962C8B-B14F-4D97-AF65-F5344CB8AC3E}">
        <p14:creationId xmlns:p14="http://schemas.microsoft.com/office/powerpoint/2010/main" val="3344850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29</a:t>
            </a:fld>
            <a:endParaRPr lang="en-US" dirty="0"/>
          </a:p>
        </p:txBody>
      </p:sp>
    </p:spTree>
    <p:extLst>
      <p:ext uri="{BB962C8B-B14F-4D97-AF65-F5344CB8AC3E}">
        <p14:creationId xmlns:p14="http://schemas.microsoft.com/office/powerpoint/2010/main" val="2753216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600" b="0" u="none"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30</a:t>
            </a:fld>
            <a:endParaRPr lang="en-US" dirty="0"/>
          </a:p>
        </p:txBody>
      </p:sp>
    </p:spTree>
    <p:extLst>
      <p:ext uri="{BB962C8B-B14F-4D97-AF65-F5344CB8AC3E}">
        <p14:creationId xmlns:p14="http://schemas.microsoft.com/office/powerpoint/2010/main" val="2075980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31</a:t>
            </a:fld>
            <a:endParaRPr lang="en-US" dirty="0"/>
          </a:p>
        </p:txBody>
      </p:sp>
    </p:spTree>
    <p:extLst>
      <p:ext uri="{BB962C8B-B14F-4D97-AF65-F5344CB8AC3E}">
        <p14:creationId xmlns:p14="http://schemas.microsoft.com/office/powerpoint/2010/main" val="31764917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32</a:t>
            </a:fld>
            <a:endParaRPr lang="en-US" dirty="0"/>
          </a:p>
        </p:txBody>
      </p:sp>
    </p:spTree>
    <p:extLst>
      <p:ext uri="{BB962C8B-B14F-4D97-AF65-F5344CB8AC3E}">
        <p14:creationId xmlns:p14="http://schemas.microsoft.com/office/powerpoint/2010/main" val="36482356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defTabSz="342900" rtl="0" eaLnBrk="1" latinLnBrk="0" hangingPunct="1">
              <a:spcBef>
                <a:spcPts val="600"/>
              </a:spcBef>
              <a:buFont typeface="Arial" panose="020B0604020202020204" pitchFamily="34" charset="0"/>
              <a:buChar cha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33</a:t>
            </a:fld>
            <a:endParaRPr lang="en-US" dirty="0"/>
          </a:p>
        </p:txBody>
      </p:sp>
    </p:spTree>
    <p:extLst>
      <p:ext uri="{BB962C8B-B14F-4D97-AF65-F5344CB8AC3E}">
        <p14:creationId xmlns:p14="http://schemas.microsoft.com/office/powerpoint/2010/main" val="1248066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34</a:t>
            </a:fld>
            <a:endParaRPr lang="en-US" dirty="0"/>
          </a:p>
        </p:txBody>
      </p:sp>
    </p:spTree>
    <p:extLst>
      <p:ext uri="{BB962C8B-B14F-4D97-AF65-F5344CB8AC3E}">
        <p14:creationId xmlns:p14="http://schemas.microsoft.com/office/powerpoint/2010/main" val="2837157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35</a:t>
            </a:fld>
            <a:endParaRPr lang="en-US" dirty="0"/>
          </a:p>
        </p:txBody>
      </p:sp>
    </p:spTree>
    <p:extLst>
      <p:ext uri="{BB962C8B-B14F-4D97-AF65-F5344CB8AC3E}">
        <p14:creationId xmlns:p14="http://schemas.microsoft.com/office/powerpoint/2010/main" val="2309772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Bef>
                <a:spcPts val="600"/>
              </a:spcBef>
              <a:buFont typeface="Arial" panose="020B0604020202020204" pitchFamily="34" charset="0"/>
              <a:buChar cha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36</a:t>
            </a:fld>
            <a:endParaRPr lang="en-US" dirty="0"/>
          </a:p>
        </p:txBody>
      </p:sp>
    </p:spTree>
    <p:extLst>
      <p:ext uri="{BB962C8B-B14F-4D97-AF65-F5344CB8AC3E}">
        <p14:creationId xmlns:p14="http://schemas.microsoft.com/office/powerpoint/2010/main" val="2907920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10189-AC31-7546-878A-F48FDE4A29F5}" type="slidenum">
              <a:rPr lang="en-US" smtClean="0"/>
              <a:t>37</a:t>
            </a:fld>
            <a:endParaRPr lang="en-US" dirty="0"/>
          </a:p>
        </p:txBody>
      </p:sp>
    </p:spTree>
    <p:extLst>
      <p:ext uri="{BB962C8B-B14F-4D97-AF65-F5344CB8AC3E}">
        <p14:creationId xmlns:p14="http://schemas.microsoft.com/office/powerpoint/2010/main" val="12062690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lang="en-US" sz="1200" dirty="0"/>
          </a:p>
        </p:txBody>
      </p:sp>
      <p:sp>
        <p:nvSpPr>
          <p:cNvPr id="4" name="Slide Number Placeholder 3"/>
          <p:cNvSpPr>
            <a:spLocks noGrp="1"/>
          </p:cNvSpPr>
          <p:nvPr>
            <p:ph type="sldNum" sz="quarter" idx="5"/>
          </p:nvPr>
        </p:nvSpPr>
        <p:spPr/>
        <p:txBody>
          <a:bodyPr/>
          <a:lstStyle/>
          <a:p>
            <a:fld id="{4D410189-AC31-7546-878A-F48FDE4A29F5}" type="slidenum">
              <a:rPr lang="en-US" smtClean="0"/>
              <a:t>38</a:t>
            </a:fld>
            <a:endParaRPr lang="en-US" dirty="0"/>
          </a:p>
        </p:txBody>
      </p:sp>
    </p:spTree>
    <p:extLst>
      <p:ext uri="{BB962C8B-B14F-4D97-AF65-F5344CB8AC3E}">
        <p14:creationId xmlns:p14="http://schemas.microsoft.com/office/powerpoint/2010/main" val="665859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39</a:t>
            </a:fld>
            <a:endParaRPr lang="en-US" dirty="0"/>
          </a:p>
        </p:txBody>
      </p:sp>
    </p:spTree>
    <p:extLst>
      <p:ext uri="{BB962C8B-B14F-4D97-AF65-F5344CB8AC3E}">
        <p14:creationId xmlns:p14="http://schemas.microsoft.com/office/powerpoint/2010/main" val="18284139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600" b="0" kern="1200" dirty="0">
              <a:solidFill>
                <a:schemeClr val="lt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40</a:t>
            </a:fld>
            <a:endParaRPr lang="en-US" dirty="0"/>
          </a:p>
        </p:txBody>
      </p:sp>
    </p:spTree>
    <p:extLst>
      <p:ext uri="{BB962C8B-B14F-4D97-AF65-F5344CB8AC3E}">
        <p14:creationId xmlns:p14="http://schemas.microsoft.com/office/powerpoint/2010/main" val="34130447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spcBef>
                <a:spcPts val="600"/>
              </a:spcBef>
              <a:buFont typeface="Arial" panose="020B0604020202020204" pitchFamily="34" charset="0"/>
              <a:buChar char="•"/>
            </a:pPr>
            <a:endParaRPr lang="en-US" sz="1600" dirty="0"/>
          </a:p>
        </p:txBody>
      </p:sp>
      <p:sp>
        <p:nvSpPr>
          <p:cNvPr id="4" name="Slide Number Placeholder 3"/>
          <p:cNvSpPr>
            <a:spLocks noGrp="1"/>
          </p:cNvSpPr>
          <p:nvPr>
            <p:ph type="sldNum" sz="quarter" idx="5"/>
          </p:nvPr>
        </p:nvSpPr>
        <p:spPr/>
        <p:txBody>
          <a:bodyPr/>
          <a:lstStyle/>
          <a:p>
            <a:fld id="{4D410189-AC31-7546-878A-F48FDE4A29F5}" type="slidenum">
              <a:rPr lang="en-US" smtClean="0"/>
              <a:t>41</a:t>
            </a:fld>
            <a:endParaRPr lang="en-US" dirty="0"/>
          </a:p>
        </p:txBody>
      </p:sp>
    </p:spTree>
    <p:extLst>
      <p:ext uri="{BB962C8B-B14F-4D97-AF65-F5344CB8AC3E}">
        <p14:creationId xmlns:p14="http://schemas.microsoft.com/office/powerpoint/2010/main" val="41493044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42</a:t>
            </a:fld>
            <a:endParaRPr lang="en-US" dirty="0"/>
          </a:p>
        </p:txBody>
      </p:sp>
      <p:sp>
        <p:nvSpPr>
          <p:cNvPr id="5" name="Date Placeholder 4"/>
          <p:cNvSpPr>
            <a:spLocks noGrp="1"/>
          </p:cNvSpPr>
          <p:nvPr>
            <p:ph type="dt" idx="11"/>
          </p:nvPr>
        </p:nvSpPr>
        <p:spPr/>
        <p:txBody>
          <a:bodyPr/>
          <a:lstStyle/>
          <a:p>
            <a:pPr>
              <a:defRPr/>
            </a:pPr>
            <a:r>
              <a:rPr lang="en-US" dirty="0"/>
              <a:t>March 2014</a:t>
            </a:r>
          </a:p>
        </p:txBody>
      </p:sp>
      <p:sp>
        <p:nvSpPr>
          <p:cNvPr id="6" name="Header Placeholder 5"/>
          <p:cNvSpPr>
            <a:spLocks noGrp="1"/>
          </p:cNvSpPr>
          <p:nvPr>
            <p:ph type="hdr" sz="quarter" idx="12"/>
          </p:nvPr>
        </p:nvSpPr>
        <p:spPr/>
        <p:txBody>
          <a:bodyPr/>
          <a:lstStyle/>
          <a:p>
            <a:pPr>
              <a:defRPr/>
            </a:pPr>
            <a:r>
              <a:rPr lang="en-US" dirty="0"/>
              <a:t>IAASB Agenda Item 6</a:t>
            </a:r>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sldNum="0" hd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7893383" cy="867000"/>
          </a:xfrm>
        </p:spPr>
        <p:txBody>
          <a:bodyPr>
            <a:normAutofit/>
          </a:bodyPr>
          <a:lstStyle/>
          <a:p>
            <a:r>
              <a:rPr lang="en-US" sz="2800" b="1" dirty="0"/>
              <a:t>Proposed ISA 220, </a:t>
            </a:r>
            <a:r>
              <a:rPr lang="en-US" sz="2800" b="1" i="1" dirty="0"/>
              <a:t>Quality Management for an Audit of Financial Statements (Revised)</a:t>
            </a:r>
            <a:endParaRPr lang="en-US" sz="2800" b="1" dirty="0"/>
          </a:p>
        </p:txBody>
      </p:sp>
      <p:sp>
        <p:nvSpPr>
          <p:cNvPr id="3" name="Subtitle 2"/>
          <p:cNvSpPr>
            <a:spLocks noGrp="1"/>
          </p:cNvSpPr>
          <p:nvPr>
            <p:ph type="subTitle" idx="1"/>
          </p:nvPr>
        </p:nvSpPr>
        <p:spPr>
          <a:xfrm>
            <a:off x="685801" y="3576918"/>
            <a:ext cx="5123328" cy="1238475"/>
          </a:xfrm>
        </p:spPr>
        <p:txBody>
          <a:bodyPr/>
          <a:lstStyle/>
          <a:p>
            <a:pPr>
              <a:spcBef>
                <a:spcPts val="600"/>
              </a:spcBef>
            </a:pPr>
            <a:r>
              <a:rPr lang="en-US" sz="1600" b="1" dirty="0"/>
              <a:t>Lyn Provost, IAASB Member and Task Force Chair</a:t>
            </a:r>
          </a:p>
          <a:p>
            <a:pPr>
              <a:spcBef>
                <a:spcPts val="600"/>
              </a:spcBef>
            </a:pPr>
            <a:r>
              <a:rPr lang="en-US" sz="1600" b="1" dirty="0"/>
              <a:t>IAASB Meeting</a:t>
            </a:r>
          </a:p>
          <a:p>
            <a:pPr>
              <a:spcBef>
                <a:spcPts val="600"/>
              </a:spcBef>
            </a:pPr>
            <a:r>
              <a:rPr lang="en-US" sz="1600" b="1" dirty="0"/>
              <a:t>December 12, 2019</a:t>
            </a:r>
          </a:p>
          <a:p>
            <a:pPr>
              <a:spcBef>
                <a:spcPts val="600"/>
              </a:spcBef>
            </a:pPr>
            <a:r>
              <a:rPr lang="en-US" sz="1600" b="1" dirty="0"/>
              <a:t>Agenda Item 9</a:t>
            </a: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a:t>How Proposed ISA 220 (Revised) Addresses Key Matters of Public Interest</a:t>
            </a:r>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921488"/>
            <a:ext cx="8229600" cy="3886888"/>
          </a:xfrm>
        </p:spPr>
        <p:txBody>
          <a:bodyPr/>
          <a:lstStyle/>
          <a:p>
            <a:pPr marL="347472" indent="-347472"/>
            <a:r>
              <a:rPr lang="en-US" sz="1800" dirty="0">
                <a:solidFill>
                  <a:schemeClr val="tx1">
                    <a:lumMod val="65000"/>
                    <a:lumOff val="35000"/>
                  </a:schemeClr>
                </a:solidFill>
              </a:rPr>
              <a:t>Addressing and encouraging appropriate exercise of professional skepticism</a:t>
            </a:r>
          </a:p>
          <a:p>
            <a:pPr marL="347472" indent="-347472"/>
            <a:r>
              <a:rPr lang="en-US" sz="1800" dirty="0">
                <a:solidFill>
                  <a:schemeClr val="tx1">
                    <a:lumMod val="65000"/>
                    <a:lumOff val="35000"/>
                  </a:schemeClr>
                </a:solidFill>
              </a:rPr>
              <a:t>Clarifying the engagement partner’s (EP’s) role and responsibilities</a:t>
            </a:r>
          </a:p>
          <a:p>
            <a:pPr marL="347472" indent="-347472"/>
            <a:r>
              <a:rPr lang="en-US" sz="1800" dirty="0">
                <a:solidFill>
                  <a:schemeClr val="tx1">
                    <a:lumMod val="65000"/>
                    <a:lumOff val="35000"/>
                  </a:schemeClr>
                </a:solidFill>
              </a:rPr>
              <a:t>Reliance on firm or network firm quality management policies or procedures</a:t>
            </a:r>
          </a:p>
          <a:p>
            <a:pPr marL="347472" indent="-347472"/>
            <a:r>
              <a:rPr lang="en-US" sz="1800" dirty="0">
                <a:solidFill>
                  <a:schemeClr val="tx1">
                    <a:lumMod val="65000"/>
                    <a:lumOff val="35000"/>
                  </a:schemeClr>
                </a:solidFill>
              </a:rPr>
              <a:t>Addressing audit delivery models</a:t>
            </a:r>
          </a:p>
          <a:p>
            <a:pPr marL="347472" lvl="0" indent="-347472"/>
            <a:r>
              <a:rPr lang="en-US" sz="1800" dirty="0">
                <a:solidFill>
                  <a:schemeClr val="tx1">
                    <a:lumMod val="65000"/>
                    <a:lumOff val="35000"/>
                  </a:schemeClr>
                </a:solidFill>
              </a:rPr>
              <a:t>Other matters:</a:t>
            </a:r>
          </a:p>
          <a:p>
            <a:pPr marL="694944" lvl="1" indent="-347472"/>
            <a:r>
              <a:rPr lang="en-US" sz="1650" dirty="0">
                <a:solidFill>
                  <a:schemeClr val="tx1">
                    <a:lumMod val="65000"/>
                    <a:lumOff val="35000"/>
                  </a:schemeClr>
                </a:solidFill>
              </a:rPr>
              <a:t>Required understanding for accepting or continuing an engagement (e.g., access issues)</a:t>
            </a:r>
          </a:p>
          <a:p>
            <a:pPr marL="694944" lvl="1" indent="-347472"/>
            <a:r>
              <a:rPr lang="en-US" sz="1650" dirty="0">
                <a:solidFill>
                  <a:schemeClr val="tx1">
                    <a:lumMod val="65000"/>
                    <a:lumOff val="35000"/>
                  </a:schemeClr>
                </a:solidFill>
              </a:rPr>
              <a:t>Interaction of firm quality management with managing quality at the engagement level</a:t>
            </a:r>
          </a:p>
          <a:p>
            <a:pPr marL="694944" lvl="1" indent="-347472"/>
            <a:r>
              <a:rPr lang="en-US" sz="1650" dirty="0">
                <a:solidFill>
                  <a:schemeClr val="tx1">
                    <a:lumMod val="65000"/>
                    <a:lumOff val="35000"/>
                  </a:schemeClr>
                </a:solidFill>
              </a:rPr>
              <a:t>Ongoing two-way communication</a:t>
            </a:r>
          </a:p>
        </p:txBody>
      </p:sp>
    </p:spTree>
    <p:extLst>
      <p:ext uri="{BB962C8B-B14F-4D97-AF65-F5344CB8AC3E}">
        <p14:creationId xmlns:p14="http://schemas.microsoft.com/office/powerpoint/2010/main" val="103385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Overview</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45659" y="940642"/>
            <a:ext cx="8497006" cy="3457187"/>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a:spcAft>
                <a:spcPts val="600"/>
              </a:spcAft>
            </a:pPr>
            <a:r>
              <a:rPr lang="en-US" sz="2800" dirty="0">
                <a:solidFill>
                  <a:schemeClr val="tx1"/>
                </a:solidFill>
                <a:latin typeface="Arial" panose="020B0604020202020204" pitchFamily="34" charset="0"/>
                <a:cs typeface="Arial" panose="020B0604020202020204" pitchFamily="34" charset="0"/>
              </a:rPr>
              <a:t>The Task Force is seeking the Board’s views on the Task Force proposals to address key issues raised in response to ED-220 by:</a:t>
            </a:r>
          </a:p>
          <a:p>
            <a:pPr marL="687388">
              <a:spcAft>
                <a:spcPts val="600"/>
              </a:spcAft>
              <a:buFont typeface="Courier New" panose="02070309020205020404" pitchFamily="49" charset="0"/>
              <a:buChar char="o"/>
            </a:pPr>
            <a:r>
              <a:rPr lang="en-US" dirty="0">
                <a:solidFill>
                  <a:schemeClr val="tx1"/>
                </a:solidFill>
                <a:latin typeface="Arial" panose="020B0604020202020204" pitchFamily="34" charset="0"/>
                <a:cs typeface="Arial" panose="020B0604020202020204" pitchFamily="34" charset="0"/>
              </a:rPr>
              <a:t>Providing direction on issues not discussed at the September 2019 IAASB meeting</a:t>
            </a:r>
          </a:p>
          <a:p>
            <a:pPr marL="687388">
              <a:spcAft>
                <a:spcPts val="600"/>
              </a:spcAft>
              <a:buFont typeface="Courier New" panose="02070309020205020404" pitchFamily="49" charset="0"/>
              <a:buChar char="o"/>
            </a:pPr>
            <a:r>
              <a:rPr lang="en-US" dirty="0">
                <a:solidFill>
                  <a:schemeClr val="tx1"/>
                </a:solidFill>
                <a:latin typeface="Arial" panose="020B0604020202020204" pitchFamily="34" charset="0"/>
                <a:cs typeface="Arial" panose="020B0604020202020204" pitchFamily="34" charset="0"/>
              </a:rPr>
              <a:t>Providing further direction on the Task Force’s proposed changes to ED-220 on key issues</a:t>
            </a:r>
          </a:p>
          <a:p>
            <a:pPr marL="687388" algn="just">
              <a:spcAft>
                <a:spcPts val="600"/>
              </a:spcAft>
              <a:buFont typeface="Courier New" panose="02070309020205020404" pitchFamily="49" charset="0"/>
              <a:buChar char="o"/>
            </a:pPr>
            <a:endParaRPr lang="en-US" sz="2200" dirty="0">
              <a:solidFill>
                <a:schemeClr val="tx1"/>
              </a:solidFill>
              <a:latin typeface="Arial" panose="020B0604020202020204" pitchFamily="34" charset="0"/>
              <a:cs typeface="Arial" panose="020B0604020202020204" pitchFamily="34" charset="0"/>
            </a:endParaRPr>
          </a:p>
          <a:p>
            <a:pPr algn="just">
              <a:spcAft>
                <a:spcPts val="600"/>
              </a:spcAft>
            </a:pPr>
            <a:endParaRPr lang="en-US" sz="1800" dirty="0">
              <a:solidFill>
                <a:schemeClr val="tx1"/>
              </a:solidFill>
              <a:latin typeface="Arial" panose="020B0604020202020204" pitchFamily="34" charset="0"/>
              <a:cs typeface="Arial" panose="020B0604020202020204" pitchFamily="34" charset="0"/>
            </a:endParaRPr>
          </a:p>
          <a:p>
            <a:pPr marL="347472" lvl="1" indent="0" algn="just">
              <a:spcAft>
                <a:spcPts val="600"/>
              </a:spcAft>
              <a:buNone/>
            </a:pPr>
            <a:r>
              <a:rPr lang="en-US" dirty="0">
                <a:solidFill>
                  <a:schemeClr val="tx1"/>
                </a:solidFill>
                <a:latin typeface="Arial" panose="020B0604020202020204" pitchFamily="34" charset="0"/>
                <a:cs typeface="Arial" panose="020B0604020202020204" pitchFamily="34" charset="0"/>
              </a:rPr>
              <a:t> </a:t>
            </a:r>
          </a:p>
          <a:p>
            <a:pPr algn="just">
              <a:spcAft>
                <a:spcPts val="600"/>
              </a:spcAft>
            </a:pPr>
            <a:endParaRPr lang="en-US" sz="2800" dirty="0">
              <a:solidFill>
                <a:schemeClr val="tx1"/>
              </a:solidFill>
              <a:latin typeface="Arial" panose="020B0604020202020204" pitchFamily="34" charset="0"/>
              <a:cs typeface="Arial" panose="020B0604020202020204" pitchFamily="34" charset="0"/>
            </a:endParaRPr>
          </a:p>
        </p:txBody>
      </p:sp>
      <p:sp>
        <p:nvSpPr>
          <p:cNvPr id="5" name="Slide Number Placeholder 5">
            <a:extLst>
              <a:ext uri="{FF2B5EF4-FFF2-40B4-BE49-F238E27FC236}">
                <a16:creationId xmlns:a16="http://schemas.microsoft.com/office/drawing/2014/main" id="{7041B32F-C0E6-4122-8330-D0F3E5E04728}"/>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582259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pPr marL="55563"/>
            <a:r>
              <a:rPr lang="en-US" sz="2400" b="1" dirty="0">
                <a:solidFill>
                  <a:schemeClr val="bg1"/>
                </a:solidFill>
                <a:latin typeface="Arial" panose="020B0604020202020204" pitchFamily="34" charset="0"/>
                <a:cs typeface="Arial" panose="020B0604020202020204" pitchFamily="34" charset="0"/>
              </a:rPr>
              <a:t>Issues not Discussed in September </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45659" y="940642"/>
            <a:ext cx="8497006" cy="3457187"/>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a:spcAft>
                <a:spcPts val="600"/>
              </a:spcAft>
            </a:pPr>
            <a:r>
              <a:rPr lang="en-US" sz="2800" dirty="0">
                <a:solidFill>
                  <a:schemeClr val="tx1"/>
                </a:solidFill>
                <a:latin typeface="Arial" panose="020B0604020202020204" pitchFamily="34" charset="0"/>
                <a:cs typeface="Arial" panose="020B0604020202020204" pitchFamily="34" charset="0"/>
              </a:rPr>
              <a:t>Articulation of public interest</a:t>
            </a:r>
          </a:p>
          <a:p>
            <a:pPr>
              <a:spcAft>
                <a:spcPts val="600"/>
              </a:spcAft>
            </a:pPr>
            <a:r>
              <a:rPr lang="en-US" sz="2800" dirty="0">
                <a:solidFill>
                  <a:schemeClr val="tx1"/>
                </a:solidFill>
                <a:latin typeface="Arial" panose="020B0604020202020204" pitchFamily="34" charset="0"/>
                <a:cs typeface="Arial" panose="020B0604020202020204" pitchFamily="34" charset="0"/>
              </a:rPr>
              <a:t>Objective of the standard</a:t>
            </a:r>
          </a:p>
          <a:p>
            <a:pPr marL="342900" lvl="1" indent="-342900">
              <a:spcAft>
                <a:spcPts val="600"/>
              </a:spcAft>
              <a:buFont typeface="Courier New" panose="02070309020205020404" pitchFamily="49" charset="0"/>
              <a:buChar char="•"/>
            </a:pPr>
            <a:r>
              <a:rPr lang="en-US" sz="2800" dirty="0">
                <a:solidFill>
                  <a:schemeClr val="tx1"/>
                </a:solidFill>
                <a:latin typeface="Arial" panose="020B0604020202020204" pitchFamily="34" charset="0"/>
                <a:cs typeface="Arial" panose="020B0604020202020204" pitchFamily="34" charset="0"/>
              </a:rPr>
              <a:t>Professional skepticism </a:t>
            </a:r>
          </a:p>
          <a:p>
            <a:pPr marL="342900" lvl="1" indent="-342900">
              <a:spcAft>
                <a:spcPts val="600"/>
              </a:spcAft>
              <a:buFont typeface="Courier New" panose="02070309020205020404" pitchFamily="49" charset="0"/>
              <a:buChar char="•"/>
            </a:pPr>
            <a:r>
              <a:rPr lang="en-US" sz="2800" dirty="0">
                <a:solidFill>
                  <a:schemeClr val="tx1"/>
                </a:solidFill>
                <a:latin typeface="Arial" panose="020B0604020202020204" pitchFamily="34" charset="0"/>
                <a:cs typeface="Arial" panose="020B0604020202020204" pitchFamily="34" charset="0"/>
              </a:rPr>
              <a:t>Modern auditing environment </a:t>
            </a:r>
          </a:p>
          <a:p>
            <a:pPr marL="342900" lvl="1" indent="-342900">
              <a:spcAft>
                <a:spcPts val="600"/>
              </a:spcAft>
              <a:buFont typeface="Courier New" panose="02070309020205020404" pitchFamily="49" charset="0"/>
              <a:buChar char="•"/>
            </a:pPr>
            <a:r>
              <a:rPr lang="en-US" sz="2800" dirty="0">
                <a:solidFill>
                  <a:schemeClr val="tx1"/>
                </a:solidFill>
                <a:latin typeface="Arial" panose="020B0604020202020204" pitchFamily="34" charset="0"/>
                <a:cs typeface="Arial" panose="020B0604020202020204" pitchFamily="34" charset="0"/>
              </a:rPr>
              <a:t>Documentation</a:t>
            </a:r>
          </a:p>
          <a:p>
            <a:pPr marL="347472" lvl="1" indent="0" algn="just">
              <a:spcAft>
                <a:spcPts val="600"/>
              </a:spcAft>
              <a:buNone/>
            </a:pPr>
            <a:r>
              <a:rPr lang="en-US" dirty="0">
                <a:solidFill>
                  <a:schemeClr val="tx1"/>
                </a:solidFill>
                <a:latin typeface="Arial" panose="020B0604020202020204" pitchFamily="34" charset="0"/>
                <a:cs typeface="Arial" panose="020B0604020202020204" pitchFamily="34" charset="0"/>
              </a:rPr>
              <a:t> </a:t>
            </a:r>
          </a:p>
          <a:p>
            <a:pPr algn="just">
              <a:spcAft>
                <a:spcPts val="600"/>
              </a:spcAft>
            </a:pPr>
            <a:endParaRPr lang="en-US" sz="2800" dirty="0">
              <a:solidFill>
                <a:schemeClr val="tx1"/>
              </a:solidFill>
              <a:latin typeface="Arial" panose="020B0604020202020204" pitchFamily="34" charset="0"/>
              <a:cs typeface="Arial" panose="020B0604020202020204" pitchFamily="34" charset="0"/>
            </a:endParaRPr>
          </a:p>
        </p:txBody>
      </p:sp>
      <p:sp>
        <p:nvSpPr>
          <p:cNvPr id="5" name="Slide Number Placeholder 5">
            <a:extLst>
              <a:ext uri="{FF2B5EF4-FFF2-40B4-BE49-F238E27FC236}">
                <a16:creationId xmlns:a16="http://schemas.microsoft.com/office/drawing/2014/main" id="{FBDF9682-258D-4ED7-AA3C-B7479AA02E1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4</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908672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Public Interest – Feedback Received</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180345" y="914399"/>
            <a:ext cx="8640158" cy="1875453"/>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Generally positive</a:t>
            </a:r>
          </a:p>
          <a:p>
            <a:pPr marL="342900"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A Monitoring Group suggestion to consider prominence of public interest considerations</a:t>
            </a:r>
          </a:p>
        </p:txBody>
      </p:sp>
      <p:sp>
        <p:nvSpPr>
          <p:cNvPr id="5" name="Slide Number Placeholder 5">
            <a:extLst>
              <a:ext uri="{FF2B5EF4-FFF2-40B4-BE49-F238E27FC236}">
                <a16:creationId xmlns:a16="http://schemas.microsoft.com/office/drawing/2014/main" id="{4F0E56F2-3836-421D-B634-65A5679B90E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5</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43952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461665"/>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Public Interest </a:t>
            </a:r>
            <a:r>
              <a:rPr lang="en-US" sz="2400" b="1" dirty="0"/>
              <a:t> </a:t>
            </a:r>
            <a:r>
              <a:rPr lang="en-US" sz="2400" b="1" dirty="0">
                <a:solidFill>
                  <a:schemeClr val="bg1"/>
                </a:solidFill>
                <a:latin typeface="Arial" panose="020B0604020202020204" pitchFamily="34" charset="0"/>
                <a:cs typeface="Arial" panose="020B0604020202020204" pitchFamily="34" charset="0"/>
              </a:rPr>
              <a:t>– Task Force Recommendations</a:t>
            </a:r>
            <a:endParaRPr lang="en-US" dirty="0">
              <a:solidFill>
                <a:schemeClr val="bg1"/>
              </a:solidFill>
              <a:latin typeface="Arial" panose="020B0604020202020204" pitchFamily="34" charset="0"/>
              <a:cs typeface="Arial" panose="020B0604020202020204" pitchFamily="34" charset="0"/>
            </a:endParaRPr>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180346" y="923731"/>
            <a:ext cx="8730330" cy="360100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No specific change proposed to ED-220</a:t>
            </a:r>
          </a:p>
          <a:p>
            <a:pPr marL="342900"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Other proposed changes support the public interest</a:t>
            </a:r>
          </a:p>
          <a:p>
            <a:pPr marL="688975" lvl="2" indent="-3429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Clarifying the engagement team definition</a:t>
            </a:r>
          </a:p>
          <a:p>
            <a:pPr marL="688975" lvl="2" indent="-3429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Leadership role of the engagement partner</a:t>
            </a:r>
          </a:p>
          <a:p>
            <a:pPr marL="688975" lvl="2" indent="-3429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Clarifying roles of other engagement team members</a:t>
            </a:r>
          </a:p>
          <a:p>
            <a:pPr marL="688975" lvl="2" indent="-3429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Depending on the firm’s system of quality management</a:t>
            </a:r>
          </a:p>
        </p:txBody>
      </p:sp>
      <p:sp>
        <p:nvSpPr>
          <p:cNvPr id="5" name="Slide Number Placeholder 5">
            <a:extLst>
              <a:ext uri="{FF2B5EF4-FFF2-40B4-BE49-F238E27FC236}">
                <a16:creationId xmlns:a16="http://schemas.microsoft.com/office/drawing/2014/main" id="{F910C89A-6C67-4DBC-AB9F-EC0ECD3A5539}"/>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6</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91387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Objective – Feedback Received</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164747" y="940642"/>
            <a:ext cx="8497006" cy="3062191"/>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algn="just">
              <a:spcAft>
                <a:spcPts val="600"/>
              </a:spcAft>
              <a:buChar char="•"/>
            </a:pPr>
            <a:r>
              <a:rPr lang="en-US" sz="2800" dirty="0">
                <a:solidFill>
                  <a:schemeClr val="tx1"/>
                </a:solidFill>
                <a:latin typeface="Arial" panose="020B0604020202020204" pitchFamily="34" charset="0"/>
                <a:cs typeface="Arial" panose="020B0604020202020204" pitchFamily="34" charset="0"/>
              </a:rPr>
              <a:t>Extant objective is clearer</a:t>
            </a:r>
          </a:p>
          <a:p>
            <a:pPr marL="342900" lvl="1" indent="-342900" algn="just">
              <a:spcAft>
                <a:spcPts val="600"/>
              </a:spcAft>
              <a:buChar char="•"/>
            </a:pPr>
            <a:r>
              <a:rPr lang="en-US" sz="2800" dirty="0">
                <a:solidFill>
                  <a:schemeClr val="tx1"/>
                </a:solidFill>
                <a:latin typeface="Arial" panose="020B0604020202020204" pitchFamily="34" charset="0"/>
                <a:cs typeface="Arial" panose="020B0604020202020204" pitchFamily="34" charset="0"/>
              </a:rPr>
              <a:t>Objective is circular</a:t>
            </a:r>
          </a:p>
          <a:p>
            <a:pPr marL="342900" lvl="1" indent="-342900" algn="just">
              <a:spcAft>
                <a:spcPts val="600"/>
              </a:spcAft>
              <a:buChar char="•"/>
            </a:pPr>
            <a:r>
              <a:rPr lang="en-US" sz="2800" dirty="0">
                <a:solidFill>
                  <a:schemeClr val="tx1"/>
                </a:solidFill>
                <a:latin typeface="Arial" panose="020B0604020202020204" pitchFamily="34" charset="0"/>
                <a:cs typeface="Arial" panose="020B0604020202020204" pitchFamily="34" charset="0"/>
              </a:rPr>
              <a:t>Some specific wording changes suggested</a:t>
            </a:r>
          </a:p>
          <a:p>
            <a:pPr algn="just">
              <a:spcAft>
                <a:spcPts val="600"/>
              </a:spcAft>
            </a:pPr>
            <a:endParaRPr lang="en-US" sz="2800" dirty="0">
              <a:solidFill>
                <a:schemeClr val="tx1"/>
              </a:solidFill>
              <a:latin typeface="Arial" panose="020B0604020202020204" pitchFamily="34" charset="0"/>
              <a:cs typeface="Arial" panose="020B0604020202020204" pitchFamily="34" charset="0"/>
            </a:endParaRPr>
          </a:p>
        </p:txBody>
      </p:sp>
      <p:sp>
        <p:nvSpPr>
          <p:cNvPr id="5" name="Slide Number Placeholder 5">
            <a:extLst>
              <a:ext uri="{FF2B5EF4-FFF2-40B4-BE49-F238E27FC236}">
                <a16:creationId xmlns:a16="http://schemas.microsoft.com/office/drawing/2014/main" id="{DD9539EC-B83C-49AB-A4DA-3E39CA6999C7}"/>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7</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105562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461665"/>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Objective – Task Force Recommendations</a:t>
            </a:r>
            <a:endParaRPr lang="en-US" dirty="0">
              <a:solidFill>
                <a:schemeClr val="bg1"/>
              </a:solidFill>
              <a:latin typeface="Arial" panose="020B0604020202020204" pitchFamily="34" charset="0"/>
              <a:cs typeface="Arial" panose="020B0604020202020204" pitchFamily="34" charset="0"/>
            </a:endParaRPr>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73651" y="989045"/>
            <a:ext cx="8963655" cy="1912775"/>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algn="just">
              <a:spcAft>
                <a:spcPts val="600"/>
              </a:spcAft>
              <a:buChar char="•"/>
            </a:pPr>
            <a:r>
              <a:rPr lang="en-US" sz="2800" dirty="0">
                <a:solidFill>
                  <a:schemeClr val="tx1"/>
                </a:solidFill>
                <a:latin typeface="Arial" panose="020B0604020202020204" pitchFamily="34" charset="0"/>
                <a:cs typeface="Arial" panose="020B0604020202020204" pitchFamily="34" charset="0"/>
              </a:rPr>
              <a:t>No change proposed to ED-220</a:t>
            </a:r>
          </a:p>
          <a:p>
            <a:pPr algn="just">
              <a:spcAft>
                <a:spcPts val="600"/>
              </a:spcAft>
            </a:pPr>
            <a:endParaRPr lang="en-US" sz="2800" dirty="0">
              <a:solidFill>
                <a:schemeClr val="tx1"/>
              </a:solidFill>
              <a:latin typeface="Arial" panose="020B0604020202020204" pitchFamily="34" charset="0"/>
              <a:cs typeface="Arial" panose="020B0604020202020204" pitchFamily="34" charset="0"/>
            </a:endParaRPr>
          </a:p>
        </p:txBody>
      </p:sp>
      <p:sp>
        <p:nvSpPr>
          <p:cNvPr id="5" name="Slide Number Placeholder 5">
            <a:extLst>
              <a:ext uri="{FF2B5EF4-FFF2-40B4-BE49-F238E27FC236}">
                <a16:creationId xmlns:a16="http://schemas.microsoft.com/office/drawing/2014/main" id="{96D67EAA-048B-4530-A41D-34C8319999F7}"/>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8</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691718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130628" y="1054110"/>
            <a:ext cx="8490858" cy="3172657"/>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57200" indent="-457200">
              <a:spcAft>
                <a:spcPts val="600"/>
              </a:spcAft>
              <a:buNone/>
            </a:pPr>
            <a:r>
              <a:rPr lang="en-US" sz="2800" i="1" dirty="0">
                <a:solidFill>
                  <a:schemeClr val="tx1"/>
                </a:solidFill>
                <a:latin typeface="Arial" panose="020B0604020202020204" pitchFamily="34" charset="0"/>
                <a:cs typeface="Arial" panose="020B0604020202020204" pitchFamily="34" charset="0"/>
              </a:rPr>
              <a:t>1.	Does the IAASB agree that no change is required to the objective?</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30628" y="427038"/>
            <a:ext cx="901337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55563">
              <a:lnSpc>
                <a:spcPts val="2400"/>
              </a:lnSpc>
            </a:pPr>
            <a:r>
              <a:rPr lang="en-US" sz="2400" b="1" dirty="0"/>
              <a:t>Objective –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9</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850729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49110760"/>
              </p:ext>
            </p:extLst>
          </p:nvPr>
        </p:nvGraphicFramePr>
        <p:xfrm>
          <a:off x="310731" y="1005454"/>
          <a:ext cx="8282763" cy="3132592"/>
        </p:xfrm>
        <a:graphic>
          <a:graphicData uri="http://schemas.openxmlformats.org/drawingml/2006/table">
            <a:tbl>
              <a:tblPr firstRow="1" bandRow="1">
                <a:tableStyleId>{5C22544A-7EE6-4342-B048-85BDC9FD1C3A}</a:tableStyleId>
              </a:tblPr>
              <a:tblGrid>
                <a:gridCol w="8282763">
                  <a:extLst>
                    <a:ext uri="{9D8B030D-6E8A-4147-A177-3AD203B41FA5}">
                      <a16:colId xmlns:a16="http://schemas.microsoft.com/office/drawing/2014/main" val="713251629"/>
                    </a:ext>
                  </a:extLst>
                </a:gridCol>
              </a:tblGrid>
              <a:tr h="3132592">
                <a:tc>
                  <a:txBody>
                    <a:bodyPr/>
                    <a:lstStyle/>
                    <a:p>
                      <a:pPr marL="0" indent="0" algn="l" defTabSz="342900" rtl="0" eaLnBrk="1" fontAlgn="base" latinLnBrk="0" hangingPunct="1">
                        <a:lnSpc>
                          <a:spcPct val="100000"/>
                        </a:lnSpc>
                        <a:spcBef>
                          <a:spcPts val="776"/>
                        </a:spcBef>
                        <a:spcAft>
                          <a:spcPts val="600"/>
                        </a:spcAft>
                        <a:buNone/>
                      </a:pPr>
                      <a:r>
                        <a:rPr lang="en-US" sz="2800" b="1" kern="1200" dirty="0">
                          <a:solidFill>
                            <a:schemeClr val="tx1"/>
                          </a:solidFill>
                          <a:latin typeface="Arial" panose="020B0604020202020204" pitchFamily="34" charset="0"/>
                          <a:ea typeface="ＭＳ Ｐゴシック" charset="0"/>
                          <a:cs typeface="Arial" panose="020B0604020202020204" pitchFamily="34" charset="0"/>
                        </a:rPr>
                        <a:t>Question 3 of the EM to ED-220 asked:</a:t>
                      </a:r>
                    </a:p>
                    <a:p>
                      <a:pPr marL="0" lvl="0" indent="0" algn="l" defTabSz="342900" rtl="0" eaLnBrk="1" fontAlgn="base" latinLnBrk="0" hangingPunct="1">
                        <a:lnSpc>
                          <a:spcPct val="100000"/>
                        </a:lnSpc>
                        <a:spcBef>
                          <a:spcPts val="776"/>
                        </a:spcBef>
                        <a:spcAft>
                          <a:spcPts val="600"/>
                        </a:spcAft>
                        <a:buNone/>
                      </a:pPr>
                      <a:r>
                        <a:rPr lang="en-US" sz="2800" b="0" i="1" kern="1200" dirty="0">
                          <a:solidFill>
                            <a:schemeClr val="tx1"/>
                          </a:solidFill>
                          <a:latin typeface="Arial" panose="020B0604020202020204" pitchFamily="34" charset="0"/>
                          <a:ea typeface="ＭＳ Ｐゴシック" charset="0"/>
                          <a:cs typeface="Arial" panose="020B0604020202020204" pitchFamily="34" charset="0"/>
                        </a:rPr>
                        <a:t>Do you support the material on the appropriate exercise of professional skepticism in managing quality at the engagement level?</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310730" y="427038"/>
            <a:ext cx="8833269"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Professional Skepticism</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10</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60554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164802287"/>
              </p:ext>
            </p:extLst>
          </p:nvPr>
        </p:nvGraphicFramePr>
        <p:xfrm>
          <a:off x="402644" y="831850"/>
          <a:ext cx="6095692" cy="4083281"/>
        </p:xfrm>
        <a:graphic>
          <a:graphicData uri="http://schemas.openxmlformats.org/drawingml/2006/table">
            <a:tbl>
              <a:tblPr firstRow="1" bandRow="1">
                <a:tableStyleId>{5C22544A-7EE6-4342-B048-85BDC9FD1C3A}</a:tableStyleId>
              </a:tblPr>
              <a:tblGrid>
                <a:gridCol w="6095692">
                  <a:extLst>
                    <a:ext uri="{9D8B030D-6E8A-4147-A177-3AD203B41FA5}">
                      <a16:colId xmlns:a16="http://schemas.microsoft.com/office/drawing/2014/main" val="713251629"/>
                    </a:ext>
                  </a:extLst>
                </a:gridCol>
              </a:tblGrid>
              <a:tr h="4083281">
                <a:tc>
                  <a:txBody>
                    <a:bodyPr/>
                    <a:lstStyle/>
                    <a:p>
                      <a:pPr algn="l">
                        <a:spcBef>
                          <a:spcPts val="776"/>
                        </a:spcBef>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on professional skepticism (Question 3):</a:t>
                      </a:r>
                    </a:p>
                    <a:p>
                      <a:pPr marL="285750" lvl="1" indent="-285750" algn="l" defTabSz="342900" rtl="0" eaLnBrk="1" latinLnBrk="0" hangingPunct="1">
                        <a:spcBef>
                          <a:spcPts val="776"/>
                        </a:spcBef>
                        <a:spcAft>
                          <a:spcPts val="600"/>
                        </a:spcAft>
                        <a:buFont typeface="Arial" panose="020B0604020202020204" pitchFamily="34" charset="0"/>
                        <a:buChar char="•"/>
                      </a:pPr>
                      <a:r>
                        <a:rPr lang="en-US" sz="2400" b="0" i="0" kern="1200" dirty="0">
                          <a:solidFill>
                            <a:schemeClr val="tx1"/>
                          </a:solidFill>
                          <a:effectLst/>
                          <a:latin typeface="Arial" panose="020B0604020202020204" pitchFamily="34" charset="0"/>
                          <a:ea typeface="+mn-ea"/>
                          <a:cs typeface="Arial" panose="020B0604020202020204" pitchFamily="34" charset="0"/>
                        </a:rPr>
                        <a:t>Well-received overall</a:t>
                      </a:r>
                    </a:p>
                    <a:p>
                      <a:pPr marL="285750" lvl="1" indent="-285750" algn="l" defTabSz="342900" rtl="0" eaLnBrk="1" latinLnBrk="0" hangingPunct="1">
                        <a:spcBef>
                          <a:spcPts val="776"/>
                        </a:spcBef>
                        <a:spcAft>
                          <a:spcPts val="600"/>
                        </a:spcAft>
                        <a:buFont typeface="Arial" panose="020B0604020202020204" pitchFamily="34" charset="0"/>
                        <a:buChar char="•"/>
                      </a:pPr>
                      <a:r>
                        <a:rPr lang="en-US" sz="2400" b="0" i="0" kern="1200" dirty="0">
                          <a:solidFill>
                            <a:schemeClr val="tx1"/>
                          </a:solidFill>
                          <a:effectLst/>
                          <a:latin typeface="Arial" panose="020B0604020202020204" pitchFamily="34" charset="0"/>
                          <a:ea typeface="+mn-ea"/>
                          <a:cs typeface="Arial" panose="020B0604020202020204" pitchFamily="34" charset="0"/>
                        </a:rPr>
                        <a:t>Some comments on: </a:t>
                      </a:r>
                    </a:p>
                    <a:p>
                      <a:pPr marL="687388" lvl="1" indent="-342900" algn="l" defTabSz="342900" rtl="0" eaLnBrk="1" latinLnBrk="0" hangingPunct="1">
                        <a:spcBef>
                          <a:spcPts val="776"/>
                        </a:spcBef>
                        <a:spcAft>
                          <a:spcPts val="600"/>
                        </a:spcAft>
                        <a:buFont typeface="Courier New" panose="02070309020205020404" pitchFamily="49" charset="0"/>
                        <a:buChar char="o"/>
                      </a:pPr>
                      <a:r>
                        <a:rPr lang="en-US" sz="2200" b="0" i="0" kern="1200" dirty="0">
                          <a:solidFill>
                            <a:schemeClr val="tx1"/>
                          </a:solidFill>
                          <a:effectLst/>
                          <a:latin typeface="Arial" panose="020B0604020202020204" pitchFamily="34" charset="0"/>
                          <a:ea typeface="+mn-ea"/>
                          <a:cs typeface="Arial" panose="020B0604020202020204" pitchFamily="34" charset="0"/>
                        </a:rPr>
                        <a:t>Links to ISA 200</a:t>
                      </a:r>
                    </a:p>
                    <a:p>
                      <a:pPr marL="687388" lvl="1" indent="-342900" algn="l" defTabSz="342900" rtl="0" eaLnBrk="1" latinLnBrk="0" hangingPunct="1">
                        <a:spcBef>
                          <a:spcPts val="776"/>
                        </a:spcBef>
                        <a:spcAft>
                          <a:spcPts val="600"/>
                        </a:spcAft>
                        <a:buFont typeface="Courier New" panose="02070309020205020404" pitchFamily="49" charset="0"/>
                        <a:buChar char="o"/>
                      </a:pPr>
                      <a:r>
                        <a:rPr lang="en-US" sz="2200" b="0" i="0" kern="1200" dirty="0">
                          <a:solidFill>
                            <a:schemeClr val="tx1"/>
                          </a:solidFill>
                          <a:effectLst/>
                          <a:latin typeface="Arial" panose="020B0604020202020204" pitchFamily="34" charset="0"/>
                          <a:ea typeface="+mn-ea"/>
                          <a:cs typeface="Arial" panose="020B0604020202020204" pitchFamily="34" charset="0"/>
                        </a:rPr>
                        <a:t>How to document</a:t>
                      </a:r>
                    </a:p>
                    <a:p>
                      <a:pPr marL="285750" lvl="1" indent="-285750" algn="l" defTabSz="342900" rtl="0" eaLnBrk="1" latinLnBrk="0" hangingPunct="1">
                        <a:spcBef>
                          <a:spcPts val="776"/>
                        </a:spcBef>
                        <a:spcAft>
                          <a:spcPts val="600"/>
                        </a:spcAft>
                        <a:buFont typeface="Arial" panose="020B0604020202020204" pitchFamily="34" charset="0"/>
                        <a:buChar char="•"/>
                      </a:pPr>
                      <a:r>
                        <a:rPr lang="en-US" sz="2400" b="0" i="0" kern="1200" dirty="0">
                          <a:solidFill>
                            <a:schemeClr val="tx1"/>
                          </a:solidFill>
                          <a:effectLst/>
                          <a:latin typeface="Arial" panose="020B0604020202020204" pitchFamily="34" charset="0"/>
                          <a:ea typeface="+mn-ea"/>
                          <a:cs typeface="Arial" panose="020B0604020202020204" pitchFamily="34" charset="0"/>
                        </a:rPr>
                        <a:t>Request for guidance</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317241" y="427038"/>
            <a:ext cx="8826758"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Professional Skepticism – Feedback Received</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a:solidFill>
                  <a:srgbClr val="808080"/>
                </a:solidFill>
                <a:latin typeface="Arial" panose="020B0604020202020204" pitchFamily="34" charset="0"/>
              </a:rPr>
              <a:pPr algn="r"/>
              <a:t>11</a:t>
            </a:fld>
            <a:r>
              <a:rPr lang="en-US" sz="800" dirty="0">
                <a:solidFill>
                  <a:srgbClr val="808080"/>
                </a:solidFill>
                <a:latin typeface="Arial" panose="020B0604020202020204" pitchFamily="34" charset="0"/>
              </a:rPr>
              <a:t> </a:t>
            </a:r>
          </a:p>
          <a:p>
            <a:pPr algn="r"/>
            <a:endParaRPr lang="en-US" sz="675" dirty="0">
              <a:solidFill>
                <a:srgbClr val="808080"/>
              </a:solidFill>
              <a:latin typeface="Arial" panose="020B0604020202020204" pitchFamily="34" charset="0"/>
            </a:endParaRPr>
          </a:p>
        </p:txBody>
      </p:sp>
      <p:graphicFrame>
        <p:nvGraphicFramePr>
          <p:cNvPr id="10" name="Chart 9">
            <a:extLst>
              <a:ext uri="{FF2B5EF4-FFF2-40B4-BE49-F238E27FC236}">
                <a16:creationId xmlns:a16="http://schemas.microsoft.com/office/drawing/2014/main" id="{7F676E67-51AF-4AF5-858A-B85CC65C2B57}"/>
              </a:ext>
            </a:extLst>
          </p:cNvPr>
          <p:cNvGraphicFramePr/>
          <p:nvPr>
            <p:extLst>
              <p:ext uri="{D42A27DB-BD31-4B8C-83A1-F6EECF244321}">
                <p14:modId xmlns:p14="http://schemas.microsoft.com/office/powerpoint/2010/main" val="2569682315"/>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7501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27674"/>
            <a:ext cx="8497006" cy="3088152"/>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6075" lvl="0" indent="-346075" fontAlgn="auto">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Some changes to application material to emphasize how professional skepticism contributes to audit quality</a:t>
            </a:r>
          </a:p>
          <a:p>
            <a:pPr marL="346075" lvl="0" indent="-346075" fontAlgn="auto">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Considering additional guidance</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12188"/>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Professional Skepticism – Task Force Recommendations</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12</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758179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130628" y="1054111"/>
            <a:ext cx="8556172" cy="3237972"/>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57200" indent="-457200" algn="just">
              <a:buNone/>
            </a:pPr>
            <a:r>
              <a:rPr lang="en-US" sz="2800" i="1" dirty="0">
                <a:solidFill>
                  <a:schemeClr val="tx1"/>
                </a:solidFill>
                <a:latin typeface="Arial" panose="020B0604020202020204" pitchFamily="34" charset="0"/>
                <a:cs typeface="Arial" panose="020B0604020202020204" pitchFamily="34" charset="0"/>
              </a:rPr>
              <a:t>2.	Does the IAASB agree with the Task Force’s proposed changes to address respondents’ comments on how proposed ISA 220 (Revised) deals with professional skepticism?</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214604" y="427038"/>
            <a:ext cx="8929395"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200" b="1" dirty="0"/>
              <a:t>Professional Skepticism –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13</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225600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461665"/>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Stand-back Provision </a:t>
            </a:r>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79918" y="970383"/>
            <a:ext cx="8397433" cy="3339749"/>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spcAft>
                <a:spcPts val="600"/>
              </a:spcAft>
              <a:buNone/>
            </a:pPr>
            <a:r>
              <a:rPr lang="en-US" sz="2800" b="1" dirty="0">
                <a:solidFill>
                  <a:schemeClr val="tx1"/>
                </a:solidFill>
                <a:latin typeface="Arial" panose="020B0604020202020204" pitchFamily="34" charset="0"/>
                <a:cs typeface="Arial" panose="020B0604020202020204" pitchFamily="34" charset="0"/>
              </a:rPr>
              <a:t>Question 1 of the EM to ED-220 asked:</a:t>
            </a:r>
          </a:p>
          <a:p>
            <a:pPr marL="0" indent="0">
              <a:spcAft>
                <a:spcPts val="600"/>
              </a:spcAft>
              <a:buNone/>
            </a:pPr>
            <a:r>
              <a:rPr lang="en-US" sz="2800" i="1" dirty="0">
                <a:solidFill>
                  <a:schemeClr val="tx1"/>
                </a:solidFill>
                <a:latin typeface="Arial" panose="020B0604020202020204" pitchFamily="34" charset="0"/>
                <a:cs typeface="Arial" panose="020B0604020202020204" pitchFamily="34" charset="0"/>
              </a:rPr>
              <a:t>Do you support the focus on the sufficient and appropriate involvement of the engagement partner (see particularly paragraphs 11–13 and 37) as part of taking overall responsibility for managing quality on the engagement?</a:t>
            </a:r>
          </a:p>
          <a:p>
            <a:pPr marL="0" indent="0">
              <a:spcAft>
                <a:spcPts val="600"/>
              </a:spcAft>
              <a:buNone/>
            </a:pPr>
            <a:r>
              <a:rPr lang="en-US" sz="2800" i="1" dirty="0">
                <a:solidFill>
                  <a:schemeClr val="tx1"/>
                </a:solidFill>
                <a:latin typeface="Arial" panose="020B0604020202020204" pitchFamily="34" charset="0"/>
                <a:cs typeface="Arial" panose="020B0604020202020204" pitchFamily="34" charset="0"/>
              </a:rPr>
              <a:t>(Note: paragraph 37 is the stand-back provision)</a:t>
            </a:r>
          </a:p>
        </p:txBody>
      </p:sp>
      <p:sp>
        <p:nvSpPr>
          <p:cNvPr id="5" name="Slide Number Placeholder 5">
            <a:extLst>
              <a:ext uri="{FF2B5EF4-FFF2-40B4-BE49-F238E27FC236}">
                <a16:creationId xmlns:a16="http://schemas.microsoft.com/office/drawing/2014/main" id="{906E9DD4-E849-4765-97B0-C13F43532F86}"/>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14</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57988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Stand-back Provision – Feedback Received</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180345" y="865997"/>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6075" lvl="1" indent="-346075">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Support for the stand-back provision</a:t>
            </a:r>
          </a:p>
          <a:p>
            <a:pPr marL="804672" lvl="2" indent="-4572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Increases focus on the engagement partner’s involvement</a:t>
            </a:r>
          </a:p>
          <a:p>
            <a:pPr marL="346075" lvl="1" indent="-346075">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Clarification sought</a:t>
            </a:r>
          </a:p>
        </p:txBody>
      </p:sp>
      <p:sp>
        <p:nvSpPr>
          <p:cNvPr id="5" name="Slide Number Placeholder 5">
            <a:extLst>
              <a:ext uri="{FF2B5EF4-FFF2-40B4-BE49-F238E27FC236}">
                <a16:creationId xmlns:a16="http://schemas.microsoft.com/office/drawing/2014/main" id="{3934F99F-1EFF-40A4-9197-49230C8D6B2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15</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898965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Content Placeholder 1"/>
          <p:cNvSpPr txBox="1">
            <a:spLocks/>
          </p:cNvSpPr>
          <p:nvPr/>
        </p:nvSpPr>
        <p:spPr>
          <a:xfrm>
            <a:off x="323497" y="1045309"/>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6075" lvl="0" indent="-346075" fontAlgn="auto">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Limited changes proposed</a:t>
            </a:r>
            <a:endParaRPr lang="en-US" sz="2400" dirty="0">
              <a:solidFill>
                <a:schemeClr val="tx1"/>
              </a:solidFill>
              <a:latin typeface="Arial" panose="020B0604020202020204" pitchFamily="34" charset="0"/>
              <a:cs typeface="Arial" panose="020B0604020202020204" pitchFamily="34" charset="0"/>
            </a:endParaRPr>
          </a:p>
          <a:p>
            <a:pPr marL="698119" lvl="1" indent="-346075" fontAlgn="auto">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Additional guidance and links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12188"/>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Stand-back Provision – Task Force Recommendations</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16</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31190142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233265" y="976090"/>
            <a:ext cx="8700435" cy="3191319"/>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57200" indent="-457200">
              <a:spcAft>
                <a:spcPts val="600"/>
              </a:spcAft>
              <a:buNone/>
            </a:pPr>
            <a:r>
              <a:rPr lang="en-US" sz="2800" i="1" dirty="0">
                <a:solidFill>
                  <a:schemeClr val="tx1"/>
                </a:solidFill>
                <a:latin typeface="Arial" panose="020B0604020202020204" pitchFamily="34" charset="0"/>
                <a:cs typeface="Arial" panose="020B0604020202020204" pitchFamily="34" charset="0"/>
              </a:rPr>
              <a:t>3.	Does the IAASB agree with the Task Force’s proposed changes to address respondents’ comments on the stand-back provision in paragraph 37 of Agenda Item 9-B?</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30628" y="427038"/>
            <a:ext cx="901337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200" b="1" dirty="0"/>
              <a:t> Stand-back Provision –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a:solidFill>
                  <a:srgbClr val="808080"/>
                </a:solidFill>
                <a:latin typeface="Arial" panose="020B0604020202020204" pitchFamily="34" charset="0"/>
              </a:rPr>
              <a:pPr algn="r"/>
              <a:t>17</a:t>
            </a:fld>
            <a:r>
              <a:rPr lang="en-US" sz="800" dirty="0">
                <a:solidFill>
                  <a:srgbClr val="808080"/>
                </a:solidFill>
                <a:latin typeface="Arial" panose="020B0604020202020204" pitchFamily="34" charset="0"/>
              </a:rPr>
              <a:t> </a:t>
            </a:r>
          </a:p>
        </p:txBody>
      </p:sp>
    </p:spTree>
    <p:extLst>
      <p:ext uri="{BB962C8B-B14F-4D97-AF65-F5344CB8AC3E}">
        <p14:creationId xmlns:p14="http://schemas.microsoft.com/office/powerpoint/2010/main" val="2415972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0617"/>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spcAft>
                <a:spcPts val="600"/>
              </a:spcAft>
              <a:buNone/>
            </a:pPr>
            <a:r>
              <a:rPr lang="en-US" sz="2800" b="1" dirty="0">
                <a:solidFill>
                  <a:schemeClr val="tx1"/>
                </a:solidFill>
                <a:latin typeface="Arial" panose="020B0604020202020204" pitchFamily="34" charset="0"/>
                <a:cs typeface="Arial" panose="020B0604020202020204" pitchFamily="34" charset="0"/>
              </a:rPr>
              <a:t>Question 4 of the EM to ED-220 asked:</a:t>
            </a:r>
          </a:p>
          <a:p>
            <a:pPr marL="0">
              <a:spcAft>
                <a:spcPts val="600"/>
              </a:spcAft>
              <a:buNone/>
            </a:pPr>
            <a:r>
              <a:rPr lang="en-US" sz="2800" i="1" dirty="0">
                <a:solidFill>
                  <a:schemeClr val="tx1"/>
                </a:solidFill>
                <a:latin typeface="Arial" panose="020B0604020202020204" pitchFamily="34" charset="0"/>
                <a:cs typeface="Arial" panose="020B0604020202020204" pitchFamily="34" charset="0"/>
              </a:rPr>
              <a:t>Does ED-220 deal adequately with the modern auditing environment, including the use of different audit delivery models and technology? </a:t>
            </a:r>
          </a:p>
          <a:p>
            <a:pPr algn="just"/>
            <a:endParaRPr lang="en-US" i="1" dirty="0">
              <a:solidFill>
                <a:schemeClr val="tx1"/>
              </a:solidFill>
              <a:latin typeface="Arial" panose="020B0604020202020204" pitchFamily="34" charset="0"/>
              <a:cs typeface="Arial" panose="020B0604020202020204" pitchFamily="34" charset="0"/>
            </a:endParaRPr>
          </a:p>
          <a:p>
            <a:pPr algn="just"/>
            <a:endParaRPr lang="en-US" i="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53459"/>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Modern Auditing Environment</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18</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352472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750670485"/>
              </p:ext>
            </p:extLst>
          </p:nvPr>
        </p:nvGraphicFramePr>
        <p:xfrm>
          <a:off x="402644" y="886691"/>
          <a:ext cx="6095692" cy="3996604"/>
        </p:xfrm>
        <a:graphic>
          <a:graphicData uri="http://schemas.openxmlformats.org/drawingml/2006/table">
            <a:tbl>
              <a:tblPr firstRow="1" bandRow="1">
                <a:tableStyleId>{5C22544A-7EE6-4342-B048-85BDC9FD1C3A}</a:tableStyleId>
              </a:tblPr>
              <a:tblGrid>
                <a:gridCol w="6095692">
                  <a:extLst>
                    <a:ext uri="{9D8B030D-6E8A-4147-A177-3AD203B41FA5}">
                      <a16:colId xmlns:a16="http://schemas.microsoft.com/office/drawing/2014/main" val="713251629"/>
                    </a:ext>
                  </a:extLst>
                </a:gridCol>
              </a:tblGrid>
              <a:tr h="3996604">
                <a:tc>
                  <a:txBody>
                    <a:bodyPr/>
                    <a:lstStyle/>
                    <a:p>
                      <a:pPr algn="l">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on the modern auditing environment (technology portion of Question 4):</a:t>
                      </a:r>
                    </a:p>
                    <a:p>
                      <a:pPr marL="285750" indent="-285750" algn="l">
                        <a:spcAft>
                          <a:spcPts val="600"/>
                        </a:spcAft>
                        <a:buFont typeface="Arial" panose="020B0604020202020204" pitchFamily="34" charset="0"/>
                        <a:buChar char="•"/>
                      </a:pPr>
                      <a:r>
                        <a:rPr lang="en-CA" sz="2400" b="0" i="0" kern="1200" dirty="0">
                          <a:solidFill>
                            <a:schemeClr val="tx1"/>
                          </a:solidFill>
                          <a:effectLst/>
                          <a:latin typeface="Arial" panose="020B0604020202020204" pitchFamily="34" charset="0"/>
                          <a:ea typeface="+mn-ea"/>
                          <a:cs typeface="Arial" panose="020B0604020202020204" pitchFamily="34" charset="0"/>
                        </a:rPr>
                        <a:t>Mixed views on level of detail needed</a:t>
                      </a:r>
                    </a:p>
                    <a:p>
                      <a:pPr marL="285750" indent="-285750" algn="l">
                        <a:spcAft>
                          <a:spcPts val="600"/>
                        </a:spcAft>
                        <a:buFont typeface="Arial" panose="020B0604020202020204" pitchFamily="34" charset="0"/>
                        <a:buChar char="•"/>
                      </a:pPr>
                      <a:r>
                        <a:rPr lang="en-CA" sz="2400" b="0" i="0" kern="1200" dirty="0">
                          <a:solidFill>
                            <a:schemeClr val="tx1"/>
                          </a:solidFill>
                          <a:effectLst/>
                          <a:latin typeface="Arial" panose="020B0604020202020204" pitchFamily="34" charset="0"/>
                          <a:ea typeface="+mn-ea"/>
                          <a:cs typeface="Arial" panose="020B0604020202020204" pitchFamily="34" charset="0"/>
                        </a:rPr>
                        <a:t>Suggestions for implementation guidance </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Modern Auditing Environment – Feedback Received</a:t>
            </a:r>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19</a:t>
            </a:fld>
            <a:endParaRPr lang="en-US" sz="800" dirty="0">
              <a:solidFill>
                <a:srgbClr val="808080"/>
              </a:solidFill>
              <a:latin typeface="Arial" panose="020B0604020202020204" pitchFamily="34" charset="0"/>
            </a:endParaRPr>
          </a:p>
        </p:txBody>
      </p:sp>
      <p:graphicFrame>
        <p:nvGraphicFramePr>
          <p:cNvPr id="10" name="Chart 9">
            <a:extLst>
              <a:ext uri="{FF2B5EF4-FFF2-40B4-BE49-F238E27FC236}">
                <a16:creationId xmlns:a16="http://schemas.microsoft.com/office/drawing/2014/main" id="{7F676E67-51AF-4AF5-858A-B85CC65C2B57}"/>
              </a:ext>
            </a:extLst>
          </p:cNvPr>
          <p:cNvGraphicFramePr/>
          <p:nvPr>
            <p:extLst>
              <p:ext uri="{D42A27DB-BD31-4B8C-83A1-F6EECF244321}">
                <p14:modId xmlns:p14="http://schemas.microsoft.com/office/powerpoint/2010/main" val="3284247020"/>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22695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45309"/>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6075" lvl="0" indent="-346075" fontAlgn="auto">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Appropriate level of material in ISA 220</a:t>
            </a:r>
          </a:p>
          <a:p>
            <a:pPr marL="346075" lvl="0" indent="-346075" fontAlgn="auto">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Coordination with IAASB working groups to develop implementation guidance </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12188"/>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200" b="1" dirty="0"/>
              <a:t>Modern Auditing Environment – Task Force Recommendations</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20</a:t>
            </a:fld>
            <a:r>
              <a:rPr lang="en-US" sz="800" dirty="0">
                <a:solidFill>
                  <a:srgbClr val="808080"/>
                </a:solidFill>
                <a:latin typeface="Arial" panose="020B0604020202020204" pitchFamily="34" charset="0"/>
              </a:rPr>
              <a:t>|</a:t>
            </a:r>
          </a:p>
        </p:txBody>
      </p:sp>
    </p:spTree>
    <p:extLst>
      <p:ext uri="{BB962C8B-B14F-4D97-AF65-F5344CB8AC3E}">
        <p14:creationId xmlns:p14="http://schemas.microsoft.com/office/powerpoint/2010/main" val="2397444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36694" y="951473"/>
            <a:ext cx="8497006" cy="2594159"/>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57200" indent="-457200">
              <a:spcAft>
                <a:spcPts val="600"/>
              </a:spcAft>
              <a:buNone/>
            </a:pPr>
            <a:r>
              <a:rPr lang="en-US" sz="2800" i="1" dirty="0">
                <a:solidFill>
                  <a:schemeClr val="tx1"/>
                </a:solidFill>
                <a:latin typeface="Arial" panose="020B0604020202020204" pitchFamily="34" charset="0"/>
                <a:cs typeface="Arial" panose="020B0604020202020204" pitchFamily="34" charset="0"/>
              </a:rPr>
              <a:t>4.	Does the IAASB agree with the Task Force’s proposals to address respondents’ comments on technology?</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30628" y="427038"/>
            <a:ext cx="9361715"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227013">
              <a:lnSpc>
                <a:spcPts val="2400"/>
              </a:lnSpc>
            </a:pPr>
            <a:r>
              <a:rPr lang="en-US" sz="2200" b="1" dirty="0"/>
              <a:t>Modern Auditing Environment –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21</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556445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0617"/>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spcAft>
                <a:spcPts val="600"/>
              </a:spcAft>
              <a:buNone/>
            </a:pPr>
            <a:r>
              <a:rPr lang="en-US" sz="2800" b="1" dirty="0">
                <a:solidFill>
                  <a:schemeClr val="tx1"/>
                </a:solidFill>
                <a:latin typeface="Arial" panose="020B0604020202020204" pitchFamily="34" charset="0"/>
                <a:cs typeface="Arial" panose="020B0604020202020204" pitchFamily="34" charset="0"/>
              </a:rPr>
              <a:t>Question 6 of the EM to ED-220 asked:</a:t>
            </a:r>
          </a:p>
          <a:p>
            <a:pPr marL="0">
              <a:spcAft>
                <a:spcPts val="600"/>
              </a:spcAft>
              <a:buNone/>
            </a:pPr>
            <a:r>
              <a:rPr lang="en-US" sz="2800" i="1" dirty="0">
                <a:solidFill>
                  <a:schemeClr val="tx1"/>
                </a:solidFill>
                <a:latin typeface="Arial" panose="020B0604020202020204" pitchFamily="34" charset="0"/>
                <a:cs typeface="Arial" panose="020B0604020202020204" pitchFamily="34" charset="0"/>
              </a:rPr>
              <a:t>Does ED-220, together with the overarching documentation requirements in ISA 230, include sufficient requirements and guidance on documentation? </a:t>
            </a:r>
          </a:p>
          <a:p>
            <a:pPr algn="just"/>
            <a:endParaRPr lang="en-US" i="1" dirty="0">
              <a:solidFill>
                <a:schemeClr val="tx1"/>
              </a:solidFill>
              <a:latin typeface="Arial" panose="020B0604020202020204" pitchFamily="34" charset="0"/>
              <a:cs typeface="Arial" panose="020B0604020202020204" pitchFamily="34" charset="0"/>
            </a:endParaRPr>
          </a:p>
          <a:p>
            <a:pPr algn="just"/>
            <a:endParaRPr lang="en-US" i="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53459"/>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Documentation</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22</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493991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CF21A7A-89E6-4D73-9C9E-20947420A5A0}"/>
              </a:ext>
            </a:extLst>
          </p:cNvPr>
          <p:cNvGraphicFramePr>
            <a:graphicFrameLocks noGrp="1"/>
          </p:cNvGraphicFramePr>
          <p:nvPr>
            <p:extLst>
              <p:ext uri="{D42A27DB-BD31-4B8C-83A1-F6EECF244321}">
                <p14:modId xmlns:p14="http://schemas.microsoft.com/office/powerpoint/2010/main" val="2008068933"/>
              </p:ext>
            </p:extLst>
          </p:nvPr>
        </p:nvGraphicFramePr>
        <p:xfrm>
          <a:off x="402644" y="886691"/>
          <a:ext cx="6095692" cy="3996604"/>
        </p:xfrm>
        <a:graphic>
          <a:graphicData uri="http://schemas.openxmlformats.org/drawingml/2006/table">
            <a:tbl>
              <a:tblPr firstRow="1" bandRow="1">
                <a:tableStyleId>{5C22544A-7EE6-4342-B048-85BDC9FD1C3A}</a:tableStyleId>
              </a:tblPr>
              <a:tblGrid>
                <a:gridCol w="6095692">
                  <a:extLst>
                    <a:ext uri="{9D8B030D-6E8A-4147-A177-3AD203B41FA5}">
                      <a16:colId xmlns:a16="http://schemas.microsoft.com/office/drawing/2014/main" val="713251629"/>
                    </a:ext>
                  </a:extLst>
                </a:gridCol>
              </a:tblGrid>
              <a:tr h="3996604">
                <a:tc>
                  <a:txBody>
                    <a:bodyPr/>
                    <a:lstStyle/>
                    <a:p>
                      <a:pPr algn="l">
                        <a:spcBef>
                          <a:spcPts val="776"/>
                        </a:spcBef>
                        <a:spcAft>
                          <a:spcPts val="600"/>
                        </a:spcAft>
                      </a:pPr>
                      <a:r>
                        <a:rPr lang="en-CA" sz="2800" b="1" i="0" kern="1200" dirty="0">
                          <a:solidFill>
                            <a:schemeClr val="tx1"/>
                          </a:solidFill>
                          <a:effectLst/>
                          <a:latin typeface="Arial" panose="020B0604020202020204" pitchFamily="34" charset="0"/>
                          <a:ea typeface="+mn-ea"/>
                          <a:cs typeface="Arial" panose="020B0604020202020204" pitchFamily="34" charset="0"/>
                        </a:rPr>
                        <a:t>What we heard in responses to ED-220 on documentation (Question 6):</a:t>
                      </a:r>
                    </a:p>
                    <a:p>
                      <a:pPr marL="285750" indent="-285750" algn="l">
                        <a:spcBef>
                          <a:spcPts val="776"/>
                        </a:spcBef>
                        <a:spcAft>
                          <a:spcPts val="600"/>
                        </a:spcAft>
                        <a:buFont typeface="Arial" panose="020B0604020202020204" pitchFamily="34" charset="0"/>
                        <a:buChar char="•"/>
                      </a:pPr>
                      <a:r>
                        <a:rPr lang="en-CA" sz="2200" b="0" i="0" kern="1200" dirty="0">
                          <a:solidFill>
                            <a:schemeClr val="tx1"/>
                          </a:solidFill>
                          <a:effectLst/>
                          <a:latin typeface="Arial" panose="020B0604020202020204" pitchFamily="34" charset="0"/>
                          <a:ea typeface="+mn-ea"/>
                          <a:cs typeface="Arial" panose="020B0604020202020204" pitchFamily="34" charset="0"/>
                        </a:rPr>
                        <a:t>Support overall</a:t>
                      </a:r>
                    </a:p>
                    <a:p>
                      <a:pPr marL="285750" indent="-285750" algn="l">
                        <a:spcBef>
                          <a:spcPts val="776"/>
                        </a:spcBef>
                        <a:spcAft>
                          <a:spcPts val="600"/>
                        </a:spcAft>
                        <a:buFont typeface="Arial" panose="020B0604020202020204" pitchFamily="34" charset="0"/>
                        <a:buChar char="•"/>
                      </a:pPr>
                      <a:r>
                        <a:rPr lang="en-CA" sz="2200" b="0" i="0" kern="1200" dirty="0">
                          <a:solidFill>
                            <a:schemeClr val="tx1"/>
                          </a:solidFill>
                          <a:effectLst/>
                          <a:latin typeface="Arial" panose="020B0604020202020204" pitchFamily="34" charset="0"/>
                          <a:ea typeface="+mn-ea"/>
                          <a:cs typeface="Arial" panose="020B0604020202020204" pitchFamily="34" charset="0"/>
                        </a:rPr>
                        <a:t>Some specific additional documentation requested</a:t>
                      </a:r>
                    </a:p>
                  </a:txBody>
                  <a:tcPr>
                    <a:noFill/>
                  </a:tcPr>
                </a:tc>
                <a:extLst>
                  <a:ext uri="{0D108BD9-81ED-4DB2-BD59-A6C34878D82A}">
                    <a16:rowId xmlns:a16="http://schemas.microsoft.com/office/drawing/2014/main" val="493788776"/>
                  </a:ext>
                </a:extLst>
              </a:tr>
            </a:tbl>
          </a:graphicData>
        </a:graphic>
      </p:graphicFrame>
      <p:sp>
        <p:nvSpPr>
          <p:cNvPr id="9" name="Title 1">
            <a:extLst>
              <a:ext uri="{FF2B5EF4-FFF2-40B4-BE49-F238E27FC236}">
                <a16:creationId xmlns:a16="http://schemas.microsoft.com/office/drawing/2014/main" id="{752309F6-8C96-40B1-B35D-D9A26E7FD27D}"/>
              </a:ext>
            </a:extLst>
          </p:cNvPr>
          <p:cNvSpPr txBox="1">
            <a:spLocks/>
          </p:cNvSpPr>
          <p:nvPr/>
        </p:nvSpPr>
        <p:spPr>
          <a:xfrm>
            <a:off x="402644" y="427038"/>
            <a:ext cx="8741355"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Documentation – Feedback Received</a:t>
            </a:r>
          </a:p>
          <a:p>
            <a:pPr marL="347472">
              <a:lnSpc>
                <a:spcPts val="2400"/>
              </a:lnSpc>
            </a:pPr>
            <a:endParaRPr lang="en-US" sz="2400" b="1" dirty="0"/>
          </a:p>
        </p:txBody>
      </p:sp>
      <p:sp>
        <p:nvSpPr>
          <p:cNvPr id="6" name="Slide Number Placeholder 5">
            <a:extLst>
              <a:ext uri="{FF2B5EF4-FFF2-40B4-BE49-F238E27FC236}">
                <a16:creationId xmlns:a16="http://schemas.microsoft.com/office/drawing/2014/main" id="{EDE42470-1E1D-467C-ADBB-DDEF12AB6F7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23</a:t>
            </a:fld>
            <a:endParaRPr lang="en-US" sz="800" dirty="0">
              <a:solidFill>
                <a:srgbClr val="808080"/>
              </a:solidFill>
              <a:latin typeface="Arial" panose="020B0604020202020204" pitchFamily="34" charset="0"/>
            </a:endParaRPr>
          </a:p>
          <a:p>
            <a:pPr algn="r"/>
            <a:endParaRPr lang="en-US" sz="675" dirty="0">
              <a:solidFill>
                <a:srgbClr val="808080"/>
              </a:solidFill>
              <a:latin typeface="Arial" panose="020B0604020202020204" pitchFamily="34" charset="0"/>
            </a:endParaRPr>
          </a:p>
        </p:txBody>
      </p:sp>
      <p:graphicFrame>
        <p:nvGraphicFramePr>
          <p:cNvPr id="10" name="Chart 9">
            <a:extLst>
              <a:ext uri="{FF2B5EF4-FFF2-40B4-BE49-F238E27FC236}">
                <a16:creationId xmlns:a16="http://schemas.microsoft.com/office/drawing/2014/main" id="{7F676E67-51AF-4AF5-858A-B85CC65C2B57}"/>
              </a:ext>
            </a:extLst>
          </p:cNvPr>
          <p:cNvGraphicFramePr/>
          <p:nvPr>
            <p:extLst>
              <p:ext uri="{D42A27DB-BD31-4B8C-83A1-F6EECF244321}">
                <p14:modId xmlns:p14="http://schemas.microsoft.com/office/powerpoint/2010/main" val="2712064434"/>
              </p:ext>
            </p:extLst>
          </p:nvPr>
        </p:nvGraphicFramePr>
        <p:xfrm>
          <a:off x="6530797" y="885825"/>
          <a:ext cx="2613203" cy="3830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83226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1045309"/>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fontAlgn="auto">
              <a:spcAft>
                <a:spcPts val="600"/>
              </a:spcAft>
              <a:defRPr/>
            </a:pPr>
            <a:r>
              <a:rPr lang="en-US" sz="2800" dirty="0">
                <a:solidFill>
                  <a:schemeClr val="tx1"/>
                </a:solidFill>
                <a:latin typeface="Arial" panose="020B0604020202020204" pitchFamily="34" charset="0"/>
                <a:cs typeface="Arial" panose="020B0604020202020204" pitchFamily="34" charset="0"/>
              </a:rPr>
              <a:t>Conforming amendment to ISA 300</a:t>
            </a:r>
          </a:p>
          <a:p>
            <a:pPr fontAlgn="auto">
              <a:spcAft>
                <a:spcPts val="600"/>
              </a:spcAft>
              <a:defRPr/>
            </a:pPr>
            <a:r>
              <a:rPr lang="en-US" sz="2800" dirty="0">
                <a:solidFill>
                  <a:schemeClr val="tx1"/>
                </a:solidFill>
                <a:latin typeface="Arial" panose="020B0604020202020204" pitchFamily="34" charset="0"/>
                <a:cs typeface="Arial" panose="020B0604020202020204" pitchFamily="34" charset="0"/>
              </a:rPr>
              <a:t>Enhanced application material</a:t>
            </a:r>
          </a:p>
          <a:p>
            <a:pPr fontAlgn="auto">
              <a:spcAft>
                <a:spcPts val="600"/>
              </a:spcAft>
              <a:defRPr/>
            </a:pPr>
            <a:r>
              <a:rPr lang="en-US" sz="2800" dirty="0">
                <a:solidFill>
                  <a:schemeClr val="tx1"/>
                </a:solidFill>
                <a:latin typeface="Arial" panose="020B0604020202020204" pitchFamily="34" charset="0"/>
                <a:cs typeface="Arial" panose="020B0604020202020204" pitchFamily="34" charset="0"/>
              </a:rPr>
              <a:t>Considering:</a:t>
            </a:r>
          </a:p>
          <a:p>
            <a:pPr marL="804672" lvl="2" indent="-457200">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Targeted implementation guidance</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12188"/>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400" b="1" dirty="0"/>
              <a:t>Documentation – Task Force’s Recommendations</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24</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563817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36694" y="1022744"/>
            <a:ext cx="8250106" cy="3098012"/>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57200" indent="-457200">
              <a:spcAft>
                <a:spcPts val="600"/>
              </a:spcAft>
              <a:buNone/>
            </a:pPr>
            <a:r>
              <a:rPr lang="en-US" sz="2800" i="1" dirty="0">
                <a:solidFill>
                  <a:schemeClr val="tx1"/>
                </a:solidFill>
                <a:latin typeface="Arial" panose="020B0604020202020204" pitchFamily="34" charset="0"/>
                <a:cs typeface="Arial" panose="020B0604020202020204" pitchFamily="34" charset="0"/>
              </a:rPr>
              <a:t>5.	Does the IAASB agree with the Task Force’s proposals to address respondents’ comments on documentation?</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130628" y="427038"/>
            <a:ext cx="901337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Documentation –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25</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401340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Engagement Team Definition – Feedback Received</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54990" y="961169"/>
            <a:ext cx="8497006" cy="3629492"/>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The IAASB supported retaining the ED-220 definition in paragraph 10(d) </a:t>
            </a:r>
          </a:p>
          <a:p>
            <a:pPr marL="342900"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Asked for clarity:</a:t>
            </a:r>
          </a:p>
          <a:p>
            <a:pPr marL="690372" lvl="2" indent="-3429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That component auditors are included </a:t>
            </a:r>
          </a:p>
          <a:p>
            <a:pPr marL="690372" lvl="2" indent="-342900">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On meaning of “perform audit procedures”</a:t>
            </a:r>
          </a:p>
          <a:p>
            <a:pPr marL="346075" lvl="1" indent="-346075">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IESBA representatives identified alignment issues with the proposals</a:t>
            </a:r>
          </a:p>
        </p:txBody>
      </p:sp>
      <p:sp>
        <p:nvSpPr>
          <p:cNvPr id="5" name="Slide Number Placeholder 5">
            <a:extLst>
              <a:ext uri="{FF2B5EF4-FFF2-40B4-BE49-F238E27FC236}">
                <a16:creationId xmlns:a16="http://schemas.microsoft.com/office/drawing/2014/main" id="{E431AA33-9654-418F-A3FA-319D722EB9D6}"/>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26</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441222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04746" y="817001"/>
            <a:ext cx="8515757" cy="371767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6075" lvl="0" indent="-346075" fontAlgn="auto">
              <a:spcBef>
                <a:spcPts val="0"/>
              </a:spcBef>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Simplified definition</a:t>
            </a:r>
          </a:p>
          <a:p>
            <a:pPr marL="346075" lvl="0" indent="-346075" fontAlgn="auto">
              <a:spcBef>
                <a:spcPts val="0"/>
              </a:spcBef>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Update on IESBA meeting</a:t>
            </a:r>
          </a:p>
          <a:p>
            <a:pPr marL="346075" lvl="0" indent="-346075" fontAlgn="auto">
              <a:spcBef>
                <a:spcPts val="0"/>
              </a:spcBef>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New application material on:</a:t>
            </a:r>
          </a:p>
          <a:p>
            <a:pPr marL="698119" lvl="1" indent="-346075" fontAlgn="auto">
              <a:spcBef>
                <a:spcPts val="0"/>
              </a:spcBef>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Which individuals are or are not members of the engagement team</a:t>
            </a:r>
          </a:p>
          <a:p>
            <a:pPr marL="698119" lvl="1" indent="-346075" fontAlgn="auto">
              <a:spcBef>
                <a:spcPts val="0"/>
              </a:spcBef>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Meaning of “perform audit procedures”</a:t>
            </a:r>
          </a:p>
          <a:p>
            <a:pPr marL="698119" lvl="1" indent="-346075" fontAlgn="auto">
              <a:spcBef>
                <a:spcPts val="0"/>
              </a:spcBef>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Firm policies or procedures for:</a:t>
            </a:r>
          </a:p>
          <a:p>
            <a:pPr marL="1045591" lvl="2" indent="-346075" fontAlgn="auto">
              <a:spcBef>
                <a:spcPts val="0"/>
              </a:spcBef>
              <a:spcAft>
                <a:spcPts val="600"/>
              </a:spcAft>
              <a:buFont typeface="Wingdings" panose="05000000000000000000" pitchFamily="2" charset="2"/>
              <a:buChar char="§"/>
              <a:defRPr/>
            </a:pPr>
            <a:r>
              <a:rPr lang="en-US" sz="2000" dirty="0">
                <a:solidFill>
                  <a:schemeClr val="tx1"/>
                </a:solidFill>
                <a:latin typeface="Arial" panose="020B0604020202020204" pitchFamily="34" charset="0"/>
                <a:cs typeface="Arial" panose="020B0604020202020204" pitchFamily="34" charset="0"/>
              </a:rPr>
              <a:t>Firm personnel </a:t>
            </a:r>
          </a:p>
          <a:p>
            <a:pPr marL="1045591" lvl="2" indent="-346075" fontAlgn="auto">
              <a:spcBef>
                <a:spcPts val="0"/>
              </a:spcBef>
              <a:spcAft>
                <a:spcPts val="600"/>
              </a:spcAft>
              <a:buFont typeface="Wingdings" panose="05000000000000000000" pitchFamily="2" charset="2"/>
              <a:buChar char="§"/>
              <a:defRPr/>
            </a:pPr>
            <a:r>
              <a:rPr lang="en-US" sz="2000" dirty="0">
                <a:solidFill>
                  <a:schemeClr val="tx1"/>
                </a:solidFill>
                <a:latin typeface="Arial" panose="020B0604020202020204" pitchFamily="34" charset="0"/>
                <a:cs typeface="Arial" panose="020B0604020202020204" pitchFamily="34" charset="0"/>
              </a:rPr>
              <a:t>Members of the engagement team from outside the firm</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04746" y="412188"/>
            <a:ext cx="9399494"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200" b="1" dirty="0"/>
              <a:t>Engagement Team Definition – Task Force Recommendations</a:t>
            </a:r>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27</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343105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4727" y="923483"/>
            <a:ext cx="8184792" cy="3480568"/>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spcAft>
                <a:spcPts val="600"/>
              </a:spcAft>
              <a:buNone/>
            </a:pPr>
            <a:r>
              <a:rPr lang="en-US" i="1" dirty="0">
                <a:solidFill>
                  <a:schemeClr val="tx1"/>
                </a:solidFill>
                <a:latin typeface="Arial" panose="020B0604020202020204" pitchFamily="34" charset="0"/>
                <a:cs typeface="Arial" panose="020B0604020202020204" pitchFamily="34" charset="0"/>
              </a:rPr>
              <a:t>6.	</a:t>
            </a:r>
            <a:r>
              <a:rPr lang="en-US" i="1" kern="400" dirty="0">
                <a:solidFill>
                  <a:schemeClr val="tx1"/>
                </a:solidFill>
                <a:latin typeface="Arial" panose="020B0604020202020204" pitchFamily="34" charset="0"/>
              </a:rPr>
              <a:t>Does the IAASB support the Task Force’s proposals:</a:t>
            </a:r>
          </a:p>
          <a:p>
            <a:pPr marL="804672" lvl="1" indent="-457200">
              <a:spcAft>
                <a:spcPts val="600"/>
              </a:spcAft>
              <a:buFont typeface="+mj-lt"/>
              <a:buAutoNum type="alphaLcParenR"/>
            </a:pPr>
            <a:r>
              <a:rPr lang="en-US" sz="2400" i="1" kern="400" dirty="0">
                <a:solidFill>
                  <a:schemeClr val="tx1"/>
                </a:solidFill>
                <a:latin typeface="Arial" panose="020B0604020202020204" pitchFamily="34" charset="0"/>
              </a:rPr>
              <a:t>In paragraphs 10(d) and A16–A19A to clarify the definition of an engagement team?</a:t>
            </a:r>
          </a:p>
          <a:p>
            <a:pPr marL="804672" lvl="1" indent="-457200">
              <a:spcAft>
                <a:spcPts val="600"/>
              </a:spcAft>
              <a:buFont typeface="+mj-lt"/>
              <a:buAutoNum type="alphaLcParenR"/>
            </a:pPr>
            <a:r>
              <a:rPr lang="en-US" sz="2400" i="1" dirty="0">
                <a:solidFill>
                  <a:schemeClr val="tx1"/>
                </a:solidFill>
                <a:latin typeface="Arial" panose="020B0604020202020204" pitchFamily="34" charset="0"/>
              </a:rPr>
              <a:t>In paragraphs A31–A40 to recognize the special implications of including non-network component auditors in the engagement team and the implications for the firm’s policies or procedures?</a:t>
            </a:r>
            <a:endParaRPr lang="en-US" sz="2400" i="1" dirty="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324727" y="427038"/>
            <a:ext cx="8819272"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defTabSz="461963">
              <a:lnSpc>
                <a:spcPts val="2400"/>
              </a:lnSpc>
            </a:pPr>
            <a:r>
              <a:rPr lang="en-US" sz="2200" b="1" dirty="0"/>
              <a:t>Engagement Team Definition – Matters for IAASB Consideration</a:t>
            </a:r>
          </a:p>
          <a:p>
            <a:pPr marL="347472">
              <a:lnSpc>
                <a:spcPts val="2400"/>
              </a:lnSpc>
            </a:pPr>
            <a:endParaRPr lang="en-US" sz="2400" b="1" dirty="0"/>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28</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430018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431714"/>
            <a:ext cx="8963655" cy="400110"/>
          </a:xfrm>
          <a:prstGeom prst="rect">
            <a:avLst/>
          </a:prstGeom>
          <a:noFill/>
        </p:spPr>
        <p:txBody>
          <a:bodyPr wrap="square" rtlCol="0">
            <a:spAutoFit/>
          </a:bodyPr>
          <a:lstStyle/>
          <a:p>
            <a:r>
              <a:rPr lang="en-US" sz="2000" b="1" dirty="0">
                <a:solidFill>
                  <a:schemeClr val="bg1"/>
                </a:solidFill>
                <a:latin typeface="Arial" panose="020B0604020202020204" pitchFamily="34" charset="0"/>
                <a:cs typeface="Arial" panose="020B0604020202020204" pitchFamily="34" charset="0"/>
              </a:rPr>
              <a:t>Engagement Partner’s Overall Responsibility – Feedback Received</a:t>
            </a:r>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45659" y="940642"/>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57200" lvl="1" indent="-457200">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Need for balance between engagement partner’s overall responsibility and ability to fulfill requirements</a:t>
            </a:r>
          </a:p>
        </p:txBody>
      </p:sp>
      <p:sp>
        <p:nvSpPr>
          <p:cNvPr id="5" name="Slide Number Placeholder 5">
            <a:extLst>
              <a:ext uri="{FF2B5EF4-FFF2-40B4-BE49-F238E27FC236}">
                <a16:creationId xmlns:a16="http://schemas.microsoft.com/office/drawing/2014/main" id="{1B81BF21-87EA-41C8-A223-7EF884419B9E}"/>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29</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644069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13892255"/>
              </p:ext>
            </p:extLst>
          </p:nvPr>
        </p:nvGraphicFramePr>
        <p:xfrm>
          <a:off x="457200" y="953766"/>
          <a:ext cx="8497006" cy="4799863"/>
        </p:xfrm>
        <a:graphic>
          <a:graphicData uri="http://schemas.openxmlformats.org/drawingml/2006/table">
            <a:tbl>
              <a:tblPr firstRow="1" bandRow="1">
                <a:tableStyleId>{5C22544A-7EE6-4342-B048-85BDC9FD1C3A}</a:tableStyleId>
              </a:tblPr>
              <a:tblGrid>
                <a:gridCol w="8497006">
                  <a:extLst>
                    <a:ext uri="{9D8B030D-6E8A-4147-A177-3AD203B41FA5}">
                      <a16:colId xmlns:a16="http://schemas.microsoft.com/office/drawing/2014/main" val="713251629"/>
                    </a:ext>
                  </a:extLst>
                </a:gridCol>
              </a:tblGrid>
              <a:tr h="3605785">
                <a:tc>
                  <a:txBody>
                    <a:bodyPr/>
                    <a:lstStyle/>
                    <a:p>
                      <a:pPr marL="342900" marR="0" lvl="1" indent="-342900"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800" b="0" kern="1200" dirty="0">
                          <a:solidFill>
                            <a:schemeClr val="tx1"/>
                          </a:solidFill>
                          <a:latin typeface="Arial" panose="020B0604020202020204" pitchFamily="34" charset="0"/>
                          <a:ea typeface="ＭＳ Ｐゴシック" charset="0"/>
                          <a:cs typeface="Arial" panose="020B0604020202020204" pitchFamily="34" charset="0"/>
                        </a:rPr>
                        <a:t>Engagement partner’s responsibilities:</a:t>
                      </a:r>
                    </a:p>
                    <a:p>
                      <a:pPr marL="690372" marR="0" lvl="2" indent="-342900" algn="l" defTabSz="342900" rtl="0" eaLnBrk="1" fontAlgn="base" latinLnBrk="0" hangingPunct="1">
                        <a:lnSpc>
                          <a:spcPct val="100000"/>
                        </a:lnSpc>
                        <a:spcBef>
                          <a:spcPts val="776"/>
                        </a:spcBef>
                        <a:spcAft>
                          <a:spcPts val="600"/>
                        </a:spcAft>
                        <a:buClrTx/>
                        <a:buSzTx/>
                        <a:buFont typeface="Courier New" panose="02070309020205020404" pitchFamily="49" charset="0"/>
                        <a:buChar char="o"/>
                        <a:tabLst/>
                        <a:defRPr/>
                      </a:pPr>
                      <a:r>
                        <a:rPr lang="en-US" sz="2400" b="0" kern="1200" dirty="0">
                          <a:solidFill>
                            <a:schemeClr val="tx1"/>
                          </a:solidFill>
                          <a:latin typeface="Arial" panose="020B0604020202020204" pitchFamily="34" charset="0"/>
                          <a:ea typeface="ＭＳ Ｐゴシック" charset="0"/>
                          <a:cs typeface="Arial" panose="020B0604020202020204" pitchFamily="34" charset="0"/>
                        </a:rPr>
                        <a:t>“Engagement partner shall” – sole responsibility </a:t>
                      </a:r>
                    </a:p>
                    <a:p>
                      <a:pPr marL="690372" marR="0" lvl="2" indent="-342900" algn="l" defTabSz="342900" rtl="0" eaLnBrk="1" fontAlgn="base" latinLnBrk="0" hangingPunct="1">
                        <a:lnSpc>
                          <a:spcPct val="100000"/>
                        </a:lnSpc>
                        <a:spcBef>
                          <a:spcPts val="776"/>
                        </a:spcBef>
                        <a:spcAft>
                          <a:spcPts val="600"/>
                        </a:spcAft>
                        <a:buClrTx/>
                        <a:buSzTx/>
                        <a:buFont typeface="Courier New" panose="02070309020205020404" pitchFamily="49" charset="0"/>
                        <a:buChar char="o"/>
                        <a:tabLst/>
                        <a:defRPr/>
                      </a:pPr>
                      <a:r>
                        <a:rPr lang="en-US" sz="2400" b="0" kern="1200" dirty="0">
                          <a:solidFill>
                            <a:schemeClr val="tx1"/>
                          </a:solidFill>
                          <a:latin typeface="Arial" panose="020B0604020202020204" pitchFamily="34" charset="0"/>
                          <a:ea typeface="ＭＳ Ｐゴシック" charset="0"/>
                          <a:cs typeface="Arial" panose="020B0604020202020204" pitchFamily="34" charset="0"/>
                        </a:rPr>
                        <a:t>“Engagement partner shall take responsibility” – may be assisted</a:t>
                      </a:r>
                    </a:p>
                    <a:p>
                      <a:pPr marL="342900" marR="0" lvl="1" indent="-342900"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800" b="0" kern="1200" dirty="0">
                          <a:solidFill>
                            <a:schemeClr val="tx1"/>
                          </a:solidFill>
                          <a:latin typeface="Arial" panose="020B0604020202020204" pitchFamily="34" charset="0"/>
                          <a:ea typeface="ＭＳ Ｐゴシック" charset="0"/>
                          <a:cs typeface="Arial" panose="020B0604020202020204" pitchFamily="34" charset="0"/>
                        </a:rPr>
                        <a:t>Other changes:</a:t>
                      </a:r>
                    </a:p>
                    <a:p>
                      <a:pPr marL="690372" marR="0" lvl="2" indent="-342900" algn="l" defTabSz="342900" rtl="0" eaLnBrk="1" fontAlgn="base" latinLnBrk="0" hangingPunct="1">
                        <a:lnSpc>
                          <a:spcPct val="100000"/>
                        </a:lnSpc>
                        <a:spcBef>
                          <a:spcPts val="776"/>
                        </a:spcBef>
                        <a:spcAft>
                          <a:spcPts val="600"/>
                        </a:spcAft>
                        <a:buClrTx/>
                        <a:buSzTx/>
                        <a:buFont typeface="Courier New" panose="02070309020205020404" pitchFamily="49" charset="0"/>
                        <a:buChar char="o"/>
                        <a:tabLst/>
                        <a:defRPr/>
                      </a:pPr>
                      <a:r>
                        <a:rPr lang="en-US" sz="2400" b="0" kern="1200" dirty="0">
                          <a:solidFill>
                            <a:schemeClr val="tx1"/>
                          </a:solidFill>
                          <a:latin typeface="Arial" panose="020B0604020202020204" pitchFamily="34" charset="0"/>
                          <a:ea typeface="ＭＳ Ｐゴシック" charset="0"/>
                          <a:cs typeface="Arial" panose="020B0604020202020204" pitchFamily="34" charset="0"/>
                        </a:rPr>
                        <a:t>“Be satisfied” changed to “be determine”</a:t>
                      </a:r>
                    </a:p>
                    <a:p>
                      <a:pPr marL="690372" marR="0" lvl="2" indent="-342900" algn="l" defTabSz="342900" rtl="0" eaLnBrk="1" fontAlgn="base" latinLnBrk="0" hangingPunct="1">
                        <a:lnSpc>
                          <a:spcPct val="100000"/>
                        </a:lnSpc>
                        <a:spcBef>
                          <a:spcPts val="776"/>
                        </a:spcBef>
                        <a:spcAft>
                          <a:spcPts val="600"/>
                        </a:spcAft>
                        <a:buClrTx/>
                        <a:buSzTx/>
                        <a:buFont typeface="Courier New" panose="02070309020205020404" pitchFamily="49" charset="0"/>
                        <a:buChar char="o"/>
                        <a:tabLst/>
                        <a:defRPr/>
                      </a:pPr>
                      <a:r>
                        <a:rPr lang="en-US" sz="2400" b="0" kern="1200" dirty="0">
                          <a:solidFill>
                            <a:schemeClr val="tx1"/>
                          </a:solidFill>
                          <a:latin typeface="Arial" panose="020B0604020202020204" pitchFamily="34" charset="0"/>
                          <a:ea typeface="ＭＳ Ｐゴシック" charset="0"/>
                          <a:cs typeface="Arial" panose="020B0604020202020204" pitchFamily="34" charset="0"/>
                        </a:rPr>
                        <a:t>Joint audits addressed</a:t>
                      </a:r>
                    </a:p>
                  </a:txBody>
                  <a:tcPr>
                    <a:noFill/>
                  </a:tcPr>
                </a:tc>
                <a:extLst>
                  <a:ext uri="{0D108BD9-81ED-4DB2-BD59-A6C34878D82A}">
                    <a16:rowId xmlns:a16="http://schemas.microsoft.com/office/drawing/2014/main" val="493788776"/>
                  </a:ext>
                </a:extLst>
              </a:tr>
              <a:tr h="1137183">
                <a:tc>
                  <a:txBody>
                    <a:bodyPr/>
                    <a:lstStyle/>
                    <a:p>
                      <a:pPr marL="0" marR="0" lvl="1" indent="0" algn="just" defTabSz="342900" rtl="0" eaLnBrk="1" fontAlgn="auto" latinLnBrk="0" hangingPunct="1">
                        <a:lnSpc>
                          <a:spcPct val="100000"/>
                        </a:lnSpc>
                        <a:spcBef>
                          <a:spcPts val="776"/>
                        </a:spcBef>
                        <a:spcAft>
                          <a:spcPts val="600"/>
                        </a:spcAft>
                        <a:buClrTx/>
                        <a:buSzTx/>
                        <a:buFont typeface="Arial" panose="020B0604020202020204" pitchFamily="34" charset="0"/>
                        <a:buNone/>
                        <a:tabLst/>
                        <a:defRPr/>
                      </a:pPr>
                      <a:endParaRPr lang="en-US" sz="2800" b="0" kern="1200" dirty="0">
                        <a:solidFill>
                          <a:schemeClr val="tx1"/>
                        </a:solidFill>
                        <a:latin typeface="Arial" panose="020B0604020202020204" pitchFamily="34" charset="0"/>
                        <a:ea typeface="ＭＳ Ｐゴシック" charset="0"/>
                        <a:cs typeface="Arial" panose="020B0604020202020204" pitchFamily="34" charset="0"/>
                      </a:endParaRPr>
                    </a:p>
                  </a:txBody>
                  <a:tcPr>
                    <a:noFill/>
                  </a:tcPr>
                </a:tc>
                <a:extLst>
                  <a:ext uri="{0D108BD9-81ED-4DB2-BD59-A6C34878D82A}">
                    <a16:rowId xmlns:a16="http://schemas.microsoft.com/office/drawing/2014/main" val="295458732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526728"/>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b="1" dirty="0"/>
              <a:t>Engagement Partner’s Overall Responsibility – Task Force Recommendations</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30</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186350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270588" y="1017037"/>
            <a:ext cx="8332236" cy="3758152"/>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61963" lvl="0" indent="-461963">
              <a:spcAft>
                <a:spcPts val="600"/>
              </a:spcAft>
              <a:buNone/>
            </a:pPr>
            <a:r>
              <a:rPr lang="en-US" sz="2800" i="1" dirty="0">
                <a:solidFill>
                  <a:schemeClr val="tx1"/>
                </a:solidFill>
                <a:latin typeface="Arial" panose="020B0604020202020204" pitchFamily="34" charset="0"/>
                <a:cs typeface="Arial" panose="020B0604020202020204" pitchFamily="34" charset="0"/>
              </a:rPr>
              <a:t>7.	Does the IAASB prefer the approach to addressing direction, supervision and review as set forth in </a:t>
            </a:r>
            <a:r>
              <a:rPr lang="en-US" sz="2800" b="1" i="1" dirty="0">
                <a:solidFill>
                  <a:schemeClr val="tx1"/>
                </a:solidFill>
                <a:latin typeface="Arial" panose="020B0604020202020204" pitchFamily="34" charset="0"/>
                <a:cs typeface="Arial" panose="020B0604020202020204" pitchFamily="34" charset="0"/>
              </a:rPr>
              <a:t>Agenda Item 9-B</a:t>
            </a:r>
            <a:r>
              <a:rPr lang="en-US" sz="2800" i="1" dirty="0">
                <a:solidFill>
                  <a:schemeClr val="tx1"/>
                </a:solidFill>
                <a:latin typeface="Arial" panose="020B0604020202020204" pitchFamily="34" charset="0"/>
                <a:cs typeface="Arial" panose="020B0604020202020204" pitchFamily="34" charset="0"/>
              </a:rPr>
              <a:t> or the alternative treatment (</a:t>
            </a:r>
            <a:r>
              <a:rPr lang="en-US" sz="2800" b="1" i="1" dirty="0">
                <a:solidFill>
                  <a:schemeClr val="tx1"/>
                </a:solidFill>
                <a:latin typeface="Arial" panose="020B0604020202020204" pitchFamily="34" charset="0"/>
                <a:cs typeface="Arial" panose="020B0604020202020204" pitchFamily="34" charset="0"/>
              </a:rPr>
              <a:t>Agenda Item 9</a:t>
            </a:r>
            <a:r>
              <a:rPr lang="en-US" sz="2800" i="1" dirty="0">
                <a:solidFill>
                  <a:schemeClr val="tx1"/>
                </a:solidFill>
                <a:latin typeface="Arial" panose="020B0604020202020204" pitchFamily="34" charset="0"/>
                <a:cs typeface="Arial" panose="020B0604020202020204" pitchFamily="34" charset="0"/>
              </a:rPr>
              <a:t>, Appendix 3)?</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30262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233363">
              <a:lnSpc>
                <a:spcPts val="2400"/>
              </a:lnSpc>
            </a:pPr>
            <a:r>
              <a:rPr lang="en-US" b="1" dirty="0"/>
              <a:t>Engagement Partner’s Overall Responsibility – Matter for IAASB </a:t>
            </a:r>
            <a:r>
              <a:rPr lang="en-US" sz="2000" b="1" dirty="0"/>
              <a:t>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31</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059945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Direction, Supervision and Review – Feedback Received</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45659" y="940642"/>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algn="just">
              <a:spcAft>
                <a:spcPts val="600"/>
              </a:spcAft>
              <a:buChar char="•"/>
            </a:pPr>
            <a:r>
              <a:rPr lang="en-US" sz="2800" dirty="0">
                <a:solidFill>
                  <a:schemeClr val="tx1"/>
                </a:solidFill>
                <a:latin typeface="Arial" panose="020B0604020202020204" pitchFamily="34" charset="0"/>
                <a:cs typeface="Arial" panose="020B0604020202020204" pitchFamily="34" charset="0"/>
              </a:rPr>
              <a:t>Related to the definition and the practicality of the engagement partner’s responsibilities:</a:t>
            </a:r>
          </a:p>
          <a:p>
            <a:pPr marL="690372" lvl="2" indent="-342900" algn="just">
              <a:spcAft>
                <a:spcPts val="600"/>
              </a:spcAft>
              <a:buFont typeface="Courier New" panose="02070309020205020404" pitchFamily="49" charset="0"/>
              <a:buChar char="o"/>
            </a:pPr>
            <a:r>
              <a:rPr lang="en-US" sz="2400" dirty="0">
                <a:solidFill>
                  <a:schemeClr val="tx1"/>
                </a:solidFill>
                <a:latin typeface="Arial" panose="020B0604020202020204" pitchFamily="34" charset="0"/>
                <a:cs typeface="Arial" panose="020B0604020202020204" pitchFamily="34" charset="0"/>
              </a:rPr>
              <a:t>Need to address practical issues </a:t>
            </a:r>
          </a:p>
          <a:p>
            <a:pPr algn="just">
              <a:spcAft>
                <a:spcPts val="600"/>
              </a:spcAft>
              <a:buFont typeface="Courier New" panose="02070309020205020404" pitchFamily="49" charset="0"/>
              <a:buChar char="o"/>
            </a:pPr>
            <a:endParaRPr lang="en-US" dirty="0">
              <a:solidFill>
                <a:schemeClr val="tx1"/>
              </a:solidFill>
              <a:latin typeface="Arial" panose="020B0604020202020204" pitchFamily="34" charset="0"/>
              <a:cs typeface="Arial" panose="020B0604020202020204" pitchFamily="34" charset="0"/>
            </a:endParaRPr>
          </a:p>
        </p:txBody>
      </p:sp>
      <p:sp>
        <p:nvSpPr>
          <p:cNvPr id="5" name="Slide Number Placeholder 5">
            <a:extLst>
              <a:ext uri="{FF2B5EF4-FFF2-40B4-BE49-F238E27FC236}">
                <a16:creationId xmlns:a16="http://schemas.microsoft.com/office/drawing/2014/main" id="{9B4E4FAE-D8CB-4C1D-A695-CBEC337B8D6A}"/>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32</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134132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3700112"/>
              </p:ext>
            </p:extLst>
          </p:nvPr>
        </p:nvGraphicFramePr>
        <p:xfrm>
          <a:off x="323497" y="936509"/>
          <a:ext cx="8497006" cy="4410520"/>
        </p:xfrm>
        <a:graphic>
          <a:graphicData uri="http://schemas.openxmlformats.org/drawingml/2006/table">
            <a:tbl>
              <a:tblPr firstRow="1" bandRow="1">
                <a:tableStyleId>{5C22544A-7EE6-4342-B048-85BDC9FD1C3A}</a:tableStyleId>
              </a:tblPr>
              <a:tblGrid>
                <a:gridCol w="8497006">
                  <a:extLst>
                    <a:ext uri="{9D8B030D-6E8A-4147-A177-3AD203B41FA5}">
                      <a16:colId xmlns:a16="http://schemas.microsoft.com/office/drawing/2014/main" val="713251629"/>
                    </a:ext>
                  </a:extLst>
                </a:gridCol>
              </a:tblGrid>
              <a:tr h="3833171">
                <a:tc>
                  <a:txBody>
                    <a:bodyPr/>
                    <a:lstStyle/>
                    <a:p>
                      <a:pPr marL="347472" marR="0" lvl="0" indent="-347472"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Consider an explicit requirement for the engagement partner to set out planned level of direction, supervision and review</a:t>
                      </a:r>
                    </a:p>
                    <a:p>
                      <a:pPr marL="347472" marR="0" lvl="0" indent="-347472"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Clarify responsibilities the engagement partner may assign to other engagement team members</a:t>
                      </a:r>
                    </a:p>
                    <a:p>
                      <a:pPr marL="347472" marR="0" lvl="0" indent="-347472"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Consider application material related to the definition of the engagement team</a:t>
                      </a:r>
                    </a:p>
                    <a:p>
                      <a:pPr marL="347472" marR="0" lvl="0" indent="-347472"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400" b="0" kern="1200" dirty="0">
                          <a:solidFill>
                            <a:schemeClr val="tx1"/>
                          </a:solidFill>
                          <a:effectLst/>
                          <a:latin typeface="Arial" panose="020B0604020202020204" pitchFamily="34" charset="0"/>
                          <a:ea typeface="+mn-ea"/>
                          <a:cs typeface="Arial" panose="020B0604020202020204" pitchFamily="34" charset="0"/>
                        </a:rPr>
                        <a:t>Coordinate with ISA 600 Task Force on the application of the requirements in group audits</a:t>
                      </a:r>
                    </a:p>
                    <a:p>
                      <a:r>
                        <a:rPr lang="en-US" sz="1350" b="1" kern="1200" baseline="30000" dirty="0">
                          <a:solidFill>
                            <a:schemeClr val="lt1"/>
                          </a:solidFill>
                          <a:effectLst/>
                          <a:latin typeface="+mn-lt"/>
                          <a:ea typeface="+mn-ea"/>
                          <a:cs typeface="+mn-cs"/>
                        </a:rPr>
                        <a:t>	</a:t>
                      </a:r>
                      <a:r>
                        <a:rPr lang="en-US" sz="1350" b="1" kern="1200" dirty="0">
                          <a:solidFill>
                            <a:schemeClr val="lt1"/>
                          </a:solidFill>
                          <a:effectLst/>
                          <a:latin typeface="+mn-lt"/>
                          <a:ea typeface="+mn-ea"/>
                          <a:cs typeface="+mn-cs"/>
                        </a:rPr>
                        <a:t> </a:t>
                      </a:r>
                    </a:p>
                    <a:p>
                      <a:pPr marL="347472" marR="0" lvl="0" indent="-347472" algn="just" defTabSz="342900" rtl="0" eaLnBrk="1" fontAlgn="auto" latinLnBrk="0" hangingPunct="1">
                        <a:lnSpc>
                          <a:spcPts val="1800"/>
                        </a:lnSpc>
                        <a:spcBef>
                          <a:spcPts val="0"/>
                        </a:spcBef>
                        <a:spcAft>
                          <a:spcPts val="0"/>
                        </a:spcAft>
                        <a:buClrTx/>
                        <a:buSzTx/>
                        <a:buFont typeface="Arial" panose="020B0604020202020204" pitchFamily="34" charset="0"/>
                        <a:buChar char="•"/>
                        <a:tabLst/>
                        <a:defRPr/>
                      </a:pPr>
                      <a:endParaRPr lang="en-US" sz="1400" b="0" kern="1200" dirty="0">
                        <a:solidFill>
                          <a:schemeClr val="lt1"/>
                        </a:solidFill>
                        <a:effectLst/>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000" b="1" dirty="0"/>
              <a:t>Direction, Supervision and Review – Task Force Recommendations</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33</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114098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189794" y="951722"/>
            <a:ext cx="8497006" cy="3823467"/>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461963" lvl="0" indent="-461963">
              <a:spcAft>
                <a:spcPts val="600"/>
              </a:spcAft>
              <a:buNone/>
            </a:pPr>
            <a:r>
              <a:rPr lang="en-US" sz="2800" i="1" dirty="0">
                <a:solidFill>
                  <a:schemeClr val="tx1"/>
                </a:solidFill>
                <a:latin typeface="Arial" panose="020B0604020202020204" pitchFamily="34" charset="0"/>
                <a:cs typeface="Arial" panose="020B0604020202020204" pitchFamily="34" charset="0"/>
              </a:rPr>
              <a:t>8.	Does the IAASB agree with the Task Force’s proposals to address the Board’s comments highlighted in paragraphs 72‒73 related to direction, supervision and review?</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298580" y="427038"/>
            <a:ext cx="884542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a:lnSpc>
                <a:spcPts val="2400"/>
              </a:lnSpc>
            </a:pPr>
            <a:r>
              <a:rPr lang="en-US" sz="2000" b="1" dirty="0"/>
              <a:t>Direction, Supervision and Review –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34</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568991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50886398"/>
              </p:ext>
            </p:extLst>
          </p:nvPr>
        </p:nvGraphicFramePr>
        <p:xfrm>
          <a:off x="323497" y="1027627"/>
          <a:ext cx="8497006" cy="3833171"/>
        </p:xfrm>
        <a:graphic>
          <a:graphicData uri="http://schemas.openxmlformats.org/drawingml/2006/table">
            <a:tbl>
              <a:tblPr firstRow="1" bandRow="1">
                <a:tableStyleId>{5C22544A-7EE6-4342-B048-85BDC9FD1C3A}</a:tableStyleId>
              </a:tblPr>
              <a:tblGrid>
                <a:gridCol w="8497006">
                  <a:extLst>
                    <a:ext uri="{9D8B030D-6E8A-4147-A177-3AD203B41FA5}">
                      <a16:colId xmlns:a16="http://schemas.microsoft.com/office/drawing/2014/main" val="713251629"/>
                    </a:ext>
                  </a:extLst>
                </a:gridCol>
              </a:tblGrid>
              <a:tr h="3833171">
                <a:tc>
                  <a:txBody>
                    <a:bodyPr/>
                    <a:lstStyle/>
                    <a:p>
                      <a:pPr marL="342900" marR="0" lvl="1" indent="-342900"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800" b="0" kern="1200" dirty="0">
                          <a:solidFill>
                            <a:schemeClr val="tx1"/>
                          </a:solidFill>
                          <a:latin typeface="Arial" panose="020B0604020202020204" pitchFamily="34" charset="0"/>
                          <a:ea typeface="ＭＳ Ｐゴシック" charset="0"/>
                          <a:cs typeface="Arial" panose="020B0604020202020204" pitchFamily="34" charset="0"/>
                        </a:rPr>
                        <a:t>The engagement team shouldn’t “blindly rely on” the firm’s system of quality management</a:t>
                      </a:r>
                    </a:p>
                    <a:p>
                      <a:pPr marL="804863" marR="0" lvl="1" indent="-457200" algn="l" defTabSz="342900" rtl="0" eaLnBrk="1" fontAlgn="auto" latinLnBrk="0" hangingPunct="1">
                        <a:lnSpc>
                          <a:spcPct val="100000"/>
                        </a:lnSpc>
                        <a:spcBef>
                          <a:spcPts val="776"/>
                        </a:spcBef>
                        <a:spcAft>
                          <a:spcPts val="600"/>
                        </a:spcAft>
                        <a:buClrTx/>
                        <a:buSzTx/>
                        <a:buFont typeface="Courier New" panose="02070309020205020404" pitchFamily="49" charset="0"/>
                        <a:buChar char="o"/>
                        <a:tabLst/>
                        <a:defRPr/>
                      </a:pPr>
                      <a:r>
                        <a:rPr lang="en-US" sz="2400" b="0" kern="1200" dirty="0">
                          <a:solidFill>
                            <a:schemeClr val="tx1"/>
                          </a:solidFill>
                          <a:latin typeface="Arial" panose="020B0604020202020204" pitchFamily="34" charset="0"/>
                          <a:ea typeface="ＭＳ Ｐゴシック" charset="0"/>
                          <a:cs typeface="Arial" panose="020B0604020202020204" pitchFamily="34" charset="0"/>
                        </a:rPr>
                        <a:t>But, the engagement team should ordinarily be able to depend on the firm’s policies or procedures</a:t>
                      </a: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000" b="1" dirty="0"/>
              <a:t>Ability to Depend on the Firm’s SOQM – Feedback Received</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35</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777020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07176159"/>
              </p:ext>
            </p:extLst>
          </p:nvPr>
        </p:nvGraphicFramePr>
        <p:xfrm>
          <a:off x="323497" y="1027627"/>
          <a:ext cx="8497006" cy="3833171"/>
        </p:xfrm>
        <a:graphic>
          <a:graphicData uri="http://schemas.openxmlformats.org/drawingml/2006/table">
            <a:tbl>
              <a:tblPr firstRow="1" bandRow="1">
                <a:tableStyleId>{5C22544A-7EE6-4342-B048-85BDC9FD1C3A}</a:tableStyleId>
              </a:tblPr>
              <a:tblGrid>
                <a:gridCol w="8497006">
                  <a:extLst>
                    <a:ext uri="{9D8B030D-6E8A-4147-A177-3AD203B41FA5}">
                      <a16:colId xmlns:a16="http://schemas.microsoft.com/office/drawing/2014/main" val="713251629"/>
                    </a:ext>
                  </a:extLst>
                </a:gridCol>
              </a:tblGrid>
              <a:tr h="3833171">
                <a:tc>
                  <a:txBody>
                    <a:bodyPr/>
                    <a:lstStyle/>
                    <a:p>
                      <a:pPr marL="342900" marR="0" lvl="1" indent="-342900" algn="l" defTabSz="342900" rtl="0" eaLnBrk="1" fontAlgn="auto" latinLnBrk="0" hangingPunct="1">
                        <a:lnSpc>
                          <a:spcPct val="100000"/>
                        </a:lnSpc>
                        <a:spcBef>
                          <a:spcPts val="776"/>
                        </a:spcBef>
                        <a:spcAft>
                          <a:spcPts val="600"/>
                        </a:spcAft>
                        <a:buClrTx/>
                        <a:buSzTx/>
                        <a:buFont typeface="Arial" panose="020B0604020202020204" pitchFamily="34" charset="0"/>
                        <a:buChar char="•"/>
                        <a:tabLst/>
                        <a:defRPr/>
                      </a:pPr>
                      <a:r>
                        <a:rPr lang="en-US" sz="2800" b="0" kern="1200" dirty="0">
                          <a:solidFill>
                            <a:schemeClr val="tx1"/>
                          </a:solidFill>
                          <a:latin typeface="Arial" panose="020B0604020202020204" pitchFamily="34" charset="0"/>
                          <a:ea typeface="ＭＳ Ｐゴシック" charset="0"/>
                          <a:cs typeface="Arial" panose="020B0604020202020204" pitchFamily="34" charset="0"/>
                        </a:rPr>
                        <a:t>Clarified ability to depend on the firm’s system of quality management except in certain cases</a:t>
                      </a:r>
                    </a:p>
                  </a:txBody>
                  <a:tcPr>
                    <a:noFill/>
                  </a:tcPr>
                </a:tc>
                <a:extLst>
                  <a:ext uri="{0D108BD9-81ED-4DB2-BD59-A6C34878D82A}">
                    <a16:rowId xmlns:a16="http://schemas.microsoft.com/office/drawing/2014/main" val="493788776"/>
                  </a:ext>
                </a:extLst>
              </a:tr>
            </a:tbl>
          </a:graphicData>
        </a:graphic>
      </p:graphicFrame>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000" b="1" dirty="0"/>
              <a:t>Ability to Depend on the Firm’s SOQM – Task Force Recommendations</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36</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24756040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273F7-70C1-6846-9289-32B1DBD9EF1C}"/>
              </a:ext>
            </a:extLst>
          </p:cNvPr>
          <p:cNvSpPr txBox="1"/>
          <p:nvPr/>
        </p:nvSpPr>
        <p:spPr>
          <a:xfrm>
            <a:off x="180345" y="366400"/>
            <a:ext cx="8963655" cy="669414"/>
          </a:xfrm>
          <a:prstGeom prst="rect">
            <a:avLst/>
          </a:prstGeom>
          <a:noFill/>
        </p:spPr>
        <p:txBody>
          <a:bodyPr wrap="square" rtlCol="0">
            <a:spAutoFit/>
          </a:bodyPr>
          <a:lstStyle/>
          <a:p>
            <a:pPr marL="227013"/>
            <a:r>
              <a:rPr lang="en-US" sz="2400" b="1" dirty="0">
                <a:solidFill>
                  <a:schemeClr val="bg1"/>
                </a:solidFill>
                <a:latin typeface="Arial" panose="020B0604020202020204" pitchFamily="34" charset="0"/>
                <a:cs typeface="Arial" panose="020B0604020202020204" pitchFamily="34" charset="0"/>
              </a:rPr>
              <a:t>Scalability – Feedback Received</a:t>
            </a:r>
          </a:p>
          <a:p>
            <a:endParaRPr lang="en-US" dirty="0"/>
          </a:p>
        </p:txBody>
      </p:sp>
      <p:sp>
        <p:nvSpPr>
          <p:cNvPr id="4" name="Content Placeholder 1">
            <a:extLst>
              <a:ext uri="{FF2B5EF4-FFF2-40B4-BE49-F238E27FC236}">
                <a16:creationId xmlns:a16="http://schemas.microsoft.com/office/drawing/2014/main" id="{9B97F64C-F077-4195-8724-2D1DE4CA4A4E}"/>
              </a:ext>
            </a:extLst>
          </p:cNvPr>
          <p:cNvSpPr txBox="1">
            <a:spLocks/>
          </p:cNvSpPr>
          <p:nvPr/>
        </p:nvSpPr>
        <p:spPr>
          <a:xfrm>
            <a:off x="245659" y="940642"/>
            <a:ext cx="8497006" cy="4468958"/>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2900" lvl="1" indent="-342900" fontAlgn="auto">
              <a:spcAft>
                <a:spcPts val="600"/>
              </a:spcAft>
              <a:buFont typeface="Arial" panose="020B0604020202020204" pitchFamily="34" charset="0"/>
              <a:buChar char="•"/>
              <a:defRPr/>
            </a:pPr>
            <a:r>
              <a:rPr lang="en-US" sz="2800" dirty="0">
                <a:solidFill>
                  <a:schemeClr val="tx1"/>
                </a:solidFill>
                <a:latin typeface="Arial" panose="020B0604020202020204" pitchFamily="34" charset="0"/>
                <a:cs typeface="Arial" panose="020B0604020202020204" pitchFamily="34" charset="0"/>
              </a:rPr>
              <a:t>The IAASB supported Task Force proposals to retain material related to scalability for audits of less complex entities (LCEs)</a:t>
            </a:r>
          </a:p>
          <a:p>
            <a:pPr marL="804863" lvl="1" indent="-457200" fontAlgn="auto">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Address clarity of requirements for which the engagement partner may receive assistance</a:t>
            </a:r>
          </a:p>
          <a:p>
            <a:pPr marL="804863" lvl="1" indent="-457200" fontAlgn="auto">
              <a:spcAft>
                <a:spcPts val="600"/>
              </a:spcAft>
              <a:buFont typeface="Courier New" panose="02070309020205020404" pitchFamily="49" charset="0"/>
              <a:buChar char="o"/>
              <a:defRPr/>
            </a:pPr>
            <a:r>
              <a:rPr lang="en-US" sz="2400" dirty="0">
                <a:solidFill>
                  <a:schemeClr val="tx1"/>
                </a:solidFill>
                <a:latin typeface="Arial" panose="020B0604020202020204" pitchFamily="34" charset="0"/>
                <a:cs typeface="Arial" panose="020B0604020202020204" pitchFamily="34" charset="0"/>
              </a:rPr>
              <a:t>Consider implementation guidance for audits of LCEs and of more complex entities (“upward scalability”)</a:t>
            </a:r>
          </a:p>
          <a:p>
            <a:pPr algn="just">
              <a:spcAft>
                <a:spcPts val="600"/>
              </a:spcAft>
            </a:pPr>
            <a:endParaRPr lang="en-US" sz="2800" dirty="0">
              <a:solidFill>
                <a:schemeClr val="tx1"/>
              </a:solidFill>
              <a:latin typeface="Arial" panose="020B0604020202020204" pitchFamily="34" charset="0"/>
              <a:cs typeface="Arial" panose="020B0604020202020204" pitchFamily="34" charset="0"/>
            </a:endParaRPr>
          </a:p>
        </p:txBody>
      </p:sp>
      <p:sp>
        <p:nvSpPr>
          <p:cNvPr id="5" name="Slide Number Placeholder 5">
            <a:extLst>
              <a:ext uri="{FF2B5EF4-FFF2-40B4-BE49-F238E27FC236}">
                <a16:creationId xmlns:a16="http://schemas.microsoft.com/office/drawing/2014/main" id="{3B405174-16E0-4E05-B801-241B0C2AC8BF}"/>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37</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323119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323497" y="920617"/>
            <a:ext cx="8497006" cy="3837986"/>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7472" lvl="0" indent="-347472">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New introductory material to clarify that requirements are applied to the nature and circumstances of the audit</a:t>
            </a:r>
          </a:p>
          <a:p>
            <a:pPr marL="347472" lvl="0" indent="-347472">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Amended requirements on engagement partner responsibilities throughout the standard </a:t>
            </a:r>
          </a:p>
          <a:p>
            <a:pPr marL="347472" lvl="0" indent="-347472">
              <a:spcAft>
                <a:spcPts val="600"/>
              </a:spcAft>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Clarified which requirements the engagement partner may assign to other engagement team members</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74645" y="384897"/>
            <a:ext cx="956428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227013" lvl="0"/>
            <a:r>
              <a:rPr lang="en-US" sz="2400" b="1" dirty="0"/>
              <a:t>Scalability – Task Force Recommendations</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38</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324029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36694" y="634482"/>
            <a:ext cx="8250106" cy="4140707"/>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1800"/>
              </a:lnSpc>
              <a:buNone/>
            </a:pPr>
            <a:endParaRPr lang="en-US" sz="2800" b="1" dirty="0">
              <a:solidFill>
                <a:schemeClr val="tx1"/>
              </a:solidFill>
              <a:latin typeface="Arial" panose="020B0604020202020204" pitchFamily="34" charset="0"/>
              <a:cs typeface="Arial" panose="020B0604020202020204" pitchFamily="34" charset="0"/>
            </a:endParaRPr>
          </a:p>
          <a:p>
            <a:pPr marL="461963" lvl="0" indent="-461963">
              <a:spcAft>
                <a:spcPts val="600"/>
              </a:spcAft>
              <a:buNone/>
            </a:pPr>
            <a:r>
              <a:rPr lang="en-US" sz="2800" i="1" dirty="0">
                <a:solidFill>
                  <a:schemeClr val="tx1"/>
                </a:solidFill>
                <a:latin typeface="Arial" panose="020B0604020202020204" pitchFamily="34" charset="0"/>
                <a:cs typeface="Arial" panose="020B0604020202020204" pitchFamily="34" charset="0"/>
              </a:rPr>
              <a:t>9.	</a:t>
            </a:r>
            <a:r>
              <a:rPr lang="en-US" i="1" dirty="0">
                <a:solidFill>
                  <a:schemeClr val="tx1"/>
                </a:solidFill>
                <a:latin typeface="Arial" panose="020B0604020202020204" pitchFamily="34" charset="0"/>
                <a:cs typeface="Arial" panose="020B0604020202020204" pitchFamily="34" charset="0"/>
              </a:rPr>
              <a:t>Does the IAASB support the Task Force’s proposals:</a:t>
            </a:r>
          </a:p>
          <a:p>
            <a:pPr marL="914400" lvl="0" indent="-452438">
              <a:spcAft>
                <a:spcPts val="600"/>
              </a:spcAft>
              <a:buFont typeface="+mj-lt"/>
              <a:buAutoNum type="alphaLcParenR"/>
            </a:pPr>
            <a:r>
              <a:rPr lang="en-US" i="1" dirty="0">
                <a:solidFill>
                  <a:schemeClr val="tx1"/>
                </a:solidFill>
                <a:latin typeface="Arial" panose="020B0604020202020204" pitchFamily="34" charset="0"/>
                <a:cs typeface="Arial" panose="020B0604020202020204" pitchFamily="34" charset="0"/>
              </a:rPr>
              <a:t>In paragraph 10A of Agenda Item 9-B to highlight that, ordinarily, the engagement partner may depend on the firm’s policies or procedures?</a:t>
            </a:r>
          </a:p>
          <a:p>
            <a:pPr marL="914400" indent="-452438">
              <a:spcAft>
                <a:spcPts val="600"/>
              </a:spcAft>
              <a:buFont typeface="+mj-lt"/>
              <a:buAutoNum type="alphaLcParenR"/>
            </a:pPr>
            <a:r>
              <a:rPr lang="en-US" i="1" dirty="0">
                <a:solidFill>
                  <a:schemeClr val="tx1"/>
                </a:solidFill>
                <a:latin typeface="Arial" panose="020B0604020202020204" pitchFamily="34" charset="0"/>
                <a:cs typeface="Arial" panose="020B0604020202020204" pitchFamily="34" charset="0"/>
              </a:rPr>
              <a:t>To address scalability throughout the ISA and, particularly, whether more needs to be done in this respect?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505096"/>
            <a:ext cx="9144000" cy="326753"/>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800" b="1" dirty="0"/>
              <a:t>Scalability – Matters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39</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1871386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36694" y="831850"/>
            <a:ext cx="8100816" cy="3943339"/>
          </a:xfrm>
          <a:prstGeom prst="rect">
            <a:avLst/>
          </a:prstGeom>
          <a:noFill/>
        </p:spPr>
        <p:txBody>
          <a:bodyPr/>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lgn="just">
              <a:lnSpc>
                <a:spcPts val="1800"/>
              </a:lnSpc>
              <a:buNone/>
            </a:pPr>
            <a:endParaRPr lang="en-US" sz="2800" b="1" dirty="0">
              <a:solidFill>
                <a:schemeClr val="tx1"/>
              </a:solidFill>
              <a:latin typeface="Arial" panose="020B0604020202020204" pitchFamily="34" charset="0"/>
              <a:cs typeface="Arial" panose="020B0604020202020204" pitchFamily="34" charset="0"/>
            </a:endParaRPr>
          </a:p>
          <a:p>
            <a:pPr marL="512763" lvl="0" indent="-512763">
              <a:spcAft>
                <a:spcPts val="600"/>
              </a:spcAft>
              <a:buNone/>
            </a:pPr>
            <a:r>
              <a:rPr lang="en-US" sz="2800" i="1" dirty="0">
                <a:solidFill>
                  <a:schemeClr val="tx1"/>
                </a:solidFill>
                <a:latin typeface="Arial" panose="020B0604020202020204" pitchFamily="34" charset="0"/>
                <a:cs typeface="Arial" panose="020B0604020202020204" pitchFamily="34" charset="0"/>
              </a:rPr>
              <a:t>10.The IAASB is asked whether there are issues raised by respondents, in addition to those summarized in the September and December 2019 meeting papers, that the Task Force should bring to the Board’s attention.</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505096"/>
            <a:ext cx="9144000" cy="326753"/>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800" b="1" dirty="0"/>
              <a:t>Other Matter for IAASB Consideration</a:t>
            </a:r>
          </a:p>
        </p:txBody>
      </p:sp>
      <p:sp>
        <p:nvSpPr>
          <p:cNvPr id="8" name="Slide Number Placeholder 5">
            <a:extLst>
              <a:ext uri="{FF2B5EF4-FFF2-40B4-BE49-F238E27FC236}">
                <a16:creationId xmlns:a16="http://schemas.microsoft.com/office/drawing/2014/main" id="{73F51293-6880-4A74-ADDE-7C7355A80D8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smtClean="0">
                <a:solidFill>
                  <a:srgbClr val="808080"/>
                </a:solidFill>
                <a:latin typeface="Arial" panose="020B0604020202020204" pitchFamily="34" charset="0"/>
              </a:rPr>
              <a:pPr algn="r"/>
              <a:t>40</a:t>
            </a:fld>
            <a:endParaRPr lang="en-US" sz="800" dirty="0">
              <a:solidFill>
                <a:srgbClr val="808080"/>
              </a:solidFill>
              <a:latin typeface="Arial" panose="020B0604020202020204" pitchFamily="34" charset="0"/>
            </a:endParaRPr>
          </a:p>
        </p:txBody>
      </p:sp>
    </p:spTree>
    <p:extLst>
      <p:ext uri="{BB962C8B-B14F-4D97-AF65-F5344CB8AC3E}">
        <p14:creationId xmlns:p14="http://schemas.microsoft.com/office/powerpoint/2010/main" val="3790040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Content Placeholder 1"/>
          <p:cNvSpPr txBox="1">
            <a:spLocks/>
          </p:cNvSpPr>
          <p:nvPr/>
        </p:nvSpPr>
        <p:spPr>
          <a:xfrm>
            <a:off x="323497" y="1045309"/>
            <a:ext cx="8497006" cy="2780242"/>
          </a:xfrm>
          <a:prstGeom prst="rect">
            <a:avLst/>
          </a:prstGeom>
          <a:noFill/>
        </p:spPr>
        <p:txBody>
          <a:bodyPr anchor="t"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574675"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March 2020 – Full draft of proposed ISA 220 (Revised)</a:t>
            </a:r>
          </a:p>
          <a:p>
            <a:pPr marL="574675"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June 2020 – Final approval of standard</a:t>
            </a:r>
          </a:p>
          <a:p>
            <a:pPr marL="574675" lvl="1" indent="-342900">
              <a:spcAft>
                <a:spcPts val="600"/>
              </a:spcAft>
              <a:buChar char="•"/>
            </a:pPr>
            <a:r>
              <a:rPr lang="en-US" sz="2800" dirty="0">
                <a:solidFill>
                  <a:schemeClr val="tx1"/>
                </a:solidFill>
                <a:latin typeface="Arial" panose="020B0604020202020204" pitchFamily="34" charset="0"/>
                <a:cs typeface="Arial" panose="020B0604020202020204" pitchFamily="34" charset="0"/>
              </a:rPr>
              <a:t>Develop implementation guidance</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74645" y="384897"/>
            <a:ext cx="9564281" cy="404812"/>
          </a:xfrm>
          <a:prstGeom prst="rect">
            <a:avLst/>
          </a:prstGeom>
        </p:spPr>
        <p:txBody>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227013" lvl="0"/>
            <a:r>
              <a:rPr lang="en-US" sz="2400" b="1" dirty="0"/>
              <a:t>Way Forward</a:t>
            </a:r>
            <a:endParaRPr lang="en-US" sz="2400" dirty="0"/>
          </a:p>
        </p:txBody>
      </p:sp>
      <p:sp>
        <p:nvSpPr>
          <p:cNvPr id="8" name="Slide Number Placeholder 5">
            <a:extLst>
              <a:ext uri="{FF2B5EF4-FFF2-40B4-BE49-F238E27FC236}">
                <a16:creationId xmlns:a16="http://schemas.microsoft.com/office/drawing/2014/main" id="{E58F67FE-B1F8-47E7-9B44-FEAB91668021}"/>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800" dirty="0">
                <a:solidFill>
                  <a:srgbClr val="808080"/>
                </a:solidFill>
                <a:latin typeface="Arial" panose="020B0604020202020204" pitchFamily="34" charset="0"/>
              </a:rPr>
              <a:t>Page </a:t>
            </a:r>
            <a:fld id="{95158037-59F0-9C4B-B231-1C776117AADA}" type="slidenum">
              <a:rPr lang="en-US" sz="800">
                <a:solidFill>
                  <a:srgbClr val="808080"/>
                </a:solidFill>
                <a:latin typeface="Arial" panose="020B0604020202020204" pitchFamily="34" charset="0"/>
              </a:rPr>
              <a:pPr algn="r"/>
              <a:t>41</a:t>
            </a:fld>
            <a:r>
              <a:rPr lang="en-US" sz="800" dirty="0">
                <a:solidFill>
                  <a:srgbClr val="808080"/>
                </a:solidFill>
                <a:latin typeface="Arial" panose="020B0604020202020204" pitchFamily="34" charset="0"/>
              </a:rPr>
              <a:t> </a:t>
            </a:r>
          </a:p>
        </p:txBody>
      </p:sp>
    </p:spTree>
    <p:extLst>
      <p:ext uri="{BB962C8B-B14F-4D97-AF65-F5344CB8AC3E}">
        <p14:creationId xmlns:p14="http://schemas.microsoft.com/office/powerpoint/2010/main" val="2665107083"/>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E06E6C1-0004-4D6E-B327-D086E539BD5F}"/>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a:solidFill>
                  <a:srgbClr val="808080"/>
                </a:solidFill>
                <a:latin typeface="Arial" panose="020B0604020202020204" pitchFamily="34" charset="0"/>
              </a:rPr>
              <a:pPr algn="r"/>
              <a:t>42</a:t>
            </a:fld>
            <a:r>
              <a:rPr lang="en-US" sz="675" dirty="0">
                <a:solidFill>
                  <a:srgbClr val="808080"/>
                </a:solidFill>
                <a:latin typeface="Arial" panose="020B0604020202020204" pitchFamily="34" charset="0"/>
              </a:rPr>
              <a:t>  |</a:t>
            </a:r>
          </a:p>
        </p:txBody>
      </p:sp>
      <p:sp>
        <p:nvSpPr>
          <p:cNvPr id="3" name="TextBox 2">
            <a:extLst>
              <a:ext uri="{FF2B5EF4-FFF2-40B4-BE49-F238E27FC236}">
                <a16:creationId xmlns:a16="http://schemas.microsoft.com/office/drawing/2014/main" id="{7C39092A-899D-A645-A3C5-5099C5456E32}"/>
              </a:ext>
            </a:extLst>
          </p:cNvPr>
          <p:cNvSpPr txBox="1"/>
          <p:nvPr/>
        </p:nvSpPr>
        <p:spPr>
          <a:xfrm>
            <a:off x="3556000" y="2319867"/>
            <a:ext cx="184731" cy="30008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83A4972C-E057-FC40-878E-703EBE3B2027}"/>
              </a:ext>
            </a:extLst>
          </p:cNvPr>
          <p:cNvSpPr txBox="1"/>
          <p:nvPr/>
        </p:nvSpPr>
        <p:spPr>
          <a:xfrm>
            <a:off x="3522133" y="1557867"/>
            <a:ext cx="184731" cy="30008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themeOverride>
</file>

<file path=ppt/theme/themeOverride2.xml><?xml version="1.0" encoding="utf-8"?>
<a:themeOverride xmlns:a="http://schemas.openxmlformats.org/drawingml/2006/main">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12661</TotalTime>
  <Words>1324</Words>
  <Application>Microsoft Office PowerPoint</Application>
  <PresentationFormat>On-screen Show (16:9)</PresentationFormat>
  <Paragraphs>251</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Narrow</vt:lpstr>
      <vt:lpstr>Calibri</vt:lpstr>
      <vt:lpstr>Courier New</vt:lpstr>
      <vt:lpstr>Wingdings</vt:lpstr>
      <vt:lpstr>Office Theme</vt:lpstr>
      <vt:lpstr>Proposed ISA 220, Quality Management for an Audit of Financial Statements (Revised)</vt:lpstr>
      <vt:lpstr>How Proposed ISA 220 (Revised) Addresses Key Matters of Public Interest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Joy Thurgood</cp:lastModifiedBy>
  <cp:revision>774</cp:revision>
  <cp:lastPrinted>2019-12-12T13:20:36Z</cp:lastPrinted>
  <dcterms:created xsi:type="dcterms:W3CDTF">2016-11-09T14:56:20Z</dcterms:created>
  <dcterms:modified xsi:type="dcterms:W3CDTF">2019-12-12T14:09:21Z</dcterms:modified>
</cp:coreProperties>
</file>