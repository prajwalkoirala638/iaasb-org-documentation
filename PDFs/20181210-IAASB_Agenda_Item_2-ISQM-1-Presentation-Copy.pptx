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396" r:id="rId3"/>
    <p:sldId id="397" r:id="rId4"/>
    <p:sldId id="398" r:id="rId5"/>
    <p:sldId id="411" r:id="rId6"/>
    <p:sldId id="399" r:id="rId7"/>
    <p:sldId id="414" r:id="rId8"/>
    <p:sldId id="400" r:id="rId9"/>
    <p:sldId id="401" r:id="rId10"/>
    <p:sldId id="402" r:id="rId11"/>
    <p:sldId id="403" r:id="rId12"/>
    <p:sldId id="404" r:id="rId13"/>
    <p:sldId id="405" r:id="rId14"/>
    <p:sldId id="412" r:id="rId15"/>
    <p:sldId id="406" r:id="rId16"/>
    <p:sldId id="407" r:id="rId17"/>
    <p:sldId id="408" r:id="rId18"/>
    <p:sldId id="415" r:id="rId19"/>
    <p:sldId id="416" r:id="rId20"/>
    <p:sldId id="409" r:id="rId21"/>
    <p:sldId id="259" r:id="rId22"/>
  </p:sldIdLst>
  <p:sldSz cx="9144000" cy="5143500" type="screen16x9"/>
  <p:notesSz cx="6950075" cy="9236075"/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ietsman, Megan" initials="MZ" lastIdx="8" clrIdx="0">
    <p:extLst>
      <p:ext uri="{19B8F6BF-5375-455C-9EA6-DF929625EA0E}">
        <p15:presenceInfo xmlns:p15="http://schemas.microsoft.com/office/powerpoint/2012/main" userId="Zietsman, Megan" providerId="None"/>
      </p:ext>
    </p:extLst>
  </p:cmAuthor>
  <p:cmAuthor id="2" name="Kathleen Healy" initials="KH" lastIdx="13" clrIdx="1">
    <p:extLst>
      <p:ext uri="{19B8F6BF-5375-455C-9EA6-DF929625EA0E}">
        <p15:presenceInfo xmlns:p15="http://schemas.microsoft.com/office/powerpoint/2012/main" userId="S-1-5-21-1801674531-1972579041-839522115-4130" providerId="AD"/>
      </p:ext>
    </p:extLst>
  </p:cmAuthor>
  <p:cmAuthor id="3" name="Natalie Klonaridis" initials="NK" lastIdx="12" clrIdx="2">
    <p:extLst>
      <p:ext uri="{19B8F6BF-5375-455C-9EA6-DF929625EA0E}">
        <p15:presenceInfo xmlns:p15="http://schemas.microsoft.com/office/powerpoint/2012/main" userId="S-1-5-21-1801674531-1972579041-839522115-1332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DEA"/>
    <a:srgbClr val="ACC5DC"/>
    <a:srgbClr val="6398EF"/>
    <a:srgbClr val="96BAF4"/>
    <a:srgbClr val="808080"/>
    <a:srgbClr val="1D9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43" autoAdjust="0"/>
    <p:restoredTop sz="76684" autoAdjust="0"/>
  </p:normalViewPr>
  <p:slideViewPr>
    <p:cSldViewPr snapToGrid="0" snapToObjects="1">
      <p:cViewPr varScale="1">
        <p:scale>
          <a:sx n="72" d="100"/>
          <a:sy n="72" d="100"/>
        </p:scale>
        <p:origin x="1356" y="60"/>
      </p:cViewPr>
      <p:guideLst>
        <p:guide orient="horz" pos="1620"/>
        <p:guide pos="288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1" d="100"/>
        <a:sy n="201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798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1E59F908-4FD1-BC49-B361-D833AB0555FC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EA8AE4AE-12A8-4846-97A9-6CB7DEDDF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285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745D6F9-5033-7542-84AC-41926A84456D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6875" y="692150"/>
            <a:ext cx="61563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4D410189-AC31-7546-878A-F48FDE4A2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391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193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21835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249988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71450" marR="0" lvl="0" indent="-171450" algn="l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 smtClean="0">
              <a:solidFill>
                <a:srgbClr val="00B050"/>
              </a:solidFill>
            </a:endParaRPr>
          </a:p>
          <a:p>
            <a:pPr marL="171450" marR="0" lvl="0" indent="-171450" algn="l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 smtClean="0">
              <a:solidFill>
                <a:srgbClr val="00B050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608140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71450" marR="0" lvl="0" indent="-171450" algn="l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 smtClean="0">
              <a:solidFill>
                <a:srgbClr val="00B050"/>
              </a:solidFill>
            </a:endParaRPr>
          </a:p>
          <a:p>
            <a:pPr marL="171450" marR="0" lvl="0" indent="-171450" algn="l" defTabSz="3429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 smtClean="0">
              <a:solidFill>
                <a:srgbClr val="00B050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058476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347981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2507853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423570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9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6560753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10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1054351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11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5613916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12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1975961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13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1816749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14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1303316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15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255564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16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6976785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17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2118656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18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889877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19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4746870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fld id="{4B3CA995-7840-9148-9C87-92864F1A8B45}" type="slidenum">
              <a:rPr lang="en-US" sz="1200"/>
              <a:pPr/>
              <a:t>20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291633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7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9" name="Picture 8" descr="Page topper.jp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7"/>
            <a:ext cx="9144000" cy="234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370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0" t="12331" r="-210" b="13383"/>
          <a:stretch/>
        </p:blipFill>
        <p:spPr>
          <a:xfrm>
            <a:off x="1" y="1"/>
            <a:ext cx="9156700" cy="237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778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2900"/>
            <a:ext cx="2776694" cy="487674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201152"/>
            <a:ext cx="9144000" cy="1236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25885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642938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28852" y="4883295"/>
            <a:ext cx="2757948" cy="228309"/>
          </a:xfrm>
        </p:spPr>
        <p:txBody>
          <a:bodyPr/>
          <a:lstStyle>
            <a:lvl1pPr marL="0" marR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75">
                <a:solidFill>
                  <a:srgbClr val="808080"/>
                </a:solidFill>
              </a:defRPr>
            </a:lvl1pPr>
          </a:lstStyle>
          <a:p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 smtClean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6693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208161"/>
            <a:ext cx="9144000" cy="39391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4299439"/>
            <a:ext cx="9144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4299438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1939931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06012" y="4873085"/>
            <a:ext cx="2080788" cy="251831"/>
          </a:xfrm>
        </p:spPr>
        <p:txBody>
          <a:bodyPr/>
          <a:lstStyle/>
          <a:p>
            <a:pPr algn="r"/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2037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13017"/>
            <a:ext cx="4040188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02736"/>
            <a:ext cx="4040188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013017"/>
            <a:ext cx="4041775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502736"/>
            <a:ext cx="4041775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4988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0450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7768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8002" y="1561874"/>
            <a:ext cx="4393108" cy="73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3821898" y="3756887"/>
            <a:ext cx="1310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350" u="none" dirty="0" smtClean="0">
                <a:solidFill>
                  <a:srgbClr val="1F497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1500" u="none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381000" y="4822821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59" y="4168326"/>
            <a:ext cx="577805" cy="1931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002" y="4175640"/>
            <a:ext cx="437481" cy="1931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292" y="4165672"/>
            <a:ext cx="577805" cy="1931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897" y="4168326"/>
            <a:ext cx="577805" cy="2344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511" y="4168326"/>
            <a:ext cx="577805" cy="1931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213" y="4165202"/>
            <a:ext cx="577805" cy="193152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98501" y="4608029"/>
            <a:ext cx="81280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900" dirty="0" smtClean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900" u="sng" dirty="0" smtClean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900" dirty="0" smtClean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900" u="sng" dirty="0" smtClean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900" dirty="0" smtClean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54577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427437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7437"/>
            <a:ext cx="8229600" cy="40387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1886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4985" y="4883295"/>
            <a:ext cx="20574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AF73A935-0AD8-4B38-AD39-55437B5CA1D2}" type="datetime1">
              <a:rPr lang="en-US" smtClean="0"/>
              <a:t>12/10/2018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16148" y="4883295"/>
            <a:ext cx="30861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06012" y="4883295"/>
            <a:ext cx="2080788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75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/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381000" y="4822228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368" y="55409"/>
            <a:ext cx="1787432" cy="31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3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0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342900" rtl="0" eaLnBrk="1" latinLnBrk="0" hangingPunct="1">
        <a:spcBef>
          <a:spcPct val="0"/>
        </a:spcBef>
        <a:buNone/>
        <a:defRPr sz="18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29779" indent="-129779" algn="l" defTabSz="342900" rtl="0" eaLnBrk="1" latinLnBrk="0" hangingPunct="1">
        <a:spcBef>
          <a:spcPts val="900"/>
        </a:spcBef>
        <a:buFont typeface="Arial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42900" indent="-171450" algn="l" defTabSz="342900" rtl="0" eaLnBrk="1" latinLnBrk="0" hangingPunct="1">
        <a:spcBef>
          <a:spcPts val="450"/>
        </a:spcBef>
        <a:spcAft>
          <a:spcPts val="300"/>
        </a:spcAft>
        <a:buFont typeface="Arial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72679" indent="-128588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Proposed ISQM 1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85801" y="3221372"/>
            <a:ext cx="4732867" cy="1419203"/>
          </a:xfrm>
        </p:spPr>
        <p:txBody>
          <a:bodyPr/>
          <a:lstStyle/>
          <a:p>
            <a:r>
              <a:rPr lang="en-US" sz="1400" dirty="0" smtClean="0"/>
              <a:t>Karin French, Quality Control Task Force Chair</a:t>
            </a:r>
            <a:endParaRPr lang="en-US" sz="1400" dirty="0"/>
          </a:p>
          <a:p>
            <a:r>
              <a:rPr lang="en-US" sz="1400" dirty="0" smtClean="0"/>
              <a:t>IAASB Meeting, New York</a:t>
            </a:r>
          </a:p>
          <a:p>
            <a:r>
              <a:rPr lang="en-US" sz="1400" dirty="0" smtClean="0"/>
              <a:t>Agenda Item 2</a:t>
            </a:r>
          </a:p>
          <a:p>
            <a:r>
              <a:rPr lang="en-US" sz="1400" dirty="0" smtClean="0"/>
              <a:t>December 10, 2018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4040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229600" cy="403875"/>
          </a:xfrm>
        </p:spPr>
        <p:txBody>
          <a:bodyPr/>
          <a:lstStyle/>
          <a:p>
            <a:r>
              <a:rPr lang="en-US" dirty="0" smtClean="0"/>
              <a:t>Objective and Definitions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2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5258" y="1013058"/>
            <a:ext cx="8673483" cy="11128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21 – 22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A6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A15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396971"/>
            <a:ext cx="8229600" cy="1991857"/>
          </a:xfrm>
        </p:spPr>
        <p:txBody>
          <a:bodyPr/>
          <a:lstStyle/>
          <a:p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IFIAR</a:t>
            </a:r>
          </a:p>
          <a:p>
            <a:pPr lvl="1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Definition of deficiencies very technical</a:t>
            </a:r>
          </a:p>
          <a:p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Offline 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board comments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– additional board 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input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Many concerns with the definition of deficiencies – new proposal developed by QCTF for Board consideration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87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229600" cy="403875"/>
          </a:xfrm>
        </p:spPr>
        <p:txBody>
          <a:bodyPr/>
          <a:lstStyle/>
          <a:p>
            <a:r>
              <a:rPr lang="en-US" dirty="0" smtClean="0"/>
              <a:t>General Requirements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3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5258" y="1013058"/>
            <a:ext cx="8673483" cy="11128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23 – 25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A16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A22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121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229600" cy="403875"/>
          </a:xfrm>
        </p:spPr>
        <p:txBody>
          <a:bodyPr/>
          <a:lstStyle/>
          <a:p>
            <a:r>
              <a:rPr lang="en-US" dirty="0" smtClean="0"/>
              <a:t>Governance and Leadership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4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5258" y="1013058"/>
            <a:ext cx="8673483" cy="11128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26 – 28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A23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A45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289947"/>
            <a:ext cx="8229600" cy="1991857"/>
          </a:xfrm>
        </p:spPr>
        <p:txBody>
          <a:bodyPr/>
          <a:lstStyle/>
          <a:p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IOSCO</a:t>
            </a:r>
          </a:p>
          <a:p>
            <a:pPr lvl="1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Firms having independent members form part of their leadership</a:t>
            </a:r>
          </a:p>
          <a:p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IFIAR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lvl="1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Suggested more explicit reference to commercial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pressures 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Suggested addressing external pressures, including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 the wider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market</a:t>
            </a:r>
          </a:p>
          <a:p>
            <a:pPr lvl="1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Incorporate professional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skepticism as a main aspect in the culture of the firm 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56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229600" cy="403875"/>
          </a:xfrm>
        </p:spPr>
        <p:txBody>
          <a:bodyPr/>
          <a:lstStyle/>
          <a:p>
            <a:r>
              <a:rPr lang="en-US" dirty="0" smtClean="0"/>
              <a:t>Governance and Leadership (continued)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5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11563"/>
            <a:ext cx="8229600" cy="1991857"/>
          </a:xfrm>
        </p:spPr>
        <p:txBody>
          <a:bodyPr/>
          <a:lstStyle/>
          <a:p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IESBA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Responsibility for independence - the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approach in proposed ISQM 1 is too general and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cursory and does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not address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responsibility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independence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 adequate level of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specificity</a:t>
            </a:r>
          </a:p>
          <a:p>
            <a:pPr lvl="1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Suggestion that it should be broader, i.e., responsibility for relevant ethical requirements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lvl="1" indent="0">
              <a:buNone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168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229600" cy="403875"/>
          </a:xfrm>
        </p:spPr>
        <p:txBody>
          <a:bodyPr/>
          <a:lstStyle/>
          <a:p>
            <a:r>
              <a:rPr lang="en-US" dirty="0" smtClean="0"/>
              <a:t>The Firm’s Risk Assessment Process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6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5258" y="1013058"/>
            <a:ext cx="8673483" cy="11128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29 – 34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A46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A64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199" y="2228295"/>
            <a:ext cx="8229600" cy="1991857"/>
          </a:xfrm>
        </p:spPr>
        <p:txBody>
          <a:bodyPr/>
          <a:lstStyle/>
          <a:p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IFIAR</a:t>
            </a:r>
          </a:p>
          <a:p>
            <a:pPr lvl="1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Is it sufficiently clear that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firms need to achieve all of the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quality objectives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and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standard has a comprehensive list of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objectives?</a:t>
            </a:r>
          </a:p>
          <a:p>
            <a:pPr lvl="1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Are quality risks that are less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likely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to occur included?</a:t>
            </a:r>
          </a:p>
          <a:p>
            <a:pPr lvl="1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Results of regulatory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findings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– are these a consideration in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identifying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quality risks?</a:t>
            </a:r>
          </a:p>
          <a:p>
            <a:pPr lvl="1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Does standard addresses all of extant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requirements and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issues highlighted in the ITC? </a:t>
            </a:r>
          </a:p>
          <a:p>
            <a:pPr lvl="1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Are there enough prescribed responses to support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consistent and appropriate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application?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090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229600" cy="403875"/>
          </a:xfrm>
        </p:spPr>
        <p:txBody>
          <a:bodyPr/>
          <a:lstStyle/>
          <a:p>
            <a:r>
              <a:rPr lang="en-US" dirty="0" smtClean="0"/>
              <a:t>The Firm’s Risk Assessment Process (continued)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7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2912" y="1020932"/>
            <a:ext cx="8229600" cy="1991857"/>
          </a:xfrm>
        </p:spPr>
        <p:txBody>
          <a:bodyPr/>
          <a:lstStyle/>
          <a:p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Offline board comments – additional board input</a:t>
            </a:r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Requirement to establish additional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quality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objectives –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new proposal developed by QCTF for Board consideration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7143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229600" cy="403875"/>
          </a:xfrm>
        </p:spPr>
        <p:txBody>
          <a:bodyPr/>
          <a:lstStyle/>
          <a:p>
            <a:r>
              <a:rPr lang="en-US" dirty="0" smtClean="0"/>
              <a:t>Relevant Ethical Requirements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8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5258" y="1013058"/>
            <a:ext cx="8673483" cy="11128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35 – 36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A65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A74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396971"/>
            <a:ext cx="8229600" cy="1991857"/>
          </a:xfrm>
        </p:spPr>
        <p:txBody>
          <a:bodyPr/>
          <a:lstStyle/>
          <a:p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IESBA</a:t>
            </a:r>
          </a:p>
          <a:p>
            <a:pPr lvl="1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Concerns that the standard does not sufficiently address network independence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42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229600" cy="403875"/>
          </a:xfrm>
        </p:spPr>
        <p:txBody>
          <a:bodyPr/>
          <a:lstStyle/>
          <a:p>
            <a:r>
              <a:rPr lang="en-US" dirty="0" smtClean="0"/>
              <a:t>Acceptance and Continuance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9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5258" y="1013058"/>
            <a:ext cx="8673483" cy="11128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37 – 38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A75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A91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030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229600" cy="403875"/>
          </a:xfrm>
        </p:spPr>
        <p:txBody>
          <a:bodyPr/>
          <a:lstStyle/>
          <a:p>
            <a:r>
              <a:rPr lang="en-US" dirty="0" smtClean="0"/>
              <a:t>Engagement Performance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10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5258" y="1013058"/>
            <a:ext cx="8673483" cy="11128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39 – 40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A92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A114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093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229600" cy="403875"/>
          </a:xfrm>
        </p:spPr>
        <p:txBody>
          <a:bodyPr/>
          <a:lstStyle/>
          <a:p>
            <a:r>
              <a:rPr lang="en-US" dirty="0" smtClean="0"/>
              <a:t>Resources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11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5258" y="1013058"/>
            <a:ext cx="8673483" cy="11128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41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A115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A136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332912" y="2306703"/>
            <a:ext cx="8229600" cy="1991857"/>
          </a:xfrm>
        </p:spPr>
        <p:txBody>
          <a:bodyPr/>
          <a:lstStyle/>
          <a:p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Offline board comments –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additional board input</a:t>
            </a:r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Should this section include a general requirement to design and implement responses?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317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229600" cy="403875"/>
          </a:xfrm>
        </p:spPr>
        <p:txBody>
          <a:bodyPr/>
          <a:lstStyle/>
          <a:p>
            <a:r>
              <a:rPr lang="en-US" dirty="0" smtClean="0"/>
              <a:t>Information and Communication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12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5258" y="1013058"/>
            <a:ext cx="8673483" cy="11128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42 – 43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A137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A155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332912" y="2306703"/>
            <a:ext cx="8229600" cy="1991857"/>
          </a:xfrm>
        </p:spPr>
        <p:txBody>
          <a:bodyPr/>
          <a:lstStyle/>
          <a:p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Offline board comments –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additional board input</a:t>
            </a:r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Requirement to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communicate externally –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new proposal developed by QCTF for Board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consideration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8091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229600" cy="403875"/>
          </a:xfrm>
        </p:spPr>
        <p:txBody>
          <a:bodyPr/>
          <a:lstStyle/>
          <a:p>
            <a:r>
              <a:rPr lang="en-US" dirty="0" smtClean="0"/>
              <a:t>Monitoring and Remediation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13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48512" y="937502"/>
            <a:ext cx="8673483" cy="11128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44 – 58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A156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A192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199" y="2173661"/>
            <a:ext cx="8229600" cy="1991857"/>
          </a:xfrm>
        </p:spPr>
        <p:txBody>
          <a:bodyPr/>
          <a:lstStyle/>
          <a:p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IOSCO</a:t>
            </a:r>
          </a:p>
          <a:p>
            <a:pPr lvl="1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How are IFIAR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nspection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indings “targets” dealt with in the standard?</a:t>
            </a:r>
          </a:p>
          <a:p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IFIAR</a:t>
            </a:r>
          </a:p>
          <a:p>
            <a:pPr lvl="1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Should this be dealt with in a separate standard, like ISQM 2, in order to provide more detail?</a:t>
            </a:r>
          </a:p>
          <a:p>
            <a:pPr lvl="1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Will inspection of completed engagements be retained, albeit that in-process reviews have been introduced?</a:t>
            </a:r>
          </a:p>
          <a:p>
            <a:pPr lvl="1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Should the root cause analysis also be undertaken on positive findings?</a:t>
            </a:r>
          </a:p>
          <a:p>
            <a:pPr marL="171450" lvl="1" indent="0">
              <a:buNone/>
            </a:pPr>
            <a:endParaRPr lang="en-US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097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229600" cy="403875"/>
          </a:xfrm>
        </p:spPr>
        <p:txBody>
          <a:bodyPr/>
          <a:lstStyle/>
          <a:p>
            <a:r>
              <a:rPr lang="en-US" dirty="0" smtClean="0"/>
              <a:t>Monitoring and Remediation (continued)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14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48512" y="1063952"/>
            <a:ext cx="8229600" cy="1991857"/>
          </a:xfrm>
        </p:spPr>
        <p:txBody>
          <a:bodyPr/>
          <a:lstStyle/>
          <a:p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Offline board comments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– additional board input</a:t>
            </a:r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Should the cyclical inspection of engagement partners be extended to include in-process reviews, and not only completed engagements?</a:t>
            </a:r>
          </a:p>
          <a:p>
            <a:pPr lvl="1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Is the requirement to undertake the evaluation of the system in paragraph 57 clear regarding what is considered “more frequently”? </a:t>
            </a:r>
          </a:p>
          <a:p>
            <a:pPr lvl="2"/>
            <a:r>
              <a:rPr lang="en-US" sz="145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Should the “more frequently” be retained?</a:t>
            </a:r>
          </a:p>
          <a:p>
            <a:pPr lvl="2"/>
            <a:r>
              <a:rPr lang="en-US" sz="145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Is more guidance needed on the meaning of “more frequently” and if so how should this be explained?</a:t>
            </a:r>
          </a:p>
          <a:p>
            <a:pPr marL="171450" lvl="1" indent="0">
              <a:buNone/>
            </a:pPr>
            <a:endParaRPr lang="en-US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039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229600" cy="403875"/>
          </a:xfrm>
        </p:spPr>
        <p:txBody>
          <a:bodyPr/>
          <a:lstStyle/>
          <a:p>
            <a:r>
              <a:rPr lang="en-US" dirty="0" smtClean="0"/>
              <a:t>Network Requirements or Network Services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15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5258" y="1013058"/>
            <a:ext cx="8673483" cy="11128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59 – 64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A193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A205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396971"/>
            <a:ext cx="8229600" cy="1991857"/>
          </a:xfrm>
        </p:spPr>
        <p:txBody>
          <a:bodyPr/>
          <a:lstStyle/>
          <a:p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IFIAR </a:t>
            </a:r>
          </a:p>
          <a:p>
            <a:pPr lvl="1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Concerned over robustness, use of “determine” in paragraph 60 is not sufficiently robust – perhaps needs to be assess or evaluate</a:t>
            </a:r>
          </a:p>
          <a:p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Offline board comments – additional board input</a:t>
            </a:r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Requirement to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consider the effect on the FRAP and the appropriateness of network requirements or services:</a:t>
            </a:r>
          </a:p>
          <a:p>
            <a:pPr lvl="2"/>
            <a:r>
              <a:rPr lang="en-US" sz="145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Should this requirement remain</a:t>
            </a:r>
          </a:p>
          <a:p>
            <a:pPr lvl="2"/>
            <a:r>
              <a:rPr lang="en-US" sz="145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If so, should it be changed to “evaluate the effect…on the SOQM”</a:t>
            </a:r>
            <a:endParaRPr lang="en-US" sz="14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216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229600" cy="403875"/>
          </a:xfrm>
        </p:spPr>
        <p:txBody>
          <a:bodyPr/>
          <a:lstStyle/>
          <a:p>
            <a:r>
              <a:rPr lang="en-US" dirty="0" smtClean="0"/>
              <a:t>Service Providers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16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5258" y="1013058"/>
            <a:ext cx="8673483" cy="11128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65 – 66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A206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A211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83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229600" cy="403875"/>
          </a:xfrm>
        </p:spPr>
        <p:txBody>
          <a:bodyPr/>
          <a:lstStyle/>
          <a:p>
            <a:r>
              <a:rPr lang="en-US" dirty="0" smtClean="0"/>
              <a:t>Documentation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17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5258" y="1013058"/>
            <a:ext cx="8673483" cy="11128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67 – 70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A212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A215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961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229600" cy="403875"/>
          </a:xfrm>
        </p:spPr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18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5258" y="1013058"/>
            <a:ext cx="8673483" cy="111289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Requirements:	1 – 20</a:t>
            </a:r>
          </a:p>
          <a:p>
            <a:pPr>
              <a:spcBef>
                <a:spcPts val="800"/>
              </a:spcBef>
              <a:tabLst>
                <a:tab pos="2290763" algn="l"/>
              </a:tabLst>
            </a:pP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material:	A1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A5C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199" y="2307702"/>
            <a:ext cx="8229600" cy="1991857"/>
          </a:xfrm>
        </p:spPr>
        <p:txBody>
          <a:bodyPr/>
          <a:lstStyle/>
          <a:p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IOSCO</a:t>
            </a:r>
          </a:p>
          <a:p>
            <a:pPr lvl="1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General comment: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Heading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 the right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direction </a:t>
            </a:r>
          </a:p>
          <a:p>
            <a:pPr lvl="1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Did we consider defining public interest?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IFIAR</a:t>
            </a:r>
          </a:p>
          <a:p>
            <a:pPr lvl="1"/>
            <a:r>
              <a:rPr lang="en-US" sz="165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Suggestion that description of public interest in paragraph 7 be aligned with proposed ISA 220 (Revised)</a:t>
            </a:r>
          </a:p>
        </p:txBody>
      </p:sp>
    </p:spTree>
    <p:extLst>
      <p:ext uri="{BB962C8B-B14F-4D97-AF65-F5344CB8AC3E}">
        <p14:creationId xmlns:p14="http://schemas.microsoft.com/office/powerpoint/2010/main" val="425881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229600" cy="403875"/>
          </a:xfrm>
        </p:spPr>
        <p:txBody>
          <a:bodyPr/>
          <a:lstStyle/>
          <a:p>
            <a:r>
              <a:rPr lang="en-US" dirty="0" smtClean="0"/>
              <a:t>Introduction (continued)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19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1790" y="943077"/>
            <a:ext cx="8229600" cy="1991857"/>
          </a:xfrm>
        </p:spPr>
        <p:txBody>
          <a:bodyPr/>
          <a:lstStyle/>
          <a:p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Offline board comments – additional board input</a:t>
            </a:r>
            <a:endParaRPr lang="en-US" sz="1800" dirty="0">
              <a:solidFill>
                <a:srgbClr val="FF0000"/>
              </a:solidFill>
            </a:endParaRPr>
          </a:p>
          <a:p>
            <a:pPr lvl="1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Many comments on the explanation of the FRAP in paragraph 10 – new proposal developed by QCTF for Board consideration</a:t>
            </a:r>
          </a:p>
          <a:p>
            <a:pPr lvl="2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Does the Board think there could be circumstances when the responses in the standard would be enough?</a:t>
            </a:r>
          </a:p>
          <a:p>
            <a:pPr lvl="1"/>
            <a:r>
              <a:rPr lang="en-US" sz="155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Should </a:t>
            </a:r>
            <a:r>
              <a:rPr lang="en-US" sz="15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</a:t>
            </a:r>
            <a:r>
              <a:rPr lang="en-US" sz="155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standard address positive outcomes in the introduction and monitoring and remediation, i.e., identifying </a:t>
            </a:r>
            <a:r>
              <a:rPr lang="en-US" sz="15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 understanding </a:t>
            </a:r>
            <a:r>
              <a:rPr lang="en-US" sz="155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the positive outcomes and </a:t>
            </a:r>
            <a:r>
              <a:rPr lang="en-US" sz="15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deciding on whether enhancements should be made to the SOQM to drive better quality </a:t>
            </a:r>
            <a:r>
              <a:rPr lang="en-US" sz="155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overall?</a:t>
            </a:r>
          </a:p>
          <a:p>
            <a:pPr lvl="2"/>
            <a:r>
              <a:rPr 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If so, what would this look like and how do we define “positive outcomes”?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endParaRPr lang="en-US" sz="16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71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8512" y="427437"/>
            <a:ext cx="8229600" cy="403875"/>
          </a:xfrm>
        </p:spPr>
        <p:txBody>
          <a:bodyPr/>
          <a:lstStyle/>
          <a:p>
            <a:r>
              <a:rPr lang="en-US" dirty="0" smtClean="0"/>
              <a:t>Appendix 1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8478" y="4891669"/>
            <a:ext cx="479268" cy="251831"/>
          </a:xfrm>
        </p:spPr>
        <p:txBody>
          <a:bodyPr/>
          <a:lstStyle/>
          <a:p>
            <a:r>
              <a:rPr lang="en-US" sz="750" dirty="0">
                <a:solidFill>
                  <a:schemeClr val="tx1"/>
                </a:solidFill>
                <a:latin typeface="+mn-lt"/>
              </a:rPr>
              <a:t>Page </a:t>
            </a:r>
            <a:fld id="{7F9F5955-1F7F-4661-8A16-F4B0468EE63D}" type="slidenum">
              <a:rPr lang="en-US" sz="750" smtClean="0">
                <a:solidFill>
                  <a:schemeClr val="tx1"/>
                </a:solidFill>
                <a:latin typeface="+mn-lt"/>
              </a:rPr>
              <a:t>20</a:t>
            </a:fld>
            <a:endParaRPr lang="en-US" sz="750" dirty="0">
              <a:solidFill>
                <a:schemeClr val="tx1"/>
              </a:solidFill>
              <a:latin typeface="+mn-lt"/>
            </a:endParaRPr>
          </a:p>
          <a:p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5258" y="960796"/>
            <a:ext cx="8673483" cy="74472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Paragraph References for IAASB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Discussion:	</a:t>
            </a: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– 22</a:t>
            </a:r>
          </a:p>
        </p:txBody>
      </p:sp>
    </p:spTree>
    <p:extLst>
      <p:ext uri="{BB962C8B-B14F-4D97-AF65-F5344CB8AC3E}">
        <p14:creationId xmlns:p14="http://schemas.microsoft.com/office/powerpoint/2010/main" val="81070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737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ASB_Powerpoint_template_2016_Widescreen" id="{551C3455-CE53-451D-A561-326C993C81B9}" vid="{313783E5-FB8C-4610-BC8F-F48741466E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IAASB_Powerpoint_template_2016_Widescreen</Template>
  <TotalTime>17161</TotalTime>
  <Words>859</Words>
  <Application>Microsoft Office PowerPoint</Application>
  <PresentationFormat>On-screen Show (16:9)</PresentationFormat>
  <Paragraphs>162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MS PGothic</vt:lpstr>
      <vt:lpstr>MS PGothic</vt:lpstr>
      <vt:lpstr>Arial</vt:lpstr>
      <vt:lpstr>Arial Narrow</vt:lpstr>
      <vt:lpstr>Calibri</vt:lpstr>
      <vt:lpstr>Times New Roman</vt:lpstr>
      <vt:lpstr>ヒラギノ角ゴ Pro W3</vt:lpstr>
      <vt:lpstr>Office Theme</vt:lpstr>
      <vt:lpstr>Proposed ISQM 1</vt:lpstr>
      <vt:lpstr>Objective and Definitions</vt:lpstr>
      <vt:lpstr>General Requirements</vt:lpstr>
      <vt:lpstr>Governance and Leadership</vt:lpstr>
      <vt:lpstr>Governance and Leadership (continued)</vt:lpstr>
      <vt:lpstr>The Firm’s Risk Assessment Process</vt:lpstr>
      <vt:lpstr>The Firm’s Risk Assessment Process (continued)</vt:lpstr>
      <vt:lpstr>Relevant Ethical Requirements</vt:lpstr>
      <vt:lpstr>Acceptance and Continuance</vt:lpstr>
      <vt:lpstr>Engagement Performance</vt:lpstr>
      <vt:lpstr>Resources</vt:lpstr>
      <vt:lpstr>Information and Communication</vt:lpstr>
      <vt:lpstr>Monitoring and Remediation</vt:lpstr>
      <vt:lpstr>Monitoring and Remediation (continued)</vt:lpstr>
      <vt:lpstr>Network Requirements or Network Services</vt:lpstr>
      <vt:lpstr>Service Providers</vt:lpstr>
      <vt:lpstr>Documentation</vt:lpstr>
      <vt:lpstr>Introduction</vt:lpstr>
      <vt:lpstr>Introduction (continued)</vt:lpstr>
      <vt:lpstr>Appendix 1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Bradley Williams</dc:creator>
  <cp:lastModifiedBy>Armand Kotze</cp:lastModifiedBy>
  <cp:revision>187</cp:revision>
  <cp:lastPrinted>2016-03-04T17:09:52Z</cp:lastPrinted>
  <dcterms:created xsi:type="dcterms:W3CDTF">2016-11-09T14:56:20Z</dcterms:created>
  <dcterms:modified xsi:type="dcterms:W3CDTF">2018-12-10T14:22:22Z</dcterms:modified>
</cp:coreProperties>
</file>