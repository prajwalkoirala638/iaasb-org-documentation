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4">
  <p:sldMasterIdLst>
    <p:sldMasterId id="2147483648" r:id="rId1"/>
  </p:sldMasterIdLst>
  <p:notesMasterIdLst>
    <p:notesMasterId r:id="rId25"/>
  </p:notesMasterIdLst>
  <p:handoutMasterIdLst>
    <p:handoutMasterId r:id="rId26"/>
  </p:handoutMasterIdLst>
  <p:sldIdLst>
    <p:sldId id="271" r:id="rId2"/>
    <p:sldId id="585" r:id="rId3"/>
    <p:sldId id="590" r:id="rId4"/>
    <p:sldId id="597" r:id="rId5"/>
    <p:sldId id="589" r:id="rId6"/>
    <p:sldId id="591" r:id="rId7"/>
    <p:sldId id="593" r:id="rId8"/>
    <p:sldId id="607" r:id="rId9"/>
    <p:sldId id="598" r:id="rId10"/>
    <p:sldId id="599" r:id="rId11"/>
    <p:sldId id="600" r:id="rId12"/>
    <p:sldId id="588" r:id="rId13"/>
    <p:sldId id="601" r:id="rId14"/>
    <p:sldId id="594" r:id="rId15"/>
    <p:sldId id="608" r:id="rId16"/>
    <p:sldId id="603" r:id="rId17"/>
    <p:sldId id="595" r:id="rId18"/>
    <p:sldId id="606" r:id="rId19"/>
    <p:sldId id="605" r:id="rId20"/>
    <p:sldId id="604" r:id="rId21"/>
    <p:sldId id="596" r:id="rId22"/>
    <p:sldId id="584" r:id="rId23"/>
    <p:sldId id="294" r:id="rId24"/>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Brett James" initials="BJ" lastIdx="3" clrIdx="6">
    <p:extLst>
      <p:ext uri="{19B8F6BF-5375-455C-9EA6-DF929625EA0E}">
        <p15:presenceInfo xmlns:p15="http://schemas.microsoft.com/office/powerpoint/2012/main" userId="S::BrettJames@iaasb.org::7a107198-8c75-4344-900d-303402d948f0" providerId="AD"/>
      </p:ext>
    </p:extLst>
  </p:cmAuthor>
  <p:cmAuthor id="1" name="Zietsman, Megan" initials="MZ" lastIdx="8" clrIdx="0">
    <p:extLst>
      <p:ext uri="{19B8F6BF-5375-455C-9EA6-DF929625EA0E}">
        <p15:presenceInfo xmlns:p15="http://schemas.microsoft.com/office/powerpoint/2012/main" userId="Zietsman, Megan" providerId="None"/>
      </p:ext>
    </p:extLst>
  </p:cmAuthor>
  <p:cmAuthor id="8" name="Lyn Provost" initials="LP" lastIdx="4" clrIdx="7">
    <p:extLst>
      <p:ext uri="{19B8F6BF-5375-455C-9EA6-DF929625EA0E}">
        <p15:presenceInfo xmlns:p15="http://schemas.microsoft.com/office/powerpoint/2012/main" userId="4634a99f6d9a1177" providerId="Windows Liv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Dan Montgomery" initials="DM" lastIdx="49" clrIdx="2">
    <p:extLst>
      <p:ext uri="{19B8F6BF-5375-455C-9EA6-DF929625EA0E}">
        <p15:presenceInfo xmlns:p15="http://schemas.microsoft.com/office/powerpoint/2012/main" userId="8ba5e3d143c5e0b2" providerId="Windows Live"/>
      </p:ext>
    </p:extLst>
  </p:cmAuthor>
  <p:cmAuthor id="4" name="Jane Talatala" initials="JT" lastIdx="26" clrIdx="3">
    <p:extLst>
      <p:ext uri="{19B8F6BF-5375-455C-9EA6-DF929625EA0E}">
        <p15:presenceInfo xmlns:p15="http://schemas.microsoft.com/office/powerpoint/2012/main" userId="S::JaneTalatala@iaasb.org::0b75c357-2d7f-4a9b-be6b-0a67c58966d1" providerId="AD"/>
      </p:ext>
    </p:extLst>
  </p:cmAuthor>
  <p:cmAuthor id="5" name="Imran Vanker" initials="IV" lastIdx="7" clrIdx="4">
    <p:extLst>
      <p:ext uri="{19B8F6BF-5375-455C-9EA6-DF929625EA0E}">
        <p15:presenceInfo xmlns:p15="http://schemas.microsoft.com/office/powerpoint/2012/main" userId="Imran Vanker" providerId="None"/>
      </p:ext>
    </p:extLst>
  </p:cmAuthor>
  <p:cmAuthor id="6" name="Joy Thurgood" initials="JT" lastIdx="7" clrIdx="5">
    <p:extLst>
      <p:ext uri="{19B8F6BF-5375-455C-9EA6-DF929625EA0E}">
        <p15:presenceInfo xmlns:p15="http://schemas.microsoft.com/office/powerpoint/2012/main" userId="S::JoyThurgood@iaasb.org::01610e7c-ea5a-4194-bb03-406d8259ff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D2E2"/>
    <a:srgbClr val="808080"/>
    <a:srgbClr val="005BAA"/>
    <a:srgbClr val="F15A22"/>
    <a:srgbClr val="00C0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78" autoAdjust="0"/>
    <p:restoredTop sz="78378" autoAdjust="0"/>
  </p:normalViewPr>
  <p:slideViewPr>
    <p:cSldViewPr snapToGrid="0" snapToObjects="1">
      <p:cViewPr varScale="1">
        <p:scale>
          <a:sx n="110" d="100"/>
          <a:sy n="110" d="100"/>
        </p:scale>
        <p:origin x="114" y="150"/>
      </p:cViewPr>
      <p:guideLst>
        <p:guide orient="horz" pos="1620"/>
        <p:guide pos="2880"/>
      </p:guideLst>
    </p:cSldViewPr>
  </p:slideViewPr>
  <p:outlineViewPr>
    <p:cViewPr>
      <p:scale>
        <a:sx n="66" d="100"/>
        <a:sy n="66" d="100"/>
      </p:scale>
      <p:origin x="0" y="-16920"/>
    </p:cViewPr>
  </p:outlineViewPr>
  <p:notesTextViewPr>
    <p:cViewPr>
      <p:scale>
        <a:sx n="3" d="2"/>
        <a:sy n="3" d="2"/>
      </p:scale>
      <p:origin x="0" y="0"/>
    </p:cViewPr>
  </p:notesTextViewPr>
  <p:sorterViewPr>
    <p:cViewPr varScale="1">
      <p:scale>
        <a:sx n="1" d="1"/>
        <a:sy n="1" d="1"/>
      </p:scale>
      <p:origin x="0" y="-606"/>
    </p:cViewPr>
  </p:sorterViewPr>
  <p:notesViewPr>
    <p:cSldViewPr snapToGrid="0" snapToObjects="1">
      <p:cViewPr>
        <p:scale>
          <a:sx n="100" d="100"/>
          <a:sy n="100" d="100"/>
        </p:scale>
        <p:origin x="3438" y="-4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9/21/2020</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9/21/2020</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lgn="just">
              <a:lnSpc>
                <a:spcPts val="1400"/>
              </a:lnSpc>
              <a:spcBef>
                <a:spcPts val="600"/>
              </a:spcBef>
              <a:buFont typeface="Arial" panose="020B0604020202020204" pitchFamily="34" charset="0"/>
              <a:buNone/>
            </a:pPr>
            <a:endParaRPr lang="en-US" sz="1000" baseline="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lnSpc>
                <a:spcPts val="1400"/>
              </a:lnSpc>
              <a:spcBef>
                <a:spcPts val="600"/>
              </a:spcBef>
              <a:spcAft>
                <a:spcPts val="0"/>
              </a:spcAft>
              <a:buFont typeface="Arial" panose="020B0604020202020204" pitchFamily="34" charset="0"/>
              <a:buChar char="•"/>
            </a:pPr>
            <a:endParaRPr lang="en-US" sz="1000" b="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dirty="0"/>
          </a:p>
        </p:txBody>
      </p:sp>
    </p:spTree>
    <p:extLst>
      <p:ext uri="{BB962C8B-B14F-4D97-AF65-F5344CB8AC3E}">
        <p14:creationId xmlns:p14="http://schemas.microsoft.com/office/powerpoint/2010/main" val="504353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just" defTabSz="342900" rtl="0" eaLnBrk="1" fontAlgn="auto" latinLnBrk="0" hangingPunct="1">
              <a:lnSpc>
                <a:spcPts val="1400"/>
              </a:lnSpc>
              <a:spcBef>
                <a:spcPts val="600"/>
              </a:spcBef>
              <a:spcAft>
                <a:spcPts val="0"/>
              </a:spcAft>
              <a:buClrTx/>
              <a:buSzTx/>
              <a:buFontTx/>
              <a:buChar char="-"/>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3</a:t>
            </a:fld>
            <a:endParaRPr lang="en-US" dirty="0"/>
          </a:p>
        </p:txBody>
      </p:sp>
    </p:spTree>
    <p:extLst>
      <p:ext uri="{BB962C8B-B14F-4D97-AF65-F5344CB8AC3E}">
        <p14:creationId xmlns:p14="http://schemas.microsoft.com/office/powerpoint/2010/main" val="3001768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just" defTabSz="342900" rtl="0" eaLnBrk="1" fontAlgn="auto" latinLnBrk="0" hangingPunct="1">
              <a:lnSpc>
                <a:spcPts val="1400"/>
              </a:lnSpc>
              <a:spcBef>
                <a:spcPts val="600"/>
              </a:spcBef>
              <a:spcAft>
                <a:spcPts val="0"/>
              </a:spcAft>
              <a:buClrTx/>
              <a:buSzTx/>
              <a:buFontTx/>
              <a:buChar char="-"/>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4</a:t>
            </a:fld>
            <a:endParaRPr lang="en-US" dirty="0"/>
          </a:p>
        </p:txBody>
      </p:sp>
    </p:spTree>
    <p:extLst>
      <p:ext uri="{BB962C8B-B14F-4D97-AF65-F5344CB8AC3E}">
        <p14:creationId xmlns:p14="http://schemas.microsoft.com/office/powerpoint/2010/main" val="1201156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5</a:t>
            </a:fld>
            <a:endParaRPr lang="en-US" dirty="0"/>
          </a:p>
        </p:txBody>
      </p:sp>
    </p:spTree>
    <p:extLst>
      <p:ext uri="{BB962C8B-B14F-4D97-AF65-F5344CB8AC3E}">
        <p14:creationId xmlns:p14="http://schemas.microsoft.com/office/powerpoint/2010/main" val="1255638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6</a:t>
            </a:fld>
            <a:endParaRPr lang="en-US" dirty="0"/>
          </a:p>
        </p:txBody>
      </p:sp>
    </p:spTree>
    <p:extLst>
      <p:ext uri="{BB962C8B-B14F-4D97-AF65-F5344CB8AC3E}">
        <p14:creationId xmlns:p14="http://schemas.microsoft.com/office/powerpoint/2010/main" val="2921308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just" defTabSz="342900" rtl="0" eaLnBrk="1" fontAlgn="auto" latinLnBrk="0" hangingPunct="1">
              <a:lnSpc>
                <a:spcPts val="1400"/>
              </a:lnSpc>
              <a:spcBef>
                <a:spcPts val="600"/>
              </a:spcBef>
              <a:spcAft>
                <a:spcPts val="0"/>
              </a:spcAft>
              <a:buClrTx/>
              <a:buSzTx/>
              <a:buFontTx/>
              <a:buChar char="-"/>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dirty="0"/>
          </a:p>
        </p:txBody>
      </p:sp>
    </p:spTree>
    <p:extLst>
      <p:ext uri="{BB962C8B-B14F-4D97-AF65-F5344CB8AC3E}">
        <p14:creationId xmlns:p14="http://schemas.microsoft.com/office/powerpoint/2010/main" val="3023178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dirty="0"/>
          </a:p>
        </p:txBody>
      </p:sp>
    </p:spTree>
    <p:extLst>
      <p:ext uri="{BB962C8B-B14F-4D97-AF65-F5344CB8AC3E}">
        <p14:creationId xmlns:p14="http://schemas.microsoft.com/office/powerpoint/2010/main" val="296006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1400"/>
              </a:lnSpc>
              <a:spcBef>
                <a:spcPts val="600"/>
              </a:spcBef>
              <a:buFont typeface="Arial" panose="020B0604020202020204" pitchFamily="34" charset="0"/>
              <a:buNone/>
            </a:pPr>
            <a:endParaRPr lang="en-US" sz="1000" b="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9</a:t>
            </a:fld>
            <a:endParaRPr lang="en-US" dirty="0"/>
          </a:p>
        </p:txBody>
      </p:sp>
    </p:spTree>
    <p:extLst>
      <p:ext uri="{BB962C8B-B14F-4D97-AF65-F5344CB8AC3E}">
        <p14:creationId xmlns:p14="http://schemas.microsoft.com/office/powerpoint/2010/main" val="4096768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10</a:t>
            </a:fld>
            <a:endParaRPr lang="en-US" dirty="0"/>
          </a:p>
        </p:txBody>
      </p:sp>
    </p:spTree>
    <p:extLst>
      <p:ext uri="{BB962C8B-B14F-4D97-AF65-F5344CB8AC3E}">
        <p14:creationId xmlns:p14="http://schemas.microsoft.com/office/powerpoint/2010/main" val="1322017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lnSpc>
                <a:spcPts val="1400"/>
              </a:lnSpc>
              <a:spcBef>
                <a:spcPts val="600"/>
              </a:spcBef>
              <a:spcAft>
                <a:spcPts val="0"/>
              </a:spcAft>
              <a:buFont typeface="Arial" panose="020B0604020202020204" pitchFamily="34" charset="0"/>
              <a:buChar char="•"/>
            </a:pPr>
            <a:endParaRPr lang="en-US" sz="1000" b="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11</a:t>
            </a:fld>
            <a:endParaRPr lang="en-US" dirty="0"/>
          </a:p>
        </p:txBody>
      </p:sp>
    </p:spTree>
    <p:extLst>
      <p:ext uri="{BB962C8B-B14F-4D97-AF65-F5344CB8AC3E}">
        <p14:creationId xmlns:p14="http://schemas.microsoft.com/office/powerpoint/2010/main" val="506977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12</a:t>
            </a:fld>
            <a:endParaRPr lang="en-US" dirty="0"/>
          </a:p>
        </p:txBody>
      </p:sp>
    </p:spTree>
    <p:extLst>
      <p:ext uri="{BB962C8B-B14F-4D97-AF65-F5344CB8AC3E}">
        <p14:creationId xmlns:p14="http://schemas.microsoft.com/office/powerpoint/2010/main" val="3189938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lnSpc>
                <a:spcPts val="1400"/>
              </a:lnSpc>
              <a:spcBef>
                <a:spcPts val="600"/>
              </a:spcBef>
              <a:spcAft>
                <a:spcPts val="0"/>
              </a:spcAft>
              <a:buFont typeface="Arial" panose="020B0604020202020204" pitchFamily="34" charset="0"/>
              <a:buChar char="•"/>
            </a:pPr>
            <a:endParaRPr lang="en-US" sz="1000" b="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13</a:t>
            </a:fld>
            <a:endParaRPr lang="en-US" dirty="0"/>
          </a:p>
        </p:txBody>
      </p:sp>
    </p:spTree>
    <p:extLst>
      <p:ext uri="{BB962C8B-B14F-4D97-AF65-F5344CB8AC3E}">
        <p14:creationId xmlns:p14="http://schemas.microsoft.com/office/powerpoint/2010/main" val="2689031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14</a:t>
            </a:fld>
            <a:endParaRPr lang="en-US" dirty="0"/>
          </a:p>
        </p:txBody>
      </p:sp>
    </p:spTree>
    <p:extLst>
      <p:ext uri="{BB962C8B-B14F-4D97-AF65-F5344CB8AC3E}">
        <p14:creationId xmlns:p14="http://schemas.microsoft.com/office/powerpoint/2010/main" val="484904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15</a:t>
            </a:fld>
            <a:endParaRPr lang="en-US" dirty="0"/>
          </a:p>
        </p:txBody>
      </p:sp>
    </p:spTree>
    <p:extLst>
      <p:ext uri="{BB962C8B-B14F-4D97-AF65-F5344CB8AC3E}">
        <p14:creationId xmlns:p14="http://schemas.microsoft.com/office/powerpoint/2010/main" val="390488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just">
              <a:lnSpc>
                <a:spcPts val="1400"/>
              </a:lnSpc>
              <a:spcBef>
                <a:spcPts val="600"/>
              </a:spcBef>
              <a:spcAft>
                <a:spcPts val="0"/>
              </a:spcAft>
              <a:buFont typeface="Arial" panose="020B0604020202020204" pitchFamily="34" charset="0"/>
              <a:buChar char="•"/>
            </a:pPr>
            <a:endParaRPr lang="en-US" sz="1000" b="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16</a:t>
            </a:fld>
            <a:endParaRPr lang="en-US" dirty="0"/>
          </a:p>
        </p:txBody>
      </p:sp>
    </p:spTree>
    <p:extLst>
      <p:ext uri="{BB962C8B-B14F-4D97-AF65-F5344CB8AC3E}">
        <p14:creationId xmlns:p14="http://schemas.microsoft.com/office/powerpoint/2010/main" val="2426747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17</a:t>
            </a:fld>
            <a:endParaRPr lang="en-US" dirty="0"/>
          </a:p>
        </p:txBody>
      </p:sp>
    </p:spTree>
    <p:extLst>
      <p:ext uri="{BB962C8B-B14F-4D97-AF65-F5344CB8AC3E}">
        <p14:creationId xmlns:p14="http://schemas.microsoft.com/office/powerpoint/2010/main" val="2306103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18</a:t>
            </a:fld>
            <a:endParaRPr lang="en-US" dirty="0"/>
          </a:p>
        </p:txBody>
      </p:sp>
    </p:spTree>
    <p:extLst>
      <p:ext uri="{BB962C8B-B14F-4D97-AF65-F5344CB8AC3E}">
        <p14:creationId xmlns:p14="http://schemas.microsoft.com/office/powerpoint/2010/main" val="11986176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19</a:t>
            </a:fld>
            <a:endParaRPr lang="en-US" dirty="0"/>
          </a:p>
        </p:txBody>
      </p:sp>
    </p:spTree>
    <p:extLst>
      <p:ext uri="{BB962C8B-B14F-4D97-AF65-F5344CB8AC3E}">
        <p14:creationId xmlns:p14="http://schemas.microsoft.com/office/powerpoint/2010/main" val="371633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ts val="1400"/>
              </a:lnSpc>
              <a:spcBef>
                <a:spcPts val="600"/>
              </a:spcBef>
              <a:buFont typeface="Arial" panose="020B0604020202020204" pitchFamily="34" charset="0"/>
              <a:buNone/>
            </a:pPr>
            <a:endParaRPr lang="en-US" sz="1200" b="0" kern="1200" dirty="0">
              <a:solidFill>
                <a:schemeClr val="tx1"/>
              </a:solidFill>
              <a:effectLst/>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20</a:t>
            </a:fld>
            <a:endParaRPr lang="en-US" dirty="0"/>
          </a:p>
        </p:txBody>
      </p:sp>
    </p:spTree>
    <p:extLst>
      <p:ext uri="{BB962C8B-B14F-4D97-AF65-F5344CB8AC3E}">
        <p14:creationId xmlns:p14="http://schemas.microsoft.com/office/powerpoint/2010/main" val="16816730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0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21</a:t>
            </a:fld>
            <a:endParaRPr lang="en-US" dirty="0"/>
          </a:p>
        </p:txBody>
      </p:sp>
    </p:spTree>
    <p:extLst>
      <p:ext uri="{BB962C8B-B14F-4D97-AF65-F5344CB8AC3E}">
        <p14:creationId xmlns:p14="http://schemas.microsoft.com/office/powerpoint/2010/main" val="231516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just">
              <a:lnSpc>
                <a:spcPts val="1400"/>
              </a:lnSpc>
              <a:spcBef>
                <a:spcPts val="600"/>
              </a:spcBef>
              <a:spcAft>
                <a:spcPts val="0"/>
              </a:spcAft>
              <a:buSzPts val="1000"/>
              <a:buFont typeface="Arial" panose="020B0604020202020204" pitchFamily="34" charset="0"/>
              <a:buChar char="•"/>
            </a:pPr>
            <a:endParaRPr lang="en-US" sz="1400" kern="12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22</a:t>
            </a:fld>
            <a:endParaRPr lang="en-US" dirty="0"/>
          </a:p>
        </p:txBody>
      </p:sp>
    </p:spTree>
    <p:extLst>
      <p:ext uri="{BB962C8B-B14F-4D97-AF65-F5344CB8AC3E}">
        <p14:creationId xmlns:p14="http://schemas.microsoft.com/office/powerpoint/2010/main" val="1824230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nSpc>
                <a:spcPts val="1400"/>
              </a:lnSpc>
              <a:spcBef>
                <a:spcPts val="600"/>
              </a:spcBef>
              <a:buFont typeface="Arial" panose="020B0604020202020204" pitchFamily="34" charset="0"/>
              <a:buChar char="•"/>
            </a:pPr>
            <a:endParaRPr lang="en-US"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23</a:t>
            </a:fld>
            <a:endParaRPr lang="en-US" dirty="0"/>
          </a:p>
        </p:txBody>
      </p:sp>
    </p:spTree>
    <p:extLst>
      <p:ext uri="{BB962C8B-B14F-4D97-AF65-F5344CB8AC3E}">
        <p14:creationId xmlns:p14="http://schemas.microsoft.com/office/powerpoint/2010/main" val="1933755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3130"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149166"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74878"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940914"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406950"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872984"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Rectangle 5"/>
          <p:cNvSpPr>
            <a:spLocks noChangeArrowheads="1"/>
          </p:cNvSpPr>
          <p:nvPr userDrawn="1"/>
        </p:nvSpPr>
        <p:spPr bwMode="auto">
          <a:xfrm>
            <a:off x="0" y="1198961"/>
            <a:ext cx="9144000" cy="3950208"/>
          </a:xfrm>
          <a:prstGeom prst="rect">
            <a:avLst/>
          </a:prstGeom>
          <a:gradFill rotWithShape="0">
            <a:gsLst>
              <a:gs pos="0">
                <a:srgbClr val="18276E"/>
              </a:gs>
              <a:gs pos="100000">
                <a:srgbClr val="0092D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pic>
        <p:nvPicPr>
          <p:cNvPr id="13" name="Picture 6" descr="Ribbon_orange_1.25in_widt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4600" y="1198961"/>
            <a:ext cx="6629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67200" y="1398986"/>
            <a:ext cx="4648200" cy="742950"/>
          </a:xfrm>
        </p:spPr>
        <p:txBody>
          <a:bodyPr anchor="ctr"/>
          <a:lstStyle/>
          <a:p>
            <a:r>
              <a:rPr lang="en-US"/>
              <a:t>Click to edit Master title style</a:t>
            </a:r>
            <a:endParaRPr lang="en-US" dirty="0"/>
          </a:p>
        </p:txBody>
      </p:sp>
      <p:sp>
        <p:nvSpPr>
          <p:cNvPr id="8" name="Subtitle 2"/>
          <p:cNvSpPr>
            <a:spLocks noGrp="1"/>
          </p:cNvSpPr>
          <p:nvPr>
            <p:ph type="subTitle" idx="1"/>
          </p:nvPr>
        </p:nvSpPr>
        <p:spPr>
          <a:xfrm>
            <a:off x="4267200" y="2484835"/>
            <a:ext cx="3060700" cy="131445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4185" y="384188"/>
            <a:ext cx="2056917" cy="600560"/>
          </a:xfrm>
          <a:prstGeom prst="rect">
            <a:avLst/>
          </a:prstGeom>
        </p:spPr>
      </p:pic>
    </p:spTree>
    <p:extLst>
      <p:ext uri="{BB962C8B-B14F-4D97-AF65-F5344CB8AC3E}">
        <p14:creationId xmlns:p14="http://schemas.microsoft.com/office/powerpoint/2010/main" val="3877791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1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62" r:id="rId12"/>
    <p:sldLayoutId id="2147483663" r:id="rId13"/>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6.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685800" y="2568724"/>
            <a:ext cx="8112211" cy="867000"/>
          </a:xfrm>
        </p:spPr>
        <p:txBody>
          <a:bodyPr anchor="ctr">
            <a:normAutofit fontScale="90000"/>
          </a:bodyPr>
          <a:lstStyle/>
          <a:p>
            <a:r>
              <a:rPr lang="en-US" sz="2800" b="1" dirty="0"/>
              <a:t>Proposed ISA 220 (Revised), </a:t>
            </a:r>
            <a:r>
              <a:rPr lang="en-US" sz="2800" b="1" i="1" dirty="0"/>
              <a:t>Quality Management for an Audit of Financial Statements </a:t>
            </a:r>
            <a:endParaRPr lang="en-US" sz="2800" b="1" dirty="0"/>
          </a:p>
        </p:txBody>
      </p:sp>
      <p:sp>
        <p:nvSpPr>
          <p:cNvPr id="3" name="Subtitle 2"/>
          <p:cNvSpPr>
            <a:spLocks noGrp="1"/>
          </p:cNvSpPr>
          <p:nvPr>
            <p:ph type="subTitle" idx="1"/>
          </p:nvPr>
        </p:nvSpPr>
        <p:spPr>
          <a:xfrm>
            <a:off x="685801" y="3543050"/>
            <a:ext cx="5123328" cy="1238475"/>
          </a:xfrm>
        </p:spPr>
        <p:txBody>
          <a:bodyPr/>
          <a:lstStyle/>
          <a:p>
            <a:pPr>
              <a:spcBef>
                <a:spcPts val="600"/>
              </a:spcBef>
            </a:pPr>
            <a:r>
              <a:rPr lang="en-US" sz="1600" b="1" dirty="0"/>
              <a:t>Lyn Provost, IAASB Member and Task Force Chair</a:t>
            </a:r>
          </a:p>
          <a:p>
            <a:pPr>
              <a:spcBef>
                <a:spcPts val="600"/>
              </a:spcBef>
            </a:pPr>
            <a:r>
              <a:rPr lang="en-US" sz="1600" b="1" dirty="0"/>
              <a:t>IAASB Meeting</a:t>
            </a:r>
          </a:p>
          <a:p>
            <a:pPr>
              <a:spcBef>
                <a:spcPts val="600"/>
              </a:spcBef>
            </a:pPr>
            <a:r>
              <a:rPr lang="en-US" sz="1600" b="1" dirty="0"/>
              <a:t>September 21, 2020</a:t>
            </a:r>
          </a:p>
          <a:p>
            <a:pPr>
              <a:spcBef>
                <a:spcPts val="600"/>
              </a:spcBef>
            </a:pPr>
            <a:r>
              <a:rPr lang="en-US" sz="1600" b="1" dirty="0"/>
              <a:t>Agenda Item 4 (Indicative Vote)</a:t>
            </a:r>
          </a:p>
        </p:txBody>
      </p:sp>
      <p:sp>
        <p:nvSpPr>
          <p:cNvPr id="4" name="Slide Number Placeholder 5">
            <a:extLst>
              <a:ext uri="{FF2B5EF4-FFF2-40B4-BE49-F238E27FC236}">
                <a16:creationId xmlns:a16="http://schemas.microsoft.com/office/drawing/2014/main" id="{3664150A-AB4F-49F1-8611-9C1057D8B778}"/>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Walk-through of Proposed ISA 220 (Revised)</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a:t>
            </a:fld>
            <a:endParaRPr lang="en-US" sz="675" dirty="0">
              <a:solidFill>
                <a:srgbClr val="808080"/>
              </a:solidFill>
              <a:latin typeface="Arial" panose="020B0604020202020204" pitchFamily="34" charset="0"/>
            </a:endParaRPr>
          </a:p>
        </p:txBody>
      </p:sp>
      <p:graphicFrame>
        <p:nvGraphicFramePr>
          <p:cNvPr id="3" name="Table 3">
            <a:extLst>
              <a:ext uri="{FF2B5EF4-FFF2-40B4-BE49-F238E27FC236}">
                <a16:creationId xmlns:a16="http://schemas.microsoft.com/office/drawing/2014/main" id="{72C3707F-A2C8-4D3D-8B32-D627F1B4FE37}"/>
              </a:ext>
            </a:extLst>
          </p:cNvPr>
          <p:cNvGraphicFramePr>
            <a:graphicFrameLocks noGrp="1"/>
          </p:cNvGraphicFramePr>
          <p:nvPr>
            <p:extLst>
              <p:ext uri="{D42A27DB-BD31-4B8C-83A1-F6EECF244321}">
                <p14:modId xmlns:p14="http://schemas.microsoft.com/office/powerpoint/2010/main" val="1644654389"/>
              </p:ext>
            </p:extLst>
          </p:nvPr>
        </p:nvGraphicFramePr>
        <p:xfrm>
          <a:off x="464455" y="831850"/>
          <a:ext cx="8403774" cy="3962400"/>
        </p:xfrm>
        <a:graphic>
          <a:graphicData uri="http://schemas.openxmlformats.org/drawingml/2006/table">
            <a:tbl>
              <a:tblPr firstRow="1" bandRow="1">
                <a:tableStyleId>{F5AB1C69-6EDB-4FF4-983F-18BD219EF322}</a:tableStyleId>
              </a:tblPr>
              <a:tblGrid>
                <a:gridCol w="3454402">
                  <a:extLst>
                    <a:ext uri="{9D8B030D-6E8A-4147-A177-3AD203B41FA5}">
                      <a16:colId xmlns:a16="http://schemas.microsoft.com/office/drawing/2014/main" val="3033556321"/>
                    </a:ext>
                  </a:extLst>
                </a:gridCol>
                <a:gridCol w="4949372">
                  <a:extLst>
                    <a:ext uri="{9D8B030D-6E8A-4147-A177-3AD203B41FA5}">
                      <a16:colId xmlns:a16="http://schemas.microsoft.com/office/drawing/2014/main" val="3009871604"/>
                    </a:ext>
                  </a:extLst>
                </a:gridCol>
              </a:tblGrid>
              <a:tr h="257447">
                <a:tc>
                  <a:txBody>
                    <a:bodyPr/>
                    <a:lstStyle/>
                    <a:p>
                      <a:r>
                        <a:rPr lang="en-US" sz="2000" dirty="0">
                          <a:latin typeface="Arial" panose="020B0604020202020204" pitchFamily="34" charset="0"/>
                          <a:cs typeface="Arial" panose="020B0604020202020204" pitchFamily="34" charset="0"/>
                        </a:rPr>
                        <a:t>Requirement Paragraphs</a:t>
                      </a:r>
                    </a:p>
                  </a:txBody>
                  <a:tcPr/>
                </a:tc>
                <a:tc>
                  <a:txBody>
                    <a:bodyPr/>
                    <a:lstStyle/>
                    <a:p>
                      <a:pPr marL="0" algn="l" defTabSz="342900" rtl="0" eaLnBrk="1" latinLnBrk="0" hangingPunct="1"/>
                      <a:r>
                        <a:rPr lang="en-US" sz="2000" b="1" kern="1200" dirty="0">
                          <a:solidFill>
                            <a:schemeClr val="lt1"/>
                          </a:solidFill>
                          <a:latin typeface="Arial" panose="020B0604020202020204" pitchFamily="34" charset="0"/>
                          <a:cs typeface="Arial" panose="020B0604020202020204" pitchFamily="34" charset="0"/>
                        </a:rPr>
                        <a:t>Application Material Paragraphs</a:t>
                      </a:r>
                      <a:endParaRPr lang="en-US" sz="2000" b="1" kern="1200" dirty="0">
                        <a:solidFill>
                          <a:schemeClr val="lt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180381724"/>
                  </a:ext>
                </a:extLst>
              </a:tr>
              <a:tr h="370840">
                <a:tc>
                  <a:txBody>
                    <a:bodyPr/>
                    <a:lstStyle/>
                    <a:p>
                      <a:r>
                        <a:rPr lang="en-US" sz="2000" dirty="0">
                          <a:latin typeface="Arial" panose="020B0604020202020204" pitchFamily="34" charset="0"/>
                          <a:cs typeface="Arial" panose="020B0604020202020204" pitchFamily="34" charset="0"/>
                        </a:rPr>
                        <a:t>1‒12</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A1‒A26, A32‒A35, A37</a:t>
                      </a:r>
                    </a:p>
                  </a:txBody>
                  <a:tcPr>
                    <a:solidFill>
                      <a:srgbClr val="FFC000"/>
                    </a:solidFill>
                  </a:tcPr>
                </a:tc>
                <a:extLst>
                  <a:ext uri="{0D108BD9-81ED-4DB2-BD59-A6C34878D82A}">
                    <a16:rowId xmlns:a16="http://schemas.microsoft.com/office/drawing/2014/main" val="1078787798"/>
                  </a:ext>
                </a:extLst>
              </a:tr>
              <a:tr h="370840">
                <a:tc>
                  <a:txBody>
                    <a:bodyPr/>
                    <a:lstStyle/>
                    <a:p>
                      <a:r>
                        <a:rPr lang="en-US" sz="2000" dirty="0">
                          <a:latin typeface="Arial" panose="020B0604020202020204" pitchFamily="34" charset="0"/>
                          <a:cs typeface="Arial" panose="020B0604020202020204" pitchFamily="34" charset="0"/>
                        </a:rPr>
                        <a:t>13‒15</a:t>
                      </a:r>
                    </a:p>
                  </a:txBody>
                  <a:tcPr/>
                </a:tc>
                <a:tc>
                  <a:txBody>
                    <a:bodyPr/>
                    <a:lstStyle/>
                    <a:p>
                      <a:r>
                        <a:rPr lang="en-US" sz="2000" dirty="0">
                          <a:latin typeface="Arial" panose="020B0604020202020204" pitchFamily="34" charset="0"/>
                          <a:cs typeface="Arial" panose="020B0604020202020204" pitchFamily="34" charset="0"/>
                        </a:rPr>
                        <a:t>A8, A27‒A36</a:t>
                      </a:r>
                    </a:p>
                  </a:txBody>
                  <a:tcPr/>
                </a:tc>
                <a:extLst>
                  <a:ext uri="{0D108BD9-81ED-4DB2-BD59-A6C34878D82A}">
                    <a16:rowId xmlns:a16="http://schemas.microsoft.com/office/drawing/2014/main" val="1125060624"/>
                  </a:ext>
                </a:extLst>
              </a:tr>
              <a:tr h="370840">
                <a:tc>
                  <a:txBody>
                    <a:bodyPr/>
                    <a:lstStyle/>
                    <a:p>
                      <a:r>
                        <a:rPr lang="en-US" sz="2000" dirty="0">
                          <a:latin typeface="Arial" panose="020B0604020202020204" pitchFamily="34" charset="0"/>
                          <a:cs typeface="Arial" panose="020B0604020202020204" pitchFamily="34" charset="0"/>
                        </a:rPr>
                        <a:t>16‒21</a:t>
                      </a:r>
                    </a:p>
                  </a:txBody>
                  <a:tcPr/>
                </a:tc>
                <a:tc>
                  <a:txBody>
                    <a:bodyPr/>
                    <a:lstStyle/>
                    <a:p>
                      <a:r>
                        <a:rPr lang="en-US" sz="2000" dirty="0">
                          <a:latin typeface="Arial" panose="020B0604020202020204" pitchFamily="34" charset="0"/>
                          <a:cs typeface="Arial" panose="020B0604020202020204" pitchFamily="34" charset="0"/>
                        </a:rPr>
                        <a:t>A22‒A24, A37‒A47</a:t>
                      </a:r>
                    </a:p>
                  </a:txBody>
                  <a:tcPr/>
                </a:tc>
                <a:extLst>
                  <a:ext uri="{0D108BD9-81ED-4DB2-BD59-A6C34878D82A}">
                    <a16:rowId xmlns:a16="http://schemas.microsoft.com/office/drawing/2014/main" val="1426910164"/>
                  </a:ext>
                </a:extLst>
              </a:tr>
              <a:tr h="370840">
                <a:tc>
                  <a:txBody>
                    <a:bodyPr/>
                    <a:lstStyle/>
                    <a:p>
                      <a:r>
                        <a:rPr lang="en-US" sz="2000" dirty="0">
                          <a:latin typeface="Arial" panose="020B0604020202020204" pitchFamily="34" charset="0"/>
                          <a:cs typeface="Arial" panose="020B0604020202020204" pitchFamily="34" charset="0"/>
                        </a:rPr>
                        <a:t>22‒24</a:t>
                      </a:r>
                    </a:p>
                  </a:txBody>
                  <a:tcPr/>
                </a:tc>
                <a:tc>
                  <a:txBody>
                    <a:bodyPr/>
                    <a:lstStyle/>
                    <a:p>
                      <a:r>
                        <a:rPr lang="en-US" sz="2000" dirty="0">
                          <a:latin typeface="Arial" panose="020B0604020202020204" pitchFamily="34" charset="0"/>
                          <a:cs typeface="Arial" panose="020B0604020202020204" pitchFamily="34" charset="0"/>
                        </a:rPr>
                        <a:t>A48‒A57</a:t>
                      </a:r>
                    </a:p>
                  </a:txBody>
                  <a:tcPr/>
                </a:tc>
                <a:extLst>
                  <a:ext uri="{0D108BD9-81ED-4DB2-BD59-A6C34878D82A}">
                    <a16:rowId xmlns:a16="http://schemas.microsoft.com/office/drawing/2014/main" val="3565521318"/>
                  </a:ext>
                </a:extLst>
              </a:tr>
              <a:tr h="370840">
                <a:tc>
                  <a:txBody>
                    <a:bodyPr/>
                    <a:lstStyle/>
                    <a:p>
                      <a:r>
                        <a:rPr lang="en-US" sz="2000" dirty="0">
                          <a:latin typeface="Arial" panose="020B0604020202020204" pitchFamily="34" charset="0"/>
                          <a:cs typeface="Arial" panose="020B0604020202020204" pitchFamily="34" charset="0"/>
                        </a:rPr>
                        <a:t>25‒28</a:t>
                      </a:r>
                    </a:p>
                  </a:txBody>
                  <a:tcPr/>
                </a:tc>
                <a:tc>
                  <a:txBody>
                    <a:bodyPr/>
                    <a:lstStyle/>
                    <a:p>
                      <a:r>
                        <a:rPr lang="en-US" sz="2000" dirty="0">
                          <a:latin typeface="Arial" panose="020B0604020202020204" pitchFamily="34" charset="0"/>
                          <a:cs typeface="Arial" panose="020B0604020202020204" pitchFamily="34" charset="0"/>
                        </a:rPr>
                        <a:t>A58‒A79</a:t>
                      </a:r>
                    </a:p>
                  </a:txBody>
                  <a:tcPr/>
                </a:tc>
                <a:extLst>
                  <a:ext uri="{0D108BD9-81ED-4DB2-BD59-A6C34878D82A}">
                    <a16:rowId xmlns:a16="http://schemas.microsoft.com/office/drawing/2014/main" val="625387235"/>
                  </a:ext>
                </a:extLst>
              </a:tr>
              <a:tr h="370840">
                <a:tc>
                  <a:txBody>
                    <a:bodyPr/>
                    <a:lstStyle/>
                    <a:p>
                      <a:r>
                        <a:rPr lang="en-US" sz="2000" dirty="0">
                          <a:latin typeface="Arial" panose="020B0604020202020204" pitchFamily="34" charset="0"/>
                          <a:cs typeface="Arial" panose="020B0604020202020204" pitchFamily="34" charset="0"/>
                        </a:rPr>
                        <a:t>29‒38</a:t>
                      </a:r>
                    </a:p>
                  </a:txBody>
                  <a:tcPr/>
                </a:tc>
                <a:tc>
                  <a:txBody>
                    <a:bodyPr/>
                    <a:lstStyle/>
                    <a:p>
                      <a:r>
                        <a:rPr lang="en-US" sz="2000" dirty="0">
                          <a:latin typeface="Arial" panose="020B0604020202020204" pitchFamily="34" charset="0"/>
                          <a:cs typeface="Arial" panose="020B0604020202020204" pitchFamily="34" charset="0"/>
                        </a:rPr>
                        <a:t>A80‒A108</a:t>
                      </a:r>
                    </a:p>
                  </a:txBody>
                  <a:tcPr/>
                </a:tc>
                <a:extLst>
                  <a:ext uri="{0D108BD9-81ED-4DB2-BD59-A6C34878D82A}">
                    <a16:rowId xmlns:a16="http://schemas.microsoft.com/office/drawing/2014/main" val="3478193152"/>
                  </a:ext>
                </a:extLst>
              </a:tr>
              <a:tr h="370840">
                <a:tc>
                  <a:txBody>
                    <a:bodyPr/>
                    <a:lstStyle/>
                    <a:p>
                      <a:r>
                        <a:rPr lang="en-US" sz="2000" dirty="0">
                          <a:latin typeface="Arial" panose="020B0604020202020204" pitchFamily="34" charset="0"/>
                          <a:cs typeface="Arial" panose="020B0604020202020204" pitchFamily="34" charset="0"/>
                        </a:rPr>
                        <a:t>39</a:t>
                      </a:r>
                    </a:p>
                  </a:txBody>
                  <a:tcPr/>
                </a:tc>
                <a:tc>
                  <a:txBody>
                    <a:bodyPr/>
                    <a:lstStyle/>
                    <a:p>
                      <a:r>
                        <a:rPr lang="en-US" sz="2000" dirty="0">
                          <a:latin typeface="Arial" panose="020B0604020202020204" pitchFamily="34" charset="0"/>
                          <a:cs typeface="Arial" panose="020B0604020202020204" pitchFamily="34" charset="0"/>
                        </a:rPr>
                        <a:t>A109‒A112</a:t>
                      </a:r>
                    </a:p>
                  </a:txBody>
                  <a:tcPr/>
                </a:tc>
                <a:extLst>
                  <a:ext uri="{0D108BD9-81ED-4DB2-BD59-A6C34878D82A}">
                    <a16:rowId xmlns:a16="http://schemas.microsoft.com/office/drawing/2014/main" val="2273351075"/>
                  </a:ext>
                </a:extLst>
              </a:tr>
              <a:tr h="370840">
                <a:tc>
                  <a:txBody>
                    <a:bodyPr/>
                    <a:lstStyle/>
                    <a:p>
                      <a:r>
                        <a:rPr lang="en-US" sz="2000" dirty="0">
                          <a:latin typeface="Arial" panose="020B0604020202020204" pitchFamily="34" charset="0"/>
                          <a:cs typeface="Arial" panose="020B0604020202020204" pitchFamily="34" charset="0"/>
                        </a:rPr>
                        <a:t>40</a:t>
                      </a:r>
                    </a:p>
                  </a:txBody>
                  <a:tcPr/>
                </a:tc>
                <a:tc>
                  <a:txBody>
                    <a:bodyPr/>
                    <a:lstStyle/>
                    <a:p>
                      <a:r>
                        <a:rPr lang="en-US" sz="2000" dirty="0">
                          <a:latin typeface="Arial" panose="020B0604020202020204" pitchFamily="34" charset="0"/>
                          <a:cs typeface="Arial" panose="020B0604020202020204" pitchFamily="34" charset="0"/>
                        </a:rPr>
                        <a:t>A113‒A116</a:t>
                      </a:r>
                    </a:p>
                  </a:txBody>
                  <a:tcPr/>
                </a:tc>
                <a:extLst>
                  <a:ext uri="{0D108BD9-81ED-4DB2-BD59-A6C34878D82A}">
                    <a16:rowId xmlns:a16="http://schemas.microsoft.com/office/drawing/2014/main" val="1286551987"/>
                  </a:ext>
                </a:extLst>
              </a:tr>
              <a:tr h="370840">
                <a:tc>
                  <a:txBody>
                    <a:bodyPr/>
                    <a:lstStyle/>
                    <a:p>
                      <a:r>
                        <a:rPr lang="en-US" sz="2000" dirty="0">
                          <a:latin typeface="Arial" panose="020B0604020202020204" pitchFamily="34" charset="0"/>
                          <a:cs typeface="Arial" panose="020B0604020202020204" pitchFamily="34" charset="0"/>
                        </a:rPr>
                        <a:t>41</a:t>
                      </a:r>
                    </a:p>
                  </a:txBody>
                  <a:tcPr/>
                </a:tc>
                <a:tc>
                  <a:txBody>
                    <a:bodyPr/>
                    <a:lstStyle/>
                    <a:p>
                      <a:r>
                        <a:rPr lang="en-US" sz="2000" dirty="0">
                          <a:latin typeface="Arial" panose="020B0604020202020204" pitchFamily="34" charset="0"/>
                          <a:cs typeface="Arial" panose="020B0604020202020204" pitchFamily="34" charset="0"/>
                        </a:rPr>
                        <a:t>A117‒A120</a:t>
                      </a:r>
                    </a:p>
                  </a:txBody>
                  <a:tcPr/>
                </a:tc>
                <a:extLst>
                  <a:ext uri="{0D108BD9-81ED-4DB2-BD59-A6C34878D82A}">
                    <a16:rowId xmlns:a16="http://schemas.microsoft.com/office/drawing/2014/main" val="2846500395"/>
                  </a:ext>
                </a:extLst>
              </a:tr>
            </a:tbl>
          </a:graphicData>
        </a:graphic>
      </p:graphicFrame>
    </p:spTree>
    <p:extLst>
      <p:ext uri="{BB962C8B-B14F-4D97-AF65-F5344CB8AC3E}">
        <p14:creationId xmlns:p14="http://schemas.microsoft.com/office/powerpoint/2010/main" val="3274268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417280" cy="3838230"/>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endParaRPr lang="en-US" sz="2000" b="1" kern="400" dirty="0">
              <a:solidFill>
                <a:schemeClr val="tx1">
                  <a:lumMod val="65000"/>
                  <a:lumOff val="35000"/>
                </a:schemeClr>
              </a:solidFill>
              <a:latin typeface="Arial" panose="020B0604020202020204" pitchFamily="34" charset="0"/>
              <a:ea typeface="Times New Roman" panose="02020603050405020304" pitchFamily="18" charset="0"/>
            </a:endParaRPr>
          </a:p>
          <a:p>
            <a:pPr algn="just">
              <a:lnSpc>
                <a:spcPts val="2400"/>
              </a:lnSpc>
              <a:spcBef>
                <a:spcPts val="600"/>
              </a:spcBef>
            </a:pPr>
            <a:r>
              <a:rPr lang="en-US" sz="1800" b="0" i="0" u="none" strike="noStrike" baseline="0" dirty="0">
                <a:latin typeface="Arial" panose="020B0604020202020204" pitchFamily="34" charset="0"/>
              </a:rPr>
              <a:t>The engagement partner remains ultimately responsible, and therefore accountable, for compliance with the requirements of this ISA. </a:t>
            </a:r>
            <a:r>
              <a:rPr lang="en-US" sz="1800" b="0" i="0" u="sng" strike="noStrike" baseline="0" dirty="0">
                <a:solidFill>
                  <a:prstClr val="black"/>
                </a:solidFill>
                <a:latin typeface="Arial" panose="020B0604020202020204" pitchFamily="34" charset="0"/>
              </a:rPr>
              <a:t>The term “the engagement partner shall take responsibility for…” is used</a:t>
            </a:r>
            <a:r>
              <a:rPr lang="en-US" sz="1800" b="0" i="0" u="none" strike="noStrike" baseline="0" dirty="0">
                <a:solidFill>
                  <a:prstClr val="black"/>
                </a:solidFill>
                <a:latin typeface="Arial" panose="020B0604020202020204" pitchFamily="34" charset="0"/>
              </a:rPr>
              <a:t> </a:t>
            </a:r>
            <a:r>
              <a:rPr lang="en-US" sz="1800" b="0" i="0" u="none" strike="sngStrike" baseline="0" dirty="0" err="1">
                <a:solidFill>
                  <a:prstClr val="black"/>
                </a:solidFill>
                <a:latin typeface="Arial" panose="020B0604020202020204" pitchFamily="34" charset="0"/>
              </a:rPr>
              <a:t>F</a:t>
            </a:r>
            <a:r>
              <a:rPr lang="en-US" sz="1800" b="0" i="0" u="sng" strike="noStrike" baseline="0" dirty="0" err="1">
                <a:solidFill>
                  <a:prstClr val="black"/>
                </a:solidFill>
                <a:latin typeface="Arial" panose="020B0604020202020204" pitchFamily="34" charset="0"/>
              </a:rPr>
              <a:t>f</a:t>
            </a:r>
            <a:r>
              <a:rPr lang="en-US" sz="1800" b="0" i="0" u="none" strike="noStrike" baseline="0" dirty="0" err="1">
                <a:solidFill>
                  <a:prstClr val="black"/>
                </a:solidFill>
                <a:latin typeface="Arial" panose="020B0604020202020204" pitchFamily="34" charset="0"/>
              </a:rPr>
              <a:t>or</a:t>
            </a:r>
            <a:r>
              <a:rPr lang="en-US" sz="1800" b="0" i="0" u="none" strike="noStrike" baseline="0" dirty="0">
                <a:solidFill>
                  <a:prstClr val="black"/>
                </a:solidFill>
                <a:latin typeface="Arial" panose="020B0604020202020204" pitchFamily="34" charset="0"/>
              </a:rPr>
              <a:t> those requirements that the engagement partner is permitted to assign the design or performance of procedures, tasks or actions to appropriately skilled or suitably experienced members of the engagement team</a:t>
            </a:r>
            <a:r>
              <a:rPr lang="en-US" sz="1800" b="0" i="0" u="none" strike="sngStrike" baseline="0" dirty="0">
                <a:solidFill>
                  <a:prstClr val="black"/>
                </a:solidFill>
                <a:latin typeface="Arial" panose="020B0604020202020204" pitchFamily="34" charset="0"/>
              </a:rPr>
              <a:t>, the term “the engagement partner shall take responsibility for…” is used. In all other </a:t>
            </a:r>
            <a:r>
              <a:rPr lang="en-US" sz="1800" b="0" i="0" u="none" strike="sngStrike" baseline="0" dirty="0" err="1">
                <a:solidFill>
                  <a:prstClr val="black"/>
                </a:solidFill>
                <a:latin typeface="Arial" panose="020B0604020202020204" pitchFamily="34" charset="0"/>
              </a:rPr>
              <a:t>circumstances</a:t>
            </a:r>
            <a:r>
              <a:rPr lang="en-US" sz="1800" b="0" i="0" u="sng" strike="noStrike" baseline="0" dirty="0" err="1">
                <a:solidFill>
                  <a:prstClr val="black"/>
                </a:solidFill>
                <a:latin typeface="Arial" panose="020B0604020202020204" pitchFamily="34" charset="0"/>
              </a:rPr>
              <a:t>For</a:t>
            </a:r>
            <a:r>
              <a:rPr lang="en-US" sz="1800" b="0" i="0" u="sng" strike="noStrike" baseline="0" dirty="0">
                <a:solidFill>
                  <a:prstClr val="black"/>
                </a:solidFill>
                <a:latin typeface="Arial" panose="020B0604020202020204" pitchFamily="34" charset="0"/>
              </a:rPr>
              <a:t> other requirements</a:t>
            </a:r>
            <a:r>
              <a:rPr lang="en-US" sz="1800" b="0" i="0" u="none" strike="noStrike" baseline="0" dirty="0">
                <a:solidFill>
                  <a:prstClr val="black"/>
                </a:solidFill>
                <a:latin typeface="Arial" panose="020B0604020202020204" pitchFamily="34" charset="0"/>
              </a:rPr>
              <a:t>, this ISA expressly intends that </a:t>
            </a:r>
            <a:r>
              <a:rPr lang="en-US" sz="1800" b="0" i="0" u="none" strike="sngStrike" baseline="0" dirty="0" err="1">
                <a:solidFill>
                  <a:prstClr val="black"/>
                </a:solidFill>
                <a:latin typeface="Arial" panose="020B0604020202020204" pitchFamily="34" charset="0"/>
              </a:rPr>
              <a:t>a</a:t>
            </a:r>
            <a:r>
              <a:rPr lang="en-US" sz="1800" b="0" i="0" u="sng" strike="noStrike" baseline="0" dirty="0" err="1">
                <a:solidFill>
                  <a:prstClr val="black"/>
                </a:solidFill>
                <a:latin typeface="Arial" panose="020B0604020202020204" pitchFamily="34" charset="0"/>
              </a:rPr>
              <a:t>the</a:t>
            </a:r>
            <a:r>
              <a:rPr lang="en-US" sz="1800" b="0" i="0" u="none" strike="noStrike" baseline="0" dirty="0">
                <a:solidFill>
                  <a:prstClr val="black"/>
                </a:solidFill>
                <a:latin typeface="Arial" panose="020B0604020202020204" pitchFamily="34" charset="0"/>
              </a:rPr>
              <a:t> requirement or responsibility be fulfilled by the engagement partner</a:t>
            </a:r>
            <a:r>
              <a:rPr lang="en-US" sz="1800" b="0" i="0" u="none" strike="sngStrike" baseline="0" dirty="0">
                <a:solidFill>
                  <a:prstClr val="black"/>
                </a:solidFill>
                <a:highlight>
                  <a:srgbClr val="FFFF00"/>
                </a:highlight>
                <a:latin typeface="Arial" panose="020B0604020202020204" pitchFamily="34" charset="0"/>
              </a:rPr>
              <a:t>. To fulfill the requirement,</a:t>
            </a:r>
            <a:r>
              <a:rPr lang="en-US" sz="1800" b="0" i="0" u="none" strike="noStrike" baseline="0" dirty="0">
                <a:solidFill>
                  <a:prstClr val="black"/>
                </a:solidFill>
                <a:highlight>
                  <a:srgbClr val="FFFF00"/>
                </a:highlight>
                <a:latin typeface="Arial" panose="020B0604020202020204" pitchFamily="34" charset="0"/>
              </a:rPr>
              <a:t> </a:t>
            </a:r>
            <a:r>
              <a:rPr lang="en-US" sz="1800" b="0" i="0" u="sng" strike="noStrike" baseline="0" dirty="0">
                <a:solidFill>
                  <a:prstClr val="black"/>
                </a:solidFill>
                <a:highlight>
                  <a:srgbClr val="FFFF00"/>
                </a:highlight>
                <a:latin typeface="Arial" panose="020B0604020202020204" pitchFamily="34" charset="0"/>
              </a:rPr>
              <a:t>and </a:t>
            </a:r>
            <a:r>
              <a:rPr lang="en-US" sz="1800" b="0" i="0" u="none" strike="noStrike" baseline="0" dirty="0">
                <a:solidFill>
                  <a:prstClr val="black"/>
                </a:solidFill>
                <a:latin typeface="Arial" panose="020B0604020202020204" pitchFamily="34" charset="0"/>
              </a:rPr>
              <a:t>the engagement partner may obtain information from the firm or other members of the engagement team. </a:t>
            </a:r>
            <a:r>
              <a:rPr lang="en-US" sz="1800" b="0" i="0" u="none" strike="sngStrike" baseline="0" dirty="0">
                <a:solidFill>
                  <a:prstClr val="black"/>
                </a:solidFill>
                <a:latin typeface="Arial" panose="020B0604020202020204" pitchFamily="34" charset="0"/>
              </a:rPr>
              <a:t>For example,</a:t>
            </a:r>
            <a:r>
              <a:rPr lang="en-US" sz="1800" b="0" i="0" u="none" baseline="0" dirty="0">
                <a:solidFill>
                  <a:prstClr val="black"/>
                </a:solidFill>
                <a:latin typeface="Arial" panose="020B0604020202020204" pitchFamily="34" charset="0"/>
              </a:rPr>
              <a:t> …</a:t>
            </a: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 9</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3</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974655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417280" cy="1991571"/>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endParaRPr lang="en-US" sz="2000" b="1" kern="400" dirty="0">
              <a:solidFill>
                <a:schemeClr val="tx1">
                  <a:lumMod val="65000"/>
                  <a:lumOff val="35000"/>
                </a:schemeClr>
              </a:solidFill>
              <a:latin typeface="Arial" panose="020B0604020202020204" pitchFamily="34" charset="0"/>
              <a:ea typeface="Times New Roman" panose="02020603050405020304" pitchFamily="18" charset="0"/>
            </a:endParaRPr>
          </a:p>
          <a:p>
            <a:pPr algn="just">
              <a:lnSpc>
                <a:spcPts val="2400"/>
              </a:lnSpc>
              <a:spcBef>
                <a:spcPts val="600"/>
              </a:spcBef>
            </a:pPr>
            <a:r>
              <a:rPr lang="en-US" sz="1800" b="0" i="0" u="sng" strike="noStrike" baseline="0" dirty="0">
                <a:solidFill>
                  <a:prstClr val="black"/>
                </a:solidFill>
                <a:latin typeface="Arial" panose="020B0604020202020204" pitchFamily="34" charset="0"/>
              </a:rPr>
              <a:t>For other requirements</a:t>
            </a:r>
            <a:r>
              <a:rPr lang="en-US" sz="1800" b="0" i="0" u="sng" strike="noStrike" baseline="0" dirty="0">
                <a:solidFill>
                  <a:prstClr val="black"/>
                </a:solidFill>
                <a:highlight>
                  <a:srgbClr val="FFFF00"/>
                </a:highlight>
                <a:latin typeface="Arial" panose="020B0604020202020204" pitchFamily="34" charset="0"/>
              </a:rPr>
              <a:t>, excluding paragraph 37 and 41</a:t>
            </a:r>
            <a:r>
              <a:rPr lang="en-US" sz="1800" b="0" i="0" u="none" strike="noStrike" baseline="0" dirty="0">
                <a:solidFill>
                  <a:prstClr val="black"/>
                </a:solidFill>
                <a:latin typeface="Arial" panose="020B0604020202020204" pitchFamily="34" charset="0"/>
              </a:rPr>
              <a:t>, this ISA expressly intends that </a:t>
            </a:r>
            <a:r>
              <a:rPr lang="en-US" sz="1800" b="0" i="0" u="none" strike="sngStrike" baseline="0" dirty="0" err="1">
                <a:solidFill>
                  <a:prstClr val="black"/>
                </a:solidFill>
                <a:latin typeface="Arial" panose="020B0604020202020204" pitchFamily="34" charset="0"/>
              </a:rPr>
              <a:t>a</a:t>
            </a:r>
            <a:r>
              <a:rPr lang="en-US" sz="1800" b="0" i="0" u="sng" strike="noStrike" baseline="0" dirty="0" err="1">
                <a:solidFill>
                  <a:prstClr val="black"/>
                </a:solidFill>
                <a:latin typeface="Arial" panose="020B0604020202020204" pitchFamily="34" charset="0"/>
              </a:rPr>
              <a:t>the</a:t>
            </a:r>
            <a:r>
              <a:rPr lang="en-US" sz="1800" b="0" i="0" u="none" strike="noStrike" baseline="0" dirty="0">
                <a:solidFill>
                  <a:prstClr val="black"/>
                </a:solidFill>
                <a:latin typeface="Arial" panose="020B0604020202020204" pitchFamily="34" charset="0"/>
              </a:rPr>
              <a:t> requirement or responsibility be fulfilled by the engagement partner</a:t>
            </a:r>
            <a:r>
              <a:rPr lang="en-US" sz="1800" b="0" i="0" u="none" strike="sngStrike" baseline="0" dirty="0">
                <a:solidFill>
                  <a:prstClr val="black"/>
                </a:solidFill>
                <a:highlight>
                  <a:srgbClr val="FFFF00"/>
                </a:highlight>
                <a:latin typeface="Arial" panose="020B0604020202020204" pitchFamily="34" charset="0"/>
              </a:rPr>
              <a:t>. To fulfill the requirement,</a:t>
            </a:r>
            <a:r>
              <a:rPr lang="en-US" sz="1800" b="0" i="0" u="none" strike="noStrike" baseline="0" dirty="0">
                <a:solidFill>
                  <a:prstClr val="black"/>
                </a:solidFill>
                <a:highlight>
                  <a:srgbClr val="FFFF00"/>
                </a:highlight>
                <a:latin typeface="Arial" panose="020B0604020202020204" pitchFamily="34" charset="0"/>
              </a:rPr>
              <a:t> </a:t>
            </a:r>
            <a:r>
              <a:rPr lang="en-US" sz="1800" b="0" i="0" u="sng" strike="noStrike" baseline="0" dirty="0">
                <a:solidFill>
                  <a:prstClr val="black"/>
                </a:solidFill>
                <a:highlight>
                  <a:srgbClr val="FFFF00"/>
                </a:highlight>
                <a:latin typeface="Arial" panose="020B0604020202020204" pitchFamily="34" charset="0"/>
              </a:rPr>
              <a:t>and </a:t>
            </a:r>
            <a:r>
              <a:rPr lang="en-US" sz="1800" b="0" i="0" u="none" strike="noStrike" baseline="0" dirty="0">
                <a:solidFill>
                  <a:prstClr val="black"/>
                </a:solidFill>
                <a:latin typeface="Arial" panose="020B0604020202020204" pitchFamily="34" charset="0"/>
              </a:rPr>
              <a:t>the engagement partner may obtain information from the firm or other members of the engagement team. </a:t>
            </a:r>
            <a:r>
              <a:rPr lang="en-US" sz="1800" b="0" i="0" u="none" strike="sngStrike" baseline="0" dirty="0">
                <a:solidFill>
                  <a:prstClr val="black"/>
                </a:solidFill>
                <a:latin typeface="Arial" panose="020B0604020202020204" pitchFamily="34" charset="0"/>
              </a:rPr>
              <a:t>For example,</a:t>
            </a:r>
            <a:r>
              <a:rPr lang="en-US" sz="1800" b="0" i="0" u="none" baseline="0" dirty="0">
                <a:solidFill>
                  <a:prstClr val="black"/>
                </a:solidFill>
                <a:latin typeface="Arial" panose="020B0604020202020204" pitchFamily="34" charset="0"/>
              </a:rPr>
              <a:t> …</a:t>
            </a: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Alternative for Paragraph 9, Last Sentence</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4</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919716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3607398"/>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marR="0" algn="just" rtl="0">
              <a:lnSpc>
                <a:spcPts val="2400"/>
              </a:lnSpc>
              <a:spcBef>
                <a:spcPts val="600"/>
              </a:spcBef>
            </a:pPr>
            <a:r>
              <a:rPr lang="en-US" sz="1800" b="0" i="0" u="none" strike="noStrike" baseline="0" dirty="0">
                <a:latin typeface="Arial" panose="020B0604020202020204" pitchFamily="34" charset="0"/>
              </a:rPr>
              <a:t>This ISA applies to all audits of financial statements, including audits of group financial statements. ISA 600 deals with special considerations that apply to an audit of group financial statements, </a:t>
            </a:r>
            <a:r>
              <a:rPr lang="en-US" sz="1800" b="0" i="0" u="none" strike="sngStrike" baseline="0" dirty="0">
                <a:latin typeface="Arial" panose="020B0604020202020204" pitchFamily="34" charset="0"/>
              </a:rPr>
              <a:t>including in those </a:t>
            </a:r>
            <a:r>
              <a:rPr lang="en-US" sz="1800" b="0" i="0" u="none" strike="sngStrike" baseline="0" dirty="0" err="1">
                <a:latin typeface="Arial" panose="020B0604020202020204" pitchFamily="34" charset="0"/>
              </a:rPr>
              <a:t>circumstances</a:t>
            </a:r>
            <a:r>
              <a:rPr lang="en-US" sz="1800" b="0" i="0" u="sng" strike="noStrike" baseline="0" dirty="0" err="1">
                <a:solidFill>
                  <a:prstClr val="black"/>
                </a:solidFill>
                <a:latin typeface="Arial" panose="020B0604020202020204" pitchFamily="34" charset="0"/>
              </a:rPr>
              <a:t>and</a:t>
            </a:r>
            <a:r>
              <a:rPr lang="en-US" sz="1800" b="0" i="0" u="none" strike="noStrike" baseline="0" dirty="0">
                <a:solidFill>
                  <a:prstClr val="black"/>
                </a:solidFill>
                <a:latin typeface="Arial" panose="020B0604020202020204" pitchFamily="34" charset="0"/>
              </a:rPr>
              <a:t> when component auditors are involved. ISA 600, adapted as necessary in the circumstances, may also be useful in an audit of financial statements when the engagement team includes individuals from another firm. For example, ISA 600 may be useful when involving such an individual to attend a physical inventory count, inspect property, plant and equipment, or perform audit procedures at a shared service center at a </a:t>
            </a:r>
            <a:r>
              <a:rPr lang="en-US" sz="1800" b="0" i="0" u="sng" strike="noStrike" baseline="0" dirty="0">
                <a:solidFill>
                  <a:prstClr val="black"/>
                </a:solidFill>
                <a:highlight>
                  <a:srgbClr val="FFFF00"/>
                </a:highlight>
                <a:latin typeface="Arial" panose="020B0604020202020204" pitchFamily="34" charset="0"/>
              </a:rPr>
              <a:t>remote</a:t>
            </a:r>
            <a:r>
              <a:rPr lang="en-US" sz="1800" b="0" i="0" u="sng" strike="noStrike" baseline="0" dirty="0">
                <a:solidFill>
                  <a:prstClr val="black"/>
                </a:solidFill>
                <a:highlight>
                  <a:srgbClr val="00FF00"/>
                </a:highlight>
                <a:latin typeface="Arial" panose="020B0604020202020204" pitchFamily="34" charset="0"/>
              </a:rPr>
              <a:t> </a:t>
            </a:r>
            <a:r>
              <a:rPr lang="en-US" sz="1800" b="0" i="0" u="none" baseline="0" dirty="0">
                <a:solidFill>
                  <a:prstClr val="black"/>
                </a:solidFill>
                <a:latin typeface="Arial" panose="020B0604020202020204" pitchFamily="34" charset="0"/>
              </a:rPr>
              <a:t>location </a:t>
            </a:r>
            <a:r>
              <a:rPr lang="en-US" sz="1800" b="0" i="0" u="none" strike="sngStrike" baseline="0" dirty="0">
                <a:solidFill>
                  <a:prstClr val="black"/>
                </a:solidFill>
                <a:highlight>
                  <a:srgbClr val="FFFF00"/>
                </a:highlight>
                <a:latin typeface="Arial" panose="020B0604020202020204" pitchFamily="34" charset="0"/>
              </a:rPr>
              <a:t>remote to the engagement team</a:t>
            </a:r>
            <a:r>
              <a:rPr lang="en-US" sz="1800" b="0" i="0" u="none" strike="noStrike" baseline="0" dirty="0">
                <a:solidFill>
                  <a:prstClr val="black"/>
                </a:solidFill>
                <a:highlight>
                  <a:srgbClr val="FFFF00"/>
                </a:highlight>
                <a:latin typeface="Arial" panose="020B0604020202020204" pitchFamily="34" charset="0"/>
              </a:rPr>
              <a:t>.</a:t>
            </a:r>
          </a:p>
          <a:p>
            <a:pPr algn="just">
              <a:lnSpc>
                <a:spcPts val="2400"/>
              </a:lnSpc>
              <a:spcBef>
                <a:spcPts val="600"/>
              </a:spcBef>
            </a:pP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 A1</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5</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573387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2991845"/>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algn="just">
              <a:lnSpc>
                <a:spcPts val="2400"/>
              </a:lnSpc>
              <a:spcBef>
                <a:spcPts val="600"/>
              </a:spcBef>
            </a:pPr>
            <a:r>
              <a:rPr lang="en-US" sz="2000" b="0" i="0" u="none" strike="noStrike" baseline="0" dirty="0">
                <a:latin typeface="Arial" panose="020B0604020202020204" pitchFamily="34" charset="0"/>
              </a:rPr>
              <a:t>Quality management at the engagement level is supported by the firm’s system of quality management and informed by the specific nature and circumstances of the audit engagement. In accordance with </a:t>
            </a:r>
            <a:r>
              <a:rPr lang="en-US" sz="2000" b="0" i="0" u="none" strike="sngStrike" baseline="0" dirty="0">
                <a:latin typeface="Arial" panose="020B0604020202020204" pitchFamily="34" charset="0"/>
              </a:rPr>
              <a:t>proposed </a:t>
            </a:r>
            <a:r>
              <a:rPr lang="en-US" sz="2000" b="0" i="0" u="none" strike="noStrike" baseline="0" dirty="0">
                <a:latin typeface="Arial" panose="020B0604020202020204" pitchFamily="34" charset="0"/>
              </a:rPr>
              <a:t>ISQM 1, the firm is responsible for communicating information </a:t>
            </a:r>
            <a:r>
              <a:rPr lang="en-US" sz="2000" b="0" i="0" u="none" strike="sngStrike" baseline="0" dirty="0">
                <a:highlight>
                  <a:srgbClr val="FFFF00"/>
                </a:highlight>
                <a:latin typeface="Arial" panose="020B0604020202020204" pitchFamily="34" charset="0"/>
              </a:rPr>
              <a:t>to the</a:t>
            </a:r>
            <a:r>
              <a:rPr lang="en-US" sz="2000" b="0" i="0" u="none" strike="noStrike" baseline="0" dirty="0">
                <a:highlight>
                  <a:srgbClr val="FFFF00"/>
                </a:highlight>
                <a:latin typeface="Arial" panose="020B0604020202020204" pitchFamily="34" charset="0"/>
              </a:rPr>
              <a:t> </a:t>
            </a:r>
            <a:r>
              <a:rPr lang="en-US" sz="2000" b="0" i="0" u="none" strike="sngStrike" baseline="0" dirty="0">
                <a:highlight>
                  <a:srgbClr val="FFFF00"/>
                </a:highlight>
                <a:latin typeface="Arial" panose="020B0604020202020204" pitchFamily="34" charset="0"/>
              </a:rPr>
              <a:t>engagement team</a:t>
            </a:r>
            <a:r>
              <a:rPr lang="en-US" sz="2000" b="0" i="0" u="none" strike="noStrike" baseline="0" dirty="0">
                <a:highlight>
                  <a:srgbClr val="FFFF00"/>
                </a:highlight>
                <a:latin typeface="Arial" panose="020B0604020202020204" pitchFamily="34" charset="0"/>
              </a:rPr>
              <a:t> </a:t>
            </a:r>
            <a:r>
              <a:rPr lang="en-US" sz="2000" b="0" i="0" u="none" strike="noStrike" baseline="0" dirty="0">
                <a:latin typeface="Arial" panose="020B0604020202020204" pitchFamily="34" charset="0"/>
              </a:rPr>
              <a:t>that enables </a:t>
            </a:r>
            <a:r>
              <a:rPr lang="en-US" sz="2000" b="0" i="0" u="none" strike="sngStrike" baseline="0" dirty="0">
                <a:highlight>
                  <a:srgbClr val="FFFF00"/>
                </a:highlight>
                <a:latin typeface="Arial" panose="020B0604020202020204" pitchFamily="34" charset="0"/>
              </a:rPr>
              <a:t>them </a:t>
            </a:r>
            <a:r>
              <a:rPr lang="en-US" sz="2000" b="0" i="0" u="sng" baseline="0" dirty="0">
                <a:solidFill>
                  <a:prstClr val="black"/>
                </a:solidFill>
                <a:highlight>
                  <a:srgbClr val="FFFF00"/>
                </a:highlight>
                <a:latin typeface="Arial" panose="020B0604020202020204" pitchFamily="34" charset="0"/>
              </a:rPr>
              <a:t>the engagement team </a:t>
            </a:r>
            <a:r>
              <a:rPr lang="en-US" sz="2000" b="0" i="0" u="none" strike="noStrike" baseline="0" dirty="0">
                <a:solidFill>
                  <a:prstClr val="black"/>
                </a:solidFill>
                <a:latin typeface="Arial" panose="020B0604020202020204" pitchFamily="34" charset="0"/>
              </a:rPr>
              <a:t>to understand and carry out their responsibilities relating to performing engagements.</a:t>
            </a:r>
            <a:r>
              <a:rPr lang="en-US" sz="2000" b="0" i="1" u="none" strike="noStrike" baseline="0" dirty="0">
                <a:solidFill>
                  <a:prstClr val="black"/>
                </a:solidFill>
                <a:latin typeface="Arial" panose="020B0604020202020204" pitchFamily="34" charset="0"/>
              </a:rPr>
              <a:t> </a:t>
            </a:r>
            <a:r>
              <a:rPr lang="en-US" sz="2000" b="0" i="0" u="none" strike="noStrike" baseline="0" dirty="0">
                <a:solidFill>
                  <a:prstClr val="black"/>
                </a:solidFill>
                <a:latin typeface="Arial" panose="020B0604020202020204" pitchFamily="34" charset="0"/>
              </a:rPr>
              <a:t>For example, ...</a:t>
            </a:r>
            <a:endPar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a:p>
            <a:pPr algn="just">
              <a:lnSpc>
                <a:spcPts val="2400"/>
              </a:lnSpc>
              <a:spcBef>
                <a:spcPts val="600"/>
              </a:spcBef>
            </a:pP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 A4</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6</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946500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4299895"/>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algn="just">
              <a:lnSpc>
                <a:spcPts val="2400"/>
              </a:lnSpc>
              <a:spcBef>
                <a:spcPts val="600"/>
              </a:spcBef>
            </a:pPr>
            <a:r>
              <a:rPr lang="en-US" sz="1800" dirty="0">
                <a:effectLst/>
                <a:latin typeface="Arial" panose="020B0604020202020204" pitchFamily="34" charset="0"/>
                <a:ea typeface="MS Mincho" panose="02020609040205080304" pitchFamily="49" charset="-128"/>
              </a:rPr>
              <a:t>Possible actions that the engagement team may take….include: …</a:t>
            </a:r>
          </a:p>
          <a:p>
            <a:pPr marL="338138" marR="0" lvl="1" indent="-338138" algn="just" rtl="0">
              <a:lnSpc>
                <a:spcPts val="2400"/>
              </a:lnSpc>
              <a:spcBef>
                <a:spcPts val="600"/>
              </a:spcBef>
              <a:buFont typeface="Symbol" panose="05050102010706020507" pitchFamily="18" charset="2"/>
              <a:buChar char="·"/>
            </a:pPr>
            <a:r>
              <a:rPr lang="en-US" sz="1800" b="0" i="0" u="none" strike="noStrike" kern="400" baseline="0" dirty="0">
                <a:latin typeface="Arial" panose="020B0604020202020204" pitchFamily="34" charset="0"/>
              </a:rPr>
              <a:t>Modifying the nature, timing and extent of direction, supervision or review by involving more experienced engagement team members, more in-person oversight on a more frequent basis or more in-depth reviews of certain working papers for:</a:t>
            </a:r>
          </a:p>
          <a:p>
            <a:pPr marL="801688" marR="0" lvl="2" indent="-450850" algn="just" rtl="0">
              <a:lnSpc>
                <a:spcPts val="2400"/>
              </a:lnSpc>
              <a:spcBef>
                <a:spcPts val="600"/>
              </a:spcBef>
              <a:buFont typeface="Courier New" panose="02070309020205020404" pitchFamily="49" charset="0"/>
              <a:buChar char="o"/>
            </a:pPr>
            <a:r>
              <a:rPr lang="en-US" sz="1800" b="0" i="0" u="none" strike="noStrike" kern="400" baseline="0" dirty="0">
                <a:latin typeface="Arial" panose="020B0604020202020204" pitchFamily="34" charset="0"/>
              </a:rPr>
              <a:t>Complex or subjective areas of the audit; </a:t>
            </a:r>
          </a:p>
          <a:p>
            <a:pPr marL="801688" marR="0" indent="-450850" algn="just" rtl="0">
              <a:lnSpc>
                <a:spcPts val="2400"/>
              </a:lnSpc>
              <a:spcBef>
                <a:spcPts val="600"/>
              </a:spcBef>
              <a:buFont typeface="Courier New" panose="02070309020205020404" pitchFamily="49" charset="0"/>
              <a:buChar char="o"/>
            </a:pPr>
            <a:r>
              <a:rPr lang="en-US" sz="1800" b="0" i="0" u="none" strike="noStrike" kern="400" baseline="0" dirty="0">
                <a:latin typeface="Arial" panose="020B0604020202020204" pitchFamily="34" charset="0"/>
              </a:rPr>
              <a:t>Areas that pose risks to achieving quality on the audit engagement; </a:t>
            </a:r>
            <a:r>
              <a:rPr lang="en-US" sz="1800" b="0" i="0" u="none" strike="sngStrike" kern="400" baseline="0" dirty="0">
                <a:highlight>
                  <a:srgbClr val="FFFF00"/>
                </a:highlight>
                <a:latin typeface="Arial" panose="020B0604020202020204" pitchFamily="34" charset="0"/>
              </a:rPr>
              <a:t>and</a:t>
            </a:r>
          </a:p>
          <a:p>
            <a:pPr marL="801688" marR="0" indent="-450850" algn="just" rtl="0">
              <a:lnSpc>
                <a:spcPts val="2400"/>
              </a:lnSpc>
              <a:spcBef>
                <a:spcPts val="600"/>
              </a:spcBef>
              <a:buFont typeface="Courier New" panose="02070309020205020404" pitchFamily="49" charset="0"/>
              <a:buChar char="o"/>
            </a:pPr>
            <a:r>
              <a:rPr lang="en-US" sz="1800" b="0" i="0" u="none" strike="noStrike" kern="400" baseline="0" dirty="0">
                <a:highlight>
                  <a:srgbClr val="FFFF00"/>
                </a:highlight>
                <a:latin typeface="Arial" panose="020B0604020202020204" pitchFamily="34" charset="0"/>
              </a:rPr>
              <a:t>Areas with a fraud risk </a:t>
            </a:r>
            <a:r>
              <a:rPr lang="en-US" sz="1800" b="0" i="0" u="none" strike="sngStrike" kern="400" baseline="0" dirty="0">
                <a:highlight>
                  <a:srgbClr val="FFFF00"/>
                </a:highlight>
                <a:latin typeface="Arial" panose="020B0604020202020204" pitchFamily="34" charset="0"/>
              </a:rPr>
              <a:t>or a</a:t>
            </a:r>
            <a:r>
              <a:rPr lang="en-US" sz="1800" b="0" i="0" u="sng" strike="sngStrike" kern="400" baseline="0" dirty="0">
                <a:solidFill>
                  <a:prstClr val="black"/>
                </a:solidFill>
                <a:highlight>
                  <a:srgbClr val="FFFF00"/>
                </a:highlight>
                <a:latin typeface="Arial" panose="020B0604020202020204" pitchFamily="34" charset="0"/>
              </a:rPr>
              <a:t>n</a:t>
            </a:r>
            <a:r>
              <a:rPr lang="en-US" sz="1800" b="0" i="0" u="none" strike="sngStrike" kern="400" baseline="0" dirty="0">
                <a:solidFill>
                  <a:prstClr val="black"/>
                </a:solidFill>
                <a:highlight>
                  <a:srgbClr val="FFFF00"/>
                </a:highlight>
                <a:latin typeface="Arial" panose="020B0604020202020204" pitchFamily="34" charset="0"/>
              </a:rPr>
              <a:t> risk </a:t>
            </a:r>
            <a:r>
              <a:rPr lang="en-US" sz="1800" b="0" i="0" u="sng" strike="sngStrike" kern="400" baseline="0" dirty="0">
                <a:solidFill>
                  <a:prstClr val="black"/>
                </a:solidFill>
                <a:highlight>
                  <a:srgbClr val="FFFF00"/>
                </a:highlight>
                <a:latin typeface="Arial" panose="020B0604020202020204" pitchFamily="34" charset="0"/>
              </a:rPr>
              <a:t>identified or </a:t>
            </a:r>
            <a:r>
              <a:rPr lang="en-US" sz="1800" b="0" i="0" u="sng" strike="sngStrike" kern="400" baseline="0" dirty="0" err="1">
                <a:solidFill>
                  <a:prstClr val="black"/>
                </a:solidFill>
                <a:highlight>
                  <a:srgbClr val="FFFF00"/>
                </a:highlight>
                <a:latin typeface="Arial" panose="020B0604020202020204" pitchFamily="34" charset="0"/>
              </a:rPr>
              <a:t>suspected</a:t>
            </a:r>
            <a:r>
              <a:rPr lang="en-US" sz="1800" b="0" i="0" u="none" strike="sngStrike" kern="400" baseline="0" dirty="0" err="1">
                <a:solidFill>
                  <a:prstClr val="black"/>
                </a:solidFill>
                <a:highlight>
                  <a:srgbClr val="FFFF00"/>
                </a:highlight>
                <a:latin typeface="Arial" panose="020B0604020202020204" pitchFamily="34" charset="0"/>
              </a:rPr>
              <a:t>of</a:t>
            </a:r>
            <a:r>
              <a:rPr lang="en-US" sz="1800" b="0" i="0" u="none" strike="sngStrike" kern="400" baseline="0" dirty="0">
                <a:solidFill>
                  <a:prstClr val="black"/>
                </a:solidFill>
                <a:highlight>
                  <a:srgbClr val="FFFF00"/>
                </a:highlight>
                <a:latin typeface="Arial" panose="020B0604020202020204" pitchFamily="34" charset="0"/>
              </a:rPr>
              <a:t>  non-compliance with laws or regulations</a:t>
            </a:r>
            <a:r>
              <a:rPr lang="en-US" sz="1800" b="0" i="0" u="sng" strike="noStrike" kern="400" baseline="0" dirty="0">
                <a:solidFill>
                  <a:prstClr val="black"/>
                </a:solidFill>
                <a:highlight>
                  <a:srgbClr val="FFFF00"/>
                </a:highlight>
                <a:latin typeface="Arial" panose="020B0604020202020204" pitchFamily="34" charset="0"/>
              </a:rPr>
              <a:t>; and</a:t>
            </a:r>
            <a:r>
              <a:rPr lang="en-US" sz="1800" b="0" i="0" u="none" strike="sngStrike" kern="400" baseline="0" dirty="0">
                <a:solidFill>
                  <a:prstClr val="black"/>
                </a:solidFill>
                <a:highlight>
                  <a:srgbClr val="FFFF00"/>
                </a:highlight>
                <a:latin typeface="Arial" panose="020B0604020202020204" pitchFamily="34" charset="0"/>
              </a:rPr>
              <a:t>.</a:t>
            </a:r>
            <a:r>
              <a:rPr lang="en-US" sz="1800" b="0" i="0" u="none" strike="noStrike" kern="400" baseline="0" dirty="0">
                <a:solidFill>
                  <a:prstClr val="black"/>
                </a:solidFill>
                <a:highlight>
                  <a:srgbClr val="FFFF00"/>
                </a:highlight>
                <a:latin typeface="Arial" panose="020B0604020202020204" pitchFamily="34" charset="0"/>
              </a:rPr>
              <a:t> </a:t>
            </a:r>
          </a:p>
          <a:p>
            <a:pPr marL="801688" marR="0" indent="-450850" algn="just" rtl="0">
              <a:lnSpc>
                <a:spcPts val="2400"/>
              </a:lnSpc>
              <a:spcBef>
                <a:spcPts val="600"/>
              </a:spcBef>
              <a:buClr>
                <a:prstClr val="black"/>
              </a:buClr>
              <a:buFont typeface="Courier New" panose="02070309020205020404" pitchFamily="49" charset="0"/>
              <a:buChar char="o"/>
            </a:pPr>
            <a:r>
              <a:rPr lang="en-US" sz="1800" b="0" i="0" u="sng" strike="noStrike" kern="400" baseline="0" dirty="0">
                <a:solidFill>
                  <a:prstClr val="black"/>
                </a:solidFill>
                <a:highlight>
                  <a:srgbClr val="FFFF00"/>
                </a:highlight>
                <a:latin typeface="Arial" panose="020B0604020202020204" pitchFamily="34" charset="0"/>
              </a:rPr>
              <a:t>Identified or suspected non-compliance with laws or regulations.</a:t>
            </a:r>
            <a:endParaRPr lang="en-US" sz="1800" b="0" i="0" u="none" strike="noStrike" kern="400" baseline="0" dirty="0">
              <a:solidFill>
                <a:prstClr val="black"/>
              </a:solidFill>
              <a:highlight>
                <a:srgbClr val="FFFF00"/>
              </a:highlight>
              <a:latin typeface="Arial" panose="020B0604020202020204" pitchFamily="34" charset="0"/>
            </a:endParaRPr>
          </a:p>
          <a:p>
            <a:pPr algn="just">
              <a:lnSpc>
                <a:spcPts val="2400"/>
              </a:lnSpc>
              <a:spcBef>
                <a:spcPts val="600"/>
              </a:spcBef>
            </a:pP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 A35 (sixth bullet)</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7</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304388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2145459"/>
          </a:xfrm>
          <a:prstGeom prst="rect">
            <a:avLst/>
          </a:prstGeom>
          <a:noFill/>
          <a:ln>
            <a:noFill/>
          </a:ln>
        </p:spPr>
        <p:txBody>
          <a:bodyPr wrap="square" rtlCol="0">
            <a:spAutoFit/>
          </a:bodyPr>
          <a:lstStyle/>
          <a:p>
            <a:pPr marL="285750" indent="-285750" algn="just">
              <a:lnSpc>
                <a:spcPts val="2400"/>
              </a:lnSpc>
              <a:spcBef>
                <a:spcPts val="600"/>
              </a:spcBef>
              <a:buFont typeface="Arial" panose="020B0604020202020204" pitchFamily="34" charset="0"/>
              <a:buChar char="•"/>
            </a:pPr>
            <a:endPar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endParaRPr>
          </a:p>
          <a:p>
            <a:pPr marL="285750" indent="-285750" algn="just">
              <a:lnSpc>
                <a:spcPts val="2400"/>
              </a:lnSpc>
              <a:spcBef>
                <a:spcPts val="600"/>
              </a:spcBef>
              <a:buFont typeface="Arial" panose="020B0604020202020204" pitchFamily="34" charset="0"/>
              <a:buChar char="•"/>
            </a:pP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Paragraph A5 – 2</a:t>
            </a:r>
            <a:r>
              <a:rPr lang="en-US" sz="1800" kern="400" baseline="30000" dirty="0">
                <a:solidFill>
                  <a:schemeClr val="tx1">
                    <a:lumMod val="65000"/>
                    <a:lumOff val="35000"/>
                  </a:schemeClr>
                </a:solidFill>
                <a:effectLst/>
                <a:latin typeface="Arial" panose="020B0604020202020204" pitchFamily="34" charset="0"/>
                <a:ea typeface="Times New Roman" panose="02020603050405020304" pitchFamily="18" charset="0"/>
              </a:rPr>
              <a:t>nd</a:t>
            </a: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 sentence – “…(for example, a requirement to use </a:t>
            </a:r>
            <a:r>
              <a:rPr lang="en-US" sz="1800" u="sng" kern="400" dirty="0">
                <a:solidFill>
                  <a:schemeClr val="tx1">
                    <a:lumMod val="65000"/>
                    <a:lumOff val="35000"/>
                  </a:schemeClr>
                </a:solidFill>
                <a:effectLst/>
                <a:highlight>
                  <a:srgbClr val="FFFF00"/>
                </a:highlight>
                <a:latin typeface="Arial" panose="020B0604020202020204" pitchFamily="34" charset="0"/>
                <a:ea typeface="Times New Roman" panose="02020603050405020304" pitchFamily="18" charset="0"/>
              </a:rPr>
              <a:t>an</a:t>
            </a: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 audit methodology…)</a:t>
            </a:r>
          </a:p>
          <a:p>
            <a:pPr marL="285750" indent="-285750" algn="just">
              <a:lnSpc>
                <a:spcPts val="2400"/>
              </a:lnSpc>
              <a:spcBef>
                <a:spcPts val="600"/>
              </a:spcBef>
              <a:buFont typeface="Arial" panose="020B0604020202020204" pitchFamily="34" charset="0"/>
              <a:buChar char="•"/>
            </a:pP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Paragraph A26 – 3</a:t>
            </a:r>
            <a:r>
              <a:rPr lang="en-US" sz="1800" kern="400" baseline="30000" dirty="0">
                <a:solidFill>
                  <a:schemeClr val="tx1">
                    <a:lumMod val="65000"/>
                    <a:lumOff val="35000"/>
                  </a:schemeClr>
                </a:solidFill>
                <a:effectLst/>
                <a:latin typeface="Arial" panose="020B0604020202020204" pitchFamily="34" charset="0"/>
                <a:ea typeface="Times New Roman" panose="02020603050405020304" pitchFamily="18" charset="0"/>
              </a:rPr>
              <a:t>rd</a:t>
            </a: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 Sentence “Networks and </a:t>
            </a:r>
            <a:r>
              <a:rPr lang="en-US" sz="1800" strike="sngStrike" kern="400" dirty="0">
                <a:solidFill>
                  <a:schemeClr val="tx1">
                    <a:lumMod val="65000"/>
                    <a:lumOff val="35000"/>
                  </a:schemeClr>
                </a:solidFill>
                <a:effectLst/>
                <a:highlight>
                  <a:srgbClr val="FFFF00"/>
                </a:highlight>
                <a:latin typeface="Arial" panose="020B0604020202020204" pitchFamily="34" charset="0"/>
                <a:ea typeface="Times New Roman" panose="02020603050405020304" pitchFamily="18" charset="0"/>
              </a:rPr>
              <a:t>the</a:t>
            </a: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 other network </a:t>
            </a:r>
            <a:r>
              <a:rPr lang="en-US" sz="1800" kern="400" dirty="0">
                <a:solidFill>
                  <a:schemeClr val="tx1">
                    <a:lumMod val="65000"/>
                    <a:lumOff val="35000"/>
                  </a:schemeClr>
                </a:solidFill>
                <a:effectLst/>
                <a:highlight>
                  <a:srgbClr val="FFFF00"/>
                </a:highlight>
                <a:latin typeface="Arial" panose="020B0604020202020204" pitchFamily="34" charset="0"/>
                <a:ea typeface="Times New Roman" panose="02020603050405020304" pitchFamily="18" charset="0"/>
              </a:rPr>
              <a:t>firms </a:t>
            </a:r>
            <a:r>
              <a:rPr lang="en-US" sz="1800" strike="sngStrike" kern="400" dirty="0">
                <a:solidFill>
                  <a:schemeClr val="tx1">
                    <a:lumMod val="65000"/>
                    <a:lumOff val="35000"/>
                  </a:schemeClr>
                </a:solidFill>
                <a:effectLst/>
                <a:highlight>
                  <a:srgbClr val="FFFF00"/>
                </a:highlight>
                <a:latin typeface="Arial" panose="020B0604020202020204" pitchFamily="34" charset="0"/>
                <a:ea typeface="Times New Roman" panose="02020603050405020304" pitchFamily="18" charset="0"/>
              </a:rPr>
              <a:t>within the network </a:t>
            </a: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may be ….”</a:t>
            </a:r>
          </a:p>
          <a:p>
            <a:pPr algn="just">
              <a:lnSpc>
                <a:spcPts val="2400"/>
              </a:lnSpc>
              <a:spcBef>
                <a:spcPts val="600"/>
              </a:spcBef>
            </a:pP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	</a:t>
            </a: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Minor Changes</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8</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676712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Walk-through of Proposed ISA 220 (Revised)</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9</a:t>
            </a:fld>
            <a:endParaRPr lang="en-US" sz="675" dirty="0">
              <a:solidFill>
                <a:srgbClr val="808080"/>
              </a:solidFill>
              <a:latin typeface="Arial" panose="020B0604020202020204" pitchFamily="34" charset="0"/>
            </a:endParaRPr>
          </a:p>
        </p:txBody>
      </p:sp>
      <p:graphicFrame>
        <p:nvGraphicFramePr>
          <p:cNvPr id="3" name="Table 3">
            <a:extLst>
              <a:ext uri="{FF2B5EF4-FFF2-40B4-BE49-F238E27FC236}">
                <a16:creationId xmlns:a16="http://schemas.microsoft.com/office/drawing/2014/main" id="{72C3707F-A2C8-4D3D-8B32-D627F1B4FE37}"/>
              </a:ext>
            </a:extLst>
          </p:cNvPr>
          <p:cNvGraphicFramePr>
            <a:graphicFrameLocks noGrp="1"/>
          </p:cNvGraphicFramePr>
          <p:nvPr>
            <p:extLst>
              <p:ext uri="{D42A27DB-BD31-4B8C-83A1-F6EECF244321}">
                <p14:modId xmlns:p14="http://schemas.microsoft.com/office/powerpoint/2010/main" val="1605366750"/>
              </p:ext>
            </p:extLst>
          </p:nvPr>
        </p:nvGraphicFramePr>
        <p:xfrm>
          <a:off x="464455" y="831850"/>
          <a:ext cx="8403774" cy="3962400"/>
        </p:xfrm>
        <a:graphic>
          <a:graphicData uri="http://schemas.openxmlformats.org/drawingml/2006/table">
            <a:tbl>
              <a:tblPr firstRow="1" bandRow="1">
                <a:tableStyleId>{F5AB1C69-6EDB-4FF4-983F-18BD219EF322}</a:tableStyleId>
              </a:tblPr>
              <a:tblGrid>
                <a:gridCol w="3454402">
                  <a:extLst>
                    <a:ext uri="{9D8B030D-6E8A-4147-A177-3AD203B41FA5}">
                      <a16:colId xmlns:a16="http://schemas.microsoft.com/office/drawing/2014/main" val="3033556321"/>
                    </a:ext>
                  </a:extLst>
                </a:gridCol>
                <a:gridCol w="4949372">
                  <a:extLst>
                    <a:ext uri="{9D8B030D-6E8A-4147-A177-3AD203B41FA5}">
                      <a16:colId xmlns:a16="http://schemas.microsoft.com/office/drawing/2014/main" val="3009871604"/>
                    </a:ext>
                  </a:extLst>
                </a:gridCol>
              </a:tblGrid>
              <a:tr h="257447">
                <a:tc>
                  <a:txBody>
                    <a:bodyPr/>
                    <a:lstStyle/>
                    <a:p>
                      <a:r>
                        <a:rPr lang="en-US" sz="2000" dirty="0">
                          <a:latin typeface="Arial" panose="020B0604020202020204" pitchFamily="34" charset="0"/>
                          <a:cs typeface="Arial" panose="020B0604020202020204" pitchFamily="34" charset="0"/>
                        </a:rPr>
                        <a:t>Requirement Paragraphs</a:t>
                      </a:r>
                    </a:p>
                  </a:txBody>
                  <a:tcPr/>
                </a:tc>
                <a:tc>
                  <a:txBody>
                    <a:bodyPr/>
                    <a:lstStyle/>
                    <a:p>
                      <a:pPr marL="0" algn="l" defTabSz="342900" rtl="0" eaLnBrk="1" latinLnBrk="0" hangingPunct="1"/>
                      <a:r>
                        <a:rPr lang="en-US" sz="2000" b="1" kern="1200" dirty="0">
                          <a:solidFill>
                            <a:schemeClr val="lt1"/>
                          </a:solidFill>
                          <a:latin typeface="Arial" panose="020B0604020202020204" pitchFamily="34" charset="0"/>
                          <a:cs typeface="Arial" panose="020B0604020202020204" pitchFamily="34" charset="0"/>
                        </a:rPr>
                        <a:t>Application Material Paragraphs</a:t>
                      </a:r>
                      <a:endParaRPr lang="en-US" sz="2000" b="1" kern="1200" dirty="0">
                        <a:solidFill>
                          <a:schemeClr val="lt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180381724"/>
                  </a:ext>
                </a:extLst>
              </a:tr>
              <a:tr h="370840">
                <a:tc>
                  <a:txBody>
                    <a:bodyPr/>
                    <a:lstStyle/>
                    <a:p>
                      <a:r>
                        <a:rPr lang="en-US" sz="2000" dirty="0">
                          <a:latin typeface="Arial" panose="020B0604020202020204" pitchFamily="34" charset="0"/>
                          <a:cs typeface="Arial" panose="020B0604020202020204" pitchFamily="34" charset="0"/>
                        </a:rPr>
                        <a:t>1‒12</a:t>
                      </a:r>
                    </a:p>
                  </a:txBody>
                  <a:tcPr/>
                </a:tc>
                <a:tc>
                  <a:txBody>
                    <a:bodyPr/>
                    <a:lstStyle/>
                    <a:p>
                      <a:r>
                        <a:rPr lang="en-US" sz="2000" dirty="0">
                          <a:latin typeface="Arial" panose="020B0604020202020204" pitchFamily="34" charset="0"/>
                          <a:cs typeface="Arial" panose="020B0604020202020204" pitchFamily="34" charset="0"/>
                        </a:rPr>
                        <a:t>A1‒A26, A32‒A35, A37</a:t>
                      </a:r>
                    </a:p>
                  </a:txBody>
                  <a:tcPr/>
                </a:tc>
                <a:extLst>
                  <a:ext uri="{0D108BD9-81ED-4DB2-BD59-A6C34878D82A}">
                    <a16:rowId xmlns:a16="http://schemas.microsoft.com/office/drawing/2014/main" val="1078787798"/>
                  </a:ext>
                </a:extLst>
              </a:tr>
              <a:tr h="370840">
                <a:tc>
                  <a:txBody>
                    <a:bodyPr/>
                    <a:lstStyle/>
                    <a:p>
                      <a:r>
                        <a:rPr lang="en-US" sz="2000" dirty="0">
                          <a:latin typeface="Arial" panose="020B0604020202020204" pitchFamily="34" charset="0"/>
                          <a:cs typeface="Arial" panose="020B0604020202020204" pitchFamily="34" charset="0"/>
                        </a:rPr>
                        <a:t>13‒15</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A8, A27‒A36</a:t>
                      </a:r>
                    </a:p>
                  </a:txBody>
                  <a:tcPr>
                    <a:solidFill>
                      <a:srgbClr val="FFC000"/>
                    </a:solidFill>
                  </a:tcPr>
                </a:tc>
                <a:extLst>
                  <a:ext uri="{0D108BD9-81ED-4DB2-BD59-A6C34878D82A}">
                    <a16:rowId xmlns:a16="http://schemas.microsoft.com/office/drawing/2014/main" val="1125060624"/>
                  </a:ext>
                </a:extLst>
              </a:tr>
              <a:tr h="370840">
                <a:tc>
                  <a:txBody>
                    <a:bodyPr/>
                    <a:lstStyle/>
                    <a:p>
                      <a:r>
                        <a:rPr lang="en-US" sz="2000" dirty="0">
                          <a:latin typeface="Arial" panose="020B0604020202020204" pitchFamily="34" charset="0"/>
                          <a:cs typeface="Arial" panose="020B0604020202020204" pitchFamily="34" charset="0"/>
                        </a:rPr>
                        <a:t>16‒21</a:t>
                      </a:r>
                    </a:p>
                  </a:txBody>
                  <a:tcPr/>
                </a:tc>
                <a:tc>
                  <a:txBody>
                    <a:bodyPr/>
                    <a:lstStyle/>
                    <a:p>
                      <a:r>
                        <a:rPr lang="en-US" sz="2000" dirty="0">
                          <a:latin typeface="Arial" panose="020B0604020202020204" pitchFamily="34" charset="0"/>
                          <a:cs typeface="Arial" panose="020B0604020202020204" pitchFamily="34" charset="0"/>
                        </a:rPr>
                        <a:t>A22‒A24, A37‒A47</a:t>
                      </a:r>
                    </a:p>
                  </a:txBody>
                  <a:tcPr/>
                </a:tc>
                <a:extLst>
                  <a:ext uri="{0D108BD9-81ED-4DB2-BD59-A6C34878D82A}">
                    <a16:rowId xmlns:a16="http://schemas.microsoft.com/office/drawing/2014/main" val="1426910164"/>
                  </a:ext>
                </a:extLst>
              </a:tr>
              <a:tr h="370840">
                <a:tc>
                  <a:txBody>
                    <a:bodyPr/>
                    <a:lstStyle/>
                    <a:p>
                      <a:r>
                        <a:rPr lang="en-US" sz="2000" dirty="0">
                          <a:latin typeface="Arial" panose="020B0604020202020204" pitchFamily="34" charset="0"/>
                          <a:cs typeface="Arial" panose="020B0604020202020204" pitchFamily="34" charset="0"/>
                        </a:rPr>
                        <a:t>22‒24</a:t>
                      </a:r>
                    </a:p>
                  </a:txBody>
                  <a:tcPr/>
                </a:tc>
                <a:tc>
                  <a:txBody>
                    <a:bodyPr/>
                    <a:lstStyle/>
                    <a:p>
                      <a:r>
                        <a:rPr lang="en-US" sz="2000" dirty="0">
                          <a:latin typeface="Arial" panose="020B0604020202020204" pitchFamily="34" charset="0"/>
                          <a:cs typeface="Arial" panose="020B0604020202020204" pitchFamily="34" charset="0"/>
                        </a:rPr>
                        <a:t>A48‒A57</a:t>
                      </a:r>
                    </a:p>
                  </a:txBody>
                  <a:tcPr/>
                </a:tc>
                <a:extLst>
                  <a:ext uri="{0D108BD9-81ED-4DB2-BD59-A6C34878D82A}">
                    <a16:rowId xmlns:a16="http://schemas.microsoft.com/office/drawing/2014/main" val="3565521318"/>
                  </a:ext>
                </a:extLst>
              </a:tr>
              <a:tr h="370840">
                <a:tc>
                  <a:txBody>
                    <a:bodyPr/>
                    <a:lstStyle/>
                    <a:p>
                      <a:r>
                        <a:rPr lang="en-US" sz="2000" dirty="0">
                          <a:latin typeface="Arial" panose="020B0604020202020204" pitchFamily="34" charset="0"/>
                          <a:cs typeface="Arial" panose="020B0604020202020204" pitchFamily="34" charset="0"/>
                        </a:rPr>
                        <a:t>25‒28</a:t>
                      </a:r>
                    </a:p>
                  </a:txBody>
                  <a:tcPr/>
                </a:tc>
                <a:tc>
                  <a:txBody>
                    <a:bodyPr/>
                    <a:lstStyle/>
                    <a:p>
                      <a:r>
                        <a:rPr lang="en-US" sz="2000" dirty="0">
                          <a:latin typeface="Arial" panose="020B0604020202020204" pitchFamily="34" charset="0"/>
                          <a:cs typeface="Arial" panose="020B0604020202020204" pitchFamily="34" charset="0"/>
                        </a:rPr>
                        <a:t>A58‒A79</a:t>
                      </a:r>
                    </a:p>
                  </a:txBody>
                  <a:tcPr/>
                </a:tc>
                <a:extLst>
                  <a:ext uri="{0D108BD9-81ED-4DB2-BD59-A6C34878D82A}">
                    <a16:rowId xmlns:a16="http://schemas.microsoft.com/office/drawing/2014/main" val="625387235"/>
                  </a:ext>
                </a:extLst>
              </a:tr>
              <a:tr h="370840">
                <a:tc>
                  <a:txBody>
                    <a:bodyPr/>
                    <a:lstStyle/>
                    <a:p>
                      <a:r>
                        <a:rPr lang="en-US" sz="2000" dirty="0">
                          <a:latin typeface="Arial" panose="020B0604020202020204" pitchFamily="34" charset="0"/>
                          <a:cs typeface="Arial" panose="020B0604020202020204" pitchFamily="34" charset="0"/>
                        </a:rPr>
                        <a:t>29‒38</a:t>
                      </a:r>
                    </a:p>
                  </a:txBody>
                  <a:tcPr/>
                </a:tc>
                <a:tc>
                  <a:txBody>
                    <a:bodyPr/>
                    <a:lstStyle/>
                    <a:p>
                      <a:r>
                        <a:rPr lang="en-US" sz="2000" dirty="0">
                          <a:latin typeface="Arial" panose="020B0604020202020204" pitchFamily="34" charset="0"/>
                          <a:cs typeface="Arial" panose="020B0604020202020204" pitchFamily="34" charset="0"/>
                        </a:rPr>
                        <a:t>A80‒A108</a:t>
                      </a:r>
                    </a:p>
                  </a:txBody>
                  <a:tcPr/>
                </a:tc>
                <a:extLst>
                  <a:ext uri="{0D108BD9-81ED-4DB2-BD59-A6C34878D82A}">
                    <a16:rowId xmlns:a16="http://schemas.microsoft.com/office/drawing/2014/main" val="3478193152"/>
                  </a:ext>
                </a:extLst>
              </a:tr>
              <a:tr h="370840">
                <a:tc>
                  <a:txBody>
                    <a:bodyPr/>
                    <a:lstStyle/>
                    <a:p>
                      <a:r>
                        <a:rPr lang="en-US" sz="2000" dirty="0">
                          <a:latin typeface="Arial" panose="020B0604020202020204" pitchFamily="34" charset="0"/>
                          <a:cs typeface="Arial" panose="020B0604020202020204" pitchFamily="34" charset="0"/>
                        </a:rPr>
                        <a:t>39</a:t>
                      </a:r>
                    </a:p>
                  </a:txBody>
                  <a:tcPr/>
                </a:tc>
                <a:tc>
                  <a:txBody>
                    <a:bodyPr/>
                    <a:lstStyle/>
                    <a:p>
                      <a:r>
                        <a:rPr lang="en-US" sz="2000" dirty="0">
                          <a:latin typeface="Arial" panose="020B0604020202020204" pitchFamily="34" charset="0"/>
                          <a:cs typeface="Arial" panose="020B0604020202020204" pitchFamily="34" charset="0"/>
                        </a:rPr>
                        <a:t>A109‒A112</a:t>
                      </a:r>
                    </a:p>
                  </a:txBody>
                  <a:tcPr/>
                </a:tc>
                <a:extLst>
                  <a:ext uri="{0D108BD9-81ED-4DB2-BD59-A6C34878D82A}">
                    <a16:rowId xmlns:a16="http://schemas.microsoft.com/office/drawing/2014/main" val="2273351075"/>
                  </a:ext>
                </a:extLst>
              </a:tr>
              <a:tr h="370840">
                <a:tc>
                  <a:txBody>
                    <a:bodyPr/>
                    <a:lstStyle/>
                    <a:p>
                      <a:r>
                        <a:rPr lang="en-US" sz="2000" dirty="0">
                          <a:latin typeface="Arial" panose="020B0604020202020204" pitchFamily="34" charset="0"/>
                          <a:cs typeface="Arial" panose="020B0604020202020204" pitchFamily="34" charset="0"/>
                        </a:rPr>
                        <a:t>40</a:t>
                      </a:r>
                    </a:p>
                  </a:txBody>
                  <a:tcPr/>
                </a:tc>
                <a:tc>
                  <a:txBody>
                    <a:bodyPr/>
                    <a:lstStyle/>
                    <a:p>
                      <a:r>
                        <a:rPr lang="en-US" sz="2000" dirty="0">
                          <a:latin typeface="Arial" panose="020B0604020202020204" pitchFamily="34" charset="0"/>
                          <a:cs typeface="Arial" panose="020B0604020202020204" pitchFamily="34" charset="0"/>
                        </a:rPr>
                        <a:t>A113‒A116</a:t>
                      </a:r>
                    </a:p>
                  </a:txBody>
                  <a:tcPr/>
                </a:tc>
                <a:extLst>
                  <a:ext uri="{0D108BD9-81ED-4DB2-BD59-A6C34878D82A}">
                    <a16:rowId xmlns:a16="http://schemas.microsoft.com/office/drawing/2014/main" val="1286551987"/>
                  </a:ext>
                </a:extLst>
              </a:tr>
              <a:tr h="370840">
                <a:tc>
                  <a:txBody>
                    <a:bodyPr/>
                    <a:lstStyle/>
                    <a:p>
                      <a:r>
                        <a:rPr lang="en-US" sz="2000" dirty="0">
                          <a:latin typeface="Arial" panose="020B0604020202020204" pitchFamily="34" charset="0"/>
                          <a:cs typeface="Arial" panose="020B0604020202020204" pitchFamily="34" charset="0"/>
                        </a:rPr>
                        <a:t>41</a:t>
                      </a:r>
                    </a:p>
                  </a:txBody>
                  <a:tcPr/>
                </a:tc>
                <a:tc>
                  <a:txBody>
                    <a:bodyPr/>
                    <a:lstStyle/>
                    <a:p>
                      <a:r>
                        <a:rPr lang="en-US" sz="2000" dirty="0">
                          <a:latin typeface="Arial" panose="020B0604020202020204" pitchFamily="34" charset="0"/>
                          <a:cs typeface="Arial" panose="020B0604020202020204" pitchFamily="34" charset="0"/>
                        </a:rPr>
                        <a:t>A117‒A120</a:t>
                      </a:r>
                    </a:p>
                  </a:txBody>
                  <a:tcPr/>
                </a:tc>
                <a:extLst>
                  <a:ext uri="{0D108BD9-81ED-4DB2-BD59-A6C34878D82A}">
                    <a16:rowId xmlns:a16="http://schemas.microsoft.com/office/drawing/2014/main" val="2846500395"/>
                  </a:ext>
                </a:extLst>
              </a:tr>
            </a:tbl>
          </a:graphicData>
        </a:graphic>
      </p:graphicFrame>
    </p:spTree>
    <p:extLst>
      <p:ext uri="{BB962C8B-B14F-4D97-AF65-F5344CB8AC3E}">
        <p14:creationId xmlns:p14="http://schemas.microsoft.com/office/powerpoint/2010/main" val="3859479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4146007"/>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marL="0" marR="0" lvl="1" algn="just" rtl="0">
              <a:lnSpc>
                <a:spcPts val="2400"/>
              </a:lnSpc>
              <a:spcBef>
                <a:spcPts val="600"/>
              </a:spcBef>
            </a:pPr>
            <a:r>
              <a:rPr lang="en-US" sz="1800" b="0" i="0" u="none" strike="noStrike" kern="400" baseline="0" dirty="0">
                <a:latin typeface="Arial" panose="020B0604020202020204" pitchFamily="34" charset="0"/>
              </a:rPr>
              <a:t>Communication is the means through which the engagement team shares relevant information on a timely basis to comply with the requirements of this ISA, thereby contributing to the achievement of quality on the audit engagement. Communication may be between or among members of the engagement team, or with:</a:t>
            </a:r>
          </a:p>
          <a:p>
            <a:pPr marL="338138" marR="0" lvl="3" indent="-338138" algn="just" rtl="0">
              <a:lnSpc>
                <a:spcPts val="2400"/>
              </a:lnSpc>
              <a:spcBef>
                <a:spcPts val="600"/>
              </a:spcBef>
              <a:buAutoNum type="alphaLcParenBoth"/>
            </a:pPr>
            <a:r>
              <a:rPr lang="en-US" sz="1800" b="0" i="0" u="none" strike="noStrike" kern="400" baseline="0" dirty="0">
                <a:latin typeface="Arial" panose="020B0604020202020204" pitchFamily="34" charset="0"/>
              </a:rPr>
              <a:t>The firm, (e.g</a:t>
            </a:r>
            <a:r>
              <a:rPr lang="en-US" sz="1800" b="0" i="0" u="none" strike="noStrike" kern="400" baseline="0" dirty="0">
                <a:highlight>
                  <a:srgbClr val="FFFF00"/>
                </a:highlight>
                <a:latin typeface="Arial" panose="020B0604020202020204" pitchFamily="34" charset="0"/>
              </a:rPr>
              <a:t>., </a:t>
            </a:r>
            <a:r>
              <a:rPr lang="en-US" sz="1800" b="0" i="0" strike="sngStrike" kern="400" baseline="0" dirty="0">
                <a:highlight>
                  <a:srgbClr val="FFFF00"/>
                </a:highlight>
                <a:latin typeface="Arial" panose="020B0604020202020204" pitchFamily="34" charset="0"/>
              </a:rPr>
              <a:t>personnel </a:t>
            </a:r>
            <a:r>
              <a:rPr lang="en-US" sz="1800" b="0" i="0" u="sng" strike="noStrike" kern="400" baseline="0" dirty="0">
                <a:solidFill>
                  <a:prstClr val="black"/>
                </a:solidFill>
                <a:highlight>
                  <a:srgbClr val="FFFF00"/>
                </a:highlight>
                <a:latin typeface="Arial" panose="020B0604020202020204" pitchFamily="34" charset="0"/>
              </a:rPr>
              <a:t>individuals</a:t>
            </a:r>
            <a:r>
              <a:rPr lang="en-US" sz="1800" b="0" i="0" u="none" strike="noStrike" kern="400" baseline="0" dirty="0">
                <a:solidFill>
                  <a:prstClr val="black"/>
                </a:solidFill>
                <a:highlight>
                  <a:srgbClr val="FFFF00"/>
                </a:highlight>
                <a:latin typeface="Arial" panose="020B0604020202020204" pitchFamily="34" charset="0"/>
              </a:rPr>
              <a:t> </a:t>
            </a:r>
            <a:r>
              <a:rPr lang="en-US" sz="1800" b="0" i="0" u="none" strike="noStrike" kern="400" baseline="0" dirty="0">
                <a:solidFill>
                  <a:prstClr val="black"/>
                </a:solidFill>
                <a:latin typeface="Arial" panose="020B0604020202020204" pitchFamily="34" charset="0"/>
              </a:rPr>
              <a:t>performing activities within the firm’s system of quality management, including those assigned ultimate or operational responsibility for the firm’s system of quality management);</a:t>
            </a:r>
          </a:p>
          <a:p>
            <a:pPr marL="338138" marR="0" lvl="3" indent="-338138" algn="just" rtl="0">
              <a:lnSpc>
                <a:spcPts val="2400"/>
              </a:lnSpc>
              <a:spcBef>
                <a:spcPts val="600"/>
              </a:spcBef>
              <a:buAutoNum type="alphaLcParenBoth"/>
            </a:pPr>
            <a:r>
              <a:rPr lang="en-US" sz="1800" kern="400" dirty="0">
                <a:solidFill>
                  <a:prstClr val="black"/>
                </a:solidFill>
                <a:latin typeface="Arial" panose="020B0604020202020204" pitchFamily="34" charset="0"/>
              </a:rPr>
              <a:t>…</a:t>
            </a:r>
          </a:p>
          <a:p>
            <a:pPr algn="just">
              <a:lnSpc>
                <a:spcPts val="2400"/>
              </a:lnSpc>
              <a:spcBef>
                <a:spcPts val="600"/>
              </a:spcBef>
            </a:pPr>
            <a:endPar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a:p>
            <a:pPr algn="just">
              <a:lnSpc>
                <a:spcPts val="2400"/>
              </a:lnSpc>
              <a:spcBef>
                <a:spcPts val="600"/>
              </a:spcBef>
            </a:pP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 A30(a)</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10</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290073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Walk-through of Proposed ISA 220 (Revised)</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11</a:t>
            </a:fld>
            <a:endParaRPr lang="en-US" sz="675" dirty="0">
              <a:solidFill>
                <a:srgbClr val="808080"/>
              </a:solidFill>
              <a:latin typeface="Arial" panose="020B0604020202020204" pitchFamily="34" charset="0"/>
            </a:endParaRPr>
          </a:p>
        </p:txBody>
      </p:sp>
      <p:graphicFrame>
        <p:nvGraphicFramePr>
          <p:cNvPr id="3" name="Table 3">
            <a:extLst>
              <a:ext uri="{FF2B5EF4-FFF2-40B4-BE49-F238E27FC236}">
                <a16:creationId xmlns:a16="http://schemas.microsoft.com/office/drawing/2014/main" id="{72C3707F-A2C8-4D3D-8B32-D627F1B4FE37}"/>
              </a:ext>
            </a:extLst>
          </p:cNvPr>
          <p:cNvGraphicFramePr>
            <a:graphicFrameLocks noGrp="1"/>
          </p:cNvGraphicFramePr>
          <p:nvPr>
            <p:extLst>
              <p:ext uri="{D42A27DB-BD31-4B8C-83A1-F6EECF244321}">
                <p14:modId xmlns:p14="http://schemas.microsoft.com/office/powerpoint/2010/main" val="2007788103"/>
              </p:ext>
            </p:extLst>
          </p:nvPr>
        </p:nvGraphicFramePr>
        <p:xfrm>
          <a:off x="464455" y="831850"/>
          <a:ext cx="8403774" cy="3962400"/>
        </p:xfrm>
        <a:graphic>
          <a:graphicData uri="http://schemas.openxmlformats.org/drawingml/2006/table">
            <a:tbl>
              <a:tblPr firstRow="1" bandRow="1">
                <a:tableStyleId>{F5AB1C69-6EDB-4FF4-983F-18BD219EF322}</a:tableStyleId>
              </a:tblPr>
              <a:tblGrid>
                <a:gridCol w="3454402">
                  <a:extLst>
                    <a:ext uri="{9D8B030D-6E8A-4147-A177-3AD203B41FA5}">
                      <a16:colId xmlns:a16="http://schemas.microsoft.com/office/drawing/2014/main" val="3033556321"/>
                    </a:ext>
                  </a:extLst>
                </a:gridCol>
                <a:gridCol w="4949372">
                  <a:extLst>
                    <a:ext uri="{9D8B030D-6E8A-4147-A177-3AD203B41FA5}">
                      <a16:colId xmlns:a16="http://schemas.microsoft.com/office/drawing/2014/main" val="3009871604"/>
                    </a:ext>
                  </a:extLst>
                </a:gridCol>
              </a:tblGrid>
              <a:tr h="257447">
                <a:tc>
                  <a:txBody>
                    <a:bodyPr/>
                    <a:lstStyle/>
                    <a:p>
                      <a:r>
                        <a:rPr lang="en-US" sz="2000" dirty="0">
                          <a:latin typeface="Arial" panose="020B0604020202020204" pitchFamily="34" charset="0"/>
                          <a:cs typeface="Arial" panose="020B0604020202020204" pitchFamily="34" charset="0"/>
                        </a:rPr>
                        <a:t>Requirement Paragraphs</a:t>
                      </a:r>
                    </a:p>
                  </a:txBody>
                  <a:tcPr/>
                </a:tc>
                <a:tc>
                  <a:txBody>
                    <a:bodyPr/>
                    <a:lstStyle/>
                    <a:p>
                      <a:pPr marL="0" algn="l" defTabSz="342900" rtl="0" eaLnBrk="1" latinLnBrk="0" hangingPunct="1"/>
                      <a:r>
                        <a:rPr lang="en-US" sz="2000" b="1" kern="1200" dirty="0">
                          <a:solidFill>
                            <a:schemeClr val="lt1"/>
                          </a:solidFill>
                          <a:latin typeface="Arial" panose="020B0604020202020204" pitchFamily="34" charset="0"/>
                          <a:cs typeface="Arial" panose="020B0604020202020204" pitchFamily="34" charset="0"/>
                        </a:rPr>
                        <a:t>Application Material Paragraphs</a:t>
                      </a:r>
                      <a:endParaRPr lang="en-US" sz="2000" b="1" kern="1200" dirty="0">
                        <a:solidFill>
                          <a:schemeClr val="lt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180381724"/>
                  </a:ext>
                </a:extLst>
              </a:tr>
              <a:tr h="370840">
                <a:tc>
                  <a:txBody>
                    <a:bodyPr/>
                    <a:lstStyle/>
                    <a:p>
                      <a:r>
                        <a:rPr lang="en-US" sz="2000" dirty="0">
                          <a:latin typeface="Arial" panose="020B0604020202020204" pitchFamily="34" charset="0"/>
                          <a:cs typeface="Arial" panose="020B0604020202020204" pitchFamily="34" charset="0"/>
                        </a:rPr>
                        <a:t>1‒12</a:t>
                      </a:r>
                    </a:p>
                  </a:txBody>
                  <a:tcPr/>
                </a:tc>
                <a:tc>
                  <a:txBody>
                    <a:bodyPr/>
                    <a:lstStyle/>
                    <a:p>
                      <a:r>
                        <a:rPr lang="en-US" sz="2000" dirty="0">
                          <a:latin typeface="Arial" panose="020B0604020202020204" pitchFamily="34" charset="0"/>
                          <a:cs typeface="Arial" panose="020B0604020202020204" pitchFamily="34" charset="0"/>
                        </a:rPr>
                        <a:t>A1‒A26, A32‒A35, A37</a:t>
                      </a:r>
                    </a:p>
                  </a:txBody>
                  <a:tcPr/>
                </a:tc>
                <a:extLst>
                  <a:ext uri="{0D108BD9-81ED-4DB2-BD59-A6C34878D82A}">
                    <a16:rowId xmlns:a16="http://schemas.microsoft.com/office/drawing/2014/main" val="1078787798"/>
                  </a:ext>
                </a:extLst>
              </a:tr>
              <a:tr h="370840">
                <a:tc>
                  <a:txBody>
                    <a:bodyPr/>
                    <a:lstStyle/>
                    <a:p>
                      <a:r>
                        <a:rPr lang="en-US" sz="2000" dirty="0">
                          <a:latin typeface="Arial" panose="020B0604020202020204" pitchFamily="34" charset="0"/>
                          <a:cs typeface="Arial" panose="020B0604020202020204" pitchFamily="34" charset="0"/>
                        </a:rPr>
                        <a:t>13‒15</a:t>
                      </a:r>
                    </a:p>
                  </a:txBody>
                  <a:tcPr/>
                </a:tc>
                <a:tc>
                  <a:txBody>
                    <a:bodyPr/>
                    <a:lstStyle/>
                    <a:p>
                      <a:r>
                        <a:rPr lang="en-US" sz="2000" dirty="0">
                          <a:latin typeface="Arial" panose="020B0604020202020204" pitchFamily="34" charset="0"/>
                          <a:cs typeface="Arial" panose="020B0604020202020204" pitchFamily="34" charset="0"/>
                        </a:rPr>
                        <a:t>A8, A27‒A36</a:t>
                      </a:r>
                    </a:p>
                  </a:txBody>
                  <a:tcPr/>
                </a:tc>
                <a:extLst>
                  <a:ext uri="{0D108BD9-81ED-4DB2-BD59-A6C34878D82A}">
                    <a16:rowId xmlns:a16="http://schemas.microsoft.com/office/drawing/2014/main" val="1125060624"/>
                  </a:ext>
                </a:extLst>
              </a:tr>
              <a:tr h="370840">
                <a:tc>
                  <a:txBody>
                    <a:bodyPr/>
                    <a:lstStyle/>
                    <a:p>
                      <a:r>
                        <a:rPr lang="en-US" sz="2000" dirty="0">
                          <a:latin typeface="Arial" panose="020B0604020202020204" pitchFamily="34" charset="0"/>
                          <a:cs typeface="Arial" panose="020B0604020202020204" pitchFamily="34" charset="0"/>
                        </a:rPr>
                        <a:t>16‒21</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A22‒A24, A37‒A47</a:t>
                      </a:r>
                    </a:p>
                  </a:txBody>
                  <a:tcPr>
                    <a:solidFill>
                      <a:srgbClr val="FFC000"/>
                    </a:solidFill>
                  </a:tcPr>
                </a:tc>
                <a:extLst>
                  <a:ext uri="{0D108BD9-81ED-4DB2-BD59-A6C34878D82A}">
                    <a16:rowId xmlns:a16="http://schemas.microsoft.com/office/drawing/2014/main" val="1426910164"/>
                  </a:ext>
                </a:extLst>
              </a:tr>
              <a:tr h="370840">
                <a:tc>
                  <a:txBody>
                    <a:bodyPr/>
                    <a:lstStyle/>
                    <a:p>
                      <a:r>
                        <a:rPr lang="en-US" sz="2000" dirty="0">
                          <a:latin typeface="Arial" panose="020B0604020202020204" pitchFamily="34" charset="0"/>
                          <a:cs typeface="Arial" panose="020B0604020202020204" pitchFamily="34" charset="0"/>
                        </a:rPr>
                        <a:t>22‒24</a:t>
                      </a:r>
                    </a:p>
                  </a:txBody>
                  <a:tcPr/>
                </a:tc>
                <a:tc>
                  <a:txBody>
                    <a:bodyPr/>
                    <a:lstStyle/>
                    <a:p>
                      <a:r>
                        <a:rPr lang="en-US" sz="2000" dirty="0">
                          <a:latin typeface="Arial" panose="020B0604020202020204" pitchFamily="34" charset="0"/>
                          <a:cs typeface="Arial" panose="020B0604020202020204" pitchFamily="34" charset="0"/>
                        </a:rPr>
                        <a:t>A48‒A57</a:t>
                      </a:r>
                    </a:p>
                  </a:txBody>
                  <a:tcPr/>
                </a:tc>
                <a:extLst>
                  <a:ext uri="{0D108BD9-81ED-4DB2-BD59-A6C34878D82A}">
                    <a16:rowId xmlns:a16="http://schemas.microsoft.com/office/drawing/2014/main" val="3565521318"/>
                  </a:ext>
                </a:extLst>
              </a:tr>
              <a:tr h="370840">
                <a:tc>
                  <a:txBody>
                    <a:bodyPr/>
                    <a:lstStyle/>
                    <a:p>
                      <a:r>
                        <a:rPr lang="en-US" sz="2000" dirty="0">
                          <a:latin typeface="Arial" panose="020B0604020202020204" pitchFamily="34" charset="0"/>
                          <a:cs typeface="Arial" panose="020B0604020202020204" pitchFamily="34" charset="0"/>
                        </a:rPr>
                        <a:t>25‒28</a:t>
                      </a:r>
                    </a:p>
                  </a:txBody>
                  <a:tcPr/>
                </a:tc>
                <a:tc>
                  <a:txBody>
                    <a:bodyPr/>
                    <a:lstStyle/>
                    <a:p>
                      <a:r>
                        <a:rPr lang="en-US" sz="2000" dirty="0">
                          <a:latin typeface="Arial" panose="020B0604020202020204" pitchFamily="34" charset="0"/>
                          <a:cs typeface="Arial" panose="020B0604020202020204" pitchFamily="34" charset="0"/>
                        </a:rPr>
                        <a:t>A58‒A79</a:t>
                      </a:r>
                    </a:p>
                  </a:txBody>
                  <a:tcPr/>
                </a:tc>
                <a:extLst>
                  <a:ext uri="{0D108BD9-81ED-4DB2-BD59-A6C34878D82A}">
                    <a16:rowId xmlns:a16="http://schemas.microsoft.com/office/drawing/2014/main" val="625387235"/>
                  </a:ext>
                </a:extLst>
              </a:tr>
              <a:tr h="370840">
                <a:tc>
                  <a:txBody>
                    <a:bodyPr/>
                    <a:lstStyle/>
                    <a:p>
                      <a:r>
                        <a:rPr lang="en-US" sz="2000" dirty="0">
                          <a:latin typeface="Arial" panose="020B0604020202020204" pitchFamily="34" charset="0"/>
                          <a:cs typeface="Arial" panose="020B0604020202020204" pitchFamily="34" charset="0"/>
                        </a:rPr>
                        <a:t>29‒38</a:t>
                      </a:r>
                    </a:p>
                  </a:txBody>
                  <a:tcPr/>
                </a:tc>
                <a:tc>
                  <a:txBody>
                    <a:bodyPr/>
                    <a:lstStyle/>
                    <a:p>
                      <a:r>
                        <a:rPr lang="en-US" sz="2000" dirty="0">
                          <a:latin typeface="Arial" panose="020B0604020202020204" pitchFamily="34" charset="0"/>
                          <a:cs typeface="Arial" panose="020B0604020202020204" pitchFamily="34" charset="0"/>
                        </a:rPr>
                        <a:t>A80‒A108</a:t>
                      </a:r>
                    </a:p>
                  </a:txBody>
                  <a:tcPr/>
                </a:tc>
                <a:extLst>
                  <a:ext uri="{0D108BD9-81ED-4DB2-BD59-A6C34878D82A}">
                    <a16:rowId xmlns:a16="http://schemas.microsoft.com/office/drawing/2014/main" val="3478193152"/>
                  </a:ext>
                </a:extLst>
              </a:tr>
              <a:tr h="370840">
                <a:tc>
                  <a:txBody>
                    <a:bodyPr/>
                    <a:lstStyle/>
                    <a:p>
                      <a:r>
                        <a:rPr lang="en-US" sz="2000" dirty="0">
                          <a:latin typeface="Arial" panose="020B0604020202020204" pitchFamily="34" charset="0"/>
                          <a:cs typeface="Arial" panose="020B0604020202020204" pitchFamily="34" charset="0"/>
                        </a:rPr>
                        <a:t>39</a:t>
                      </a:r>
                    </a:p>
                  </a:txBody>
                  <a:tcPr/>
                </a:tc>
                <a:tc>
                  <a:txBody>
                    <a:bodyPr/>
                    <a:lstStyle/>
                    <a:p>
                      <a:r>
                        <a:rPr lang="en-US" sz="2000" dirty="0">
                          <a:latin typeface="Arial" panose="020B0604020202020204" pitchFamily="34" charset="0"/>
                          <a:cs typeface="Arial" panose="020B0604020202020204" pitchFamily="34" charset="0"/>
                        </a:rPr>
                        <a:t>A109‒A112</a:t>
                      </a:r>
                    </a:p>
                  </a:txBody>
                  <a:tcPr/>
                </a:tc>
                <a:extLst>
                  <a:ext uri="{0D108BD9-81ED-4DB2-BD59-A6C34878D82A}">
                    <a16:rowId xmlns:a16="http://schemas.microsoft.com/office/drawing/2014/main" val="2273351075"/>
                  </a:ext>
                </a:extLst>
              </a:tr>
              <a:tr h="370840">
                <a:tc>
                  <a:txBody>
                    <a:bodyPr/>
                    <a:lstStyle/>
                    <a:p>
                      <a:r>
                        <a:rPr lang="en-US" sz="2000" dirty="0">
                          <a:latin typeface="Arial" panose="020B0604020202020204" pitchFamily="34" charset="0"/>
                          <a:cs typeface="Arial" panose="020B0604020202020204" pitchFamily="34" charset="0"/>
                        </a:rPr>
                        <a:t>40</a:t>
                      </a:r>
                    </a:p>
                  </a:txBody>
                  <a:tcPr/>
                </a:tc>
                <a:tc>
                  <a:txBody>
                    <a:bodyPr/>
                    <a:lstStyle/>
                    <a:p>
                      <a:r>
                        <a:rPr lang="en-US" sz="2000" dirty="0">
                          <a:latin typeface="Arial" panose="020B0604020202020204" pitchFamily="34" charset="0"/>
                          <a:cs typeface="Arial" panose="020B0604020202020204" pitchFamily="34" charset="0"/>
                        </a:rPr>
                        <a:t>A113‒A116</a:t>
                      </a:r>
                    </a:p>
                  </a:txBody>
                  <a:tcPr/>
                </a:tc>
                <a:extLst>
                  <a:ext uri="{0D108BD9-81ED-4DB2-BD59-A6C34878D82A}">
                    <a16:rowId xmlns:a16="http://schemas.microsoft.com/office/drawing/2014/main" val="1286551987"/>
                  </a:ext>
                </a:extLst>
              </a:tr>
              <a:tr h="370840">
                <a:tc>
                  <a:txBody>
                    <a:bodyPr/>
                    <a:lstStyle/>
                    <a:p>
                      <a:r>
                        <a:rPr lang="en-US" sz="2000" dirty="0">
                          <a:latin typeface="Arial" panose="020B0604020202020204" pitchFamily="34" charset="0"/>
                          <a:cs typeface="Arial" panose="020B0604020202020204" pitchFamily="34" charset="0"/>
                        </a:rPr>
                        <a:t>41</a:t>
                      </a:r>
                    </a:p>
                  </a:txBody>
                  <a:tcPr/>
                </a:tc>
                <a:tc>
                  <a:txBody>
                    <a:bodyPr/>
                    <a:lstStyle/>
                    <a:p>
                      <a:r>
                        <a:rPr lang="en-US" sz="2000" dirty="0">
                          <a:latin typeface="Arial" panose="020B0604020202020204" pitchFamily="34" charset="0"/>
                          <a:cs typeface="Arial" panose="020B0604020202020204" pitchFamily="34" charset="0"/>
                        </a:rPr>
                        <a:t>A117‒A120</a:t>
                      </a:r>
                    </a:p>
                  </a:txBody>
                  <a:tcPr/>
                </a:tc>
                <a:extLst>
                  <a:ext uri="{0D108BD9-81ED-4DB2-BD59-A6C34878D82A}">
                    <a16:rowId xmlns:a16="http://schemas.microsoft.com/office/drawing/2014/main" val="2846500395"/>
                  </a:ext>
                </a:extLst>
              </a:tr>
            </a:tbl>
          </a:graphicData>
        </a:graphic>
      </p:graphicFrame>
    </p:spTree>
    <p:extLst>
      <p:ext uri="{BB962C8B-B14F-4D97-AF65-F5344CB8AC3E}">
        <p14:creationId xmlns:p14="http://schemas.microsoft.com/office/powerpoint/2010/main" val="566841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3761286"/>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algn="just">
              <a:lnSpc>
                <a:spcPts val="2400"/>
              </a:lnSpc>
              <a:spcBef>
                <a:spcPts val="600"/>
              </a:spcBef>
            </a:pPr>
            <a:r>
              <a:rPr lang="en-US" sz="1800" dirty="0">
                <a:effectLst/>
                <a:latin typeface="Arial" panose="020B0604020202020204" pitchFamily="34" charset="0"/>
                <a:ea typeface="MS Mincho" panose="02020609040205080304" pitchFamily="49" charset="-128"/>
              </a:rPr>
              <a:t>The engagement partner shall take responsibility for other members of the engagement team having been made aware of relevant ethical requirements that are applicable given the nature and circumstances of the audit engagement, and the firm’s related policies or procedures, including those that address: (Ref: Para. A22–A24, A39–A43) </a:t>
            </a:r>
          </a:p>
          <a:p>
            <a:pPr marL="338138" indent="-338138" algn="just">
              <a:lnSpc>
                <a:spcPts val="2400"/>
              </a:lnSpc>
              <a:spcBef>
                <a:spcPts val="600"/>
              </a:spcBef>
            </a:pPr>
            <a:r>
              <a:rPr lang="en-US" sz="1800" dirty="0">
                <a:latin typeface="Arial" panose="020B0604020202020204" pitchFamily="34" charset="0"/>
                <a:ea typeface="MS Mincho" panose="02020609040205080304" pitchFamily="49" charset="-128"/>
              </a:rPr>
              <a:t>(a) …</a:t>
            </a:r>
          </a:p>
          <a:p>
            <a:pPr marL="338138" indent="-338138" algn="just">
              <a:lnSpc>
                <a:spcPts val="2400"/>
              </a:lnSpc>
              <a:spcBef>
                <a:spcPts val="600"/>
              </a:spcBef>
            </a:pPr>
            <a:r>
              <a:rPr lang="en-US" sz="1800" dirty="0">
                <a:effectLst/>
                <a:latin typeface="Arial" panose="020B0604020202020204" pitchFamily="34" charset="0"/>
                <a:ea typeface="MS Mincho" panose="02020609040205080304" pitchFamily="49" charset="-128"/>
              </a:rPr>
              <a:t>(b) …; and</a:t>
            </a:r>
          </a:p>
          <a:p>
            <a:pPr marL="338138" indent="-338138" algn="just">
              <a:lnSpc>
                <a:spcPts val="2400"/>
              </a:lnSpc>
              <a:spcBef>
                <a:spcPts val="600"/>
              </a:spcBef>
            </a:pPr>
            <a:r>
              <a:rPr lang="en-US" sz="1800" dirty="0">
                <a:latin typeface="Arial" panose="020B0604020202020204" pitchFamily="34" charset="0"/>
                <a:ea typeface="MS Mincho" panose="02020609040205080304" pitchFamily="49" charset="-128"/>
              </a:rPr>
              <a:t>(c) 	</a:t>
            </a:r>
            <a:r>
              <a:rPr lang="en-US" sz="1800" b="0" i="0" u="none" strike="noStrike" baseline="0" dirty="0">
                <a:latin typeface="Arial" panose="020B0604020202020204" pitchFamily="34" charset="0"/>
              </a:rPr>
              <a:t>The responsibilities of members of the engagement team when they become aware of an instance of non‑compliance with laws and regulations</a:t>
            </a:r>
            <a:r>
              <a:rPr lang="en-US" sz="1800" b="0" i="0" u="none" strike="noStrike" baseline="0" dirty="0">
                <a:solidFill>
                  <a:prstClr val="black"/>
                </a:solidFill>
                <a:latin typeface="Arial" panose="020B0604020202020204" pitchFamily="34" charset="0"/>
              </a:rPr>
              <a:t> </a:t>
            </a:r>
            <a:r>
              <a:rPr lang="en-US" sz="1800" b="0" i="0" u="sng" strike="noStrike" baseline="0" dirty="0">
                <a:solidFill>
                  <a:prstClr val="black"/>
                </a:solidFill>
                <a:highlight>
                  <a:srgbClr val="FFFF00"/>
                </a:highlight>
                <a:latin typeface="Arial" panose="020B0604020202020204" pitchFamily="34" charset="0"/>
              </a:rPr>
              <a:t>by the entity</a:t>
            </a:r>
            <a:r>
              <a:rPr lang="en-US" sz="1800" b="0" i="0" u="sng" strike="noStrike" baseline="0" dirty="0">
                <a:solidFill>
                  <a:prstClr val="black"/>
                </a:solidFill>
                <a:latin typeface="Arial" panose="020B0604020202020204" pitchFamily="34" charset="0"/>
              </a:rPr>
              <a:t>.</a:t>
            </a: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  17(c)</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12</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021675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Walk-through of Proposed ISA 220 (Revised)</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13</a:t>
            </a:fld>
            <a:endParaRPr lang="en-US" sz="675" dirty="0">
              <a:solidFill>
                <a:srgbClr val="808080"/>
              </a:solidFill>
              <a:latin typeface="Arial" panose="020B0604020202020204" pitchFamily="34" charset="0"/>
            </a:endParaRPr>
          </a:p>
        </p:txBody>
      </p:sp>
      <p:graphicFrame>
        <p:nvGraphicFramePr>
          <p:cNvPr id="3" name="Table 3">
            <a:extLst>
              <a:ext uri="{FF2B5EF4-FFF2-40B4-BE49-F238E27FC236}">
                <a16:creationId xmlns:a16="http://schemas.microsoft.com/office/drawing/2014/main" id="{72C3707F-A2C8-4D3D-8B32-D627F1B4FE37}"/>
              </a:ext>
            </a:extLst>
          </p:cNvPr>
          <p:cNvGraphicFramePr>
            <a:graphicFrameLocks noGrp="1"/>
          </p:cNvGraphicFramePr>
          <p:nvPr>
            <p:extLst>
              <p:ext uri="{D42A27DB-BD31-4B8C-83A1-F6EECF244321}">
                <p14:modId xmlns:p14="http://schemas.microsoft.com/office/powerpoint/2010/main" val="2018994553"/>
              </p:ext>
            </p:extLst>
          </p:nvPr>
        </p:nvGraphicFramePr>
        <p:xfrm>
          <a:off x="464455" y="831850"/>
          <a:ext cx="8403774" cy="3962400"/>
        </p:xfrm>
        <a:graphic>
          <a:graphicData uri="http://schemas.openxmlformats.org/drawingml/2006/table">
            <a:tbl>
              <a:tblPr firstRow="1" bandRow="1">
                <a:tableStyleId>{F5AB1C69-6EDB-4FF4-983F-18BD219EF322}</a:tableStyleId>
              </a:tblPr>
              <a:tblGrid>
                <a:gridCol w="3454402">
                  <a:extLst>
                    <a:ext uri="{9D8B030D-6E8A-4147-A177-3AD203B41FA5}">
                      <a16:colId xmlns:a16="http://schemas.microsoft.com/office/drawing/2014/main" val="3033556321"/>
                    </a:ext>
                  </a:extLst>
                </a:gridCol>
                <a:gridCol w="4949372">
                  <a:extLst>
                    <a:ext uri="{9D8B030D-6E8A-4147-A177-3AD203B41FA5}">
                      <a16:colId xmlns:a16="http://schemas.microsoft.com/office/drawing/2014/main" val="3009871604"/>
                    </a:ext>
                  </a:extLst>
                </a:gridCol>
              </a:tblGrid>
              <a:tr h="257447">
                <a:tc>
                  <a:txBody>
                    <a:bodyPr/>
                    <a:lstStyle/>
                    <a:p>
                      <a:r>
                        <a:rPr lang="en-US" sz="2000" dirty="0">
                          <a:latin typeface="Arial" panose="020B0604020202020204" pitchFamily="34" charset="0"/>
                          <a:cs typeface="Arial" panose="020B0604020202020204" pitchFamily="34" charset="0"/>
                        </a:rPr>
                        <a:t>Requirement Paragraphs</a:t>
                      </a:r>
                    </a:p>
                  </a:txBody>
                  <a:tcPr/>
                </a:tc>
                <a:tc>
                  <a:txBody>
                    <a:bodyPr/>
                    <a:lstStyle/>
                    <a:p>
                      <a:pPr marL="0" algn="l" defTabSz="342900" rtl="0" eaLnBrk="1" latinLnBrk="0" hangingPunct="1"/>
                      <a:r>
                        <a:rPr lang="en-US" sz="2000" b="1" kern="1200" dirty="0">
                          <a:solidFill>
                            <a:schemeClr val="lt1"/>
                          </a:solidFill>
                          <a:latin typeface="Arial" panose="020B0604020202020204" pitchFamily="34" charset="0"/>
                          <a:cs typeface="Arial" panose="020B0604020202020204" pitchFamily="34" charset="0"/>
                        </a:rPr>
                        <a:t>Application Material Paragraphs</a:t>
                      </a:r>
                      <a:endParaRPr lang="en-US" sz="2000" b="1" kern="1200" dirty="0">
                        <a:solidFill>
                          <a:schemeClr val="lt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180381724"/>
                  </a:ext>
                </a:extLst>
              </a:tr>
              <a:tr h="370840">
                <a:tc>
                  <a:txBody>
                    <a:bodyPr/>
                    <a:lstStyle/>
                    <a:p>
                      <a:r>
                        <a:rPr lang="en-US" sz="2000" dirty="0">
                          <a:latin typeface="Arial" panose="020B0604020202020204" pitchFamily="34" charset="0"/>
                          <a:cs typeface="Arial" panose="020B0604020202020204" pitchFamily="34" charset="0"/>
                        </a:rPr>
                        <a:t>1‒12</a:t>
                      </a:r>
                    </a:p>
                  </a:txBody>
                  <a:tcPr/>
                </a:tc>
                <a:tc>
                  <a:txBody>
                    <a:bodyPr/>
                    <a:lstStyle/>
                    <a:p>
                      <a:r>
                        <a:rPr lang="en-US" sz="2000" dirty="0">
                          <a:latin typeface="Arial" panose="020B0604020202020204" pitchFamily="34" charset="0"/>
                          <a:cs typeface="Arial" panose="020B0604020202020204" pitchFamily="34" charset="0"/>
                        </a:rPr>
                        <a:t>A1‒A26, A32‒A35, A37</a:t>
                      </a:r>
                    </a:p>
                  </a:txBody>
                  <a:tcPr/>
                </a:tc>
                <a:extLst>
                  <a:ext uri="{0D108BD9-81ED-4DB2-BD59-A6C34878D82A}">
                    <a16:rowId xmlns:a16="http://schemas.microsoft.com/office/drawing/2014/main" val="1078787798"/>
                  </a:ext>
                </a:extLst>
              </a:tr>
              <a:tr h="370840">
                <a:tc>
                  <a:txBody>
                    <a:bodyPr/>
                    <a:lstStyle/>
                    <a:p>
                      <a:r>
                        <a:rPr lang="en-US" sz="2000" dirty="0">
                          <a:latin typeface="Arial" panose="020B0604020202020204" pitchFamily="34" charset="0"/>
                          <a:cs typeface="Arial" panose="020B0604020202020204" pitchFamily="34" charset="0"/>
                        </a:rPr>
                        <a:t>13‒15</a:t>
                      </a:r>
                    </a:p>
                  </a:txBody>
                  <a:tcPr/>
                </a:tc>
                <a:tc>
                  <a:txBody>
                    <a:bodyPr/>
                    <a:lstStyle/>
                    <a:p>
                      <a:r>
                        <a:rPr lang="en-US" sz="2000" dirty="0">
                          <a:latin typeface="Arial" panose="020B0604020202020204" pitchFamily="34" charset="0"/>
                          <a:cs typeface="Arial" panose="020B0604020202020204" pitchFamily="34" charset="0"/>
                        </a:rPr>
                        <a:t>A8, A27‒A36</a:t>
                      </a:r>
                    </a:p>
                  </a:txBody>
                  <a:tcPr/>
                </a:tc>
                <a:extLst>
                  <a:ext uri="{0D108BD9-81ED-4DB2-BD59-A6C34878D82A}">
                    <a16:rowId xmlns:a16="http://schemas.microsoft.com/office/drawing/2014/main" val="1125060624"/>
                  </a:ext>
                </a:extLst>
              </a:tr>
              <a:tr h="370840">
                <a:tc>
                  <a:txBody>
                    <a:bodyPr/>
                    <a:lstStyle/>
                    <a:p>
                      <a:r>
                        <a:rPr lang="en-US" sz="2000" dirty="0">
                          <a:latin typeface="Arial" panose="020B0604020202020204" pitchFamily="34" charset="0"/>
                          <a:cs typeface="Arial" panose="020B0604020202020204" pitchFamily="34" charset="0"/>
                        </a:rPr>
                        <a:t>16‒21</a:t>
                      </a:r>
                    </a:p>
                  </a:txBody>
                  <a:tcPr>
                    <a:solidFill>
                      <a:srgbClr val="CBD2E2"/>
                    </a:solidFill>
                  </a:tcPr>
                </a:tc>
                <a:tc>
                  <a:txBody>
                    <a:bodyPr/>
                    <a:lstStyle/>
                    <a:p>
                      <a:r>
                        <a:rPr lang="en-US" sz="2000" dirty="0">
                          <a:latin typeface="Arial" panose="020B0604020202020204" pitchFamily="34" charset="0"/>
                          <a:cs typeface="Arial" panose="020B0604020202020204" pitchFamily="34" charset="0"/>
                        </a:rPr>
                        <a:t>A22‒A24, A37‒A47</a:t>
                      </a:r>
                    </a:p>
                  </a:txBody>
                  <a:tcPr>
                    <a:solidFill>
                      <a:srgbClr val="CBD2E2"/>
                    </a:solidFill>
                  </a:tcPr>
                </a:tc>
                <a:extLst>
                  <a:ext uri="{0D108BD9-81ED-4DB2-BD59-A6C34878D82A}">
                    <a16:rowId xmlns:a16="http://schemas.microsoft.com/office/drawing/2014/main" val="1426910164"/>
                  </a:ext>
                </a:extLst>
              </a:tr>
              <a:tr h="370840">
                <a:tc>
                  <a:txBody>
                    <a:bodyPr/>
                    <a:lstStyle/>
                    <a:p>
                      <a:r>
                        <a:rPr lang="en-US" sz="2000" dirty="0">
                          <a:latin typeface="Arial" panose="020B0604020202020204" pitchFamily="34" charset="0"/>
                          <a:cs typeface="Arial" panose="020B0604020202020204" pitchFamily="34" charset="0"/>
                        </a:rPr>
                        <a:t>22‒24</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A48‒A57</a:t>
                      </a:r>
                    </a:p>
                  </a:txBody>
                  <a:tcPr>
                    <a:solidFill>
                      <a:srgbClr val="FFC000"/>
                    </a:solidFill>
                  </a:tcPr>
                </a:tc>
                <a:extLst>
                  <a:ext uri="{0D108BD9-81ED-4DB2-BD59-A6C34878D82A}">
                    <a16:rowId xmlns:a16="http://schemas.microsoft.com/office/drawing/2014/main" val="3565521318"/>
                  </a:ext>
                </a:extLst>
              </a:tr>
              <a:tr h="370840">
                <a:tc>
                  <a:txBody>
                    <a:bodyPr/>
                    <a:lstStyle/>
                    <a:p>
                      <a:r>
                        <a:rPr lang="en-US" sz="2000" dirty="0">
                          <a:latin typeface="Arial" panose="020B0604020202020204" pitchFamily="34" charset="0"/>
                          <a:cs typeface="Arial" panose="020B0604020202020204" pitchFamily="34" charset="0"/>
                        </a:rPr>
                        <a:t>25‒28</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A58‒A79</a:t>
                      </a:r>
                    </a:p>
                  </a:txBody>
                  <a:tcPr>
                    <a:solidFill>
                      <a:srgbClr val="FFC000"/>
                    </a:solidFill>
                  </a:tcPr>
                </a:tc>
                <a:extLst>
                  <a:ext uri="{0D108BD9-81ED-4DB2-BD59-A6C34878D82A}">
                    <a16:rowId xmlns:a16="http://schemas.microsoft.com/office/drawing/2014/main" val="625387235"/>
                  </a:ext>
                </a:extLst>
              </a:tr>
              <a:tr h="370840">
                <a:tc>
                  <a:txBody>
                    <a:bodyPr/>
                    <a:lstStyle/>
                    <a:p>
                      <a:r>
                        <a:rPr lang="en-US" sz="2000" dirty="0">
                          <a:latin typeface="Arial" panose="020B0604020202020204" pitchFamily="34" charset="0"/>
                          <a:cs typeface="Arial" panose="020B0604020202020204" pitchFamily="34" charset="0"/>
                        </a:rPr>
                        <a:t>29‒38</a:t>
                      </a:r>
                    </a:p>
                  </a:txBody>
                  <a:tcPr/>
                </a:tc>
                <a:tc>
                  <a:txBody>
                    <a:bodyPr/>
                    <a:lstStyle/>
                    <a:p>
                      <a:r>
                        <a:rPr lang="en-US" sz="2000" dirty="0">
                          <a:latin typeface="Arial" panose="020B0604020202020204" pitchFamily="34" charset="0"/>
                          <a:cs typeface="Arial" panose="020B0604020202020204" pitchFamily="34" charset="0"/>
                        </a:rPr>
                        <a:t>A80‒A108</a:t>
                      </a:r>
                    </a:p>
                  </a:txBody>
                  <a:tcPr/>
                </a:tc>
                <a:extLst>
                  <a:ext uri="{0D108BD9-81ED-4DB2-BD59-A6C34878D82A}">
                    <a16:rowId xmlns:a16="http://schemas.microsoft.com/office/drawing/2014/main" val="3478193152"/>
                  </a:ext>
                </a:extLst>
              </a:tr>
              <a:tr h="370840">
                <a:tc>
                  <a:txBody>
                    <a:bodyPr/>
                    <a:lstStyle/>
                    <a:p>
                      <a:r>
                        <a:rPr lang="en-US" sz="2000" dirty="0">
                          <a:latin typeface="Arial" panose="020B0604020202020204" pitchFamily="34" charset="0"/>
                          <a:cs typeface="Arial" panose="020B0604020202020204" pitchFamily="34" charset="0"/>
                        </a:rPr>
                        <a:t>39</a:t>
                      </a:r>
                    </a:p>
                  </a:txBody>
                  <a:tcPr/>
                </a:tc>
                <a:tc>
                  <a:txBody>
                    <a:bodyPr/>
                    <a:lstStyle/>
                    <a:p>
                      <a:r>
                        <a:rPr lang="en-US" sz="2000" dirty="0">
                          <a:latin typeface="Arial" panose="020B0604020202020204" pitchFamily="34" charset="0"/>
                          <a:cs typeface="Arial" panose="020B0604020202020204" pitchFamily="34" charset="0"/>
                        </a:rPr>
                        <a:t>A109‒A112</a:t>
                      </a:r>
                    </a:p>
                  </a:txBody>
                  <a:tcPr/>
                </a:tc>
                <a:extLst>
                  <a:ext uri="{0D108BD9-81ED-4DB2-BD59-A6C34878D82A}">
                    <a16:rowId xmlns:a16="http://schemas.microsoft.com/office/drawing/2014/main" val="2273351075"/>
                  </a:ext>
                </a:extLst>
              </a:tr>
              <a:tr h="370840">
                <a:tc>
                  <a:txBody>
                    <a:bodyPr/>
                    <a:lstStyle/>
                    <a:p>
                      <a:r>
                        <a:rPr lang="en-US" sz="2000" dirty="0">
                          <a:latin typeface="Arial" panose="020B0604020202020204" pitchFamily="34" charset="0"/>
                          <a:cs typeface="Arial" panose="020B0604020202020204" pitchFamily="34" charset="0"/>
                        </a:rPr>
                        <a:t>40</a:t>
                      </a:r>
                    </a:p>
                  </a:txBody>
                  <a:tcPr/>
                </a:tc>
                <a:tc>
                  <a:txBody>
                    <a:bodyPr/>
                    <a:lstStyle/>
                    <a:p>
                      <a:r>
                        <a:rPr lang="en-US" sz="2000" dirty="0">
                          <a:latin typeface="Arial" panose="020B0604020202020204" pitchFamily="34" charset="0"/>
                          <a:cs typeface="Arial" panose="020B0604020202020204" pitchFamily="34" charset="0"/>
                        </a:rPr>
                        <a:t>A113‒A116</a:t>
                      </a:r>
                    </a:p>
                  </a:txBody>
                  <a:tcPr/>
                </a:tc>
                <a:extLst>
                  <a:ext uri="{0D108BD9-81ED-4DB2-BD59-A6C34878D82A}">
                    <a16:rowId xmlns:a16="http://schemas.microsoft.com/office/drawing/2014/main" val="1286551987"/>
                  </a:ext>
                </a:extLst>
              </a:tr>
              <a:tr h="370840">
                <a:tc>
                  <a:txBody>
                    <a:bodyPr/>
                    <a:lstStyle/>
                    <a:p>
                      <a:r>
                        <a:rPr lang="en-US" sz="2000" dirty="0">
                          <a:latin typeface="Arial" panose="020B0604020202020204" pitchFamily="34" charset="0"/>
                          <a:cs typeface="Arial" panose="020B0604020202020204" pitchFamily="34" charset="0"/>
                        </a:rPr>
                        <a:t>41</a:t>
                      </a:r>
                    </a:p>
                  </a:txBody>
                  <a:tcPr/>
                </a:tc>
                <a:tc>
                  <a:txBody>
                    <a:bodyPr/>
                    <a:lstStyle/>
                    <a:p>
                      <a:r>
                        <a:rPr lang="en-US" sz="2000" dirty="0">
                          <a:latin typeface="Arial" panose="020B0604020202020204" pitchFamily="34" charset="0"/>
                          <a:cs typeface="Arial" panose="020B0604020202020204" pitchFamily="34" charset="0"/>
                        </a:rPr>
                        <a:t>A117‒A120</a:t>
                      </a:r>
                    </a:p>
                  </a:txBody>
                  <a:tcPr/>
                </a:tc>
                <a:extLst>
                  <a:ext uri="{0D108BD9-81ED-4DB2-BD59-A6C34878D82A}">
                    <a16:rowId xmlns:a16="http://schemas.microsoft.com/office/drawing/2014/main" val="2846500395"/>
                  </a:ext>
                </a:extLst>
              </a:tr>
            </a:tbl>
          </a:graphicData>
        </a:graphic>
      </p:graphicFrame>
    </p:spTree>
    <p:extLst>
      <p:ext uri="{BB962C8B-B14F-4D97-AF65-F5344CB8AC3E}">
        <p14:creationId xmlns:p14="http://schemas.microsoft.com/office/powerpoint/2010/main" val="775138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2684068"/>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algn="just">
              <a:lnSpc>
                <a:spcPts val="2400"/>
              </a:lnSpc>
              <a:spcBef>
                <a:spcPts val="600"/>
              </a:spcBef>
            </a:pPr>
            <a:r>
              <a:rPr lang="en-US" sz="2000" b="0" i="0" u="none" strike="sngStrike" baseline="0" dirty="0">
                <a:latin typeface="Arial" panose="020B0604020202020204" pitchFamily="34" charset="0"/>
              </a:rPr>
              <a:t>Proposed </a:t>
            </a:r>
            <a:r>
              <a:rPr lang="en-US" sz="2000" b="0" i="0" u="none" strike="noStrike" baseline="0" dirty="0">
                <a:latin typeface="Arial" panose="020B0604020202020204" pitchFamily="34" charset="0"/>
              </a:rPr>
              <a:t>ISQM 1 addresses the firm’s commitment to quality through its culture that </a:t>
            </a:r>
            <a:r>
              <a:rPr lang="en-US" sz="2000" b="0" i="0" u="sng" strike="noStrike" baseline="0" dirty="0">
                <a:solidFill>
                  <a:prstClr val="black"/>
                </a:solidFill>
                <a:highlight>
                  <a:srgbClr val="FFFF00"/>
                </a:highlight>
                <a:latin typeface="Arial" panose="020B0604020202020204" pitchFamily="34" charset="0"/>
              </a:rPr>
              <a:t>exists throughout the firm, which</a:t>
            </a:r>
            <a:r>
              <a:rPr lang="en-US" sz="2000" b="0" i="0" u="none" strike="noStrike" baseline="0" dirty="0">
                <a:solidFill>
                  <a:prstClr val="black"/>
                </a:solidFill>
                <a:latin typeface="Arial" panose="020B0604020202020204" pitchFamily="34" charset="0"/>
              </a:rPr>
              <a:t> recognizes and reinforces the firm’s role in serving the public interest by consistently performing quality engagements, and the importance of quality in the firm’s strategic decisions and actions, including the firm’s financial and operational priorities. …</a:t>
            </a:r>
            <a:endPar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a:p>
            <a:pPr algn="just">
              <a:lnSpc>
                <a:spcPts val="2400"/>
              </a:lnSpc>
              <a:spcBef>
                <a:spcPts val="600"/>
              </a:spcBef>
            </a:pP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 A75 (first sentence)</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14</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32494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1837683"/>
          </a:xfrm>
          <a:prstGeom prst="rect">
            <a:avLst/>
          </a:prstGeom>
          <a:noFill/>
          <a:ln>
            <a:noFill/>
          </a:ln>
        </p:spPr>
        <p:txBody>
          <a:bodyPr wrap="square" rtlCol="0">
            <a:spAutoFit/>
          </a:bodyPr>
          <a:lstStyle/>
          <a:p>
            <a:pPr marL="285750" indent="-285750" algn="just">
              <a:lnSpc>
                <a:spcPts val="2400"/>
              </a:lnSpc>
              <a:spcBef>
                <a:spcPts val="600"/>
              </a:spcBef>
              <a:buFont typeface="Arial" panose="020B0604020202020204" pitchFamily="34" charset="0"/>
              <a:buChar char="•"/>
            </a:pPr>
            <a:endPar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endParaRPr>
          </a:p>
          <a:p>
            <a:pPr marL="285750" indent="-285750" algn="just">
              <a:lnSpc>
                <a:spcPts val="2400"/>
              </a:lnSpc>
              <a:spcBef>
                <a:spcPts val="600"/>
              </a:spcBef>
              <a:buFont typeface="Arial" panose="020B0604020202020204" pitchFamily="34" charset="0"/>
              <a:buChar char="•"/>
            </a:pP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Paragraph A65 – 2</a:t>
            </a:r>
            <a:r>
              <a:rPr lang="en-US" sz="1800" kern="400" baseline="30000" dirty="0">
                <a:solidFill>
                  <a:schemeClr val="tx1">
                    <a:lumMod val="65000"/>
                    <a:lumOff val="35000"/>
                  </a:schemeClr>
                </a:solidFill>
                <a:effectLst/>
                <a:latin typeface="Arial" panose="020B0604020202020204" pitchFamily="34" charset="0"/>
                <a:ea typeface="Times New Roman" panose="02020603050405020304" pitchFamily="18" charset="0"/>
              </a:rPr>
              <a:t>nd</a:t>
            </a: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 last bullet – Change to “</a:t>
            </a:r>
            <a:r>
              <a:rPr lang="en-US" sz="1800" kern="400" dirty="0">
                <a:effectLst/>
                <a:latin typeface="Arial" panose="020B0604020202020204" pitchFamily="34" charset="0"/>
                <a:ea typeface="Times New Roman" panose="02020603050405020304" pitchFamily="18" charset="0"/>
              </a:rPr>
              <a:t>Testing the operation and security of the </a:t>
            </a:r>
            <a:r>
              <a:rPr lang="en-US" sz="1800" strike="sngStrike" kern="400" dirty="0">
                <a:effectLst/>
                <a:highlight>
                  <a:srgbClr val="FFFF00"/>
                </a:highlight>
                <a:latin typeface="Arial" panose="020B0604020202020204" pitchFamily="34" charset="0"/>
                <a:ea typeface="Times New Roman" panose="02020603050405020304" pitchFamily="18" charset="0"/>
              </a:rPr>
              <a:t>technological </a:t>
            </a:r>
            <a:r>
              <a:rPr lang="en-US" sz="1800" strike="sngStrike" kern="400" dirty="0" err="1">
                <a:effectLst/>
                <a:highlight>
                  <a:srgbClr val="FFFF00"/>
                </a:highlight>
                <a:latin typeface="Arial" panose="020B0604020202020204" pitchFamily="34" charset="0"/>
                <a:ea typeface="Times New Roman" panose="02020603050405020304" pitchFamily="18" charset="0"/>
              </a:rPr>
              <a:t>resource</a:t>
            </a:r>
            <a:r>
              <a:rPr lang="en-US" sz="1800" u="sng" kern="400" dirty="0" err="1">
                <a:effectLst/>
                <a:highlight>
                  <a:srgbClr val="FFFF00"/>
                </a:highlight>
                <a:latin typeface="Arial" panose="020B0604020202020204" pitchFamily="34" charset="0"/>
                <a:ea typeface="Times New Roman" panose="02020603050405020304" pitchFamily="18" charset="0"/>
              </a:rPr>
              <a:t>IT</a:t>
            </a:r>
            <a:r>
              <a:rPr lang="en-US" sz="1800" u="sng" kern="400" dirty="0">
                <a:effectLst/>
                <a:highlight>
                  <a:srgbClr val="FFFF00"/>
                </a:highlight>
                <a:latin typeface="Arial" panose="020B0604020202020204" pitchFamily="34" charset="0"/>
                <a:ea typeface="Times New Roman" panose="02020603050405020304" pitchFamily="18" charset="0"/>
              </a:rPr>
              <a:t> application</a:t>
            </a:r>
            <a:r>
              <a:rPr lang="en-US" sz="1800" kern="400" dirty="0">
                <a:effectLst/>
                <a:latin typeface="Arial" panose="020B0604020202020204" pitchFamily="34" charset="0"/>
                <a:ea typeface="Times New Roman" panose="02020603050405020304" pitchFamily="18" charset="0"/>
              </a:rPr>
              <a:t>.</a:t>
            </a:r>
            <a:endParaRPr lang="en-US" sz="1800" kern="400" dirty="0">
              <a:effectLst/>
              <a:latin typeface="Times New Roman" panose="02020603050405020304" pitchFamily="18" charset="0"/>
              <a:ea typeface="Times New Roman" panose="02020603050405020304" pitchFamily="18" charset="0"/>
            </a:endParaRPr>
          </a:p>
          <a:p>
            <a:pPr marL="285750" indent="-285750" algn="just">
              <a:lnSpc>
                <a:spcPts val="2400"/>
              </a:lnSpc>
              <a:spcBef>
                <a:spcPts val="600"/>
              </a:spcBef>
              <a:buFont typeface="Arial" panose="020B0604020202020204" pitchFamily="34" charset="0"/>
              <a:buChar char="•"/>
            </a:pPr>
            <a:endPar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endParaRPr>
          </a:p>
          <a:p>
            <a:pPr marL="285750" indent="-285750" algn="just">
              <a:lnSpc>
                <a:spcPts val="2400"/>
              </a:lnSpc>
              <a:spcBef>
                <a:spcPts val="600"/>
              </a:spcBef>
              <a:buFont typeface="Arial" panose="020B0604020202020204" pitchFamily="34" charset="0"/>
              <a:buChar char="•"/>
            </a:pPr>
            <a:r>
              <a:rPr lang="en-US" sz="1800" kern="400" dirty="0">
                <a:solidFill>
                  <a:schemeClr val="tx1">
                    <a:lumMod val="65000"/>
                    <a:lumOff val="35000"/>
                  </a:schemeClr>
                </a:solidFill>
                <a:effectLst/>
                <a:latin typeface="Arial" panose="020B0604020202020204" pitchFamily="34" charset="0"/>
                <a:ea typeface="Times New Roman" panose="02020603050405020304" pitchFamily="18" charset="0"/>
              </a:rPr>
              <a:t>	</a:t>
            </a: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Minor Changes</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15</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034398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Walk-through of Proposed ISA 220 (Revised)</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16</a:t>
            </a:fld>
            <a:endParaRPr lang="en-US" sz="675" dirty="0">
              <a:solidFill>
                <a:srgbClr val="808080"/>
              </a:solidFill>
              <a:latin typeface="Arial" panose="020B0604020202020204" pitchFamily="34" charset="0"/>
            </a:endParaRPr>
          </a:p>
        </p:txBody>
      </p:sp>
      <p:graphicFrame>
        <p:nvGraphicFramePr>
          <p:cNvPr id="3" name="Table 3">
            <a:extLst>
              <a:ext uri="{FF2B5EF4-FFF2-40B4-BE49-F238E27FC236}">
                <a16:creationId xmlns:a16="http://schemas.microsoft.com/office/drawing/2014/main" id="{72C3707F-A2C8-4D3D-8B32-D627F1B4FE37}"/>
              </a:ext>
            </a:extLst>
          </p:cNvPr>
          <p:cNvGraphicFramePr>
            <a:graphicFrameLocks noGrp="1"/>
          </p:cNvGraphicFramePr>
          <p:nvPr>
            <p:extLst>
              <p:ext uri="{D42A27DB-BD31-4B8C-83A1-F6EECF244321}">
                <p14:modId xmlns:p14="http://schemas.microsoft.com/office/powerpoint/2010/main" val="546006326"/>
              </p:ext>
            </p:extLst>
          </p:nvPr>
        </p:nvGraphicFramePr>
        <p:xfrm>
          <a:off x="464455" y="831850"/>
          <a:ext cx="8403774" cy="3962400"/>
        </p:xfrm>
        <a:graphic>
          <a:graphicData uri="http://schemas.openxmlformats.org/drawingml/2006/table">
            <a:tbl>
              <a:tblPr firstRow="1" bandRow="1">
                <a:tableStyleId>{F5AB1C69-6EDB-4FF4-983F-18BD219EF322}</a:tableStyleId>
              </a:tblPr>
              <a:tblGrid>
                <a:gridCol w="3454402">
                  <a:extLst>
                    <a:ext uri="{9D8B030D-6E8A-4147-A177-3AD203B41FA5}">
                      <a16:colId xmlns:a16="http://schemas.microsoft.com/office/drawing/2014/main" val="3033556321"/>
                    </a:ext>
                  </a:extLst>
                </a:gridCol>
                <a:gridCol w="4949372">
                  <a:extLst>
                    <a:ext uri="{9D8B030D-6E8A-4147-A177-3AD203B41FA5}">
                      <a16:colId xmlns:a16="http://schemas.microsoft.com/office/drawing/2014/main" val="3009871604"/>
                    </a:ext>
                  </a:extLst>
                </a:gridCol>
              </a:tblGrid>
              <a:tr h="257447">
                <a:tc>
                  <a:txBody>
                    <a:bodyPr/>
                    <a:lstStyle/>
                    <a:p>
                      <a:r>
                        <a:rPr lang="en-US" sz="2000" dirty="0">
                          <a:latin typeface="Arial" panose="020B0604020202020204" pitchFamily="34" charset="0"/>
                          <a:cs typeface="Arial" panose="020B0604020202020204" pitchFamily="34" charset="0"/>
                        </a:rPr>
                        <a:t>Requirement Paragraphs</a:t>
                      </a:r>
                    </a:p>
                  </a:txBody>
                  <a:tcPr/>
                </a:tc>
                <a:tc>
                  <a:txBody>
                    <a:bodyPr/>
                    <a:lstStyle/>
                    <a:p>
                      <a:pPr marL="0" algn="l" defTabSz="342900" rtl="0" eaLnBrk="1" latinLnBrk="0" hangingPunct="1"/>
                      <a:r>
                        <a:rPr lang="en-US" sz="2000" b="1" kern="1200" dirty="0">
                          <a:solidFill>
                            <a:schemeClr val="lt1"/>
                          </a:solidFill>
                          <a:latin typeface="Arial" panose="020B0604020202020204" pitchFamily="34" charset="0"/>
                          <a:cs typeface="Arial" panose="020B0604020202020204" pitchFamily="34" charset="0"/>
                        </a:rPr>
                        <a:t>Application Material Paragraphs</a:t>
                      </a:r>
                      <a:endParaRPr lang="en-US" sz="2000" b="1" kern="1200" dirty="0">
                        <a:solidFill>
                          <a:schemeClr val="lt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180381724"/>
                  </a:ext>
                </a:extLst>
              </a:tr>
              <a:tr h="370840">
                <a:tc>
                  <a:txBody>
                    <a:bodyPr/>
                    <a:lstStyle/>
                    <a:p>
                      <a:r>
                        <a:rPr lang="en-US" sz="2000" dirty="0">
                          <a:latin typeface="Arial" panose="020B0604020202020204" pitchFamily="34" charset="0"/>
                          <a:cs typeface="Arial" panose="020B0604020202020204" pitchFamily="34" charset="0"/>
                        </a:rPr>
                        <a:t>1‒12</a:t>
                      </a:r>
                    </a:p>
                  </a:txBody>
                  <a:tcPr/>
                </a:tc>
                <a:tc>
                  <a:txBody>
                    <a:bodyPr/>
                    <a:lstStyle/>
                    <a:p>
                      <a:r>
                        <a:rPr lang="en-US" sz="2000" dirty="0">
                          <a:latin typeface="Arial" panose="020B0604020202020204" pitchFamily="34" charset="0"/>
                          <a:cs typeface="Arial" panose="020B0604020202020204" pitchFamily="34" charset="0"/>
                        </a:rPr>
                        <a:t>A1‒A26, A32‒A35, A37</a:t>
                      </a:r>
                    </a:p>
                  </a:txBody>
                  <a:tcPr/>
                </a:tc>
                <a:extLst>
                  <a:ext uri="{0D108BD9-81ED-4DB2-BD59-A6C34878D82A}">
                    <a16:rowId xmlns:a16="http://schemas.microsoft.com/office/drawing/2014/main" val="1078787798"/>
                  </a:ext>
                </a:extLst>
              </a:tr>
              <a:tr h="370840">
                <a:tc>
                  <a:txBody>
                    <a:bodyPr/>
                    <a:lstStyle/>
                    <a:p>
                      <a:r>
                        <a:rPr lang="en-US" sz="2000" dirty="0">
                          <a:latin typeface="Arial" panose="020B0604020202020204" pitchFamily="34" charset="0"/>
                          <a:cs typeface="Arial" panose="020B0604020202020204" pitchFamily="34" charset="0"/>
                        </a:rPr>
                        <a:t>13‒15</a:t>
                      </a:r>
                    </a:p>
                  </a:txBody>
                  <a:tcPr/>
                </a:tc>
                <a:tc>
                  <a:txBody>
                    <a:bodyPr/>
                    <a:lstStyle/>
                    <a:p>
                      <a:r>
                        <a:rPr lang="en-US" sz="2000" dirty="0">
                          <a:latin typeface="Arial" panose="020B0604020202020204" pitchFamily="34" charset="0"/>
                          <a:cs typeface="Arial" panose="020B0604020202020204" pitchFamily="34" charset="0"/>
                        </a:rPr>
                        <a:t>A8, A27‒A36</a:t>
                      </a:r>
                    </a:p>
                  </a:txBody>
                  <a:tcPr/>
                </a:tc>
                <a:extLst>
                  <a:ext uri="{0D108BD9-81ED-4DB2-BD59-A6C34878D82A}">
                    <a16:rowId xmlns:a16="http://schemas.microsoft.com/office/drawing/2014/main" val="1125060624"/>
                  </a:ext>
                </a:extLst>
              </a:tr>
              <a:tr h="370840">
                <a:tc>
                  <a:txBody>
                    <a:bodyPr/>
                    <a:lstStyle/>
                    <a:p>
                      <a:r>
                        <a:rPr lang="en-US" sz="2000" dirty="0">
                          <a:latin typeface="Arial" panose="020B0604020202020204" pitchFamily="34" charset="0"/>
                          <a:cs typeface="Arial" panose="020B0604020202020204" pitchFamily="34" charset="0"/>
                        </a:rPr>
                        <a:t>16‒21</a:t>
                      </a:r>
                    </a:p>
                  </a:txBody>
                  <a:tcPr>
                    <a:solidFill>
                      <a:srgbClr val="CBD2E2"/>
                    </a:solidFill>
                  </a:tcPr>
                </a:tc>
                <a:tc>
                  <a:txBody>
                    <a:bodyPr/>
                    <a:lstStyle/>
                    <a:p>
                      <a:r>
                        <a:rPr lang="en-US" sz="2000" dirty="0">
                          <a:latin typeface="Arial" panose="020B0604020202020204" pitchFamily="34" charset="0"/>
                          <a:cs typeface="Arial" panose="020B0604020202020204" pitchFamily="34" charset="0"/>
                        </a:rPr>
                        <a:t>A22‒A24, A37‒A47</a:t>
                      </a:r>
                    </a:p>
                  </a:txBody>
                  <a:tcPr>
                    <a:solidFill>
                      <a:srgbClr val="CBD2E2"/>
                    </a:solidFill>
                  </a:tcPr>
                </a:tc>
                <a:extLst>
                  <a:ext uri="{0D108BD9-81ED-4DB2-BD59-A6C34878D82A}">
                    <a16:rowId xmlns:a16="http://schemas.microsoft.com/office/drawing/2014/main" val="1426910164"/>
                  </a:ext>
                </a:extLst>
              </a:tr>
              <a:tr h="370840">
                <a:tc>
                  <a:txBody>
                    <a:bodyPr/>
                    <a:lstStyle/>
                    <a:p>
                      <a:r>
                        <a:rPr lang="en-US" sz="2000" dirty="0">
                          <a:latin typeface="Arial" panose="020B0604020202020204" pitchFamily="34" charset="0"/>
                          <a:cs typeface="Arial" panose="020B0604020202020204" pitchFamily="34" charset="0"/>
                        </a:rPr>
                        <a:t>22‒24</a:t>
                      </a:r>
                    </a:p>
                  </a:txBody>
                  <a:tcPr/>
                </a:tc>
                <a:tc>
                  <a:txBody>
                    <a:bodyPr/>
                    <a:lstStyle/>
                    <a:p>
                      <a:r>
                        <a:rPr lang="en-US" sz="2000" dirty="0">
                          <a:latin typeface="Arial" panose="020B0604020202020204" pitchFamily="34" charset="0"/>
                          <a:cs typeface="Arial" panose="020B0604020202020204" pitchFamily="34" charset="0"/>
                        </a:rPr>
                        <a:t>A48‒A57</a:t>
                      </a:r>
                    </a:p>
                  </a:txBody>
                  <a:tcPr/>
                </a:tc>
                <a:extLst>
                  <a:ext uri="{0D108BD9-81ED-4DB2-BD59-A6C34878D82A}">
                    <a16:rowId xmlns:a16="http://schemas.microsoft.com/office/drawing/2014/main" val="3565521318"/>
                  </a:ext>
                </a:extLst>
              </a:tr>
              <a:tr h="370840">
                <a:tc>
                  <a:txBody>
                    <a:bodyPr/>
                    <a:lstStyle/>
                    <a:p>
                      <a:r>
                        <a:rPr lang="en-US" sz="2000" dirty="0">
                          <a:latin typeface="Arial" panose="020B0604020202020204" pitchFamily="34" charset="0"/>
                          <a:cs typeface="Arial" panose="020B0604020202020204" pitchFamily="34" charset="0"/>
                        </a:rPr>
                        <a:t>25‒28</a:t>
                      </a:r>
                    </a:p>
                  </a:txBody>
                  <a:tcPr/>
                </a:tc>
                <a:tc>
                  <a:txBody>
                    <a:bodyPr/>
                    <a:lstStyle/>
                    <a:p>
                      <a:r>
                        <a:rPr lang="en-US" sz="2000" dirty="0">
                          <a:latin typeface="Arial" panose="020B0604020202020204" pitchFamily="34" charset="0"/>
                          <a:cs typeface="Arial" panose="020B0604020202020204" pitchFamily="34" charset="0"/>
                        </a:rPr>
                        <a:t>A58‒A79</a:t>
                      </a:r>
                    </a:p>
                  </a:txBody>
                  <a:tcPr/>
                </a:tc>
                <a:extLst>
                  <a:ext uri="{0D108BD9-81ED-4DB2-BD59-A6C34878D82A}">
                    <a16:rowId xmlns:a16="http://schemas.microsoft.com/office/drawing/2014/main" val="625387235"/>
                  </a:ext>
                </a:extLst>
              </a:tr>
              <a:tr h="370840">
                <a:tc>
                  <a:txBody>
                    <a:bodyPr/>
                    <a:lstStyle/>
                    <a:p>
                      <a:r>
                        <a:rPr lang="en-US" sz="2000" dirty="0">
                          <a:latin typeface="Arial" panose="020B0604020202020204" pitchFamily="34" charset="0"/>
                          <a:cs typeface="Arial" panose="020B0604020202020204" pitchFamily="34" charset="0"/>
                        </a:rPr>
                        <a:t>29‒38</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A80‒A108</a:t>
                      </a:r>
                    </a:p>
                  </a:txBody>
                  <a:tcPr>
                    <a:solidFill>
                      <a:srgbClr val="FFC000"/>
                    </a:solidFill>
                  </a:tcPr>
                </a:tc>
                <a:extLst>
                  <a:ext uri="{0D108BD9-81ED-4DB2-BD59-A6C34878D82A}">
                    <a16:rowId xmlns:a16="http://schemas.microsoft.com/office/drawing/2014/main" val="3478193152"/>
                  </a:ext>
                </a:extLst>
              </a:tr>
              <a:tr h="370840">
                <a:tc>
                  <a:txBody>
                    <a:bodyPr/>
                    <a:lstStyle/>
                    <a:p>
                      <a:r>
                        <a:rPr lang="en-US" sz="2000" dirty="0">
                          <a:latin typeface="Arial" panose="020B0604020202020204" pitchFamily="34" charset="0"/>
                          <a:cs typeface="Arial" panose="020B0604020202020204" pitchFamily="34" charset="0"/>
                        </a:rPr>
                        <a:t>39</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A109‒A112</a:t>
                      </a:r>
                    </a:p>
                  </a:txBody>
                  <a:tcPr>
                    <a:solidFill>
                      <a:srgbClr val="FFC000"/>
                    </a:solidFill>
                  </a:tcPr>
                </a:tc>
                <a:extLst>
                  <a:ext uri="{0D108BD9-81ED-4DB2-BD59-A6C34878D82A}">
                    <a16:rowId xmlns:a16="http://schemas.microsoft.com/office/drawing/2014/main" val="2273351075"/>
                  </a:ext>
                </a:extLst>
              </a:tr>
              <a:tr h="370840">
                <a:tc>
                  <a:txBody>
                    <a:bodyPr/>
                    <a:lstStyle/>
                    <a:p>
                      <a:r>
                        <a:rPr lang="en-US" sz="2000" dirty="0">
                          <a:latin typeface="Arial" panose="020B0604020202020204" pitchFamily="34" charset="0"/>
                          <a:cs typeface="Arial" panose="020B0604020202020204" pitchFamily="34" charset="0"/>
                        </a:rPr>
                        <a:t>40</a:t>
                      </a:r>
                    </a:p>
                  </a:txBody>
                  <a:tcPr/>
                </a:tc>
                <a:tc>
                  <a:txBody>
                    <a:bodyPr/>
                    <a:lstStyle/>
                    <a:p>
                      <a:r>
                        <a:rPr lang="en-US" sz="2000" dirty="0">
                          <a:latin typeface="Arial" panose="020B0604020202020204" pitchFamily="34" charset="0"/>
                          <a:cs typeface="Arial" panose="020B0604020202020204" pitchFamily="34" charset="0"/>
                        </a:rPr>
                        <a:t>A113‒A116</a:t>
                      </a:r>
                    </a:p>
                  </a:txBody>
                  <a:tcPr/>
                </a:tc>
                <a:extLst>
                  <a:ext uri="{0D108BD9-81ED-4DB2-BD59-A6C34878D82A}">
                    <a16:rowId xmlns:a16="http://schemas.microsoft.com/office/drawing/2014/main" val="1286551987"/>
                  </a:ext>
                </a:extLst>
              </a:tr>
              <a:tr h="370840">
                <a:tc>
                  <a:txBody>
                    <a:bodyPr/>
                    <a:lstStyle/>
                    <a:p>
                      <a:r>
                        <a:rPr lang="en-US" sz="2000" dirty="0">
                          <a:latin typeface="Arial" panose="020B0604020202020204" pitchFamily="34" charset="0"/>
                          <a:cs typeface="Arial" panose="020B0604020202020204" pitchFamily="34" charset="0"/>
                        </a:rPr>
                        <a:t>41</a:t>
                      </a:r>
                    </a:p>
                  </a:txBody>
                  <a:tcPr/>
                </a:tc>
                <a:tc>
                  <a:txBody>
                    <a:bodyPr/>
                    <a:lstStyle/>
                    <a:p>
                      <a:r>
                        <a:rPr lang="en-US" sz="2000" dirty="0">
                          <a:latin typeface="Arial" panose="020B0604020202020204" pitchFamily="34" charset="0"/>
                          <a:cs typeface="Arial" panose="020B0604020202020204" pitchFamily="34" charset="0"/>
                        </a:rPr>
                        <a:t>A117‒A120</a:t>
                      </a:r>
                    </a:p>
                  </a:txBody>
                  <a:tcPr/>
                </a:tc>
                <a:extLst>
                  <a:ext uri="{0D108BD9-81ED-4DB2-BD59-A6C34878D82A}">
                    <a16:rowId xmlns:a16="http://schemas.microsoft.com/office/drawing/2014/main" val="2846500395"/>
                  </a:ext>
                </a:extLst>
              </a:tr>
            </a:tbl>
          </a:graphicData>
        </a:graphic>
      </p:graphicFrame>
    </p:spTree>
    <p:extLst>
      <p:ext uri="{BB962C8B-B14F-4D97-AF65-F5344CB8AC3E}">
        <p14:creationId xmlns:p14="http://schemas.microsoft.com/office/powerpoint/2010/main" val="1717564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1958934"/>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marL="347345" marR="0" indent="-347345" algn="just">
              <a:spcBef>
                <a:spcPts val="600"/>
              </a:spcBef>
              <a:spcAft>
                <a:spcPts val="0"/>
              </a:spcAft>
              <a:tabLst>
                <a:tab pos="198120" algn="r"/>
                <a:tab pos="304800" algn="l"/>
                <a:tab pos="457200" algn="l"/>
              </a:tabLst>
            </a:pPr>
            <a:endParaRPr lang="en-US" sz="2000" dirty="0">
              <a:solidFill>
                <a:prstClr val="black"/>
              </a:solidFill>
              <a:latin typeface="Arial" panose="020B0604020202020204" pitchFamily="34" charset="0"/>
            </a:endParaRPr>
          </a:p>
          <a:p>
            <a:pPr marL="347345" marR="0" indent="-347345" algn="just">
              <a:spcBef>
                <a:spcPts val="600"/>
              </a:spcBef>
              <a:spcAft>
                <a:spcPts val="0"/>
              </a:spcAft>
              <a:tabLst>
                <a:tab pos="198120" algn="r"/>
                <a:tab pos="304800" algn="l"/>
                <a:tab pos="457200" algn="l"/>
              </a:tabLst>
            </a:pPr>
            <a:r>
              <a:rPr lang="en-US" sz="2000" dirty="0">
                <a:solidFill>
                  <a:prstClr val="black"/>
                </a:solidFill>
                <a:latin typeface="Arial" panose="020B0604020202020204" pitchFamily="34" charset="0"/>
              </a:rPr>
              <a:t>A90.	</a:t>
            </a:r>
            <a:r>
              <a:rPr lang="en-US" sz="2000" strike="sngStrike" dirty="0">
                <a:solidFill>
                  <a:prstClr val="black"/>
                </a:solidFill>
                <a:highlight>
                  <a:srgbClr val="FFFF00"/>
                </a:highlight>
                <a:latin typeface="Arial" panose="020B0604020202020204" pitchFamily="34" charset="0"/>
              </a:rPr>
              <a:t>As required by ISA 300, the engagement partner reviews the overall audit strategy and audit plan. </a:t>
            </a:r>
            <a:r>
              <a:rPr lang="en-US" sz="2000" dirty="0">
                <a:solidFill>
                  <a:prstClr val="black"/>
                </a:solidFill>
                <a:latin typeface="Arial" panose="020B0604020202020204" pitchFamily="34" charset="0"/>
              </a:rPr>
              <a:t>As required by ISA 230, the engagement partner documents the date and extent of the review. </a:t>
            </a:r>
          </a:p>
          <a:p>
            <a:pPr marL="228600" marR="0" indent="-228600" algn="just">
              <a:lnSpc>
                <a:spcPts val="1200"/>
              </a:lnSpc>
              <a:spcBef>
                <a:spcPts val="0"/>
              </a:spcBef>
              <a:spcAft>
                <a:spcPts val="300"/>
              </a:spcAft>
            </a:pPr>
            <a:r>
              <a:rPr lang="fr-FR" sz="2000" dirty="0">
                <a:solidFill>
                  <a:prstClr val="black"/>
                </a:solidFill>
                <a:latin typeface="Arial" panose="020B0604020202020204" pitchFamily="34" charset="0"/>
              </a:rPr>
              <a:t>	</a:t>
            </a: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Paragraphs A90</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17</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808462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3992118"/>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marL="338138" marR="0" indent="-338138" algn="just" rtl="0">
              <a:lnSpc>
                <a:spcPts val="2400"/>
              </a:lnSpc>
              <a:spcBef>
                <a:spcPts val="600"/>
              </a:spcBef>
            </a:pPr>
            <a:r>
              <a:rPr lang="en-US" sz="2000" b="0" i="0" u="none" strike="sngStrike" kern="1000" baseline="0" dirty="0">
                <a:highlight>
                  <a:srgbClr val="FFFF00"/>
                </a:highlight>
                <a:latin typeface="Arial" panose="020B0604020202020204" pitchFamily="34" charset="0"/>
              </a:rPr>
              <a:t>A98.	The engagement partner may exercise </a:t>
            </a:r>
            <a:r>
              <a:rPr lang="en-US" sz="2000" b="0" i="0" u="none" strike="sngStrike" kern="1000" baseline="0" dirty="0" err="1">
                <a:highlight>
                  <a:srgbClr val="FFFF00"/>
                </a:highlight>
                <a:latin typeface="Arial" panose="020B0604020202020204" pitchFamily="34" charset="0"/>
              </a:rPr>
              <a:t>p</a:t>
            </a:r>
            <a:r>
              <a:rPr lang="en-US" sz="2000" b="0" i="0" u="sng" strike="sngStrike" kern="1000" baseline="0" dirty="0" err="1">
                <a:solidFill>
                  <a:prstClr val="black"/>
                </a:solidFill>
                <a:highlight>
                  <a:srgbClr val="FFFF00"/>
                </a:highlight>
                <a:latin typeface="Arial" panose="020B0604020202020204" pitchFamily="34" charset="0"/>
              </a:rPr>
              <a:t>P</a:t>
            </a:r>
            <a:r>
              <a:rPr lang="en-US" sz="2000" b="0" i="0" u="none" strike="sngStrike" kern="1000" baseline="0" dirty="0" err="1">
                <a:solidFill>
                  <a:prstClr val="black"/>
                </a:solidFill>
                <a:highlight>
                  <a:srgbClr val="FFFF00"/>
                </a:highlight>
                <a:latin typeface="Arial" panose="020B0604020202020204" pitchFamily="34" charset="0"/>
              </a:rPr>
              <a:t>rofessional</a:t>
            </a:r>
            <a:r>
              <a:rPr lang="en-US" sz="2000" b="0" i="0" u="none" strike="sngStrike" kern="1000" baseline="0" dirty="0">
                <a:solidFill>
                  <a:prstClr val="black"/>
                </a:solidFill>
                <a:highlight>
                  <a:srgbClr val="FFFF00"/>
                </a:highlight>
                <a:latin typeface="Arial" panose="020B0604020202020204" pitchFamily="34" charset="0"/>
              </a:rPr>
              <a:t> judgment in determining which formal written communications to review, taking into account the nature and circumstances of the audit engagement. For example, it may not be necessary for the engagement partner to review communications between the engagement team and management in the ordinary course of the audit.</a:t>
            </a:r>
          </a:p>
          <a:p>
            <a:pPr marL="463550" marR="0" indent="-463550" algn="just" rtl="0">
              <a:lnSpc>
                <a:spcPts val="2400"/>
              </a:lnSpc>
              <a:spcBef>
                <a:spcPts val="600"/>
              </a:spcBef>
            </a:pPr>
            <a:r>
              <a:rPr lang="en-US" sz="2000" b="0" i="0" u="none" strike="noStrike" baseline="0" dirty="0">
                <a:latin typeface="Arial" panose="020B0604020202020204" pitchFamily="34" charset="0"/>
              </a:rPr>
              <a:t>A98</a:t>
            </a:r>
            <a:r>
              <a:rPr lang="en-US" sz="2000" b="0" i="0" u="sng" strike="sngStrike" baseline="0" dirty="0">
                <a:solidFill>
                  <a:prstClr val="black"/>
                </a:solidFill>
                <a:highlight>
                  <a:srgbClr val="FFFF00"/>
                </a:highlight>
                <a:latin typeface="Arial" panose="020B0604020202020204" pitchFamily="34" charset="0"/>
              </a:rPr>
              <a:t>A</a:t>
            </a:r>
            <a:r>
              <a:rPr lang="en-US" sz="2000" b="0" i="0" u="none" strike="noStrike" baseline="0" dirty="0">
                <a:solidFill>
                  <a:prstClr val="black"/>
                </a:solidFill>
                <a:latin typeface="Arial" panose="020B0604020202020204" pitchFamily="34" charset="0"/>
              </a:rPr>
              <a:t>.	The engagement partner </a:t>
            </a:r>
            <a:r>
              <a:rPr lang="en-US" sz="2000" b="0" i="0" u="none" strike="sngStrike" baseline="0" dirty="0">
                <a:solidFill>
                  <a:prstClr val="black"/>
                </a:solidFill>
                <a:latin typeface="Arial" panose="020B0604020202020204" pitchFamily="34" charset="0"/>
              </a:rPr>
              <a:t>may </a:t>
            </a:r>
            <a:r>
              <a:rPr lang="en-US" sz="2000" b="0" i="0" u="none" strike="sngStrike" baseline="0" dirty="0" err="1">
                <a:solidFill>
                  <a:prstClr val="black"/>
                </a:solidFill>
                <a:latin typeface="Arial" panose="020B0604020202020204" pitchFamily="34" charset="0"/>
              </a:rPr>
              <a:t>exercise</a:t>
            </a:r>
            <a:r>
              <a:rPr lang="en-US" sz="2000" b="0" i="0" u="sng" strike="noStrike" baseline="0" dirty="0" err="1">
                <a:solidFill>
                  <a:prstClr val="black"/>
                </a:solidFill>
                <a:latin typeface="Arial" panose="020B0604020202020204" pitchFamily="34" charset="0"/>
              </a:rPr>
              <a:t>uses</a:t>
            </a:r>
            <a:r>
              <a:rPr lang="en-US" sz="2000" b="0" i="0" u="none" strike="noStrike" baseline="0" dirty="0">
                <a:solidFill>
                  <a:prstClr val="black"/>
                </a:solidFill>
                <a:latin typeface="Arial" panose="020B0604020202020204" pitchFamily="34" charset="0"/>
              </a:rPr>
              <a:t> professional judgment in determining which </a:t>
            </a:r>
            <a:r>
              <a:rPr lang="en-US" sz="2000" b="0" i="0" u="none" strike="sngStrike" baseline="0" dirty="0">
                <a:solidFill>
                  <a:prstClr val="black"/>
                </a:solidFill>
                <a:latin typeface="Arial" panose="020B0604020202020204" pitchFamily="34" charset="0"/>
              </a:rPr>
              <a:t>formal </a:t>
            </a:r>
            <a:r>
              <a:rPr lang="en-US" sz="2000" b="0" i="0" u="none" strike="noStrike" baseline="0" dirty="0">
                <a:solidFill>
                  <a:prstClr val="black"/>
                </a:solidFill>
                <a:latin typeface="Arial" panose="020B0604020202020204" pitchFamily="34" charset="0"/>
              </a:rPr>
              <a:t>written communications to review, taking into account the nature and circumstances of the audit engagement. For example, …</a:t>
            </a:r>
            <a:endPar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a:p>
            <a:pPr algn="just">
              <a:lnSpc>
                <a:spcPts val="2400"/>
              </a:lnSpc>
              <a:spcBef>
                <a:spcPts val="600"/>
              </a:spcBef>
            </a:pP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Paragraphs A98 and A98A</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18</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131868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3400931"/>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marL="688975" marR="0" indent="-688975" algn="just">
              <a:spcBef>
                <a:spcPts val="600"/>
              </a:spcBef>
              <a:spcAft>
                <a:spcPts val="0"/>
              </a:spcAft>
            </a:pPr>
            <a:r>
              <a:rPr lang="en-US" sz="1800" spc="-20" dirty="0">
                <a:effectLst/>
                <a:latin typeface="Arial" panose="020B0604020202020204" pitchFamily="34" charset="0"/>
                <a:ea typeface="MS Mincho" panose="02020609040205080304" pitchFamily="49" charset="-128"/>
              </a:rPr>
              <a:t>A111.	In considering information communicated by the firm through its monitoring and remediation process and how it may affect the audit engagement, the engagement partner may consider the remedial actions designed and implemented by the firm to address </a:t>
            </a:r>
            <a:r>
              <a:rPr lang="en-US" sz="1800" u="sng" spc="-20" dirty="0">
                <a:effectLst/>
                <a:highlight>
                  <a:srgbClr val="FFFF00"/>
                </a:highlight>
                <a:latin typeface="Arial" panose="020B0604020202020204" pitchFamily="34" charset="0"/>
                <a:ea typeface="MS Mincho" panose="02020609040205080304" pitchFamily="49" charset="-128"/>
              </a:rPr>
              <a:t>identified </a:t>
            </a:r>
            <a:r>
              <a:rPr lang="en-US" sz="1800" spc="-20" dirty="0">
                <a:effectLst/>
                <a:latin typeface="Arial" panose="020B0604020202020204" pitchFamily="34" charset="0"/>
                <a:ea typeface="MS Mincho" panose="02020609040205080304" pitchFamily="49" charset="-128"/>
              </a:rPr>
              <a:t>deficiencies… </a:t>
            </a:r>
            <a:r>
              <a:rPr lang="en-US" sz="1800" dirty="0">
                <a:effectLst/>
                <a:latin typeface="Arial" panose="020B0604020202020204" pitchFamily="34" charset="0"/>
                <a:ea typeface="MS Mincho" panose="02020609040205080304" pitchFamily="49" charset="-128"/>
                <a:cs typeface="Times New Roman" panose="02020603050405020304" pitchFamily="18" charset="0"/>
              </a:rPr>
              <a:t> </a:t>
            </a:r>
          </a:p>
          <a:p>
            <a:pPr marL="688975" marR="0" indent="-688975" algn="just">
              <a:spcBef>
                <a:spcPts val="600"/>
              </a:spcBef>
              <a:spcAft>
                <a:spcPts val="0"/>
              </a:spcAft>
            </a:pPr>
            <a:endParaRPr lang="en-US" sz="1800" dirty="0">
              <a:effectLst/>
              <a:latin typeface="Arial" panose="020B0604020202020204" pitchFamily="34" charset="0"/>
              <a:ea typeface="MS Mincho" panose="02020609040205080304" pitchFamily="49" charset="-128"/>
              <a:cs typeface="Times New Roman" panose="02020603050405020304" pitchFamily="18" charset="0"/>
            </a:endParaRPr>
          </a:p>
          <a:p>
            <a:pPr marL="688975" marR="0" indent="-688975" algn="just">
              <a:spcBef>
                <a:spcPts val="600"/>
              </a:spcBef>
              <a:spcAft>
                <a:spcPts val="0"/>
              </a:spcAft>
              <a:tabLst>
                <a:tab pos="196850" algn="r"/>
                <a:tab pos="457200" algn="l"/>
                <a:tab pos="688975" algn="l"/>
              </a:tabLst>
            </a:pPr>
            <a:r>
              <a:rPr lang="en-US" sz="1800" spc="-20" dirty="0">
                <a:latin typeface="Arial" panose="020B0604020202020204" pitchFamily="34" charset="0"/>
                <a:ea typeface="MS Mincho" panose="02020609040205080304" pitchFamily="49" charset="-128"/>
              </a:rPr>
              <a:t>A112.	An </a:t>
            </a:r>
            <a:r>
              <a:rPr lang="en-US" sz="1800" u="sng" spc="-20" dirty="0">
                <a:highlight>
                  <a:srgbClr val="FFFF00"/>
                </a:highlight>
                <a:latin typeface="Arial" panose="020B0604020202020204" pitchFamily="34" charset="0"/>
                <a:ea typeface="MS Mincho" panose="02020609040205080304" pitchFamily="49" charset="-128"/>
              </a:rPr>
              <a:t>identified</a:t>
            </a:r>
            <a:r>
              <a:rPr lang="en-US" sz="1800" spc="-20" dirty="0">
                <a:latin typeface="Arial" panose="020B0604020202020204" pitchFamily="34" charset="0"/>
                <a:ea typeface="MS Mincho" panose="02020609040205080304" pitchFamily="49" charset="-128"/>
              </a:rPr>
              <a:t> deficiency  in the firm’s system of quality management does not necessarily indicate that an audit engagement was not performed in accordance with professional standards and applicable legal and regulatory requirements, or that the auditor’s report was not appropriate in the circumstances.</a:t>
            </a: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Paragraphs A111 and A112</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19</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1731829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Walk-through of Proposed ISA 220 (Revised)</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20</a:t>
            </a:fld>
            <a:endParaRPr lang="en-US" sz="675" dirty="0">
              <a:solidFill>
                <a:srgbClr val="808080"/>
              </a:solidFill>
              <a:latin typeface="Arial" panose="020B0604020202020204" pitchFamily="34" charset="0"/>
            </a:endParaRPr>
          </a:p>
        </p:txBody>
      </p:sp>
      <p:graphicFrame>
        <p:nvGraphicFramePr>
          <p:cNvPr id="3" name="Table 3">
            <a:extLst>
              <a:ext uri="{FF2B5EF4-FFF2-40B4-BE49-F238E27FC236}">
                <a16:creationId xmlns:a16="http://schemas.microsoft.com/office/drawing/2014/main" id="{72C3707F-A2C8-4D3D-8B32-D627F1B4FE37}"/>
              </a:ext>
            </a:extLst>
          </p:cNvPr>
          <p:cNvGraphicFramePr>
            <a:graphicFrameLocks noGrp="1"/>
          </p:cNvGraphicFramePr>
          <p:nvPr>
            <p:extLst>
              <p:ext uri="{D42A27DB-BD31-4B8C-83A1-F6EECF244321}">
                <p14:modId xmlns:p14="http://schemas.microsoft.com/office/powerpoint/2010/main" val="74074203"/>
              </p:ext>
            </p:extLst>
          </p:nvPr>
        </p:nvGraphicFramePr>
        <p:xfrm>
          <a:off x="464455" y="831850"/>
          <a:ext cx="8403774" cy="3962400"/>
        </p:xfrm>
        <a:graphic>
          <a:graphicData uri="http://schemas.openxmlformats.org/drawingml/2006/table">
            <a:tbl>
              <a:tblPr firstRow="1" bandRow="1">
                <a:tableStyleId>{F5AB1C69-6EDB-4FF4-983F-18BD219EF322}</a:tableStyleId>
              </a:tblPr>
              <a:tblGrid>
                <a:gridCol w="3454402">
                  <a:extLst>
                    <a:ext uri="{9D8B030D-6E8A-4147-A177-3AD203B41FA5}">
                      <a16:colId xmlns:a16="http://schemas.microsoft.com/office/drawing/2014/main" val="3033556321"/>
                    </a:ext>
                  </a:extLst>
                </a:gridCol>
                <a:gridCol w="4949372">
                  <a:extLst>
                    <a:ext uri="{9D8B030D-6E8A-4147-A177-3AD203B41FA5}">
                      <a16:colId xmlns:a16="http://schemas.microsoft.com/office/drawing/2014/main" val="3009871604"/>
                    </a:ext>
                  </a:extLst>
                </a:gridCol>
              </a:tblGrid>
              <a:tr h="257447">
                <a:tc>
                  <a:txBody>
                    <a:bodyPr/>
                    <a:lstStyle/>
                    <a:p>
                      <a:r>
                        <a:rPr lang="en-US" sz="2000" dirty="0">
                          <a:latin typeface="Arial" panose="020B0604020202020204" pitchFamily="34" charset="0"/>
                          <a:cs typeface="Arial" panose="020B0604020202020204" pitchFamily="34" charset="0"/>
                        </a:rPr>
                        <a:t>Requirement Paragraphs</a:t>
                      </a:r>
                    </a:p>
                  </a:txBody>
                  <a:tcPr/>
                </a:tc>
                <a:tc>
                  <a:txBody>
                    <a:bodyPr/>
                    <a:lstStyle/>
                    <a:p>
                      <a:pPr marL="0" algn="l" defTabSz="342900" rtl="0" eaLnBrk="1" latinLnBrk="0" hangingPunct="1"/>
                      <a:r>
                        <a:rPr lang="en-US" sz="2000" b="1" kern="1200" dirty="0">
                          <a:solidFill>
                            <a:schemeClr val="lt1"/>
                          </a:solidFill>
                          <a:latin typeface="Arial" panose="020B0604020202020204" pitchFamily="34" charset="0"/>
                          <a:cs typeface="Arial" panose="020B0604020202020204" pitchFamily="34" charset="0"/>
                        </a:rPr>
                        <a:t>Application Material Paragraphs</a:t>
                      </a:r>
                      <a:endParaRPr lang="en-US" sz="2000" b="1" kern="1200" dirty="0">
                        <a:solidFill>
                          <a:schemeClr val="lt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180381724"/>
                  </a:ext>
                </a:extLst>
              </a:tr>
              <a:tr h="370840">
                <a:tc>
                  <a:txBody>
                    <a:bodyPr/>
                    <a:lstStyle/>
                    <a:p>
                      <a:r>
                        <a:rPr lang="en-US" sz="2000" dirty="0">
                          <a:latin typeface="Arial" panose="020B0604020202020204" pitchFamily="34" charset="0"/>
                          <a:cs typeface="Arial" panose="020B0604020202020204" pitchFamily="34" charset="0"/>
                        </a:rPr>
                        <a:t>1‒12</a:t>
                      </a:r>
                    </a:p>
                  </a:txBody>
                  <a:tcPr/>
                </a:tc>
                <a:tc>
                  <a:txBody>
                    <a:bodyPr/>
                    <a:lstStyle/>
                    <a:p>
                      <a:r>
                        <a:rPr lang="en-US" sz="2000" dirty="0">
                          <a:latin typeface="Arial" panose="020B0604020202020204" pitchFamily="34" charset="0"/>
                          <a:cs typeface="Arial" panose="020B0604020202020204" pitchFamily="34" charset="0"/>
                        </a:rPr>
                        <a:t>A1‒A26, A32‒A35, A37</a:t>
                      </a:r>
                    </a:p>
                  </a:txBody>
                  <a:tcPr/>
                </a:tc>
                <a:extLst>
                  <a:ext uri="{0D108BD9-81ED-4DB2-BD59-A6C34878D82A}">
                    <a16:rowId xmlns:a16="http://schemas.microsoft.com/office/drawing/2014/main" val="1078787798"/>
                  </a:ext>
                </a:extLst>
              </a:tr>
              <a:tr h="370840">
                <a:tc>
                  <a:txBody>
                    <a:bodyPr/>
                    <a:lstStyle/>
                    <a:p>
                      <a:r>
                        <a:rPr lang="en-US" sz="2000" dirty="0">
                          <a:latin typeface="Arial" panose="020B0604020202020204" pitchFamily="34" charset="0"/>
                          <a:cs typeface="Arial" panose="020B0604020202020204" pitchFamily="34" charset="0"/>
                        </a:rPr>
                        <a:t>13‒15</a:t>
                      </a:r>
                    </a:p>
                  </a:txBody>
                  <a:tcPr/>
                </a:tc>
                <a:tc>
                  <a:txBody>
                    <a:bodyPr/>
                    <a:lstStyle/>
                    <a:p>
                      <a:r>
                        <a:rPr lang="en-US" sz="2000" dirty="0">
                          <a:latin typeface="Arial" panose="020B0604020202020204" pitchFamily="34" charset="0"/>
                          <a:cs typeface="Arial" panose="020B0604020202020204" pitchFamily="34" charset="0"/>
                        </a:rPr>
                        <a:t>A8, A27‒A36</a:t>
                      </a:r>
                    </a:p>
                  </a:txBody>
                  <a:tcPr/>
                </a:tc>
                <a:extLst>
                  <a:ext uri="{0D108BD9-81ED-4DB2-BD59-A6C34878D82A}">
                    <a16:rowId xmlns:a16="http://schemas.microsoft.com/office/drawing/2014/main" val="1125060624"/>
                  </a:ext>
                </a:extLst>
              </a:tr>
              <a:tr h="370840">
                <a:tc>
                  <a:txBody>
                    <a:bodyPr/>
                    <a:lstStyle/>
                    <a:p>
                      <a:r>
                        <a:rPr lang="en-US" sz="2000" dirty="0">
                          <a:latin typeface="Arial" panose="020B0604020202020204" pitchFamily="34" charset="0"/>
                          <a:cs typeface="Arial" panose="020B0604020202020204" pitchFamily="34" charset="0"/>
                        </a:rPr>
                        <a:t>16‒21</a:t>
                      </a:r>
                    </a:p>
                  </a:txBody>
                  <a:tcPr>
                    <a:solidFill>
                      <a:srgbClr val="CBD2E2"/>
                    </a:solidFill>
                  </a:tcPr>
                </a:tc>
                <a:tc>
                  <a:txBody>
                    <a:bodyPr/>
                    <a:lstStyle/>
                    <a:p>
                      <a:r>
                        <a:rPr lang="en-US" sz="2000" dirty="0">
                          <a:latin typeface="Arial" panose="020B0604020202020204" pitchFamily="34" charset="0"/>
                          <a:cs typeface="Arial" panose="020B0604020202020204" pitchFamily="34" charset="0"/>
                        </a:rPr>
                        <a:t>A22‒A24, A37‒A47</a:t>
                      </a:r>
                    </a:p>
                  </a:txBody>
                  <a:tcPr>
                    <a:solidFill>
                      <a:srgbClr val="CBD2E2"/>
                    </a:solidFill>
                  </a:tcPr>
                </a:tc>
                <a:extLst>
                  <a:ext uri="{0D108BD9-81ED-4DB2-BD59-A6C34878D82A}">
                    <a16:rowId xmlns:a16="http://schemas.microsoft.com/office/drawing/2014/main" val="1426910164"/>
                  </a:ext>
                </a:extLst>
              </a:tr>
              <a:tr h="370840">
                <a:tc>
                  <a:txBody>
                    <a:bodyPr/>
                    <a:lstStyle/>
                    <a:p>
                      <a:r>
                        <a:rPr lang="en-US" sz="2000" dirty="0">
                          <a:latin typeface="Arial" panose="020B0604020202020204" pitchFamily="34" charset="0"/>
                          <a:cs typeface="Arial" panose="020B0604020202020204" pitchFamily="34" charset="0"/>
                        </a:rPr>
                        <a:t>22‒24</a:t>
                      </a:r>
                    </a:p>
                  </a:txBody>
                  <a:tcPr/>
                </a:tc>
                <a:tc>
                  <a:txBody>
                    <a:bodyPr/>
                    <a:lstStyle/>
                    <a:p>
                      <a:r>
                        <a:rPr lang="en-US" sz="2000" dirty="0">
                          <a:latin typeface="Arial" panose="020B0604020202020204" pitchFamily="34" charset="0"/>
                          <a:cs typeface="Arial" panose="020B0604020202020204" pitchFamily="34" charset="0"/>
                        </a:rPr>
                        <a:t>A48‒A57</a:t>
                      </a:r>
                    </a:p>
                  </a:txBody>
                  <a:tcPr/>
                </a:tc>
                <a:extLst>
                  <a:ext uri="{0D108BD9-81ED-4DB2-BD59-A6C34878D82A}">
                    <a16:rowId xmlns:a16="http://schemas.microsoft.com/office/drawing/2014/main" val="3565521318"/>
                  </a:ext>
                </a:extLst>
              </a:tr>
              <a:tr h="370840">
                <a:tc>
                  <a:txBody>
                    <a:bodyPr/>
                    <a:lstStyle/>
                    <a:p>
                      <a:r>
                        <a:rPr lang="en-US" sz="2000" dirty="0">
                          <a:latin typeface="Arial" panose="020B0604020202020204" pitchFamily="34" charset="0"/>
                          <a:cs typeface="Arial" panose="020B0604020202020204" pitchFamily="34" charset="0"/>
                        </a:rPr>
                        <a:t>25‒28</a:t>
                      </a:r>
                    </a:p>
                  </a:txBody>
                  <a:tcPr/>
                </a:tc>
                <a:tc>
                  <a:txBody>
                    <a:bodyPr/>
                    <a:lstStyle/>
                    <a:p>
                      <a:r>
                        <a:rPr lang="en-US" sz="2000" dirty="0">
                          <a:latin typeface="Arial" panose="020B0604020202020204" pitchFamily="34" charset="0"/>
                          <a:cs typeface="Arial" panose="020B0604020202020204" pitchFamily="34" charset="0"/>
                        </a:rPr>
                        <a:t>A58‒A79</a:t>
                      </a:r>
                    </a:p>
                  </a:txBody>
                  <a:tcPr/>
                </a:tc>
                <a:extLst>
                  <a:ext uri="{0D108BD9-81ED-4DB2-BD59-A6C34878D82A}">
                    <a16:rowId xmlns:a16="http://schemas.microsoft.com/office/drawing/2014/main" val="625387235"/>
                  </a:ext>
                </a:extLst>
              </a:tr>
              <a:tr h="370840">
                <a:tc>
                  <a:txBody>
                    <a:bodyPr/>
                    <a:lstStyle/>
                    <a:p>
                      <a:r>
                        <a:rPr lang="en-US" sz="2000" dirty="0">
                          <a:latin typeface="Arial" panose="020B0604020202020204" pitchFamily="34" charset="0"/>
                          <a:cs typeface="Arial" panose="020B0604020202020204" pitchFamily="34" charset="0"/>
                        </a:rPr>
                        <a:t>29‒38</a:t>
                      </a:r>
                    </a:p>
                  </a:txBody>
                  <a:tcPr/>
                </a:tc>
                <a:tc>
                  <a:txBody>
                    <a:bodyPr/>
                    <a:lstStyle/>
                    <a:p>
                      <a:r>
                        <a:rPr lang="en-US" sz="2000" dirty="0">
                          <a:latin typeface="Arial" panose="020B0604020202020204" pitchFamily="34" charset="0"/>
                          <a:cs typeface="Arial" panose="020B0604020202020204" pitchFamily="34" charset="0"/>
                        </a:rPr>
                        <a:t>A80‒A108</a:t>
                      </a:r>
                    </a:p>
                  </a:txBody>
                  <a:tcPr/>
                </a:tc>
                <a:extLst>
                  <a:ext uri="{0D108BD9-81ED-4DB2-BD59-A6C34878D82A}">
                    <a16:rowId xmlns:a16="http://schemas.microsoft.com/office/drawing/2014/main" val="3478193152"/>
                  </a:ext>
                </a:extLst>
              </a:tr>
              <a:tr h="370840">
                <a:tc>
                  <a:txBody>
                    <a:bodyPr/>
                    <a:lstStyle/>
                    <a:p>
                      <a:r>
                        <a:rPr lang="en-US" sz="2000" dirty="0">
                          <a:latin typeface="Arial" panose="020B0604020202020204" pitchFamily="34" charset="0"/>
                          <a:cs typeface="Arial" panose="020B0604020202020204" pitchFamily="34" charset="0"/>
                        </a:rPr>
                        <a:t>39</a:t>
                      </a:r>
                    </a:p>
                  </a:txBody>
                  <a:tcPr/>
                </a:tc>
                <a:tc>
                  <a:txBody>
                    <a:bodyPr/>
                    <a:lstStyle/>
                    <a:p>
                      <a:r>
                        <a:rPr lang="en-US" sz="2000" dirty="0">
                          <a:latin typeface="Arial" panose="020B0604020202020204" pitchFamily="34" charset="0"/>
                          <a:cs typeface="Arial" panose="020B0604020202020204" pitchFamily="34" charset="0"/>
                        </a:rPr>
                        <a:t>A109‒A112</a:t>
                      </a:r>
                    </a:p>
                  </a:txBody>
                  <a:tcPr/>
                </a:tc>
                <a:extLst>
                  <a:ext uri="{0D108BD9-81ED-4DB2-BD59-A6C34878D82A}">
                    <a16:rowId xmlns:a16="http://schemas.microsoft.com/office/drawing/2014/main" val="2273351075"/>
                  </a:ext>
                </a:extLst>
              </a:tr>
              <a:tr h="370840">
                <a:tc>
                  <a:txBody>
                    <a:bodyPr/>
                    <a:lstStyle/>
                    <a:p>
                      <a:r>
                        <a:rPr lang="en-US" sz="2000" dirty="0">
                          <a:latin typeface="Arial" panose="020B0604020202020204" pitchFamily="34" charset="0"/>
                          <a:cs typeface="Arial" panose="020B0604020202020204" pitchFamily="34" charset="0"/>
                        </a:rPr>
                        <a:t>40</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A113‒A116</a:t>
                      </a:r>
                    </a:p>
                  </a:txBody>
                  <a:tcPr>
                    <a:solidFill>
                      <a:srgbClr val="FFC000"/>
                    </a:solidFill>
                  </a:tcPr>
                </a:tc>
                <a:extLst>
                  <a:ext uri="{0D108BD9-81ED-4DB2-BD59-A6C34878D82A}">
                    <a16:rowId xmlns:a16="http://schemas.microsoft.com/office/drawing/2014/main" val="1286551987"/>
                  </a:ext>
                </a:extLst>
              </a:tr>
              <a:tr h="370840">
                <a:tc>
                  <a:txBody>
                    <a:bodyPr/>
                    <a:lstStyle/>
                    <a:p>
                      <a:r>
                        <a:rPr lang="en-US" sz="2000" dirty="0">
                          <a:latin typeface="Arial" panose="020B0604020202020204" pitchFamily="34" charset="0"/>
                          <a:cs typeface="Arial" panose="020B0604020202020204" pitchFamily="34" charset="0"/>
                        </a:rPr>
                        <a:t>41</a:t>
                      </a:r>
                    </a:p>
                  </a:txBody>
                  <a:tcPr>
                    <a:solidFill>
                      <a:srgbClr val="FFC000"/>
                    </a:solidFill>
                  </a:tcPr>
                </a:tc>
                <a:tc>
                  <a:txBody>
                    <a:bodyPr/>
                    <a:lstStyle/>
                    <a:p>
                      <a:r>
                        <a:rPr lang="en-US" sz="2000" dirty="0">
                          <a:latin typeface="Arial" panose="020B0604020202020204" pitchFamily="34" charset="0"/>
                          <a:cs typeface="Arial" panose="020B0604020202020204" pitchFamily="34" charset="0"/>
                        </a:rPr>
                        <a:t>A117‒A120</a:t>
                      </a:r>
                    </a:p>
                  </a:txBody>
                  <a:tcPr>
                    <a:solidFill>
                      <a:srgbClr val="FFC000"/>
                    </a:solidFill>
                  </a:tcPr>
                </a:tc>
                <a:extLst>
                  <a:ext uri="{0D108BD9-81ED-4DB2-BD59-A6C34878D82A}">
                    <a16:rowId xmlns:a16="http://schemas.microsoft.com/office/drawing/2014/main" val="2846500395"/>
                  </a:ext>
                </a:extLst>
              </a:tr>
            </a:tbl>
          </a:graphicData>
        </a:graphic>
      </p:graphicFrame>
    </p:spTree>
    <p:extLst>
      <p:ext uri="{BB962C8B-B14F-4D97-AF65-F5344CB8AC3E}">
        <p14:creationId xmlns:p14="http://schemas.microsoft.com/office/powerpoint/2010/main" val="2174037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853492"/>
            <a:ext cx="8291384" cy="2945678"/>
          </a:xfrm>
          <a:prstGeom prst="rect">
            <a:avLst/>
          </a:prstGeom>
          <a:noFill/>
          <a:ln>
            <a:noFill/>
          </a:ln>
        </p:spPr>
        <p:txBody>
          <a:bodyPr wrap="square" rtlCol="0">
            <a:spAutoFit/>
          </a:bodyPr>
          <a:lstStyle/>
          <a:p>
            <a:pPr algn="just">
              <a:lnSpc>
                <a:spcPts val="2400"/>
              </a:lnSpc>
              <a:spcBef>
                <a:spcPts val="600"/>
              </a:spcBef>
            </a:pPr>
            <a:r>
              <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rPr>
              <a:t>Marked from September 18:</a:t>
            </a:r>
          </a:p>
          <a:p>
            <a:pPr marL="0" marR="0" lvl="1" algn="just" rtl="0">
              <a:lnSpc>
                <a:spcPts val="2400"/>
              </a:lnSpc>
              <a:spcBef>
                <a:spcPts val="600"/>
              </a:spcBef>
            </a:pPr>
            <a:r>
              <a:rPr lang="en-US" sz="1800" b="0" i="0" u="none" strike="noStrike" kern="400" baseline="0" dirty="0">
                <a:latin typeface="Arial" panose="020B0604020202020204" pitchFamily="34" charset="0"/>
              </a:rPr>
              <a:t>Indicators that the engagement partner may not have been sufficiently and appropriately involved include, for example:</a:t>
            </a:r>
          </a:p>
          <a:p>
            <a:pPr marR="0" lvl="1" indent="-342900" algn="just" rtl="0">
              <a:buClr>
                <a:prstClr val="black"/>
              </a:buClr>
              <a:buFont typeface="Symbol" panose="05050102010706020507" pitchFamily="18" charset="2"/>
              <a:buChar char="·"/>
            </a:pPr>
            <a:r>
              <a:rPr lang="en-US" sz="1800" kern="400" dirty="0">
                <a:solidFill>
                  <a:prstClr val="black"/>
                </a:solidFill>
                <a:latin typeface="Arial" panose="020B0604020202020204" pitchFamily="34" charset="0"/>
              </a:rPr>
              <a:t>R</a:t>
            </a:r>
            <a:r>
              <a:rPr lang="en-US" sz="1800" b="0" i="0" u="none" strike="noStrike" kern="400" baseline="0" dirty="0">
                <a:solidFill>
                  <a:prstClr val="black"/>
                </a:solidFill>
                <a:latin typeface="Arial" panose="020B0604020202020204" pitchFamily="34" charset="0"/>
              </a:rPr>
              <a:t>eview </a:t>
            </a:r>
            <a:r>
              <a:rPr lang="en-US" sz="1800" b="0" i="0" u="sng" strike="noStrike" kern="400" baseline="0" dirty="0">
                <a:solidFill>
                  <a:prstClr val="black"/>
                </a:solidFill>
                <a:highlight>
                  <a:srgbClr val="FFFF00"/>
                </a:highlight>
                <a:latin typeface="Arial" panose="020B0604020202020204" pitchFamily="34" charset="0"/>
              </a:rPr>
              <a:t>towards the end of the audit </a:t>
            </a:r>
            <a:r>
              <a:rPr lang="en-US" sz="1800" b="0" i="0" u="none" strike="noStrike" kern="400" baseline="0" dirty="0">
                <a:solidFill>
                  <a:prstClr val="black"/>
                </a:solidFill>
                <a:latin typeface="Arial" panose="020B0604020202020204" pitchFamily="34" charset="0"/>
              </a:rPr>
              <a:t>by the engagement partner of the audit engagement planning, including reviewing the assessment of risks of material misstatement and </a:t>
            </a:r>
            <a:r>
              <a:rPr lang="en-US" sz="1800" b="0" i="0" u="sng" strike="noStrike" kern="400" baseline="0" dirty="0">
                <a:solidFill>
                  <a:prstClr val="black"/>
                </a:solidFill>
                <a:latin typeface="Arial" panose="020B0604020202020204" pitchFamily="34" charset="0"/>
              </a:rPr>
              <a:t>the design of those</a:t>
            </a:r>
            <a:r>
              <a:rPr lang="en-US" sz="1800" b="0" i="0" u="none" strike="noStrike" kern="400" baseline="0" dirty="0">
                <a:solidFill>
                  <a:prstClr val="black"/>
                </a:solidFill>
                <a:latin typeface="Arial" panose="020B0604020202020204" pitchFamily="34" charset="0"/>
              </a:rPr>
              <a:t> responses to those risks</a:t>
            </a:r>
            <a:r>
              <a:rPr lang="en-US" sz="1800" b="0" i="0" u="none" strike="sngStrike" kern="400" baseline="0" dirty="0">
                <a:solidFill>
                  <a:prstClr val="black"/>
                </a:solidFill>
                <a:latin typeface="Arial" panose="020B0604020202020204" pitchFamily="34" charset="0"/>
              </a:rPr>
              <a:t> </a:t>
            </a:r>
            <a:r>
              <a:rPr lang="en-US" sz="1800" b="0" i="0" u="none" strike="sngStrike" kern="400" baseline="0" dirty="0">
                <a:solidFill>
                  <a:prstClr val="black"/>
                </a:solidFill>
                <a:highlight>
                  <a:srgbClr val="FFFF00"/>
                </a:highlight>
                <a:latin typeface="Arial" panose="020B0604020202020204" pitchFamily="34" charset="0"/>
              </a:rPr>
              <a:t>towards the end of the audit</a:t>
            </a:r>
            <a:r>
              <a:rPr lang="en-US" sz="1800" b="0" i="0" u="none" strike="noStrike" kern="400" baseline="0" dirty="0">
                <a:solidFill>
                  <a:prstClr val="black"/>
                </a:solidFill>
                <a:latin typeface="Arial" panose="020B0604020202020204" pitchFamily="34" charset="0"/>
              </a:rPr>
              <a:t>. …</a:t>
            </a:r>
          </a:p>
          <a:p>
            <a:pPr algn="just">
              <a:lnSpc>
                <a:spcPts val="2400"/>
              </a:lnSpc>
              <a:spcBef>
                <a:spcPts val="600"/>
              </a:spcBef>
            </a:pPr>
            <a:endParaRPr lang="en-US" sz="20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a:p>
            <a:pPr algn="just">
              <a:lnSpc>
                <a:spcPts val="2400"/>
              </a:lnSpc>
              <a:spcBef>
                <a:spcPts val="600"/>
              </a:spcBef>
            </a:pPr>
            <a:endParaRPr lang="en-US" sz="1800" b="1" kern="400" dirty="0">
              <a:solidFill>
                <a:schemeClr val="tx1">
                  <a:lumMod val="65000"/>
                  <a:lumOff val="35000"/>
                </a:schemeClr>
              </a:solidFill>
              <a:effectLst/>
              <a:latin typeface="Arial" panose="020B0604020202020204" pitchFamily="34" charset="0"/>
              <a:ea typeface="Times New Roman" panose="02020603050405020304" pitchFamily="18"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Proposed Revisions in Paragraph A115 (first bullet)</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700934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42406" y="853496"/>
            <a:ext cx="7582393" cy="3093154"/>
          </a:xfrm>
          <a:prstGeom prst="rect">
            <a:avLst/>
          </a:prstGeom>
          <a:noFill/>
          <a:ln>
            <a:noFill/>
          </a:ln>
        </p:spPr>
        <p:txBody>
          <a:bodyPr wrap="square" rtlCol="0">
            <a:spAutoFit/>
          </a:bodyPr>
          <a:lstStyle/>
          <a:p>
            <a:pPr marL="342900" indent="-342900">
              <a:lnSpc>
                <a:spcPts val="2400"/>
              </a:lnSpc>
              <a:spcBef>
                <a:spcPts val="600"/>
              </a:spcBef>
              <a:buFont typeface="Arial" panose="020B0604020202020204" pitchFamily="34" charset="0"/>
              <a:buChar char="•"/>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Indicative vote on ISA 220 (Revised)</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23, 2020 (Wednesday) IAASB session</a:t>
            </a:r>
          </a:p>
          <a:p>
            <a:pPr marL="688975" indent="-342900">
              <a:lnSpc>
                <a:spcPts val="2400"/>
              </a:lnSpc>
              <a:spcBef>
                <a:spcPts val="600"/>
              </a:spcBef>
              <a:buFont typeface="Courier New" panose="02070309020205020404" pitchFamily="49" charset="0"/>
              <a:buChar char="o"/>
            </a:pPr>
            <a:r>
              <a:rPr lang="en-US" sz="2000" dirty="0">
                <a:solidFill>
                  <a:schemeClr val="tx1">
                    <a:lumMod val="65000"/>
                    <a:lumOff val="35000"/>
                  </a:schemeClr>
                </a:solidFill>
                <a:latin typeface="Arial" panose="020B0604020202020204" pitchFamily="34" charset="0"/>
                <a:cs typeface="Arial" panose="020B0604020202020204" pitchFamily="34" charset="0"/>
              </a:rPr>
              <a:t>Confirm indicative votes from today’s session</a:t>
            </a:r>
          </a:p>
          <a:p>
            <a:pPr marL="342900" indent="-342900">
              <a:lnSpc>
                <a:spcPts val="2400"/>
              </a:lnSpc>
              <a:spcBef>
                <a:spcPts val="600"/>
              </a:spcBef>
              <a:buFont typeface="Arial" panose="020B0604020202020204" pitchFamily="34" charset="0"/>
              <a:buChar char="•"/>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Next Steps</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22</a:t>
            </a:fld>
            <a:endParaRPr lang="en-US" sz="675" dirty="0">
              <a:solidFill>
                <a:srgbClr val="808080"/>
              </a:solidFill>
              <a:latin typeface="Arial" panose="020B0604020202020204" pitchFamily="34" charset="0"/>
            </a:endParaRPr>
          </a:p>
        </p:txBody>
      </p:sp>
      <p:pic>
        <p:nvPicPr>
          <p:cNvPr id="2" name="Graphic 1" descr="Clipboard Checked">
            <a:extLst>
              <a:ext uri="{FF2B5EF4-FFF2-40B4-BE49-F238E27FC236}">
                <a16:creationId xmlns:a16="http://schemas.microsoft.com/office/drawing/2014/main" id="{4F82F976-C3A7-4F08-9541-6AEF0E0FD9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46574" y="1609756"/>
            <a:ext cx="2277949" cy="2385494"/>
          </a:xfrm>
          <a:prstGeom prst="rect">
            <a:avLst/>
          </a:prstGeom>
        </p:spPr>
      </p:pic>
    </p:spTree>
    <p:extLst>
      <p:ext uri="{BB962C8B-B14F-4D97-AF65-F5344CB8AC3E}">
        <p14:creationId xmlns:p14="http://schemas.microsoft.com/office/powerpoint/2010/main" val="3090754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3A5B861-F232-4025-86B2-CEB63A0AD3B5}"/>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23</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598102811"/>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11505</TotalTime>
  <Words>1707</Words>
  <Application>Microsoft Office PowerPoint</Application>
  <PresentationFormat>On-screen Show (16:9)</PresentationFormat>
  <Paragraphs>246</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Narrow</vt:lpstr>
      <vt:lpstr>Calibri</vt:lpstr>
      <vt:lpstr>Courier New</vt:lpstr>
      <vt:lpstr>Symbol</vt:lpstr>
      <vt:lpstr>Times New Roman</vt:lpstr>
      <vt:lpstr>Office Theme</vt:lpstr>
      <vt:lpstr>Proposed ISA 220 (Revised), Quality Management for an Audit of Financial Statements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Armand Kotze</cp:lastModifiedBy>
  <cp:revision>1541</cp:revision>
  <cp:lastPrinted>2020-02-25T20:42:08Z</cp:lastPrinted>
  <dcterms:created xsi:type="dcterms:W3CDTF">2016-11-09T14:56:20Z</dcterms:created>
  <dcterms:modified xsi:type="dcterms:W3CDTF">2020-09-21T17:57:52Z</dcterms:modified>
</cp:coreProperties>
</file>