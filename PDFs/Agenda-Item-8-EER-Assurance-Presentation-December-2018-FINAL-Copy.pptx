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sldIdLst>
    <p:sldId id="288" r:id="rId2"/>
    <p:sldId id="299" r:id="rId3"/>
    <p:sldId id="366" r:id="rId4"/>
    <p:sldId id="386" r:id="rId5"/>
    <p:sldId id="367" r:id="rId6"/>
    <p:sldId id="389" r:id="rId7"/>
    <p:sldId id="370" r:id="rId8"/>
    <p:sldId id="372" r:id="rId9"/>
    <p:sldId id="397" r:id="rId10"/>
    <p:sldId id="390" r:id="rId11"/>
    <p:sldId id="385" r:id="rId12"/>
    <p:sldId id="393" r:id="rId13"/>
    <p:sldId id="368" r:id="rId14"/>
    <p:sldId id="387" r:id="rId15"/>
    <p:sldId id="388" r:id="rId16"/>
    <p:sldId id="395" r:id="rId17"/>
    <p:sldId id="392" r:id="rId18"/>
    <p:sldId id="369" r:id="rId19"/>
    <p:sldId id="399" r:id="rId20"/>
    <p:sldId id="398" r:id="rId21"/>
    <p:sldId id="383" r:id="rId22"/>
    <p:sldId id="384" r:id="rId23"/>
    <p:sldId id="394" r:id="rId24"/>
    <p:sldId id="377" r:id="rId25"/>
    <p:sldId id="294" r:id="rId26"/>
  </p:sldIdLst>
  <p:sldSz cx="12192000" cy="6858000"/>
  <p:notesSz cx="7104063" cy="1023461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2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E5F3FF"/>
    <a:srgbClr val="000000"/>
    <a:srgbClr val="FF4C0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autoAdjust="0"/>
    <p:restoredTop sz="75556" autoAdjust="0"/>
  </p:normalViewPr>
  <p:slideViewPr>
    <p:cSldViewPr snapToGrid="0" showGuides="1">
      <p:cViewPr varScale="1">
        <p:scale>
          <a:sx n="42" d="100"/>
          <a:sy n="42" d="100"/>
        </p:scale>
        <p:origin x="1200" y="54"/>
      </p:cViewPr>
      <p:guideLst>
        <p:guide orient="horz" pos="2160"/>
        <p:guide pos="22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9202" cy="513858"/>
          </a:xfrm>
          <a:prstGeom prst="rect">
            <a:avLst/>
          </a:prstGeom>
        </p:spPr>
        <p:txBody>
          <a:bodyPr vert="horz" lIns="94787" tIns="47393" rIns="94787" bIns="47393" rtlCol="0"/>
          <a:lstStyle>
            <a:lvl1pPr algn="l">
              <a:defRPr sz="1200"/>
            </a:lvl1pPr>
          </a:lstStyle>
          <a:p>
            <a:endParaRPr lang="en-US"/>
          </a:p>
        </p:txBody>
      </p:sp>
      <p:sp>
        <p:nvSpPr>
          <p:cNvPr id="3" name="Date Placeholder 2"/>
          <p:cNvSpPr>
            <a:spLocks noGrp="1"/>
          </p:cNvSpPr>
          <p:nvPr>
            <p:ph type="dt" idx="1"/>
          </p:nvPr>
        </p:nvSpPr>
        <p:spPr>
          <a:xfrm>
            <a:off x="4023203" y="1"/>
            <a:ext cx="3079202" cy="513858"/>
          </a:xfrm>
          <a:prstGeom prst="rect">
            <a:avLst/>
          </a:prstGeom>
        </p:spPr>
        <p:txBody>
          <a:bodyPr vert="horz" lIns="94787" tIns="47393" rIns="94787" bIns="47393" rtlCol="0"/>
          <a:lstStyle>
            <a:lvl1pPr algn="r">
              <a:defRPr sz="1200"/>
            </a:lvl1pPr>
          </a:lstStyle>
          <a:p>
            <a:fld id="{3002CE1A-B037-4479-976B-9CF538C18F87}" type="datetimeFigureOut">
              <a:rPr lang="en-US" smtClean="0"/>
              <a:t>12/12/2018</a:t>
            </a:fld>
            <a:endParaRPr lang="en-US"/>
          </a:p>
        </p:txBody>
      </p:sp>
      <p:sp>
        <p:nvSpPr>
          <p:cNvPr id="4" name="Slide Image Placeholder 3"/>
          <p:cNvSpPr>
            <a:spLocks noGrp="1" noRot="1" noChangeAspect="1"/>
          </p:cNvSpPr>
          <p:nvPr>
            <p:ph type="sldImg" idx="2"/>
          </p:nvPr>
        </p:nvSpPr>
        <p:spPr>
          <a:xfrm>
            <a:off x="482600" y="1279525"/>
            <a:ext cx="6138863" cy="3452813"/>
          </a:xfrm>
          <a:prstGeom prst="rect">
            <a:avLst/>
          </a:prstGeom>
          <a:noFill/>
          <a:ln w="12700">
            <a:solidFill>
              <a:prstClr val="black"/>
            </a:solidFill>
          </a:ln>
        </p:spPr>
        <p:txBody>
          <a:bodyPr vert="horz" lIns="94787" tIns="47393" rIns="94787" bIns="47393" rtlCol="0" anchor="ctr"/>
          <a:lstStyle/>
          <a:p>
            <a:endParaRPr lang="en-US"/>
          </a:p>
        </p:txBody>
      </p:sp>
      <p:sp>
        <p:nvSpPr>
          <p:cNvPr id="5" name="Notes Placeholder 4"/>
          <p:cNvSpPr>
            <a:spLocks noGrp="1"/>
          </p:cNvSpPr>
          <p:nvPr>
            <p:ph type="body" sz="quarter" idx="3"/>
          </p:nvPr>
        </p:nvSpPr>
        <p:spPr>
          <a:xfrm>
            <a:off x="710075" y="4925838"/>
            <a:ext cx="5683914" cy="4029040"/>
          </a:xfrm>
          <a:prstGeom prst="rect">
            <a:avLst/>
          </a:prstGeom>
        </p:spPr>
        <p:txBody>
          <a:bodyPr vert="horz" lIns="94787" tIns="47393" rIns="94787" bIns="4739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0755"/>
            <a:ext cx="3079202" cy="513858"/>
          </a:xfrm>
          <a:prstGeom prst="rect">
            <a:avLst/>
          </a:prstGeom>
        </p:spPr>
        <p:txBody>
          <a:bodyPr vert="horz" lIns="94787" tIns="47393" rIns="94787" bIns="47393" rtlCol="0" anchor="b"/>
          <a:lstStyle>
            <a:lvl1pPr algn="l">
              <a:defRPr sz="1200"/>
            </a:lvl1pPr>
          </a:lstStyle>
          <a:p>
            <a:endParaRPr lang="en-US"/>
          </a:p>
        </p:txBody>
      </p:sp>
      <p:sp>
        <p:nvSpPr>
          <p:cNvPr id="7" name="Slide Number Placeholder 6"/>
          <p:cNvSpPr>
            <a:spLocks noGrp="1"/>
          </p:cNvSpPr>
          <p:nvPr>
            <p:ph type="sldNum" sz="quarter" idx="5"/>
          </p:nvPr>
        </p:nvSpPr>
        <p:spPr>
          <a:xfrm>
            <a:off x="4023203" y="9720755"/>
            <a:ext cx="3079202" cy="513858"/>
          </a:xfrm>
          <a:prstGeom prst="rect">
            <a:avLst/>
          </a:prstGeom>
        </p:spPr>
        <p:txBody>
          <a:bodyPr vert="horz" lIns="94787" tIns="47393" rIns="94787" bIns="47393" rtlCol="0" anchor="b"/>
          <a:lstStyle>
            <a:lvl1pPr algn="r">
              <a:defRPr sz="1200"/>
            </a:lvl1pPr>
          </a:lstStyle>
          <a:p>
            <a:fld id="{88F61214-B916-4CCA-9541-0FEB1C228969}" type="slidenum">
              <a:rPr lang="en-US" smtClean="0"/>
              <a:t>‹#›</a:t>
            </a:fld>
            <a:endParaRPr lang="en-US"/>
          </a:p>
        </p:txBody>
      </p:sp>
    </p:spTree>
    <p:extLst>
      <p:ext uri="{BB962C8B-B14F-4D97-AF65-F5344CB8AC3E}">
        <p14:creationId xmlns:p14="http://schemas.microsoft.com/office/powerpoint/2010/main" val="3489482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8F61214-B916-4CCA-9541-0FEB1C228969}" type="slidenum">
              <a:rPr lang="en-US" smtClean="0"/>
              <a:t>1</a:t>
            </a:fld>
            <a:endParaRPr lang="en-US" dirty="0"/>
          </a:p>
        </p:txBody>
      </p:sp>
    </p:spTree>
    <p:extLst>
      <p:ext uri="{BB962C8B-B14F-4D97-AF65-F5344CB8AC3E}">
        <p14:creationId xmlns:p14="http://schemas.microsoft.com/office/powerpoint/2010/main" val="2446767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2</a:t>
            </a:fld>
            <a:endParaRPr lang="en-US"/>
          </a:p>
        </p:txBody>
      </p:sp>
    </p:spTree>
    <p:extLst>
      <p:ext uri="{BB962C8B-B14F-4D97-AF65-F5344CB8AC3E}">
        <p14:creationId xmlns:p14="http://schemas.microsoft.com/office/powerpoint/2010/main" val="2602986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3</a:t>
            </a:fld>
            <a:endParaRPr lang="en-US"/>
          </a:p>
        </p:txBody>
      </p:sp>
    </p:spTree>
    <p:extLst>
      <p:ext uri="{BB962C8B-B14F-4D97-AF65-F5344CB8AC3E}">
        <p14:creationId xmlns:p14="http://schemas.microsoft.com/office/powerpoint/2010/main" val="651848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4</a:t>
            </a:fld>
            <a:endParaRPr lang="en-US"/>
          </a:p>
        </p:txBody>
      </p:sp>
    </p:spTree>
    <p:extLst>
      <p:ext uri="{BB962C8B-B14F-4D97-AF65-F5344CB8AC3E}">
        <p14:creationId xmlns:p14="http://schemas.microsoft.com/office/powerpoint/2010/main" val="1866642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5</a:t>
            </a:fld>
            <a:endParaRPr lang="en-US"/>
          </a:p>
        </p:txBody>
      </p:sp>
    </p:spTree>
    <p:extLst>
      <p:ext uri="{BB962C8B-B14F-4D97-AF65-F5344CB8AC3E}">
        <p14:creationId xmlns:p14="http://schemas.microsoft.com/office/powerpoint/2010/main" val="2829151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6</a:t>
            </a:fld>
            <a:endParaRPr lang="en-US"/>
          </a:p>
        </p:txBody>
      </p:sp>
    </p:spTree>
    <p:extLst>
      <p:ext uri="{BB962C8B-B14F-4D97-AF65-F5344CB8AC3E}">
        <p14:creationId xmlns:p14="http://schemas.microsoft.com/office/powerpoint/2010/main" val="64616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7</a:t>
            </a:fld>
            <a:endParaRPr lang="en-US"/>
          </a:p>
        </p:txBody>
      </p:sp>
    </p:spTree>
    <p:extLst>
      <p:ext uri="{BB962C8B-B14F-4D97-AF65-F5344CB8AC3E}">
        <p14:creationId xmlns:p14="http://schemas.microsoft.com/office/powerpoint/2010/main" val="2072924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8</a:t>
            </a:fld>
            <a:endParaRPr lang="en-US"/>
          </a:p>
        </p:txBody>
      </p:sp>
    </p:spTree>
    <p:extLst>
      <p:ext uri="{BB962C8B-B14F-4D97-AF65-F5344CB8AC3E}">
        <p14:creationId xmlns:p14="http://schemas.microsoft.com/office/powerpoint/2010/main" val="3011001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9</a:t>
            </a:fld>
            <a:endParaRPr lang="en-US"/>
          </a:p>
        </p:txBody>
      </p:sp>
    </p:spTree>
    <p:extLst>
      <p:ext uri="{BB962C8B-B14F-4D97-AF65-F5344CB8AC3E}">
        <p14:creationId xmlns:p14="http://schemas.microsoft.com/office/powerpoint/2010/main" val="2313360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10</a:t>
            </a:fld>
            <a:endParaRPr lang="en-US"/>
          </a:p>
        </p:txBody>
      </p:sp>
    </p:spTree>
    <p:extLst>
      <p:ext uri="{BB962C8B-B14F-4D97-AF65-F5344CB8AC3E}">
        <p14:creationId xmlns:p14="http://schemas.microsoft.com/office/powerpoint/2010/main" val="2513681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11</a:t>
            </a:fld>
            <a:endParaRPr lang="en-US"/>
          </a:p>
        </p:txBody>
      </p:sp>
    </p:spTree>
    <p:extLst>
      <p:ext uri="{BB962C8B-B14F-4D97-AF65-F5344CB8AC3E}">
        <p14:creationId xmlns:p14="http://schemas.microsoft.com/office/powerpoint/2010/main" val="4058852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12</a:t>
            </a:fld>
            <a:endParaRPr lang="en-US"/>
          </a:p>
        </p:txBody>
      </p:sp>
    </p:spTree>
    <p:extLst>
      <p:ext uri="{BB962C8B-B14F-4D97-AF65-F5344CB8AC3E}">
        <p14:creationId xmlns:p14="http://schemas.microsoft.com/office/powerpoint/2010/main" val="1673536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13</a:t>
            </a:fld>
            <a:endParaRPr lang="en-US"/>
          </a:p>
        </p:txBody>
      </p:sp>
    </p:spTree>
    <p:extLst>
      <p:ext uri="{BB962C8B-B14F-4D97-AF65-F5344CB8AC3E}">
        <p14:creationId xmlns:p14="http://schemas.microsoft.com/office/powerpoint/2010/main" val="3145585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14</a:t>
            </a:fld>
            <a:endParaRPr lang="en-US"/>
          </a:p>
        </p:txBody>
      </p:sp>
    </p:spTree>
    <p:extLst>
      <p:ext uri="{BB962C8B-B14F-4D97-AF65-F5344CB8AC3E}">
        <p14:creationId xmlns:p14="http://schemas.microsoft.com/office/powerpoint/2010/main" val="1460849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15</a:t>
            </a:fld>
            <a:endParaRPr lang="en-US"/>
          </a:p>
        </p:txBody>
      </p:sp>
    </p:spTree>
    <p:extLst>
      <p:ext uri="{BB962C8B-B14F-4D97-AF65-F5344CB8AC3E}">
        <p14:creationId xmlns:p14="http://schemas.microsoft.com/office/powerpoint/2010/main" val="1374306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16</a:t>
            </a:fld>
            <a:endParaRPr lang="en-US"/>
          </a:p>
        </p:txBody>
      </p:sp>
    </p:spTree>
    <p:extLst>
      <p:ext uri="{BB962C8B-B14F-4D97-AF65-F5344CB8AC3E}">
        <p14:creationId xmlns:p14="http://schemas.microsoft.com/office/powerpoint/2010/main" val="3364369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17</a:t>
            </a:fld>
            <a:endParaRPr lang="en-US"/>
          </a:p>
        </p:txBody>
      </p:sp>
    </p:spTree>
    <p:extLst>
      <p:ext uri="{BB962C8B-B14F-4D97-AF65-F5344CB8AC3E}">
        <p14:creationId xmlns:p14="http://schemas.microsoft.com/office/powerpoint/2010/main" val="1908052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18</a:t>
            </a:fld>
            <a:endParaRPr lang="en-US"/>
          </a:p>
        </p:txBody>
      </p:sp>
    </p:spTree>
    <p:extLst>
      <p:ext uri="{BB962C8B-B14F-4D97-AF65-F5344CB8AC3E}">
        <p14:creationId xmlns:p14="http://schemas.microsoft.com/office/powerpoint/2010/main" val="842887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8F61214-B916-4CCA-9541-0FEB1C228969}" type="slidenum">
              <a:rPr lang="en-US" smtClean="0"/>
              <a:t>19</a:t>
            </a:fld>
            <a:endParaRPr lang="en-US"/>
          </a:p>
        </p:txBody>
      </p:sp>
    </p:spTree>
    <p:extLst>
      <p:ext uri="{BB962C8B-B14F-4D97-AF65-F5344CB8AC3E}">
        <p14:creationId xmlns:p14="http://schemas.microsoft.com/office/powerpoint/2010/main" val="1765187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7725" indent="-177725">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88F61214-B916-4CCA-9541-0FEB1C228969}" type="slidenum">
              <a:rPr lang="en-US" smtClean="0"/>
              <a:t>20</a:t>
            </a:fld>
            <a:endParaRPr lang="en-US"/>
          </a:p>
        </p:txBody>
      </p:sp>
    </p:spTree>
    <p:extLst>
      <p:ext uri="{BB962C8B-B14F-4D97-AF65-F5344CB8AC3E}">
        <p14:creationId xmlns:p14="http://schemas.microsoft.com/office/powerpoint/2010/main" val="3611051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21</a:t>
            </a:fld>
            <a:endParaRPr lang="en-US"/>
          </a:p>
        </p:txBody>
      </p:sp>
    </p:spTree>
    <p:extLst>
      <p:ext uri="{BB962C8B-B14F-4D97-AF65-F5344CB8AC3E}">
        <p14:creationId xmlns:p14="http://schemas.microsoft.com/office/powerpoint/2010/main" val="623717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22</a:t>
            </a:fld>
            <a:endParaRPr lang="en-US"/>
          </a:p>
        </p:txBody>
      </p:sp>
    </p:spTree>
    <p:extLst>
      <p:ext uri="{BB962C8B-B14F-4D97-AF65-F5344CB8AC3E}">
        <p14:creationId xmlns:p14="http://schemas.microsoft.com/office/powerpoint/2010/main" val="3997341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F61214-B916-4CCA-9541-0FEB1C228969}" type="slidenum">
              <a:rPr lang="en-US" smtClean="0"/>
              <a:t>23</a:t>
            </a:fld>
            <a:endParaRPr lang="en-US"/>
          </a:p>
        </p:txBody>
      </p:sp>
    </p:spTree>
    <p:extLst>
      <p:ext uri="{BB962C8B-B14F-4D97-AF65-F5344CB8AC3E}">
        <p14:creationId xmlns:p14="http://schemas.microsoft.com/office/powerpoint/2010/main" val="36240734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8F61214-B916-4CCA-9541-0FEB1C228969}" type="slidenum">
              <a:rPr lang="en-US" smtClean="0"/>
              <a:t>24</a:t>
            </a:fld>
            <a:endParaRPr lang="en-US"/>
          </a:p>
        </p:txBody>
      </p:sp>
    </p:spTree>
    <p:extLst>
      <p:ext uri="{BB962C8B-B14F-4D97-AF65-F5344CB8AC3E}">
        <p14:creationId xmlns:p14="http://schemas.microsoft.com/office/powerpoint/2010/main" val="236221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25</a:t>
            </a:fld>
            <a:endParaRPr lang="en-US"/>
          </a:p>
        </p:txBody>
      </p:sp>
    </p:spTree>
    <p:extLst>
      <p:ext uri="{BB962C8B-B14F-4D97-AF65-F5344CB8AC3E}">
        <p14:creationId xmlns:p14="http://schemas.microsoft.com/office/powerpoint/2010/main" val="20163194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57403" y="5699752"/>
            <a:ext cx="2881505"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Page topper.jpg"/>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1"/>
            <a:ext cx="12192000" cy="3196799"/>
          </a:xfrm>
          <a:prstGeom prst="rect">
            <a:avLst/>
          </a:prstGeom>
        </p:spPr>
      </p:pic>
    </p:spTree>
    <p:extLst>
      <p:ext uri="{BB962C8B-B14F-4D97-AF65-F5344CB8AC3E}">
        <p14:creationId xmlns:p14="http://schemas.microsoft.com/office/powerpoint/2010/main" val="352099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 y="1"/>
            <a:ext cx="12208933" cy="3200400"/>
          </a:xfrm>
          <a:prstGeom prst="rect">
            <a:avLst/>
          </a:prstGeom>
        </p:spPr>
      </p:pic>
    </p:spTree>
    <p:extLst>
      <p:ext uri="{BB962C8B-B14F-4D97-AF65-F5344CB8AC3E}">
        <p14:creationId xmlns:p14="http://schemas.microsoft.com/office/powerpoint/2010/main" val="14510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50" indent="-228600">
              <a:defRPr>
                <a:solidFill>
                  <a:srgbClr val="808080"/>
                </a:solidFill>
                <a:latin typeface="Arial" panose="020B0604020202020204" pitchFamily="34" charset="0"/>
                <a:cs typeface="Arial" panose="020B0604020202020204" pitchFamily="34" charset="0"/>
              </a:defRPr>
            </a:lvl4pPr>
            <a:lvl5pPr marL="1084263" indent="-22860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14767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4"/>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Tree>
    <p:extLst>
      <p:ext uri="{BB962C8B-B14F-4D97-AF65-F5344CB8AC3E}">
        <p14:creationId xmlns:p14="http://schemas.microsoft.com/office/powerpoint/2010/main" val="29022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4"/>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012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89"/>
            <a:ext cx="5386917"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350689"/>
            <a:ext cx="5389033"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88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44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597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939174" y="2240324"/>
            <a:ext cx="5998518" cy="91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3" y="5009183"/>
            <a:ext cx="1685141" cy="369332"/>
          </a:xfrm>
          <a:prstGeom prst="rect">
            <a:avLst/>
          </a:prstGeom>
        </p:spPr>
        <p:txBody>
          <a:bodyPr wrap="none">
            <a:spAutoFit/>
          </a:bodyPr>
          <a:lstStyle/>
          <a:p>
            <a:pPr defTabSz="457200"/>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8"/>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1333" y="5658033"/>
            <a:ext cx="1019144" cy="255514"/>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49697" y="5658033"/>
            <a:ext cx="771637" cy="255514"/>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622621" y="5658033"/>
            <a:ext cx="1019144" cy="255514"/>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40985" y="5619933"/>
            <a:ext cx="1019144" cy="310111"/>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659349" y="5658033"/>
            <a:ext cx="1019144" cy="255514"/>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47508" y="5658033"/>
            <a:ext cx="1019144" cy="255514"/>
          </a:xfrm>
          <a:prstGeom prst="rect">
            <a:avLst/>
          </a:prstGeom>
        </p:spPr>
      </p:pic>
      <p:sp>
        <p:nvSpPr>
          <p:cNvPr id="11" name="Rectangle 10"/>
          <p:cNvSpPr/>
          <p:nvPr userDrawn="1"/>
        </p:nvSpPr>
        <p:spPr>
          <a:xfrm>
            <a:off x="931334" y="6144038"/>
            <a:ext cx="10837333" cy="276999"/>
          </a:xfrm>
          <a:prstGeom prst="rect">
            <a:avLst/>
          </a:prstGeom>
        </p:spPr>
        <p:txBody>
          <a:bodyPr wrap="square">
            <a:spAutoFit/>
          </a:bodyPr>
          <a:lstStyle/>
          <a:p>
            <a:pPr defTabSz="457200"/>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290093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500"/>
                                        <p:tgtEl>
                                          <p:spTgt spid="4"/>
                                        </p:tgtEl>
                                      </p:cBhvr>
                                    </p:animEffect>
                                  </p:childTnLst>
                                </p:cTn>
                              </p:par>
                              <p:par>
                                <p:cTn id="11" presetID="10" presetClass="entr" presetSubtype="0" fill="hold"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500"/>
                                        <p:tgtEl>
                                          <p:spTgt spid="6"/>
                                        </p:tgtEl>
                                      </p:cBhvr>
                                    </p:animEffect>
                                  </p:childTnLst>
                                </p:cTn>
                              </p:par>
                              <p:par>
                                <p:cTn id="14" presetID="10" presetClass="entr" presetSubtype="0" fill="hold" nodeType="withEffect">
                                  <p:stCondLst>
                                    <p:cond delay="2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500"/>
                                        <p:tgtEl>
                                          <p:spTgt spid="8"/>
                                        </p:tgtEl>
                                      </p:cBhvr>
                                    </p:animEffect>
                                  </p:childTnLst>
                                </p:cTn>
                              </p:par>
                              <p:par>
                                <p:cTn id="17" presetID="10" presetClass="entr" presetSubtype="0" fill="hold" nodeType="withEffect">
                                  <p:stCondLst>
                                    <p:cond delay="32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500"/>
                                        <p:tgtEl>
                                          <p:spTgt spid="9"/>
                                        </p:tgtEl>
                                      </p:cBhvr>
                                    </p:animEffect>
                                  </p:childTnLst>
                                </p:cTn>
                              </p:par>
                              <p:par>
                                <p:cTn id="20" presetID="10" presetClass="entr" presetSubtype="0" fill="hold" nodeType="withEffect">
                                  <p:stCondLst>
                                    <p:cond delay="4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564078"/>
            <a:ext cx="10058400" cy="533400"/>
          </a:xfrm>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5" name="Slide Number Placeholder 5">
            <a:extLst>
              <a:ext uri="{FF2B5EF4-FFF2-40B4-BE49-F238E27FC236}">
                <a16:creationId xmlns:a16="http://schemas.microsoft.com/office/drawing/2014/main" xmlns="" id="{4DFB4106-AFAF-4C3F-96BE-EEC27417FA4F}"/>
              </a:ext>
            </a:extLst>
          </p:cNvPr>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72960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xmlns="" id="{B6452E12-8942-4E20-BAB3-AECBD9FCC915}"/>
              </a:ext>
            </a:extLst>
          </p:cNvPr>
          <p:cNvSpPr txBox="1">
            <a:spLocks/>
          </p:cNvSpPr>
          <p:nvPr userDrawn="1"/>
        </p:nvSpPr>
        <p:spPr>
          <a:xfrm>
            <a:off x="7905136" y="6511060"/>
            <a:ext cx="3677264" cy="304412"/>
          </a:xfrm>
          <a:prstGeom prst="rect">
            <a:avLst/>
          </a:prstGeom>
        </p:spPr>
        <p:txBody>
          <a:bodyPr vert="horz" lIns="0" tIns="0" rIns="0" bIns="0" rtlCol="0" anchor="ctr"/>
          <a:lstStyle>
            <a:defPPr>
              <a:defRPr lang="nl-NL"/>
            </a:defPPr>
            <a:lvl1pPr marL="0" marR="0" indent="0" algn="r" defTabSz="457200" rtl="0" eaLnBrk="1" fontAlgn="auto" latinLnBrk="0" hangingPunct="1">
              <a:lnSpc>
                <a:spcPct val="100000"/>
              </a:lnSpc>
              <a:spcBef>
                <a:spcPts val="0"/>
              </a:spcBef>
              <a:spcAft>
                <a:spcPts val="0"/>
              </a:spcAft>
              <a:buClrTx/>
              <a:buSzTx/>
              <a:buFontTx/>
              <a:buNone/>
              <a:tabLst/>
              <a:defRPr sz="900" kern="1200">
                <a:solidFill>
                  <a:srgbClr val="808080"/>
                </a:solidFill>
                <a:latin typeface="Arial Narrow"/>
                <a:ea typeface="+mn-ea"/>
                <a:cs typeface="Arial Narrow"/>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77499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6"/>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2" name="Title Placeholder 1"/>
          <p:cNvSpPr>
            <a:spLocks noGrp="1"/>
          </p:cNvSpPr>
          <p:nvPr>
            <p:ph type="title"/>
          </p:nvPr>
        </p:nvSpPr>
        <p:spPr>
          <a:xfrm>
            <a:off x="609600" y="569916"/>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0"/>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0"/>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0"/>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200"/>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200"/>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7"/>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11" name="Picture 10" descr="IAASB Logo with FullNam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1916" y="178653"/>
            <a:ext cx="1746545" cy="313929"/>
          </a:xfrm>
          <a:prstGeom prst="rect">
            <a:avLst/>
          </a:prstGeom>
        </p:spPr>
      </p:pic>
    </p:spTree>
    <p:extLst>
      <p:ext uri="{BB962C8B-B14F-4D97-AF65-F5344CB8AC3E}">
        <p14:creationId xmlns:p14="http://schemas.microsoft.com/office/powerpoint/2010/main" val="3796374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6.sv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5.svg"/><Relationship Id="rId5" Type="http://schemas.openxmlformats.org/officeDocument/2006/relationships/image" Target="../media/image22.png"/><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7.sv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16.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399" y="3424964"/>
            <a:ext cx="10524511" cy="1870049"/>
          </a:xfrm>
        </p:spPr>
        <p:txBody>
          <a:bodyPr>
            <a:normAutofit/>
          </a:bodyPr>
          <a:lstStyle/>
          <a:p>
            <a:r>
              <a:rPr lang="en-GB" b="1" dirty="0"/>
              <a:t>EER Assurance</a:t>
            </a:r>
            <a:r>
              <a:rPr lang="en-GB" dirty="0"/>
              <a:t/>
            </a:r>
            <a:br>
              <a:rPr lang="en-GB" dirty="0"/>
            </a:br>
            <a:r>
              <a:rPr lang="en-GB" dirty="0"/>
              <a:t/>
            </a:r>
            <a:br>
              <a:rPr lang="en-GB" dirty="0"/>
            </a:br>
            <a:r>
              <a:rPr lang="en-GB" dirty="0"/>
              <a:t>December 2018</a:t>
            </a:r>
            <a:endParaRPr lang="en-US" dirty="0"/>
          </a:p>
        </p:txBody>
      </p:sp>
      <p:sp>
        <p:nvSpPr>
          <p:cNvPr id="5" name="Subtitle 4"/>
          <p:cNvSpPr>
            <a:spLocks noGrp="1"/>
          </p:cNvSpPr>
          <p:nvPr>
            <p:ph type="subTitle" idx="1"/>
          </p:nvPr>
        </p:nvSpPr>
        <p:spPr/>
        <p:txBody>
          <a:bodyPr/>
          <a:lstStyle/>
          <a:p>
            <a:r>
              <a:rPr lang="en-GB" dirty="0"/>
              <a:t>December 12, 2018</a:t>
            </a:r>
            <a:endParaRPr lang="en-US" dirty="0"/>
          </a:p>
        </p:txBody>
      </p:sp>
      <p:sp>
        <p:nvSpPr>
          <p:cNvPr id="6" name="Text Box 11">
            <a:extLst>
              <a:ext uri="{FF2B5EF4-FFF2-40B4-BE49-F238E27FC236}">
                <a16:creationId xmlns:a16="http://schemas.microsoft.com/office/drawing/2014/main" xmlns="" id="{C367BDE0-87FA-4305-8A4C-18E2848FF4D5}"/>
              </a:ext>
            </a:extLst>
          </p:cNvPr>
          <p:cNvSpPr txBox="1"/>
          <p:nvPr/>
        </p:nvSpPr>
        <p:spPr>
          <a:xfrm>
            <a:off x="9139458" y="3424965"/>
            <a:ext cx="2138143" cy="9810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800" b="1" dirty="0">
                <a:effectLst/>
                <a:latin typeface="Arial" panose="020B0604020202020204" pitchFamily="34" charset="0"/>
                <a:ea typeface="Calibri" panose="020F0502020204030204" pitchFamily="34" charset="0"/>
                <a:cs typeface="Times New Roman" panose="02020603050405020304" pitchFamily="18" charset="0"/>
              </a:rPr>
              <a:t>Agenda Item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GB" sz="3600" b="1" dirty="0">
                <a:effectLst/>
                <a:latin typeface="Arial" panose="020B0604020202020204" pitchFamily="34" charset="0"/>
                <a:ea typeface="Calibri" panose="020F0502020204030204" pitchFamily="34" charset="0"/>
                <a:cs typeface="Times New Roman" panose="02020603050405020304" pitchFamily="18" charset="0"/>
              </a:rPr>
              <a:t>8</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4033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 of September Meeting</a:t>
            </a:r>
          </a:p>
        </p:txBody>
      </p:sp>
      <p:sp>
        <p:nvSpPr>
          <p:cNvPr id="3" name="Content Placeholder 2">
            <a:extLst>
              <a:ext uri="{FF2B5EF4-FFF2-40B4-BE49-F238E27FC236}">
                <a16:creationId xmlns:a16="http://schemas.microsoft.com/office/drawing/2014/main" xmlns="" id="{7F6861B7-3A6B-4C88-8CFF-E90934F9496C}"/>
              </a:ext>
            </a:extLst>
          </p:cNvPr>
          <p:cNvSpPr>
            <a:spLocks noGrp="1"/>
          </p:cNvSpPr>
          <p:nvPr>
            <p:ph idx="1"/>
          </p:nvPr>
        </p:nvSpPr>
        <p:spPr>
          <a:xfrm>
            <a:off x="609600" y="1600201"/>
            <a:ext cx="5075104" cy="4251569"/>
          </a:xfrm>
        </p:spPr>
        <p:txBody>
          <a:bodyPr/>
          <a:lstStyle/>
          <a:p>
            <a:pPr marL="0" indent="0">
              <a:buNone/>
            </a:pPr>
            <a:r>
              <a:rPr lang="en-GB" dirty="0"/>
              <a:t>Presented a first draft of phase 1 guidance</a:t>
            </a:r>
          </a:p>
        </p:txBody>
      </p:sp>
      <p:sp>
        <p:nvSpPr>
          <p:cNvPr id="6" name="Slide Number Placeholder 3">
            <a:extLst>
              <a:ext uri="{FF2B5EF4-FFF2-40B4-BE49-F238E27FC236}">
                <a16:creationId xmlns:a16="http://schemas.microsoft.com/office/drawing/2014/main" xmlns="" id="{9AA0D5D3-0FF2-4A99-9880-6FBEC2F02D9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pic>
        <p:nvPicPr>
          <p:cNvPr id="25" name="Picture 24" descr="A screenshot of a social media post&#10;&#10;Description generated with very high confidence">
            <a:extLst>
              <a:ext uri="{FF2B5EF4-FFF2-40B4-BE49-F238E27FC236}">
                <a16:creationId xmlns:a16="http://schemas.microsoft.com/office/drawing/2014/main" xmlns="" id="{A341E8FE-C649-416E-89DF-C88A3CF1C6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348656">
            <a:off x="2553317" y="2307822"/>
            <a:ext cx="1971871" cy="29474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6" name="Picture 25" descr="A screenshot of a cell phone&#10;&#10;Description generated with very high confidence">
            <a:extLst>
              <a:ext uri="{FF2B5EF4-FFF2-40B4-BE49-F238E27FC236}">
                <a16:creationId xmlns:a16="http://schemas.microsoft.com/office/drawing/2014/main" xmlns="" id="{638EEF1E-4956-4B04-944D-4BFD9A464F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975912">
            <a:off x="1467914" y="2880959"/>
            <a:ext cx="2191361" cy="29474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Content Placeholder 2">
            <a:extLst>
              <a:ext uri="{FF2B5EF4-FFF2-40B4-BE49-F238E27FC236}">
                <a16:creationId xmlns:a16="http://schemas.microsoft.com/office/drawing/2014/main" xmlns="" id="{15565C22-765C-4DC5-BE23-2D9E35275AD5}"/>
              </a:ext>
            </a:extLst>
          </p:cNvPr>
          <p:cNvSpPr txBox="1">
            <a:spLocks/>
          </p:cNvSpPr>
          <p:nvPr/>
        </p:nvSpPr>
        <p:spPr>
          <a:xfrm>
            <a:off x="6294948" y="1600201"/>
            <a:ext cx="5075104" cy="4251569"/>
          </a:xfrm>
          <a:prstGeom prst="rect">
            <a:avLst/>
          </a:prstGeom>
          <a:solidFill>
            <a:schemeClr val="bg1">
              <a:lumMod val="95000"/>
            </a:schemeClr>
          </a:solidFill>
          <a:ln>
            <a:solidFill>
              <a:schemeClr val="bg1">
                <a:lumMod val="50000"/>
              </a:schemeClr>
            </a:solidFill>
          </a:ln>
          <a:effectLst>
            <a:outerShdw blurRad="63500" sx="102000" sy="102000" algn="ctr" rotWithShape="0">
              <a:prstClr val="black">
                <a:alpha val="40000"/>
              </a:prstClr>
            </a:outerShdw>
          </a:effectLst>
        </p:spPr>
        <p:txBody>
          <a:bodyPr vert="horz" lIns="108000" tIns="108000" rIns="108000" bIns="108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b="1" dirty="0"/>
              <a:t>Key areas for further consideration:</a:t>
            </a:r>
          </a:p>
          <a:p>
            <a:r>
              <a:rPr lang="en-GB" dirty="0"/>
              <a:t>Guidance covering matters not explicitly addressed in ISAE 3000 (Revised) requirements</a:t>
            </a:r>
          </a:p>
          <a:p>
            <a:r>
              <a:rPr lang="en-GB" dirty="0"/>
              <a:t>Consistency with ISAE 3000 (Revised) requirements</a:t>
            </a:r>
          </a:p>
          <a:p>
            <a:pPr lvl="1"/>
            <a:r>
              <a:rPr lang="en-GB" dirty="0"/>
              <a:t>Suitability of criteria</a:t>
            </a:r>
          </a:p>
          <a:p>
            <a:pPr lvl="1"/>
            <a:r>
              <a:rPr lang="en-GB" dirty="0"/>
              <a:t>Materiality</a:t>
            </a:r>
          </a:p>
          <a:p>
            <a:r>
              <a:rPr lang="en-GB" dirty="0"/>
              <a:t>Structure and length need further work</a:t>
            </a:r>
          </a:p>
          <a:p>
            <a:r>
              <a:rPr lang="en-GB" dirty="0"/>
              <a:t>Compliance with drafting conventions</a:t>
            </a:r>
          </a:p>
        </p:txBody>
      </p:sp>
    </p:spTree>
    <p:extLst>
      <p:ext uri="{BB962C8B-B14F-4D97-AF65-F5344CB8AC3E}">
        <p14:creationId xmlns:p14="http://schemas.microsoft.com/office/powerpoint/2010/main" val="15472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03BECA-9458-4672-84D0-214ECB008B61}"/>
              </a:ext>
            </a:extLst>
          </p:cNvPr>
          <p:cNvSpPr>
            <a:spLocks noGrp="1"/>
          </p:cNvSpPr>
          <p:nvPr>
            <p:ph type="title"/>
          </p:nvPr>
        </p:nvSpPr>
        <p:spPr/>
        <p:txBody>
          <a:bodyPr/>
          <a:lstStyle/>
          <a:p>
            <a:r>
              <a:rPr lang="en-GB" dirty="0"/>
              <a:t>Work since September</a:t>
            </a:r>
          </a:p>
        </p:txBody>
      </p:sp>
      <p:sp>
        <p:nvSpPr>
          <p:cNvPr id="4" name="Slide Number Placeholder 3">
            <a:extLst>
              <a:ext uri="{FF2B5EF4-FFF2-40B4-BE49-F238E27FC236}">
                <a16:creationId xmlns:a16="http://schemas.microsoft.com/office/drawing/2014/main" xmlns="" id="{5DA8D926-34DB-466A-BA72-A054B77448F2}"/>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
        <p:nvSpPr>
          <p:cNvPr id="5" name="Oval 4">
            <a:extLst>
              <a:ext uri="{FF2B5EF4-FFF2-40B4-BE49-F238E27FC236}">
                <a16:creationId xmlns:a16="http://schemas.microsoft.com/office/drawing/2014/main" xmlns="" id="{B4C1C9CF-7250-44F0-B09B-7AC2CD159F60}"/>
              </a:ext>
            </a:extLst>
          </p:cNvPr>
          <p:cNvSpPr/>
          <p:nvPr/>
        </p:nvSpPr>
        <p:spPr>
          <a:xfrm>
            <a:off x="1476260" y="2225407"/>
            <a:ext cx="2610998" cy="2610998"/>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800" dirty="0">
                <a:latin typeface="Arial" panose="020B0604020202020204" pitchFamily="34" charset="0"/>
                <a:cs typeface="Arial" panose="020B0604020202020204" pitchFamily="34" charset="0"/>
              </a:rPr>
              <a:t>Updating draft guidance</a:t>
            </a:r>
          </a:p>
        </p:txBody>
      </p:sp>
      <p:sp>
        <p:nvSpPr>
          <p:cNvPr id="6" name="Oval 5">
            <a:extLst>
              <a:ext uri="{FF2B5EF4-FFF2-40B4-BE49-F238E27FC236}">
                <a16:creationId xmlns:a16="http://schemas.microsoft.com/office/drawing/2014/main" xmlns="" id="{39F40D8F-0C53-4108-B8BD-E762569FE608}"/>
              </a:ext>
            </a:extLst>
          </p:cNvPr>
          <p:cNvSpPr/>
          <p:nvPr/>
        </p:nvSpPr>
        <p:spPr>
          <a:xfrm>
            <a:off x="4790501" y="2225407"/>
            <a:ext cx="2610998" cy="2610998"/>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en-GB" sz="2800" dirty="0">
                <a:latin typeface="Arial" panose="020B0604020202020204" pitchFamily="34" charset="0"/>
                <a:cs typeface="Arial" panose="020B0604020202020204" pitchFamily="34" charset="0"/>
              </a:rPr>
              <a:t>Global discussion events</a:t>
            </a:r>
          </a:p>
        </p:txBody>
      </p:sp>
      <p:sp>
        <p:nvSpPr>
          <p:cNvPr id="7" name="Oval 6">
            <a:extLst>
              <a:ext uri="{FF2B5EF4-FFF2-40B4-BE49-F238E27FC236}">
                <a16:creationId xmlns:a16="http://schemas.microsoft.com/office/drawing/2014/main" xmlns="" id="{FE4A218C-94B6-416C-82D0-73FDAF46DC7F}"/>
              </a:ext>
            </a:extLst>
          </p:cNvPr>
          <p:cNvSpPr/>
          <p:nvPr/>
        </p:nvSpPr>
        <p:spPr>
          <a:xfrm>
            <a:off x="8104742" y="2225407"/>
            <a:ext cx="2610998" cy="2610998"/>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800" dirty="0">
                <a:latin typeface="Arial" panose="020B0604020202020204" pitchFamily="34" charset="0"/>
                <a:cs typeface="Arial" panose="020B0604020202020204" pitchFamily="34" charset="0"/>
              </a:rPr>
              <a:t>PAP calls &amp; other outreach</a:t>
            </a:r>
          </a:p>
        </p:txBody>
      </p:sp>
    </p:spTree>
    <p:extLst>
      <p:ext uri="{BB962C8B-B14F-4D97-AF65-F5344CB8AC3E}">
        <p14:creationId xmlns:p14="http://schemas.microsoft.com/office/powerpoint/2010/main" val="2762498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EC1661-148C-4818-814E-189606C6D8E6}"/>
              </a:ext>
            </a:extLst>
          </p:cNvPr>
          <p:cNvSpPr>
            <a:spLocks noGrp="1"/>
          </p:cNvSpPr>
          <p:nvPr>
            <p:ph type="title"/>
          </p:nvPr>
        </p:nvSpPr>
        <p:spPr/>
        <p:txBody>
          <a:bodyPr/>
          <a:lstStyle/>
          <a:p>
            <a:r>
              <a:rPr lang="en-GB" dirty="0"/>
              <a:t>This Meeting’s Agenda</a:t>
            </a:r>
          </a:p>
        </p:txBody>
      </p:sp>
      <p:sp>
        <p:nvSpPr>
          <p:cNvPr id="4" name="Slide Number Placeholder 3">
            <a:extLst>
              <a:ext uri="{FF2B5EF4-FFF2-40B4-BE49-F238E27FC236}">
                <a16:creationId xmlns:a16="http://schemas.microsoft.com/office/drawing/2014/main" xmlns="" id="{36B6E8DA-69C5-43D2-8167-074C120DB86E}"/>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
        <p:nvSpPr>
          <p:cNvPr id="7" name="Arrow: Chevron 6">
            <a:extLst>
              <a:ext uri="{FF2B5EF4-FFF2-40B4-BE49-F238E27FC236}">
                <a16:creationId xmlns:a16="http://schemas.microsoft.com/office/drawing/2014/main" xmlns="" id="{B2B0335F-3B09-483B-8170-162AFA7A0871}"/>
              </a:ext>
            </a:extLst>
          </p:cNvPr>
          <p:cNvSpPr/>
          <p:nvPr/>
        </p:nvSpPr>
        <p:spPr>
          <a:xfrm>
            <a:off x="2784785" y="2021627"/>
            <a:ext cx="2151556"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pPr>
              <a:spcAft>
                <a:spcPts val="600"/>
              </a:spcAft>
            </a:pPr>
            <a:r>
              <a:rPr lang="en-GB" sz="1400" dirty="0">
                <a:solidFill>
                  <a:schemeClr val="bg1"/>
                </a:solidFill>
                <a:latin typeface="Arial" panose="020B0604020202020204" pitchFamily="34" charset="0"/>
                <a:cs typeface="Arial" panose="020B0604020202020204" pitchFamily="34" charset="0"/>
              </a:rPr>
              <a:t>Introduction</a:t>
            </a:r>
          </a:p>
          <a:p>
            <a:pPr>
              <a:spcAft>
                <a:spcPts val="600"/>
              </a:spcAft>
            </a:pPr>
            <a:r>
              <a:rPr lang="en-GB" sz="1400" dirty="0">
                <a:solidFill>
                  <a:schemeClr val="bg1"/>
                </a:solidFill>
                <a:latin typeface="Arial" panose="020B0604020202020204" pitchFamily="34" charset="0"/>
                <a:cs typeface="Arial" panose="020B0604020202020204" pitchFamily="34" charset="0"/>
              </a:rPr>
              <a:t>New Overview Chapter</a:t>
            </a:r>
          </a:p>
          <a:p>
            <a:pPr>
              <a:spcAft>
                <a:spcPts val="600"/>
              </a:spcAft>
            </a:pPr>
            <a:r>
              <a:rPr lang="en-GB" sz="1400" dirty="0">
                <a:solidFill>
                  <a:schemeClr val="bg1"/>
                </a:solidFill>
                <a:latin typeface="Arial" panose="020B0604020202020204" pitchFamily="34" charset="0"/>
                <a:cs typeface="Arial" panose="020B0604020202020204" pitchFamily="34" charset="0"/>
              </a:rPr>
              <a:t>Preconditions</a:t>
            </a:r>
          </a:p>
        </p:txBody>
      </p:sp>
      <p:sp>
        <p:nvSpPr>
          <p:cNvPr id="8" name="Arrow: Chevron 7">
            <a:extLst>
              <a:ext uri="{FF2B5EF4-FFF2-40B4-BE49-F238E27FC236}">
                <a16:creationId xmlns:a16="http://schemas.microsoft.com/office/drawing/2014/main" xmlns="" id="{A1D9C95A-3DCF-4A99-B09F-9F85CC63C7F2}"/>
              </a:ext>
            </a:extLst>
          </p:cNvPr>
          <p:cNvSpPr/>
          <p:nvPr/>
        </p:nvSpPr>
        <p:spPr>
          <a:xfrm>
            <a:off x="633228" y="4713223"/>
            <a:ext cx="2151557"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r>
              <a:rPr lang="en-GB" sz="1400" dirty="0">
                <a:solidFill>
                  <a:schemeClr val="bg1"/>
                </a:solidFill>
                <a:latin typeface="Arial" panose="020B0604020202020204" pitchFamily="34" charset="0"/>
                <a:cs typeface="Arial" panose="020B0604020202020204" pitchFamily="34" charset="0"/>
              </a:rPr>
              <a:t>Governance &amp; Internal Control</a:t>
            </a:r>
          </a:p>
        </p:txBody>
      </p:sp>
      <p:sp>
        <p:nvSpPr>
          <p:cNvPr id="15" name="TextBox 14">
            <a:extLst>
              <a:ext uri="{FF2B5EF4-FFF2-40B4-BE49-F238E27FC236}">
                <a16:creationId xmlns:a16="http://schemas.microsoft.com/office/drawing/2014/main" xmlns="" id="{2ED957CC-8887-4EE0-8D5F-7FCDEF8CD3E1}"/>
              </a:ext>
            </a:extLst>
          </p:cNvPr>
          <p:cNvSpPr txBox="1"/>
          <p:nvPr/>
        </p:nvSpPr>
        <p:spPr>
          <a:xfrm>
            <a:off x="2784784" y="1744622"/>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Chapters 1, 2 and 3</a:t>
            </a:r>
          </a:p>
        </p:txBody>
      </p:sp>
      <p:sp>
        <p:nvSpPr>
          <p:cNvPr id="21" name="TextBox 20">
            <a:extLst>
              <a:ext uri="{FF2B5EF4-FFF2-40B4-BE49-F238E27FC236}">
                <a16:creationId xmlns:a16="http://schemas.microsoft.com/office/drawing/2014/main" xmlns="" id="{ACF5FBE4-CAF4-4EDE-A227-6EF818EF37B1}"/>
              </a:ext>
            </a:extLst>
          </p:cNvPr>
          <p:cNvSpPr txBox="1"/>
          <p:nvPr/>
        </p:nvSpPr>
        <p:spPr>
          <a:xfrm>
            <a:off x="633228" y="1282962"/>
            <a:ext cx="1940650" cy="369332"/>
          </a:xfrm>
          <a:prstGeom prst="rect">
            <a:avLst/>
          </a:prstGeom>
          <a:noFill/>
        </p:spPr>
        <p:txBody>
          <a:bodyPr wrap="square" rtlCol="0">
            <a:spAutoFit/>
          </a:bodyPr>
          <a:lstStyle/>
          <a:p>
            <a:r>
              <a:rPr lang="en-GB" b="1" dirty="0">
                <a:solidFill>
                  <a:schemeClr val="bg1">
                    <a:lumMod val="50000"/>
                  </a:schemeClr>
                </a:solidFill>
                <a:latin typeface="Arial" panose="020B0604020202020204" pitchFamily="34" charset="0"/>
                <a:cs typeface="Arial" panose="020B0604020202020204" pitchFamily="34" charset="0"/>
              </a:rPr>
              <a:t>Wednesday</a:t>
            </a:r>
            <a:endParaRPr lang="en-GB" sz="1200" b="1" dirty="0">
              <a:solidFill>
                <a:schemeClr val="bg1">
                  <a:lumMod val="50000"/>
                </a:schemeClr>
              </a:solidFill>
              <a:latin typeface="Arial" panose="020B0604020202020204" pitchFamily="34" charset="0"/>
              <a:cs typeface="Arial" panose="020B0604020202020204" pitchFamily="34" charset="0"/>
            </a:endParaRPr>
          </a:p>
        </p:txBody>
      </p:sp>
      <p:cxnSp>
        <p:nvCxnSpPr>
          <p:cNvPr id="23" name="Straight Connector 22">
            <a:extLst>
              <a:ext uri="{FF2B5EF4-FFF2-40B4-BE49-F238E27FC236}">
                <a16:creationId xmlns:a16="http://schemas.microsoft.com/office/drawing/2014/main" xmlns="" id="{8894F179-1D88-43D6-A54A-5D6D84F78DA7}"/>
              </a:ext>
            </a:extLst>
          </p:cNvPr>
          <p:cNvCxnSpPr>
            <a:cxnSpLocks/>
          </p:cNvCxnSpPr>
          <p:nvPr/>
        </p:nvCxnSpPr>
        <p:spPr>
          <a:xfrm>
            <a:off x="633228" y="1652294"/>
            <a:ext cx="6431041" cy="0"/>
          </a:xfrm>
          <a:prstGeom prst="line">
            <a:avLst/>
          </a:prstGeom>
          <a:ln w="12700">
            <a:solidFill>
              <a:schemeClr val="bg1">
                <a:lumMod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xmlns="" id="{9ECD72E1-CC3F-42B3-A470-3C426FC3D347}"/>
              </a:ext>
            </a:extLst>
          </p:cNvPr>
          <p:cNvSpPr txBox="1"/>
          <p:nvPr/>
        </p:nvSpPr>
        <p:spPr>
          <a:xfrm>
            <a:off x="633228" y="4436224"/>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Chapter 6</a:t>
            </a:r>
          </a:p>
        </p:txBody>
      </p:sp>
      <p:sp>
        <p:nvSpPr>
          <p:cNvPr id="26" name="Arrow: Chevron 25">
            <a:extLst>
              <a:ext uri="{FF2B5EF4-FFF2-40B4-BE49-F238E27FC236}">
                <a16:creationId xmlns:a16="http://schemas.microsoft.com/office/drawing/2014/main" xmlns="" id="{91F28A2E-85F9-417A-BF46-78EABF1CE0CA}"/>
              </a:ext>
            </a:extLst>
          </p:cNvPr>
          <p:cNvSpPr/>
          <p:nvPr/>
        </p:nvSpPr>
        <p:spPr>
          <a:xfrm>
            <a:off x="633229" y="2021633"/>
            <a:ext cx="2151556"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r>
              <a:rPr lang="en-GB" sz="1400" dirty="0">
                <a:solidFill>
                  <a:schemeClr val="bg1"/>
                </a:solidFill>
                <a:latin typeface="Arial" panose="020B0604020202020204" pitchFamily="34" charset="0"/>
                <a:cs typeface="Arial" panose="020B0604020202020204" pitchFamily="34" charset="0"/>
              </a:rPr>
              <a:t>Suitability of Criteria</a:t>
            </a:r>
          </a:p>
          <a:p>
            <a:endParaRPr lang="en-GB" sz="1400" dirty="0">
              <a:solidFill>
                <a:schemeClr val="bg1"/>
              </a:solidFill>
              <a:latin typeface="Arial" panose="020B0604020202020204" pitchFamily="34" charset="0"/>
              <a:cs typeface="Arial" panose="020B0604020202020204" pitchFamily="34" charset="0"/>
            </a:endParaRPr>
          </a:p>
          <a:p>
            <a:r>
              <a:rPr lang="en-GB" sz="1400" dirty="0">
                <a:solidFill>
                  <a:schemeClr val="bg1"/>
                </a:solidFill>
                <a:latin typeface="Arial" panose="020B0604020202020204" pitchFamily="34" charset="0"/>
                <a:cs typeface="Arial" panose="020B0604020202020204" pitchFamily="34" charset="0"/>
              </a:rPr>
              <a:t>Materiality Processes</a:t>
            </a:r>
          </a:p>
        </p:txBody>
      </p:sp>
      <p:sp>
        <p:nvSpPr>
          <p:cNvPr id="28" name="TextBox 27">
            <a:extLst>
              <a:ext uri="{FF2B5EF4-FFF2-40B4-BE49-F238E27FC236}">
                <a16:creationId xmlns:a16="http://schemas.microsoft.com/office/drawing/2014/main" xmlns="" id="{27C55610-498B-442D-8D1D-013E6C35C702}"/>
              </a:ext>
            </a:extLst>
          </p:cNvPr>
          <p:cNvSpPr txBox="1"/>
          <p:nvPr/>
        </p:nvSpPr>
        <p:spPr>
          <a:xfrm>
            <a:off x="633228" y="1744628"/>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Chapters 7 and 8</a:t>
            </a:r>
          </a:p>
        </p:txBody>
      </p:sp>
      <p:sp>
        <p:nvSpPr>
          <p:cNvPr id="29" name="TextBox 28">
            <a:extLst>
              <a:ext uri="{FF2B5EF4-FFF2-40B4-BE49-F238E27FC236}">
                <a16:creationId xmlns:a16="http://schemas.microsoft.com/office/drawing/2014/main" xmlns="" id="{8D7CAE7B-09CE-4F59-B933-F03B2CFC8111}"/>
              </a:ext>
            </a:extLst>
          </p:cNvPr>
          <p:cNvSpPr txBox="1"/>
          <p:nvPr/>
        </p:nvSpPr>
        <p:spPr>
          <a:xfrm>
            <a:off x="609600" y="3860999"/>
            <a:ext cx="1940650" cy="369332"/>
          </a:xfrm>
          <a:prstGeom prst="rect">
            <a:avLst/>
          </a:prstGeom>
          <a:noFill/>
        </p:spPr>
        <p:txBody>
          <a:bodyPr wrap="square" rtlCol="0">
            <a:spAutoFit/>
          </a:bodyPr>
          <a:lstStyle/>
          <a:p>
            <a:r>
              <a:rPr lang="en-GB" b="1" dirty="0">
                <a:solidFill>
                  <a:schemeClr val="bg1">
                    <a:lumMod val="50000"/>
                  </a:schemeClr>
                </a:solidFill>
                <a:latin typeface="Arial" panose="020B0604020202020204" pitchFamily="34" charset="0"/>
                <a:cs typeface="Arial" panose="020B0604020202020204" pitchFamily="34" charset="0"/>
              </a:rPr>
              <a:t>Friday</a:t>
            </a:r>
            <a:endParaRPr lang="en-GB" sz="1200" b="1" dirty="0">
              <a:solidFill>
                <a:schemeClr val="bg1">
                  <a:lumMod val="50000"/>
                </a:schemeClr>
              </a:solidFill>
              <a:latin typeface="Arial" panose="020B0604020202020204" pitchFamily="34" charset="0"/>
              <a:cs typeface="Arial" panose="020B0604020202020204" pitchFamily="34" charset="0"/>
            </a:endParaRPr>
          </a:p>
        </p:txBody>
      </p:sp>
      <p:cxnSp>
        <p:nvCxnSpPr>
          <p:cNvPr id="30" name="Straight Connector 29">
            <a:extLst>
              <a:ext uri="{FF2B5EF4-FFF2-40B4-BE49-F238E27FC236}">
                <a16:creationId xmlns:a16="http://schemas.microsoft.com/office/drawing/2014/main" xmlns="" id="{7F0E875F-96C3-4D43-B2E6-6117D5EFD685}"/>
              </a:ext>
            </a:extLst>
          </p:cNvPr>
          <p:cNvCxnSpPr>
            <a:cxnSpLocks/>
          </p:cNvCxnSpPr>
          <p:nvPr/>
        </p:nvCxnSpPr>
        <p:spPr>
          <a:xfrm>
            <a:off x="609600" y="4230331"/>
            <a:ext cx="8629854" cy="0"/>
          </a:xfrm>
          <a:prstGeom prst="line">
            <a:avLst/>
          </a:prstGeom>
          <a:ln w="12700">
            <a:solidFill>
              <a:schemeClr val="bg1">
                <a:lumMod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2" name="Arrow: Chevron 31">
            <a:extLst>
              <a:ext uri="{FF2B5EF4-FFF2-40B4-BE49-F238E27FC236}">
                <a16:creationId xmlns:a16="http://schemas.microsoft.com/office/drawing/2014/main" xmlns="" id="{28B632DE-C7B0-48CE-BA64-9E0B53679897}"/>
              </a:ext>
            </a:extLst>
          </p:cNvPr>
          <p:cNvSpPr/>
          <p:nvPr/>
        </p:nvSpPr>
        <p:spPr>
          <a:xfrm>
            <a:off x="2784785" y="4713223"/>
            <a:ext cx="2151557"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r>
              <a:rPr lang="en-GB" sz="1400" dirty="0">
                <a:solidFill>
                  <a:schemeClr val="bg1"/>
                </a:solidFill>
                <a:latin typeface="Arial" panose="020B0604020202020204" pitchFamily="34" charset="0"/>
                <a:cs typeface="Arial" panose="020B0604020202020204" pitchFamily="34" charset="0"/>
              </a:rPr>
              <a:t>Performing Procedures &amp; Building Assertions</a:t>
            </a:r>
          </a:p>
        </p:txBody>
      </p:sp>
      <p:sp>
        <p:nvSpPr>
          <p:cNvPr id="33" name="TextBox 32">
            <a:extLst>
              <a:ext uri="{FF2B5EF4-FFF2-40B4-BE49-F238E27FC236}">
                <a16:creationId xmlns:a16="http://schemas.microsoft.com/office/drawing/2014/main" xmlns="" id="{40846400-B532-42B5-9A06-C3FDD35741F8}"/>
              </a:ext>
            </a:extLst>
          </p:cNvPr>
          <p:cNvSpPr txBox="1"/>
          <p:nvPr/>
        </p:nvSpPr>
        <p:spPr>
          <a:xfrm>
            <a:off x="2784785" y="4436224"/>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Chapter 9</a:t>
            </a:r>
          </a:p>
        </p:txBody>
      </p:sp>
      <p:sp>
        <p:nvSpPr>
          <p:cNvPr id="34" name="Arrow: Chevron 33">
            <a:extLst>
              <a:ext uri="{FF2B5EF4-FFF2-40B4-BE49-F238E27FC236}">
                <a16:creationId xmlns:a16="http://schemas.microsoft.com/office/drawing/2014/main" xmlns="" id="{E8D1AFDC-C6D0-46D6-A34D-8A9FA12C4651}"/>
              </a:ext>
            </a:extLst>
          </p:cNvPr>
          <p:cNvSpPr/>
          <p:nvPr/>
        </p:nvSpPr>
        <p:spPr>
          <a:xfrm>
            <a:off x="4936341" y="4713223"/>
            <a:ext cx="2151557"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0" bIns="0" numCol="1" spcCol="1270" anchor="ctr" anchorCtr="0">
            <a:noAutofit/>
          </a:bodyPr>
          <a:lstStyle/>
          <a:p>
            <a:pPr>
              <a:spcAft>
                <a:spcPts val="600"/>
              </a:spcAft>
            </a:pPr>
            <a:r>
              <a:rPr lang="en-GB" sz="1400" dirty="0">
                <a:solidFill>
                  <a:schemeClr val="bg1"/>
                </a:solidFill>
                <a:latin typeface="Arial" panose="020B0604020202020204" pitchFamily="34" charset="0"/>
                <a:cs typeface="Arial" panose="020B0604020202020204" pitchFamily="34" charset="0"/>
              </a:rPr>
              <a:t>Narrative</a:t>
            </a:r>
          </a:p>
          <a:p>
            <a:pPr>
              <a:spcAft>
                <a:spcPts val="600"/>
              </a:spcAft>
            </a:pPr>
            <a:r>
              <a:rPr lang="en-GB" sz="1400" dirty="0">
                <a:solidFill>
                  <a:schemeClr val="bg1"/>
                </a:solidFill>
                <a:latin typeface="Arial" panose="020B0604020202020204" pitchFamily="34" charset="0"/>
                <a:cs typeface="Arial" panose="020B0604020202020204" pitchFamily="34" charset="0"/>
              </a:rPr>
              <a:t>Future-Oriented</a:t>
            </a:r>
          </a:p>
          <a:p>
            <a:pPr>
              <a:spcAft>
                <a:spcPts val="600"/>
              </a:spcAft>
            </a:pPr>
            <a:r>
              <a:rPr lang="en-GB" sz="1400" dirty="0">
                <a:solidFill>
                  <a:schemeClr val="bg1"/>
                </a:solidFill>
                <a:latin typeface="Arial" panose="020B0604020202020204" pitchFamily="34" charset="0"/>
                <a:cs typeface="Arial" panose="020B0604020202020204" pitchFamily="34" charset="0"/>
              </a:rPr>
              <a:t>Misstatements</a:t>
            </a:r>
          </a:p>
        </p:txBody>
      </p:sp>
      <p:sp>
        <p:nvSpPr>
          <p:cNvPr id="35" name="TextBox 34">
            <a:extLst>
              <a:ext uri="{FF2B5EF4-FFF2-40B4-BE49-F238E27FC236}">
                <a16:creationId xmlns:a16="http://schemas.microsoft.com/office/drawing/2014/main" xmlns="" id="{90E21FB7-89BA-4EEF-9001-3D8DD67A3C97}"/>
              </a:ext>
            </a:extLst>
          </p:cNvPr>
          <p:cNvSpPr txBox="1"/>
          <p:nvPr/>
        </p:nvSpPr>
        <p:spPr>
          <a:xfrm>
            <a:off x="4936341" y="4436224"/>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Chapters 10, 11 and 12</a:t>
            </a:r>
          </a:p>
        </p:txBody>
      </p:sp>
      <p:sp>
        <p:nvSpPr>
          <p:cNvPr id="36" name="Arrow: Chevron 35">
            <a:extLst>
              <a:ext uri="{FF2B5EF4-FFF2-40B4-BE49-F238E27FC236}">
                <a16:creationId xmlns:a16="http://schemas.microsoft.com/office/drawing/2014/main" xmlns="" id="{3405B657-A338-4377-84AF-2B2EF1B482A2}"/>
              </a:ext>
            </a:extLst>
          </p:cNvPr>
          <p:cNvSpPr/>
          <p:nvPr/>
        </p:nvSpPr>
        <p:spPr>
          <a:xfrm>
            <a:off x="7087897" y="4713223"/>
            <a:ext cx="2151557"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0" bIns="0" numCol="1" spcCol="1270" anchor="ctr" anchorCtr="0">
            <a:noAutofit/>
          </a:bodyPr>
          <a:lstStyle/>
          <a:p>
            <a:r>
              <a:rPr lang="en-GB" sz="1400" b="1" dirty="0">
                <a:solidFill>
                  <a:schemeClr val="bg1"/>
                </a:solidFill>
                <a:latin typeface="Arial" panose="020B0604020202020204" pitchFamily="34" charset="0"/>
                <a:cs typeface="Arial" panose="020B0604020202020204" pitchFamily="34" charset="0"/>
              </a:rPr>
              <a:t>Next Steps </a:t>
            </a:r>
          </a:p>
          <a:p>
            <a:r>
              <a:rPr lang="en-GB" sz="1400" dirty="0">
                <a:solidFill>
                  <a:schemeClr val="bg1"/>
                </a:solidFill>
                <a:latin typeface="Arial" panose="020B0604020202020204" pitchFamily="34" charset="0"/>
                <a:cs typeface="Arial" panose="020B0604020202020204" pitchFamily="34" charset="0"/>
              </a:rPr>
              <a:t>&amp; agree process to finalize the exposure draft</a:t>
            </a:r>
          </a:p>
        </p:txBody>
      </p:sp>
    </p:spTree>
    <p:extLst>
      <p:ext uri="{BB962C8B-B14F-4D97-AF65-F5344CB8AC3E}">
        <p14:creationId xmlns:p14="http://schemas.microsoft.com/office/powerpoint/2010/main" val="4259703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EC1661-148C-4818-814E-189606C6D8E6}"/>
              </a:ext>
            </a:extLst>
          </p:cNvPr>
          <p:cNvSpPr>
            <a:spLocks noGrp="1"/>
          </p:cNvSpPr>
          <p:nvPr>
            <p:ph type="title"/>
          </p:nvPr>
        </p:nvSpPr>
        <p:spPr/>
        <p:txBody>
          <a:bodyPr/>
          <a:lstStyle/>
          <a:p>
            <a:r>
              <a:rPr lang="en-GB" dirty="0"/>
              <a:t>Key issues raised in September</a:t>
            </a:r>
          </a:p>
        </p:txBody>
      </p:sp>
      <p:sp>
        <p:nvSpPr>
          <p:cNvPr id="3" name="Content Placeholder 2">
            <a:extLst>
              <a:ext uri="{FF2B5EF4-FFF2-40B4-BE49-F238E27FC236}">
                <a16:creationId xmlns:a16="http://schemas.microsoft.com/office/drawing/2014/main" xmlns="" id="{C40AC3F7-680B-4716-A4BC-DA5082A4920A}"/>
              </a:ext>
            </a:extLst>
          </p:cNvPr>
          <p:cNvSpPr>
            <a:spLocks noGrp="1"/>
          </p:cNvSpPr>
          <p:nvPr>
            <p:ph idx="1"/>
          </p:nvPr>
        </p:nvSpPr>
        <p:spPr/>
        <p:txBody>
          <a:bodyPr/>
          <a:lstStyle/>
          <a:p>
            <a:pPr marL="696913" indent="-376238">
              <a:lnSpc>
                <a:spcPct val="150000"/>
              </a:lnSpc>
            </a:pPr>
            <a:r>
              <a:rPr lang="en-GB" dirty="0"/>
              <a:t>Guidance covering matters not explicitly addressed in ISAE 3000 (Revised) requirements</a:t>
            </a:r>
          </a:p>
          <a:p>
            <a:pPr marL="1171575" lvl="1" indent="-285750">
              <a:lnSpc>
                <a:spcPct val="150000"/>
              </a:lnSpc>
            </a:pPr>
            <a:r>
              <a:rPr lang="en-GB" dirty="0">
                <a:solidFill>
                  <a:schemeClr val="accent1"/>
                </a:solidFill>
              </a:rPr>
              <a:t>Preconditions</a:t>
            </a:r>
            <a:r>
              <a:rPr lang="en-GB" dirty="0"/>
              <a:t> </a:t>
            </a:r>
            <a:r>
              <a:rPr lang="en-GB" dirty="0">
                <a:solidFill>
                  <a:schemeClr val="accent1"/>
                </a:solidFill>
              </a:rPr>
              <a:t>for an assurance engagement</a:t>
            </a:r>
          </a:p>
          <a:p>
            <a:pPr marL="1171575" lvl="1" indent="-285750">
              <a:lnSpc>
                <a:spcPct val="150000"/>
              </a:lnSpc>
            </a:pPr>
            <a:r>
              <a:rPr lang="en-GB" dirty="0">
                <a:solidFill>
                  <a:schemeClr val="accent1"/>
                </a:solidFill>
              </a:rPr>
              <a:t>Assertions</a:t>
            </a:r>
          </a:p>
          <a:p>
            <a:pPr marL="696913" indent="-376238">
              <a:lnSpc>
                <a:spcPct val="150000"/>
              </a:lnSpc>
            </a:pPr>
            <a:r>
              <a:rPr lang="en-GB" dirty="0"/>
              <a:t>Consistency with ISAE 3000 (Revised) requirements</a:t>
            </a:r>
          </a:p>
          <a:p>
            <a:pPr marL="1171575" lvl="1" indent="-285750">
              <a:lnSpc>
                <a:spcPct val="150000"/>
              </a:lnSpc>
            </a:pPr>
            <a:r>
              <a:rPr lang="en-GB" dirty="0">
                <a:solidFill>
                  <a:schemeClr val="accent1"/>
                </a:solidFill>
              </a:rPr>
              <a:t>Suitability of criteria</a:t>
            </a:r>
          </a:p>
          <a:p>
            <a:pPr marL="1171575" lvl="1" indent="-285750">
              <a:lnSpc>
                <a:spcPct val="150000"/>
              </a:lnSpc>
            </a:pPr>
            <a:r>
              <a:rPr lang="en-GB" dirty="0">
                <a:solidFill>
                  <a:schemeClr val="accent1"/>
                </a:solidFill>
              </a:rPr>
              <a:t>Materiality</a:t>
            </a:r>
          </a:p>
          <a:p>
            <a:pPr marL="696913" indent="-376238">
              <a:lnSpc>
                <a:spcPct val="150000"/>
              </a:lnSpc>
            </a:pPr>
            <a:r>
              <a:rPr lang="en-GB" dirty="0"/>
              <a:t>Other</a:t>
            </a:r>
          </a:p>
          <a:p>
            <a:pPr marL="1171575" lvl="1" indent="-285750">
              <a:lnSpc>
                <a:spcPct val="150000"/>
              </a:lnSpc>
            </a:pPr>
            <a:r>
              <a:rPr lang="en-GB" dirty="0"/>
              <a:t>See issues paper</a:t>
            </a:r>
          </a:p>
        </p:txBody>
      </p:sp>
      <p:sp>
        <p:nvSpPr>
          <p:cNvPr id="4" name="Slide Number Placeholder 3">
            <a:extLst>
              <a:ext uri="{FF2B5EF4-FFF2-40B4-BE49-F238E27FC236}">
                <a16:creationId xmlns:a16="http://schemas.microsoft.com/office/drawing/2014/main" xmlns="" id="{36B6E8DA-69C5-43D2-8167-074C120DB86E}"/>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C2E4E583-09E4-492D-A87D-DCFDF6AFB028}"/>
              </a:ext>
            </a:extLst>
          </p:cNvPr>
          <p:cNvGrpSpPr/>
          <p:nvPr/>
        </p:nvGrpSpPr>
        <p:grpSpPr>
          <a:xfrm>
            <a:off x="6991787" y="2126031"/>
            <a:ext cx="1462703" cy="400109"/>
            <a:chOff x="580723" y="5598647"/>
            <a:chExt cx="1462703" cy="400109"/>
          </a:xfrm>
        </p:grpSpPr>
        <p:sp>
          <p:nvSpPr>
            <p:cNvPr id="6" name="Rectangle 5">
              <a:extLst>
                <a:ext uri="{FF2B5EF4-FFF2-40B4-BE49-F238E27FC236}">
                  <a16:creationId xmlns:a16="http://schemas.microsoft.com/office/drawing/2014/main" xmlns="" id="{C6E733E0-21DF-4C6E-9B26-7B9278B03D39}"/>
                </a:ext>
              </a:extLst>
            </p:cNvPr>
            <p:cNvSpPr/>
            <p:nvPr/>
          </p:nvSpPr>
          <p:spPr>
            <a:xfrm>
              <a:off x="609597" y="5598647"/>
              <a:ext cx="1433829" cy="400109"/>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dirty="0">
                  <a:latin typeface="Arial" panose="020B0604020202020204" pitchFamily="34" charset="0"/>
                  <a:cs typeface="Arial" panose="020B0604020202020204" pitchFamily="34" charset="0"/>
                </a:rPr>
                <a:t>Chapter 3</a:t>
              </a:r>
            </a:p>
          </p:txBody>
        </p:sp>
        <p:pic>
          <p:nvPicPr>
            <p:cNvPr id="7" name="Graphic 6" descr="Document">
              <a:extLst>
                <a:ext uri="{FF2B5EF4-FFF2-40B4-BE49-F238E27FC236}">
                  <a16:creationId xmlns:a16="http://schemas.microsoft.com/office/drawing/2014/main" xmlns="" id="{52EEC6CB-9312-4996-B8F8-A13661C673B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80723" y="5598647"/>
              <a:ext cx="400109" cy="400109"/>
            </a:xfrm>
            <a:prstGeom prst="rect">
              <a:avLst/>
            </a:prstGeom>
          </p:spPr>
        </p:pic>
      </p:grpSp>
      <p:grpSp>
        <p:nvGrpSpPr>
          <p:cNvPr id="8" name="Group 7">
            <a:extLst>
              <a:ext uri="{FF2B5EF4-FFF2-40B4-BE49-F238E27FC236}">
                <a16:creationId xmlns:a16="http://schemas.microsoft.com/office/drawing/2014/main" xmlns="" id="{1A0B09BE-FD9C-43BE-81DF-10E85D422A1D}"/>
              </a:ext>
            </a:extLst>
          </p:cNvPr>
          <p:cNvGrpSpPr/>
          <p:nvPr/>
        </p:nvGrpSpPr>
        <p:grpSpPr>
          <a:xfrm>
            <a:off x="6991787" y="2642437"/>
            <a:ext cx="1462703" cy="400109"/>
            <a:chOff x="580723" y="5598647"/>
            <a:chExt cx="1462703" cy="400109"/>
          </a:xfrm>
        </p:grpSpPr>
        <p:sp>
          <p:nvSpPr>
            <p:cNvPr id="9" name="Rectangle 8">
              <a:extLst>
                <a:ext uri="{FF2B5EF4-FFF2-40B4-BE49-F238E27FC236}">
                  <a16:creationId xmlns:a16="http://schemas.microsoft.com/office/drawing/2014/main" xmlns="" id="{338E12EA-FF0A-49DB-8D28-36F597371F8B}"/>
                </a:ext>
              </a:extLst>
            </p:cNvPr>
            <p:cNvSpPr/>
            <p:nvPr/>
          </p:nvSpPr>
          <p:spPr>
            <a:xfrm>
              <a:off x="609597" y="5598647"/>
              <a:ext cx="1433829" cy="400109"/>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dirty="0">
                  <a:latin typeface="Arial" panose="020B0604020202020204" pitchFamily="34" charset="0"/>
                  <a:cs typeface="Arial" panose="020B0604020202020204" pitchFamily="34" charset="0"/>
                </a:rPr>
                <a:t>Chapter 9</a:t>
              </a:r>
            </a:p>
          </p:txBody>
        </p:sp>
        <p:pic>
          <p:nvPicPr>
            <p:cNvPr id="10" name="Graphic 9" descr="Document">
              <a:extLst>
                <a:ext uri="{FF2B5EF4-FFF2-40B4-BE49-F238E27FC236}">
                  <a16:creationId xmlns:a16="http://schemas.microsoft.com/office/drawing/2014/main" xmlns="" id="{6C4E7BD0-8A7F-473B-859D-471B27D9481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80723" y="5598647"/>
              <a:ext cx="400109" cy="400109"/>
            </a:xfrm>
            <a:prstGeom prst="rect">
              <a:avLst/>
            </a:prstGeom>
          </p:spPr>
        </p:pic>
      </p:grpSp>
      <p:grpSp>
        <p:nvGrpSpPr>
          <p:cNvPr id="11" name="Group 10">
            <a:extLst>
              <a:ext uri="{FF2B5EF4-FFF2-40B4-BE49-F238E27FC236}">
                <a16:creationId xmlns:a16="http://schemas.microsoft.com/office/drawing/2014/main" xmlns="" id="{F7677F89-5BE8-468D-A9CD-3A4C174D59F2}"/>
              </a:ext>
            </a:extLst>
          </p:cNvPr>
          <p:cNvGrpSpPr/>
          <p:nvPr/>
        </p:nvGrpSpPr>
        <p:grpSpPr>
          <a:xfrm>
            <a:off x="6991787" y="3815454"/>
            <a:ext cx="1462703" cy="400109"/>
            <a:chOff x="580723" y="5598647"/>
            <a:chExt cx="1462703" cy="400109"/>
          </a:xfrm>
        </p:grpSpPr>
        <p:sp>
          <p:nvSpPr>
            <p:cNvPr id="12" name="Rectangle 11">
              <a:extLst>
                <a:ext uri="{FF2B5EF4-FFF2-40B4-BE49-F238E27FC236}">
                  <a16:creationId xmlns:a16="http://schemas.microsoft.com/office/drawing/2014/main" xmlns="" id="{C680DC09-B25F-4A18-AF81-83A3BAB91341}"/>
                </a:ext>
              </a:extLst>
            </p:cNvPr>
            <p:cNvSpPr/>
            <p:nvPr/>
          </p:nvSpPr>
          <p:spPr>
            <a:xfrm>
              <a:off x="609597" y="5598647"/>
              <a:ext cx="1433829" cy="400109"/>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dirty="0">
                  <a:latin typeface="Arial" panose="020B0604020202020204" pitchFamily="34" charset="0"/>
                  <a:cs typeface="Arial" panose="020B0604020202020204" pitchFamily="34" charset="0"/>
                </a:rPr>
                <a:t>Chapter 7</a:t>
              </a:r>
            </a:p>
          </p:txBody>
        </p:sp>
        <p:pic>
          <p:nvPicPr>
            <p:cNvPr id="13" name="Graphic 12" descr="Document">
              <a:extLst>
                <a:ext uri="{FF2B5EF4-FFF2-40B4-BE49-F238E27FC236}">
                  <a16:creationId xmlns:a16="http://schemas.microsoft.com/office/drawing/2014/main" xmlns="" id="{89CC53D8-EF83-474C-8FF3-B59C12B8CCA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80723" y="5598647"/>
              <a:ext cx="400109" cy="400109"/>
            </a:xfrm>
            <a:prstGeom prst="rect">
              <a:avLst/>
            </a:prstGeom>
          </p:spPr>
        </p:pic>
      </p:grpSp>
      <p:grpSp>
        <p:nvGrpSpPr>
          <p:cNvPr id="14" name="Group 13">
            <a:extLst>
              <a:ext uri="{FF2B5EF4-FFF2-40B4-BE49-F238E27FC236}">
                <a16:creationId xmlns:a16="http://schemas.microsoft.com/office/drawing/2014/main" xmlns="" id="{BFE83EED-31FB-4FC7-A0A7-CF3BC713657D}"/>
              </a:ext>
            </a:extLst>
          </p:cNvPr>
          <p:cNvGrpSpPr/>
          <p:nvPr/>
        </p:nvGrpSpPr>
        <p:grpSpPr>
          <a:xfrm>
            <a:off x="6991787" y="4367963"/>
            <a:ext cx="1462703" cy="400109"/>
            <a:chOff x="580723" y="5598647"/>
            <a:chExt cx="1462703" cy="400109"/>
          </a:xfrm>
        </p:grpSpPr>
        <p:sp>
          <p:nvSpPr>
            <p:cNvPr id="15" name="Rectangle 14">
              <a:extLst>
                <a:ext uri="{FF2B5EF4-FFF2-40B4-BE49-F238E27FC236}">
                  <a16:creationId xmlns:a16="http://schemas.microsoft.com/office/drawing/2014/main" xmlns="" id="{48079FEA-E4BA-4835-B993-76937F02BBDC}"/>
                </a:ext>
              </a:extLst>
            </p:cNvPr>
            <p:cNvSpPr/>
            <p:nvPr/>
          </p:nvSpPr>
          <p:spPr>
            <a:xfrm>
              <a:off x="609597" y="5598647"/>
              <a:ext cx="1433829" cy="400109"/>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dirty="0">
                  <a:latin typeface="Arial" panose="020B0604020202020204" pitchFamily="34" charset="0"/>
                  <a:cs typeface="Arial" panose="020B0604020202020204" pitchFamily="34" charset="0"/>
                </a:rPr>
                <a:t>Chapter 8</a:t>
              </a:r>
            </a:p>
          </p:txBody>
        </p:sp>
        <p:pic>
          <p:nvPicPr>
            <p:cNvPr id="16" name="Graphic 15" descr="Document">
              <a:extLst>
                <a:ext uri="{FF2B5EF4-FFF2-40B4-BE49-F238E27FC236}">
                  <a16:creationId xmlns:a16="http://schemas.microsoft.com/office/drawing/2014/main" xmlns="" id="{4CBD99D7-C0FA-426B-9515-84384A58EB4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80723" y="5598647"/>
              <a:ext cx="400109" cy="400109"/>
            </a:xfrm>
            <a:prstGeom prst="rect">
              <a:avLst/>
            </a:prstGeom>
          </p:spPr>
        </p:pic>
      </p:grpSp>
      <p:sp>
        <p:nvSpPr>
          <p:cNvPr id="17" name="Flowchart: Alternate Process 16">
            <a:extLst>
              <a:ext uri="{FF2B5EF4-FFF2-40B4-BE49-F238E27FC236}">
                <a16:creationId xmlns:a16="http://schemas.microsoft.com/office/drawing/2014/main" xmlns="" id="{50A6C87E-5369-43C5-9D25-E6E3B134BB55}"/>
              </a:ext>
            </a:extLst>
          </p:cNvPr>
          <p:cNvSpPr/>
          <p:nvPr/>
        </p:nvSpPr>
        <p:spPr>
          <a:xfrm>
            <a:off x="8748473" y="2121985"/>
            <a:ext cx="1433829" cy="400109"/>
          </a:xfrm>
          <a:prstGeom prst="flowChartAlternateProcess">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1" algn="ctr"/>
            <a:r>
              <a:rPr lang="en-GB" sz="1200" dirty="0">
                <a:latin typeface="Arial" panose="020B0604020202020204" pitchFamily="34" charset="0"/>
                <a:cs typeface="Arial" panose="020B0604020202020204" pitchFamily="34" charset="0"/>
              </a:rPr>
              <a:t>Wednesday</a:t>
            </a:r>
          </a:p>
        </p:txBody>
      </p:sp>
      <p:sp>
        <p:nvSpPr>
          <p:cNvPr id="18" name="Flowchart: Alternate Process 17">
            <a:extLst>
              <a:ext uri="{FF2B5EF4-FFF2-40B4-BE49-F238E27FC236}">
                <a16:creationId xmlns:a16="http://schemas.microsoft.com/office/drawing/2014/main" xmlns="" id="{E5F93182-2ADB-4F0F-8F7D-7FCE1A244C39}"/>
              </a:ext>
            </a:extLst>
          </p:cNvPr>
          <p:cNvSpPr/>
          <p:nvPr/>
        </p:nvSpPr>
        <p:spPr>
          <a:xfrm>
            <a:off x="8748473" y="2642436"/>
            <a:ext cx="1433829" cy="400109"/>
          </a:xfrm>
          <a:prstGeom prst="flowChartAlternateProcess">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1" algn="ctr"/>
            <a:r>
              <a:rPr lang="en-GB" sz="1200" dirty="0">
                <a:latin typeface="Arial" panose="020B0604020202020204" pitchFamily="34" charset="0"/>
                <a:cs typeface="Arial" panose="020B0604020202020204" pitchFamily="34" charset="0"/>
              </a:rPr>
              <a:t>Friday</a:t>
            </a:r>
          </a:p>
        </p:txBody>
      </p:sp>
      <p:sp>
        <p:nvSpPr>
          <p:cNvPr id="19" name="Flowchart: Alternate Process 18">
            <a:extLst>
              <a:ext uri="{FF2B5EF4-FFF2-40B4-BE49-F238E27FC236}">
                <a16:creationId xmlns:a16="http://schemas.microsoft.com/office/drawing/2014/main" xmlns="" id="{AAF56719-6418-4186-BF2A-A668F438C6F6}"/>
              </a:ext>
            </a:extLst>
          </p:cNvPr>
          <p:cNvSpPr/>
          <p:nvPr/>
        </p:nvSpPr>
        <p:spPr>
          <a:xfrm>
            <a:off x="8748472" y="3815453"/>
            <a:ext cx="1433829" cy="400109"/>
          </a:xfrm>
          <a:prstGeom prst="flowChartAlternateProcess">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1" algn="ctr"/>
            <a:r>
              <a:rPr lang="en-GB" sz="1200" dirty="0">
                <a:latin typeface="Arial" panose="020B0604020202020204" pitchFamily="34" charset="0"/>
                <a:cs typeface="Arial" panose="020B0604020202020204" pitchFamily="34" charset="0"/>
              </a:rPr>
              <a:t>Wednesday</a:t>
            </a:r>
          </a:p>
        </p:txBody>
      </p:sp>
      <p:sp>
        <p:nvSpPr>
          <p:cNvPr id="20" name="Flowchart: Alternate Process 19">
            <a:extLst>
              <a:ext uri="{FF2B5EF4-FFF2-40B4-BE49-F238E27FC236}">
                <a16:creationId xmlns:a16="http://schemas.microsoft.com/office/drawing/2014/main" xmlns="" id="{80E329BB-B8D6-4D90-8F4C-5554A4C1345B}"/>
              </a:ext>
            </a:extLst>
          </p:cNvPr>
          <p:cNvSpPr/>
          <p:nvPr/>
        </p:nvSpPr>
        <p:spPr>
          <a:xfrm>
            <a:off x="8748472" y="4369441"/>
            <a:ext cx="1433829" cy="400109"/>
          </a:xfrm>
          <a:prstGeom prst="flowChartAlternateProcess">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1" algn="ctr"/>
            <a:r>
              <a:rPr lang="en-GB" sz="1200" dirty="0">
                <a:latin typeface="Arial" panose="020B0604020202020204" pitchFamily="34" charset="0"/>
                <a:cs typeface="Arial" panose="020B0604020202020204" pitchFamily="34" charset="0"/>
              </a:rPr>
              <a:t>Wednesday</a:t>
            </a:r>
          </a:p>
        </p:txBody>
      </p:sp>
    </p:spTree>
    <p:extLst>
      <p:ext uri="{BB962C8B-B14F-4D97-AF65-F5344CB8AC3E}">
        <p14:creationId xmlns:p14="http://schemas.microsoft.com/office/powerpoint/2010/main" val="1122715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
        <p:nvSpPr>
          <p:cNvPr id="13" name="Rectangle 12">
            <a:extLst>
              <a:ext uri="{FF2B5EF4-FFF2-40B4-BE49-F238E27FC236}">
                <a16:creationId xmlns:a16="http://schemas.microsoft.com/office/drawing/2014/main" xmlns="" id="{EED3361B-A10C-4DA3-BE1D-CFB5D26BF285}"/>
              </a:ext>
            </a:extLst>
          </p:cNvPr>
          <p:cNvSpPr/>
          <p:nvPr/>
        </p:nvSpPr>
        <p:spPr>
          <a:xfrm>
            <a:off x="605314" y="1785926"/>
            <a:ext cx="5084768" cy="2739211"/>
          </a:xfrm>
          <a:prstGeom prst="rect">
            <a:avLst/>
          </a:prstGeom>
        </p:spPr>
        <p:txBody>
          <a:bodyPr wrap="square">
            <a:spAutoFit/>
          </a:bodyPr>
          <a:lstStyle/>
          <a:p>
            <a:pPr>
              <a:spcAft>
                <a:spcPts val="1200"/>
              </a:spcAft>
            </a:pPr>
            <a:r>
              <a:rPr lang="en-GB" sz="3200" b="1" dirty="0">
                <a:solidFill>
                  <a:srgbClr val="808080"/>
                </a:solidFill>
                <a:latin typeface="Arial" panose="020B0604020202020204" pitchFamily="34" charset="0"/>
                <a:cs typeface="Arial" panose="020B0604020202020204" pitchFamily="34" charset="0"/>
              </a:rPr>
              <a:t>Consistency with ISAE 3000 (Revised) requirements</a:t>
            </a:r>
          </a:p>
          <a:p>
            <a:pPr marL="457200" indent="-457200">
              <a:spcAft>
                <a:spcPts val="1200"/>
              </a:spcAft>
              <a:buFont typeface="Arial" panose="020B0604020202020204" pitchFamily="34" charset="0"/>
              <a:buChar char="•"/>
            </a:pPr>
            <a:r>
              <a:rPr lang="en-GB" sz="2800" dirty="0">
                <a:solidFill>
                  <a:srgbClr val="808080"/>
                </a:solidFill>
                <a:latin typeface="Arial" panose="020B0604020202020204" pitchFamily="34" charset="0"/>
                <a:cs typeface="Arial" panose="020B0604020202020204" pitchFamily="34" charset="0"/>
              </a:rPr>
              <a:t>Suitability of criteria</a:t>
            </a:r>
          </a:p>
          <a:p>
            <a:pPr marL="457200" indent="-457200">
              <a:spcAft>
                <a:spcPts val="1200"/>
              </a:spcAft>
              <a:buFont typeface="Arial" panose="020B0604020202020204" pitchFamily="34" charset="0"/>
              <a:buChar char="•"/>
            </a:pPr>
            <a:r>
              <a:rPr lang="en-GB" sz="2800" dirty="0">
                <a:solidFill>
                  <a:srgbClr val="808080"/>
                </a:solidFill>
                <a:latin typeface="Arial" panose="020B0604020202020204" pitchFamily="34" charset="0"/>
                <a:cs typeface="Arial" panose="020B0604020202020204" pitchFamily="34" charset="0"/>
              </a:rPr>
              <a:t>Materiality</a:t>
            </a:r>
          </a:p>
        </p:txBody>
      </p:sp>
      <p:pic>
        <p:nvPicPr>
          <p:cNvPr id="18" name="Picture 17">
            <a:extLst>
              <a:ext uri="{FF2B5EF4-FFF2-40B4-BE49-F238E27FC236}">
                <a16:creationId xmlns:a16="http://schemas.microsoft.com/office/drawing/2014/main" xmlns="" id="{19AFBC3B-87B1-4987-A5BE-2A0E6F6642FB}"/>
              </a:ext>
            </a:extLst>
          </p:cNvPr>
          <p:cNvPicPr>
            <a:picLocks noChangeAspect="1"/>
          </p:cNvPicPr>
          <p:nvPr/>
        </p:nvPicPr>
        <p:blipFill>
          <a:blip r:embed="rId3"/>
          <a:stretch>
            <a:fillRect/>
          </a:stretch>
        </p:blipFill>
        <p:spPr>
          <a:xfrm rot="451605">
            <a:off x="7937557" y="1550535"/>
            <a:ext cx="2151070" cy="3053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Picture 19">
            <a:extLst>
              <a:ext uri="{FF2B5EF4-FFF2-40B4-BE49-F238E27FC236}">
                <a16:creationId xmlns:a16="http://schemas.microsoft.com/office/drawing/2014/main" xmlns="" id="{7007757C-479A-4AE5-BD66-424A44816A8D}"/>
              </a:ext>
            </a:extLst>
          </p:cNvPr>
          <p:cNvPicPr>
            <a:picLocks noChangeAspect="1"/>
          </p:cNvPicPr>
          <p:nvPr/>
        </p:nvPicPr>
        <p:blipFill>
          <a:blip r:embed="rId4"/>
          <a:stretch>
            <a:fillRect/>
          </a:stretch>
        </p:blipFill>
        <p:spPr>
          <a:xfrm rot="21325174">
            <a:off x="7257305" y="2483592"/>
            <a:ext cx="2078274" cy="29388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33951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079E45-4549-4507-ACC0-B05D287C501C}"/>
              </a:ext>
            </a:extLst>
          </p:cNvPr>
          <p:cNvSpPr>
            <a:spLocks noGrp="1"/>
          </p:cNvSpPr>
          <p:nvPr>
            <p:ph type="title"/>
          </p:nvPr>
        </p:nvSpPr>
        <p:spPr/>
        <p:txBody>
          <a:bodyPr/>
          <a:lstStyle/>
          <a:p>
            <a:r>
              <a:rPr lang="en-GB" dirty="0"/>
              <a:t>Suitability of Criteria</a:t>
            </a:r>
          </a:p>
        </p:txBody>
      </p:sp>
      <p:sp>
        <p:nvSpPr>
          <p:cNvPr id="3" name="Content Placeholder 2">
            <a:extLst>
              <a:ext uri="{FF2B5EF4-FFF2-40B4-BE49-F238E27FC236}">
                <a16:creationId xmlns:a16="http://schemas.microsoft.com/office/drawing/2014/main" xmlns="" id="{1DBE0944-49BA-4C50-8ED0-31D35BB98585}"/>
              </a:ext>
            </a:extLst>
          </p:cNvPr>
          <p:cNvSpPr>
            <a:spLocks noGrp="1"/>
          </p:cNvSpPr>
          <p:nvPr>
            <p:ph idx="1"/>
          </p:nvPr>
        </p:nvSpPr>
        <p:spPr>
          <a:xfrm>
            <a:off x="609600" y="1425234"/>
            <a:ext cx="7080173" cy="2854157"/>
          </a:xfrm>
        </p:spPr>
        <p:txBody>
          <a:bodyPr/>
          <a:lstStyle/>
          <a:p>
            <a:r>
              <a:rPr lang="en-GB" dirty="0"/>
              <a:t>Criteria </a:t>
            </a:r>
            <a:r>
              <a:rPr lang="en-GB" dirty="0">
                <a:solidFill>
                  <a:schemeClr val="accent1"/>
                </a:solidFill>
              </a:rPr>
              <a:t>must be suitable </a:t>
            </a:r>
            <a:r>
              <a:rPr lang="en-GB" dirty="0"/>
              <a:t>in order for a practitioner to be able to accept the engagement – there are no ways around this.</a:t>
            </a:r>
          </a:p>
          <a:p>
            <a:r>
              <a:rPr lang="en-GB" dirty="0"/>
              <a:t>Some </a:t>
            </a:r>
            <a:r>
              <a:rPr lang="en-GB" dirty="0">
                <a:solidFill>
                  <a:schemeClr val="accent1"/>
                </a:solidFill>
              </a:rPr>
              <a:t>measurement or evaluation uncertainty </a:t>
            </a:r>
            <a:r>
              <a:rPr lang="en-GB" dirty="0"/>
              <a:t>may exist, giving rise to some subjectivity. The criteria may still be </a:t>
            </a:r>
            <a:r>
              <a:rPr lang="en-GB" u="sng" dirty="0"/>
              <a:t>reliable</a:t>
            </a:r>
            <a:r>
              <a:rPr lang="en-GB" dirty="0"/>
              <a:t> if they allow </a:t>
            </a:r>
            <a:r>
              <a:rPr lang="en-GB" u="sng" dirty="0"/>
              <a:t>reasonably consistent</a:t>
            </a:r>
            <a:r>
              <a:rPr lang="en-GB" dirty="0"/>
              <a:t> measurement or evaluation.</a:t>
            </a:r>
          </a:p>
          <a:p>
            <a:r>
              <a:rPr lang="en-GB" dirty="0"/>
              <a:t>Supporting </a:t>
            </a:r>
            <a:r>
              <a:rPr lang="en-GB" dirty="0">
                <a:solidFill>
                  <a:schemeClr val="accent1"/>
                </a:solidFill>
              </a:rPr>
              <a:t>disclosure</a:t>
            </a:r>
            <a:r>
              <a:rPr lang="en-GB" dirty="0"/>
              <a:t> </a:t>
            </a:r>
            <a:r>
              <a:rPr lang="en-GB" dirty="0">
                <a:solidFill>
                  <a:schemeClr val="accent1"/>
                </a:solidFill>
              </a:rPr>
              <a:t>about the level of uncertainty </a:t>
            </a:r>
            <a:r>
              <a:rPr lang="en-GB" dirty="0"/>
              <a:t>or precision may need to be included in the EER report.</a:t>
            </a:r>
          </a:p>
        </p:txBody>
      </p:sp>
      <p:sp>
        <p:nvSpPr>
          <p:cNvPr id="4" name="Slide Number Placeholder 3">
            <a:extLst>
              <a:ext uri="{FF2B5EF4-FFF2-40B4-BE49-F238E27FC236}">
                <a16:creationId xmlns:a16="http://schemas.microsoft.com/office/drawing/2014/main" xmlns="" id="{6C4D6DD9-C884-48D5-8B6C-4ACC73D96E8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E60D7C64-6004-49D3-9A59-383B44495453}"/>
              </a:ext>
            </a:extLst>
          </p:cNvPr>
          <p:cNvGrpSpPr/>
          <p:nvPr/>
        </p:nvGrpSpPr>
        <p:grpSpPr>
          <a:xfrm>
            <a:off x="9905146" y="1394108"/>
            <a:ext cx="2003273" cy="599665"/>
            <a:chOff x="9856378" y="5709685"/>
            <a:chExt cx="2003273" cy="599665"/>
          </a:xfrm>
        </p:grpSpPr>
        <p:sp>
          <p:nvSpPr>
            <p:cNvPr id="6" name="Rectangle 5">
              <a:extLst>
                <a:ext uri="{FF2B5EF4-FFF2-40B4-BE49-F238E27FC236}">
                  <a16:creationId xmlns:a16="http://schemas.microsoft.com/office/drawing/2014/main" xmlns="" id="{922817A2-E09D-40AB-B0DF-B49C5E13F9CD}"/>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19-23</a:t>
              </a:r>
            </a:p>
          </p:txBody>
        </p:sp>
        <p:pic>
          <p:nvPicPr>
            <p:cNvPr id="7" name="Graphic 6" descr="Document">
              <a:extLst>
                <a:ext uri="{FF2B5EF4-FFF2-40B4-BE49-F238E27FC236}">
                  <a16:creationId xmlns:a16="http://schemas.microsoft.com/office/drawing/2014/main" xmlns="" id="{D69AC8E5-292C-460B-BDAF-8FC197BC0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pic>
        <p:nvPicPr>
          <p:cNvPr id="8" name="Picture 7">
            <a:extLst>
              <a:ext uri="{FF2B5EF4-FFF2-40B4-BE49-F238E27FC236}">
                <a16:creationId xmlns:a16="http://schemas.microsoft.com/office/drawing/2014/main" xmlns="" id="{4B8B1980-83E2-409D-823F-E94F6252EF9D}"/>
              </a:ext>
            </a:extLst>
          </p:cNvPr>
          <p:cNvPicPr>
            <a:picLocks noChangeAspect="1"/>
          </p:cNvPicPr>
          <p:nvPr/>
        </p:nvPicPr>
        <p:blipFill>
          <a:blip r:embed="rId5"/>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8481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079E45-4549-4507-ACC0-B05D287C501C}"/>
              </a:ext>
            </a:extLst>
          </p:cNvPr>
          <p:cNvSpPr>
            <a:spLocks noGrp="1"/>
          </p:cNvSpPr>
          <p:nvPr>
            <p:ph type="title"/>
          </p:nvPr>
        </p:nvSpPr>
        <p:spPr/>
        <p:txBody>
          <a:bodyPr/>
          <a:lstStyle/>
          <a:p>
            <a:r>
              <a:rPr lang="en-GB" dirty="0"/>
              <a:t>‘Materiality Process’</a:t>
            </a:r>
          </a:p>
        </p:txBody>
      </p:sp>
      <p:sp>
        <p:nvSpPr>
          <p:cNvPr id="4" name="Slide Number Placeholder 3">
            <a:extLst>
              <a:ext uri="{FF2B5EF4-FFF2-40B4-BE49-F238E27FC236}">
                <a16:creationId xmlns:a16="http://schemas.microsoft.com/office/drawing/2014/main" xmlns="" id="{6C4D6DD9-C884-48D5-8B6C-4ACC73D96E8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E60D7C64-6004-49D3-9A59-383B44495453}"/>
              </a:ext>
            </a:extLst>
          </p:cNvPr>
          <p:cNvGrpSpPr/>
          <p:nvPr/>
        </p:nvGrpSpPr>
        <p:grpSpPr>
          <a:xfrm>
            <a:off x="9905146" y="1394108"/>
            <a:ext cx="2003273" cy="599665"/>
            <a:chOff x="9856378" y="5709685"/>
            <a:chExt cx="2003273" cy="599665"/>
          </a:xfrm>
        </p:grpSpPr>
        <p:sp>
          <p:nvSpPr>
            <p:cNvPr id="6" name="Rectangle 5">
              <a:extLst>
                <a:ext uri="{FF2B5EF4-FFF2-40B4-BE49-F238E27FC236}">
                  <a16:creationId xmlns:a16="http://schemas.microsoft.com/office/drawing/2014/main" xmlns="" id="{922817A2-E09D-40AB-B0DF-B49C5E13F9CD}"/>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24-32</a:t>
              </a:r>
            </a:p>
          </p:txBody>
        </p:sp>
        <p:pic>
          <p:nvPicPr>
            <p:cNvPr id="7" name="Graphic 6" descr="Document">
              <a:extLst>
                <a:ext uri="{FF2B5EF4-FFF2-40B4-BE49-F238E27FC236}">
                  <a16:creationId xmlns:a16="http://schemas.microsoft.com/office/drawing/2014/main" xmlns="" id="{D69AC8E5-292C-460B-BDAF-8FC197BC0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sp>
        <p:nvSpPr>
          <p:cNvPr id="20" name="Content Placeholder 2">
            <a:extLst>
              <a:ext uri="{FF2B5EF4-FFF2-40B4-BE49-F238E27FC236}">
                <a16:creationId xmlns:a16="http://schemas.microsoft.com/office/drawing/2014/main" xmlns="" id="{B9319141-9E04-4A78-875E-4CFA4F201F88}"/>
              </a:ext>
            </a:extLst>
          </p:cNvPr>
          <p:cNvSpPr txBox="1">
            <a:spLocks/>
          </p:cNvSpPr>
          <p:nvPr/>
        </p:nvSpPr>
        <p:spPr>
          <a:xfrm>
            <a:off x="609600" y="1425234"/>
            <a:ext cx="7295536" cy="3506530"/>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t>A ‘</a:t>
            </a:r>
            <a:r>
              <a:rPr lang="en-GB" b="1" dirty="0"/>
              <a:t>materiality process</a:t>
            </a:r>
            <a:r>
              <a:rPr lang="en-GB" dirty="0"/>
              <a:t>’ is part of developing suitable criteria. This is what is covered in Chapter 8 of our guidance.</a:t>
            </a:r>
          </a:p>
          <a:p>
            <a:r>
              <a:rPr lang="en-GB" dirty="0"/>
              <a:t>ISAE 3000 (Revised) mainly uses the term ‘materiality’ in relation to misstatements (Chapter 12 of our guidance), however ‘materiality process’ is the term widely used in practice for a preparer to develop relevant criteria.</a:t>
            </a:r>
          </a:p>
          <a:p>
            <a:r>
              <a:rPr lang="en-GB" dirty="0"/>
              <a:t>Criteria from reporting frameworks are often not suitable on their own – they have to be developed further or supplemented by entity-developed criteria.</a:t>
            </a:r>
          </a:p>
        </p:txBody>
      </p:sp>
      <p:pic>
        <p:nvPicPr>
          <p:cNvPr id="31" name="Picture 30">
            <a:extLst>
              <a:ext uri="{FF2B5EF4-FFF2-40B4-BE49-F238E27FC236}">
                <a16:creationId xmlns:a16="http://schemas.microsoft.com/office/drawing/2014/main" xmlns="" id="{90C94D42-9BF7-48ED-BF5E-7EF7DE2275C7}"/>
              </a:ext>
            </a:extLst>
          </p:cNvPr>
          <p:cNvPicPr>
            <a:picLocks noChangeAspect="1"/>
          </p:cNvPicPr>
          <p:nvPr/>
        </p:nvPicPr>
        <p:blipFill>
          <a:blip r:embed="rId5"/>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20365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079E45-4549-4507-ACC0-B05D287C501C}"/>
              </a:ext>
            </a:extLst>
          </p:cNvPr>
          <p:cNvSpPr>
            <a:spLocks noGrp="1"/>
          </p:cNvSpPr>
          <p:nvPr>
            <p:ph type="title"/>
          </p:nvPr>
        </p:nvSpPr>
        <p:spPr/>
        <p:txBody>
          <a:bodyPr/>
          <a:lstStyle/>
          <a:p>
            <a:r>
              <a:rPr lang="en-GB" dirty="0"/>
              <a:t>‘Materiality Process’</a:t>
            </a:r>
          </a:p>
        </p:txBody>
      </p:sp>
      <p:sp>
        <p:nvSpPr>
          <p:cNvPr id="3" name="Content Placeholder 2">
            <a:extLst>
              <a:ext uri="{FF2B5EF4-FFF2-40B4-BE49-F238E27FC236}">
                <a16:creationId xmlns:a16="http://schemas.microsoft.com/office/drawing/2014/main" xmlns="" id="{1DBE0944-49BA-4C50-8ED0-31D35BB98585}"/>
              </a:ext>
            </a:extLst>
          </p:cNvPr>
          <p:cNvSpPr>
            <a:spLocks noGrp="1"/>
          </p:cNvSpPr>
          <p:nvPr>
            <p:ph idx="1"/>
          </p:nvPr>
        </p:nvSpPr>
        <p:spPr>
          <a:xfrm>
            <a:off x="609600" y="2052700"/>
            <a:ext cx="3352800" cy="427950"/>
          </a:xfrm>
        </p:spPr>
        <p:txBody>
          <a:bodyPr/>
          <a:lstStyle/>
          <a:p>
            <a:pPr marL="0" indent="0" algn="ctr">
              <a:buNone/>
            </a:pPr>
            <a:r>
              <a:rPr lang="en-GB" sz="1400" b="1" dirty="0"/>
              <a:t>Example A</a:t>
            </a:r>
          </a:p>
        </p:txBody>
      </p:sp>
      <p:sp>
        <p:nvSpPr>
          <p:cNvPr id="4" name="Slide Number Placeholder 3">
            <a:extLst>
              <a:ext uri="{FF2B5EF4-FFF2-40B4-BE49-F238E27FC236}">
                <a16:creationId xmlns:a16="http://schemas.microsoft.com/office/drawing/2014/main" xmlns="" id="{6C4D6DD9-C884-48D5-8B6C-4ACC73D96E8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E60D7C64-6004-49D3-9A59-383B44495453}"/>
              </a:ext>
            </a:extLst>
          </p:cNvPr>
          <p:cNvGrpSpPr/>
          <p:nvPr/>
        </p:nvGrpSpPr>
        <p:grpSpPr>
          <a:xfrm>
            <a:off x="9905146" y="1394108"/>
            <a:ext cx="2003273" cy="599665"/>
            <a:chOff x="9856378" y="5709685"/>
            <a:chExt cx="2003273" cy="599665"/>
          </a:xfrm>
        </p:grpSpPr>
        <p:sp>
          <p:nvSpPr>
            <p:cNvPr id="6" name="Rectangle 5">
              <a:extLst>
                <a:ext uri="{FF2B5EF4-FFF2-40B4-BE49-F238E27FC236}">
                  <a16:creationId xmlns:a16="http://schemas.microsoft.com/office/drawing/2014/main" xmlns="" id="{922817A2-E09D-40AB-B0DF-B49C5E13F9CD}"/>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24-32</a:t>
              </a:r>
            </a:p>
          </p:txBody>
        </p:sp>
        <p:pic>
          <p:nvPicPr>
            <p:cNvPr id="7" name="Graphic 6" descr="Document">
              <a:extLst>
                <a:ext uri="{FF2B5EF4-FFF2-40B4-BE49-F238E27FC236}">
                  <a16:creationId xmlns:a16="http://schemas.microsoft.com/office/drawing/2014/main" xmlns="" id="{D69AC8E5-292C-460B-BDAF-8FC197BC0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sp>
        <p:nvSpPr>
          <p:cNvPr id="11" name="Rectangle 10">
            <a:extLst>
              <a:ext uri="{FF2B5EF4-FFF2-40B4-BE49-F238E27FC236}">
                <a16:creationId xmlns:a16="http://schemas.microsoft.com/office/drawing/2014/main" xmlns="" id="{C6CC7B1D-72DE-4F6E-ADF5-AF313EB7CE0F}"/>
              </a:ext>
            </a:extLst>
          </p:cNvPr>
          <p:cNvSpPr/>
          <p:nvPr/>
        </p:nvSpPr>
        <p:spPr>
          <a:xfrm>
            <a:off x="609600" y="2326412"/>
            <a:ext cx="3352800" cy="1493941"/>
          </a:xfrm>
          <a:prstGeom prst="rect">
            <a:avLst/>
          </a:prstGeom>
          <a:solidFill>
            <a:schemeClr val="bg1">
              <a:lumMod val="95000"/>
            </a:schemeClr>
          </a:solidFill>
          <a:ln>
            <a:solidFill>
              <a:schemeClr val="bg1">
                <a:lumMod val="50000"/>
              </a:schemeClr>
            </a:solidFill>
          </a:ln>
        </p:spPr>
        <p:txBody>
          <a:bodyPr vert="horz" lIns="108000" tIns="108000" rIns="108000" bIns="108000" rtlCol="0">
            <a:noAutofit/>
          </a:bodyPr>
          <a:lstStyle/>
          <a:p>
            <a:pPr defTabSz="457200">
              <a:spcBef>
                <a:spcPts val="1200"/>
              </a:spcBef>
            </a:pPr>
            <a:r>
              <a:rPr lang="en-GB" sz="1600" dirty="0">
                <a:solidFill>
                  <a:srgbClr val="808080"/>
                </a:solidFill>
                <a:latin typeface="Arial" panose="020B0604020202020204" pitchFamily="34" charset="0"/>
                <a:cs typeface="Arial" panose="020B0604020202020204" pitchFamily="34" charset="0"/>
              </a:rPr>
              <a:t>Framework requires the disclosure of the time spent by its employees on training during the period, measured in hours. Details on how to calculate this are provided.</a:t>
            </a:r>
          </a:p>
        </p:txBody>
      </p:sp>
      <p:sp>
        <p:nvSpPr>
          <p:cNvPr id="18" name="Content Placeholder 2">
            <a:extLst>
              <a:ext uri="{FF2B5EF4-FFF2-40B4-BE49-F238E27FC236}">
                <a16:creationId xmlns:a16="http://schemas.microsoft.com/office/drawing/2014/main" xmlns="" id="{47DD5BD0-5530-4E97-8CA3-E67BAD5FCB28}"/>
              </a:ext>
            </a:extLst>
          </p:cNvPr>
          <p:cNvSpPr txBox="1">
            <a:spLocks/>
          </p:cNvSpPr>
          <p:nvPr/>
        </p:nvSpPr>
        <p:spPr>
          <a:xfrm>
            <a:off x="4486656" y="2052700"/>
            <a:ext cx="3352800" cy="427950"/>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GB" sz="1400" b="1" dirty="0"/>
              <a:t>Example B</a:t>
            </a:r>
          </a:p>
        </p:txBody>
      </p:sp>
      <p:sp>
        <p:nvSpPr>
          <p:cNvPr id="19" name="Rectangle 18">
            <a:extLst>
              <a:ext uri="{FF2B5EF4-FFF2-40B4-BE49-F238E27FC236}">
                <a16:creationId xmlns:a16="http://schemas.microsoft.com/office/drawing/2014/main" xmlns="" id="{D8E332E3-9C7D-4563-AB4B-5C0963DDE7F5}"/>
              </a:ext>
            </a:extLst>
          </p:cNvPr>
          <p:cNvSpPr/>
          <p:nvPr/>
        </p:nvSpPr>
        <p:spPr>
          <a:xfrm>
            <a:off x="4486656" y="2326412"/>
            <a:ext cx="3352800" cy="1493941"/>
          </a:xfrm>
          <a:prstGeom prst="rect">
            <a:avLst/>
          </a:prstGeom>
          <a:solidFill>
            <a:schemeClr val="bg1">
              <a:lumMod val="95000"/>
            </a:schemeClr>
          </a:solidFill>
          <a:ln>
            <a:solidFill>
              <a:schemeClr val="bg1">
                <a:lumMod val="50000"/>
              </a:schemeClr>
            </a:solidFill>
          </a:ln>
        </p:spPr>
        <p:txBody>
          <a:bodyPr vert="horz" lIns="108000" tIns="108000" rIns="108000" bIns="108000" rtlCol="0">
            <a:noAutofit/>
          </a:bodyPr>
          <a:lstStyle/>
          <a:p>
            <a:pPr defTabSz="457200">
              <a:spcBef>
                <a:spcPts val="1200"/>
              </a:spcBef>
            </a:pPr>
            <a:r>
              <a:rPr lang="en-GB" sz="1600" dirty="0">
                <a:solidFill>
                  <a:srgbClr val="808080"/>
                </a:solidFill>
                <a:latin typeface="Arial" panose="020B0604020202020204" pitchFamily="34" charset="0"/>
                <a:cs typeface="Arial" panose="020B0604020202020204" pitchFamily="34" charset="0"/>
              </a:rPr>
              <a:t>Framework requires a description of the principal risks and uncertainties facing the entity. </a:t>
            </a:r>
          </a:p>
        </p:txBody>
      </p:sp>
      <p:sp>
        <p:nvSpPr>
          <p:cNvPr id="20" name="Content Placeholder 2">
            <a:extLst>
              <a:ext uri="{FF2B5EF4-FFF2-40B4-BE49-F238E27FC236}">
                <a16:creationId xmlns:a16="http://schemas.microsoft.com/office/drawing/2014/main" xmlns="" id="{B9319141-9E04-4A78-875E-4CFA4F201F88}"/>
              </a:ext>
            </a:extLst>
          </p:cNvPr>
          <p:cNvSpPr txBox="1">
            <a:spLocks/>
          </p:cNvSpPr>
          <p:nvPr/>
        </p:nvSpPr>
        <p:spPr>
          <a:xfrm>
            <a:off x="609600" y="1425234"/>
            <a:ext cx="8388096" cy="524623"/>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t>Two examples of criteria from different frameworks:</a:t>
            </a:r>
          </a:p>
        </p:txBody>
      </p:sp>
      <p:sp>
        <p:nvSpPr>
          <p:cNvPr id="21" name="Content Placeholder 2">
            <a:extLst>
              <a:ext uri="{FF2B5EF4-FFF2-40B4-BE49-F238E27FC236}">
                <a16:creationId xmlns:a16="http://schemas.microsoft.com/office/drawing/2014/main" xmlns="" id="{E37B2645-2501-4DFE-A694-1798C4670E29}"/>
              </a:ext>
            </a:extLst>
          </p:cNvPr>
          <p:cNvSpPr txBox="1">
            <a:spLocks/>
          </p:cNvSpPr>
          <p:nvPr/>
        </p:nvSpPr>
        <p:spPr>
          <a:xfrm>
            <a:off x="609599" y="4332087"/>
            <a:ext cx="3352800" cy="859903"/>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GB" sz="1600" dirty="0"/>
              <a:t>Framework-setter has made a judgment about what the intended users want to know.</a:t>
            </a:r>
          </a:p>
          <a:p>
            <a:pPr marL="0" indent="0" algn="ctr">
              <a:buNone/>
            </a:pPr>
            <a:r>
              <a:rPr lang="en-GB" dirty="0"/>
              <a:t> </a:t>
            </a:r>
          </a:p>
        </p:txBody>
      </p:sp>
      <p:sp>
        <p:nvSpPr>
          <p:cNvPr id="22" name="Content Placeholder 2">
            <a:extLst>
              <a:ext uri="{FF2B5EF4-FFF2-40B4-BE49-F238E27FC236}">
                <a16:creationId xmlns:a16="http://schemas.microsoft.com/office/drawing/2014/main" xmlns="" id="{EE59486C-1CF4-468E-95AF-DF5CEDBC83EF}"/>
              </a:ext>
            </a:extLst>
          </p:cNvPr>
          <p:cNvSpPr txBox="1">
            <a:spLocks/>
          </p:cNvSpPr>
          <p:nvPr/>
        </p:nvSpPr>
        <p:spPr>
          <a:xfrm>
            <a:off x="609599" y="5586802"/>
            <a:ext cx="3352800" cy="859903"/>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GB" sz="1600" dirty="0">
                <a:solidFill>
                  <a:schemeClr val="accent1"/>
                </a:solidFill>
              </a:rPr>
              <a:t>Preparer may not need to undertake a materiality process</a:t>
            </a:r>
            <a:r>
              <a:rPr lang="en-GB" sz="1600" dirty="0"/>
              <a:t>. Criteria already relevant.</a:t>
            </a:r>
          </a:p>
          <a:p>
            <a:pPr marL="0" indent="0" algn="ctr">
              <a:buNone/>
            </a:pPr>
            <a:r>
              <a:rPr lang="en-GB" dirty="0"/>
              <a:t> </a:t>
            </a:r>
          </a:p>
        </p:txBody>
      </p:sp>
      <p:pic>
        <p:nvPicPr>
          <p:cNvPr id="24" name="Graphic 23" descr="Line Arrow: Straight">
            <a:extLst>
              <a:ext uri="{FF2B5EF4-FFF2-40B4-BE49-F238E27FC236}">
                <a16:creationId xmlns:a16="http://schemas.microsoft.com/office/drawing/2014/main" xmlns="" id="{AAE71ED6-3FE1-427F-8592-463F002C34F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rot="16200000">
            <a:off x="2057400" y="3847620"/>
            <a:ext cx="457200" cy="457200"/>
          </a:xfrm>
          <a:prstGeom prst="rect">
            <a:avLst/>
          </a:prstGeom>
        </p:spPr>
      </p:pic>
      <p:pic>
        <p:nvPicPr>
          <p:cNvPr id="25" name="Graphic 24" descr="Line Arrow: Straight">
            <a:extLst>
              <a:ext uri="{FF2B5EF4-FFF2-40B4-BE49-F238E27FC236}">
                <a16:creationId xmlns:a16="http://schemas.microsoft.com/office/drawing/2014/main" xmlns="" id="{8687A481-EA55-4375-B338-D72E7D32A1B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rot="16200000">
            <a:off x="2057399" y="5099911"/>
            <a:ext cx="457200" cy="457200"/>
          </a:xfrm>
          <a:prstGeom prst="rect">
            <a:avLst/>
          </a:prstGeom>
        </p:spPr>
      </p:pic>
      <p:sp>
        <p:nvSpPr>
          <p:cNvPr id="26" name="Content Placeholder 2">
            <a:extLst>
              <a:ext uri="{FF2B5EF4-FFF2-40B4-BE49-F238E27FC236}">
                <a16:creationId xmlns:a16="http://schemas.microsoft.com/office/drawing/2014/main" xmlns="" id="{C70EE204-0A15-40FE-A5E7-2025E1E1E2A5}"/>
              </a:ext>
            </a:extLst>
          </p:cNvPr>
          <p:cNvSpPr txBox="1">
            <a:spLocks/>
          </p:cNvSpPr>
          <p:nvPr/>
        </p:nvSpPr>
        <p:spPr>
          <a:xfrm>
            <a:off x="4370832" y="4332087"/>
            <a:ext cx="3584448" cy="859903"/>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GB" sz="1600" dirty="0"/>
              <a:t>Left to the preparer to identify what the principal risks and uncertainties are for their entity (the relevant ones). </a:t>
            </a:r>
          </a:p>
        </p:txBody>
      </p:sp>
      <p:sp>
        <p:nvSpPr>
          <p:cNvPr id="27" name="Content Placeholder 2">
            <a:extLst>
              <a:ext uri="{FF2B5EF4-FFF2-40B4-BE49-F238E27FC236}">
                <a16:creationId xmlns:a16="http://schemas.microsoft.com/office/drawing/2014/main" xmlns="" id="{8EE83264-8B92-4795-8342-182EB8B107F0}"/>
              </a:ext>
            </a:extLst>
          </p:cNvPr>
          <p:cNvSpPr txBox="1">
            <a:spLocks/>
          </p:cNvSpPr>
          <p:nvPr/>
        </p:nvSpPr>
        <p:spPr>
          <a:xfrm>
            <a:off x="4486656" y="5586802"/>
            <a:ext cx="3352800" cy="859903"/>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GB" sz="1600" dirty="0">
                <a:solidFill>
                  <a:schemeClr val="accent1"/>
                </a:solidFill>
              </a:rPr>
              <a:t>Preparer may need to undertake a materiality process </a:t>
            </a:r>
            <a:r>
              <a:rPr lang="en-GB" sz="1600" dirty="0"/>
              <a:t>so that the criteria become relevant.</a:t>
            </a:r>
          </a:p>
          <a:p>
            <a:pPr marL="0" indent="0" algn="ctr">
              <a:buNone/>
            </a:pPr>
            <a:r>
              <a:rPr lang="en-GB" dirty="0"/>
              <a:t> </a:t>
            </a:r>
          </a:p>
        </p:txBody>
      </p:sp>
      <p:pic>
        <p:nvPicPr>
          <p:cNvPr id="28" name="Graphic 27" descr="Line Arrow: Straight">
            <a:extLst>
              <a:ext uri="{FF2B5EF4-FFF2-40B4-BE49-F238E27FC236}">
                <a16:creationId xmlns:a16="http://schemas.microsoft.com/office/drawing/2014/main" xmlns="" id="{D0A4FB94-03BB-4A19-883D-ADC504B3DC10}"/>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rot="16200000">
            <a:off x="5934457" y="3847620"/>
            <a:ext cx="457200" cy="457200"/>
          </a:xfrm>
          <a:prstGeom prst="rect">
            <a:avLst/>
          </a:prstGeom>
        </p:spPr>
      </p:pic>
      <p:pic>
        <p:nvPicPr>
          <p:cNvPr id="29" name="Graphic 28" descr="Line Arrow: Straight">
            <a:extLst>
              <a:ext uri="{FF2B5EF4-FFF2-40B4-BE49-F238E27FC236}">
                <a16:creationId xmlns:a16="http://schemas.microsoft.com/office/drawing/2014/main" xmlns="" id="{87223EF0-841D-48CD-BE0E-55EFA75F66B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rot="16200000">
            <a:off x="5934456" y="5099911"/>
            <a:ext cx="457200" cy="457200"/>
          </a:xfrm>
          <a:prstGeom prst="rect">
            <a:avLst/>
          </a:prstGeom>
        </p:spPr>
      </p:pic>
      <p:grpSp>
        <p:nvGrpSpPr>
          <p:cNvPr id="10" name="Group 9">
            <a:extLst>
              <a:ext uri="{FF2B5EF4-FFF2-40B4-BE49-F238E27FC236}">
                <a16:creationId xmlns:a16="http://schemas.microsoft.com/office/drawing/2014/main" xmlns="" id="{6373AECB-624F-4A7C-B67B-EB3CC4EF342C}"/>
              </a:ext>
            </a:extLst>
          </p:cNvPr>
          <p:cNvGrpSpPr/>
          <p:nvPr/>
        </p:nvGrpSpPr>
        <p:grpSpPr>
          <a:xfrm>
            <a:off x="7725712" y="2570479"/>
            <a:ext cx="4388372" cy="2887412"/>
            <a:chOff x="7725712" y="2570479"/>
            <a:chExt cx="4388372" cy="2887412"/>
          </a:xfrm>
        </p:grpSpPr>
        <p:sp>
          <p:nvSpPr>
            <p:cNvPr id="23" name="Oval 22">
              <a:extLst>
                <a:ext uri="{FF2B5EF4-FFF2-40B4-BE49-F238E27FC236}">
                  <a16:creationId xmlns:a16="http://schemas.microsoft.com/office/drawing/2014/main" xmlns="" id="{DC9BA9D8-74A6-4D24-BD58-E04D1FB2CC2E}"/>
                </a:ext>
              </a:extLst>
            </p:cNvPr>
            <p:cNvSpPr/>
            <p:nvPr/>
          </p:nvSpPr>
          <p:spPr>
            <a:xfrm>
              <a:off x="8252756" y="2570479"/>
              <a:ext cx="2000229" cy="2000229"/>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a:r>
                <a:rPr lang="en-GB" sz="1600" dirty="0">
                  <a:solidFill>
                    <a:schemeClr val="bg1">
                      <a:lumMod val="75000"/>
                    </a:schemeClr>
                  </a:solidFill>
                  <a:latin typeface="Arial" panose="020B0604020202020204" pitchFamily="34" charset="0"/>
                  <a:cs typeface="Arial" panose="020B0604020202020204" pitchFamily="34" charset="0"/>
                </a:rPr>
                <a:t>Criteria for what items are relevant in the context of that specific entity</a:t>
              </a:r>
              <a:endParaRPr lang="en-GB" sz="1600" dirty="0">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xmlns="" id="{74D14376-B523-40DE-8916-01ECACE768F6}"/>
                </a:ext>
              </a:extLst>
            </p:cNvPr>
            <p:cNvSpPr/>
            <p:nvPr/>
          </p:nvSpPr>
          <p:spPr>
            <a:xfrm>
              <a:off x="10362834" y="2694968"/>
              <a:ext cx="1751250" cy="175125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a:r>
                <a:rPr lang="en-GB" sz="1600" dirty="0">
                  <a:solidFill>
                    <a:schemeClr val="bg1">
                      <a:lumMod val="75000"/>
                    </a:schemeClr>
                  </a:solidFill>
                  <a:latin typeface="Arial" panose="020B0604020202020204" pitchFamily="34" charset="0"/>
                  <a:cs typeface="Arial" panose="020B0604020202020204" pitchFamily="34" charset="0"/>
                </a:rPr>
                <a:t>Excluding any immaterial items</a:t>
              </a:r>
              <a:endParaRPr lang="en-GB" sz="1600" dirty="0">
                <a:latin typeface="Arial" panose="020B0604020202020204" pitchFamily="34" charset="0"/>
                <a:cs typeface="Arial" panose="020B0604020202020204" pitchFamily="34" charset="0"/>
              </a:endParaRPr>
            </a:p>
          </p:txBody>
        </p:sp>
        <p:pic>
          <p:nvPicPr>
            <p:cNvPr id="9" name="Graphic 8" descr="Line Arrow: Counterclockwise curve">
              <a:extLst>
                <a:ext uri="{FF2B5EF4-FFF2-40B4-BE49-F238E27FC236}">
                  <a16:creationId xmlns:a16="http://schemas.microsoft.com/office/drawing/2014/main" xmlns="" id="{D7434F7A-61F1-4657-9543-F3C079922E7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rot="5400000">
              <a:off x="7725712" y="4354020"/>
              <a:ext cx="1103871" cy="1103871"/>
            </a:xfrm>
            <a:prstGeom prst="rect">
              <a:avLst/>
            </a:prstGeom>
          </p:spPr>
        </p:pic>
      </p:grpSp>
      <p:pic>
        <p:nvPicPr>
          <p:cNvPr id="31" name="Picture 30">
            <a:extLst>
              <a:ext uri="{FF2B5EF4-FFF2-40B4-BE49-F238E27FC236}">
                <a16:creationId xmlns:a16="http://schemas.microsoft.com/office/drawing/2014/main" xmlns="" id="{90C94D42-9BF7-48ED-BF5E-7EF7DE2275C7}"/>
              </a:ext>
            </a:extLst>
          </p:cNvPr>
          <p:cNvPicPr>
            <a:picLocks noChangeAspect="1"/>
          </p:cNvPicPr>
          <p:nvPr/>
        </p:nvPicPr>
        <p:blipFill>
          <a:blip r:embed="rId9"/>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8597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grpSp>
        <p:nvGrpSpPr>
          <p:cNvPr id="9" name="Group 8">
            <a:extLst>
              <a:ext uri="{FF2B5EF4-FFF2-40B4-BE49-F238E27FC236}">
                <a16:creationId xmlns:a16="http://schemas.microsoft.com/office/drawing/2014/main" xmlns="" id="{47F7A428-EAAA-4BD8-A239-1762F83168DC}"/>
              </a:ext>
            </a:extLst>
          </p:cNvPr>
          <p:cNvGrpSpPr/>
          <p:nvPr/>
        </p:nvGrpSpPr>
        <p:grpSpPr>
          <a:xfrm>
            <a:off x="605314" y="5681930"/>
            <a:ext cx="2115879" cy="599665"/>
            <a:chOff x="609597" y="5598647"/>
            <a:chExt cx="2115879" cy="599665"/>
          </a:xfrm>
        </p:grpSpPr>
        <p:sp>
          <p:nvSpPr>
            <p:cNvPr id="10" name="Rectangle 9">
              <a:extLst>
                <a:ext uri="{FF2B5EF4-FFF2-40B4-BE49-F238E27FC236}">
                  <a16:creationId xmlns:a16="http://schemas.microsoft.com/office/drawing/2014/main" xmlns="" id="{D3F6357B-1196-43F2-A766-A2915A1AE29F}"/>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81 - 162</a:t>
              </a:r>
            </a:p>
          </p:txBody>
        </p:sp>
        <p:pic>
          <p:nvPicPr>
            <p:cNvPr id="12" name="Graphic 11" descr="Document">
              <a:extLst>
                <a:ext uri="{FF2B5EF4-FFF2-40B4-BE49-F238E27FC236}">
                  <a16:creationId xmlns:a16="http://schemas.microsoft.com/office/drawing/2014/main" xmlns="" id="{371B3A79-91A1-444E-89AC-D25F07B7465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18243" y="5636167"/>
              <a:ext cx="524623" cy="524623"/>
            </a:xfrm>
            <a:prstGeom prst="rect">
              <a:avLst/>
            </a:prstGeom>
          </p:spPr>
        </p:pic>
      </p:grpSp>
      <p:sp>
        <p:nvSpPr>
          <p:cNvPr id="7" name="Content Placeholder 2">
            <a:extLst>
              <a:ext uri="{FF2B5EF4-FFF2-40B4-BE49-F238E27FC236}">
                <a16:creationId xmlns:a16="http://schemas.microsoft.com/office/drawing/2014/main" xmlns="" id="{DEFB1A15-826B-4E59-A701-7DC3D6BFD4BF}"/>
              </a:ext>
            </a:extLst>
          </p:cNvPr>
          <p:cNvSpPr txBox="1">
            <a:spLocks/>
          </p:cNvSpPr>
          <p:nvPr/>
        </p:nvSpPr>
        <p:spPr>
          <a:xfrm>
            <a:off x="6266688" y="1393631"/>
            <a:ext cx="5315712" cy="4337303"/>
          </a:xfrm>
          <a:prstGeom prst="rect">
            <a:avLst/>
          </a:prstGeom>
          <a:solidFill>
            <a:schemeClr val="bg1">
              <a:lumMod val="95000"/>
            </a:schemeClr>
          </a:solidFill>
          <a:ln>
            <a:solidFill>
              <a:schemeClr val="bg1">
                <a:lumMod val="50000"/>
              </a:schemeClr>
            </a:solidFill>
          </a:ln>
          <a:effectLst>
            <a:outerShdw blurRad="63500" sx="102000" sy="102000" algn="ctr" rotWithShape="0">
              <a:prstClr val="black">
                <a:alpha val="40000"/>
              </a:prstClr>
            </a:outerShdw>
          </a:effectLst>
        </p:spPr>
        <p:txBody>
          <a:bodyPr vert="horz" lIns="180000" tIns="180000" rIns="180000" bIns="180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800" dirty="0"/>
              <a:t>The IAASB is asked for its views on:</a:t>
            </a:r>
          </a:p>
          <a:p>
            <a:pPr marL="457200" indent="-457200">
              <a:buFont typeface="+mj-lt"/>
              <a:buAutoNum type="arabicParenR"/>
            </a:pPr>
            <a:r>
              <a:rPr lang="en-GB" sz="1800" dirty="0"/>
              <a:t>Whether the Task Force has appropriately responded to feedback given at the September 2018 meeting;</a:t>
            </a:r>
          </a:p>
          <a:p>
            <a:pPr marL="457200" indent="-457200">
              <a:buFont typeface="+mj-lt"/>
              <a:buAutoNum type="arabicParenR"/>
            </a:pPr>
            <a:r>
              <a:rPr lang="en-GB" sz="1800" dirty="0"/>
              <a:t>Whether the updated draft guidance is effective in assisting practitioners to address the issues related to each of the challenges that were allocated to phase 1; and</a:t>
            </a:r>
          </a:p>
          <a:p>
            <a:pPr marL="457200" indent="-457200">
              <a:buFont typeface="+mj-lt"/>
              <a:buAutoNum type="arabicParenR"/>
            </a:pPr>
            <a:r>
              <a:rPr lang="en-GB" sz="1800" dirty="0"/>
              <a:t>Whether further revisions are needed to the draft guidance in Agenda Item 8-A prior to it being published as an exposure draft for public comment.</a:t>
            </a:r>
          </a:p>
        </p:txBody>
      </p:sp>
      <p:sp>
        <p:nvSpPr>
          <p:cNvPr id="8" name="Title 1">
            <a:extLst>
              <a:ext uri="{FF2B5EF4-FFF2-40B4-BE49-F238E27FC236}">
                <a16:creationId xmlns:a16="http://schemas.microsoft.com/office/drawing/2014/main" xmlns="" id="{9CAEFAF4-6B9E-4FEA-BF46-C941B3CF4467}"/>
              </a:ext>
            </a:extLst>
          </p:cNvPr>
          <p:cNvSpPr>
            <a:spLocks noGrp="1"/>
          </p:cNvSpPr>
          <p:nvPr>
            <p:ph type="title"/>
          </p:nvPr>
        </p:nvSpPr>
        <p:spPr>
          <a:xfrm>
            <a:off x="609600" y="569916"/>
            <a:ext cx="10972800" cy="538500"/>
          </a:xfrm>
        </p:spPr>
        <p:txBody>
          <a:bodyPr/>
          <a:lstStyle/>
          <a:p>
            <a:r>
              <a:rPr lang="en-GB" dirty="0"/>
              <a:t>Discussion on the Updated Draft Guidance</a:t>
            </a:r>
          </a:p>
        </p:txBody>
      </p:sp>
      <p:sp>
        <p:nvSpPr>
          <p:cNvPr id="13" name="Rectangle 12">
            <a:extLst>
              <a:ext uri="{FF2B5EF4-FFF2-40B4-BE49-F238E27FC236}">
                <a16:creationId xmlns:a16="http://schemas.microsoft.com/office/drawing/2014/main" xmlns="" id="{694F93F9-FED8-4997-B72C-5F7DAF431462}"/>
              </a:ext>
            </a:extLst>
          </p:cNvPr>
          <p:cNvSpPr/>
          <p:nvPr/>
        </p:nvSpPr>
        <p:spPr>
          <a:xfrm>
            <a:off x="605314" y="1479735"/>
            <a:ext cx="5084768" cy="1677382"/>
          </a:xfrm>
          <a:prstGeom prst="rect">
            <a:avLst/>
          </a:prstGeom>
        </p:spPr>
        <p:txBody>
          <a:bodyPr wrap="square">
            <a:spAutoFit/>
          </a:bodyPr>
          <a:lstStyle/>
          <a:p>
            <a:r>
              <a:rPr lang="en-GB" sz="2800" dirty="0">
                <a:solidFill>
                  <a:srgbClr val="808080"/>
                </a:solidFill>
                <a:latin typeface="Arial" panose="020B0604020202020204" pitchFamily="34" charset="0"/>
                <a:cs typeface="Arial" panose="020B0604020202020204" pitchFamily="34" charset="0"/>
              </a:rPr>
              <a:t>Chapter 7</a:t>
            </a:r>
          </a:p>
          <a:p>
            <a:endParaRPr lang="en-GB" sz="1100" dirty="0">
              <a:solidFill>
                <a:srgbClr val="808080"/>
              </a:solidFill>
              <a:latin typeface="Arial" panose="020B0604020202020204" pitchFamily="34" charset="0"/>
              <a:cs typeface="Arial" panose="020B0604020202020204" pitchFamily="34" charset="0"/>
            </a:endParaRPr>
          </a:p>
          <a:p>
            <a:r>
              <a:rPr lang="en-GB" sz="3200" b="1" dirty="0">
                <a:solidFill>
                  <a:srgbClr val="808080"/>
                </a:solidFill>
                <a:latin typeface="Arial" panose="020B0604020202020204" pitchFamily="34" charset="0"/>
                <a:cs typeface="Arial" panose="020B0604020202020204" pitchFamily="34" charset="0"/>
              </a:rPr>
              <a:t>Determining the Suitability of Criteria</a:t>
            </a:r>
          </a:p>
        </p:txBody>
      </p:sp>
      <p:sp>
        <p:nvSpPr>
          <p:cNvPr id="11" name="Rectangle 10">
            <a:extLst>
              <a:ext uri="{FF2B5EF4-FFF2-40B4-BE49-F238E27FC236}">
                <a16:creationId xmlns:a16="http://schemas.microsoft.com/office/drawing/2014/main" xmlns="" id="{4149CBDB-0434-4CCF-984B-C81FF1337506}"/>
              </a:ext>
            </a:extLst>
          </p:cNvPr>
          <p:cNvSpPr/>
          <p:nvPr/>
        </p:nvSpPr>
        <p:spPr>
          <a:xfrm>
            <a:off x="613960" y="3511759"/>
            <a:ext cx="5084768" cy="1677382"/>
          </a:xfrm>
          <a:prstGeom prst="rect">
            <a:avLst/>
          </a:prstGeom>
        </p:spPr>
        <p:txBody>
          <a:bodyPr wrap="square">
            <a:spAutoFit/>
          </a:bodyPr>
          <a:lstStyle/>
          <a:p>
            <a:r>
              <a:rPr lang="en-GB" sz="2800" dirty="0">
                <a:solidFill>
                  <a:srgbClr val="808080"/>
                </a:solidFill>
                <a:latin typeface="Arial" panose="020B0604020202020204" pitchFamily="34" charset="0"/>
                <a:cs typeface="Arial" panose="020B0604020202020204" pitchFamily="34" charset="0"/>
              </a:rPr>
              <a:t>Chapter 8</a:t>
            </a:r>
          </a:p>
          <a:p>
            <a:endParaRPr lang="en-GB" sz="1100" dirty="0">
              <a:solidFill>
                <a:srgbClr val="808080"/>
              </a:solidFill>
              <a:latin typeface="Arial" panose="020B0604020202020204" pitchFamily="34" charset="0"/>
              <a:cs typeface="Arial" panose="020B0604020202020204" pitchFamily="34" charset="0"/>
            </a:endParaRPr>
          </a:p>
          <a:p>
            <a:r>
              <a:rPr lang="en-GB" sz="3200" b="1" dirty="0">
                <a:solidFill>
                  <a:srgbClr val="808080"/>
                </a:solidFill>
                <a:latin typeface="Arial" panose="020B0604020202020204" pitchFamily="34" charset="0"/>
                <a:cs typeface="Arial" panose="020B0604020202020204" pitchFamily="34" charset="0"/>
              </a:rPr>
              <a:t>Considering the Entity's Materiality Process</a:t>
            </a:r>
            <a:endParaRPr lang="en-GB" sz="3200" dirty="0">
              <a:solidFill>
                <a:srgbClr val="80808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7502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sp>
        <p:nvSpPr>
          <p:cNvPr id="11" name="Rectangle 10">
            <a:extLst>
              <a:ext uri="{FF2B5EF4-FFF2-40B4-BE49-F238E27FC236}">
                <a16:creationId xmlns:a16="http://schemas.microsoft.com/office/drawing/2014/main" xmlns="" id="{4C3E9CD0-1A4D-4D42-A22D-74C8E3B1C140}"/>
              </a:ext>
            </a:extLst>
          </p:cNvPr>
          <p:cNvSpPr/>
          <p:nvPr/>
        </p:nvSpPr>
        <p:spPr>
          <a:xfrm>
            <a:off x="609600" y="1318950"/>
            <a:ext cx="5413952" cy="769441"/>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a:t>
            </a:r>
          </a:p>
          <a:p>
            <a:r>
              <a:rPr lang="en-GB" sz="2400" b="1" dirty="0">
                <a:solidFill>
                  <a:srgbClr val="808080"/>
                </a:solidFill>
                <a:latin typeface="Arial" panose="020B0604020202020204" pitchFamily="34" charset="0"/>
                <a:cs typeface="Arial" panose="020B0604020202020204" pitchFamily="34" charset="0"/>
              </a:rPr>
              <a:t>Introduction</a:t>
            </a:r>
            <a:endParaRPr lang="en-GB" sz="2400" dirty="0">
              <a:solidFill>
                <a:srgbClr val="808080"/>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xmlns="" id="{DCCF2D40-21A2-4EAB-8E35-D26062651D13}"/>
              </a:ext>
            </a:extLst>
          </p:cNvPr>
          <p:cNvSpPr/>
          <p:nvPr/>
        </p:nvSpPr>
        <p:spPr>
          <a:xfrm>
            <a:off x="609600" y="2346059"/>
            <a:ext cx="5413952"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2</a:t>
            </a:r>
          </a:p>
          <a:p>
            <a:r>
              <a:rPr lang="en-GB" sz="2400" b="1" dirty="0">
                <a:solidFill>
                  <a:srgbClr val="808080"/>
                </a:solidFill>
                <a:latin typeface="Arial" panose="020B0604020202020204" pitchFamily="34" charset="0"/>
                <a:cs typeface="Arial" panose="020B0604020202020204" pitchFamily="34" charset="0"/>
              </a:rPr>
              <a:t>Overview of an EER Assurance Engagement</a:t>
            </a:r>
            <a:endParaRPr lang="en-GB" sz="2400" dirty="0">
              <a:solidFill>
                <a:srgbClr val="808080"/>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xmlns="" id="{FEBFD19E-B63E-4AE9-B3DD-18B2E6D4730D}"/>
              </a:ext>
            </a:extLst>
          </p:cNvPr>
          <p:cNvSpPr/>
          <p:nvPr/>
        </p:nvSpPr>
        <p:spPr>
          <a:xfrm>
            <a:off x="609600" y="3742500"/>
            <a:ext cx="5413952"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3</a:t>
            </a:r>
          </a:p>
          <a:p>
            <a:r>
              <a:rPr lang="en-GB" sz="2400" b="1" dirty="0">
                <a:solidFill>
                  <a:srgbClr val="808080"/>
                </a:solidFill>
                <a:latin typeface="Arial" panose="020B0604020202020204" pitchFamily="34" charset="0"/>
                <a:cs typeface="Arial" panose="020B0604020202020204" pitchFamily="34" charset="0"/>
              </a:rPr>
              <a:t>Determining Preconditions and Agreeing the Scope</a:t>
            </a:r>
            <a:endParaRPr lang="en-GB" sz="2400" dirty="0">
              <a:solidFill>
                <a:srgbClr val="808080"/>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xmlns="" id="{D09DE35A-D3A7-4909-9486-0CF0441FABB5}"/>
              </a:ext>
            </a:extLst>
          </p:cNvPr>
          <p:cNvSpPr/>
          <p:nvPr/>
        </p:nvSpPr>
        <p:spPr>
          <a:xfrm>
            <a:off x="609600" y="5138940"/>
            <a:ext cx="5413952" cy="400110"/>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Appendices</a:t>
            </a:r>
          </a:p>
        </p:txBody>
      </p:sp>
      <p:pic>
        <p:nvPicPr>
          <p:cNvPr id="19" name="Picture 18">
            <a:extLst>
              <a:ext uri="{FF2B5EF4-FFF2-40B4-BE49-F238E27FC236}">
                <a16:creationId xmlns:a16="http://schemas.microsoft.com/office/drawing/2014/main" xmlns="" id="{846518B6-08CB-4352-BD19-40CD0582838D}"/>
              </a:ext>
            </a:extLst>
          </p:cNvPr>
          <p:cNvPicPr>
            <a:picLocks noChangeAspect="1"/>
          </p:cNvPicPr>
          <p:nvPr/>
        </p:nvPicPr>
        <p:blipFill>
          <a:blip r:embed="rId3"/>
          <a:stretch>
            <a:fillRect/>
          </a:stretch>
        </p:blipFill>
        <p:spPr>
          <a:xfrm rot="451605">
            <a:off x="7937557" y="1550535"/>
            <a:ext cx="2151070" cy="3053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Picture 19">
            <a:extLst>
              <a:ext uri="{FF2B5EF4-FFF2-40B4-BE49-F238E27FC236}">
                <a16:creationId xmlns:a16="http://schemas.microsoft.com/office/drawing/2014/main" xmlns="" id="{5BF6464E-6C7C-47BF-A5FE-A382B1B45BD6}"/>
              </a:ext>
            </a:extLst>
          </p:cNvPr>
          <p:cNvPicPr>
            <a:picLocks noChangeAspect="1"/>
          </p:cNvPicPr>
          <p:nvPr/>
        </p:nvPicPr>
        <p:blipFill>
          <a:blip r:embed="rId4"/>
          <a:stretch>
            <a:fillRect/>
          </a:stretch>
        </p:blipFill>
        <p:spPr>
          <a:xfrm rot="21325174">
            <a:off x="7257305" y="2483592"/>
            <a:ext cx="2078274" cy="29388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95326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F117DD-6EA3-4D56-9D50-A7824E5309F6}"/>
              </a:ext>
            </a:extLst>
          </p:cNvPr>
          <p:cNvSpPr>
            <a:spLocks noGrp="1"/>
          </p:cNvSpPr>
          <p:nvPr>
            <p:ph type="title"/>
          </p:nvPr>
        </p:nvSpPr>
        <p:spPr/>
        <p:txBody>
          <a:bodyPr/>
          <a:lstStyle/>
          <a:p>
            <a:r>
              <a:rPr lang="en-GB" dirty="0"/>
              <a:t>Matters considered further affecting whole document</a:t>
            </a:r>
          </a:p>
        </p:txBody>
      </p:sp>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sp>
        <p:nvSpPr>
          <p:cNvPr id="15" name="Oval 14">
            <a:extLst>
              <a:ext uri="{FF2B5EF4-FFF2-40B4-BE49-F238E27FC236}">
                <a16:creationId xmlns:a16="http://schemas.microsoft.com/office/drawing/2014/main" xmlns="" id="{9EB39395-5836-48D5-81A6-6C186526BCFC}"/>
              </a:ext>
            </a:extLst>
          </p:cNvPr>
          <p:cNvSpPr/>
          <p:nvPr/>
        </p:nvSpPr>
        <p:spPr>
          <a:xfrm>
            <a:off x="4684998" y="2166545"/>
            <a:ext cx="2528126" cy="2528126"/>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a:r>
              <a:rPr lang="en-GB" sz="2800" dirty="0">
                <a:solidFill>
                  <a:schemeClr val="bg1"/>
                </a:solidFill>
                <a:latin typeface="Arial" panose="020B0604020202020204" pitchFamily="34" charset="0"/>
                <a:cs typeface="Arial" panose="020B0604020202020204" pitchFamily="34" charset="0"/>
              </a:rPr>
              <a:t>Structure and Length</a:t>
            </a:r>
          </a:p>
        </p:txBody>
      </p:sp>
      <p:sp>
        <p:nvSpPr>
          <p:cNvPr id="16" name="Oval 15">
            <a:extLst>
              <a:ext uri="{FF2B5EF4-FFF2-40B4-BE49-F238E27FC236}">
                <a16:creationId xmlns:a16="http://schemas.microsoft.com/office/drawing/2014/main" xmlns="" id="{13584E34-6A8D-4DD4-BB2F-E9447E831A0C}"/>
              </a:ext>
            </a:extLst>
          </p:cNvPr>
          <p:cNvSpPr/>
          <p:nvPr/>
        </p:nvSpPr>
        <p:spPr>
          <a:xfrm>
            <a:off x="648845" y="1425234"/>
            <a:ext cx="2911387" cy="2911387"/>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a:r>
              <a:rPr lang="en-GB" sz="2800" dirty="0">
                <a:solidFill>
                  <a:schemeClr val="bg1"/>
                </a:solidFill>
                <a:latin typeface="Arial" panose="020B0604020202020204" pitchFamily="34" charset="0"/>
                <a:cs typeface="Arial" panose="020B0604020202020204" pitchFamily="34" charset="0"/>
              </a:rPr>
              <a:t>Drafting Conventions</a:t>
            </a:r>
          </a:p>
        </p:txBody>
      </p:sp>
      <p:sp>
        <p:nvSpPr>
          <p:cNvPr id="17" name="Oval 16">
            <a:extLst>
              <a:ext uri="{FF2B5EF4-FFF2-40B4-BE49-F238E27FC236}">
                <a16:creationId xmlns:a16="http://schemas.microsoft.com/office/drawing/2014/main" xmlns="" id="{A6B156F8-F211-40CA-9C60-48BD73A6A96F}"/>
              </a:ext>
            </a:extLst>
          </p:cNvPr>
          <p:cNvSpPr/>
          <p:nvPr/>
        </p:nvSpPr>
        <p:spPr>
          <a:xfrm>
            <a:off x="2899275" y="4203166"/>
            <a:ext cx="1899408" cy="1899408"/>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a:r>
              <a:rPr lang="en-GB" sz="2800" dirty="0">
                <a:solidFill>
                  <a:schemeClr val="bg1"/>
                </a:solidFill>
                <a:latin typeface="Arial" panose="020B0604020202020204" pitchFamily="34" charset="0"/>
                <a:cs typeface="Arial" panose="020B0604020202020204" pitchFamily="34" charset="0"/>
              </a:rPr>
              <a:t>Name</a:t>
            </a:r>
            <a:endParaRPr lang="en-GB" sz="1600" dirty="0">
              <a:solidFill>
                <a:schemeClr val="bg1"/>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xmlns="" id="{9E63E24E-4116-4C36-8DF0-72E638EC5CC3}"/>
              </a:ext>
            </a:extLst>
          </p:cNvPr>
          <p:cNvGrpSpPr/>
          <p:nvPr/>
        </p:nvGrpSpPr>
        <p:grpSpPr>
          <a:xfrm>
            <a:off x="9905146" y="1394108"/>
            <a:ext cx="2003273" cy="599665"/>
            <a:chOff x="9856378" y="5709685"/>
            <a:chExt cx="2003273" cy="599665"/>
          </a:xfrm>
        </p:grpSpPr>
        <p:sp>
          <p:nvSpPr>
            <p:cNvPr id="8" name="Rectangle 7">
              <a:extLst>
                <a:ext uri="{FF2B5EF4-FFF2-40B4-BE49-F238E27FC236}">
                  <a16:creationId xmlns:a16="http://schemas.microsoft.com/office/drawing/2014/main" xmlns="" id="{1C4D9ED6-0B3D-442C-AB78-955C19C203EF}"/>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33, 34 and 38</a:t>
              </a:r>
            </a:p>
          </p:txBody>
        </p:sp>
        <p:pic>
          <p:nvPicPr>
            <p:cNvPr id="9" name="Graphic 8" descr="Document">
              <a:extLst>
                <a:ext uri="{FF2B5EF4-FFF2-40B4-BE49-F238E27FC236}">
                  <a16:creationId xmlns:a16="http://schemas.microsoft.com/office/drawing/2014/main" xmlns="" id="{31995DDE-BB18-4FC7-A421-5F0CBDA6115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pic>
        <p:nvPicPr>
          <p:cNvPr id="10" name="Picture 9">
            <a:extLst>
              <a:ext uri="{FF2B5EF4-FFF2-40B4-BE49-F238E27FC236}">
                <a16:creationId xmlns:a16="http://schemas.microsoft.com/office/drawing/2014/main" xmlns="" id="{73FE76AF-D901-4B53-B535-4CC3B4822176}"/>
              </a:ext>
            </a:extLst>
          </p:cNvPr>
          <p:cNvPicPr>
            <a:picLocks noChangeAspect="1"/>
          </p:cNvPicPr>
          <p:nvPr/>
        </p:nvPicPr>
        <p:blipFill>
          <a:blip r:embed="rId5"/>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8262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079E45-4549-4507-ACC0-B05D287C501C}"/>
              </a:ext>
            </a:extLst>
          </p:cNvPr>
          <p:cNvSpPr>
            <a:spLocks noGrp="1"/>
          </p:cNvSpPr>
          <p:nvPr>
            <p:ph type="title"/>
          </p:nvPr>
        </p:nvSpPr>
        <p:spPr/>
        <p:txBody>
          <a:bodyPr/>
          <a:lstStyle/>
          <a:p>
            <a:r>
              <a:rPr lang="en-GB" dirty="0"/>
              <a:t>Preconditions for an assurance engagement</a:t>
            </a:r>
          </a:p>
        </p:txBody>
      </p:sp>
      <p:sp>
        <p:nvSpPr>
          <p:cNvPr id="3" name="Content Placeholder 2">
            <a:extLst>
              <a:ext uri="{FF2B5EF4-FFF2-40B4-BE49-F238E27FC236}">
                <a16:creationId xmlns:a16="http://schemas.microsoft.com/office/drawing/2014/main" xmlns="" id="{1DBE0944-49BA-4C50-8ED0-31D35BB98585}"/>
              </a:ext>
            </a:extLst>
          </p:cNvPr>
          <p:cNvSpPr>
            <a:spLocks noGrp="1"/>
          </p:cNvSpPr>
          <p:nvPr>
            <p:ph idx="1"/>
          </p:nvPr>
        </p:nvSpPr>
        <p:spPr>
          <a:xfrm>
            <a:off x="609600" y="1600201"/>
            <a:ext cx="10972800" cy="4687883"/>
          </a:xfrm>
        </p:spPr>
        <p:txBody>
          <a:bodyPr/>
          <a:lstStyle/>
          <a:p>
            <a:pPr marL="0" indent="0">
              <a:buNone/>
            </a:pPr>
            <a:r>
              <a:rPr lang="en-GB" dirty="0"/>
              <a:t>Task Force has changed the focus in the guidance: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Explained more clearly the relationship of this to the preconditions in ISAE 3000 (Revised)</a:t>
            </a:r>
          </a:p>
        </p:txBody>
      </p:sp>
      <p:sp>
        <p:nvSpPr>
          <p:cNvPr id="4" name="Slide Number Placeholder 3">
            <a:extLst>
              <a:ext uri="{FF2B5EF4-FFF2-40B4-BE49-F238E27FC236}">
                <a16:creationId xmlns:a16="http://schemas.microsoft.com/office/drawing/2014/main" xmlns="" id="{6C4D6DD9-C884-48D5-8B6C-4ACC73D96E8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E60D7C64-6004-49D3-9A59-383B44495453}"/>
              </a:ext>
            </a:extLst>
          </p:cNvPr>
          <p:cNvGrpSpPr/>
          <p:nvPr/>
        </p:nvGrpSpPr>
        <p:grpSpPr>
          <a:xfrm>
            <a:off x="9905146" y="1394108"/>
            <a:ext cx="2003273" cy="599665"/>
            <a:chOff x="9856378" y="5709685"/>
            <a:chExt cx="2003273" cy="599665"/>
          </a:xfrm>
        </p:grpSpPr>
        <p:sp>
          <p:nvSpPr>
            <p:cNvPr id="6" name="Rectangle 5">
              <a:extLst>
                <a:ext uri="{FF2B5EF4-FFF2-40B4-BE49-F238E27FC236}">
                  <a16:creationId xmlns:a16="http://schemas.microsoft.com/office/drawing/2014/main" xmlns="" id="{922817A2-E09D-40AB-B0DF-B49C5E13F9CD}"/>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11-13</a:t>
              </a:r>
            </a:p>
          </p:txBody>
        </p:sp>
        <p:pic>
          <p:nvPicPr>
            <p:cNvPr id="7" name="Graphic 6" descr="Document">
              <a:extLst>
                <a:ext uri="{FF2B5EF4-FFF2-40B4-BE49-F238E27FC236}">
                  <a16:creationId xmlns:a16="http://schemas.microsoft.com/office/drawing/2014/main" xmlns="" id="{D69AC8E5-292C-460B-BDAF-8FC197BC0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sp>
        <p:nvSpPr>
          <p:cNvPr id="8" name="Oval 7">
            <a:extLst>
              <a:ext uri="{FF2B5EF4-FFF2-40B4-BE49-F238E27FC236}">
                <a16:creationId xmlns:a16="http://schemas.microsoft.com/office/drawing/2014/main" xmlns="" id="{405B6694-48EC-41CF-9316-9944B28A17E3}"/>
              </a:ext>
            </a:extLst>
          </p:cNvPr>
          <p:cNvSpPr/>
          <p:nvPr/>
        </p:nvSpPr>
        <p:spPr>
          <a:xfrm>
            <a:off x="1061732" y="2478561"/>
            <a:ext cx="2278876" cy="2278876"/>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r>
              <a:rPr lang="en-GB" sz="1600" dirty="0">
                <a:solidFill>
                  <a:schemeClr val="bg1">
                    <a:lumMod val="75000"/>
                  </a:schemeClr>
                </a:solidFill>
                <a:latin typeface="Arial" panose="020B0604020202020204" pitchFamily="34" charset="0"/>
                <a:cs typeface="Arial" panose="020B0604020202020204" pitchFamily="34" charset="0"/>
              </a:rPr>
              <a:t>System of internal control needs to be sufficiently </a:t>
            </a:r>
            <a:r>
              <a:rPr lang="en-GB" sz="1600" dirty="0">
                <a:latin typeface="Arial" panose="020B0604020202020204" pitchFamily="34" charset="0"/>
                <a:cs typeface="Arial" panose="020B0604020202020204" pitchFamily="34" charset="0"/>
              </a:rPr>
              <a:t>robust and mature</a:t>
            </a:r>
          </a:p>
        </p:txBody>
      </p:sp>
      <p:sp>
        <p:nvSpPr>
          <p:cNvPr id="10" name="TextBox 9">
            <a:extLst>
              <a:ext uri="{FF2B5EF4-FFF2-40B4-BE49-F238E27FC236}">
                <a16:creationId xmlns:a16="http://schemas.microsoft.com/office/drawing/2014/main" xmlns="" id="{8793BA34-4466-4696-AC80-C0E5218207DF}"/>
              </a:ext>
            </a:extLst>
          </p:cNvPr>
          <p:cNvSpPr txBox="1"/>
          <p:nvPr/>
        </p:nvSpPr>
        <p:spPr>
          <a:xfrm>
            <a:off x="1061732" y="2155106"/>
            <a:ext cx="2278876" cy="276999"/>
          </a:xfrm>
          <a:prstGeom prst="rect">
            <a:avLst/>
          </a:prstGeom>
          <a:noFill/>
        </p:spPr>
        <p:txBody>
          <a:bodyPr wrap="square" rtlCol="0">
            <a:spAutoFit/>
          </a:bodyPr>
          <a:lstStyle/>
          <a:p>
            <a:pPr algn="ctr"/>
            <a:r>
              <a:rPr lang="en-GB" sz="1200" b="1" dirty="0">
                <a:solidFill>
                  <a:srgbClr val="808080"/>
                </a:solidFill>
                <a:latin typeface="Arial" panose="020B0604020202020204" pitchFamily="34" charset="0"/>
                <a:cs typeface="Arial" panose="020B0604020202020204" pitchFamily="34" charset="0"/>
              </a:rPr>
              <a:t>September 2018</a:t>
            </a:r>
          </a:p>
        </p:txBody>
      </p:sp>
      <p:sp>
        <p:nvSpPr>
          <p:cNvPr id="11" name="Oval 10">
            <a:extLst>
              <a:ext uri="{FF2B5EF4-FFF2-40B4-BE49-F238E27FC236}">
                <a16:creationId xmlns:a16="http://schemas.microsoft.com/office/drawing/2014/main" xmlns="" id="{E2BC4757-574C-416D-8E52-C42A9FFE888A}"/>
              </a:ext>
            </a:extLst>
          </p:cNvPr>
          <p:cNvSpPr/>
          <p:nvPr/>
        </p:nvSpPr>
        <p:spPr>
          <a:xfrm>
            <a:off x="4524260" y="2478561"/>
            <a:ext cx="2278876" cy="2278876"/>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r>
              <a:rPr lang="en-GB" sz="1600" dirty="0">
                <a:solidFill>
                  <a:schemeClr val="bg1">
                    <a:lumMod val="75000"/>
                  </a:schemeClr>
                </a:solidFill>
                <a:latin typeface="Arial" panose="020B0604020202020204" pitchFamily="34" charset="0"/>
                <a:cs typeface="Arial" panose="020B0604020202020204" pitchFamily="34" charset="0"/>
              </a:rPr>
              <a:t>Process to prepare report needs to be </a:t>
            </a:r>
            <a:r>
              <a:rPr lang="en-GB" sz="1600" dirty="0">
                <a:solidFill>
                  <a:schemeClr val="bg1"/>
                </a:solidFill>
                <a:latin typeface="Arial" panose="020B0604020202020204" pitchFamily="34" charset="0"/>
                <a:cs typeface="Arial" panose="020B0604020202020204" pitchFamily="34" charset="0"/>
              </a:rPr>
              <a:t>appropriate</a:t>
            </a:r>
            <a:r>
              <a:rPr lang="en-GB" sz="1600" dirty="0">
                <a:solidFill>
                  <a:schemeClr val="bg1">
                    <a:lumMod val="75000"/>
                  </a:schemeClr>
                </a:solidFill>
                <a:latin typeface="Arial" panose="020B0604020202020204" pitchFamily="34" charset="0"/>
                <a:cs typeface="Arial" panose="020B0604020202020204" pitchFamily="34" charset="0"/>
              </a:rPr>
              <a:t> in the engagement circumstances</a:t>
            </a:r>
          </a:p>
        </p:txBody>
      </p:sp>
      <p:sp>
        <p:nvSpPr>
          <p:cNvPr id="12" name="TextBox 11">
            <a:extLst>
              <a:ext uri="{FF2B5EF4-FFF2-40B4-BE49-F238E27FC236}">
                <a16:creationId xmlns:a16="http://schemas.microsoft.com/office/drawing/2014/main" xmlns="" id="{8CC1C16A-228F-4658-9306-E9C2944B1D33}"/>
              </a:ext>
            </a:extLst>
          </p:cNvPr>
          <p:cNvSpPr txBox="1"/>
          <p:nvPr/>
        </p:nvSpPr>
        <p:spPr>
          <a:xfrm>
            <a:off x="4524260" y="2155106"/>
            <a:ext cx="2278876" cy="276999"/>
          </a:xfrm>
          <a:prstGeom prst="rect">
            <a:avLst/>
          </a:prstGeom>
          <a:noFill/>
        </p:spPr>
        <p:txBody>
          <a:bodyPr wrap="square" rtlCol="0">
            <a:spAutoFit/>
          </a:bodyPr>
          <a:lstStyle/>
          <a:p>
            <a:pPr algn="ctr"/>
            <a:r>
              <a:rPr lang="en-GB" sz="1200" b="1" dirty="0">
                <a:solidFill>
                  <a:srgbClr val="808080"/>
                </a:solidFill>
                <a:latin typeface="Arial" panose="020B0604020202020204" pitchFamily="34" charset="0"/>
                <a:cs typeface="Arial" panose="020B0604020202020204" pitchFamily="34" charset="0"/>
              </a:rPr>
              <a:t>December 2018</a:t>
            </a:r>
          </a:p>
        </p:txBody>
      </p:sp>
      <p:sp>
        <p:nvSpPr>
          <p:cNvPr id="13" name="Arrow: Right 12">
            <a:extLst>
              <a:ext uri="{FF2B5EF4-FFF2-40B4-BE49-F238E27FC236}">
                <a16:creationId xmlns:a16="http://schemas.microsoft.com/office/drawing/2014/main" xmlns="" id="{C72E0448-CC7A-4512-B6EB-3D204ADA63AF}"/>
              </a:ext>
            </a:extLst>
          </p:cNvPr>
          <p:cNvSpPr/>
          <p:nvPr/>
        </p:nvSpPr>
        <p:spPr>
          <a:xfrm>
            <a:off x="3510268" y="3345155"/>
            <a:ext cx="841248" cy="438912"/>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en-GB" sz="16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xmlns="" id="{10A0E636-A5CD-4C02-A14F-04E172A7FC27}"/>
              </a:ext>
            </a:extLst>
          </p:cNvPr>
          <p:cNvSpPr txBox="1"/>
          <p:nvPr/>
        </p:nvSpPr>
        <p:spPr>
          <a:xfrm>
            <a:off x="7763309" y="3992102"/>
            <a:ext cx="3248627" cy="1569660"/>
          </a:xfrm>
          <a:prstGeom prst="rect">
            <a:avLst/>
          </a:prstGeom>
          <a:noFill/>
        </p:spPr>
        <p:txBody>
          <a:bodyPr wrap="square" rtlCol="0">
            <a:spAutoFit/>
          </a:bodyPr>
          <a:lstStyle/>
          <a:p>
            <a:pPr algn="ctr"/>
            <a:r>
              <a:rPr lang="en-GB" sz="1600" dirty="0">
                <a:solidFill>
                  <a:srgbClr val="808080"/>
                </a:solidFill>
                <a:latin typeface="Arial" panose="020B0604020202020204" pitchFamily="34" charset="0"/>
                <a:cs typeface="Arial" panose="020B0604020202020204" pitchFamily="34" charset="0"/>
              </a:rPr>
              <a:t>adequate for the preparer to have a reasonable basis for the subject matter information and for the practitioner to expect to be able to obtain the evidence needed to support their conclusion.</a:t>
            </a:r>
          </a:p>
        </p:txBody>
      </p:sp>
      <p:pic>
        <p:nvPicPr>
          <p:cNvPr id="18" name="Graphic 17" descr="Line Arrow: Slight curve">
            <a:extLst>
              <a:ext uri="{FF2B5EF4-FFF2-40B4-BE49-F238E27FC236}">
                <a16:creationId xmlns:a16="http://schemas.microsoft.com/office/drawing/2014/main" xmlns="" id="{29787A75-43A0-49A6-A0DB-9C29A5F9D97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521278" y="4073510"/>
            <a:ext cx="1242031" cy="1242031"/>
          </a:xfrm>
          <a:prstGeom prst="rect">
            <a:avLst/>
          </a:prstGeom>
        </p:spPr>
      </p:pic>
      <p:pic>
        <p:nvPicPr>
          <p:cNvPr id="15" name="Picture 14">
            <a:extLst>
              <a:ext uri="{FF2B5EF4-FFF2-40B4-BE49-F238E27FC236}">
                <a16:creationId xmlns:a16="http://schemas.microsoft.com/office/drawing/2014/main" xmlns="" id="{83349178-8247-4BD0-83F1-2A865F0AEAA0}"/>
              </a:ext>
            </a:extLst>
          </p:cNvPr>
          <p:cNvPicPr>
            <a:picLocks noChangeAspect="1"/>
          </p:cNvPicPr>
          <p:nvPr/>
        </p:nvPicPr>
        <p:blipFill>
          <a:blip r:embed="rId7"/>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56027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1CD5D0-5FA2-4A61-9504-46DD3FD16213}"/>
              </a:ext>
            </a:extLst>
          </p:cNvPr>
          <p:cNvSpPr>
            <a:spLocks noGrp="1"/>
          </p:cNvSpPr>
          <p:nvPr>
            <p:ph type="title"/>
          </p:nvPr>
        </p:nvSpPr>
        <p:spPr/>
        <p:txBody>
          <a:bodyPr/>
          <a:lstStyle/>
          <a:p>
            <a:r>
              <a:rPr lang="en-GB" dirty="0"/>
              <a:t>Discussion on the Updated Draft Guidance</a:t>
            </a:r>
          </a:p>
        </p:txBody>
      </p:sp>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grpSp>
        <p:nvGrpSpPr>
          <p:cNvPr id="8" name="Group 7">
            <a:extLst>
              <a:ext uri="{FF2B5EF4-FFF2-40B4-BE49-F238E27FC236}">
                <a16:creationId xmlns:a16="http://schemas.microsoft.com/office/drawing/2014/main" xmlns="" id="{74D9868C-8A20-475D-8356-EAFE15989264}"/>
              </a:ext>
            </a:extLst>
          </p:cNvPr>
          <p:cNvGrpSpPr/>
          <p:nvPr/>
        </p:nvGrpSpPr>
        <p:grpSpPr>
          <a:xfrm>
            <a:off x="605314" y="5681930"/>
            <a:ext cx="2115879" cy="599665"/>
            <a:chOff x="609597" y="5598647"/>
            <a:chExt cx="2115879" cy="599665"/>
          </a:xfrm>
        </p:grpSpPr>
        <p:sp>
          <p:nvSpPr>
            <p:cNvPr id="9" name="Rectangle 8">
              <a:extLst>
                <a:ext uri="{FF2B5EF4-FFF2-40B4-BE49-F238E27FC236}">
                  <a16:creationId xmlns:a16="http://schemas.microsoft.com/office/drawing/2014/main" xmlns="" id="{5C371F1A-B8E9-4061-B778-EC430CE80038}"/>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1 - 55</a:t>
              </a:r>
            </a:p>
          </p:txBody>
        </p:sp>
        <p:pic>
          <p:nvPicPr>
            <p:cNvPr id="10" name="Graphic 9" descr="Document">
              <a:extLst>
                <a:ext uri="{FF2B5EF4-FFF2-40B4-BE49-F238E27FC236}">
                  <a16:creationId xmlns:a16="http://schemas.microsoft.com/office/drawing/2014/main" xmlns="" id="{CB072922-2BBB-41BE-B51A-CF8B65DE556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18243" y="5636167"/>
              <a:ext cx="524623" cy="524623"/>
            </a:xfrm>
            <a:prstGeom prst="rect">
              <a:avLst/>
            </a:prstGeom>
          </p:spPr>
        </p:pic>
      </p:grpSp>
      <p:sp>
        <p:nvSpPr>
          <p:cNvPr id="11" name="Rectangle 10">
            <a:extLst>
              <a:ext uri="{FF2B5EF4-FFF2-40B4-BE49-F238E27FC236}">
                <a16:creationId xmlns:a16="http://schemas.microsoft.com/office/drawing/2014/main" xmlns="" id="{4C3E9CD0-1A4D-4D42-A22D-74C8E3B1C140}"/>
              </a:ext>
            </a:extLst>
          </p:cNvPr>
          <p:cNvSpPr/>
          <p:nvPr/>
        </p:nvSpPr>
        <p:spPr>
          <a:xfrm>
            <a:off x="609600" y="1456966"/>
            <a:ext cx="5413952" cy="769441"/>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a:t>
            </a:r>
          </a:p>
          <a:p>
            <a:r>
              <a:rPr lang="en-GB" sz="2400" b="1" dirty="0">
                <a:solidFill>
                  <a:srgbClr val="808080"/>
                </a:solidFill>
                <a:latin typeface="Arial" panose="020B0604020202020204" pitchFamily="34" charset="0"/>
                <a:cs typeface="Arial" panose="020B0604020202020204" pitchFamily="34" charset="0"/>
              </a:rPr>
              <a:t>Introduction</a:t>
            </a:r>
            <a:endParaRPr lang="en-GB" sz="2400" dirty="0">
              <a:solidFill>
                <a:srgbClr val="808080"/>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xmlns="" id="{DCCF2D40-21A2-4EAB-8E35-D26062651D13}"/>
              </a:ext>
            </a:extLst>
          </p:cNvPr>
          <p:cNvSpPr/>
          <p:nvPr/>
        </p:nvSpPr>
        <p:spPr>
          <a:xfrm>
            <a:off x="609600" y="2368590"/>
            <a:ext cx="5413952"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2</a:t>
            </a:r>
          </a:p>
          <a:p>
            <a:r>
              <a:rPr lang="en-GB" sz="2400" b="1" dirty="0">
                <a:solidFill>
                  <a:srgbClr val="808080"/>
                </a:solidFill>
                <a:latin typeface="Arial" panose="020B0604020202020204" pitchFamily="34" charset="0"/>
                <a:cs typeface="Arial" panose="020B0604020202020204" pitchFamily="34" charset="0"/>
              </a:rPr>
              <a:t>Overview of an EER Assurance Engagement</a:t>
            </a:r>
            <a:endParaRPr lang="en-GB" sz="2400" dirty="0">
              <a:solidFill>
                <a:srgbClr val="808080"/>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xmlns="" id="{FEBFD19E-B63E-4AE9-B3DD-18B2E6D4730D}"/>
              </a:ext>
            </a:extLst>
          </p:cNvPr>
          <p:cNvSpPr/>
          <p:nvPr/>
        </p:nvSpPr>
        <p:spPr>
          <a:xfrm>
            <a:off x="609600" y="3649546"/>
            <a:ext cx="5413952"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3</a:t>
            </a:r>
          </a:p>
          <a:p>
            <a:r>
              <a:rPr lang="en-GB" sz="2400" b="1" dirty="0">
                <a:solidFill>
                  <a:srgbClr val="808080"/>
                </a:solidFill>
                <a:latin typeface="Arial" panose="020B0604020202020204" pitchFamily="34" charset="0"/>
                <a:cs typeface="Arial" panose="020B0604020202020204" pitchFamily="34" charset="0"/>
              </a:rPr>
              <a:t>Determining Preconditions and Agreeing the Scope</a:t>
            </a:r>
            <a:endParaRPr lang="en-GB" sz="2400" dirty="0">
              <a:solidFill>
                <a:srgbClr val="808080"/>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xmlns="" id="{D09DE35A-D3A7-4909-9486-0CF0441FABB5}"/>
              </a:ext>
            </a:extLst>
          </p:cNvPr>
          <p:cNvSpPr/>
          <p:nvPr/>
        </p:nvSpPr>
        <p:spPr>
          <a:xfrm>
            <a:off x="605314" y="4932653"/>
            <a:ext cx="5413952" cy="400110"/>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Appendices</a:t>
            </a:r>
          </a:p>
        </p:txBody>
      </p:sp>
      <p:sp>
        <p:nvSpPr>
          <p:cNvPr id="19" name="Content Placeholder 2">
            <a:extLst>
              <a:ext uri="{FF2B5EF4-FFF2-40B4-BE49-F238E27FC236}">
                <a16:creationId xmlns:a16="http://schemas.microsoft.com/office/drawing/2014/main" xmlns="" id="{BA793384-03CE-4A25-B599-99F89685BB02}"/>
              </a:ext>
            </a:extLst>
          </p:cNvPr>
          <p:cNvSpPr txBox="1">
            <a:spLocks/>
          </p:cNvSpPr>
          <p:nvPr/>
        </p:nvSpPr>
        <p:spPr>
          <a:xfrm>
            <a:off x="6266688" y="1393631"/>
            <a:ext cx="5315712" cy="4337303"/>
          </a:xfrm>
          <a:prstGeom prst="rect">
            <a:avLst/>
          </a:prstGeom>
          <a:solidFill>
            <a:schemeClr val="bg1">
              <a:lumMod val="95000"/>
            </a:schemeClr>
          </a:solidFill>
          <a:ln>
            <a:solidFill>
              <a:schemeClr val="bg1">
                <a:lumMod val="50000"/>
              </a:schemeClr>
            </a:solidFill>
          </a:ln>
          <a:effectLst>
            <a:outerShdw blurRad="63500" sx="102000" sy="102000" algn="ctr" rotWithShape="0">
              <a:prstClr val="black">
                <a:alpha val="40000"/>
              </a:prstClr>
            </a:outerShdw>
          </a:effectLst>
        </p:spPr>
        <p:txBody>
          <a:bodyPr vert="horz" lIns="180000" tIns="180000" rIns="180000" bIns="180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800" dirty="0"/>
              <a:t>The IAASB is asked for its views on:</a:t>
            </a:r>
          </a:p>
          <a:p>
            <a:pPr marL="457200" indent="-457200">
              <a:buFont typeface="+mj-lt"/>
              <a:buAutoNum type="arabicParenR"/>
            </a:pPr>
            <a:r>
              <a:rPr lang="en-GB" sz="1800" dirty="0"/>
              <a:t>Whether the Task Force has appropriately responded to feedback given at the September 2018 meeting;</a:t>
            </a:r>
          </a:p>
          <a:p>
            <a:pPr marL="457200" indent="-457200">
              <a:buFont typeface="+mj-lt"/>
              <a:buAutoNum type="arabicParenR"/>
            </a:pPr>
            <a:r>
              <a:rPr lang="en-GB" sz="1800" dirty="0"/>
              <a:t>Whether the updated draft guidance is effective in assisting practitioners to address the issues related to each of the challenges that were allocated to phase 1; and</a:t>
            </a:r>
          </a:p>
          <a:p>
            <a:pPr marL="457200" indent="-457200">
              <a:buFont typeface="+mj-lt"/>
              <a:buAutoNum type="arabicParenR"/>
            </a:pPr>
            <a:r>
              <a:rPr lang="en-GB" sz="1800" dirty="0"/>
              <a:t>Whether further revisions are needed to the draft guidance in Agenda Item 8-A prior to it being published as an exposure draft for public comment.</a:t>
            </a:r>
          </a:p>
        </p:txBody>
      </p:sp>
    </p:spTree>
    <p:extLst>
      <p:ext uri="{BB962C8B-B14F-4D97-AF65-F5344CB8AC3E}">
        <p14:creationId xmlns:p14="http://schemas.microsoft.com/office/powerpoint/2010/main" val="2615592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sp>
        <p:nvSpPr>
          <p:cNvPr id="18" name="Rectangle 17">
            <a:extLst>
              <a:ext uri="{FF2B5EF4-FFF2-40B4-BE49-F238E27FC236}">
                <a16:creationId xmlns:a16="http://schemas.microsoft.com/office/drawing/2014/main" xmlns="" id="{CF958752-2B70-4515-8A6C-F7A0B9F67DC6}"/>
              </a:ext>
            </a:extLst>
          </p:cNvPr>
          <p:cNvSpPr/>
          <p:nvPr/>
        </p:nvSpPr>
        <p:spPr>
          <a:xfrm>
            <a:off x="605314" y="1785926"/>
            <a:ext cx="4892103" cy="2431435"/>
          </a:xfrm>
          <a:prstGeom prst="rect">
            <a:avLst/>
          </a:prstGeom>
        </p:spPr>
        <p:txBody>
          <a:bodyPr wrap="square">
            <a:spAutoFit/>
          </a:bodyPr>
          <a:lstStyle/>
          <a:p>
            <a:r>
              <a:rPr lang="en-GB" sz="3200" dirty="0">
                <a:solidFill>
                  <a:srgbClr val="808080"/>
                </a:solidFill>
                <a:latin typeface="Arial" panose="020B0604020202020204" pitchFamily="34" charset="0"/>
                <a:cs typeface="Arial" panose="020B0604020202020204" pitchFamily="34" charset="0"/>
              </a:rPr>
              <a:t>Chapter 6</a:t>
            </a:r>
          </a:p>
          <a:p>
            <a:endParaRPr lang="en-GB" sz="1200" dirty="0">
              <a:solidFill>
                <a:srgbClr val="808080"/>
              </a:solidFill>
              <a:latin typeface="Arial" panose="020B0604020202020204" pitchFamily="34" charset="0"/>
              <a:cs typeface="Arial" panose="020B0604020202020204" pitchFamily="34" charset="0"/>
            </a:endParaRPr>
          </a:p>
          <a:p>
            <a:r>
              <a:rPr lang="en-GB" sz="3600" b="1" dirty="0">
                <a:solidFill>
                  <a:srgbClr val="808080"/>
                </a:solidFill>
                <a:latin typeface="Arial" panose="020B0604020202020204" pitchFamily="34" charset="0"/>
                <a:cs typeface="Arial" panose="020B0604020202020204" pitchFamily="34" charset="0"/>
              </a:rPr>
              <a:t>Evaluating the Entity’s Governance and Internal Control</a:t>
            </a:r>
          </a:p>
        </p:txBody>
      </p:sp>
      <p:pic>
        <p:nvPicPr>
          <p:cNvPr id="20" name="Picture 19">
            <a:extLst>
              <a:ext uri="{FF2B5EF4-FFF2-40B4-BE49-F238E27FC236}">
                <a16:creationId xmlns:a16="http://schemas.microsoft.com/office/drawing/2014/main" xmlns="" id="{EE5C406D-CB05-4F6E-BD2E-29E620B61B6E}"/>
              </a:ext>
            </a:extLst>
          </p:cNvPr>
          <p:cNvPicPr>
            <a:picLocks noChangeAspect="1"/>
          </p:cNvPicPr>
          <p:nvPr/>
        </p:nvPicPr>
        <p:blipFill>
          <a:blip r:embed="rId3"/>
          <a:stretch>
            <a:fillRect/>
          </a:stretch>
        </p:blipFill>
        <p:spPr>
          <a:xfrm rot="451605">
            <a:off x="7937557" y="1550535"/>
            <a:ext cx="2151070" cy="3053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1" name="Picture 20">
            <a:extLst>
              <a:ext uri="{FF2B5EF4-FFF2-40B4-BE49-F238E27FC236}">
                <a16:creationId xmlns:a16="http://schemas.microsoft.com/office/drawing/2014/main" xmlns="" id="{632267E2-30D5-4328-A136-1D4A56D7733E}"/>
              </a:ext>
            </a:extLst>
          </p:cNvPr>
          <p:cNvPicPr>
            <a:picLocks noChangeAspect="1"/>
          </p:cNvPicPr>
          <p:nvPr/>
        </p:nvPicPr>
        <p:blipFill>
          <a:blip r:embed="rId4"/>
          <a:stretch>
            <a:fillRect/>
          </a:stretch>
        </p:blipFill>
        <p:spPr>
          <a:xfrm rot="21325174">
            <a:off x="7257305" y="2483592"/>
            <a:ext cx="2078274" cy="29388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37431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1CD5D0-5FA2-4A61-9504-46DD3FD16213}"/>
              </a:ext>
            </a:extLst>
          </p:cNvPr>
          <p:cNvSpPr>
            <a:spLocks noGrp="1"/>
          </p:cNvSpPr>
          <p:nvPr>
            <p:ph type="title"/>
          </p:nvPr>
        </p:nvSpPr>
        <p:spPr/>
        <p:txBody>
          <a:bodyPr/>
          <a:lstStyle/>
          <a:p>
            <a:r>
              <a:rPr lang="en-GB" dirty="0"/>
              <a:t>Discussion on the Updated Draft Guidance</a:t>
            </a:r>
          </a:p>
        </p:txBody>
      </p:sp>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MS PGothic" charset="0"/>
            </a:endParaRPr>
          </a:p>
        </p:txBody>
      </p:sp>
      <p:sp>
        <p:nvSpPr>
          <p:cNvPr id="19" name="Content Placeholder 2">
            <a:extLst>
              <a:ext uri="{FF2B5EF4-FFF2-40B4-BE49-F238E27FC236}">
                <a16:creationId xmlns:a16="http://schemas.microsoft.com/office/drawing/2014/main" xmlns="" id="{BA793384-03CE-4A25-B599-99F89685BB02}"/>
              </a:ext>
            </a:extLst>
          </p:cNvPr>
          <p:cNvSpPr txBox="1">
            <a:spLocks/>
          </p:cNvSpPr>
          <p:nvPr/>
        </p:nvSpPr>
        <p:spPr>
          <a:xfrm>
            <a:off x="6266688" y="1393631"/>
            <a:ext cx="5315712" cy="4337303"/>
          </a:xfrm>
          <a:prstGeom prst="rect">
            <a:avLst/>
          </a:prstGeom>
          <a:solidFill>
            <a:schemeClr val="bg1">
              <a:lumMod val="95000"/>
            </a:schemeClr>
          </a:solidFill>
          <a:ln>
            <a:solidFill>
              <a:schemeClr val="bg1">
                <a:lumMod val="50000"/>
              </a:schemeClr>
            </a:solidFill>
          </a:ln>
          <a:effectLst>
            <a:outerShdw blurRad="63500" sx="102000" sy="102000" algn="ctr" rotWithShape="0">
              <a:prstClr val="black">
                <a:alpha val="40000"/>
              </a:prstClr>
            </a:outerShdw>
          </a:effectLst>
        </p:spPr>
        <p:txBody>
          <a:bodyPr vert="horz" lIns="180000" tIns="180000" rIns="180000" bIns="180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800" dirty="0"/>
              <a:t>The IAASB is asked for its views on:</a:t>
            </a:r>
          </a:p>
          <a:p>
            <a:pPr marL="457200" indent="-457200">
              <a:buFont typeface="+mj-lt"/>
              <a:buAutoNum type="arabicParenR"/>
            </a:pPr>
            <a:r>
              <a:rPr lang="en-GB" sz="1800" dirty="0"/>
              <a:t>Whether the Task Force has appropriately responded to feedback given at the September 2018 meeting;</a:t>
            </a:r>
          </a:p>
          <a:p>
            <a:pPr marL="457200" indent="-457200">
              <a:buFont typeface="+mj-lt"/>
              <a:buAutoNum type="arabicParenR"/>
            </a:pPr>
            <a:r>
              <a:rPr lang="en-GB" sz="1800" dirty="0"/>
              <a:t>Whether the updated draft guidance is effective in assisting practitioners to address the issues related to each of the challenges that were allocated to phase 1; and</a:t>
            </a:r>
          </a:p>
          <a:p>
            <a:pPr marL="457200" indent="-457200">
              <a:buFont typeface="+mj-lt"/>
              <a:buAutoNum type="arabicParenR"/>
            </a:pPr>
            <a:r>
              <a:rPr lang="en-GB" sz="1800" dirty="0"/>
              <a:t>Whether further revisions are needed to the draft guidance in Agenda Item 8-A prior to it being published as an exposure draft for public comment.</a:t>
            </a:r>
          </a:p>
        </p:txBody>
      </p:sp>
      <p:grpSp>
        <p:nvGrpSpPr>
          <p:cNvPr id="15" name="Group 14">
            <a:extLst>
              <a:ext uri="{FF2B5EF4-FFF2-40B4-BE49-F238E27FC236}">
                <a16:creationId xmlns:a16="http://schemas.microsoft.com/office/drawing/2014/main" xmlns="" id="{45918AD8-612A-49F6-9AC5-AF16F17D31D3}"/>
              </a:ext>
            </a:extLst>
          </p:cNvPr>
          <p:cNvGrpSpPr/>
          <p:nvPr/>
        </p:nvGrpSpPr>
        <p:grpSpPr>
          <a:xfrm>
            <a:off x="605314" y="5681930"/>
            <a:ext cx="2115879" cy="599665"/>
            <a:chOff x="609597" y="5598647"/>
            <a:chExt cx="2115879" cy="599665"/>
          </a:xfrm>
        </p:grpSpPr>
        <p:sp>
          <p:nvSpPr>
            <p:cNvPr id="16" name="Rectangle 15">
              <a:extLst>
                <a:ext uri="{FF2B5EF4-FFF2-40B4-BE49-F238E27FC236}">
                  <a16:creationId xmlns:a16="http://schemas.microsoft.com/office/drawing/2014/main" xmlns="" id="{9278BD97-E549-4C56-828C-DBD4A2710F3A}"/>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56 - 80</a:t>
              </a:r>
            </a:p>
          </p:txBody>
        </p:sp>
        <p:pic>
          <p:nvPicPr>
            <p:cNvPr id="17" name="Graphic 16" descr="Document">
              <a:extLst>
                <a:ext uri="{FF2B5EF4-FFF2-40B4-BE49-F238E27FC236}">
                  <a16:creationId xmlns:a16="http://schemas.microsoft.com/office/drawing/2014/main" xmlns="" id="{D8C48DE9-293C-4E56-87AE-C81C009F18D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18243" y="5636167"/>
              <a:ext cx="524623" cy="524623"/>
            </a:xfrm>
            <a:prstGeom prst="rect">
              <a:avLst/>
            </a:prstGeom>
          </p:spPr>
        </p:pic>
      </p:grpSp>
      <p:sp>
        <p:nvSpPr>
          <p:cNvPr id="18" name="Rectangle 17">
            <a:extLst>
              <a:ext uri="{FF2B5EF4-FFF2-40B4-BE49-F238E27FC236}">
                <a16:creationId xmlns:a16="http://schemas.microsoft.com/office/drawing/2014/main" xmlns="" id="{CF958752-2B70-4515-8A6C-F7A0B9F67DC6}"/>
              </a:ext>
            </a:extLst>
          </p:cNvPr>
          <p:cNvSpPr/>
          <p:nvPr/>
        </p:nvSpPr>
        <p:spPr>
          <a:xfrm>
            <a:off x="605314" y="1785926"/>
            <a:ext cx="4892103" cy="2431435"/>
          </a:xfrm>
          <a:prstGeom prst="rect">
            <a:avLst/>
          </a:prstGeom>
        </p:spPr>
        <p:txBody>
          <a:bodyPr wrap="square">
            <a:spAutoFit/>
          </a:bodyPr>
          <a:lstStyle/>
          <a:p>
            <a:r>
              <a:rPr lang="en-GB" sz="3200" dirty="0">
                <a:solidFill>
                  <a:srgbClr val="808080"/>
                </a:solidFill>
                <a:latin typeface="Arial" panose="020B0604020202020204" pitchFamily="34" charset="0"/>
                <a:cs typeface="Arial" panose="020B0604020202020204" pitchFamily="34" charset="0"/>
              </a:rPr>
              <a:t>Chapter 6</a:t>
            </a:r>
          </a:p>
          <a:p>
            <a:endParaRPr lang="en-GB" sz="1200" dirty="0">
              <a:solidFill>
                <a:srgbClr val="808080"/>
              </a:solidFill>
              <a:latin typeface="Arial" panose="020B0604020202020204" pitchFamily="34" charset="0"/>
              <a:cs typeface="Arial" panose="020B0604020202020204" pitchFamily="34" charset="0"/>
            </a:endParaRPr>
          </a:p>
          <a:p>
            <a:r>
              <a:rPr lang="en-GB" sz="3600" b="1" dirty="0">
                <a:solidFill>
                  <a:srgbClr val="808080"/>
                </a:solidFill>
                <a:latin typeface="Arial" panose="020B0604020202020204" pitchFamily="34" charset="0"/>
                <a:cs typeface="Arial" panose="020B0604020202020204" pitchFamily="34" charset="0"/>
              </a:rPr>
              <a:t>Evaluating the Entity’s Governance and Internal Control</a:t>
            </a:r>
          </a:p>
        </p:txBody>
      </p:sp>
    </p:spTree>
    <p:extLst>
      <p:ext uri="{BB962C8B-B14F-4D97-AF65-F5344CB8AC3E}">
        <p14:creationId xmlns:p14="http://schemas.microsoft.com/office/powerpoint/2010/main" val="583365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MS PGothic" charset="0"/>
            </a:endParaRPr>
          </a:p>
        </p:txBody>
      </p:sp>
      <p:sp>
        <p:nvSpPr>
          <p:cNvPr id="11" name="Rectangle 10">
            <a:extLst>
              <a:ext uri="{FF2B5EF4-FFF2-40B4-BE49-F238E27FC236}">
                <a16:creationId xmlns:a16="http://schemas.microsoft.com/office/drawing/2014/main" xmlns="" id="{4C3E9CD0-1A4D-4D42-A22D-74C8E3B1C140}"/>
              </a:ext>
            </a:extLst>
          </p:cNvPr>
          <p:cNvSpPr/>
          <p:nvPr/>
        </p:nvSpPr>
        <p:spPr>
          <a:xfrm>
            <a:off x="613960" y="1932323"/>
            <a:ext cx="5084768" cy="2431435"/>
          </a:xfrm>
          <a:prstGeom prst="rect">
            <a:avLst/>
          </a:prstGeom>
        </p:spPr>
        <p:txBody>
          <a:bodyPr wrap="square">
            <a:spAutoFit/>
          </a:bodyPr>
          <a:lstStyle/>
          <a:p>
            <a:r>
              <a:rPr lang="en-GB" sz="3200" dirty="0">
                <a:solidFill>
                  <a:srgbClr val="808080"/>
                </a:solidFill>
                <a:latin typeface="Arial" panose="020B0604020202020204" pitchFamily="34" charset="0"/>
                <a:cs typeface="Arial" panose="020B0604020202020204" pitchFamily="34" charset="0"/>
              </a:rPr>
              <a:t>Chapter 9</a:t>
            </a:r>
          </a:p>
          <a:p>
            <a:endParaRPr lang="en-GB" sz="1200" dirty="0">
              <a:solidFill>
                <a:srgbClr val="808080"/>
              </a:solidFill>
              <a:latin typeface="Arial" panose="020B0604020202020204" pitchFamily="34" charset="0"/>
              <a:cs typeface="Arial" panose="020B0604020202020204" pitchFamily="34" charset="0"/>
            </a:endParaRPr>
          </a:p>
          <a:p>
            <a:r>
              <a:rPr lang="en-GB" sz="3600" b="1" dirty="0">
                <a:solidFill>
                  <a:srgbClr val="808080"/>
                </a:solidFill>
                <a:latin typeface="Arial" panose="020B0604020202020204" pitchFamily="34" charset="0"/>
                <a:cs typeface="Arial" panose="020B0604020202020204" pitchFamily="34" charset="0"/>
              </a:rPr>
              <a:t>Performing Procedures and Building Assertions</a:t>
            </a:r>
            <a:endParaRPr lang="en-GB" sz="3600" dirty="0">
              <a:solidFill>
                <a:srgbClr val="80808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xmlns="" id="{A08E2772-B4FC-4AC1-90E4-A50DEE41356B}"/>
              </a:ext>
            </a:extLst>
          </p:cNvPr>
          <p:cNvPicPr>
            <a:picLocks noChangeAspect="1"/>
          </p:cNvPicPr>
          <p:nvPr/>
        </p:nvPicPr>
        <p:blipFill>
          <a:blip r:embed="rId3"/>
          <a:stretch>
            <a:fillRect/>
          </a:stretch>
        </p:blipFill>
        <p:spPr>
          <a:xfrm rot="451605">
            <a:off x="7937557" y="1550535"/>
            <a:ext cx="2151070" cy="3053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xmlns="" id="{7D650DE4-CE6F-4075-9454-9DAAC1B2D1C0}"/>
              </a:ext>
            </a:extLst>
          </p:cNvPr>
          <p:cNvPicPr>
            <a:picLocks noChangeAspect="1"/>
          </p:cNvPicPr>
          <p:nvPr/>
        </p:nvPicPr>
        <p:blipFill>
          <a:blip r:embed="rId4"/>
          <a:stretch>
            <a:fillRect/>
          </a:stretch>
        </p:blipFill>
        <p:spPr>
          <a:xfrm rot="21325174">
            <a:off x="7257305" y="2483592"/>
            <a:ext cx="2078274" cy="29388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38978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079E45-4549-4507-ACC0-B05D287C501C}"/>
              </a:ext>
            </a:extLst>
          </p:cNvPr>
          <p:cNvSpPr>
            <a:spLocks noGrp="1"/>
          </p:cNvSpPr>
          <p:nvPr>
            <p:ph type="title"/>
          </p:nvPr>
        </p:nvSpPr>
        <p:spPr/>
        <p:txBody>
          <a:bodyPr/>
          <a:lstStyle/>
          <a:p>
            <a:r>
              <a:rPr lang="en-GB" dirty="0"/>
              <a:t>Assertions</a:t>
            </a:r>
          </a:p>
        </p:txBody>
      </p:sp>
      <p:sp>
        <p:nvSpPr>
          <p:cNvPr id="3" name="Content Placeholder 2">
            <a:extLst>
              <a:ext uri="{FF2B5EF4-FFF2-40B4-BE49-F238E27FC236}">
                <a16:creationId xmlns:a16="http://schemas.microsoft.com/office/drawing/2014/main" xmlns="" id="{1DBE0944-49BA-4C50-8ED0-31D35BB98585}"/>
              </a:ext>
            </a:extLst>
          </p:cNvPr>
          <p:cNvSpPr>
            <a:spLocks noGrp="1"/>
          </p:cNvSpPr>
          <p:nvPr>
            <p:ph idx="1"/>
          </p:nvPr>
        </p:nvSpPr>
        <p:spPr>
          <a:xfrm>
            <a:off x="609600" y="1320057"/>
            <a:ext cx="7562561" cy="1403310"/>
          </a:xfrm>
        </p:spPr>
        <p:txBody>
          <a:bodyPr/>
          <a:lstStyle/>
          <a:p>
            <a:r>
              <a:rPr lang="en-GB" sz="1600" dirty="0"/>
              <a:t>Included in the draft guidance as it was identified as a challenge for practitioners by respondents to the 2016 discussion paper.</a:t>
            </a:r>
          </a:p>
          <a:p>
            <a:r>
              <a:rPr lang="en-GB" sz="1600" dirty="0"/>
              <a:t>Trying to explain more clearly the relationship between </a:t>
            </a:r>
            <a:r>
              <a:rPr lang="en-GB" sz="1600" dirty="0">
                <a:solidFill>
                  <a:schemeClr val="accent1"/>
                </a:solidFill>
              </a:rPr>
              <a:t>assertions</a:t>
            </a:r>
            <a:r>
              <a:rPr lang="en-GB" sz="1600" dirty="0"/>
              <a:t> and the </a:t>
            </a:r>
            <a:r>
              <a:rPr lang="en-GB" sz="1600" dirty="0">
                <a:solidFill>
                  <a:schemeClr val="accent1"/>
                </a:solidFill>
              </a:rPr>
              <a:t>characteristics of suitable criteria</a:t>
            </a:r>
            <a:r>
              <a:rPr lang="en-GB" sz="1600" dirty="0"/>
              <a:t>.</a:t>
            </a:r>
          </a:p>
        </p:txBody>
      </p:sp>
      <p:sp>
        <p:nvSpPr>
          <p:cNvPr id="4" name="Slide Number Placeholder 3">
            <a:extLst>
              <a:ext uri="{FF2B5EF4-FFF2-40B4-BE49-F238E27FC236}">
                <a16:creationId xmlns:a16="http://schemas.microsoft.com/office/drawing/2014/main" xmlns="" id="{6C4D6DD9-C884-48D5-8B6C-4ACC73D96E8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E60D7C64-6004-49D3-9A59-383B44495453}"/>
              </a:ext>
            </a:extLst>
          </p:cNvPr>
          <p:cNvGrpSpPr/>
          <p:nvPr/>
        </p:nvGrpSpPr>
        <p:grpSpPr>
          <a:xfrm>
            <a:off x="9905146" y="1394108"/>
            <a:ext cx="2003273" cy="599665"/>
            <a:chOff x="9856378" y="5709685"/>
            <a:chExt cx="2003273" cy="599665"/>
          </a:xfrm>
        </p:grpSpPr>
        <p:sp>
          <p:nvSpPr>
            <p:cNvPr id="6" name="Rectangle 5">
              <a:extLst>
                <a:ext uri="{FF2B5EF4-FFF2-40B4-BE49-F238E27FC236}">
                  <a16:creationId xmlns:a16="http://schemas.microsoft.com/office/drawing/2014/main" xmlns="" id="{922817A2-E09D-40AB-B0DF-B49C5E13F9CD}"/>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14-17</a:t>
              </a:r>
            </a:p>
          </p:txBody>
        </p:sp>
        <p:pic>
          <p:nvPicPr>
            <p:cNvPr id="7" name="Graphic 6" descr="Document">
              <a:extLst>
                <a:ext uri="{FF2B5EF4-FFF2-40B4-BE49-F238E27FC236}">
                  <a16:creationId xmlns:a16="http://schemas.microsoft.com/office/drawing/2014/main" xmlns="" id="{D69AC8E5-292C-460B-BDAF-8FC197BC0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pic>
        <p:nvPicPr>
          <p:cNvPr id="10" name="Picture 9">
            <a:extLst>
              <a:ext uri="{FF2B5EF4-FFF2-40B4-BE49-F238E27FC236}">
                <a16:creationId xmlns:a16="http://schemas.microsoft.com/office/drawing/2014/main" xmlns="" id="{F877DA2F-23C1-4112-A714-8D282224FCCB}"/>
              </a:ext>
            </a:extLst>
          </p:cNvPr>
          <p:cNvPicPr>
            <a:picLocks noChangeAspect="1"/>
          </p:cNvPicPr>
          <p:nvPr/>
        </p:nvPicPr>
        <p:blipFill>
          <a:blip r:embed="rId5"/>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xmlns="" id="{D875DA91-021C-4794-B903-09B26F315B1B}"/>
              </a:ext>
            </a:extLst>
          </p:cNvPr>
          <p:cNvSpPr/>
          <p:nvPr/>
        </p:nvSpPr>
        <p:spPr>
          <a:xfrm>
            <a:off x="764498" y="3009280"/>
            <a:ext cx="2143594" cy="705634"/>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r>
              <a:rPr lang="en-GB" sz="1600" dirty="0">
                <a:solidFill>
                  <a:schemeClr val="bg1"/>
                </a:solidFill>
                <a:latin typeface="Arial" panose="020B0604020202020204" pitchFamily="34" charset="0"/>
                <a:cs typeface="Arial" panose="020B0604020202020204" pitchFamily="34" charset="0"/>
              </a:rPr>
              <a:t>Underlying subject matter</a:t>
            </a:r>
          </a:p>
        </p:txBody>
      </p:sp>
      <p:sp>
        <p:nvSpPr>
          <p:cNvPr id="12" name="Rectangle 11">
            <a:extLst>
              <a:ext uri="{FF2B5EF4-FFF2-40B4-BE49-F238E27FC236}">
                <a16:creationId xmlns:a16="http://schemas.microsoft.com/office/drawing/2014/main" xmlns="" id="{0A7B524E-D632-4600-9247-D0DA98E62133}"/>
              </a:ext>
            </a:extLst>
          </p:cNvPr>
          <p:cNvSpPr/>
          <p:nvPr/>
        </p:nvSpPr>
        <p:spPr>
          <a:xfrm>
            <a:off x="764498" y="4196001"/>
            <a:ext cx="2143594" cy="705634"/>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r>
              <a:rPr lang="en-GB" sz="1600" dirty="0">
                <a:solidFill>
                  <a:schemeClr val="bg1"/>
                </a:solidFill>
                <a:latin typeface="Arial" panose="020B0604020202020204" pitchFamily="34" charset="0"/>
                <a:cs typeface="Arial" panose="020B0604020202020204" pitchFamily="34" charset="0"/>
              </a:rPr>
              <a:t>Applicable criteria</a:t>
            </a:r>
          </a:p>
        </p:txBody>
      </p:sp>
      <p:sp>
        <p:nvSpPr>
          <p:cNvPr id="13" name="Rectangle 12">
            <a:extLst>
              <a:ext uri="{FF2B5EF4-FFF2-40B4-BE49-F238E27FC236}">
                <a16:creationId xmlns:a16="http://schemas.microsoft.com/office/drawing/2014/main" xmlns="" id="{332F8D06-BB3E-4F7A-9B48-65CF29FF41B4}"/>
              </a:ext>
            </a:extLst>
          </p:cNvPr>
          <p:cNvSpPr/>
          <p:nvPr/>
        </p:nvSpPr>
        <p:spPr>
          <a:xfrm>
            <a:off x="6833339" y="3461955"/>
            <a:ext cx="2143594" cy="705634"/>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r>
              <a:rPr lang="en-GB" sz="1600" dirty="0">
                <a:solidFill>
                  <a:schemeClr val="bg1"/>
                </a:solidFill>
                <a:latin typeface="Arial" panose="020B0604020202020204" pitchFamily="34" charset="0"/>
                <a:cs typeface="Arial" panose="020B0604020202020204" pitchFamily="34" charset="0"/>
              </a:rPr>
              <a:t>Assertions</a:t>
            </a:r>
          </a:p>
        </p:txBody>
      </p:sp>
      <p:sp>
        <p:nvSpPr>
          <p:cNvPr id="14" name="Rectangle 13">
            <a:extLst>
              <a:ext uri="{FF2B5EF4-FFF2-40B4-BE49-F238E27FC236}">
                <a16:creationId xmlns:a16="http://schemas.microsoft.com/office/drawing/2014/main" xmlns="" id="{BF295180-1940-4C69-A447-A53C70159520}"/>
              </a:ext>
            </a:extLst>
          </p:cNvPr>
          <p:cNvSpPr/>
          <p:nvPr/>
        </p:nvSpPr>
        <p:spPr>
          <a:xfrm>
            <a:off x="9563258" y="3461955"/>
            <a:ext cx="2143594" cy="705634"/>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r>
              <a:rPr lang="en-GB" sz="1600" dirty="0">
                <a:solidFill>
                  <a:schemeClr val="bg1"/>
                </a:solidFill>
                <a:latin typeface="Arial" panose="020B0604020202020204" pitchFamily="34" charset="0"/>
                <a:cs typeface="Arial" panose="020B0604020202020204" pitchFamily="34" charset="0"/>
              </a:rPr>
              <a:t>Misstatement</a:t>
            </a:r>
          </a:p>
        </p:txBody>
      </p:sp>
      <p:pic>
        <p:nvPicPr>
          <p:cNvPr id="16" name="Graphic 15" descr="Document">
            <a:extLst>
              <a:ext uri="{FF2B5EF4-FFF2-40B4-BE49-F238E27FC236}">
                <a16:creationId xmlns:a16="http://schemas.microsoft.com/office/drawing/2014/main" xmlns="" id="{13754317-0D73-448D-A8E3-D67F0D53B7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36901" y="3039300"/>
            <a:ext cx="1753848" cy="1753848"/>
          </a:xfrm>
          <a:prstGeom prst="rect">
            <a:avLst/>
          </a:prstGeom>
        </p:spPr>
      </p:pic>
      <p:cxnSp>
        <p:nvCxnSpPr>
          <p:cNvPr id="11" name="Straight Arrow Connector 10">
            <a:extLst>
              <a:ext uri="{FF2B5EF4-FFF2-40B4-BE49-F238E27FC236}">
                <a16:creationId xmlns:a16="http://schemas.microsoft.com/office/drawing/2014/main" xmlns="" id="{B06E7A32-F910-40D0-A1A4-A2B6DE581427}"/>
              </a:ext>
            </a:extLst>
          </p:cNvPr>
          <p:cNvCxnSpPr/>
          <p:nvPr/>
        </p:nvCxnSpPr>
        <p:spPr>
          <a:xfrm flipV="1">
            <a:off x="1836295" y="3814772"/>
            <a:ext cx="0" cy="276919"/>
          </a:xfrm>
          <a:prstGeom prst="straightConnector1">
            <a:avLst/>
          </a:prstGeom>
          <a:ln>
            <a:solidFill>
              <a:schemeClr val="tx1"/>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8" name="Arrow: Right 17">
            <a:extLst>
              <a:ext uri="{FF2B5EF4-FFF2-40B4-BE49-F238E27FC236}">
                <a16:creationId xmlns:a16="http://schemas.microsoft.com/office/drawing/2014/main" xmlns="" id="{5E854E1C-14EF-4A50-8B04-3EC8024F9241}"/>
              </a:ext>
            </a:extLst>
          </p:cNvPr>
          <p:cNvSpPr/>
          <p:nvPr/>
        </p:nvSpPr>
        <p:spPr>
          <a:xfrm>
            <a:off x="3466857" y="3733775"/>
            <a:ext cx="841248" cy="438912"/>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en-GB" sz="160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xmlns="" id="{78BABDEB-ED73-43AC-B2B9-B68D19B0AD0B}"/>
              </a:ext>
            </a:extLst>
          </p:cNvPr>
          <p:cNvSpPr txBox="1"/>
          <p:nvPr/>
        </p:nvSpPr>
        <p:spPr>
          <a:xfrm>
            <a:off x="4308105" y="2526531"/>
            <a:ext cx="2278876" cy="584775"/>
          </a:xfrm>
          <a:prstGeom prst="rect">
            <a:avLst/>
          </a:prstGeom>
          <a:noFill/>
        </p:spPr>
        <p:txBody>
          <a:bodyPr wrap="square" rtlCol="0">
            <a:spAutoFit/>
          </a:bodyPr>
          <a:lstStyle/>
          <a:p>
            <a:pPr algn="ctr"/>
            <a:r>
              <a:rPr lang="en-GB" sz="1600" b="1" dirty="0">
                <a:solidFill>
                  <a:srgbClr val="808080"/>
                </a:solidFill>
                <a:latin typeface="Arial" panose="020B0604020202020204" pitchFamily="34" charset="0"/>
                <a:cs typeface="Arial" panose="020B0604020202020204" pitchFamily="34" charset="0"/>
              </a:rPr>
              <a:t>Subject matter information</a:t>
            </a:r>
          </a:p>
        </p:txBody>
      </p:sp>
      <p:sp>
        <p:nvSpPr>
          <p:cNvPr id="29" name="Rectangle 28">
            <a:extLst>
              <a:ext uri="{FF2B5EF4-FFF2-40B4-BE49-F238E27FC236}">
                <a16:creationId xmlns:a16="http://schemas.microsoft.com/office/drawing/2014/main" xmlns="" id="{88441931-8626-41EC-B93D-48F406566D06}"/>
              </a:ext>
            </a:extLst>
          </p:cNvPr>
          <p:cNvSpPr/>
          <p:nvPr/>
        </p:nvSpPr>
        <p:spPr>
          <a:xfrm>
            <a:off x="764498" y="5380170"/>
            <a:ext cx="5331502" cy="830997"/>
          </a:xfrm>
          <a:prstGeom prst="rect">
            <a:avLst/>
          </a:prstGeom>
          <a:ln w="28575">
            <a:solidFill>
              <a:schemeClr val="bg1">
                <a:lumMod val="65000"/>
              </a:schemeClr>
            </a:solidFill>
          </a:ln>
        </p:spPr>
        <p:txBody>
          <a:bodyPr wrap="square">
            <a:spAutoFit/>
          </a:bodyPr>
          <a:lstStyle/>
          <a:p>
            <a:pPr algn="ctr"/>
            <a:r>
              <a:rPr lang="en-US" sz="1600" dirty="0">
                <a:latin typeface="Arial" panose="020B0604020202020204" pitchFamily="34" charset="0"/>
                <a:cs typeface="Arial" panose="020B0604020202020204" pitchFamily="34" charset="0"/>
              </a:rPr>
              <a:t>The characteristics of subject matter information properly prepared using suitable criteria will reflect the five required characteristics of suitable criteria.</a:t>
            </a: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528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2F4247-2889-4091-B41F-A90ED4D66346}"/>
              </a:ext>
            </a:extLst>
          </p:cNvPr>
          <p:cNvSpPr>
            <a:spLocks noGrp="1"/>
          </p:cNvSpPr>
          <p:nvPr>
            <p:ph type="title"/>
          </p:nvPr>
        </p:nvSpPr>
        <p:spPr/>
        <p:txBody>
          <a:bodyPr/>
          <a:lstStyle/>
          <a:p>
            <a:r>
              <a:rPr lang="en-GB" dirty="0"/>
              <a:t>Characteristics of Suitable Criteria</a:t>
            </a:r>
          </a:p>
        </p:txBody>
      </p:sp>
      <p:sp>
        <p:nvSpPr>
          <p:cNvPr id="4" name="Slide Number Placeholder 3">
            <a:extLst>
              <a:ext uri="{FF2B5EF4-FFF2-40B4-BE49-F238E27FC236}">
                <a16:creationId xmlns:a16="http://schemas.microsoft.com/office/drawing/2014/main" xmlns="" id="{E31C1464-4FAA-4DA4-B8CB-3D273FF116C4}"/>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MS PGothic" charset="0"/>
            </a:endParaRPr>
          </a:p>
        </p:txBody>
      </p:sp>
      <p:graphicFrame>
        <p:nvGraphicFramePr>
          <p:cNvPr id="5" name="Table 4">
            <a:extLst>
              <a:ext uri="{FF2B5EF4-FFF2-40B4-BE49-F238E27FC236}">
                <a16:creationId xmlns:a16="http://schemas.microsoft.com/office/drawing/2014/main" xmlns="" id="{E1F8C467-3E35-425C-84DE-DFE3729E5DFC}"/>
              </a:ext>
            </a:extLst>
          </p:cNvPr>
          <p:cNvGraphicFramePr>
            <a:graphicFrameLocks noGrp="1"/>
          </p:cNvGraphicFramePr>
          <p:nvPr>
            <p:extLst>
              <p:ext uri="{D42A27DB-BD31-4B8C-83A1-F6EECF244321}">
                <p14:modId xmlns:p14="http://schemas.microsoft.com/office/powerpoint/2010/main" val="1324449761"/>
              </p:ext>
            </p:extLst>
          </p:nvPr>
        </p:nvGraphicFramePr>
        <p:xfrm>
          <a:off x="609600" y="1304282"/>
          <a:ext cx="10857875" cy="4721763"/>
        </p:xfrm>
        <a:graphic>
          <a:graphicData uri="http://schemas.openxmlformats.org/drawingml/2006/table">
            <a:tbl>
              <a:tblPr firstRow="1" bandRow="1">
                <a:tableStyleId>{5C22544A-7EE6-4342-B048-85BDC9FD1C3A}</a:tableStyleId>
              </a:tblPr>
              <a:tblGrid>
                <a:gridCol w="1918422">
                  <a:extLst>
                    <a:ext uri="{9D8B030D-6E8A-4147-A177-3AD203B41FA5}">
                      <a16:colId xmlns:a16="http://schemas.microsoft.com/office/drawing/2014/main" xmlns="" val="3500837974"/>
                    </a:ext>
                  </a:extLst>
                </a:gridCol>
                <a:gridCol w="8939453">
                  <a:extLst>
                    <a:ext uri="{9D8B030D-6E8A-4147-A177-3AD203B41FA5}">
                      <a16:colId xmlns:a16="http://schemas.microsoft.com/office/drawing/2014/main" xmlns="" val="228192944"/>
                    </a:ext>
                  </a:extLst>
                </a:gridCol>
              </a:tblGrid>
              <a:tr h="689115">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Characteristics of Suitable Criteria</a:t>
                      </a:r>
                    </a:p>
                  </a:txBody>
                  <a:tcPr/>
                </a:tc>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Paragraph A45 of ISAE 3000 (Revised)</a:t>
                      </a:r>
                    </a:p>
                  </a:txBody>
                  <a:tcPr/>
                </a:tc>
                <a:extLst>
                  <a:ext uri="{0D108BD9-81ED-4DB2-BD59-A6C34878D82A}">
                    <a16:rowId xmlns:a16="http://schemas.microsoft.com/office/drawing/2014/main" xmlns="" val="448991769"/>
                  </a:ext>
                </a:extLst>
              </a:tr>
              <a:tr h="643868">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Relevance</a:t>
                      </a:r>
                    </a:p>
                  </a:txBody>
                  <a:tcPr/>
                </a:tc>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Relevant criteria result in subject matter information that assists decision-making by the intended users.</a:t>
                      </a:r>
                    </a:p>
                  </a:txBody>
                  <a:tcPr/>
                </a:tc>
                <a:extLst>
                  <a:ext uri="{0D108BD9-81ED-4DB2-BD59-A6C34878D82A}">
                    <a16:rowId xmlns:a16="http://schemas.microsoft.com/office/drawing/2014/main" xmlns="" val="394923875"/>
                  </a:ext>
                </a:extLst>
              </a:tr>
              <a:tr h="1186073">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Completeness</a:t>
                      </a:r>
                    </a:p>
                  </a:txBody>
                  <a:tcPr/>
                </a:tc>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Criteria are complete when subject matter information prepared in accordance with them does not omit relevant factors that could reasonably be expected to affect decisions of the intended users made on the basis of that subject matter information. Complete criteria include, where relevant, benchmarks for presentation and disclosure.</a:t>
                      </a:r>
                    </a:p>
                  </a:txBody>
                  <a:tcPr/>
                </a:tc>
                <a:extLst>
                  <a:ext uri="{0D108BD9-81ED-4DB2-BD59-A6C34878D82A}">
                    <a16:rowId xmlns:a16="http://schemas.microsoft.com/office/drawing/2014/main" xmlns="" val="2957724089"/>
                  </a:ext>
                </a:extLst>
              </a:tr>
              <a:tr h="914971">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Reliability</a:t>
                      </a:r>
                    </a:p>
                  </a:txBody>
                  <a:tcPr/>
                </a:tc>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Reliable criteria allow reasonably consistent measurement or evaluation of the underlying subject matter including, where relevant, presentation and disclosure, when used in similar circumstances by different practitioners.</a:t>
                      </a:r>
                    </a:p>
                  </a:txBody>
                  <a:tcPr/>
                </a:tc>
                <a:extLst>
                  <a:ext uri="{0D108BD9-81ED-4DB2-BD59-A6C34878D82A}">
                    <a16:rowId xmlns:a16="http://schemas.microsoft.com/office/drawing/2014/main" xmlns="" val="2905124129"/>
                  </a:ext>
                </a:extLst>
              </a:tr>
              <a:tr h="643868">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Neutrality</a:t>
                      </a:r>
                    </a:p>
                  </a:txBody>
                  <a:tcPr/>
                </a:tc>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Neutral criteria result in subject matter information that is free from bias as appropriate in the engagement circumstances.</a:t>
                      </a:r>
                    </a:p>
                  </a:txBody>
                  <a:tcPr/>
                </a:tc>
                <a:extLst>
                  <a:ext uri="{0D108BD9-81ED-4DB2-BD59-A6C34878D82A}">
                    <a16:rowId xmlns:a16="http://schemas.microsoft.com/office/drawing/2014/main" xmlns="" val="1322949168"/>
                  </a:ext>
                </a:extLst>
              </a:tr>
              <a:tr h="643868">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Understandability</a:t>
                      </a:r>
                    </a:p>
                  </a:txBody>
                  <a:tcPr/>
                </a:tc>
                <a:tc>
                  <a:txBody>
                    <a:bodyPr/>
                    <a:lstStyle/>
                    <a:p>
                      <a:pPr>
                        <a:spcBef>
                          <a:spcPts val="300"/>
                        </a:spcBef>
                        <a:spcAft>
                          <a:spcPts val="300"/>
                        </a:spcAft>
                      </a:pPr>
                      <a:r>
                        <a:rPr lang="en-GB" sz="1600" dirty="0">
                          <a:latin typeface="Arial" panose="020B0604020202020204" pitchFamily="34" charset="0"/>
                          <a:cs typeface="Arial" panose="020B0604020202020204" pitchFamily="34" charset="0"/>
                        </a:rPr>
                        <a:t>Understandable criteria result in subject matter information that can be understood by the intended users.</a:t>
                      </a:r>
                    </a:p>
                  </a:txBody>
                  <a:tcPr/>
                </a:tc>
                <a:extLst>
                  <a:ext uri="{0D108BD9-81ED-4DB2-BD59-A6C34878D82A}">
                    <a16:rowId xmlns:a16="http://schemas.microsoft.com/office/drawing/2014/main" xmlns="" val="3946512078"/>
                  </a:ext>
                </a:extLst>
              </a:tr>
            </a:tbl>
          </a:graphicData>
        </a:graphic>
      </p:graphicFrame>
    </p:spTree>
    <p:extLst>
      <p:ext uri="{BB962C8B-B14F-4D97-AF65-F5344CB8AC3E}">
        <p14:creationId xmlns:p14="http://schemas.microsoft.com/office/powerpoint/2010/main" val="2894752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079E45-4549-4507-ACC0-B05D287C501C}"/>
              </a:ext>
            </a:extLst>
          </p:cNvPr>
          <p:cNvSpPr>
            <a:spLocks noGrp="1"/>
          </p:cNvSpPr>
          <p:nvPr>
            <p:ph type="title"/>
          </p:nvPr>
        </p:nvSpPr>
        <p:spPr/>
        <p:txBody>
          <a:bodyPr/>
          <a:lstStyle/>
          <a:p>
            <a:r>
              <a:rPr lang="en-GB" dirty="0"/>
              <a:t>Assertions</a:t>
            </a:r>
          </a:p>
        </p:txBody>
      </p:sp>
      <p:sp>
        <p:nvSpPr>
          <p:cNvPr id="4" name="Slide Number Placeholder 3">
            <a:extLst>
              <a:ext uri="{FF2B5EF4-FFF2-40B4-BE49-F238E27FC236}">
                <a16:creationId xmlns:a16="http://schemas.microsoft.com/office/drawing/2014/main" xmlns="" id="{6C4D6DD9-C884-48D5-8B6C-4ACC73D96E8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xmlns="" id="{E60D7C64-6004-49D3-9A59-383B44495453}"/>
              </a:ext>
            </a:extLst>
          </p:cNvPr>
          <p:cNvGrpSpPr/>
          <p:nvPr/>
        </p:nvGrpSpPr>
        <p:grpSpPr>
          <a:xfrm>
            <a:off x="9905146" y="1394108"/>
            <a:ext cx="2003273" cy="599665"/>
            <a:chOff x="9856378" y="5709685"/>
            <a:chExt cx="2003273" cy="599665"/>
          </a:xfrm>
        </p:grpSpPr>
        <p:sp>
          <p:nvSpPr>
            <p:cNvPr id="6" name="Rectangle 5">
              <a:extLst>
                <a:ext uri="{FF2B5EF4-FFF2-40B4-BE49-F238E27FC236}">
                  <a16:creationId xmlns:a16="http://schemas.microsoft.com/office/drawing/2014/main" xmlns="" id="{922817A2-E09D-40AB-B0DF-B49C5E13F9CD}"/>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14-17</a:t>
              </a:r>
            </a:p>
          </p:txBody>
        </p:sp>
        <p:pic>
          <p:nvPicPr>
            <p:cNvPr id="7" name="Graphic 6" descr="Document">
              <a:extLst>
                <a:ext uri="{FF2B5EF4-FFF2-40B4-BE49-F238E27FC236}">
                  <a16:creationId xmlns:a16="http://schemas.microsoft.com/office/drawing/2014/main" xmlns="" id="{D69AC8E5-292C-460B-BDAF-8FC197BC0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856378" y="5740811"/>
              <a:ext cx="524623" cy="524623"/>
            </a:xfrm>
            <a:prstGeom prst="rect">
              <a:avLst/>
            </a:prstGeom>
          </p:spPr>
        </p:pic>
      </p:grpSp>
      <p:pic>
        <p:nvPicPr>
          <p:cNvPr id="15" name="Picture 14">
            <a:extLst>
              <a:ext uri="{FF2B5EF4-FFF2-40B4-BE49-F238E27FC236}">
                <a16:creationId xmlns:a16="http://schemas.microsoft.com/office/drawing/2014/main" xmlns="" id="{DF975687-0DA7-4720-AE7B-B2CFD26F7E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 y="2083524"/>
            <a:ext cx="8821710" cy="4082875"/>
          </a:xfrm>
          <a:prstGeom prst="rect">
            <a:avLst/>
          </a:prstGeom>
        </p:spPr>
      </p:pic>
      <p:pic>
        <p:nvPicPr>
          <p:cNvPr id="17" name="Picture 16">
            <a:extLst>
              <a:ext uri="{FF2B5EF4-FFF2-40B4-BE49-F238E27FC236}">
                <a16:creationId xmlns:a16="http://schemas.microsoft.com/office/drawing/2014/main" xmlns="" id="{8E49A326-362F-4F35-8747-4E158576F4B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5721" r="72628"/>
          <a:stretch/>
        </p:blipFill>
        <p:spPr>
          <a:xfrm>
            <a:off x="9807578" y="4832311"/>
            <a:ext cx="2100841" cy="1200910"/>
          </a:xfrm>
          <a:prstGeom prst="rect">
            <a:avLst/>
          </a:prstGeom>
        </p:spPr>
      </p:pic>
      <p:pic>
        <p:nvPicPr>
          <p:cNvPr id="10" name="Picture 9">
            <a:extLst>
              <a:ext uri="{FF2B5EF4-FFF2-40B4-BE49-F238E27FC236}">
                <a16:creationId xmlns:a16="http://schemas.microsoft.com/office/drawing/2014/main" xmlns="" id="{F877DA2F-23C1-4112-A714-8D282224FCCB}"/>
              </a:ext>
            </a:extLst>
          </p:cNvPr>
          <p:cNvPicPr>
            <a:picLocks noChangeAspect="1"/>
          </p:cNvPicPr>
          <p:nvPr/>
        </p:nvPicPr>
        <p:blipFill>
          <a:blip r:embed="rId7"/>
          <a:stretch>
            <a:fillRect/>
          </a:stretch>
        </p:blipFill>
        <p:spPr>
          <a:xfrm rot="424152">
            <a:off x="8441973" y="334127"/>
            <a:ext cx="1197713" cy="17654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93802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1CD5D0-5FA2-4A61-9504-46DD3FD16213}"/>
              </a:ext>
            </a:extLst>
          </p:cNvPr>
          <p:cNvSpPr>
            <a:spLocks noGrp="1"/>
          </p:cNvSpPr>
          <p:nvPr>
            <p:ph type="title"/>
          </p:nvPr>
        </p:nvSpPr>
        <p:spPr/>
        <p:txBody>
          <a:bodyPr/>
          <a:lstStyle/>
          <a:p>
            <a:r>
              <a:rPr lang="en-GB" dirty="0"/>
              <a:t>Discussion on the Updated Draft Guidance</a:t>
            </a:r>
          </a:p>
        </p:txBody>
      </p:sp>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MS PGothic" charset="0"/>
            </a:endParaRPr>
          </a:p>
        </p:txBody>
      </p:sp>
      <p:sp>
        <p:nvSpPr>
          <p:cNvPr id="11" name="Rectangle 10">
            <a:extLst>
              <a:ext uri="{FF2B5EF4-FFF2-40B4-BE49-F238E27FC236}">
                <a16:creationId xmlns:a16="http://schemas.microsoft.com/office/drawing/2014/main" xmlns="" id="{4C3E9CD0-1A4D-4D42-A22D-74C8E3B1C140}"/>
              </a:ext>
            </a:extLst>
          </p:cNvPr>
          <p:cNvSpPr/>
          <p:nvPr/>
        </p:nvSpPr>
        <p:spPr>
          <a:xfrm>
            <a:off x="613960" y="1932323"/>
            <a:ext cx="5084768" cy="2431435"/>
          </a:xfrm>
          <a:prstGeom prst="rect">
            <a:avLst/>
          </a:prstGeom>
        </p:spPr>
        <p:txBody>
          <a:bodyPr wrap="square">
            <a:spAutoFit/>
          </a:bodyPr>
          <a:lstStyle/>
          <a:p>
            <a:r>
              <a:rPr lang="en-GB" sz="3200" dirty="0">
                <a:solidFill>
                  <a:srgbClr val="808080"/>
                </a:solidFill>
                <a:latin typeface="Arial" panose="020B0604020202020204" pitchFamily="34" charset="0"/>
                <a:cs typeface="Arial" panose="020B0604020202020204" pitchFamily="34" charset="0"/>
              </a:rPr>
              <a:t>Chapter 9</a:t>
            </a:r>
          </a:p>
          <a:p>
            <a:endParaRPr lang="en-GB" sz="1200" dirty="0">
              <a:solidFill>
                <a:srgbClr val="808080"/>
              </a:solidFill>
              <a:latin typeface="Arial" panose="020B0604020202020204" pitchFamily="34" charset="0"/>
              <a:cs typeface="Arial" panose="020B0604020202020204" pitchFamily="34" charset="0"/>
            </a:endParaRPr>
          </a:p>
          <a:p>
            <a:r>
              <a:rPr lang="en-GB" sz="3600" b="1" dirty="0">
                <a:solidFill>
                  <a:srgbClr val="808080"/>
                </a:solidFill>
                <a:latin typeface="Arial" panose="020B0604020202020204" pitchFamily="34" charset="0"/>
                <a:cs typeface="Arial" panose="020B0604020202020204" pitchFamily="34" charset="0"/>
              </a:rPr>
              <a:t>Performing Procedures and Building Assertions</a:t>
            </a:r>
            <a:endParaRPr lang="en-GB" sz="3600" dirty="0">
              <a:solidFill>
                <a:srgbClr val="808080"/>
              </a:solidFill>
              <a:latin typeface="Arial" panose="020B0604020202020204" pitchFamily="34" charset="0"/>
              <a:cs typeface="Arial" panose="020B0604020202020204" pitchFamily="34" charset="0"/>
            </a:endParaRPr>
          </a:p>
        </p:txBody>
      </p:sp>
      <p:grpSp>
        <p:nvGrpSpPr>
          <p:cNvPr id="12" name="Group 11">
            <a:extLst>
              <a:ext uri="{FF2B5EF4-FFF2-40B4-BE49-F238E27FC236}">
                <a16:creationId xmlns:a16="http://schemas.microsoft.com/office/drawing/2014/main" xmlns="" id="{D3A2F0E8-4B50-4512-9E9A-C5ABD86F3A4D}"/>
              </a:ext>
            </a:extLst>
          </p:cNvPr>
          <p:cNvGrpSpPr/>
          <p:nvPr/>
        </p:nvGrpSpPr>
        <p:grpSpPr>
          <a:xfrm>
            <a:off x="605314" y="5681930"/>
            <a:ext cx="2115879" cy="599665"/>
            <a:chOff x="609597" y="5598647"/>
            <a:chExt cx="2115879" cy="599665"/>
          </a:xfrm>
        </p:grpSpPr>
        <p:sp>
          <p:nvSpPr>
            <p:cNvPr id="13" name="Rectangle 12">
              <a:extLst>
                <a:ext uri="{FF2B5EF4-FFF2-40B4-BE49-F238E27FC236}">
                  <a16:creationId xmlns:a16="http://schemas.microsoft.com/office/drawing/2014/main" xmlns="" id="{5FB37252-93A0-4914-8D73-F72980EB40EF}"/>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163 - 175</a:t>
              </a:r>
            </a:p>
          </p:txBody>
        </p:sp>
        <p:pic>
          <p:nvPicPr>
            <p:cNvPr id="14" name="Graphic 13" descr="Document">
              <a:extLst>
                <a:ext uri="{FF2B5EF4-FFF2-40B4-BE49-F238E27FC236}">
                  <a16:creationId xmlns:a16="http://schemas.microsoft.com/office/drawing/2014/main" xmlns="" id="{89D078BF-7B33-4707-8803-6B658F653AF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18243" y="5636167"/>
              <a:ext cx="524623" cy="524623"/>
            </a:xfrm>
            <a:prstGeom prst="rect">
              <a:avLst/>
            </a:prstGeom>
          </p:spPr>
        </p:pic>
      </p:grpSp>
      <p:sp>
        <p:nvSpPr>
          <p:cNvPr id="15" name="Content Placeholder 2">
            <a:extLst>
              <a:ext uri="{FF2B5EF4-FFF2-40B4-BE49-F238E27FC236}">
                <a16:creationId xmlns:a16="http://schemas.microsoft.com/office/drawing/2014/main" xmlns="" id="{A3AAAB88-5005-4B7F-86FA-62D5B23E22AF}"/>
              </a:ext>
            </a:extLst>
          </p:cNvPr>
          <p:cNvSpPr txBox="1">
            <a:spLocks/>
          </p:cNvSpPr>
          <p:nvPr/>
        </p:nvSpPr>
        <p:spPr>
          <a:xfrm>
            <a:off x="6266688" y="1393631"/>
            <a:ext cx="5315712" cy="4337303"/>
          </a:xfrm>
          <a:prstGeom prst="rect">
            <a:avLst/>
          </a:prstGeom>
          <a:solidFill>
            <a:schemeClr val="bg1">
              <a:lumMod val="95000"/>
            </a:schemeClr>
          </a:solidFill>
          <a:ln>
            <a:solidFill>
              <a:schemeClr val="bg1">
                <a:lumMod val="50000"/>
              </a:schemeClr>
            </a:solidFill>
          </a:ln>
          <a:effectLst>
            <a:outerShdw blurRad="63500" sx="102000" sy="102000" algn="ctr" rotWithShape="0">
              <a:prstClr val="black">
                <a:alpha val="40000"/>
              </a:prstClr>
            </a:outerShdw>
          </a:effectLst>
        </p:spPr>
        <p:txBody>
          <a:bodyPr vert="horz" lIns="180000" tIns="180000" rIns="180000" bIns="180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800" dirty="0"/>
              <a:t>The IAASB is asked for its views on:</a:t>
            </a:r>
          </a:p>
          <a:p>
            <a:pPr marL="457200" indent="-457200">
              <a:buFont typeface="+mj-lt"/>
              <a:buAutoNum type="arabicParenR"/>
            </a:pPr>
            <a:r>
              <a:rPr lang="en-GB" sz="1800" dirty="0"/>
              <a:t>Whether the Task Force has appropriately responded to feedback given at the September 2018 meeting;</a:t>
            </a:r>
          </a:p>
          <a:p>
            <a:pPr marL="457200" indent="-457200">
              <a:buFont typeface="+mj-lt"/>
              <a:buAutoNum type="arabicParenR"/>
            </a:pPr>
            <a:r>
              <a:rPr lang="en-GB" sz="1800" dirty="0"/>
              <a:t>Whether the updated draft guidance is effective in assisting practitioners to address the issues related to each of the challenges that were allocated to phase 1; and</a:t>
            </a:r>
          </a:p>
          <a:p>
            <a:pPr marL="457200" indent="-457200">
              <a:buFont typeface="+mj-lt"/>
              <a:buAutoNum type="arabicParenR"/>
            </a:pPr>
            <a:r>
              <a:rPr lang="en-GB" sz="1800" dirty="0"/>
              <a:t>Whether further revisions are needed to the draft guidance in Agenda Item 8-A prior to it being published as an exposure draft for public comment.</a:t>
            </a:r>
          </a:p>
        </p:txBody>
      </p:sp>
    </p:spTree>
    <p:extLst>
      <p:ext uri="{BB962C8B-B14F-4D97-AF65-F5344CB8AC3E}">
        <p14:creationId xmlns:p14="http://schemas.microsoft.com/office/powerpoint/2010/main" val="1376681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MS PGothic" charset="0"/>
            </a:endParaRPr>
          </a:p>
        </p:txBody>
      </p:sp>
      <p:sp>
        <p:nvSpPr>
          <p:cNvPr id="11" name="Rectangle 10">
            <a:extLst>
              <a:ext uri="{FF2B5EF4-FFF2-40B4-BE49-F238E27FC236}">
                <a16:creationId xmlns:a16="http://schemas.microsoft.com/office/drawing/2014/main" xmlns="" id="{4C3E9CD0-1A4D-4D42-A22D-74C8E3B1C140}"/>
              </a:ext>
            </a:extLst>
          </p:cNvPr>
          <p:cNvSpPr/>
          <p:nvPr/>
        </p:nvSpPr>
        <p:spPr>
          <a:xfrm>
            <a:off x="605314" y="1450152"/>
            <a:ext cx="5084768" cy="769441"/>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10</a:t>
            </a:r>
          </a:p>
          <a:p>
            <a:r>
              <a:rPr lang="en-GB" sz="2400" b="1" dirty="0">
                <a:solidFill>
                  <a:srgbClr val="808080"/>
                </a:solidFill>
                <a:latin typeface="Arial" panose="020B0604020202020204" pitchFamily="34" charset="0"/>
                <a:cs typeface="Arial" panose="020B0604020202020204" pitchFamily="34" charset="0"/>
              </a:rPr>
              <a:t>Assuring Narrative information</a:t>
            </a:r>
            <a:endParaRPr lang="en-GB" sz="2400" dirty="0">
              <a:solidFill>
                <a:srgbClr val="808080"/>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xmlns="" id="{9C72D2FD-B6ED-4AE4-B780-99E489B504F5}"/>
              </a:ext>
            </a:extLst>
          </p:cNvPr>
          <p:cNvSpPr/>
          <p:nvPr/>
        </p:nvSpPr>
        <p:spPr>
          <a:xfrm>
            <a:off x="605314" y="2480030"/>
            <a:ext cx="5084768"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11</a:t>
            </a:r>
          </a:p>
          <a:p>
            <a:r>
              <a:rPr lang="en-GB" sz="2400" b="1" dirty="0">
                <a:solidFill>
                  <a:srgbClr val="808080"/>
                </a:solidFill>
                <a:latin typeface="Arial" panose="020B0604020202020204" pitchFamily="34" charset="0"/>
                <a:cs typeface="Arial" panose="020B0604020202020204" pitchFamily="34" charset="0"/>
              </a:rPr>
              <a:t>Assuring Future-Oriented Information</a:t>
            </a:r>
            <a:endParaRPr lang="en-GB" sz="2400" dirty="0">
              <a:solidFill>
                <a:srgbClr val="808080"/>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xmlns="" id="{792F419A-0D68-4197-9F2F-68FE50648010}"/>
              </a:ext>
            </a:extLst>
          </p:cNvPr>
          <p:cNvSpPr/>
          <p:nvPr/>
        </p:nvSpPr>
        <p:spPr>
          <a:xfrm>
            <a:off x="605314" y="3879240"/>
            <a:ext cx="5084768"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12</a:t>
            </a:r>
          </a:p>
          <a:p>
            <a:r>
              <a:rPr lang="en-GB" sz="2400" b="1" dirty="0">
                <a:solidFill>
                  <a:srgbClr val="808080"/>
                </a:solidFill>
                <a:latin typeface="Arial" panose="020B0604020202020204" pitchFamily="34" charset="0"/>
                <a:cs typeface="Arial" panose="020B0604020202020204" pitchFamily="34" charset="0"/>
              </a:rPr>
              <a:t>Considering the Materiality of Misstatements</a:t>
            </a:r>
            <a:endParaRPr lang="en-GB" sz="2400" dirty="0">
              <a:solidFill>
                <a:srgbClr val="808080"/>
              </a:solidFill>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xmlns="" id="{136E3B65-A112-4E18-98C9-081244524FFE}"/>
              </a:ext>
            </a:extLst>
          </p:cNvPr>
          <p:cNvPicPr>
            <a:picLocks noChangeAspect="1"/>
          </p:cNvPicPr>
          <p:nvPr/>
        </p:nvPicPr>
        <p:blipFill>
          <a:blip r:embed="rId3"/>
          <a:stretch>
            <a:fillRect/>
          </a:stretch>
        </p:blipFill>
        <p:spPr>
          <a:xfrm rot="451605">
            <a:off x="7937557" y="1550535"/>
            <a:ext cx="2151070" cy="3053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Picture 18">
            <a:extLst>
              <a:ext uri="{FF2B5EF4-FFF2-40B4-BE49-F238E27FC236}">
                <a16:creationId xmlns:a16="http://schemas.microsoft.com/office/drawing/2014/main" xmlns="" id="{0404FA6A-A7A4-45A2-A5AE-F6AAC10A35CA}"/>
              </a:ext>
            </a:extLst>
          </p:cNvPr>
          <p:cNvPicPr>
            <a:picLocks noChangeAspect="1"/>
          </p:cNvPicPr>
          <p:nvPr/>
        </p:nvPicPr>
        <p:blipFill>
          <a:blip r:embed="rId4"/>
          <a:stretch>
            <a:fillRect/>
          </a:stretch>
        </p:blipFill>
        <p:spPr>
          <a:xfrm rot="21325174">
            <a:off x="7257305" y="2483592"/>
            <a:ext cx="2078274" cy="29388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35738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1CD5D0-5FA2-4A61-9504-46DD3FD16213}"/>
              </a:ext>
            </a:extLst>
          </p:cNvPr>
          <p:cNvSpPr>
            <a:spLocks noGrp="1"/>
          </p:cNvSpPr>
          <p:nvPr>
            <p:ph type="title"/>
          </p:nvPr>
        </p:nvSpPr>
        <p:spPr/>
        <p:txBody>
          <a:bodyPr/>
          <a:lstStyle/>
          <a:p>
            <a:r>
              <a:rPr lang="en-GB" dirty="0"/>
              <a:t>Discussion on the Updated Draft Guidance</a:t>
            </a:r>
          </a:p>
        </p:txBody>
      </p:sp>
      <p:sp>
        <p:nvSpPr>
          <p:cNvPr id="4" name="Slide Number Placeholder 3">
            <a:extLst>
              <a:ext uri="{FF2B5EF4-FFF2-40B4-BE49-F238E27FC236}">
                <a16:creationId xmlns:a16="http://schemas.microsoft.com/office/drawing/2014/main" xmlns=""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MS PGothic" charset="0"/>
            </a:endParaRPr>
          </a:p>
        </p:txBody>
      </p:sp>
      <p:sp>
        <p:nvSpPr>
          <p:cNvPr id="11" name="Rectangle 10">
            <a:extLst>
              <a:ext uri="{FF2B5EF4-FFF2-40B4-BE49-F238E27FC236}">
                <a16:creationId xmlns:a16="http://schemas.microsoft.com/office/drawing/2014/main" xmlns="" id="{4C3E9CD0-1A4D-4D42-A22D-74C8E3B1C140}"/>
              </a:ext>
            </a:extLst>
          </p:cNvPr>
          <p:cNvSpPr/>
          <p:nvPr/>
        </p:nvSpPr>
        <p:spPr>
          <a:xfrm>
            <a:off x="605314" y="1450152"/>
            <a:ext cx="5084768" cy="769441"/>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10</a:t>
            </a:r>
          </a:p>
          <a:p>
            <a:r>
              <a:rPr lang="en-GB" sz="2400" b="1" dirty="0">
                <a:solidFill>
                  <a:srgbClr val="808080"/>
                </a:solidFill>
                <a:latin typeface="Arial" panose="020B0604020202020204" pitchFamily="34" charset="0"/>
                <a:cs typeface="Arial" panose="020B0604020202020204" pitchFamily="34" charset="0"/>
              </a:rPr>
              <a:t>Assuring Narrative information</a:t>
            </a:r>
            <a:endParaRPr lang="en-GB" sz="2400" dirty="0">
              <a:solidFill>
                <a:srgbClr val="808080"/>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xmlns="" id="{9C72D2FD-B6ED-4AE4-B780-99E489B504F5}"/>
              </a:ext>
            </a:extLst>
          </p:cNvPr>
          <p:cNvSpPr/>
          <p:nvPr/>
        </p:nvSpPr>
        <p:spPr>
          <a:xfrm>
            <a:off x="605314" y="2480030"/>
            <a:ext cx="5084768"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11</a:t>
            </a:r>
          </a:p>
          <a:p>
            <a:r>
              <a:rPr lang="en-GB" sz="2400" b="1" dirty="0">
                <a:solidFill>
                  <a:srgbClr val="808080"/>
                </a:solidFill>
                <a:latin typeface="Arial" panose="020B0604020202020204" pitchFamily="34" charset="0"/>
                <a:cs typeface="Arial" panose="020B0604020202020204" pitchFamily="34" charset="0"/>
              </a:rPr>
              <a:t>Assuring Future-Oriented Information</a:t>
            </a:r>
            <a:endParaRPr lang="en-GB" sz="2400" dirty="0">
              <a:solidFill>
                <a:srgbClr val="808080"/>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xmlns="" id="{792F419A-0D68-4197-9F2F-68FE50648010}"/>
              </a:ext>
            </a:extLst>
          </p:cNvPr>
          <p:cNvSpPr/>
          <p:nvPr/>
        </p:nvSpPr>
        <p:spPr>
          <a:xfrm>
            <a:off x="605314" y="3879240"/>
            <a:ext cx="5084768" cy="1138773"/>
          </a:xfrm>
          <a:prstGeom prst="rect">
            <a:avLst/>
          </a:prstGeom>
        </p:spPr>
        <p:txBody>
          <a:bodyPr wrap="square">
            <a:spAutoFit/>
          </a:bodyPr>
          <a:lstStyle/>
          <a:p>
            <a:r>
              <a:rPr lang="en-GB" sz="2000" dirty="0">
                <a:solidFill>
                  <a:srgbClr val="808080"/>
                </a:solidFill>
                <a:latin typeface="Arial" panose="020B0604020202020204" pitchFamily="34" charset="0"/>
                <a:cs typeface="Arial" panose="020B0604020202020204" pitchFamily="34" charset="0"/>
              </a:rPr>
              <a:t>Chapter 12</a:t>
            </a:r>
          </a:p>
          <a:p>
            <a:r>
              <a:rPr lang="en-GB" sz="2400" b="1" dirty="0">
                <a:solidFill>
                  <a:srgbClr val="808080"/>
                </a:solidFill>
                <a:latin typeface="Arial" panose="020B0604020202020204" pitchFamily="34" charset="0"/>
                <a:cs typeface="Arial" panose="020B0604020202020204" pitchFamily="34" charset="0"/>
              </a:rPr>
              <a:t>Considering the Materiality of Misstatements</a:t>
            </a:r>
            <a:endParaRPr lang="en-GB" sz="2400" dirty="0">
              <a:solidFill>
                <a:srgbClr val="808080"/>
              </a:solidFill>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xmlns="" id="{470B8ABC-E079-436A-91ED-E6D35E1BCAFF}"/>
              </a:ext>
            </a:extLst>
          </p:cNvPr>
          <p:cNvGrpSpPr/>
          <p:nvPr/>
        </p:nvGrpSpPr>
        <p:grpSpPr>
          <a:xfrm>
            <a:off x="605314" y="5681930"/>
            <a:ext cx="2115879" cy="599665"/>
            <a:chOff x="609597" y="5598647"/>
            <a:chExt cx="2115879" cy="599665"/>
          </a:xfrm>
        </p:grpSpPr>
        <p:sp>
          <p:nvSpPr>
            <p:cNvPr id="15" name="Rectangle 14">
              <a:extLst>
                <a:ext uri="{FF2B5EF4-FFF2-40B4-BE49-F238E27FC236}">
                  <a16:creationId xmlns:a16="http://schemas.microsoft.com/office/drawing/2014/main" xmlns="" id="{C16BA9CD-52F9-4A3A-9AF9-1373E9BB4D1F}"/>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176 - 221</a:t>
              </a:r>
            </a:p>
          </p:txBody>
        </p:sp>
        <p:pic>
          <p:nvPicPr>
            <p:cNvPr id="16" name="Graphic 15" descr="Document">
              <a:extLst>
                <a:ext uri="{FF2B5EF4-FFF2-40B4-BE49-F238E27FC236}">
                  <a16:creationId xmlns:a16="http://schemas.microsoft.com/office/drawing/2014/main" xmlns="" id="{FEC5A048-664F-453C-BCD1-9360A72F346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18243" y="5636167"/>
              <a:ext cx="524623" cy="524623"/>
            </a:xfrm>
            <a:prstGeom prst="rect">
              <a:avLst/>
            </a:prstGeom>
          </p:spPr>
        </p:pic>
      </p:grpSp>
      <p:sp>
        <p:nvSpPr>
          <p:cNvPr id="17" name="Content Placeholder 2">
            <a:extLst>
              <a:ext uri="{FF2B5EF4-FFF2-40B4-BE49-F238E27FC236}">
                <a16:creationId xmlns:a16="http://schemas.microsoft.com/office/drawing/2014/main" xmlns="" id="{F1B8E210-D76E-445F-B742-B6F612A38BED}"/>
              </a:ext>
            </a:extLst>
          </p:cNvPr>
          <p:cNvSpPr txBox="1">
            <a:spLocks/>
          </p:cNvSpPr>
          <p:nvPr/>
        </p:nvSpPr>
        <p:spPr>
          <a:xfrm>
            <a:off x="6266688" y="1393631"/>
            <a:ext cx="5315712" cy="4337303"/>
          </a:xfrm>
          <a:prstGeom prst="rect">
            <a:avLst/>
          </a:prstGeom>
          <a:solidFill>
            <a:schemeClr val="bg1">
              <a:lumMod val="95000"/>
            </a:schemeClr>
          </a:solidFill>
          <a:ln>
            <a:solidFill>
              <a:schemeClr val="bg1">
                <a:lumMod val="50000"/>
              </a:schemeClr>
            </a:solidFill>
          </a:ln>
          <a:effectLst>
            <a:outerShdw blurRad="63500" sx="102000" sy="102000" algn="ctr" rotWithShape="0">
              <a:prstClr val="black">
                <a:alpha val="40000"/>
              </a:prstClr>
            </a:outerShdw>
          </a:effectLst>
        </p:spPr>
        <p:txBody>
          <a:bodyPr vert="horz" lIns="180000" tIns="180000" rIns="180000" bIns="180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800" dirty="0"/>
              <a:t>The IAASB is asked for its views on:</a:t>
            </a:r>
          </a:p>
          <a:p>
            <a:pPr marL="457200" indent="-457200">
              <a:buFont typeface="+mj-lt"/>
              <a:buAutoNum type="arabicParenR"/>
            </a:pPr>
            <a:r>
              <a:rPr lang="en-GB" sz="1800" dirty="0"/>
              <a:t>Whether the Task Force has appropriately responded to feedback given at the September 2018 meeting;</a:t>
            </a:r>
          </a:p>
          <a:p>
            <a:pPr marL="457200" indent="-457200">
              <a:buFont typeface="+mj-lt"/>
              <a:buAutoNum type="arabicParenR"/>
            </a:pPr>
            <a:r>
              <a:rPr lang="en-GB" sz="1800" dirty="0"/>
              <a:t>Whether the updated draft guidance is effective in assisting practitioners to address the issues related to each of the challenges that were allocated to phase 1; and</a:t>
            </a:r>
          </a:p>
          <a:p>
            <a:pPr marL="457200" indent="-457200">
              <a:buFont typeface="+mj-lt"/>
              <a:buAutoNum type="arabicParenR"/>
            </a:pPr>
            <a:r>
              <a:rPr lang="en-GB" sz="1800" dirty="0"/>
              <a:t>Whether further revisions are needed to the draft guidance in Agenda Item 8-A prior to it being published as an exposure draft for public comment.</a:t>
            </a:r>
          </a:p>
        </p:txBody>
      </p:sp>
    </p:spTree>
    <p:extLst>
      <p:ext uri="{BB962C8B-B14F-4D97-AF65-F5344CB8AC3E}">
        <p14:creationId xmlns:p14="http://schemas.microsoft.com/office/powerpoint/2010/main" val="4268781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3588AF4-237B-4CFE-9956-C5CB1DF21460}"/>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xmlns="" id="{9D0AF1F1-B7AB-45BD-91C3-CF0204ED48D6}"/>
              </a:ext>
            </a:extLst>
          </p:cNvPr>
          <p:cNvSpPr/>
          <p:nvPr/>
        </p:nvSpPr>
        <p:spPr>
          <a:xfrm>
            <a:off x="944529" y="1983284"/>
            <a:ext cx="4414208" cy="2308324"/>
          </a:xfrm>
          <a:prstGeom prst="rect">
            <a:avLst/>
          </a:prstGeom>
        </p:spPr>
        <p:txBody>
          <a:bodyPr wrap="square">
            <a:spAutoFit/>
          </a:bodyPr>
          <a:lstStyle/>
          <a:p>
            <a:r>
              <a:rPr lang="en-GB" sz="3600" b="1" dirty="0">
                <a:solidFill>
                  <a:srgbClr val="808080"/>
                </a:solidFill>
                <a:latin typeface="Arial" panose="020B0604020202020204" pitchFamily="34" charset="0"/>
                <a:cs typeface="Arial" panose="020B0604020202020204" pitchFamily="34" charset="0"/>
              </a:rPr>
              <a:t>Next steps</a:t>
            </a:r>
          </a:p>
          <a:p>
            <a:r>
              <a:rPr lang="en-GB" sz="3600" dirty="0">
                <a:solidFill>
                  <a:srgbClr val="808080"/>
                </a:solidFill>
                <a:latin typeface="Arial" panose="020B0604020202020204" pitchFamily="34" charset="0"/>
                <a:cs typeface="Arial" panose="020B0604020202020204" pitchFamily="34" charset="0"/>
              </a:rPr>
              <a:t>&amp; agree process to finalize the exposure draft</a:t>
            </a:r>
          </a:p>
        </p:txBody>
      </p:sp>
      <p:pic>
        <p:nvPicPr>
          <p:cNvPr id="8" name="Graphic 7" descr="Earth Globe Americas">
            <a:extLst>
              <a:ext uri="{FF2B5EF4-FFF2-40B4-BE49-F238E27FC236}">
                <a16:creationId xmlns:a16="http://schemas.microsoft.com/office/drawing/2014/main" xmlns="" id="{CB1E1253-EE5C-43BD-AFAC-F07CF7021C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7738520" y="1834920"/>
            <a:ext cx="2456688" cy="2456688"/>
          </a:xfrm>
          <a:prstGeom prst="rect">
            <a:avLst/>
          </a:prstGeom>
        </p:spPr>
      </p:pic>
    </p:spTree>
    <p:extLst>
      <p:ext uri="{BB962C8B-B14F-4D97-AF65-F5344CB8AC3E}">
        <p14:creationId xmlns:p14="http://schemas.microsoft.com/office/powerpoint/2010/main" val="3140919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2346"/>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IAASB_PowerPoint_template_2016_update" id="{84781494-0989-47EE-A3A7-2D255A13323B}" vid="{1A50CD82-07D8-4D3F-9AC1-AB2CFB482A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11737</TotalTime>
  <Words>1527</Words>
  <Application>Microsoft Office PowerPoint</Application>
  <PresentationFormat>Widescreen</PresentationFormat>
  <Paragraphs>267</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MS PGothic</vt:lpstr>
      <vt:lpstr>Arial</vt:lpstr>
      <vt:lpstr>Arial Narrow</vt:lpstr>
      <vt:lpstr>Calibri</vt:lpstr>
      <vt:lpstr>Times New Roman</vt:lpstr>
      <vt:lpstr>Office Theme</vt:lpstr>
      <vt:lpstr>EER Assurance  December 2018</vt:lpstr>
      <vt:lpstr>Recap of September Meeting</vt:lpstr>
      <vt:lpstr>Work since September</vt:lpstr>
      <vt:lpstr>This Meeting’s Agenda</vt:lpstr>
      <vt:lpstr>Key issues raised in September</vt:lpstr>
      <vt:lpstr>PowerPoint Presentation</vt:lpstr>
      <vt:lpstr>Suitability of Criteria</vt:lpstr>
      <vt:lpstr>‘Materiality Process’</vt:lpstr>
      <vt:lpstr>‘Materiality Process’</vt:lpstr>
      <vt:lpstr>Discussion on the Updated Draft Guidance</vt:lpstr>
      <vt:lpstr>PowerPoint Presentation</vt:lpstr>
      <vt:lpstr>Matters considered further affecting whole document</vt:lpstr>
      <vt:lpstr>Preconditions for an assurance engagement</vt:lpstr>
      <vt:lpstr>Discussion on the Updated Draft Guidance</vt:lpstr>
      <vt:lpstr>PowerPoint Presentation</vt:lpstr>
      <vt:lpstr>Discussion on the Updated Draft Guidance</vt:lpstr>
      <vt:lpstr>PowerPoint Presentation</vt:lpstr>
      <vt:lpstr>Assertions</vt:lpstr>
      <vt:lpstr>Characteristics of Suitable Criteria</vt:lpstr>
      <vt:lpstr>Assertions</vt:lpstr>
      <vt:lpstr>Discussion on the Updated Draft Guidance</vt:lpstr>
      <vt:lpstr>PowerPoint Presentation</vt:lpstr>
      <vt:lpstr>Discussion on the Updated Draft Guidance</vt:lpstr>
      <vt:lpstr>PowerPoint Presentation</vt:lpstr>
      <vt:lpstr>PowerPoint Presentation</vt:lpstr>
    </vt:vector>
  </TitlesOfParts>
  <Company>NBA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Jan Thijs Drupsteen</dc:creator>
  <cp:lastModifiedBy>Michelle Harrison</cp:lastModifiedBy>
  <cp:revision>539</cp:revision>
  <cp:lastPrinted>2018-12-12T18:22:22Z</cp:lastPrinted>
  <dcterms:created xsi:type="dcterms:W3CDTF">2017-11-13T09:28:46Z</dcterms:created>
  <dcterms:modified xsi:type="dcterms:W3CDTF">2018-12-12T18:27:05Z</dcterms:modified>
</cp:coreProperties>
</file>