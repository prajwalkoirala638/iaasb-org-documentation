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5.xml" ContentType="application/vnd.openxmlformats-officedocument.theme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6.xml" ContentType="application/vnd.openxmlformats-officedocument.theme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4.xml" ContentType="application/vnd.openxmlformats-officedocument.themeOverr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5.xml" ContentType="application/vnd.openxmlformats-officedocument.themeOverr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6.xml" ContentType="application/vnd.openxmlformats-officedocument.themeOverr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heme/themeOverride7.xml" ContentType="application/vnd.openxmlformats-officedocument.themeOverr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heme/themeOverride8.xml" ContentType="application/vnd.openxmlformats-officedocument.themeOverr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theme/themeOverride9.xml" ContentType="application/vnd.openxmlformats-officedocument.themeOverr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theme/themeOverride10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  <p:sldMasterId id="2147483672" r:id="rId2"/>
    <p:sldMasterId id="2147483696" r:id="rId3"/>
    <p:sldMasterId id="2147483708" r:id="rId4"/>
    <p:sldMasterId id="2147483816" r:id="rId5"/>
    <p:sldMasterId id="2147483844" r:id="rId6"/>
    <p:sldMasterId id="2147483856" r:id="rId7"/>
  </p:sldMasterIdLst>
  <p:notesMasterIdLst>
    <p:notesMasterId r:id="rId32"/>
  </p:notesMasterIdLst>
  <p:sldIdLst>
    <p:sldId id="419" r:id="rId8"/>
    <p:sldId id="484" r:id="rId9"/>
    <p:sldId id="420" r:id="rId10"/>
    <p:sldId id="485" r:id="rId11"/>
    <p:sldId id="486" r:id="rId12"/>
    <p:sldId id="487" r:id="rId13"/>
    <p:sldId id="488" r:id="rId14"/>
    <p:sldId id="490" r:id="rId15"/>
    <p:sldId id="489" r:id="rId16"/>
    <p:sldId id="491" r:id="rId17"/>
    <p:sldId id="492" r:id="rId18"/>
    <p:sldId id="504" r:id="rId19"/>
    <p:sldId id="505" r:id="rId20"/>
    <p:sldId id="499" r:id="rId21"/>
    <p:sldId id="500" r:id="rId22"/>
    <p:sldId id="501" r:id="rId23"/>
    <p:sldId id="502" r:id="rId24"/>
    <p:sldId id="503" r:id="rId25"/>
    <p:sldId id="493" r:id="rId26"/>
    <p:sldId id="495" r:id="rId27"/>
    <p:sldId id="494" r:id="rId28"/>
    <p:sldId id="496" r:id="rId29"/>
    <p:sldId id="498" r:id="rId30"/>
    <p:sldId id="394" r:id="rId31"/>
  </p:sldIdLst>
  <p:sldSz cx="12192000" cy="6858000"/>
  <p:notesSz cx="6950075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egan Zietsman" initials="MZ" lastIdx="62" clrIdx="0">
    <p:extLst>
      <p:ext uri="{19B8F6BF-5375-455C-9EA6-DF929625EA0E}">
        <p15:presenceInfo xmlns:p15="http://schemas.microsoft.com/office/powerpoint/2012/main" userId="Megan Zietsman" providerId="None"/>
      </p:ext>
    </p:extLst>
  </p:cmAuthor>
  <p:cmAuthor id="2" name="Dan Montgomery" initials="DM" lastIdx="2" clrIdx="1">
    <p:extLst>
      <p:ext uri="{19B8F6BF-5375-455C-9EA6-DF929625EA0E}">
        <p15:presenceInfo xmlns:p15="http://schemas.microsoft.com/office/powerpoint/2012/main" userId="8ba5e3d143c5e0b2" providerId="Windows Live"/>
      </p:ext>
    </p:extLst>
  </p:cmAuthor>
  <p:cmAuthor id="3" name="Natalie Klonaridis" initials="NK" lastIdx="14" clrIdx="2">
    <p:extLst>
      <p:ext uri="{19B8F6BF-5375-455C-9EA6-DF929625EA0E}">
        <p15:presenceInfo xmlns:p15="http://schemas.microsoft.com/office/powerpoint/2012/main" userId="S-1-5-21-1801674531-1972579041-839522115-13323" providerId="AD"/>
      </p:ext>
    </p:extLst>
  </p:cmAuthor>
  <p:cmAuthor id="4" name="James Grosvenor" initials="JG" lastIdx="2" clrIdx="3">
    <p:extLst>
      <p:ext uri="{19B8F6BF-5375-455C-9EA6-DF929625EA0E}">
        <p15:presenceInfo xmlns:p15="http://schemas.microsoft.com/office/powerpoint/2012/main" userId="S-1-5-21-1801674531-1972579041-839522115-17641" providerId="AD"/>
      </p:ext>
    </p:extLst>
  </p:cmAuthor>
  <p:cmAuthor id="5" name="BJ" initials="BJ" lastIdx="4" clrIdx="4">
    <p:extLst>
      <p:ext uri="{19B8F6BF-5375-455C-9EA6-DF929625EA0E}">
        <p15:presenceInfo xmlns:p15="http://schemas.microsoft.com/office/powerpoint/2012/main" userId="BJ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76" autoAdjust="0"/>
    <p:restoredTop sz="87304" autoAdjust="0"/>
  </p:normalViewPr>
  <p:slideViewPr>
    <p:cSldViewPr snapToGrid="0">
      <p:cViewPr varScale="1">
        <p:scale>
          <a:sx n="75" d="100"/>
          <a:sy n="75" d="100"/>
        </p:scale>
        <p:origin x="88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21" Type="http://schemas.openxmlformats.org/officeDocument/2006/relationships/slide" Target="slides/slide14.xml"/><Relationship Id="rId34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theme" Target="theme/theme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viewProps" Target="viewProps.xml"/><Relationship Id="rId8" Type="http://schemas.openxmlformats.org/officeDocument/2006/relationships/slide" Target="slides/slide1.xml"/><Relationship Id="rId3" Type="http://schemas.openxmlformats.org/officeDocument/2006/relationships/slideMaster" Target="slideMasters/slideMaster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file:///\\Ifac-vmfs01\profiles\nklonaridis\My%20Documents\Work\Quality%20Control\Board%20Papers\September%202019\ISQM%201_NVivo%20Summary_CAG_2019.07.31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oleObject" Target="file:///\\Ifac-vmfs01\profiles\nklonaridis\My%20Documents\Work\Quality%20Control\Board%20Papers\September%202019\ISQM%201_NVivo%20Summary_CAG_2019.07.31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oleObject" Target="file:///\\Ifac-vmfs01\profiles\nklonaridis\My%20Documents\Work\Quality%20Control\Board%20Papers\September%202019\ISQM%201_NVivo%20Summary_CAG_2019.07.31.xlsx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oleObject" Target="file:///\\Ifac-vmfs01\profiles\nklonaridis\My%20Documents\Work\Quality%20Control\Board%20Papers\September%202019\ISQM%201_NVivo%20Summary_CAG_2019.07.31.xlsx" TargetMode="Externa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oleObject" Target="file:///\\Ifac-vmfs01\profiles\nklonaridis\My%20Documents\Work\Quality%20Control\Board%20Papers\September%202019\ISQM%201_NVivo%20Summary_CAG_2019.07.31.xlsx" TargetMode="Externa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.xm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oleObject" Target="file:///\\Ifac-vmfs01\profiles\nklonaridis\My%20Documents\Work\Quality%20Control\Board%20Papers\September%202019\ISQM%201_NVivo%20Summary_CAG_2019.07.31.xlsx" TargetMode="Externa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7.xml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oleObject" Target="file:///\\Ifac-vmfs01\profiles\nklonaridis\My%20Documents\Work\Quality%20Control\Board%20Papers\September%202019\ISQM%201_NVivo%20Summary_CAG_2019.07.31.xlsx" TargetMode="Externa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8.xml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oleObject" Target="file:///\\Ifac-vmfs01\profiles\nklonaridis\My%20Documents\Work\Quality%20Control\Board%20Papers\September%202019\ISQM%201_NVivo%20Summary_CAG_2019.07.31.xlsx" TargetMode="Externa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9.xml"/><Relationship Id="rId2" Type="http://schemas.microsoft.com/office/2011/relationships/chartColorStyle" Target="colors9.xml"/><Relationship Id="rId1" Type="http://schemas.microsoft.com/office/2011/relationships/chartStyle" Target="style9.xml"/><Relationship Id="rId4" Type="http://schemas.openxmlformats.org/officeDocument/2006/relationships/oleObject" Target="file:///\\Ifac-vmfs01\profiles\nklonaridis\My%20Documents\Work\Quality%20Control\Board%20Papers\September%202019\ISQM%201_NVivo%20Summary_CAG_2019.07.31.xlsx" TargetMode="Externa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0.xml"/><Relationship Id="rId2" Type="http://schemas.microsoft.com/office/2011/relationships/chartColorStyle" Target="colors10.xml"/><Relationship Id="rId1" Type="http://schemas.microsoft.com/office/2011/relationships/chartStyle" Target="style10.xml"/><Relationship Id="rId4" Type="http://schemas.openxmlformats.org/officeDocument/2006/relationships/oleObject" Target="file:///\\Ifac-vmfs01\profiles\nklonaridis\My%20Documents\Work\Quality%20Control\Board%20Papers\September%202019\ISQM%201_NVivo%20Summary_CAG_2019.07.31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all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Q1</a:t>
            </a:r>
            <a:r>
              <a:rPr lang="en-US" sz="1600" cap="none" dirty="0">
                <a:latin typeface="Arial" panose="020B0604020202020204" pitchFamily="34" charset="0"/>
                <a:cs typeface="Arial" panose="020B0604020202020204" pitchFamily="34" charset="0"/>
              </a:rPr>
              <a:t>(a)  New Quality Management Approach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Charts!$B$6</c:f>
              <c:strCache>
                <c:ptCount val="1"/>
                <c:pt idx="0">
                  <c:v>Grand 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4382-41CD-8DA4-0531CCA76140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4382-41CD-8DA4-0531CCA76140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4382-41CD-8DA4-0531CCA76140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4382-41CD-8DA4-0531CCA76140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4382-41CD-8DA4-0531CCA76140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4382-41CD-8DA4-0531CCA76140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0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Charts!$C$5:$F$5</c:f>
              <c:strCache>
                <c:ptCount val="3"/>
                <c:pt idx="0">
                  <c:v>Agree</c:v>
                </c:pt>
                <c:pt idx="1">
                  <c:v>Agree but with further commentary</c:v>
                </c:pt>
                <c:pt idx="2">
                  <c:v>Disagree</c:v>
                </c:pt>
              </c:strCache>
            </c:strRef>
          </c:cat>
          <c:val>
            <c:numRef>
              <c:f>Charts!$C$6:$F$6</c:f>
              <c:numCache>
                <c:formatCode>General</c:formatCode>
                <c:ptCount val="3"/>
                <c:pt idx="0">
                  <c:v>55</c:v>
                </c:pt>
                <c:pt idx="1">
                  <c:v>27</c:v>
                </c:pt>
                <c:pt idx="2">
                  <c:v>3</c:v>
                </c:pt>
              </c:numCache>
            </c:numRef>
          </c:val>
          <c:extLst>
            <c:ext xmlns:c15="http://schemas.microsoft.com/office/drawing/2012/chart" uri="{02D57815-91ED-43cb-92C2-25804820EDAC}">
              <c15:categoryFilterExceptions/>
            </c:ext>
            <c:ext xmlns:c16="http://schemas.microsoft.com/office/drawing/2014/chart" uri="{C3380CC4-5D6E-409C-BE32-E72D297353CC}">
              <c16:uniqueId val="{00000006-4382-41CD-8DA4-0531CCA76140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all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Q1</a:t>
            </a:r>
            <a:r>
              <a:rPr lang="en-US" b="1" cap="none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  <a:r>
              <a:rPr lang="en-US" cap="none" dirty="0">
                <a:latin typeface="Arial" panose="020B0604020202020204" pitchFamily="34" charset="0"/>
                <a:cs typeface="Arial" panose="020B0604020202020204" pitchFamily="34" charset="0"/>
              </a:rPr>
              <a:t> Benefits for Engagement Quality and Professional Skepticism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c:rich>
      </c:tx>
      <c:layout>
        <c:manualLayout>
          <c:xMode val="edge"/>
          <c:yMode val="edge"/>
          <c:x val="6.1448306071646051E-2"/>
          <c:y val="4.82897282298033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Charts!$B$13</c:f>
              <c:strCache>
                <c:ptCount val="1"/>
                <c:pt idx="0">
                  <c:v>Grand 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4900-4CEB-808C-CF56E80D4B5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4900-4CEB-808C-CF56E80D4B5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4900-4CEB-808C-CF56E80D4B55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4900-4CEB-808C-CF56E80D4B55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4900-4CEB-808C-CF56E80D4B55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4900-4CEB-808C-CF56E80D4B55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0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Charts!$C$12:$F$12</c:f>
              <c:strCache>
                <c:ptCount val="3"/>
                <c:pt idx="0">
                  <c:v>Agree</c:v>
                </c:pt>
                <c:pt idx="1">
                  <c:v>Agree but with further commentary</c:v>
                </c:pt>
                <c:pt idx="2">
                  <c:v>Disagree</c:v>
                </c:pt>
              </c:strCache>
            </c:strRef>
          </c:cat>
          <c:val>
            <c:numRef>
              <c:f>Charts!$C$13:$F$13</c:f>
              <c:numCache>
                <c:formatCode>General</c:formatCode>
                <c:ptCount val="3"/>
                <c:pt idx="0">
                  <c:v>22</c:v>
                </c:pt>
                <c:pt idx="1">
                  <c:v>35</c:v>
                </c:pt>
                <c:pt idx="2">
                  <c:v>7</c:v>
                </c:pt>
              </c:numCache>
            </c:numRef>
          </c:val>
          <c:extLst>
            <c:ext xmlns:c15="http://schemas.microsoft.com/office/drawing/2012/chart" uri="{02D57815-91ED-43cb-92C2-25804820EDAC}">
              <c15:categoryFilterExceptions/>
            </c:ext>
            <c:ext xmlns:c16="http://schemas.microsoft.com/office/drawing/2014/chart" uri="{C3380CC4-5D6E-409C-BE32-E72D297353CC}">
              <c16:uniqueId val="{00000006-4900-4CEB-808C-CF56E80D4B55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all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Q1</a:t>
            </a:r>
            <a:r>
              <a:rPr lang="en-US" cap="none" dirty="0">
                <a:latin typeface="Arial" panose="020B0604020202020204" pitchFamily="34" charset="0"/>
                <a:cs typeface="Arial" panose="020B0604020202020204" pitchFamily="34" charset="0"/>
              </a:rPr>
              <a:t>(c) Scalability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Charts!$B$24</c:f>
              <c:strCache>
                <c:ptCount val="1"/>
                <c:pt idx="0">
                  <c:v>Grand 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E8BD-4718-926E-FA6EE3ACF0C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E8BD-4718-926E-FA6EE3ACF0C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E8BD-4718-926E-FA6EE3ACF0CD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E8BD-4718-926E-FA6EE3ACF0CD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E8BD-4718-926E-FA6EE3ACF0CD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E8BD-4718-926E-FA6EE3ACF0CD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0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Charts!$C$23:$F$23</c:f>
              <c:strCache>
                <c:ptCount val="3"/>
                <c:pt idx="0">
                  <c:v>Agree</c:v>
                </c:pt>
                <c:pt idx="1">
                  <c:v>Agree but with further commentary</c:v>
                </c:pt>
                <c:pt idx="2">
                  <c:v>Disagree</c:v>
                </c:pt>
              </c:strCache>
            </c:strRef>
          </c:cat>
          <c:val>
            <c:numRef>
              <c:f>Charts!$C$24:$F$24</c:f>
              <c:numCache>
                <c:formatCode>General</c:formatCode>
                <c:ptCount val="3"/>
                <c:pt idx="0">
                  <c:v>13</c:v>
                </c:pt>
                <c:pt idx="1">
                  <c:v>29</c:v>
                </c:pt>
                <c:pt idx="2">
                  <c:v>38</c:v>
                </c:pt>
              </c:numCache>
            </c:numRef>
          </c:val>
          <c:extLst>
            <c:ext xmlns:c15="http://schemas.microsoft.com/office/drawing/2012/chart" uri="{02D57815-91ED-43cb-92C2-25804820EDAC}">
              <c15:categoryFilterExceptions/>
            </c:ext>
            <c:ext xmlns:c16="http://schemas.microsoft.com/office/drawing/2014/chart" uri="{C3380CC4-5D6E-409C-BE32-E72D297353CC}">
              <c16:uniqueId val="{00000006-E8BD-4718-926E-FA6EE3ACF0CD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all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Q4 </a:t>
            </a:r>
            <a:r>
              <a:rPr lang="en-US" sz="1400" cap="none" dirty="0">
                <a:latin typeface="Arial" panose="020B0604020202020204" pitchFamily="34" charset="0"/>
                <a:cs typeface="Arial" panose="020B0604020202020204" pitchFamily="34" charset="0"/>
              </a:rPr>
              <a:t>Components and Structure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c:rich>
      </c:tx>
      <c:layout>
        <c:manualLayout>
          <c:xMode val="edge"/>
          <c:yMode val="edge"/>
          <c:x val="0.22001348708905846"/>
          <c:y val="5.97470693142986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Charts!$B$66</c:f>
              <c:strCache>
                <c:ptCount val="1"/>
                <c:pt idx="0">
                  <c:v>Grand 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581D-4878-A0AE-A36A49E7391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581D-4878-A0AE-A36A49E73913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581D-4878-A0AE-A36A49E73913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581D-4878-A0AE-A36A49E73913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581D-4878-A0AE-A36A49E73913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581D-4878-A0AE-A36A49E73913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0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Charts!$C$65:$F$65</c:f>
              <c:strCache>
                <c:ptCount val="3"/>
                <c:pt idx="0">
                  <c:v>Agree</c:v>
                </c:pt>
                <c:pt idx="1">
                  <c:v>Agree but with further commentary</c:v>
                </c:pt>
                <c:pt idx="2">
                  <c:v>Disagree</c:v>
                </c:pt>
              </c:strCache>
            </c:strRef>
          </c:cat>
          <c:val>
            <c:numRef>
              <c:f>Charts!$C$66:$F$66</c:f>
              <c:numCache>
                <c:formatCode>General</c:formatCode>
                <c:ptCount val="3"/>
                <c:pt idx="0">
                  <c:v>42</c:v>
                </c:pt>
                <c:pt idx="1">
                  <c:v>30</c:v>
                </c:pt>
                <c:pt idx="2">
                  <c:v>12</c:v>
                </c:pt>
              </c:numCache>
            </c:numRef>
          </c:val>
          <c:extLst>
            <c:ext xmlns:c15="http://schemas.microsoft.com/office/drawing/2012/chart" uri="{02D57815-91ED-43cb-92C2-25804820EDAC}">
              <c15:categoryFilterExceptions/>
            </c:ext>
            <c:ext xmlns:c16="http://schemas.microsoft.com/office/drawing/2014/chart" uri="{C3380CC4-5D6E-409C-BE32-E72D297353CC}">
              <c16:uniqueId val="{00000006-581D-4878-A0AE-A36A49E73913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all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Q6(</a:t>
            </a:r>
            <a:r>
              <a:rPr lang="en-US" sz="1400" cap="none" dirty="0">
                <a:latin typeface="Arial" panose="020B0604020202020204" pitchFamily="34" charset="0"/>
                <a:cs typeface="Arial" panose="020B0604020202020204" pitchFamily="34" charset="0"/>
              </a:rPr>
              <a:t>a) FRAP Applies to Other Components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Charts!$B$124</c:f>
              <c:strCache>
                <c:ptCount val="1"/>
                <c:pt idx="0">
                  <c:v>Grand 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0457-4ABF-8649-7FA9707F822C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0457-4ABF-8649-7FA9707F822C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0457-4ABF-8649-7FA9707F822C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0457-4ABF-8649-7FA9707F822C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0457-4ABF-8649-7FA9707F822C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0457-4ABF-8649-7FA9707F822C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0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Charts!$C$123:$F$123</c:f>
              <c:strCache>
                <c:ptCount val="3"/>
                <c:pt idx="0">
                  <c:v>Agree</c:v>
                </c:pt>
                <c:pt idx="1">
                  <c:v>Agree but conditional or with further commentary</c:v>
                </c:pt>
                <c:pt idx="2">
                  <c:v>Disagree</c:v>
                </c:pt>
              </c:strCache>
            </c:strRef>
          </c:cat>
          <c:val>
            <c:numRef>
              <c:f>Charts!$C$124:$F$124</c:f>
              <c:numCache>
                <c:formatCode>General</c:formatCode>
                <c:ptCount val="3"/>
                <c:pt idx="0">
                  <c:v>50</c:v>
                </c:pt>
                <c:pt idx="1">
                  <c:v>6</c:v>
                </c:pt>
                <c:pt idx="2">
                  <c:v>9</c:v>
                </c:pt>
              </c:numCache>
            </c:numRef>
          </c:val>
          <c:extLst>
            <c:ext xmlns:c15="http://schemas.microsoft.com/office/drawing/2012/chart" uri="{02D57815-91ED-43cb-92C2-25804820EDAC}">
              <c15:categoryFilterExceptions/>
            </c:ext>
            <c:ext xmlns:c16="http://schemas.microsoft.com/office/drawing/2014/chart" uri="{C3380CC4-5D6E-409C-BE32-E72D297353CC}">
              <c16:uniqueId val="{00000006-0457-4ABF-8649-7FA9707F822C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all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cap="none" dirty="0">
                <a:latin typeface="Arial" panose="020B0604020202020204" pitchFamily="34" charset="0"/>
                <a:cs typeface="Arial" panose="020B0604020202020204" pitchFamily="34" charset="0"/>
              </a:rPr>
              <a:t>Q6(b) &amp; Q6(b)(</a:t>
            </a:r>
            <a:r>
              <a:rPr lang="en-US" sz="1400" cap="none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400" cap="none" dirty="0">
                <a:latin typeface="Arial" panose="020B0604020202020204" pitchFamily="34" charset="0"/>
                <a:cs typeface="Arial" panose="020B0604020202020204" pitchFamily="34" charset="0"/>
              </a:rPr>
              <a:t>) Approach for Establishing Quality Objectives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Charts!$B$139</c:f>
              <c:strCache>
                <c:ptCount val="1"/>
                <c:pt idx="0">
                  <c:v>Grand 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88C7-4748-8E03-2EE272E87EB0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88C7-4748-8E03-2EE272E87EB0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88C7-4748-8E03-2EE272E87EB0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88C7-4748-8E03-2EE272E87EB0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88C7-4748-8E03-2EE272E87EB0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88C7-4748-8E03-2EE272E87EB0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0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Charts!$C$138:$F$138</c:f>
              <c:strCache>
                <c:ptCount val="3"/>
                <c:pt idx="0">
                  <c:v>Agree</c:v>
                </c:pt>
                <c:pt idx="1">
                  <c:v>Agree but with further commentary</c:v>
                </c:pt>
                <c:pt idx="2">
                  <c:v>Disagree</c:v>
                </c:pt>
              </c:strCache>
            </c:strRef>
          </c:cat>
          <c:val>
            <c:numRef>
              <c:f>Charts!$C$139:$F$139</c:f>
              <c:numCache>
                <c:formatCode>General</c:formatCode>
                <c:ptCount val="3"/>
                <c:pt idx="0">
                  <c:v>46</c:v>
                </c:pt>
                <c:pt idx="1">
                  <c:v>15</c:v>
                </c:pt>
                <c:pt idx="2">
                  <c:v>18</c:v>
                </c:pt>
              </c:numCache>
            </c:numRef>
          </c:val>
          <c:extLst>
            <c:ext xmlns:c15="http://schemas.microsoft.com/office/drawing/2012/chart" uri="{02D57815-91ED-43cb-92C2-25804820EDAC}">
              <c15:categoryFilterExceptions/>
            </c:ext>
            <c:ext xmlns:c16="http://schemas.microsoft.com/office/drawing/2014/chart" uri="{C3380CC4-5D6E-409C-BE32-E72D297353CC}">
              <c16:uniqueId val="{00000006-88C7-4748-8E03-2EE272E87EB0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all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cap="none" dirty="0">
                <a:latin typeface="Arial" panose="020B0604020202020204" pitchFamily="34" charset="0"/>
                <a:cs typeface="Arial" panose="020B0604020202020204" pitchFamily="34" charset="0"/>
              </a:rPr>
              <a:t>Q6(b)(ii) Additional Quality Objectives Beyond Those Required by the Standard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Charts!$B$153</c:f>
              <c:strCache>
                <c:ptCount val="1"/>
                <c:pt idx="0">
                  <c:v>Grand 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51E5-470B-9A78-1D074DF2091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51E5-470B-9A78-1D074DF2091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51E5-470B-9A78-1D074DF20915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51E5-470B-9A78-1D074DF20915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51E5-470B-9A78-1D074DF20915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51E5-470B-9A78-1D074DF20915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0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Charts!$C$152:$F$152</c:f>
              <c:strCache>
                <c:ptCount val="3"/>
                <c:pt idx="0">
                  <c:v>Requirement is Clear</c:v>
                </c:pt>
                <c:pt idx="1">
                  <c:v>Requirement is clear but with further commentary</c:v>
                </c:pt>
                <c:pt idx="2">
                  <c:v>Requirement is Not clear</c:v>
                </c:pt>
              </c:strCache>
            </c:strRef>
          </c:cat>
          <c:val>
            <c:numRef>
              <c:f>Charts!$C$153:$F$153</c:f>
              <c:numCache>
                <c:formatCode>General</c:formatCode>
                <c:ptCount val="3"/>
                <c:pt idx="0">
                  <c:v>35</c:v>
                </c:pt>
                <c:pt idx="1">
                  <c:v>33</c:v>
                </c:pt>
                <c:pt idx="2">
                  <c:v>10</c:v>
                </c:pt>
              </c:numCache>
            </c:numRef>
          </c:val>
          <c:extLst>
            <c:ext xmlns:c15="http://schemas.microsoft.com/office/drawing/2012/chart" uri="{02D57815-91ED-43cb-92C2-25804820EDAC}">
              <c15:categoryFilterExceptions/>
            </c:ext>
            <c:ext xmlns:c16="http://schemas.microsoft.com/office/drawing/2014/chart" uri="{C3380CC4-5D6E-409C-BE32-E72D297353CC}">
              <c16:uniqueId val="{00000006-51E5-470B-9A78-1D074DF20915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all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Q6</a:t>
            </a:r>
            <a:r>
              <a:rPr lang="en-US" cap="none" dirty="0">
                <a:latin typeface="Arial" panose="020B0604020202020204" pitchFamily="34" charset="0"/>
                <a:cs typeface="Arial" panose="020B0604020202020204" pitchFamily="34" charset="0"/>
              </a:rPr>
              <a:t>(c) Process for the Identification and Assessment of Quality Risks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c:rich>
      </c:tx>
      <c:layout>
        <c:manualLayout>
          <c:xMode val="edge"/>
          <c:yMode val="edge"/>
          <c:x val="0.16716563693333758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40392605702214546"/>
          <c:y val="0.34005473623262567"/>
          <c:w val="0.22803841982740045"/>
          <c:h val="0.54327057405718016"/>
        </c:manualLayout>
      </c:layout>
      <c:pieChart>
        <c:varyColors val="1"/>
        <c:ser>
          <c:idx val="0"/>
          <c:order val="0"/>
          <c:tx>
            <c:strRef>
              <c:f>Charts!$B$169</c:f>
              <c:strCache>
                <c:ptCount val="1"/>
                <c:pt idx="0">
                  <c:v>Grand 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B291-4075-BE16-D49144B00B7F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B291-4075-BE16-D49144B00B7F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B291-4075-BE16-D49144B00B7F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B291-4075-BE16-D49144B00B7F}"/>
                </c:ext>
              </c:extLst>
            </c:dLbl>
            <c:dLbl>
              <c:idx val="1"/>
              <c:layout>
                <c:manualLayout>
                  <c:x val="0.23328847016599355"/>
                  <c:y val="-5.3440202517329068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291-4075-BE16-D49144B00B7F}"/>
                </c:ext>
              </c:extLst>
            </c:dLbl>
            <c:dLbl>
              <c:idx val="2"/>
              <c:layout>
                <c:manualLayout>
                  <c:x val="4.4863167339614591E-3"/>
                  <c:y val="-2.1376081006931235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291-4075-BE16-D49144B00B7F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0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Charts!$C$168:$F$168</c:f>
              <c:strCache>
                <c:ptCount val="3"/>
                <c:pt idx="0">
                  <c:v>Agree</c:v>
                </c:pt>
                <c:pt idx="1">
                  <c:v>Agree but with further commentary</c:v>
                </c:pt>
                <c:pt idx="2">
                  <c:v>Disagree</c:v>
                </c:pt>
              </c:strCache>
            </c:strRef>
          </c:cat>
          <c:val>
            <c:numRef>
              <c:f>Charts!$C$169:$F$169</c:f>
              <c:numCache>
                <c:formatCode>General</c:formatCode>
                <c:ptCount val="3"/>
                <c:pt idx="0">
                  <c:v>25</c:v>
                </c:pt>
                <c:pt idx="1">
                  <c:v>39</c:v>
                </c:pt>
                <c:pt idx="2">
                  <c:v>20</c:v>
                </c:pt>
              </c:numCache>
            </c:numRef>
          </c:val>
          <c:extLst>
            <c:ext xmlns:c15="http://schemas.microsoft.com/office/drawing/2012/chart" uri="{02D57815-91ED-43cb-92C2-25804820EDAC}">
              <c15:categoryFilterExceptions/>
            </c:ext>
            <c:ext xmlns:c16="http://schemas.microsoft.com/office/drawing/2014/chart" uri="{C3380CC4-5D6E-409C-BE32-E72D297353CC}">
              <c16:uniqueId val="{00000006-B291-4075-BE16-D49144B00B7F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all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Q6(</a:t>
            </a:r>
            <a:r>
              <a:rPr lang="en-US" cap="none" dirty="0">
                <a:latin typeface="Arial" panose="020B0604020202020204" pitchFamily="34" charset="0"/>
                <a:cs typeface="Arial" panose="020B0604020202020204" pitchFamily="34" charset="0"/>
              </a:rPr>
              <a:t>d) &amp; Q6(d)(</a:t>
            </a:r>
            <a:r>
              <a:rPr lang="en-US" cap="none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cap="none" dirty="0">
                <a:latin typeface="Arial" panose="020B0604020202020204" pitchFamily="34" charset="0"/>
                <a:cs typeface="Arial" panose="020B0604020202020204" pitchFamily="34" charset="0"/>
              </a:rPr>
              <a:t>) Approach for Designing </a:t>
            </a:r>
          </a:p>
          <a:p>
            <a:pPr>
              <a:defRPr/>
            </a:pPr>
            <a:r>
              <a:rPr lang="en-US" cap="none" dirty="0">
                <a:latin typeface="Arial" panose="020B0604020202020204" pitchFamily="34" charset="0"/>
                <a:cs typeface="Arial" panose="020B0604020202020204" pitchFamily="34" charset="0"/>
              </a:rPr>
              <a:t>and Implementing Responses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c:rich>
      </c:tx>
      <c:layout>
        <c:manualLayout>
          <c:xMode val="edge"/>
          <c:yMode val="edge"/>
          <c:x val="0.12324170130022756"/>
          <c:y val="4.110468018859603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Charts!$B$181</c:f>
              <c:strCache>
                <c:ptCount val="1"/>
                <c:pt idx="0">
                  <c:v>Grand 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5F3E-41D7-8B71-7568CE9033D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5F3E-41D7-8B71-7568CE9033D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5F3E-41D7-8B71-7568CE9033D6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5F3E-41D7-8B71-7568CE9033D6}"/>
                </c:ext>
              </c:extLst>
            </c:dLbl>
            <c:dLbl>
              <c:idx val="1"/>
              <c:layout>
                <c:manualLayout>
                  <c:x val="-4.9751243781094572E-2"/>
                  <c:y val="-0.20038531591940578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F3E-41D7-8B71-7568CE9033D6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5F3E-41D7-8B71-7568CE9033D6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0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Charts!$C$180:$E$180</c:f>
              <c:strCache>
                <c:ptCount val="3"/>
                <c:pt idx="0">
                  <c:v> Agree</c:v>
                </c:pt>
                <c:pt idx="1">
                  <c:v>Agree but with further commentary</c:v>
                </c:pt>
                <c:pt idx="2">
                  <c:v> Disagree</c:v>
                </c:pt>
              </c:strCache>
            </c:strRef>
          </c:cat>
          <c:val>
            <c:numRef>
              <c:f>Charts!$C$181:$E$181</c:f>
              <c:numCache>
                <c:formatCode>General</c:formatCode>
                <c:ptCount val="3"/>
                <c:pt idx="0">
                  <c:v>29</c:v>
                </c:pt>
                <c:pt idx="1">
                  <c:v>40</c:v>
                </c:pt>
                <c:pt idx="2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F3E-41D7-8B71-7568CE9033D6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all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Q6</a:t>
            </a:r>
            <a:r>
              <a:rPr lang="en-US" cap="none" dirty="0">
                <a:latin typeface="Arial" panose="020B0604020202020204" pitchFamily="34" charset="0"/>
                <a:cs typeface="Arial" panose="020B0604020202020204" pitchFamily="34" charset="0"/>
              </a:rPr>
              <a:t>(d</a:t>
            </a:r>
            <a:r>
              <a:rPr lang="en-US" sz="1600" cap="none" dirty="0">
                <a:latin typeface="Arial" panose="020B0604020202020204" pitchFamily="34" charset="0"/>
                <a:cs typeface="Arial" panose="020B0604020202020204" pitchFamily="34" charset="0"/>
              </a:rPr>
              <a:t>)(ii) Requirements to Design and Implement Additional Responses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Charts!$B$193</c:f>
              <c:strCache>
                <c:ptCount val="1"/>
                <c:pt idx="0">
                  <c:v>Grand 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81CF-443D-BDE2-850F3449A60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81CF-443D-BDE2-850F3449A60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81CF-443D-BDE2-850F3449A607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81CF-443D-BDE2-850F3449A607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81CF-443D-BDE2-850F3449A607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81CF-443D-BDE2-850F3449A607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0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Charts!$C$192:$F$192</c:f>
              <c:strCache>
                <c:ptCount val="3"/>
                <c:pt idx="0">
                  <c:v>Requirement is clear</c:v>
                </c:pt>
                <c:pt idx="1">
                  <c:v>Requirement is clear but with further commentary</c:v>
                </c:pt>
                <c:pt idx="2">
                  <c:v>Requirement is not clear</c:v>
                </c:pt>
              </c:strCache>
            </c:strRef>
          </c:cat>
          <c:val>
            <c:numRef>
              <c:f>Charts!$C$193:$F$193</c:f>
              <c:numCache>
                <c:formatCode>General</c:formatCode>
                <c:ptCount val="3"/>
                <c:pt idx="0">
                  <c:v>37</c:v>
                </c:pt>
                <c:pt idx="1">
                  <c:v>17</c:v>
                </c:pt>
                <c:pt idx="2">
                  <c:v>17</c:v>
                </c:pt>
              </c:numCache>
            </c:numRef>
          </c:val>
          <c:extLst>
            <c:ext xmlns:c15="http://schemas.microsoft.com/office/drawing/2012/chart" uri="{02D57815-91ED-43cb-92C2-25804820EDAC}">
              <c15:categoryFilterExceptions/>
            </c:ext>
            <c:ext xmlns:c16="http://schemas.microsoft.com/office/drawing/2014/chart" uri="{C3380CC4-5D6E-409C-BE32-E72D297353CC}">
              <c16:uniqueId val="{00000006-81CF-443D-BDE2-850F3449A607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cs:styleClr val="auto"/>
    </cs:fontRef>
    <cs:defRPr sz="100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cs:styleClr val="auto"/>
    </cs:fontRef>
    <cs:defRPr sz="100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cs:styleClr val="auto"/>
    </cs:fontRef>
    <cs:defRPr sz="100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cs:styleClr val="auto"/>
    </cs:fontRef>
    <cs:defRPr sz="100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cs:styleClr val="auto"/>
    </cs:fontRef>
    <cs:defRPr sz="100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cs:styleClr val="auto"/>
    </cs:fontRef>
    <cs:defRPr sz="100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cs:styleClr val="auto"/>
    </cs:fontRef>
    <cs:defRPr sz="100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cs:styleClr val="auto"/>
    </cs:fontRef>
    <cs:defRPr sz="100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cs:styleClr val="auto"/>
    </cs:fontRef>
    <cs:defRPr sz="100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cs:styleClr val="auto"/>
    </cs:fontRef>
    <cs:defRPr sz="100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3408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6768" y="0"/>
            <a:ext cx="3011699" cy="463408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/>
            </a:lvl1pPr>
          </a:lstStyle>
          <a:p>
            <a:fld id="{8217F18B-FBA3-4F6B-97D9-EA188CD16FE5}" type="datetimeFigureOut">
              <a:rPr lang="en-US" smtClean="0"/>
              <a:t>9/14/2019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03263" y="1154113"/>
            <a:ext cx="5543550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92" tIns="46246" rIns="92492" bIns="46246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008" y="4444861"/>
            <a:ext cx="5560060" cy="3636705"/>
          </a:xfrm>
          <a:prstGeom prst="rect">
            <a:avLst/>
          </a:prstGeom>
        </p:spPr>
        <p:txBody>
          <a:bodyPr vert="horz" lIns="92492" tIns="46246" rIns="92492" bIns="46246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69"/>
            <a:ext cx="3011699" cy="463407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6768" y="8772669"/>
            <a:ext cx="3011699" cy="463407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/>
            </a:lvl1pPr>
          </a:lstStyle>
          <a:p>
            <a:fld id="{BAD342E5-AFF1-4E5D-BEDB-B5261E7DAD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4790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10189-AC31-7546-878A-F48FDE4A29F5}" type="slidenum">
              <a:rPr lang="en-US" smtClean="0">
                <a:solidFill>
                  <a:prstClr val="black"/>
                </a:solidFill>
              </a:rPr>
              <a:pPr/>
              <a:t>2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8206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hyperlink" Target="http://www.iaasb.org/" TargetMode="External"/><Relationship Id="rId7" Type="http://schemas.openxmlformats.org/officeDocument/2006/relationships/image" Target="../media/image20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19.png"/><Relationship Id="rId11" Type="http://schemas.openxmlformats.org/officeDocument/2006/relationships/hyperlink" Target="mailto:permissions@ifac.org" TargetMode="External"/><Relationship Id="rId5" Type="http://schemas.openxmlformats.org/officeDocument/2006/relationships/image" Target="../media/image18.png"/><Relationship Id="rId10" Type="http://schemas.openxmlformats.org/officeDocument/2006/relationships/hyperlink" Target="http://www.ifac.org/about-ifac/translations-permissions" TargetMode="External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hyperlink" Target="http://www.iaasb.org/" TargetMode="External"/><Relationship Id="rId7" Type="http://schemas.openxmlformats.org/officeDocument/2006/relationships/image" Target="../media/image20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6.xml"/><Relationship Id="rId6" Type="http://schemas.openxmlformats.org/officeDocument/2006/relationships/image" Target="../media/image19.png"/><Relationship Id="rId11" Type="http://schemas.openxmlformats.org/officeDocument/2006/relationships/hyperlink" Target="mailto:permissions@ifac.org" TargetMode="External"/><Relationship Id="rId5" Type="http://schemas.openxmlformats.org/officeDocument/2006/relationships/image" Target="../media/image18.png"/><Relationship Id="rId10" Type="http://schemas.openxmlformats.org/officeDocument/2006/relationships/hyperlink" Target="http://www.ifac.org/about-ifac/translations-permissions" TargetMode="External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29BED-9370-4C69-8B19-DF5364062FE8}" type="datetime1">
              <a:rPr lang="en-US" smtClean="0"/>
              <a:t>9/14/2019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1BF3E-DF8B-49A5-8A7B-7F8F24820C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5244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80B73-8C76-4707-80F8-3963866B81ED}" type="datetime1">
              <a:rPr lang="en-US" smtClean="0"/>
              <a:t>9/14/2019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1BF3E-DF8B-49A5-8A7B-7F8F24820C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1726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C273B-D08E-4382-AC60-9B5464EA60A9}" type="datetime1">
              <a:rPr lang="en-US" smtClean="0"/>
              <a:t>9/14/2019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1BF3E-DF8B-49A5-8A7B-7F8F24820C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387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95696-183B-49B5-AC88-D34FC4452DEE}" type="datetime1">
              <a:rPr lang="en-US" smtClean="0"/>
              <a:t>9/14/2019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1BF3E-DF8B-49A5-8A7B-7F8F24820C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450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62864-BFD7-472A-B17C-B9A242BBF5D0}" type="datetime1">
              <a:rPr lang="en-US" smtClean="0"/>
              <a:t>9/14/2019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1BF3E-DF8B-49A5-8A7B-7F8F24820C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0159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A0F75-C365-4794-9298-176CBB056E2F}" type="datetime1">
              <a:rPr lang="en-US" smtClean="0"/>
              <a:t>9/14/2019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1BF3E-DF8B-49A5-8A7B-7F8F24820C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7768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7030E-23EE-4B6F-A577-FFA754F6F221}" type="datetime1">
              <a:rPr lang="en-US" smtClean="0"/>
              <a:t>9/14/2019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1BF3E-DF8B-49A5-8A7B-7F8F24820C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7099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B20F4-4371-48A2-A1C5-564A141E18FA}" type="datetime1">
              <a:rPr lang="en-US" smtClean="0"/>
              <a:t>9/14/2019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1BF3E-DF8B-49A5-8A7B-7F8F24820C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7943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EE5E0-6B3C-4B70-BA81-DF7E8E12A50B}" type="datetime1">
              <a:rPr lang="en-US" smtClean="0"/>
              <a:t>9/14/2019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1BF3E-DF8B-49A5-8A7B-7F8F24820C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2175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2743C-A172-4B79-957C-A37D69B35244}" type="datetime1">
              <a:rPr lang="en-US" smtClean="0"/>
              <a:t>9/14/2019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1BF3E-DF8B-49A5-8A7B-7F8F24820C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709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D5299-30FF-4207-93B4-7A9215AAF387}" type="datetime1">
              <a:rPr lang="en-US" smtClean="0"/>
              <a:t>9/14/2019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1BF3E-DF8B-49A5-8A7B-7F8F24820C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48801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BEC16-5153-4444-ADE5-376764F9317A}" type="datetime1">
              <a:rPr lang="en-US" smtClean="0"/>
              <a:t>9/14/2019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DAD2-EBD2-4248-A1BE-DE5C530C13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5067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05138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A7036-7F39-45B7-B8E7-90186E26FD34}" type="datetime1">
              <a:rPr lang="en-US" smtClean="0"/>
              <a:t>9/14/2019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DAD2-EBD2-4248-A1BE-DE5C530C13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06348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6F55C-F0A0-40C2-92AA-13448C1B6DE2}" type="datetime1">
              <a:rPr lang="en-US" smtClean="0"/>
              <a:t>9/14/2019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DAD2-EBD2-4248-A1BE-DE5C530C13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28552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41662-97DA-482D-BB44-A5E7E1463580}" type="datetime1">
              <a:rPr lang="en-US" smtClean="0"/>
              <a:t>9/14/2019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DAD2-EBD2-4248-A1BE-DE5C530C13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09068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D3B72-01DD-4123-ABCF-B71DC3DF9A35}" type="datetime1">
              <a:rPr lang="en-US" smtClean="0"/>
              <a:t>9/14/2019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DAD2-EBD2-4248-A1BE-DE5C530C13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56144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D7D7D-1F9A-439A-9B1F-FAD176DAAE95}" type="datetime1">
              <a:rPr lang="en-US" smtClean="0"/>
              <a:t>9/14/2019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DAD2-EBD2-4248-A1BE-DE5C530C13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05471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3D415-7CDF-4724-8022-A789958CE2B4}" type="datetime1">
              <a:rPr lang="en-US" smtClean="0"/>
              <a:t>9/14/2019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DAD2-EBD2-4248-A1BE-DE5C530C13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2619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148A9-3F54-4B3A-97B0-C24F2AA0F49B}" type="datetime1">
              <a:rPr lang="en-US" smtClean="0"/>
              <a:t>9/14/2019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DAD2-EBD2-4248-A1BE-DE5C530C13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45600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25935-DE68-40A0-AD95-3EF9318A5653}" type="datetime1">
              <a:rPr lang="en-US" smtClean="0"/>
              <a:t>9/14/2019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DAD2-EBD2-4248-A1BE-DE5C530C13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180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905138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BD7C1-6C21-4A0C-AB04-28957353C253}" type="datetime1">
              <a:rPr lang="en-US" smtClean="0"/>
              <a:t>9/14/2019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DAD2-EBD2-4248-A1BE-DE5C530C13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500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AAA40-D496-4BA5-94BC-EC2395AF4BA1}" type="datetime1">
              <a:rPr lang="en-US" smtClean="0"/>
              <a:t>9/14/2019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DAD2-EBD2-4248-A1BE-DE5C530C13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28141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4FA47-1DBD-4C30-88B4-1AA2876CD950}" type="datetime1">
              <a:rPr lang="en-US" smtClean="0"/>
              <a:t>9/14/2019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5E96D-C2D6-4C1C-BEE1-8F30C6DF7FE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617230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CB669-7C2F-4EE4-B944-62950FE6507F}" type="datetime1">
              <a:rPr lang="en-US" smtClean="0"/>
              <a:t>9/14/2019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5E96D-C2D6-4C1C-BEE1-8F30C6DF7FE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611162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DAF38-C557-41C9-8FF5-BEDE134E17EE}" type="datetime1">
              <a:rPr lang="en-US" smtClean="0"/>
              <a:t>9/14/2019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5E96D-C2D6-4C1C-BEE1-8F30C6DF7FE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58050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56C26-B280-45A4-847B-175DFD0A3F0F}" type="datetime1">
              <a:rPr lang="en-US" smtClean="0"/>
              <a:t>9/14/2019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5E96D-C2D6-4C1C-BEE1-8F30C6DF7FE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596516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D1335-23B7-4ACE-8A39-51D3C834FF8A}" type="datetime1">
              <a:rPr lang="en-US" smtClean="0"/>
              <a:t>9/14/2019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5E96D-C2D6-4C1C-BEE1-8F30C6DF7FE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156361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C56E5-0DA9-479C-BCFC-7EE8D0DE2A8E}" type="datetime1">
              <a:rPr lang="en-US" smtClean="0"/>
              <a:t>9/14/2019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5E96D-C2D6-4C1C-BEE1-8F30C6DF7FE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27125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F7FDF-1E42-4280-A018-ACBA192297BC}" type="datetime1">
              <a:rPr lang="en-US" smtClean="0"/>
              <a:t>9/14/2019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5E96D-C2D6-4C1C-BEE1-8F30C6DF7FE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961328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A5003-1A61-4041-91CF-BE3D4D09EBF1}" type="datetime1">
              <a:rPr lang="en-US" smtClean="0"/>
              <a:t>9/14/2019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5E96D-C2D6-4C1C-BEE1-8F30C6DF7FE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407266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7D3B-67DA-40FC-B2AC-DA938EAA2F72}" type="datetime1">
              <a:rPr lang="en-US" smtClean="0"/>
              <a:t>9/14/2019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5E96D-C2D6-4C1C-BEE1-8F30C6DF7FE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041305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17F13-E155-42CD-A20C-B277FF788E23}" type="datetime1">
              <a:rPr lang="en-US" smtClean="0"/>
              <a:t>9/14/2019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5E96D-C2D6-4C1C-BEE1-8F30C6DF7FE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424848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F6321-C77C-49CA-83B2-29284D793B25}" type="datetime1">
              <a:rPr lang="en-US" smtClean="0"/>
              <a:t>9/14/2019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5E96D-C2D6-4C1C-BEE1-8F30C6DF7FE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8609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4849E-A96C-479D-999D-26024B301EF2}" type="datetime1">
              <a:rPr lang="en-US" smtClean="0"/>
              <a:t>9/14/2019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7A7E9-A6B9-48E9-BF8E-B5EFD8DCE52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482973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B7697-44BE-464F-8981-C5EF3A124C23}" type="datetime1">
              <a:rPr lang="en-US" smtClean="0"/>
              <a:t>9/14/2019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7A7E9-A6B9-48E9-BF8E-B5EFD8DCE52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106881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57D8D-BF23-4BCF-8EBC-861A1B1DE27C}" type="datetime1">
              <a:rPr lang="en-US" smtClean="0"/>
              <a:t>9/14/2019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7A7E9-A6B9-48E9-BF8E-B5EFD8DCE52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915784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52379-2070-4859-82B4-0B6BF96F6750}" type="datetime1">
              <a:rPr lang="en-US" smtClean="0"/>
              <a:t>9/14/2019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7A7E9-A6B9-48E9-BF8E-B5EFD8DCE52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732379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E5070-400A-40B5-8F3B-79E375432C4D}" type="datetime1">
              <a:rPr lang="en-US" smtClean="0"/>
              <a:t>9/14/2019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7A7E9-A6B9-48E9-BF8E-B5EFD8DCE52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94500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35FA3-A859-46EE-9DBA-3396054253CC}" type="datetime1">
              <a:rPr lang="en-US" smtClean="0"/>
              <a:t>9/14/2019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7A7E9-A6B9-48E9-BF8E-B5EFD8DCE52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023966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04EDA-4DB0-43F1-8DF2-E50A41E978FD}" type="datetime1">
              <a:rPr lang="en-US" smtClean="0"/>
              <a:t>9/14/2019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7A7E9-A6B9-48E9-BF8E-B5EFD8DCE52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26788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60095-03E6-49D1-8FE2-66640AD7D839}" type="datetime1">
              <a:rPr lang="en-US" smtClean="0"/>
              <a:t>9/14/2019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7A7E9-A6B9-48E9-BF8E-B5EFD8DCE52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898474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D9738-EE9C-4FC1-8835-2C036BE91A2B}" type="datetime1">
              <a:rPr lang="en-US" smtClean="0"/>
              <a:t>9/14/2019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7A7E9-A6B9-48E9-BF8E-B5EFD8DCE52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678085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61346-6166-4BF4-867B-66F542385138}" type="datetime1">
              <a:rPr lang="en-US" smtClean="0"/>
              <a:t>9/14/2019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7A7E9-A6B9-48E9-BF8E-B5EFD8DCE52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27000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5F4C4-52B4-4181-878C-D87ACB1BAF46}" type="datetime1">
              <a:rPr lang="en-US" smtClean="0"/>
              <a:t>9/14/2019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7A7E9-A6B9-48E9-BF8E-B5EFD8DCE52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87677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3"/>
            <a:ext cx="12192000" cy="5757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914401" y="3424965"/>
            <a:ext cx="10524511" cy="145836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914402" y="4961469"/>
            <a:ext cx="6310489" cy="1225964"/>
          </a:xfrm>
        </p:spPr>
        <p:txBody>
          <a:bodyPr anchor="b"/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Picture 6" descr="IAASB Logo with FullName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6605" y="5534026"/>
            <a:ext cx="3720336" cy="653407"/>
          </a:xfrm>
          <a:prstGeom prst="rect">
            <a:avLst/>
          </a:prstGeom>
        </p:spPr>
      </p:pic>
      <p:pic>
        <p:nvPicPr>
          <p:cNvPr id="9" name="Picture 8" descr="Page topper.jpg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43"/>
            <a:ext cx="12192000" cy="3126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95482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3"/>
            <a:ext cx="12192000" cy="5757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914401" y="3424965"/>
            <a:ext cx="10524511" cy="145836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914402" y="4961469"/>
            <a:ext cx="6310489" cy="1225964"/>
          </a:xfrm>
        </p:spPr>
        <p:txBody>
          <a:bodyPr anchor="b"/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8" name="Picture 7" descr="IAASB Logo with FullName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6605" y="5534026"/>
            <a:ext cx="3720336" cy="65340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0" t="12331" r="-210" b="13383"/>
          <a:stretch/>
        </p:blipFill>
        <p:spPr>
          <a:xfrm>
            <a:off x="2" y="2"/>
            <a:ext cx="12208933" cy="3169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0916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or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3"/>
            <a:ext cx="12192000" cy="5757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914401" y="3424965"/>
            <a:ext cx="10524511" cy="145836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914402" y="4961469"/>
            <a:ext cx="6310489" cy="1225964"/>
          </a:xfrm>
        </p:spPr>
        <p:txBody>
          <a:bodyPr anchor="b"/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Picture 6" descr="IAASB Logo with FullName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6605" y="5537200"/>
            <a:ext cx="3702259" cy="650232"/>
          </a:xfrm>
          <a:prstGeom prst="rect">
            <a:avLst/>
          </a:prstGeom>
        </p:spPr>
      </p:pic>
      <p:pic>
        <p:nvPicPr>
          <p:cNvPr id="9" name="Picture 8" descr="Ribbon_orange_top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1601537"/>
            <a:ext cx="12192000" cy="16481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288474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808080"/>
                </a:solidFill>
              </a:defRPr>
            </a:lvl1pPr>
            <a:lvl2pPr>
              <a:defRPr>
                <a:solidFill>
                  <a:srgbClr val="808080"/>
                </a:solidFill>
              </a:defRPr>
            </a:lvl2pPr>
            <a:lvl3pPr>
              <a:defRPr>
                <a:solidFill>
                  <a:srgbClr val="808080"/>
                </a:solidFill>
              </a:defRPr>
            </a:lvl3pPr>
            <a:lvl4pPr marL="857229" indent="-228594">
              <a:defRPr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84236" indent="-228594">
              <a:defRPr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05136" y="6511061"/>
            <a:ext cx="3677264" cy="304412"/>
          </a:xfrm>
        </p:spPr>
        <p:txBody>
          <a:bodyPr/>
          <a:lstStyle>
            <a:lvl1pPr marL="0" marR="0" indent="0" algn="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>
                <a:solidFill>
                  <a:srgbClr val="808080"/>
                </a:solidFill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248397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610881"/>
            <a:ext cx="12192000" cy="525221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0" y="5732585"/>
            <a:ext cx="12192000" cy="0"/>
          </a:xfrm>
          <a:prstGeom prst="line">
            <a:avLst/>
          </a:prstGeom>
          <a:ln w="9525">
            <a:solidFill>
              <a:schemeClr val="accent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 userDrawn="1"/>
        </p:nvSpPr>
        <p:spPr>
          <a:xfrm>
            <a:off x="0" y="5732585"/>
            <a:ext cx="12192000" cy="5385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70000">
                <a:schemeClr val="accent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en-US" sz="18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670166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855641" indent="-228594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84236" indent="-228594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855641" indent="-228594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84236" indent="-228594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808016" y="6497447"/>
            <a:ext cx="2774384" cy="335775"/>
          </a:xfrm>
        </p:spPr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388653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350690"/>
            <a:ext cx="5386917" cy="480663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003648"/>
            <a:ext cx="5386917" cy="3951288"/>
          </a:xfrm>
        </p:spPr>
        <p:txBody>
          <a:bodyPr/>
          <a:lstStyle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855641" indent="-228594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84236" indent="-228594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350690"/>
            <a:ext cx="5389033" cy="480663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003648"/>
            <a:ext cx="5389033" cy="3951288"/>
          </a:xfrm>
        </p:spPr>
        <p:txBody>
          <a:bodyPr/>
          <a:lstStyle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855641" indent="-228594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84236" indent="-228594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94578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263828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46723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024003" y="2082499"/>
            <a:ext cx="5857477" cy="9762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 userDrawn="1"/>
        </p:nvSpPr>
        <p:spPr>
          <a:xfrm>
            <a:off x="5095865" y="5009183"/>
            <a:ext cx="16851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189"/>
            <a:r>
              <a:rPr lang="en-US" sz="1800" dirty="0">
                <a:solidFill>
                  <a:srgbClr val="1F497D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/>
              </a:rPr>
              <a:t>www.iaasb.org</a:t>
            </a:r>
            <a:endParaRPr lang="en-US" sz="2000" dirty="0">
              <a:solidFill>
                <a:prstClr val="black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5"/>
          <p:cNvSpPr>
            <a:spLocks noChangeArrowheads="1"/>
          </p:cNvSpPr>
          <p:nvPr userDrawn="1"/>
        </p:nvSpPr>
        <p:spPr bwMode="auto">
          <a:xfrm flipH="1">
            <a:off x="508000" y="6430429"/>
            <a:ext cx="11684000" cy="46039"/>
          </a:xfrm>
          <a:prstGeom prst="rect">
            <a:avLst/>
          </a:prstGeom>
          <a:gradFill rotWithShape="1">
            <a:gsLst>
              <a:gs pos="0">
                <a:srgbClr val="D53D20"/>
              </a:gs>
              <a:gs pos="999">
                <a:srgbClr val="D53D20"/>
              </a:gs>
              <a:gs pos="100000">
                <a:srgbClr val="E58D2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57189"/>
            <a:endParaRPr lang="en-US" sz="1800" dirty="0">
              <a:solidFill>
                <a:prstClr val="black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746" y="5557768"/>
            <a:ext cx="770407" cy="25753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003" y="5567520"/>
            <a:ext cx="583308" cy="25753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3723" y="5554229"/>
            <a:ext cx="770407" cy="25753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1197" y="5557768"/>
            <a:ext cx="770407" cy="31256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8015" y="5557768"/>
            <a:ext cx="770407" cy="25753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285" y="5553603"/>
            <a:ext cx="770407" cy="257536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>
            <a:off x="931335" y="6144039"/>
            <a:ext cx="1083733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189"/>
            <a:r>
              <a:rPr lang="en-US" sz="1200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For copyright, trademark, and permissions information, please go to </a:t>
            </a:r>
            <a:r>
              <a:rPr lang="en-US" sz="1200" u="sng" dirty="0">
                <a:solidFill>
                  <a:srgbClr val="0563C1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10"/>
              </a:rPr>
              <a:t>permissions</a:t>
            </a:r>
            <a:r>
              <a:rPr lang="en-US" sz="1200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or contact </a:t>
            </a:r>
            <a:r>
              <a:rPr lang="en-US" sz="1200" u="sng" dirty="0">
                <a:solidFill>
                  <a:srgbClr val="0563C1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11"/>
              </a:rPr>
              <a:t>permissions@ifac.org</a:t>
            </a:r>
            <a:r>
              <a:rPr lang="en-US" sz="1200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.</a:t>
            </a:r>
            <a:endParaRPr lang="en-US" sz="12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772784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3"/>
            <a:ext cx="12192000" cy="5757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914401" y="3424965"/>
            <a:ext cx="10524511" cy="145836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914402" y="4961469"/>
            <a:ext cx="6310489" cy="1225964"/>
          </a:xfrm>
        </p:spPr>
        <p:txBody>
          <a:bodyPr anchor="b"/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Picture 6" descr="IAASB Logo with FullName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6605" y="5534026"/>
            <a:ext cx="3720336" cy="653407"/>
          </a:xfrm>
          <a:prstGeom prst="rect">
            <a:avLst/>
          </a:prstGeom>
        </p:spPr>
      </p:pic>
      <p:pic>
        <p:nvPicPr>
          <p:cNvPr id="9" name="Picture 8" descr="Page topper.jpg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43"/>
            <a:ext cx="12192000" cy="3126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42112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3"/>
            <a:ext cx="12192000" cy="5757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914401" y="3424965"/>
            <a:ext cx="10524511" cy="145836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914402" y="4961469"/>
            <a:ext cx="6310489" cy="1225964"/>
          </a:xfrm>
        </p:spPr>
        <p:txBody>
          <a:bodyPr anchor="b"/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8" name="Picture 7" descr="IAASB Logo with FullName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6605" y="5534026"/>
            <a:ext cx="3720336" cy="65340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0" t="12331" r="-210" b="13383"/>
          <a:stretch/>
        </p:blipFill>
        <p:spPr>
          <a:xfrm>
            <a:off x="2" y="2"/>
            <a:ext cx="12208933" cy="3169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84891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or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3"/>
            <a:ext cx="12192000" cy="5757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914401" y="3424965"/>
            <a:ext cx="10524511" cy="145836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914402" y="4961469"/>
            <a:ext cx="6310489" cy="1225964"/>
          </a:xfrm>
        </p:spPr>
        <p:txBody>
          <a:bodyPr anchor="b"/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Picture 6" descr="IAASB Logo with FullName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6605" y="5537200"/>
            <a:ext cx="3702259" cy="650232"/>
          </a:xfrm>
          <a:prstGeom prst="rect">
            <a:avLst/>
          </a:prstGeom>
        </p:spPr>
      </p:pic>
      <p:pic>
        <p:nvPicPr>
          <p:cNvPr id="9" name="Picture 8" descr="Ribbon_orange_top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1601537"/>
            <a:ext cx="12192000" cy="16481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0133929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808080"/>
                </a:solidFill>
              </a:defRPr>
            </a:lvl1pPr>
            <a:lvl2pPr>
              <a:defRPr>
                <a:solidFill>
                  <a:srgbClr val="808080"/>
                </a:solidFill>
              </a:defRPr>
            </a:lvl2pPr>
            <a:lvl3pPr>
              <a:defRPr>
                <a:solidFill>
                  <a:srgbClr val="808080"/>
                </a:solidFill>
              </a:defRPr>
            </a:lvl3pPr>
            <a:lvl4pPr marL="857229" indent="-228594">
              <a:defRPr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84236" indent="-228594">
              <a:defRPr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05136" y="6511061"/>
            <a:ext cx="3677264" cy="304412"/>
          </a:xfrm>
        </p:spPr>
        <p:txBody>
          <a:bodyPr/>
          <a:lstStyle>
            <a:lvl1pPr marL="0" marR="0" indent="0" algn="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>
                <a:solidFill>
                  <a:srgbClr val="808080"/>
                </a:solidFill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245022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610881"/>
            <a:ext cx="12192000" cy="525221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0" y="5732585"/>
            <a:ext cx="12192000" cy="0"/>
          </a:xfrm>
          <a:prstGeom prst="line">
            <a:avLst/>
          </a:prstGeom>
          <a:ln w="9525">
            <a:solidFill>
              <a:schemeClr val="accent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 userDrawn="1"/>
        </p:nvSpPr>
        <p:spPr>
          <a:xfrm>
            <a:off x="0" y="5732585"/>
            <a:ext cx="12192000" cy="5385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70000">
                <a:schemeClr val="accent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en-US" sz="18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501981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855641" indent="-228594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84236" indent="-228594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855641" indent="-228594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84236" indent="-228594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808016" y="6497447"/>
            <a:ext cx="2774384" cy="335775"/>
          </a:xfrm>
        </p:spPr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265223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350690"/>
            <a:ext cx="5386917" cy="480663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003648"/>
            <a:ext cx="5386917" cy="3951288"/>
          </a:xfrm>
        </p:spPr>
        <p:txBody>
          <a:bodyPr/>
          <a:lstStyle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855641" indent="-228594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84236" indent="-228594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350690"/>
            <a:ext cx="5389033" cy="480663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003648"/>
            <a:ext cx="5389033" cy="3951288"/>
          </a:xfrm>
        </p:spPr>
        <p:txBody>
          <a:bodyPr/>
          <a:lstStyle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855641" indent="-228594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84236" indent="-228594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869307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001829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850073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024003" y="2082499"/>
            <a:ext cx="5857477" cy="9762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 userDrawn="1"/>
        </p:nvSpPr>
        <p:spPr>
          <a:xfrm>
            <a:off x="5095865" y="5009183"/>
            <a:ext cx="16851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189"/>
            <a:r>
              <a:rPr lang="en-US" sz="1800" dirty="0">
                <a:solidFill>
                  <a:srgbClr val="1F497D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/>
              </a:rPr>
              <a:t>www.iaasb.org</a:t>
            </a:r>
            <a:endParaRPr lang="en-US" sz="2000" dirty="0">
              <a:solidFill>
                <a:prstClr val="black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5"/>
          <p:cNvSpPr>
            <a:spLocks noChangeArrowheads="1"/>
          </p:cNvSpPr>
          <p:nvPr userDrawn="1"/>
        </p:nvSpPr>
        <p:spPr bwMode="auto">
          <a:xfrm flipH="1">
            <a:off x="508000" y="6430429"/>
            <a:ext cx="11684000" cy="46039"/>
          </a:xfrm>
          <a:prstGeom prst="rect">
            <a:avLst/>
          </a:prstGeom>
          <a:gradFill rotWithShape="1">
            <a:gsLst>
              <a:gs pos="0">
                <a:srgbClr val="D53D20"/>
              </a:gs>
              <a:gs pos="999">
                <a:srgbClr val="D53D20"/>
              </a:gs>
              <a:gs pos="100000">
                <a:srgbClr val="E58D2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57189"/>
            <a:endParaRPr lang="en-US" sz="1800" dirty="0">
              <a:solidFill>
                <a:prstClr val="black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746" y="5557768"/>
            <a:ext cx="770407" cy="25753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003" y="5567520"/>
            <a:ext cx="583308" cy="25753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3723" y="5554229"/>
            <a:ext cx="770407" cy="25753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1197" y="5557768"/>
            <a:ext cx="770407" cy="31256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8015" y="5557768"/>
            <a:ext cx="770407" cy="25753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285" y="5553603"/>
            <a:ext cx="770407" cy="257536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>
            <a:off x="931335" y="6144039"/>
            <a:ext cx="1083733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189"/>
            <a:r>
              <a:rPr lang="en-US" sz="1200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For copyright, trademark, and permissions information, please go to </a:t>
            </a:r>
            <a:r>
              <a:rPr lang="en-US" sz="1200" u="sng" dirty="0">
                <a:solidFill>
                  <a:srgbClr val="0563C1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10"/>
              </a:rPr>
              <a:t>permissions</a:t>
            </a:r>
            <a:r>
              <a:rPr lang="en-US" sz="1200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or contact </a:t>
            </a:r>
            <a:r>
              <a:rPr lang="en-US" sz="1200" u="sng" dirty="0">
                <a:solidFill>
                  <a:srgbClr val="0563C1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11"/>
              </a:rPr>
              <a:t>permissions@ifac.org</a:t>
            </a:r>
            <a:r>
              <a:rPr lang="en-US" sz="1200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.</a:t>
            </a:r>
            <a:endParaRPr lang="en-US" sz="12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147994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457200"/>
            <a:ext cx="10058400" cy="533400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2">
                    <a:lumMod val="65000"/>
                    <a:lumOff val="35000"/>
                  </a:schemeClr>
                </a:solidFill>
              </a:defRPr>
            </a:lvl2pPr>
            <a:lvl3pPr>
              <a:defRPr>
                <a:solidFill>
                  <a:schemeClr val="tx2">
                    <a:lumMod val="65000"/>
                    <a:lumOff val="35000"/>
                  </a:schemeClr>
                </a:solidFill>
              </a:defRPr>
            </a:lvl3pPr>
            <a:lvl4pPr>
              <a:defRPr>
                <a:solidFill>
                  <a:schemeClr val="tx2">
                    <a:lumMod val="65000"/>
                    <a:lumOff val="35000"/>
                  </a:schemeClr>
                </a:solidFill>
              </a:defRPr>
            </a:lvl4pPr>
            <a:lvl5pPr>
              <a:defRPr>
                <a:solidFill>
                  <a:schemeClr val="tx2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ubtitle 2"/>
          <p:cNvSpPr>
            <a:spLocks noGrp="1"/>
          </p:cNvSpPr>
          <p:nvPr>
            <p:ph type="subTitle" idx="10"/>
          </p:nvPr>
        </p:nvSpPr>
        <p:spPr>
          <a:xfrm>
            <a:off x="508000" y="152400"/>
            <a:ext cx="3556000" cy="228600"/>
          </a:xfrm>
        </p:spPr>
        <p:txBody>
          <a:bodyPr lIns="0" tIns="0" rIns="0" bIns="0"/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189" indent="0" algn="ctr">
              <a:buNone/>
              <a:defRPr/>
            </a:lvl2pPr>
            <a:lvl3pPr marL="914377" indent="0" algn="ctr">
              <a:buNone/>
              <a:defRPr/>
            </a:lvl3pPr>
            <a:lvl4pPr marL="1371566" indent="0" algn="ctr">
              <a:buNone/>
              <a:defRPr/>
            </a:lvl4pPr>
            <a:lvl5pPr marL="1828754" indent="0" algn="ctr">
              <a:buNone/>
              <a:defRPr/>
            </a:lvl5pPr>
            <a:lvl6pPr marL="2285943" indent="0" algn="ctr">
              <a:buNone/>
              <a:defRPr/>
            </a:lvl6pPr>
            <a:lvl7pPr marL="2743131" indent="0" algn="ctr">
              <a:buNone/>
              <a:defRPr/>
            </a:lvl7pPr>
            <a:lvl8pPr marL="3200320" indent="0" algn="ctr">
              <a:buNone/>
              <a:defRPr/>
            </a:lvl8pPr>
            <a:lvl9pPr marL="3657509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044499" y="6326390"/>
            <a:ext cx="852032" cy="335775"/>
          </a:xfrm>
        </p:spPr>
        <p:txBody>
          <a:bodyPr/>
          <a:lstStyle/>
          <a:p>
            <a:fld id="{605F50E8-FD69-1B47-8B62-FEC05D1615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113300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68D7C-8822-4144-868B-B6EFA480259D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9/14/2019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F10E-3CFE-4C50-9C04-3D38C47A137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854553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BFDA1-892D-475D-A681-5E1B87AA4CC5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9/14/2019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F10E-3CFE-4C50-9C04-3D38C47A137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495204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B08FF-86A9-489B-9293-6DAA81CF5589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9/14/2019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F10E-3CFE-4C50-9C04-3D38C47A137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366656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77F70-787D-4334-ABBD-4BEE84081B9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9/14/2019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F10E-3CFE-4C50-9C04-3D38C47A137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59720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84004-8839-470E-98FD-2398CB003887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9/14/2019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F10E-3CFE-4C50-9C04-3D38C47A137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083052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DBE43-71DC-4CB5-9DC9-86D083825D16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9/14/2019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F10E-3CFE-4C50-9C04-3D38C47A137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7728273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46410-D2D8-4C53-8D73-7FAB926DC67E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9/14/2019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F10E-3CFE-4C50-9C04-3D38C47A137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7253415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67214-0AB1-49E6-A7A9-395C2525D2CB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9/14/2019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F10E-3CFE-4C50-9C04-3D38C47A137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0495802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15EC8-B9E7-4675-8613-1CB4C2CB4986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9/14/2019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F10E-3CFE-4C50-9C04-3D38C47A137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460564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7143D-A714-4C9D-9075-7EC3BC78008B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9/14/2019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F10E-3CFE-4C50-9C04-3D38C47A137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4343857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B81AF-C2C2-42FA-ACA9-4469AE76468E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9/14/2019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F10E-3CFE-4C50-9C04-3D38C47A137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5077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3.png"/><Relationship Id="rId18" Type="http://schemas.openxmlformats.org/officeDocument/2006/relationships/image" Target="../media/image8.png"/><Relationship Id="rId3" Type="http://schemas.openxmlformats.org/officeDocument/2006/relationships/slideLayout" Target="../slideLayouts/slideLayout36.xml"/><Relationship Id="rId21" Type="http://schemas.openxmlformats.org/officeDocument/2006/relationships/hyperlink" Target="http://www.iaasb.org/" TargetMode="Externa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17" Type="http://schemas.openxmlformats.org/officeDocument/2006/relationships/image" Target="../media/image7.png"/><Relationship Id="rId2" Type="http://schemas.openxmlformats.org/officeDocument/2006/relationships/slideLayout" Target="../slideLayouts/slideLayout35.xml"/><Relationship Id="rId16" Type="http://schemas.openxmlformats.org/officeDocument/2006/relationships/image" Target="../media/image6.png"/><Relationship Id="rId20" Type="http://schemas.openxmlformats.org/officeDocument/2006/relationships/hyperlink" Target="mailto:permissions@ifac.org" TargetMode="Externa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5" Type="http://schemas.openxmlformats.org/officeDocument/2006/relationships/image" Target="../media/image5.png"/><Relationship Id="rId10" Type="http://schemas.openxmlformats.org/officeDocument/2006/relationships/slideLayout" Target="../slideLayouts/slideLayout43.xml"/><Relationship Id="rId19" Type="http://schemas.openxmlformats.org/officeDocument/2006/relationships/hyperlink" Target="http://www.ifac.org/about-ifac/translations-permissions" TargetMode="Externa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4.png"/><Relationship Id="rId22" Type="http://schemas.openxmlformats.org/officeDocument/2006/relationships/image" Target="../media/image9.jpe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image" Target="../media/image10.jpeg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theme" Target="../theme/theme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2.xml"/><Relationship Id="rId13" Type="http://schemas.openxmlformats.org/officeDocument/2006/relationships/image" Target="../media/image10.jpeg"/><Relationship Id="rId3" Type="http://schemas.openxmlformats.org/officeDocument/2006/relationships/slideLayout" Target="../slideLayouts/slideLayout57.xml"/><Relationship Id="rId7" Type="http://schemas.openxmlformats.org/officeDocument/2006/relationships/slideLayout" Target="../slideLayouts/slideLayout61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6.xml"/><Relationship Id="rId1" Type="http://schemas.openxmlformats.org/officeDocument/2006/relationships/slideLayout" Target="../slideLayouts/slideLayout55.xml"/><Relationship Id="rId6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5.xml"/><Relationship Id="rId5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64.xml"/><Relationship Id="rId4" Type="http://schemas.openxmlformats.org/officeDocument/2006/relationships/slideLayout" Target="../slideLayouts/slideLayout58.xml"/><Relationship Id="rId9" Type="http://schemas.openxmlformats.org/officeDocument/2006/relationships/slideLayout" Target="../slideLayouts/slideLayout63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3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68.xml"/><Relationship Id="rId7" Type="http://schemas.openxmlformats.org/officeDocument/2006/relationships/slideLayout" Target="../slideLayouts/slideLayout72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7.xml"/><Relationship Id="rId1" Type="http://schemas.openxmlformats.org/officeDocument/2006/relationships/slideLayout" Target="../slideLayouts/slideLayout66.xml"/><Relationship Id="rId6" Type="http://schemas.openxmlformats.org/officeDocument/2006/relationships/slideLayout" Target="../slideLayouts/slideLayout71.xml"/><Relationship Id="rId11" Type="http://schemas.openxmlformats.org/officeDocument/2006/relationships/slideLayout" Target="../slideLayouts/slideLayout76.xml"/><Relationship Id="rId5" Type="http://schemas.openxmlformats.org/officeDocument/2006/relationships/slideLayout" Target="../slideLayouts/slideLayout70.xml"/><Relationship Id="rId10" Type="http://schemas.openxmlformats.org/officeDocument/2006/relationships/slideLayout" Target="../slideLayouts/slideLayout75.xml"/><Relationship Id="rId4" Type="http://schemas.openxmlformats.org/officeDocument/2006/relationships/slideLayout" Target="../slideLayouts/slideLayout69.xml"/><Relationship Id="rId9" Type="http://schemas.openxmlformats.org/officeDocument/2006/relationships/slideLayout" Target="../slideLayouts/slideLayout7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856EE5-B36E-4704-9EC0-BD21A5BAD421}" type="datetime1">
              <a:rPr lang="en-US" smtClean="0"/>
              <a:t>9/14/2019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31BF3E-DF8B-49A5-8A7B-7F8F24820CAC}" type="slidenum">
              <a:rPr lang="en-US" smtClean="0"/>
              <a:t>‹#›</a:t>
            </a:fld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68878278"/>
              </p:ext>
            </p:extLst>
          </p:nvPr>
        </p:nvGraphicFramePr>
        <p:xfrm>
          <a:off x="838200" y="291549"/>
          <a:ext cx="10515600" cy="59104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91046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21920" marR="121920">
                    <a:lnL w="28575" cap="flat" cmpd="sng" algn="ctr">
                      <a:solidFill>
                        <a:srgbClr val="F08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08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08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08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38521" y="107419"/>
            <a:ext cx="2776728" cy="48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599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DB8EE7-8247-42AD-8E12-DC9551FCB683}" type="datetime1">
              <a:rPr lang="en-US" smtClean="0"/>
              <a:t>9/14/2019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05DAD2-EBD2-4248-A1BE-DE5C530C13E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0" y="633845"/>
            <a:ext cx="12192000" cy="447208"/>
          </a:xfrm>
          <a:prstGeom prst="rect">
            <a:avLst/>
          </a:prstGeom>
          <a:gradFill flip="none" rotWithShape="1">
            <a:gsLst>
              <a:gs pos="0">
                <a:srgbClr val="FAA61A"/>
              </a:gs>
              <a:gs pos="70000">
                <a:srgbClr val="F15A22"/>
              </a:gs>
            </a:gsLst>
            <a:lin ang="0" scaled="1"/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429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12192000" cy="633844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>
            <a:off x="0" y="6285141"/>
            <a:ext cx="12192000" cy="49434"/>
          </a:xfrm>
          <a:prstGeom prst="rect">
            <a:avLst/>
          </a:prstGeom>
          <a:gradFill flip="none" rotWithShape="1">
            <a:gsLst>
              <a:gs pos="0">
                <a:srgbClr val="FAA61A"/>
              </a:gs>
              <a:gs pos="70000">
                <a:srgbClr val="F15A22"/>
              </a:gs>
            </a:gsLst>
            <a:lin ang="0" scaled="1"/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429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0" y="6207974"/>
            <a:ext cx="12192000" cy="49434"/>
          </a:xfrm>
          <a:prstGeom prst="rect">
            <a:avLst/>
          </a:prstGeom>
          <a:gradFill flip="none" rotWithShape="1">
            <a:gsLst>
              <a:gs pos="0">
                <a:srgbClr val="FAA61A"/>
              </a:gs>
              <a:gs pos="70000">
                <a:srgbClr val="F15A22"/>
              </a:gs>
            </a:gsLst>
            <a:lin ang="0" scaled="1"/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429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38521" y="107419"/>
            <a:ext cx="2776728" cy="48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014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C6B8DE-675F-4831-9241-FE2F5CAD1845}" type="datetime1">
              <a:rPr lang="en-US" smtClean="0"/>
              <a:t>9/14/2019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05E96D-C2D6-4C1C-BEE1-8F30C6DF7FED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38521" y="107419"/>
            <a:ext cx="2776728" cy="48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325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9C7CB0-694A-4CF9-A877-F97EB51B4CF3}" type="datetime1">
              <a:rPr lang="en-US" smtClean="0"/>
              <a:t>9/14/2019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F7A7E9-A6B9-48E9-BF8E-B5EFD8DCE520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2746" y="5520048"/>
            <a:ext cx="770407" cy="19315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24003" y="5527362"/>
            <a:ext cx="583308" cy="19315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3723" y="5517394"/>
            <a:ext cx="770407" cy="19315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01197" y="5520048"/>
            <a:ext cx="770407" cy="23442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38015" y="5520048"/>
            <a:ext cx="770407" cy="193152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1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80285" y="5516924"/>
            <a:ext cx="770407" cy="193152"/>
          </a:xfrm>
          <a:prstGeom prst="rect">
            <a:avLst/>
          </a:prstGeom>
        </p:spPr>
      </p:pic>
      <p:sp>
        <p:nvSpPr>
          <p:cNvPr id="16" name="Rectangle 15"/>
          <p:cNvSpPr/>
          <p:nvPr userDrawn="1"/>
        </p:nvSpPr>
        <p:spPr>
          <a:xfrm>
            <a:off x="931335" y="5827229"/>
            <a:ext cx="10837333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For copyright, trademark, and permissions information, please go to </a:t>
            </a:r>
            <a:r>
              <a:rPr lang="en-US" sz="900" u="sng" dirty="0">
                <a:solidFill>
                  <a:srgbClr val="0563C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19"/>
              </a:rPr>
              <a:t>permissions</a:t>
            </a:r>
            <a: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or contact </a:t>
            </a:r>
            <a:r>
              <a:rPr lang="en-US" sz="900" u="sng" dirty="0">
                <a:solidFill>
                  <a:srgbClr val="0563C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0"/>
              </a:rPr>
              <a:t>permissions@ifac.org</a:t>
            </a:r>
            <a: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.</a:t>
            </a:r>
            <a:endParaRPr lang="en-US" sz="900" dirty="0"/>
          </a:p>
        </p:txBody>
      </p:sp>
      <p:sp>
        <p:nvSpPr>
          <p:cNvPr id="17" name="Rectangle 16"/>
          <p:cNvSpPr/>
          <p:nvPr userDrawn="1"/>
        </p:nvSpPr>
        <p:spPr>
          <a:xfrm>
            <a:off x="5139681" y="4870068"/>
            <a:ext cx="1310039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350" u="none" dirty="0">
                <a:solidFill>
                  <a:srgbClr val="1F497D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21"/>
              </a:rPr>
              <a:t>www.iaasb.org</a:t>
            </a:r>
            <a:endParaRPr lang="en-US" sz="1500" u="none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81399" y="2461794"/>
            <a:ext cx="4326783" cy="759918"/>
          </a:xfrm>
          <a:prstGeom prst="rect">
            <a:avLst/>
          </a:prstGeom>
        </p:spPr>
      </p:pic>
      <p:sp>
        <p:nvSpPr>
          <p:cNvPr id="19" name="Rectangle 18"/>
          <p:cNvSpPr/>
          <p:nvPr userDrawn="1"/>
        </p:nvSpPr>
        <p:spPr>
          <a:xfrm>
            <a:off x="0" y="6285141"/>
            <a:ext cx="12192000" cy="49434"/>
          </a:xfrm>
          <a:prstGeom prst="rect">
            <a:avLst/>
          </a:prstGeom>
          <a:gradFill flip="none" rotWithShape="1">
            <a:gsLst>
              <a:gs pos="0">
                <a:srgbClr val="FAA61A"/>
              </a:gs>
              <a:gs pos="70000">
                <a:srgbClr val="F15A22"/>
              </a:gs>
            </a:gsLst>
            <a:lin ang="0" scaled="1"/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429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 userDrawn="1"/>
        </p:nvSpPr>
        <p:spPr>
          <a:xfrm>
            <a:off x="0" y="6207974"/>
            <a:ext cx="12192000" cy="49434"/>
          </a:xfrm>
          <a:prstGeom prst="rect">
            <a:avLst/>
          </a:prstGeom>
          <a:gradFill flip="none" rotWithShape="1">
            <a:gsLst>
              <a:gs pos="0">
                <a:srgbClr val="FAA61A"/>
              </a:gs>
              <a:gs pos="70000">
                <a:srgbClr val="F15A22"/>
              </a:gs>
            </a:gsLst>
            <a:lin ang="0" scaled="1"/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429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8069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569917"/>
            <a:ext cx="12192000" cy="5385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70000">
                <a:schemeClr val="accent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69917"/>
            <a:ext cx="10972800" cy="5385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2"/>
            <a:ext cx="10972800" cy="425156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6647" y="6511061"/>
            <a:ext cx="2743200" cy="3044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defTabSz="457189"/>
            <a:fld id="{AF73A935-0AD8-4B38-AD39-55437B5CA1D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189"/>
              <a:t>9/14/2019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21531" y="6511061"/>
            <a:ext cx="4114800" cy="3044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defTabSz="457189"/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08016" y="6511061"/>
            <a:ext cx="2774384" cy="3044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900">
                <a:solidFill>
                  <a:srgbClr val="808080"/>
                </a:solidFill>
                <a:latin typeface="Arial Narrow"/>
                <a:cs typeface="Arial Narrow"/>
              </a:defRPr>
            </a:lvl1pPr>
          </a:lstStyle>
          <a:p>
            <a:pPr algn="r" defTabSz="457189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 defTabSz="457189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5"/>
          <p:cNvSpPr>
            <a:spLocks noChangeArrowheads="1"/>
          </p:cNvSpPr>
          <p:nvPr userDrawn="1"/>
        </p:nvSpPr>
        <p:spPr bwMode="auto">
          <a:xfrm flipH="1">
            <a:off x="508000" y="6429638"/>
            <a:ext cx="11684000" cy="46039"/>
          </a:xfrm>
          <a:prstGeom prst="rect">
            <a:avLst/>
          </a:prstGeom>
          <a:gradFill rotWithShape="1">
            <a:gsLst>
              <a:gs pos="0">
                <a:srgbClr val="D53D20"/>
              </a:gs>
              <a:gs pos="999">
                <a:srgbClr val="D53D20"/>
              </a:gs>
              <a:gs pos="100000">
                <a:srgbClr val="E58D2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57189"/>
            <a:endParaRPr lang="en-US" sz="1800" dirty="0">
              <a:solidFill>
                <a:prstClr val="black"/>
              </a:solidFill>
            </a:endParaRPr>
          </a:p>
        </p:txBody>
      </p:sp>
      <p:pic>
        <p:nvPicPr>
          <p:cNvPr id="11" name="Picture 10" descr="IAASB Logo with FullName.jpg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9157" y="73879"/>
            <a:ext cx="2383243" cy="418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083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</p:sldLayoutIdLst>
  <p:hf hdr="0" ftr="0" dt="0"/>
  <p:txStyles>
    <p:titleStyle>
      <a:lvl1pPr algn="l" defTabSz="457189" rtl="0" eaLnBrk="1" latinLnBrk="0" hangingPunct="1">
        <a:spcBef>
          <a:spcPct val="0"/>
        </a:spcBef>
        <a:buNone/>
        <a:defRPr sz="2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3034" indent="-173034" algn="l" defTabSz="457189" rtl="0" eaLnBrk="1" latinLnBrk="0" hangingPunct="1">
        <a:spcBef>
          <a:spcPts val="1200"/>
        </a:spcBef>
        <a:buFont typeface="Arial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189" indent="-228594" algn="l" defTabSz="457189" rtl="0" eaLnBrk="1" latinLnBrk="0" hangingPunct="1">
        <a:spcBef>
          <a:spcPts val="600"/>
        </a:spcBef>
        <a:spcAft>
          <a:spcPts val="400"/>
        </a:spcAft>
        <a:buFont typeface="Arial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630223" indent="-171446" algn="l" defTabSz="457189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160" indent="-228594" algn="l" defTabSz="457189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Arial Narrow"/>
          <a:ea typeface="+mn-ea"/>
          <a:cs typeface="Arial Narrow"/>
        </a:defRPr>
      </a:lvl4pPr>
      <a:lvl5pPr marL="2057349" indent="-228594" algn="l" defTabSz="457189" rtl="0" eaLnBrk="1" latinLnBrk="0" hangingPunct="1">
        <a:spcBef>
          <a:spcPct val="20000"/>
        </a:spcBef>
        <a:buFont typeface="Arial"/>
        <a:buChar char="»"/>
        <a:defRPr sz="1400" kern="1200">
          <a:solidFill>
            <a:schemeClr val="tx1"/>
          </a:solidFill>
          <a:latin typeface="Arial Narrow"/>
          <a:ea typeface="+mn-ea"/>
          <a:cs typeface="Arial Narrow"/>
        </a:defRPr>
      </a:lvl5pPr>
      <a:lvl6pPr marL="2514537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569917"/>
            <a:ext cx="12192000" cy="5385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70000">
                <a:schemeClr val="accent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69917"/>
            <a:ext cx="10972800" cy="5385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2"/>
            <a:ext cx="10972800" cy="425156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6647" y="6511061"/>
            <a:ext cx="2743200" cy="3044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defTabSz="457189"/>
            <a:fld id="{AF73A935-0AD8-4B38-AD39-55437B5CA1D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189"/>
              <a:t>9/14/2019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21531" y="6511061"/>
            <a:ext cx="4114800" cy="3044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defTabSz="457189"/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08016" y="6511061"/>
            <a:ext cx="2774384" cy="3044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900">
                <a:solidFill>
                  <a:srgbClr val="808080"/>
                </a:solidFill>
                <a:latin typeface="Arial Narrow"/>
                <a:cs typeface="Arial Narrow"/>
              </a:defRPr>
            </a:lvl1pPr>
          </a:lstStyle>
          <a:p>
            <a:pPr algn="r" defTabSz="457189"/>
            <a:r>
              <a:rPr lang="en-US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 defTabSz="457189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5"/>
          <p:cNvSpPr>
            <a:spLocks noChangeArrowheads="1"/>
          </p:cNvSpPr>
          <p:nvPr userDrawn="1"/>
        </p:nvSpPr>
        <p:spPr bwMode="auto">
          <a:xfrm flipH="1">
            <a:off x="508000" y="6429638"/>
            <a:ext cx="11684000" cy="46039"/>
          </a:xfrm>
          <a:prstGeom prst="rect">
            <a:avLst/>
          </a:prstGeom>
          <a:gradFill rotWithShape="1">
            <a:gsLst>
              <a:gs pos="0">
                <a:srgbClr val="D53D20"/>
              </a:gs>
              <a:gs pos="999">
                <a:srgbClr val="D53D20"/>
              </a:gs>
              <a:gs pos="100000">
                <a:srgbClr val="E58D2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57189"/>
            <a:endParaRPr lang="en-US" sz="1800" dirty="0">
              <a:solidFill>
                <a:prstClr val="black"/>
              </a:solidFill>
            </a:endParaRPr>
          </a:p>
        </p:txBody>
      </p:sp>
      <p:pic>
        <p:nvPicPr>
          <p:cNvPr id="11" name="Picture 10" descr="IAASB Logo with FullName.jpg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9157" y="73879"/>
            <a:ext cx="2383243" cy="418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929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5" r:id="rId1"/>
    <p:sldLayoutId id="2147483846" r:id="rId2"/>
    <p:sldLayoutId id="2147483847" r:id="rId3"/>
    <p:sldLayoutId id="2147483848" r:id="rId4"/>
    <p:sldLayoutId id="2147483849" r:id="rId5"/>
    <p:sldLayoutId id="2147483850" r:id="rId6"/>
    <p:sldLayoutId id="2147483851" r:id="rId7"/>
    <p:sldLayoutId id="2147483852" r:id="rId8"/>
    <p:sldLayoutId id="2147483853" r:id="rId9"/>
    <p:sldLayoutId id="2147483854" r:id="rId10"/>
    <p:sldLayoutId id="2147483855" r:id="rId11"/>
  </p:sldLayoutIdLst>
  <p:hf hdr="0" ftr="0" dt="0"/>
  <p:txStyles>
    <p:titleStyle>
      <a:lvl1pPr algn="l" defTabSz="457189" rtl="0" eaLnBrk="1" latinLnBrk="0" hangingPunct="1">
        <a:spcBef>
          <a:spcPct val="0"/>
        </a:spcBef>
        <a:buNone/>
        <a:defRPr sz="2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3034" indent="-173034" algn="l" defTabSz="457189" rtl="0" eaLnBrk="1" latinLnBrk="0" hangingPunct="1">
        <a:spcBef>
          <a:spcPts val="1200"/>
        </a:spcBef>
        <a:buFont typeface="Arial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189" indent="-228594" algn="l" defTabSz="457189" rtl="0" eaLnBrk="1" latinLnBrk="0" hangingPunct="1">
        <a:spcBef>
          <a:spcPts val="600"/>
        </a:spcBef>
        <a:spcAft>
          <a:spcPts val="400"/>
        </a:spcAft>
        <a:buFont typeface="Arial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630223" indent="-171446" algn="l" defTabSz="457189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160" indent="-228594" algn="l" defTabSz="457189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Arial Narrow"/>
          <a:ea typeface="+mn-ea"/>
          <a:cs typeface="Arial Narrow"/>
        </a:defRPr>
      </a:lvl4pPr>
      <a:lvl5pPr marL="2057349" indent="-228594" algn="l" defTabSz="457189" rtl="0" eaLnBrk="1" latinLnBrk="0" hangingPunct="1">
        <a:spcBef>
          <a:spcPct val="20000"/>
        </a:spcBef>
        <a:buFont typeface="Arial"/>
        <a:buChar char="»"/>
        <a:defRPr sz="1400" kern="1200">
          <a:solidFill>
            <a:schemeClr val="tx1"/>
          </a:solidFill>
          <a:latin typeface="Arial Narrow"/>
          <a:ea typeface="+mn-ea"/>
          <a:cs typeface="Arial Narrow"/>
        </a:defRPr>
      </a:lvl5pPr>
      <a:lvl6pPr marL="2514537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3E7E7A-EFDA-4F96-BA3A-43C7E3A490FB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9/14/2019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14F10E-3CFE-4C50-9C04-3D38C47A137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 userDrawn="1">
            <p:extLst/>
          </p:nvPr>
        </p:nvGraphicFramePr>
        <p:xfrm>
          <a:off x="838200" y="1225605"/>
          <a:ext cx="2006600" cy="1291473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00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3017">
                <a:tc>
                  <a:txBody>
                    <a:bodyPr/>
                    <a:lstStyle/>
                    <a:p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>
                    <a:lnL w="38100" cap="flat" cmpd="sng" algn="ctr">
                      <a:solidFill>
                        <a:srgbClr val="F08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08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08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539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21920" marR="121920">
                    <a:lnL w="38100" cap="flat" cmpd="sng" algn="ctr">
                      <a:solidFill>
                        <a:srgbClr val="F08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059">
                <a:tc>
                  <a:txBody>
                    <a:bodyPr/>
                    <a:lstStyle/>
                    <a:p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>
                    <a:lnL w="38100" cap="flat" cmpd="sng" algn="ctr">
                      <a:solidFill>
                        <a:srgbClr val="F08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08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38100" cap="flat" cmpd="sng" algn="ctr">
                      <a:solidFill>
                        <a:srgbClr val="F08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38521" y="107419"/>
            <a:ext cx="2776728" cy="487680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>
          <a:xfrm>
            <a:off x="0" y="6285141"/>
            <a:ext cx="12192000" cy="49434"/>
          </a:xfrm>
          <a:prstGeom prst="rect">
            <a:avLst/>
          </a:prstGeom>
          <a:gradFill flip="none" rotWithShape="1">
            <a:gsLst>
              <a:gs pos="0">
                <a:srgbClr val="FAA61A"/>
              </a:gs>
              <a:gs pos="70000">
                <a:srgbClr val="F15A22"/>
              </a:gs>
            </a:gsLst>
            <a:lin ang="0" scaled="1"/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342900">
              <a:defRPr/>
            </a:pPr>
            <a:endParaRPr lang="en-US" sz="1350" kern="0" dirty="0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0" y="6207974"/>
            <a:ext cx="12192000" cy="49434"/>
          </a:xfrm>
          <a:prstGeom prst="rect">
            <a:avLst/>
          </a:prstGeom>
          <a:gradFill flip="none" rotWithShape="1">
            <a:gsLst>
              <a:gs pos="0">
                <a:srgbClr val="FAA61A"/>
              </a:gs>
              <a:gs pos="70000">
                <a:srgbClr val="F15A22"/>
              </a:gs>
            </a:gsLst>
            <a:lin ang="0" scaled="1"/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342900">
              <a:defRPr/>
            </a:pPr>
            <a:endParaRPr lang="en-US" sz="1350" kern="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049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7" r:id="rId1"/>
    <p:sldLayoutId id="2147483858" r:id="rId2"/>
    <p:sldLayoutId id="2147483859" r:id="rId3"/>
    <p:sldLayoutId id="2147483860" r:id="rId4"/>
    <p:sldLayoutId id="2147483861" r:id="rId5"/>
    <p:sldLayoutId id="2147483862" r:id="rId6"/>
    <p:sldLayoutId id="2147483863" r:id="rId7"/>
    <p:sldLayoutId id="2147483864" r:id="rId8"/>
    <p:sldLayoutId id="2147483865" r:id="rId9"/>
    <p:sldLayoutId id="2147483866" r:id="rId10"/>
    <p:sldLayoutId id="2147483867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6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8.xml"/><Relationship Id="rId4" Type="http://schemas.openxmlformats.org/officeDocument/2006/relationships/image" Target="../media/image2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5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5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5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5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5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5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5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75782" y="1543017"/>
            <a:ext cx="90965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ISQM 1: Overview of Feedback from the Exposure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570" y="3892804"/>
            <a:ext cx="77820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Presented by:</a:t>
            </a:r>
          </a:p>
          <a:p>
            <a:r>
              <a:rPr lang="en-US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Karin French, ISQM 1 Task Force Chair</a:t>
            </a:r>
          </a:p>
          <a:p>
            <a:endParaRPr lang="en-US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IAASB Meeting September 2019</a:t>
            </a:r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9501613" y="6511061"/>
            <a:ext cx="2080788" cy="304412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rgbClr val="808080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>
                <a:solidFill>
                  <a:prstClr val="white"/>
                </a:solidFill>
                <a:latin typeface="Arial" panose="020B0604020202020204" pitchFamily="34" charset="0"/>
                <a:cs typeface="MS PGothic" charset="0"/>
              </a:rPr>
              <a:t>Page </a:t>
            </a:r>
            <a:r>
              <a:rPr lang="en-US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898823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69917"/>
            <a:ext cx="12192000" cy="538500"/>
          </a:xfrm>
        </p:spPr>
        <p:txBody>
          <a:bodyPr/>
          <a:lstStyle/>
          <a:p>
            <a:pPr marL="347472"/>
            <a:r>
              <a:rPr lang="en-US" b="1" dirty="0"/>
              <a:t>Overview of Respondents</a:t>
            </a:r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9501613" y="6511061"/>
            <a:ext cx="2080788" cy="304412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rgbClr val="808080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CB05DA69-7AFF-43AD-B45E-E8AE51D61DE4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66E9835-526E-40C9-86D6-BB15D8D0B2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1380" y="1692765"/>
            <a:ext cx="5784783" cy="38598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34DEA8D-8C34-4CC7-A40C-7F85C5749F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5839" y="1692764"/>
            <a:ext cx="5893054" cy="3859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300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0" y="568411"/>
            <a:ext cx="12192000" cy="531048"/>
          </a:xfrm>
        </p:spPr>
        <p:txBody>
          <a:bodyPr/>
          <a:lstStyle/>
          <a:p>
            <a:pPr marL="347472"/>
            <a:r>
              <a:rPr lang="en-US" sz="2400" b="1" dirty="0">
                <a:ln w="0"/>
              </a:rPr>
              <a:t>New Quality Management Approach (QMA)</a:t>
            </a:r>
            <a:endParaRPr lang="en-US" sz="2400" b="1" dirty="0"/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9501613" y="6511061"/>
            <a:ext cx="2080788" cy="304412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rgbClr val="808080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A5D50FB3-691B-4551-985A-DEFE3F9B00A3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3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6484B08-BFC1-4FD0-ACDB-93C0FE31F09C}"/>
              </a:ext>
            </a:extLst>
          </p:cNvPr>
          <p:cNvSpPr txBox="1">
            <a:spLocks/>
          </p:cNvSpPr>
          <p:nvPr/>
        </p:nvSpPr>
        <p:spPr>
          <a:xfrm>
            <a:off x="238799" y="1144845"/>
            <a:ext cx="6739516" cy="5048078"/>
          </a:xfrm>
          <a:prstGeom prst="rect">
            <a:avLst/>
          </a:prstGeom>
        </p:spPr>
        <p:txBody>
          <a:bodyPr vert="horz" lIns="121920" tIns="0" rIns="121920" bIns="0" rtlCol="0">
            <a:noAutofit/>
          </a:bodyPr>
          <a:lstStyle>
            <a:lvl1pPr marL="173034" indent="-173034" algn="l" defTabSz="457189" rtl="0" eaLnBrk="1" latinLnBrk="0" hangingPunct="1">
              <a:spcBef>
                <a:spcPts val="1200"/>
              </a:spcBef>
              <a:buFont typeface="Arial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189" indent="-228594" algn="l" defTabSz="457189" rtl="0" eaLnBrk="1" latinLnBrk="0" hangingPunct="1">
              <a:spcBef>
                <a:spcPts val="600"/>
              </a:spcBef>
              <a:spcAft>
                <a:spcPts val="400"/>
              </a:spcAft>
              <a:buFont typeface="Arial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30223" indent="-171446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160" indent="-228594" algn="l" defTabSz="457189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4pPr>
            <a:lvl5pPr marL="2057349" indent="-228594" algn="l" defTabSz="457189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7472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MG: 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Enhancements needed to improve proactive and preventative approach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Needs to be able to support enforcement </a:t>
            </a:r>
          </a:p>
          <a:p>
            <a:pPr marL="347472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Other respondents: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Positive: </a:t>
            </a:r>
          </a:p>
          <a:p>
            <a:pPr marL="347472" lvl="1" indent="0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Font typeface="Arial"/>
              <a:buNone/>
            </a:pP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A962E3C-3575-4F9A-828A-A3A429055D70}"/>
              </a:ext>
            </a:extLst>
          </p:cNvPr>
          <p:cNvSpPr txBox="1">
            <a:spLocks/>
          </p:cNvSpPr>
          <p:nvPr/>
        </p:nvSpPr>
        <p:spPr>
          <a:xfrm>
            <a:off x="238799" y="3154763"/>
            <a:ext cx="11953201" cy="5048078"/>
          </a:xfrm>
          <a:prstGeom prst="rect">
            <a:avLst/>
          </a:prstGeom>
        </p:spPr>
        <p:txBody>
          <a:bodyPr vert="horz" lIns="121920" tIns="0" rIns="121920" bIns="0" rtlCol="0">
            <a:noAutofit/>
          </a:bodyPr>
          <a:lstStyle>
            <a:lvl1pPr marL="173034" indent="-173034" algn="l" defTabSz="457189" rtl="0" eaLnBrk="1" latinLnBrk="0" hangingPunct="1">
              <a:spcBef>
                <a:spcPts val="1200"/>
              </a:spcBef>
              <a:buFont typeface="Arial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189" indent="-228594" algn="l" defTabSz="457189" rtl="0" eaLnBrk="1" latinLnBrk="0" hangingPunct="1">
              <a:spcBef>
                <a:spcPts val="600"/>
              </a:spcBef>
              <a:spcAft>
                <a:spcPts val="400"/>
              </a:spcAft>
              <a:buFont typeface="Arial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30223" indent="-171446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160" indent="-228594" algn="l" defTabSz="457189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4pPr>
            <a:lvl5pPr marL="2057349" indent="-228594" algn="l" defTabSz="457189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42416" lvl="2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Promotes tailored systems and a proactive, integrated and thinking approach to quality management (QM)</a:t>
            </a:r>
          </a:p>
          <a:p>
            <a:pPr marL="1042416" lvl="2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Will help firms meet challenges facing the profession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Concerns:</a:t>
            </a:r>
          </a:p>
          <a:p>
            <a:pPr marL="1042416" lvl="2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How ED-ISQM 1 incorporates a QMA - hybrid of a risk-based approach and prescriptive requirements</a:t>
            </a:r>
            <a:endParaRPr lang="en-US" sz="2800" dirty="0"/>
          </a:p>
          <a:p>
            <a:pPr marL="1042416" lvl="2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Length and complexity of the standard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Suggestions included:</a:t>
            </a:r>
          </a:p>
          <a:p>
            <a:pPr marL="1042416" lvl="2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Reducing prescriptiveness of quality objectives and responses and more explicitly addressing quality risks</a:t>
            </a:r>
            <a:endParaRPr lang="en-US" sz="2600" dirty="0"/>
          </a:p>
          <a:p>
            <a:pPr marL="1042416" lvl="2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Restructuring the standard</a:t>
            </a:r>
          </a:p>
          <a:p>
            <a:pPr marL="1042416" lvl="2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Emphasis on aligning QM with the firm’s business strategy and incorporating QM into enterprise risk management</a:t>
            </a:r>
          </a:p>
          <a:p>
            <a:pPr marL="867978" lvl="2" indent="-347472">
              <a:spcAft>
                <a:spcPts val="300"/>
              </a:spcAft>
            </a:pPr>
            <a:endParaRPr lang="en-US" sz="3000" dirty="0"/>
          </a:p>
          <a:p>
            <a:pPr marL="867978" lvl="2" indent="-347472">
              <a:spcAft>
                <a:spcPts val="300"/>
              </a:spcAft>
            </a:pPr>
            <a:endParaRPr lang="en-US" dirty="0"/>
          </a:p>
          <a:p>
            <a:pPr marL="694944" lvl="1" indent="-347472">
              <a:lnSpc>
                <a:spcPts val="2400"/>
              </a:lnSpc>
              <a:spcAft>
                <a:spcPts val="300"/>
              </a:spcAft>
            </a:pPr>
            <a:endParaRPr lang="en-US" dirty="0"/>
          </a:p>
          <a:p>
            <a:pPr marL="347472" lvl="1" indent="0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Font typeface="Arial"/>
              <a:buNone/>
            </a:pPr>
            <a:endParaRPr lang="en-US" dirty="0"/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EA18166E-D461-4980-95D9-9B15516615B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17743572"/>
              </p:ext>
            </p:extLst>
          </p:nvPr>
        </p:nvGraphicFramePr>
        <p:xfrm>
          <a:off x="6705750" y="1247775"/>
          <a:ext cx="5758816" cy="19850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33335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0" y="568411"/>
            <a:ext cx="12192000" cy="531048"/>
          </a:xfrm>
        </p:spPr>
        <p:txBody>
          <a:bodyPr/>
          <a:lstStyle/>
          <a:p>
            <a:pPr marL="347472"/>
            <a:r>
              <a:rPr lang="en-US" sz="2400" b="1" dirty="0">
                <a:ln w="0"/>
              </a:rPr>
              <a:t>Benefits for Engagement Quality and Professional Skepticism (PS)</a:t>
            </a:r>
            <a:endParaRPr lang="en-US" sz="2400" b="1" dirty="0"/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9501613" y="6511061"/>
            <a:ext cx="2080788" cy="304412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rgbClr val="808080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A5D50FB3-691B-4551-985A-DEFE3F9B00A3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6484B08-BFC1-4FD0-ACDB-93C0FE31F09C}"/>
              </a:ext>
            </a:extLst>
          </p:cNvPr>
          <p:cNvSpPr txBox="1">
            <a:spLocks/>
          </p:cNvSpPr>
          <p:nvPr/>
        </p:nvSpPr>
        <p:spPr>
          <a:xfrm>
            <a:off x="238798" y="1144845"/>
            <a:ext cx="8448002" cy="5048078"/>
          </a:xfrm>
          <a:prstGeom prst="rect">
            <a:avLst/>
          </a:prstGeom>
        </p:spPr>
        <p:txBody>
          <a:bodyPr vert="horz" lIns="121920" tIns="0" rIns="121920" bIns="0" rtlCol="0">
            <a:noAutofit/>
          </a:bodyPr>
          <a:lstStyle>
            <a:lvl1pPr marL="173034" indent="-173034" algn="l" defTabSz="457189" rtl="0" eaLnBrk="1" latinLnBrk="0" hangingPunct="1">
              <a:spcBef>
                <a:spcPts val="1200"/>
              </a:spcBef>
              <a:buFont typeface="Arial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189" indent="-228594" algn="l" defTabSz="457189" rtl="0" eaLnBrk="1" latinLnBrk="0" hangingPunct="1">
              <a:spcBef>
                <a:spcPts val="600"/>
              </a:spcBef>
              <a:spcAft>
                <a:spcPts val="400"/>
              </a:spcAft>
              <a:buFont typeface="Arial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30223" indent="-171446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160" indent="-228594" algn="l" defTabSz="457189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4pPr>
            <a:lvl5pPr marL="2057349" indent="-228594" algn="l" defTabSz="457189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7472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MG: 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Support how ED-ISQM 1 addresses PS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Also address PS in governance and leadership </a:t>
            </a:r>
          </a:p>
          <a:p>
            <a:pPr marL="347472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Other respondents: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SOQM is the foundation for consistently delivering high quality engagements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Governance and leadership is critical to embedding and supporting a culture of quality and a focus on professional skepticism</a:t>
            </a:r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endParaRPr lang="en-US" dirty="0"/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endParaRPr lang="en-US" dirty="0"/>
          </a:p>
          <a:p>
            <a:pPr marL="347472" lvl="1" indent="0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Font typeface="Arial"/>
              <a:buNone/>
            </a:pP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A962E3C-3575-4F9A-828A-A3A429055D70}"/>
              </a:ext>
            </a:extLst>
          </p:cNvPr>
          <p:cNvSpPr txBox="1">
            <a:spLocks/>
          </p:cNvSpPr>
          <p:nvPr/>
        </p:nvSpPr>
        <p:spPr>
          <a:xfrm>
            <a:off x="238798" y="3844394"/>
            <a:ext cx="11844115" cy="5048078"/>
          </a:xfrm>
          <a:prstGeom prst="rect">
            <a:avLst/>
          </a:prstGeom>
        </p:spPr>
        <p:txBody>
          <a:bodyPr vert="horz" lIns="121920" tIns="0" rIns="121920" bIns="0" rtlCol="0">
            <a:noAutofit/>
          </a:bodyPr>
          <a:lstStyle>
            <a:lvl1pPr marL="173034" indent="-173034" algn="l" defTabSz="457189" rtl="0" eaLnBrk="1" latinLnBrk="0" hangingPunct="1">
              <a:spcBef>
                <a:spcPts val="1200"/>
              </a:spcBef>
              <a:buFont typeface="Arial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189" indent="-228594" algn="l" defTabSz="457189" rtl="0" eaLnBrk="1" latinLnBrk="0" hangingPunct="1">
              <a:spcBef>
                <a:spcPts val="600"/>
              </a:spcBef>
              <a:spcAft>
                <a:spcPts val="400"/>
              </a:spcAft>
              <a:buFont typeface="Arial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30223" indent="-171446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160" indent="-228594" algn="l" defTabSz="457189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4pPr>
            <a:lvl5pPr marL="2057349" indent="-228594" algn="l" defTabSz="457189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Effect of the standard and expected benefits would vary from firm to firm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Address PS in other areas of the standard, particularly governance and leadership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Concerns: </a:t>
            </a:r>
          </a:p>
          <a:p>
            <a:pPr marL="1042416" lvl="2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Benefits may be limited for SMPs</a:t>
            </a:r>
          </a:p>
          <a:p>
            <a:pPr marL="1042416" lvl="2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Prescriptiveness = checklist mindset = unlikely to improve engagement quality</a:t>
            </a:r>
          </a:p>
          <a:p>
            <a:pPr marL="1042416" lvl="2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Implementing standard will be resource intensive – possible negative effect on engagement quality</a:t>
            </a:r>
          </a:p>
          <a:p>
            <a:pPr marL="1042416" lvl="2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Cost-benefit analysis needed</a:t>
            </a:r>
          </a:p>
          <a:p>
            <a:pPr marL="1042416" lvl="2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Extent of documentation needed to demonstrate compliance with the standard</a:t>
            </a:r>
            <a:endParaRPr lang="en-US" sz="3000" dirty="0"/>
          </a:p>
          <a:p>
            <a:pPr marL="867978" lvl="2" indent="-347472">
              <a:spcAft>
                <a:spcPts val="300"/>
              </a:spcAft>
            </a:pPr>
            <a:endParaRPr lang="en-US" dirty="0"/>
          </a:p>
          <a:p>
            <a:pPr marL="694944" lvl="1" indent="-347472">
              <a:lnSpc>
                <a:spcPts val="2400"/>
              </a:lnSpc>
              <a:spcAft>
                <a:spcPts val="300"/>
              </a:spcAft>
            </a:pPr>
            <a:endParaRPr lang="en-US" dirty="0"/>
          </a:p>
          <a:p>
            <a:pPr marL="347472" lvl="1" indent="0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Font typeface="Arial"/>
              <a:buNone/>
            </a:pPr>
            <a:endParaRPr lang="en-US" dirty="0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620D2643-6600-46AC-A044-E4BF5F30902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57870051"/>
              </p:ext>
            </p:extLst>
          </p:nvPr>
        </p:nvGraphicFramePr>
        <p:xfrm>
          <a:off x="7222155" y="1144845"/>
          <a:ext cx="5615940" cy="2366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21760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0" y="568411"/>
            <a:ext cx="12192000" cy="531048"/>
          </a:xfrm>
        </p:spPr>
        <p:txBody>
          <a:bodyPr/>
          <a:lstStyle/>
          <a:p>
            <a:pPr marL="347472"/>
            <a:r>
              <a:rPr lang="en-US" sz="2400" b="1" dirty="0">
                <a:ln w="0"/>
              </a:rPr>
              <a:t>Scalability</a:t>
            </a:r>
            <a:endParaRPr lang="en-US" sz="2400" b="1" dirty="0"/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9501613" y="6511061"/>
            <a:ext cx="2080788" cy="304412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rgbClr val="808080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A5D50FB3-691B-4551-985A-DEFE3F9B00A3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6484B08-BFC1-4FD0-ACDB-93C0FE31F09C}"/>
              </a:ext>
            </a:extLst>
          </p:cNvPr>
          <p:cNvSpPr txBox="1">
            <a:spLocks/>
          </p:cNvSpPr>
          <p:nvPr/>
        </p:nvSpPr>
        <p:spPr>
          <a:xfrm>
            <a:off x="238798" y="1144845"/>
            <a:ext cx="8935681" cy="5048078"/>
          </a:xfrm>
          <a:prstGeom prst="rect">
            <a:avLst/>
          </a:prstGeom>
        </p:spPr>
        <p:txBody>
          <a:bodyPr vert="horz" lIns="121920" tIns="0" rIns="121920" bIns="0" rtlCol="0">
            <a:noAutofit/>
          </a:bodyPr>
          <a:lstStyle>
            <a:lvl1pPr marL="173034" indent="-173034" algn="l" defTabSz="457189" rtl="0" eaLnBrk="1" latinLnBrk="0" hangingPunct="1">
              <a:spcBef>
                <a:spcPts val="1200"/>
              </a:spcBef>
              <a:buFont typeface="Arial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189" indent="-228594" algn="l" defTabSz="457189" rtl="0" eaLnBrk="1" latinLnBrk="0" hangingPunct="1">
              <a:spcBef>
                <a:spcPts val="600"/>
              </a:spcBef>
              <a:spcAft>
                <a:spcPts val="400"/>
              </a:spcAft>
              <a:buFont typeface="Arial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30223" indent="-171446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160" indent="-228594" algn="l" defTabSz="457189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4pPr>
            <a:lvl5pPr marL="2057349" indent="-228594" algn="l" defTabSz="457189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7472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MG: 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Need for larger firms to scale-up (i.e., additional to what is in the standard)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Length of standard and proposed additional guidance – need for a critical review and improved clarity of standard </a:t>
            </a:r>
          </a:p>
          <a:p>
            <a:pPr marL="347472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Other respondents: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Examples and guidance will be needed to demonstrate scalability – however, the need for examples and guidance indicates lack of clarity of standard</a:t>
            </a:r>
          </a:p>
          <a:p>
            <a:pPr marL="347472" indent="-347472">
              <a:spcBef>
                <a:spcPts val="300"/>
              </a:spcBef>
              <a:spcAft>
                <a:spcPts val="300"/>
              </a:spcAft>
            </a:pPr>
            <a:endParaRPr lang="en-US" dirty="0"/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endParaRPr lang="en-US" dirty="0"/>
          </a:p>
          <a:p>
            <a:pPr marL="347472" lvl="1" indent="0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Font typeface="Arial"/>
              <a:buNone/>
            </a:pP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A962E3C-3575-4F9A-828A-A3A429055D70}"/>
              </a:ext>
            </a:extLst>
          </p:cNvPr>
          <p:cNvSpPr txBox="1">
            <a:spLocks/>
          </p:cNvSpPr>
          <p:nvPr/>
        </p:nvSpPr>
        <p:spPr>
          <a:xfrm>
            <a:off x="238798" y="3492758"/>
            <a:ext cx="11844115" cy="5048078"/>
          </a:xfrm>
          <a:prstGeom prst="rect">
            <a:avLst/>
          </a:prstGeom>
        </p:spPr>
        <p:txBody>
          <a:bodyPr vert="horz" lIns="121920" tIns="0" rIns="121920" bIns="0" rtlCol="0">
            <a:noAutofit/>
          </a:bodyPr>
          <a:lstStyle>
            <a:lvl1pPr marL="173034" indent="-173034" algn="l" defTabSz="457189" rtl="0" eaLnBrk="1" latinLnBrk="0" hangingPunct="1">
              <a:spcBef>
                <a:spcPts val="1200"/>
              </a:spcBef>
              <a:buFont typeface="Arial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189" indent="-228594" algn="l" defTabSz="457189" rtl="0" eaLnBrk="1" latinLnBrk="0" hangingPunct="1">
              <a:spcBef>
                <a:spcPts val="600"/>
              </a:spcBef>
              <a:spcAft>
                <a:spcPts val="400"/>
              </a:spcAft>
              <a:buFont typeface="Arial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30223" indent="-171446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160" indent="-228594" algn="l" defTabSz="457189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4pPr>
            <a:lvl5pPr marL="2057349" indent="-228594" algn="l" defTabSz="457189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Concerns: </a:t>
            </a:r>
          </a:p>
          <a:p>
            <a:pPr marL="1042416" lvl="2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Prescriptiveness of the standard - not scalable, and having required responses with no quality risks indicates approach is not risk-based</a:t>
            </a:r>
          </a:p>
          <a:p>
            <a:pPr marL="1042416" lvl="2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Length and complexity</a:t>
            </a:r>
          </a:p>
          <a:p>
            <a:pPr marL="1042416" lvl="2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Threshold for identifying quality risks is too low</a:t>
            </a:r>
          </a:p>
          <a:p>
            <a:pPr marL="1042416" lvl="2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Documentation burden (“comply or explain”)</a:t>
            </a:r>
          </a:p>
          <a:p>
            <a:pPr marL="1042416" lvl="2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Standard appears written for large firms – bottom-up approach needed</a:t>
            </a:r>
          </a:p>
          <a:p>
            <a:pPr marL="1042416" lvl="2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Firms that perform non-audit services – increasing trends to perform other engagements instead of audits, wide variance in degree of public interest, ITC addressed audit issues, ED-ISQM 1 very audit focused, ED-ISQM 1 not suitable for firms performing related services engagements</a:t>
            </a:r>
          </a:p>
          <a:p>
            <a:pPr marL="347472" lvl="1" indent="0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Font typeface="Arial"/>
              <a:buNone/>
            </a:pPr>
            <a:endParaRPr lang="en-US" dirty="0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C4EF4410-8F75-493D-A53A-43A82CAAF13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88959322"/>
              </p:ext>
            </p:extLst>
          </p:nvPr>
        </p:nvGraphicFramePr>
        <p:xfrm>
          <a:off x="7654289" y="1144845"/>
          <a:ext cx="5295901" cy="23479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493135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0" y="568411"/>
            <a:ext cx="12192000" cy="531048"/>
          </a:xfrm>
        </p:spPr>
        <p:txBody>
          <a:bodyPr/>
          <a:lstStyle/>
          <a:p>
            <a:pPr marL="347472"/>
            <a:r>
              <a:rPr lang="en-US" sz="2400" b="1" dirty="0">
                <a:ln w="0"/>
              </a:rPr>
              <a:t>Scalability (continued)</a:t>
            </a:r>
            <a:endParaRPr lang="en-US" sz="2400" b="1" dirty="0"/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9501613" y="6511061"/>
            <a:ext cx="2080788" cy="304412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rgbClr val="808080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A5D50FB3-691B-4551-985A-DEFE3F9B00A3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6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6484B08-BFC1-4FD0-ACDB-93C0FE31F09C}"/>
              </a:ext>
            </a:extLst>
          </p:cNvPr>
          <p:cNvSpPr txBox="1">
            <a:spLocks/>
          </p:cNvSpPr>
          <p:nvPr/>
        </p:nvSpPr>
        <p:spPr>
          <a:xfrm>
            <a:off x="238799" y="1144845"/>
            <a:ext cx="11629150" cy="5048078"/>
          </a:xfrm>
          <a:prstGeom prst="rect">
            <a:avLst/>
          </a:prstGeom>
        </p:spPr>
        <p:txBody>
          <a:bodyPr vert="horz" lIns="121920" tIns="0" rIns="121920" bIns="0" rtlCol="0">
            <a:noAutofit/>
          </a:bodyPr>
          <a:lstStyle>
            <a:lvl1pPr marL="173034" indent="-173034" algn="l" defTabSz="457189" rtl="0" eaLnBrk="1" latinLnBrk="0" hangingPunct="1">
              <a:spcBef>
                <a:spcPts val="1200"/>
              </a:spcBef>
              <a:buFont typeface="Arial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189" indent="-228594" algn="l" defTabSz="457189" rtl="0" eaLnBrk="1" latinLnBrk="0" hangingPunct="1">
              <a:spcBef>
                <a:spcPts val="600"/>
              </a:spcBef>
              <a:spcAft>
                <a:spcPts val="400"/>
              </a:spcAft>
              <a:buFont typeface="Arial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30223" indent="-171446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160" indent="-228594" algn="l" defTabSz="457189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4pPr>
            <a:lvl5pPr marL="2057349" indent="-228594" algn="l" defTabSz="457189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7472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Suggestions: 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Separate requirements or standards for managing quality for non-audit engagements or audits of less complex entities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Simplify requirements and reduce repetitiveness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Use certain explanations and diagrams from the Explanatory Memorandum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More clearly signpost paragraphs that address scalability 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Use the same approach that is being considered in the project on ISA 315 (Revised) (i.e., the what/how/why approach)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Place material outside of the standard 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Digitize the standard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endParaRPr lang="en-US" dirty="0"/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endParaRPr lang="en-US" dirty="0"/>
          </a:p>
          <a:p>
            <a:pPr marL="347472" lvl="1" indent="0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Font typeface="Arial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76547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0" y="568411"/>
            <a:ext cx="12192000" cy="531048"/>
          </a:xfrm>
        </p:spPr>
        <p:txBody>
          <a:bodyPr/>
          <a:lstStyle/>
          <a:p>
            <a:pPr marL="347472"/>
            <a:r>
              <a:rPr lang="en-US" sz="2400" b="1" dirty="0">
                <a:ln w="0"/>
              </a:rPr>
              <a:t>Challenges for Implementation</a:t>
            </a:r>
            <a:endParaRPr lang="en-US" sz="2400" b="1" dirty="0"/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9501613" y="6511061"/>
            <a:ext cx="2080788" cy="304412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rgbClr val="808080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A5D50FB3-691B-4551-985A-DEFE3F9B00A3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7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6484B08-BFC1-4FD0-ACDB-93C0FE31F09C}"/>
              </a:ext>
            </a:extLst>
          </p:cNvPr>
          <p:cNvSpPr txBox="1">
            <a:spLocks/>
          </p:cNvSpPr>
          <p:nvPr/>
        </p:nvSpPr>
        <p:spPr>
          <a:xfrm>
            <a:off x="238799" y="1144845"/>
            <a:ext cx="11869782" cy="5048078"/>
          </a:xfrm>
          <a:prstGeom prst="rect">
            <a:avLst/>
          </a:prstGeom>
        </p:spPr>
        <p:txBody>
          <a:bodyPr vert="horz" lIns="121920" tIns="0" rIns="121920" bIns="0" rtlCol="0">
            <a:noAutofit/>
          </a:bodyPr>
          <a:lstStyle>
            <a:lvl1pPr marL="173034" indent="-173034" algn="l" defTabSz="457189" rtl="0" eaLnBrk="1" latinLnBrk="0" hangingPunct="1">
              <a:spcBef>
                <a:spcPts val="1200"/>
              </a:spcBef>
              <a:buFont typeface="Arial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189" indent="-228594" algn="l" defTabSz="457189" rtl="0" eaLnBrk="1" latinLnBrk="0" hangingPunct="1">
              <a:spcBef>
                <a:spcPts val="600"/>
              </a:spcBef>
              <a:spcAft>
                <a:spcPts val="400"/>
              </a:spcAft>
              <a:buFont typeface="Arial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30223" indent="-171446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160" indent="-228594" algn="l" defTabSz="457189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4pPr>
            <a:lvl5pPr marL="2057349" indent="-228594" algn="l" defTabSz="457189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7472" indent="-347472">
              <a:spcBef>
                <a:spcPts val="200"/>
              </a:spcBef>
              <a:spcAft>
                <a:spcPts val="200"/>
              </a:spcAft>
            </a:pPr>
            <a:r>
              <a:rPr lang="en-US" dirty="0"/>
              <a:t>Time, resources and expertise to implement the standard</a:t>
            </a:r>
          </a:p>
          <a:p>
            <a:pPr marL="347472" indent="-347472">
              <a:spcBef>
                <a:spcPts val="200"/>
              </a:spcBef>
              <a:spcAft>
                <a:spcPts val="200"/>
              </a:spcAft>
            </a:pPr>
            <a:r>
              <a:rPr lang="en-US" dirty="0"/>
              <a:t>Firm-wide impact:</a:t>
            </a:r>
          </a:p>
          <a:p>
            <a:pPr marL="694944" lvl="1" indent="-347472">
              <a:spcBef>
                <a:spcPts val="200"/>
              </a:spcBef>
              <a:spcAft>
                <a:spcPts val="200"/>
              </a:spcAft>
            </a:pPr>
            <a:r>
              <a:rPr lang="en-US" dirty="0"/>
              <a:t>Need for a firm-wide mindset change, and influences the culture of the firm</a:t>
            </a:r>
          </a:p>
          <a:p>
            <a:pPr marL="694944" lvl="1" indent="-347472">
              <a:spcBef>
                <a:spcPts val="200"/>
              </a:spcBef>
              <a:spcAft>
                <a:spcPts val="200"/>
              </a:spcAft>
            </a:pPr>
            <a:r>
              <a:rPr lang="en-US" dirty="0"/>
              <a:t>Organizational restructuring, new IT systems</a:t>
            </a:r>
          </a:p>
          <a:p>
            <a:pPr marL="694944" lvl="1" indent="-347472">
              <a:spcBef>
                <a:spcPts val="200"/>
              </a:spcBef>
              <a:spcAft>
                <a:spcPts val="200"/>
              </a:spcAft>
            </a:pPr>
            <a:r>
              <a:rPr lang="en-US" dirty="0"/>
              <a:t>Affects other areas of the firm, e.g., human resources and IT functions</a:t>
            </a:r>
          </a:p>
          <a:p>
            <a:pPr marL="347472" indent="-347472">
              <a:spcBef>
                <a:spcPts val="200"/>
              </a:spcBef>
              <a:spcAft>
                <a:spcPts val="200"/>
              </a:spcAft>
            </a:pPr>
            <a:r>
              <a:rPr lang="en-US" dirty="0"/>
              <a:t>Professional judgment – differing interpretations and concerns about level of documentation needed</a:t>
            </a:r>
          </a:p>
          <a:p>
            <a:pPr marL="347472" indent="-347472">
              <a:spcBef>
                <a:spcPts val="200"/>
              </a:spcBef>
              <a:spcAft>
                <a:spcPts val="200"/>
              </a:spcAft>
            </a:pPr>
            <a:r>
              <a:rPr lang="en-US" dirty="0"/>
              <a:t>Firm’s risk assessment process (FRAP) – identified as particularly challenging to implement</a:t>
            </a:r>
          </a:p>
          <a:p>
            <a:pPr marL="347472" indent="-347472">
              <a:spcBef>
                <a:spcPts val="200"/>
              </a:spcBef>
              <a:spcAft>
                <a:spcPts val="200"/>
              </a:spcAft>
            </a:pPr>
            <a:r>
              <a:rPr lang="en-US" dirty="0"/>
              <a:t>Other areas of challenge:</a:t>
            </a:r>
          </a:p>
          <a:p>
            <a:pPr marL="694944" lvl="1" indent="-347472">
              <a:spcBef>
                <a:spcPts val="200"/>
              </a:spcBef>
              <a:spcAft>
                <a:spcPts val="200"/>
              </a:spcAft>
            </a:pPr>
            <a:r>
              <a:rPr lang="en-US" dirty="0"/>
              <a:t>Monitoring and remediation (M&amp;R)  - root cause analysis, identifying and evaluating findings and deficiencies and firm leadership’s annual evaluation of the system of quality management</a:t>
            </a:r>
          </a:p>
          <a:p>
            <a:pPr marL="694944" lvl="1" indent="-347472">
              <a:spcBef>
                <a:spcPts val="200"/>
              </a:spcBef>
              <a:spcAft>
                <a:spcPts val="200"/>
              </a:spcAft>
            </a:pPr>
            <a:r>
              <a:rPr lang="en-US" dirty="0"/>
              <a:t>Consistent application for networks – includes challenges around consistency of global standards</a:t>
            </a:r>
          </a:p>
          <a:p>
            <a:pPr marL="694944" lvl="1" indent="-347472">
              <a:spcBef>
                <a:spcPts val="200"/>
              </a:spcBef>
              <a:spcAft>
                <a:spcPts val="200"/>
              </a:spcAft>
            </a:pPr>
            <a:r>
              <a:rPr lang="en-US" dirty="0"/>
              <a:t>Documentation – some consider standard too burdensome, others suggesting more clarity needed about what needs to be documented</a:t>
            </a:r>
          </a:p>
          <a:p>
            <a:pPr marL="347472" indent="-347472">
              <a:spcBef>
                <a:spcPts val="200"/>
              </a:spcBef>
              <a:spcAft>
                <a:spcPts val="200"/>
              </a:spcAft>
            </a:pPr>
            <a:r>
              <a:rPr lang="en-US" dirty="0"/>
              <a:t>Length and complexity of standard – difficult to read and understand</a:t>
            </a:r>
          </a:p>
          <a:p>
            <a:pPr marL="347472" indent="-347472">
              <a:spcBef>
                <a:spcPts val="200"/>
              </a:spcBef>
              <a:spcAft>
                <a:spcPts val="200"/>
              </a:spcAft>
            </a:pPr>
            <a:r>
              <a:rPr lang="en-US" dirty="0"/>
              <a:t>Strong call for support materials and guidance, including clarity regarding what has changed from extant ISQC 1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endParaRPr lang="en-US" dirty="0"/>
          </a:p>
          <a:p>
            <a:pPr marL="347472" lvl="1" indent="0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Font typeface="Arial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45232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0" y="568411"/>
            <a:ext cx="12192000" cy="531048"/>
          </a:xfrm>
        </p:spPr>
        <p:txBody>
          <a:bodyPr/>
          <a:lstStyle/>
          <a:p>
            <a:pPr marL="347472"/>
            <a:r>
              <a:rPr lang="en-US" b="1" dirty="0">
                <a:ln w="0"/>
              </a:rPr>
              <a:t>Components and Structure</a:t>
            </a:r>
            <a:endParaRPr lang="en-US" sz="2400" b="1" dirty="0"/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9501613" y="6511061"/>
            <a:ext cx="2080788" cy="304412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rgbClr val="808080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A5D50FB3-691B-4551-985A-DEFE3F9B00A3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8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6484B08-BFC1-4FD0-ACDB-93C0FE31F09C}"/>
              </a:ext>
            </a:extLst>
          </p:cNvPr>
          <p:cNvSpPr txBox="1">
            <a:spLocks/>
          </p:cNvSpPr>
          <p:nvPr/>
        </p:nvSpPr>
        <p:spPr>
          <a:xfrm>
            <a:off x="238798" y="1144845"/>
            <a:ext cx="8021281" cy="5048078"/>
          </a:xfrm>
          <a:prstGeom prst="rect">
            <a:avLst/>
          </a:prstGeom>
        </p:spPr>
        <p:txBody>
          <a:bodyPr vert="horz" lIns="121920" tIns="0" rIns="121920" bIns="0" rtlCol="0">
            <a:noAutofit/>
          </a:bodyPr>
          <a:lstStyle>
            <a:lvl1pPr marL="173034" indent="-173034" algn="l" defTabSz="457189" rtl="0" eaLnBrk="1" latinLnBrk="0" hangingPunct="1">
              <a:spcBef>
                <a:spcPts val="1200"/>
              </a:spcBef>
              <a:buFont typeface="Arial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189" indent="-228594" algn="l" defTabSz="457189" rtl="0" eaLnBrk="1" latinLnBrk="0" hangingPunct="1">
              <a:spcBef>
                <a:spcPts val="600"/>
              </a:spcBef>
              <a:spcAft>
                <a:spcPts val="400"/>
              </a:spcAft>
              <a:buFont typeface="Arial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30223" indent="-171446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160" indent="-228594" algn="l" defTabSz="457189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4pPr>
            <a:lvl5pPr marL="2057349" indent="-228594" algn="l" defTabSz="457189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7472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Standard has a logical organization and support flexibility of the components</a:t>
            </a:r>
          </a:p>
          <a:p>
            <a:pPr marL="347472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Concerns and suggestions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FRAP should be the first component – helps provide context to standard, even though governance and leadership is very important</a:t>
            </a:r>
          </a:p>
          <a:p>
            <a:pPr marL="1042416" lvl="2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Also clarifies that FRAP applies to the other components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sz="1800" dirty="0"/>
              <a:t>FRAP and M&amp;R are processes in nature and should not be described as components or treated in the same way as other components – “what” is managed vs. “how” it is managed</a:t>
            </a:r>
          </a:p>
          <a:p>
            <a:pPr marL="694944" lvl="2" indent="0">
              <a:spcBef>
                <a:spcPts val="300"/>
              </a:spcBef>
              <a:spcAft>
                <a:spcPts val="300"/>
              </a:spcAft>
              <a:buNone/>
            </a:pPr>
            <a:endParaRPr lang="en-US" dirty="0"/>
          </a:p>
          <a:p>
            <a:pPr marL="347472" lvl="1" indent="0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Font typeface="Arial"/>
              <a:buNone/>
            </a:pP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A962E3C-3575-4F9A-828A-A3A429055D70}"/>
              </a:ext>
            </a:extLst>
          </p:cNvPr>
          <p:cNvSpPr txBox="1">
            <a:spLocks/>
          </p:cNvSpPr>
          <p:nvPr/>
        </p:nvSpPr>
        <p:spPr>
          <a:xfrm>
            <a:off x="238799" y="4120491"/>
            <a:ext cx="8305761" cy="5048078"/>
          </a:xfrm>
          <a:prstGeom prst="rect">
            <a:avLst/>
          </a:prstGeom>
        </p:spPr>
        <p:txBody>
          <a:bodyPr vert="horz" lIns="121920" tIns="0" rIns="121920" bIns="0" rtlCol="0">
            <a:noAutofit/>
          </a:bodyPr>
          <a:lstStyle>
            <a:lvl1pPr marL="173034" indent="-173034" algn="l" defTabSz="457189" rtl="0" eaLnBrk="1" latinLnBrk="0" hangingPunct="1">
              <a:spcBef>
                <a:spcPts val="1200"/>
              </a:spcBef>
              <a:buFont typeface="Arial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189" indent="-228594" algn="l" defTabSz="457189" rtl="0" eaLnBrk="1" latinLnBrk="0" hangingPunct="1">
              <a:spcBef>
                <a:spcPts val="600"/>
              </a:spcBef>
              <a:spcAft>
                <a:spcPts val="400"/>
              </a:spcAft>
              <a:buFont typeface="Arial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30223" indent="-171446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160" indent="-228594" algn="l" defTabSz="457189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4pPr>
            <a:lvl5pPr marL="2057349" indent="-228594" algn="l" defTabSz="457189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FRAP should not apply to M&amp;R</a:t>
            </a:r>
          </a:p>
          <a:p>
            <a:pPr marL="1042416" lvl="2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Requirements in M&amp;R already prescriptive – establishing quality objectives and identifying and assessing risks causes circularity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Information and communication are necessary for other components to function – should be integrated into the other components</a:t>
            </a:r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15775772-A434-474B-B8DF-7ACBCF3F32B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72014392"/>
              </p:ext>
            </p:extLst>
          </p:nvPr>
        </p:nvGraphicFramePr>
        <p:xfrm>
          <a:off x="7866247" y="1277631"/>
          <a:ext cx="4582160" cy="23381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22BA6F36-F53B-4069-91F0-D719155A5DE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20988794"/>
              </p:ext>
            </p:extLst>
          </p:nvPr>
        </p:nvGraphicFramePr>
        <p:xfrm>
          <a:off x="7676815" y="3748606"/>
          <a:ext cx="5155265" cy="236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663094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0" y="568411"/>
            <a:ext cx="12192000" cy="531048"/>
          </a:xfrm>
        </p:spPr>
        <p:txBody>
          <a:bodyPr/>
          <a:lstStyle/>
          <a:p>
            <a:pPr marL="347472"/>
            <a:r>
              <a:rPr lang="en-US" sz="2400" b="1" dirty="0">
                <a:ln w="0"/>
              </a:rPr>
              <a:t>Establish Quality Objectives (QO)</a:t>
            </a:r>
            <a:endParaRPr lang="en-US" sz="2400" b="1" dirty="0"/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9501613" y="6511061"/>
            <a:ext cx="2080788" cy="304412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rgbClr val="808080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A5D50FB3-691B-4551-985A-DEFE3F9B00A3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9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6484B08-BFC1-4FD0-ACDB-93C0FE31F09C}"/>
              </a:ext>
            </a:extLst>
          </p:cNvPr>
          <p:cNvSpPr txBox="1">
            <a:spLocks/>
          </p:cNvSpPr>
          <p:nvPr/>
        </p:nvSpPr>
        <p:spPr>
          <a:xfrm>
            <a:off x="238799" y="1144845"/>
            <a:ext cx="6499988" cy="5048078"/>
          </a:xfrm>
          <a:prstGeom prst="rect">
            <a:avLst/>
          </a:prstGeom>
        </p:spPr>
        <p:txBody>
          <a:bodyPr vert="horz" lIns="121920" tIns="0" rIns="121920" bIns="0" rtlCol="0">
            <a:noAutofit/>
          </a:bodyPr>
          <a:lstStyle>
            <a:lvl1pPr marL="173034" indent="-173034" algn="l" defTabSz="457189" rtl="0" eaLnBrk="1" latinLnBrk="0" hangingPunct="1">
              <a:spcBef>
                <a:spcPts val="1200"/>
              </a:spcBef>
              <a:buFont typeface="Arial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189" indent="-228594" algn="l" defTabSz="457189" rtl="0" eaLnBrk="1" latinLnBrk="0" hangingPunct="1">
              <a:spcBef>
                <a:spcPts val="600"/>
              </a:spcBef>
              <a:spcAft>
                <a:spcPts val="400"/>
              </a:spcAft>
              <a:buFont typeface="Arial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30223" indent="-171446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160" indent="-228594" algn="l" defTabSz="457189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4pPr>
            <a:lvl5pPr marL="2057349" indent="-228594" algn="l" defTabSz="457189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7472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MG: </a:t>
            </a:r>
          </a:p>
          <a:p>
            <a:pPr marL="631627" lvl="1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Clarity needed on when and how additional QO should be developed</a:t>
            </a:r>
          </a:p>
          <a:p>
            <a:pPr marL="631627" lvl="1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Suggested requirements that support establishing more granular quality objectives to support identifying and assessing quality risks (QR)</a:t>
            </a:r>
          </a:p>
          <a:p>
            <a:pPr marL="347472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Other respondents: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Mixed views</a:t>
            </a:r>
          </a:p>
          <a:p>
            <a:pPr marL="1042416" lvl="2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QOs are comprehensive, outcome-based and give a steer to firms about the starting point </a:t>
            </a:r>
          </a:p>
          <a:p>
            <a:pPr marL="1042416" lvl="2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QOs are too prescriptive – should be more high-level and fewer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A962E3C-3575-4F9A-828A-A3A429055D70}"/>
              </a:ext>
            </a:extLst>
          </p:cNvPr>
          <p:cNvSpPr txBox="1">
            <a:spLocks/>
          </p:cNvSpPr>
          <p:nvPr/>
        </p:nvSpPr>
        <p:spPr>
          <a:xfrm>
            <a:off x="173942" y="4860238"/>
            <a:ext cx="11844115" cy="5048078"/>
          </a:xfrm>
          <a:prstGeom prst="rect">
            <a:avLst/>
          </a:prstGeom>
        </p:spPr>
        <p:txBody>
          <a:bodyPr vert="horz" lIns="121920" tIns="0" rIns="121920" bIns="0" rtlCol="0">
            <a:noAutofit/>
          </a:bodyPr>
          <a:lstStyle>
            <a:lvl1pPr marL="173034" indent="-173034" algn="l" defTabSz="457189" rtl="0" eaLnBrk="1" latinLnBrk="0" hangingPunct="1">
              <a:spcBef>
                <a:spcPts val="1200"/>
              </a:spcBef>
              <a:buFont typeface="Arial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189" indent="-228594" algn="l" defTabSz="457189" rtl="0" eaLnBrk="1" latinLnBrk="0" hangingPunct="1">
              <a:spcBef>
                <a:spcPts val="600"/>
              </a:spcBef>
              <a:spcAft>
                <a:spcPts val="400"/>
              </a:spcAft>
              <a:buFont typeface="Arial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30223" indent="-171446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160" indent="-228594" algn="l" defTabSz="457189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4pPr>
            <a:lvl5pPr marL="2057349" indent="-228594" algn="l" defTabSz="457189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Suggestions included</a:t>
            </a:r>
          </a:p>
          <a:p>
            <a:pPr marL="1042416" lvl="2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Include specificity of QO in quality risks</a:t>
            </a:r>
          </a:p>
          <a:p>
            <a:pPr marL="1042416" lvl="2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Clarify circumstances when additional QO should be established </a:t>
            </a:r>
          </a:p>
          <a:p>
            <a:pPr marL="1042416" lvl="2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More explicit in the standard that additional QO are not always required </a:t>
            </a:r>
          </a:p>
          <a:p>
            <a:pPr marL="1042416" lvl="2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Change the requirement to “a consideration” of whether additional QO are necessary </a:t>
            </a:r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FAF3B92F-FF04-454A-B841-87FB0217D59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22043171"/>
              </p:ext>
            </p:extLst>
          </p:nvPr>
        </p:nvGraphicFramePr>
        <p:xfrm>
          <a:off x="6999287" y="1144845"/>
          <a:ext cx="5549265" cy="25784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3CC51A20-136C-4B2C-AF8E-4B9DCF61282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86993512"/>
              </p:ext>
            </p:extLst>
          </p:nvPr>
        </p:nvGraphicFramePr>
        <p:xfrm>
          <a:off x="7027862" y="3534006"/>
          <a:ext cx="5520690" cy="27555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6280448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0" y="568411"/>
            <a:ext cx="12192000" cy="531048"/>
          </a:xfrm>
        </p:spPr>
        <p:txBody>
          <a:bodyPr/>
          <a:lstStyle/>
          <a:p>
            <a:pPr marL="347472"/>
            <a:r>
              <a:rPr lang="en-US" sz="2400" b="1" dirty="0">
                <a:ln w="0"/>
              </a:rPr>
              <a:t>Identify and Assess Quality Risks (QR)</a:t>
            </a:r>
            <a:endParaRPr lang="en-US" sz="2400" b="1" dirty="0"/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9501613" y="6511061"/>
            <a:ext cx="2080788" cy="304412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rgbClr val="808080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A5D50FB3-691B-4551-985A-DEFE3F9B00A3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10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6484B08-BFC1-4FD0-ACDB-93C0FE31F09C}"/>
              </a:ext>
            </a:extLst>
          </p:cNvPr>
          <p:cNvSpPr txBox="1">
            <a:spLocks/>
          </p:cNvSpPr>
          <p:nvPr/>
        </p:nvSpPr>
        <p:spPr>
          <a:xfrm>
            <a:off x="187998" y="1144845"/>
            <a:ext cx="8651201" cy="5048078"/>
          </a:xfrm>
          <a:prstGeom prst="rect">
            <a:avLst/>
          </a:prstGeom>
        </p:spPr>
        <p:txBody>
          <a:bodyPr vert="horz" lIns="121920" tIns="0" rIns="121920" bIns="0" rtlCol="0">
            <a:noAutofit/>
          </a:bodyPr>
          <a:lstStyle>
            <a:lvl1pPr marL="173034" indent="-173034" algn="l" defTabSz="457189" rtl="0" eaLnBrk="1" latinLnBrk="0" hangingPunct="1">
              <a:spcBef>
                <a:spcPts val="1200"/>
              </a:spcBef>
              <a:buFont typeface="Arial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189" indent="-228594" algn="l" defTabSz="457189" rtl="0" eaLnBrk="1" latinLnBrk="0" hangingPunct="1">
              <a:spcBef>
                <a:spcPts val="600"/>
              </a:spcBef>
              <a:spcAft>
                <a:spcPts val="400"/>
              </a:spcAft>
              <a:buFont typeface="Arial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30223" indent="-171446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160" indent="-228594" algn="l" defTabSz="457189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4pPr>
            <a:lvl5pPr marL="2057349" indent="-228594" algn="l" defTabSz="457189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MG: 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QR with remote likelihood / significant impact should be considered by firms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Other enhancements needed:</a:t>
            </a:r>
          </a:p>
          <a:p>
            <a:pPr marL="1042416" lvl="2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Assess changes in the external environment and a firm’s own business model, need to be dynamic</a:t>
            </a:r>
          </a:p>
          <a:p>
            <a:pPr marL="1042416" lvl="2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Take findings from regulators into account as part of identifying and assessing QR</a:t>
            </a:r>
          </a:p>
          <a:p>
            <a:pPr marL="347472" lvl="1" indent="0">
              <a:spcBef>
                <a:spcPts val="300"/>
              </a:spcBef>
              <a:spcAft>
                <a:spcPts val="300"/>
              </a:spcAft>
              <a:buNone/>
            </a:pPr>
            <a:endParaRPr lang="en-US" dirty="0"/>
          </a:p>
          <a:p>
            <a:pPr marL="457189" lvl="2" indent="0">
              <a:spcBef>
                <a:spcPts val="300"/>
              </a:spcBef>
              <a:spcAft>
                <a:spcPts val="300"/>
              </a:spcAft>
              <a:buNone/>
            </a:pP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A962E3C-3575-4F9A-828A-A3A429055D70}"/>
              </a:ext>
            </a:extLst>
          </p:cNvPr>
          <p:cNvSpPr txBox="1">
            <a:spLocks/>
          </p:cNvSpPr>
          <p:nvPr/>
        </p:nvSpPr>
        <p:spPr>
          <a:xfrm>
            <a:off x="170047" y="3048559"/>
            <a:ext cx="11844115" cy="5048078"/>
          </a:xfrm>
          <a:prstGeom prst="rect">
            <a:avLst/>
          </a:prstGeom>
        </p:spPr>
        <p:txBody>
          <a:bodyPr vert="horz" lIns="121920" tIns="0" rIns="121920" bIns="0" rtlCol="0">
            <a:noAutofit/>
          </a:bodyPr>
          <a:lstStyle>
            <a:lvl1pPr marL="173034" indent="-173034" algn="l" defTabSz="457189" rtl="0" eaLnBrk="1" latinLnBrk="0" hangingPunct="1">
              <a:spcBef>
                <a:spcPts val="1200"/>
              </a:spcBef>
              <a:buFont typeface="Arial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189" indent="-228594" algn="l" defTabSz="457189" rtl="0" eaLnBrk="1" latinLnBrk="0" hangingPunct="1">
              <a:spcBef>
                <a:spcPts val="600"/>
              </a:spcBef>
              <a:spcAft>
                <a:spcPts val="400"/>
              </a:spcAft>
              <a:buFont typeface="Arial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30223" indent="-171446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160" indent="-228594" algn="l" defTabSz="457189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4pPr>
            <a:lvl5pPr marL="2057349" indent="-228594" algn="l" defTabSz="457189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Other respondents: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A threshold leads to a consistent approach, standard supports enhanced understanding of QR 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Concerns about the threshold, i.e., “reasonably possible” and “more than remote”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Clarify meaning of “significant effect on the achievement of a QO” 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Process for identifying and assessing QR overly prescriptive and does not provide flexibility - 2-step process is confusing and overengineered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Lack of required QR – illogical</a:t>
            </a:r>
          </a:p>
          <a:p>
            <a:pPr marL="1042416" lvl="2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 Suggestions to repurpose required responses and granularity of QO or provide examples of QR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Clarity needed on how to document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General need for guidance</a:t>
            </a:r>
          </a:p>
          <a:p>
            <a:pPr marL="1042416" lvl="2" indent="-347472">
              <a:spcBef>
                <a:spcPts val="300"/>
              </a:spcBef>
              <a:spcAft>
                <a:spcPts val="300"/>
              </a:spcAft>
            </a:pPr>
            <a:endParaRPr lang="en-US" dirty="0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2BA5A140-8059-46BB-A284-0C2CC182752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51347537"/>
              </p:ext>
            </p:extLst>
          </p:nvPr>
        </p:nvGraphicFramePr>
        <p:xfrm>
          <a:off x="7369199" y="1154143"/>
          <a:ext cx="5661660" cy="23764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934136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0" y="568411"/>
            <a:ext cx="12192000" cy="531048"/>
          </a:xfrm>
        </p:spPr>
        <p:txBody>
          <a:bodyPr/>
          <a:lstStyle/>
          <a:p>
            <a:pPr marL="347472"/>
            <a:r>
              <a:rPr lang="en-US" sz="2400" b="1" dirty="0">
                <a:ln w="0"/>
              </a:rPr>
              <a:t>Design and Implement Responses</a:t>
            </a:r>
            <a:endParaRPr lang="en-US" sz="2400" b="1" dirty="0"/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9501613" y="6511061"/>
            <a:ext cx="2080788" cy="304412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rgbClr val="808080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A5D50FB3-691B-4551-985A-DEFE3F9B00A3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11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6484B08-BFC1-4FD0-ACDB-93C0FE31F09C}"/>
              </a:ext>
            </a:extLst>
          </p:cNvPr>
          <p:cNvSpPr txBox="1">
            <a:spLocks/>
          </p:cNvSpPr>
          <p:nvPr/>
        </p:nvSpPr>
        <p:spPr>
          <a:xfrm>
            <a:off x="238799" y="1144845"/>
            <a:ext cx="6499988" cy="5048078"/>
          </a:xfrm>
          <a:prstGeom prst="rect">
            <a:avLst/>
          </a:prstGeom>
        </p:spPr>
        <p:txBody>
          <a:bodyPr vert="horz" lIns="121920" tIns="0" rIns="121920" bIns="0" rtlCol="0">
            <a:noAutofit/>
          </a:bodyPr>
          <a:lstStyle>
            <a:lvl1pPr marL="173034" indent="-173034" algn="l" defTabSz="457189" rtl="0" eaLnBrk="1" latinLnBrk="0" hangingPunct="1">
              <a:spcBef>
                <a:spcPts val="1200"/>
              </a:spcBef>
              <a:buFont typeface="Arial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189" indent="-228594" algn="l" defTabSz="457189" rtl="0" eaLnBrk="1" latinLnBrk="0" hangingPunct="1">
              <a:spcBef>
                <a:spcPts val="600"/>
              </a:spcBef>
              <a:spcAft>
                <a:spcPts val="400"/>
              </a:spcAft>
              <a:buFont typeface="Arial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30223" indent="-171446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160" indent="-228594" algn="l" defTabSz="457189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4pPr>
            <a:lvl5pPr marL="2057349" indent="-228594" algn="l" defTabSz="457189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7472" indent="-347472">
              <a:spcBef>
                <a:spcPts val="100"/>
              </a:spcBef>
              <a:spcAft>
                <a:spcPts val="100"/>
              </a:spcAft>
            </a:pPr>
            <a:r>
              <a:rPr lang="en-US" dirty="0"/>
              <a:t>MG: </a:t>
            </a:r>
          </a:p>
          <a:p>
            <a:pPr marL="694944" lvl="1" indent="-347472">
              <a:spcBef>
                <a:spcPts val="100"/>
              </a:spcBef>
              <a:spcAft>
                <a:spcPts val="100"/>
              </a:spcAft>
            </a:pPr>
            <a:r>
              <a:rPr lang="en-US" dirty="0"/>
              <a:t>Firms may be overly focused on required responses</a:t>
            </a:r>
          </a:p>
          <a:p>
            <a:pPr marL="694944" lvl="1" indent="-347472">
              <a:spcBef>
                <a:spcPts val="100"/>
              </a:spcBef>
              <a:spcAft>
                <a:spcPts val="100"/>
              </a:spcAft>
            </a:pPr>
            <a:r>
              <a:rPr lang="en-US" dirty="0"/>
              <a:t>Responses should be more proactive and preventative</a:t>
            </a:r>
          </a:p>
          <a:p>
            <a:pPr marL="347472" indent="-347472">
              <a:spcBef>
                <a:spcPts val="100"/>
              </a:spcBef>
              <a:spcAft>
                <a:spcPts val="100"/>
              </a:spcAft>
            </a:pPr>
            <a:r>
              <a:rPr lang="en-US" dirty="0"/>
              <a:t>Other respondents:</a:t>
            </a:r>
          </a:p>
          <a:p>
            <a:pPr marL="694944" lvl="1" indent="-347472">
              <a:spcBef>
                <a:spcPts val="100"/>
              </a:spcBef>
              <a:spcAft>
                <a:spcPts val="100"/>
              </a:spcAft>
            </a:pPr>
            <a:r>
              <a:rPr lang="en-US" dirty="0"/>
              <a:t>Responses prescriptive = checklist mindset, limited tailoring</a:t>
            </a:r>
          </a:p>
          <a:p>
            <a:pPr marL="694944" lvl="1" indent="-347472">
              <a:spcBef>
                <a:spcPts val="100"/>
              </a:spcBef>
              <a:spcAft>
                <a:spcPts val="100"/>
              </a:spcAft>
            </a:pPr>
            <a:r>
              <a:rPr lang="en-US" dirty="0"/>
              <a:t>Firms may “backfill” QR to match responses – perpetuates inappropriate QR</a:t>
            </a:r>
          </a:p>
          <a:p>
            <a:pPr marL="694944" lvl="1" indent="-347472">
              <a:spcBef>
                <a:spcPts val="100"/>
              </a:spcBef>
              <a:spcAft>
                <a:spcPts val="100"/>
              </a:spcAft>
            </a:pPr>
            <a:r>
              <a:rPr lang="en-US" dirty="0"/>
              <a:t>Inconsistency in (or lack of) responses across components – appears some components more important than others</a:t>
            </a:r>
          </a:p>
          <a:p>
            <a:pPr marL="347472" lvl="1" indent="0">
              <a:spcBef>
                <a:spcPts val="300"/>
              </a:spcBef>
              <a:spcAft>
                <a:spcPts val="300"/>
              </a:spcAft>
              <a:buNone/>
            </a:pP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A962E3C-3575-4F9A-828A-A3A429055D70}"/>
              </a:ext>
            </a:extLst>
          </p:cNvPr>
          <p:cNvSpPr txBox="1">
            <a:spLocks/>
          </p:cNvSpPr>
          <p:nvPr/>
        </p:nvSpPr>
        <p:spPr>
          <a:xfrm>
            <a:off x="238799" y="4393477"/>
            <a:ext cx="11844115" cy="5048078"/>
          </a:xfrm>
          <a:prstGeom prst="rect">
            <a:avLst/>
          </a:prstGeom>
        </p:spPr>
        <p:txBody>
          <a:bodyPr vert="horz" lIns="121920" tIns="0" rIns="121920" bIns="0" rtlCol="0">
            <a:noAutofit/>
          </a:bodyPr>
          <a:lstStyle>
            <a:lvl1pPr marL="173034" indent="-173034" algn="l" defTabSz="457189" rtl="0" eaLnBrk="1" latinLnBrk="0" hangingPunct="1">
              <a:spcBef>
                <a:spcPts val="1200"/>
              </a:spcBef>
              <a:buFont typeface="Arial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189" indent="-228594" algn="l" defTabSz="457189" rtl="0" eaLnBrk="1" latinLnBrk="0" hangingPunct="1">
              <a:spcBef>
                <a:spcPts val="600"/>
              </a:spcBef>
              <a:spcAft>
                <a:spcPts val="400"/>
              </a:spcAft>
              <a:buFont typeface="Arial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30223" indent="-171446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160" indent="-228594" algn="l" defTabSz="457189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4pPr>
            <a:lvl5pPr marL="2057349" indent="-228594" algn="l" defTabSz="457189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94944" lvl="1" indent="-347472">
              <a:spcBef>
                <a:spcPts val="100"/>
              </a:spcBef>
              <a:spcAft>
                <a:spcPts val="100"/>
              </a:spcAft>
            </a:pPr>
            <a:r>
              <a:rPr lang="en-US" dirty="0"/>
              <a:t>Firms should not be expected to design and implement additional </a:t>
            </a:r>
          </a:p>
          <a:p>
            <a:pPr marL="694944" lvl="1" indent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dirty="0"/>
              <a:t>responses in all circumstances, i.e., responses in the standard may be </a:t>
            </a:r>
          </a:p>
          <a:p>
            <a:pPr marL="694944" lvl="1" indent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dirty="0"/>
              <a:t>sufficient</a:t>
            </a:r>
          </a:p>
          <a:p>
            <a:pPr marL="694944" lvl="1" indent="-347472">
              <a:spcBef>
                <a:spcPts val="100"/>
              </a:spcBef>
              <a:spcAft>
                <a:spcPts val="100"/>
              </a:spcAft>
            </a:pPr>
            <a:r>
              <a:rPr lang="en-US" dirty="0"/>
              <a:t>Varying views on how to deal with responses </a:t>
            </a:r>
          </a:p>
          <a:p>
            <a:pPr marL="1042416" lvl="2" indent="-347472">
              <a:spcBef>
                <a:spcPts val="100"/>
              </a:spcBef>
              <a:spcAft>
                <a:spcPts val="100"/>
              </a:spcAft>
            </a:pPr>
            <a:r>
              <a:rPr lang="en-US" dirty="0"/>
              <a:t>Application material vs. requirements</a:t>
            </a:r>
          </a:p>
          <a:p>
            <a:pPr marL="1042416" lvl="2" indent="-347472">
              <a:spcBef>
                <a:spcPts val="100"/>
              </a:spcBef>
              <a:spcAft>
                <a:spcPts val="100"/>
              </a:spcAft>
            </a:pPr>
            <a:r>
              <a:rPr lang="en-US" dirty="0"/>
              <a:t>Repurpose as QR</a:t>
            </a:r>
          </a:p>
          <a:p>
            <a:pPr marL="1042416" lvl="2" indent="-347472">
              <a:spcBef>
                <a:spcPts val="100"/>
              </a:spcBef>
              <a:spcAft>
                <a:spcPts val="100"/>
              </a:spcAft>
            </a:pPr>
            <a:r>
              <a:rPr lang="en-US" dirty="0"/>
              <a:t>Other suggestions to clarify requirement to design and implement additional responses</a:t>
            </a:r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482D5A09-0FED-41A1-BBA2-4FE4A5A8FF7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26689994"/>
              </p:ext>
            </p:extLst>
          </p:nvPr>
        </p:nvGraphicFramePr>
        <p:xfrm>
          <a:off x="7541427" y="1099459"/>
          <a:ext cx="5615940" cy="24717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9164EF45-983D-4F49-9AC3-BE4D57A3F76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052993"/>
              </p:ext>
            </p:extLst>
          </p:nvPr>
        </p:nvGraphicFramePr>
        <p:xfrm>
          <a:off x="7387757" y="3429000"/>
          <a:ext cx="5577840" cy="23974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2403298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0" y="568411"/>
            <a:ext cx="12192000" cy="531048"/>
          </a:xfrm>
        </p:spPr>
        <p:txBody>
          <a:bodyPr/>
          <a:lstStyle/>
          <a:p>
            <a:pPr marL="347472"/>
            <a:r>
              <a:rPr lang="en-US" sz="2400" b="1" dirty="0">
                <a:ln w="0"/>
              </a:rPr>
              <a:t>CAG Feedback</a:t>
            </a:r>
            <a:endParaRPr lang="en-US" sz="2400" b="1" dirty="0"/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9501613" y="6511061"/>
            <a:ext cx="2080788" cy="304412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rgbClr val="808080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A5D50FB3-691B-4551-985A-DEFE3F9B00A3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12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6484B08-BFC1-4FD0-ACDB-93C0FE31F09C}"/>
              </a:ext>
            </a:extLst>
          </p:cNvPr>
          <p:cNvSpPr txBox="1">
            <a:spLocks/>
          </p:cNvSpPr>
          <p:nvPr/>
        </p:nvSpPr>
        <p:spPr>
          <a:xfrm>
            <a:off x="238799" y="1144845"/>
            <a:ext cx="11869782" cy="5048078"/>
          </a:xfrm>
          <a:prstGeom prst="rect">
            <a:avLst/>
          </a:prstGeom>
        </p:spPr>
        <p:txBody>
          <a:bodyPr vert="horz" lIns="121920" tIns="0" rIns="121920" bIns="0" rtlCol="0">
            <a:noAutofit/>
          </a:bodyPr>
          <a:lstStyle>
            <a:lvl1pPr marL="173034" indent="-173034" algn="l" defTabSz="457189" rtl="0" eaLnBrk="1" latinLnBrk="0" hangingPunct="1">
              <a:spcBef>
                <a:spcPts val="1200"/>
              </a:spcBef>
              <a:buFont typeface="Arial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189" indent="-228594" algn="l" defTabSz="457189" rtl="0" eaLnBrk="1" latinLnBrk="0" hangingPunct="1">
              <a:spcBef>
                <a:spcPts val="600"/>
              </a:spcBef>
              <a:spcAft>
                <a:spcPts val="400"/>
              </a:spcAft>
              <a:buFont typeface="Arial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30223" indent="-171446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160" indent="-228594" algn="l" defTabSz="457189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4pPr>
            <a:lvl5pPr marL="2057349" indent="-228594" algn="l" defTabSz="457189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7472" indent="-347472">
              <a:spcBef>
                <a:spcPts val="200"/>
              </a:spcBef>
              <a:spcAft>
                <a:spcPts val="200"/>
              </a:spcAft>
            </a:pPr>
            <a:r>
              <a:rPr lang="en-US" dirty="0"/>
              <a:t>General support for proposed direction</a:t>
            </a:r>
          </a:p>
          <a:p>
            <a:pPr marL="347472" indent="-347472">
              <a:spcBef>
                <a:spcPts val="200"/>
              </a:spcBef>
              <a:spcAft>
                <a:spcPts val="200"/>
              </a:spcAft>
            </a:pPr>
            <a:r>
              <a:rPr lang="en-US" dirty="0"/>
              <a:t>Firms overwhelmed by proposals, could be a deterrent for firms to operate in the audit market, need for firms’ support</a:t>
            </a:r>
          </a:p>
          <a:p>
            <a:pPr marL="347472" indent="-347472">
              <a:spcBef>
                <a:spcPts val="200"/>
              </a:spcBef>
              <a:spcAft>
                <a:spcPts val="200"/>
              </a:spcAft>
            </a:pPr>
            <a:r>
              <a:rPr lang="en-US" dirty="0"/>
              <a:t>Building block approach needed: basic principles applicable to all, with layered on requirements for larger or more complex firms</a:t>
            </a:r>
          </a:p>
          <a:p>
            <a:pPr marL="694944" lvl="1" indent="-347472">
              <a:spcBef>
                <a:spcPts val="200"/>
              </a:spcBef>
              <a:spcAft>
                <a:spcPts val="200"/>
              </a:spcAft>
            </a:pPr>
            <a:r>
              <a:rPr lang="en-US" dirty="0"/>
              <a:t>Other representative indicated the need for appropriate balance between principles and prescriptive requirements</a:t>
            </a:r>
          </a:p>
          <a:p>
            <a:pPr marL="347472" indent="-347472">
              <a:spcBef>
                <a:spcPts val="200"/>
              </a:spcBef>
              <a:spcAft>
                <a:spcPts val="200"/>
              </a:spcAft>
            </a:pPr>
            <a:r>
              <a:rPr lang="en-US" dirty="0"/>
              <a:t>More integrated approach is needed, i.e., SOQM is integrated into firm’s day to day activities</a:t>
            </a:r>
          </a:p>
          <a:p>
            <a:pPr marL="694944" lvl="1" indent="-347472">
              <a:spcBef>
                <a:spcPts val="200"/>
              </a:spcBef>
              <a:spcAft>
                <a:spcPts val="200"/>
              </a:spcAft>
            </a:pPr>
            <a:r>
              <a:rPr lang="en-US" dirty="0"/>
              <a:t>Referred to COSO ERM framework as example</a:t>
            </a:r>
          </a:p>
          <a:p>
            <a:pPr marL="694944" lvl="1" indent="-347472">
              <a:spcBef>
                <a:spcPts val="200"/>
              </a:spcBef>
              <a:spcAft>
                <a:spcPts val="200"/>
              </a:spcAft>
            </a:pPr>
            <a:r>
              <a:rPr lang="en-US" dirty="0"/>
              <a:t>Also need to recognize in Proposed ISQM 1 other sources of information coming from within the firm</a:t>
            </a:r>
          </a:p>
          <a:p>
            <a:pPr marL="347472" indent="-347472">
              <a:spcBef>
                <a:spcPts val="200"/>
              </a:spcBef>
              <a:spcAft>
                <a:spcPts val="200"/>
              </a:spcAft>
            </a:pPr>
            <a:r>
              <a:rPr lang="en-US" dirty="0"/>
              <a:t>Standard needs to encourage “scaling-up” for larger or more complex firms</a:t>
            </a:r>
          </a:p>
          <a:p>
            <a:pPr marL="347472" indent="-347472">
              <a:spcBef>
                <a:spcPts val="200"/>
              </a:spcBef>
              <a:spcAft>
                <a:spcPts val="200"/>
              </a:spcAft>
            </a:pPr>
            <a:r>
              <a:rPr lang="en-US" dirty="0"/>
              <a:t>Consider drafting and presentation approach used in ISA 315</a:t>
            </a:r>
          </a:p>
          <a:p>
            <a:pPr marL="347472" indent="-347472">
              <a:spcBef>
                <a:spcPts val="200"/>
              </a:spcBef>
              <a:spcAft>
                <a:spcPts val="200"/>
              </a:spcAft>
            </a:pPr>
            <a:r>
              <a:rPr lang="en-US" dirty="0"/>
              <a:t>Components and structure</a:t>
            </a:r>
          </a:p>
          <a:p>
            <a:pPr marL="694944" lvl="1" indent="-347472">
              <a:spcBef>
                <a:spcPts val="200"/>
              </a:spcBef>
              <a:spcAft>
                <a:spcPts val="200"/>
              </a:spcAft>
            </a:pPr>
            <a:r>
              <a:rPr lang="en-US" dirty="0"/>
              <a:t>Consider whether G&amp;L is a “how”, rather than a “what”</a:t>
            </a:r>
          </a:p>
          <a:p>
            <a:pPr marL="694944" lvl="1" indent="-347472">
              <a:spcBef>
                <a:spcPts val="200"/>
              </a:spcBef>
              <a:spcAft>
                <a:spcPts val="200"/>
              </a:spcAft>
            </a:pPr>
            <a:r>
              <a:rPr lang="en-US" dirty="0"/>
              <a:t>Caution not to overengineer differentiating between different types of components or describing how they interrelate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endParaRPr lang="en-US" dirty="0"/>
          </a:p>
          <a:p>
            <a:pPr marL="347472" lvl="1" indent="0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Font typeface="Arial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05578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0" y="568411"/>
            <a:ext cx="12192000" cy="531048"/>
          </a:xfrm>
        </p:spPr>
        <p:txBody>
          <a:bodyPr/>
          <a:lstStyle/>
          <a:p>
            <a:pPr marL="347472"/>
            <a:r>
              <a:rPr lang="en-US" sz="2400" b="1" dirty="0">
                <a:ln w="0"/>
              </a:rPr>
              <a:t>CAG Feedback (cont</a:t>
            </a:r>
            <a:r>
              <a:rPr lang="en-US" b="1" dirty="0">
                <a:ln w="0"/>
              </a:rPr>
              <a:t>.</a:t>
            </a:r>
            <a:r>
              <a:rPr lang="en-US" sz="2400" b="1" dirty="0">
                <a:ln w="0"/>
              </a:rPr>
              <a:t>)</a:t>
            </a:r>
            <a:endParaRPr lang="en-US" sz="2400" b="1" dirty="0"/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9501613" y="6511061"/>
            <a:ext cx="2080788" cy="304412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rgbClr val="808080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A5D50FB3-691B-4551-985A-DEFE3F9B00A3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13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6484B08-BFC1-4FD0-ACDB-93C0FE31F09C}"/>
              </a:ext>
            </a:extLst>
          </p:cNvPr>
          <p:cNvSpPr txBox="1">
            <a:spLocks/>
          </p:cNvSpPr>
          <p:nvPr/>
        </p:nvSpPr>
        <p:spPr>
          <a:xfrm>
            <a:off x="238799" y="1144845"/>
            <a:ext cx="11869782" cy="5048078"/>
          </a:xfrm>
          <a:prstGeom prst="rect">
            <a:avLst/>
          </a:prstGeom>
        </p:spPr>
        <p:txBody>
          <a:bodyPr vert="horz" lIns="121920" tIns="0" rIns="121920" bIns="0" rtlCol="0">
            <a:noAutofit/>
          </a:bodyPr>
          <a:lstStyle>
            <a:lvl1pPr marL="173034" indent="-173034" algn="l" defTabSz="457189" rtl="0" eaLnBrk="1" latinLnBrk="0" hangingPunct="1">
              <a:spcBef>
                <a:spcPts val="1200"/>
              </a:spcBef>
              <a:buFont typeface="Arial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189" indent="-228594" algn="l" defTabSz="457189" rtl="0" eaLnBrk="1" latinLnBrk="0" hangingPunct="1">
              <a:spcBef>
                <a:spcPts val="600"/>
              </a:spcBef>
              <a:spcAft>
                <a:spcPts val="400"/>
              </a:spcAft>
              <a:buFont typeface="Arial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30223" indent="-171446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160" indent="-228594" algn="l" defTabSz="457189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4pPr>
            <a:lvl5pPr marL="2057349" indent="-228594" algn="l" defTabSz="457189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7472" indent="-347472">
              <a:spcBef>
                <a:spcPts val="200"/>
              </a:spcBef>
              <a:spcAft>
                <a:spcPts val="200"/>
              </a:spcAft>
            </a:pPr>
            <a:r>
              <a:rPr lang="en-US" dirty="0"/>
              <a:t>Support for proposed approach for QO, QR and responses</a:t>
            </a:r>
          </a:p>
          <a:p>
            <a:pPr marL="694944" lvl="1" indent="-347472">
              <a:spcBef>
                <a:spcPts val="200"/>
              </a:spcBef>
              <a:spcAft>
                <a:spcPts val="200"/>
              </a:spcAft>
            </a:pPr>
            <a:r>
              <a:rPr lang="en-US" dirty="0"/>
              <a:t>Consider how required responses are addressed in the standard</a:t>
            </a:r>
          </a:p>
          <a:p>
            <a:pPr marL="347472" indent="-347472">
              <a:spcBef>
                <a:spcPts val="200"/>
              </a:spcBef>
              <a:spcAft>
                <a:spcPts val="200"/>
              </a:spcAft>
            </a:pPr>
            <a:r>
              <a:rPr lang="en-US" dirty="0"/>
              <a:t>Support for proposed approach for FRAP</a:t>
            </a:r>
          </a:p>
          <a:p>
            <a:pPr marL="694944" lvl="1" indent="-347472">
              <a:spcBef>
                <a:spcPts val="200"/>
              </a:spcBef>
              <a:spcAft>
                <a:spcPts val="200"/>
              </a:spcAft>
            </a:pPr>
            <a:r>
              <a:rPr lang="en-US" dirty="0"/>
              <a:t>Threshold for identifying QR is still important and necessary for appropriate rigor</a:t>
            </a:r>
          </a:p>
          <a:p>
            <a:pPr marL="347472" indent="-347472">
              <a:spcBef>
                <a:spcPts val="200"/>
              </a:spcBef>
              <a:spcAft>
                <a:spcPts val="200"/>
              </a:spcAft>
            </a:pPr>
            <a:r>
              <a:rPr lang="en-US" dirty="0"/>
              <a:t>Varying views on proposal for separate standard to address quality management for related services engagements</a:t>
            </a:r>
          </a:p>
          <a:p>
            <a:pPr marL="694944" lvl="1" indent="-347472">
              <a:spcBef>
                <a:spcPts val="200"/>
              </a:spcBef>
              <a:spcAft>
                <a:spcPts val="200"/>
              </a:spcAft>
            </a:pPr>
            <a:r>
              <a:rPr lang="en-US" dirty="0"/>
              <a:t>Encouragement for IAASB to further consider and undertake consultation</a:t>
            </a:r>
          </a:p>
          <a:p>
            <a:pPr marL="694944" lvl="1" indent="-347472">
              <a:spcBef>
                <a:spcPts val="200"/>
              </a:spcBef>
              <a:spcAft>
                <a:spcPts val="200"/>
              </a:spcAft>
            </a:pPr>
            <a:r>
              <a:rPr lang="en-US" dirty="0"/>
              <a:t>Views that could be a good approach, although caution that it shouldn’t lead to bifurcation of firms</a:t>
            </a:r>
          </a:p>
          <a:p>
            <a:pPr marL="694944" lvl="1" indent="-347472">
              <a:spcBef>
                <a:spcPts val="200"/>
              </a:spcBef>
              <a:spcAft>
                <a:spcPts val="200"/>
              </a:spcAft>
            </a:pPr>
            <a:r>
              <a:rPr lang="en-US" dirty="0"/>
              <a:t>Should not be a distinction between quality for audits and quality for other engagements – poor quality on other engagements could taint firm’s reputation and credibility</a:t>
            </a:r>
          </a:p>
          <a:p>
            <a:pPr marL="347472" indent="-347472">
              <a:spcBef>
                <a:spcPts val="200"/>
              </a:spcBef>
              <a:spcAft>
                <a:spcPts val="200"/>
              </a:spcAft>
            </a:pPr>
            <a:r>
              <a:rPr lang="en-US" dirty="0"/>
              <a:t>Emphasis on concerns about implementation date and effort needed by firms to implement the standard</a:t>
            </a:r>
          </a:p>
          <a:p>
            <a:pPr marL="347472" indent="-347472">
              <a:spcBef>
                <a:spcPts val="200"/>
              </a:spcBef>
              <a:spcAft>
                <a:spcPts val="200"/>
              </a:spcAft>
            </a:pPr>
            <a:endParaRPr lang="en-US" dirty="0"/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endParaRPr lang="en-US" dirty="0"/>
          </a:p>
          <a:p>
            <a:pPr marL="347472" lvl="1" indent="0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Font typeface="Arial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27661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0" y="568411"/>
            <a:ext cx="12192000" cy="531048"/>
          </a:xfrm>
        </p:spPr>
        <p:txBody>
          <a:bodyPr/>
          <a:lstStyle/>
          <a:p>
            <a:pPr marL="347472"/>
            <a:r>
              <a:rPr lang="en-US" b="1" dirty="0"/>
              <a:t>The Components and Structure of Proposed ISQM 1</a:t>
            </a:r>
            <a:endParaRPr lang="en-US" sz="2400" b="1" dirty="0"/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9501613" y="6511061"/>
            <a:ext cx="2080788" cy="304412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rgbClr val="808080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A5D50FB3-691B-4551-985A-DEFE3F9B00A3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14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8502C6ED-5046-46D5-854E-3DE0EBBC44C6}"/>
              </a:ext>
            </a:extLst>
          </p:cNvPr>
          <p:cNvSpPr txBox="1">
            <a:spLocks/>
          </p:cNvSpPr>
          <p:nvPr/>
        </p:nvSpPr>
        <p:spPr>
          <a:xfrm>
            <a:off x="494485" y="1297059"/>
            <a:ext cx="11203029" cy="4992529"/>
          </a:xfrm>
          <a:prstGeom prst="roundRect">
            <a:avLst/>
          </a:prstGeom>
          <a:ln w="25400" cap="flat" cmpd="sng" algn="ctr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lvl1pPr marL="173034" indent="-173034" algn="l" defTabSz="457189" rtl="0" eaLnBrk="1" latinLnBrk="0" hangingPunct="1">
              <a:spcBef>
                <a:spcPts val="12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189" indent="-228594" algn="l" defTabSz="457189" rtl="0" eaLnBrk="1" latinLnBrk="0" hangingPunct="1">
              <a:spcBef>
                <a:spcPts val="600"/>
              </a:spcBef>
              <a:spcAft>
                <a:spcPts val="400"/>
              </a:spcAft>
              <a:buFont typeface="Arial"/>
              <a:buChar char="–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30223" indent="-171446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457189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457189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" indent="0">
              <a:spcBef>
                <a:spcPts val="800"/>
              </a:spcBef>
              <a:buFont typeface="Arial"/>
              <a:buNone/>
            </a:pP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1:</a:t>
            </a:r>
          </a:p>
          <a:p>
            <a:pPr marL="91440" indent="0">
              <a:spcBef>
                <a:spcPts val="800"/>
              </a:spcBef>
              <a:buNone/>
            </a:pP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Does the IAASB support reordering the standard, including relocating paragraphs 24(a) and 25, as proposed by the ISQM 1 TF?</a:t>
            </a:r>
          </a:p>
          <a:p>
            <a:pPr marL="91440" indent="0">
              <a:buNone/>
            </a:pP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2: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" indent="0">
              <a:spcBef>
                <a:spcPts val="800"/>
              </a:spcBef>
              <a:buNone/>
            </a:pP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Does the IAASB support that the firm’s risk assessment process and monitoring and remediation processes are “processes”? In particular, does the IAASB agree with:</a:t>
            </a:r>
          </a:p>
          <a:p>
            <a:pPr marL="457200" indent="-347472">
              <a:spcBef>
                <a:spcPts val="800"/>
              </a:spcBef>
              <a:buNone/>
            </a:pP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(a)	Introducing new overarching requirements for the firm to establish a risk assessment process / monitoring and remediation process?</a:t>
            </a:r>
          </a:p>
          <a:p>
            <a:pPr marL="457200" indent="-347472">
              <a:spcBef>
                <a:spcPts val="800"/>
              </a:spcBef>
              <a:buAutoNum type="alphaLcParenBoth" startAt="2"/>
            </a:pP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Removing the concept that the firm’s risk assessment process is applied to the monitoring and remediation process?</a:t>
            </a:r>
          </a:p>
          <a:p>
            <a:pPr marL="91440" indent="0">
              <a:spcBef>
                <a:spcPts val="800"/>
              </a:spcBef>
              <a:buNone/>
            </a:pP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3: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" indent="0">
              <a:spcBef>
                <a:spcPts val="800"/>
              </a:spcBef>
              <a:buNone/>
            </a:pP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Does the IAASB support the conclusion that information and communication should remain a separate component, and that the firm’s risk assessment process would continue to apply to information and communication? </a:t>
            </a:r>
          </a:p>
        </p:txBody>
      </p:sp>
    </p:spTree>
    <p:extLst>
      <p:ext uri="{BB962C8B-B14F-4D97-AF65-F5344CB8AC3E}">
        <p14:creationId xmlns:p14="http://schemas.microsoft.com/office/powerpoint/2010/main" val="36174390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0" y="568411"/>
            <a:ext cx="12192000" cy="531048"/>
          </a:xfrm>
        </p:spPr>
        <p:txBody>
          <a:bodyPr/>
          <a:lstStyle/>
          <a:p>
            <a:pPr marL="347472"/>
            <a:r>
              <a:rPr lang="en-US" b="1" dirty="0"/>
              <a:t>How Proposed ISQM 1 Should Address QO, QR and Responses</a:t>
            </a:r>
            <a:endParaRPr lang="en-US" sz="2400" b="1" dirty="0"/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9501613" y="6511061"/>
            <a:ext cx="2080788" cy="304412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rgbClr val="808080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A5D50FB3-691B-4551-985A-DEFE3F9B00A3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15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8502C6ED-5046-46D5-854E-3DE0EBBC44C6}"/>
              </a:ext>
            </a:extLst>
          </p:cNvPr>
          <p:cNvSpPr txBox="1">
            <a:spLocks/>
          </p:cNvSpPr>
          <p:nvPr/>
        </p:nvSpPr>
        <p:spPr>
          <a:xfrm>
            <a:off x="379372" y="1317379"/>
            <a:ext cx="11203029" cy="2695821"/>
          </a:xfrm>
          <a:prstGeom prst="roundRect">
            <a:avLst/>
          </a:prstGeom>
          <a:ln w="25400" cap="flat" cmpd="sng" algn="ctr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lvl1pPr marL="173034" indent="-173034" algn="l" defTabSz="457189" rtl="0" eaLnBrk="1" latinLnBrk="0" hangingPunct="1">
              <a:spcBef>
                <a:spcPts val="12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189" indent="-228594" algn="l" defTabSz="457189" rtl="0" eaLnBrk="1" latinLnBrk="0" hangingPunct="1">
              <a:spcBef>
                <a:spcPts val="600"/>
              </a:spcBef>
              <a:spcAft>
                <a:spcPts val="400"/>
              </a:spcAft>
              <a:buFont typeface="Arial"/>
              <a:buChar char="–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30223" indent="-171446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457189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457189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" indent="0">
              <a:buNone/>
            </a:pP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4: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" indent="0">
              <a:spcBef>
                <a:spcPts val="800"/>
              </a:spcBef>
              <a:buNone/>
            </a:pP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Does the IAASB support the proposals to revise the approach to required quality objectives, quality risks and responses in the components by:</a:t>
            </a:r>
          </a:p>
          <a:p>
            <a:pPr marL="91440" indent="0">
              <a:spcBef>
                <a:spcPts val="800"/>
              </a:spcBef>
              <a:buNone/>
            </a:pP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(a)	Revising the quality objectives to be higher level, which may result in fewer quality objectives;</a:t>
            </a:r>
          </a:p>
          <a:p>
            <a:pPr marL="91440" indent="0">
              <a:spcBef>
                <a:spcPts val="800"/>
              </a:spcBef>
              <a:buNone/>
            </a:pP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(b)	Introducing quality risk considerations; and</a:t>
            </a:r>
          </a:p>
          <a:p>
            <a:pPr marL="91440" indent="0">
              <a:spcBef>
                <a:spcPts val="800"/>
              </a:spcBef>
              <a:buNone/>
            </a:pP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(c)	Reducing the required responses?</a:t>
            </a:r>
          </a:p>
        </p:txBody>
      </p:sp>
    </p:spTree>
    <p:extLst>
      <p:ext uri="{BB962C8B-B14F-4D97-AF65-F5344CB8AC3E}">
        <p14:creationId xmlns:p14="http://schemas.microsoft.com/office/powerpoint/2010/main" val="19198961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0" y="568411"/>
            <a:ext cx="12192000" cy="531048"/>
          </a:xfrm>
        </p:spPr>
        <p:txBody>
          <a:bodyPr/>
          <a:lstStyle/>
          <a:p>
            <a:pPr marL="347472"/>
            <a:r>
              <a:rPr lang="en-US" b="1" dirty="0"/>
              <a:t>How the Standard Addresses the FRAP</a:t>
            </a:r>
            <a:endParaRPr lang="en-US" sz="2400" b="1" dirty="0"/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9501613" y="6511061"/>
            <a:ext cx="2080788" cy="304412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rgbClr val="808080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A5D50FB3-691B-4551-985A-DEFE3F9B00A3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16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8502C6ED-5046-46D5-854E-3DE0EBBC44C6}"/>
              </a:ext>
            </a:extLst>
          </p:cNvPr>
          <p:cNvSpPr txBox="1">
            <a:spLocks/>
          </p:cNvSpPr>
          <p:nvPr/>
        </p:nvSpPr>
        <p:spPr>
          <a:xfrm>
            <a:off x="379372" y="1449847"/>
            <a:ext cx="11203029" cy="3925181"/>
          </a:xfrm>
          <a:prstGeom prst="roundRect">
            <a:avLst/>
          </a:prstGeom>
          <a:ln w="25400" cap="flat" cmpd="sng" algn="ctr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lvl1pPr marL="173034" indent="-173034" algn="l" defTabSz="457189" rtl="0" eaLnBrk="1" latinLnBrk="0" hangingPunct="1">
              <a:spcBef>
                <a:spcPts val="12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189" indent="-228594" algn="l" defTabSz="457189" rtl="0" eaLnBrk="1" latinLnBrk="0" hangingPunct="1">
              <a:spcBef>
                <a:spcPts val="600"/>
              </a:spcBef>
              <a:spcAft>
                <a:spcPts val="400"/>
              </a:spcAft>
              <a:buFont typeface="Arial"/>
              <a:buChar char="–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30223" indent="-171446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457189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457189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" indent="0">
              <a:buNone/>
            </a:pP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5: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" indent="0">
              <a:spcBef>
                <a:spcPts val="800"/>
              </a:spcBef>
              <a:buNone/>
            </a:pP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IAASB is asked to provide their views on the proposals addressing the requirements for the identification and assessment of quality risks, including whether:</a:t>
            </a:r>
          </a:p>
          <a:p>
            <a:pPr marL="457200" indent="-347472">
              <a:spcBef>
                <a:spcPts val="800"/>
              </a:spcBef>
              <a:buNone/>
            </a:pP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(a)	The IAASB supports simplifying the requirements, including condensing the two-step process and addressing the quality risk threshold through the definition of “quality risks” and application material?</a:t>
            </a:r>
          </a:p>
          <a:p>
            <a:pPr marL="457200" indent="-347472">
              <a:spcBef>
                <a:spcPts val="800"/>
              </a:spcBef>
              <a:buNone/>
            </a:pP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(b)	Proposed ISQM 1 should retain the concept of “reasonable possibility” in the context of likelihood, or whether another term should be used?</a:t>
            </a:r>
          </a:p>
          <a:p>
            <a:pPr marL="91440" indent="0">
              <a:spcBef>
                <a:spcPts val="800"/>
              </a:spcBef>
              <a:buNone/>
            </a:pP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6: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" indent="0">
              <a:spcBef>
                <a:spcPts val="800"/>
              </a:spcBef>
              <a:buNone/>
            </a:pP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Does the IAASB agree with the suggestion to adjust the requirement to establish additional quality objectives to a “consideration”? </a:t>
            </a:r>
          </a:p>
        </p:txBody>
      </p:sp>
    </p:spTree>
    <p:extLst>
      <p:ext uri="{BB962C8B-B14F-4D97-AF65-F5344CB8AC3E}">
        <p14:creationId xmlns:p14="http://schemas.microsoft.com/office/powerpoint/2010/main" val="41968056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0" y="568411"/>
            <a:ext cx="12192000" cy="531048"/>
          </a:xfrm>
        </p:spPr>
        <p:txBody>
          <a:bodyPr/>
          <a:lstStyle/>
          <a:p>
            <a:pPr marL="347472"/>
            <a:r>
              <a:rPr lang="en-US" b="1" dirty="0"/>
              <a:t>The Scope of Firms and Services Covered by Proposed ISQM 1</a:t>
            </a:r>
            <a:endParaRPr lang="en-US" sz="2400" b="1" dirty="0"/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9501613" y="6511061"/>
            <a:ext cx="2080788" cy="304412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rgbClr val="808080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A5D50FB3-691B-4551-985A-DEFE3F9B00A3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17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8502C6ED-5046-46D5-854E-3DE0EBBC44C6}"/>
              </a:ext>
            </a:extLst>
          </p:cNvPr>
          <p:cNvSpPr txBox="1">
            <a:spLocks/>
          </p:cNvSpPr>
          <p:nvPr/>
        </p:nvSpPr>
        <p:spPr>
          <a:xfrm>
            <a:off x="298092" y="1300867"/>
            <a:ext cx="11203029" cy="4765041"/>
          </a:xfrm>
          <a:prstGeom prst="roundRect">
            <a:avLst/>
          </a:prstGeom>
          <a:ln w="25400" cap="flat" cmpd="sng" algn="ctr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lvl1pPr marL="173034" indent="-173034" algn="l" defTabSz="457189" rtl="0" eaLnBrk="1" latinLnBrk="0" hangingPunct="1">
              <a:spcBef>
                <a:spcPts val="12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189" indent="-228594" algn="l" defTabSz="457189" rtl="0" eaLnBrk="1" latinLnBrk="0" hangingPunct="1">
              <a:spcBef>
                <a:spcPts val="600"/>
              </a:spcBef>
              <a:spcAft>
                <a:spcPts val="400"/>
              </a:spcAft>
              <a:buFont typeface="Arial"/>
              <a:buChar char="–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30223" indent="-171446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457189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457189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" indent="0">
              <a:buNone/>
            </a:pP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7: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" indent="0">
              <a:spcBef>
                <a:spcPts val="800"/>
              </a:spcBef>
              <a:buNone/>
            </a:pP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Does the IAASB agree that there is a need to develop separate requirements for firm-level quality management over related service engagements? If so:</a:t>
            </a:r>
          </a:p>
          <a:p>
            <a:pPr marL="457200" indent="-347472">
              <a:spcBef>
                <a:spcPts val="800"/>
              </a:spcBef>
              <a:buNone/>
            </a:pP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(a)	Does the IAASB agree that the requirements apply to firms as it relates to their management of quality for related services engagements?</a:t>
            </a:r>
          </a:p>
          <a:p>
            <a:pPr marL="457200" indent="-347472">
              <a:spcBef>
                <a:spcPts val="800"/>
              </a:spcBef>
              <a:buNone/>
            </a:pP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(b)	Should the separate requirements be included in:</a:t>
            </a:r>
          </a:p>
          <a:p>
            <a:pPr marL="804672" indent="-347472">
              <a:spcBef>
                <a:spcPts val="800"/>
              </a:spcBef>
              <a:buNone/>
            </a:pP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	A separate quality management standard (e.g., ISQM 3)?</a:t>
            </a:r>
          </a:p>
          <a:p>
            <a:pPr marL="804672" indent="-347472">
              <a:spcBef>
                <a:spcPts val="800"/>
              </a:spcBef>
              <a:buNone/>
            </a:pP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(ii)	Proposed ISQM 1 as separate requirements?</a:t>
            </a:r>
          </a:p>
          <a:p>
            <a:pPr marL="804672" indent="-347472">
              <a:spcBef>
                <a:spcPts val="800"/>
              </a:spcBef>
              <a:buNone/>
            </a:pP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(iii)	The related services standards themselves, i.e., in ISRS 4400 and ISRS 4410 (Revised)?</a:t>
            </a:r>
          </a:p>
          <a:p>
            <a:pPr marL="91440" indent="0">
              <a:spcBef>
                <a:spcPts val="800"/>
              </a:spcBef>
              <a:buNone/>
            </a:pP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8: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" indent="0">
              <a:spcBef>
                <a:spcPts val="800"/>
              </a:spcBef>
              <a:buNone/>
            </a:pP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Does the IAASB support issuing a survey to obtain stakeholder input on the proposed way forward?</a:t>
            </a:r>
          </a:p>
        </p:txBody>
      </p:sp>
    </p:spTree>
    <p:extLst>
      <p:ext uri="{BB962C8B-B14F-4D97-AF65-F5344CB8AC3E}">
        <p14:creationId xmlns:p14="http://schemas.microsoft.com/office/powerpoint/2010/main" val="19888147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0" y="568411"/>
            <a:ext cx="12192000" cy="531048"/>
          </a:xfrm>
        </p:spPr>
        <p:txBody>
          <a:bodyPr/>
          <a:lstStyle/>
          <a:p>
            <a:pPr marL="347472"/>
            <a:r>
              <a:rPr lang="en-US" b="1" dirty="0"/>
              <a:t>General Matters</a:t>
            </a:r>
            <a:endParaRPr lang="en-US" sz="2400" b="1" dirty="0"/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9501613" y="6511061"/>
            <a:ext cx="2080788" cy="304412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rgbClr val="808080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A5D50FB3-691B-4551-985A-DEFE3F9B00A3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18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8502C6ED-5046-46D5-854E-3DE0EBBC44C6}"/>
              </a:ext>
            </a:extLst>
          </p:cNvPr>
          <p:cNvSpPr txBox="1">
            <a:spLocks/>
          </p:cNvSpPr>
          <p:nvPr/>
        </p:nvSpPr>
        <p:spPr>
          <a:xfrm>
            <a:off x="379372" y="1449847"/>
            <a:ext cx="11203029" cy="1689593"/>
          </a:xfrm>
          <a:prstGeom prst="roundRect">
            <a:avLst/>
          </a:prstGeom>
          <a:ln w="25400" cap="flat" cmpd="sng" algn="ctr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lvl1pPr marL="173034" indent="-173034" algn="l" defTabSz="457189" rtl="0" eaLnBrk="1" latinLnBrk="0" hangingPunct="1">
              <a:spcBef>
                <a:spcPts val="12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189" indent="-228594" algn="l" defTabSz="457189" rtl="0" eaLnBrk="1" latinLnBrk="0" hangingPunct="1">
              <a:spcBef>
                <a:spcPts val="600"/>
              </a:spcBef>
              <a:spcAft>
                <a:spcPts val="400"/>
              </a:spcAft>
              <a:buFont typeface="Arial"/>
              <a:buChar char="–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30223" indent="-171446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457189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457189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" indent="0">
              <a:buNone/>
            </a:pP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9: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" indent="0">
              <a:spcBef>
                <a:spcPts val="800"/>
              </a:spcBef>
              <a:buNone/>
            </a:pP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 there other issues arising from the comments on the questions summarized in Section B of this paper (i.e., question 1 and related </a:t>
            </a:r>
            <a:r>
              <a:rPr lang="en-US" sz="1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subquestions</a:t>
            </a: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question 2, question 4, and question 6 and related </a:t>
            </a:r>
            <a:r>
              <a:rPr lang="en-US" sz="1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subquestions</a:t>
            </a: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that should be considered by the ISQM 1 TF?</a:t>
            </a:r>
          </a:p>
        </p:txBody>
      </p:sp>
    </p:spTree>
    <p:extLst>
      <p:ext uri="{BB962C8B-B14F-4D97-AF65-F5344CB8AC3E}">
        <p14:creationId xmlns:p14="http://schemas.microsoft.com/office/powerpoint/2010/main" val="6574276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0" y="568411"/>
            <a:ext cx="12192000" cy="531048"/>
          </a:xfrm>
        </p:spPr>
        <p:txBody>
          <a:bodyPr/>
          <a:lstStyle/>
          <a:p>
            <a:pPr marL="347472"/>
            <a:r>
              <a:rPr lang="en-US" sz="2400" b="1" dirty="0">
                <a:ln w="0"/>
              </a:rPr>
              <a:t>Feedback on Other Aspects of ED-ISQM 1: Initial Impressions</a:t>
            </a:r>
            <a:endParaRPr lang="en-US" sz="2400" b="1" dirty="0"/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9501613" y="6511061"/>
            <a:ext cx="2080788" cy="304412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rgbClr val="808080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A5D50FB3-691B-4551-985A-DEFE3F9B00A3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19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6484B08-BFC1-4FD0-ACDB-93C0FE31F09C}"/>
              </a:ext>
            </a:extLst>
          </p:cNvPr>
          <p:cNvSpPr txBox="1">
            <a:spLocks/>
          </p:cNvSpPr>
          <p:nvPr/>
        </p:nvSpPr>
        <p:spPr>
          <a:xfrm>
            <a:off x="238799" y="1144845"/>
            <a:ext cx="11629150" cy="5048078"/>
          </a:xfrm>
          <a:prstGeom prst="rect">
            <a:avLst/>
          </a:prstGeom>
        </p:spPr>
        <p:txBody>
          <a:bodyPr vert="horz" lIns="121920" tIns="0" rIns="121920" bIns="0" rtlCol="0">
            <a:noAutofit/>
          </a:bodyPr>
          <a:lstStyle>
            <a:lvl1pPr marL="173034" indent="-173034" algn="l" defTabSz="457189" rtl="0" eaLnBrk="1" latinLnBrk="0" hangingPunct="1">
              <a:spcBef>
                <a:spcPts val="1200"/>
              </a:spcBef>
              <a:buFont typeface="Arial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189" indent="-228594" algn="l" defTabSz="457189" rtl="0" eaLnBrk="1" latinLnBrk="0" hangingPunct="1">
              <a:spcBef>
                <a:spcPts val="600"/>
              </a:spcBef>
              <a:spcAft>
                <a:spcPts val="400"/>
              </a:spcAft>
              <a:buFont typeface="Arial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30223" indent="-171446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160" indent="-228594" algn="l" defTabSz="457189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4pPr>
            <a:lvl5pPr marL="2057349" indent="-228594" algn="l" defTabSz="457189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7472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References to the public interest in the standard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Support for references, although suggestions to clarify meaning of public interest</a:t>
            </a:r>
          </a:p>
          <a:p>
            <a:pPr marL="347472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Objective of the standard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Support for the objective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Additional suggestions include:</a:t>
            </a:r>
          </a:p>
          <a:p>
            <a:pPr marL="1042416" lvl="2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Incorporating public interest in the objective</a:t>
            </a:r>
          </a:p>
          <a:p>
            <a:pPr marL="1042416" lvl="2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Adjusting the objective to be more outcome-based</a:t>
            </a:r>
          </a:p>
          <a:p>
            <a:pPr marL="1042416" lvl="2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Clarifying concept of reasonable assurance in the context of a SOQM</a:t>
            </a:r>
          </a:p>
          <a:p>
            <a:pPr marL="410789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Governance and leadership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Support for the proposals in ED-ISQM 1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Concerns about prescriptiveness of requirements and scalability for SMPs – including requirement to assign responsibility for SOQM and aspects of the SOQM and undertaking performance evaluations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Clarity needed on certain requirements, e.g., requirement to assign responsibility for SOQM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Mixed views regarding the appropriateness of a requirement to assign responsibility for relevant ethical requirements and/or independence</a:t>
            </a:r>
          </a:p>
          <a:p>
            <a:pPr marL="867978" lvl="2" indent="-347472">
              <a:spcBef>
                <a:spcPts val="300"/>
              </a:spcBef>
              <a:spcAft>
                <a:spcPts val="300"/>
              </a:spcAft>
            </a:pPr>
            <a:endParaRPr lang="en-US" dirty="0"/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endParaRPr lang="en-US" dirty="0"/>
          </a:p>
          <a:p>
            <a:pPr marL="347472" lvl="1" indent="0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Font typeface="Arial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87093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0" y="568411"/>
            <a:ext cx="12192000" cy="531048"/>
          </a:xfrm>
        </p:spPr>
        <p:txBody>
          <a:bodyPr/>
          <a:lstStyle/>
          <a:p>
            <a:pPr marL="347472"/>
            <a:r>
              <a:rPr lang="en-US" sz="2400" b="1" dirty="0">
                <a:ln w="0"/>
              </a:rPr>
              <a:t>Feedback on Other Aspects of ED-ISQM 1: Initial Impressions (cont.)</a:t>
            </a:r>
            <a:endParaRPr lang="en-US" sz="2400" b="1" dirty="0"/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9501613" y="6511061"/>
            <a:ext cx="2080788" cy="304412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rgbClr val="808080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A5D50FB3-691B-4551-985A-DEFE3F9B00A3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20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6484B08-BFC1-4FD0-ACDB-93C0FE31F09C}"/>
              </a:ext>
            </a:extLst>
          </p:cNvPr>
          <p:cNvSpPr txBox="1">
            <a:spLocks/>
          </p:cNvSpPr>
          <p:nvPr/>
        </p:nvSpPr>
        <p:spPr>
          <a:xfrm>
            <a:off x="238799" y="1144845"/>
            <a:ext cx="11629150" cy="5048078"/>
          </a:xfrm>
          <a:prstGeom prst="rect">
            <a:avLst/>
          </a:prstGeom>
        </p:spPr>
        <p:txBody>
          <a:bodyPr vert="horz" lIns="121920" tIns="0" rIns="121920" bIns="0" rtlCol="0">
            <a:noAutofit/>
          </a:bodyPr>
          <a:lstStyle>
            <a:lvl1pPr marL="173034" indent="-173034" algn="l" defTabSz="457189" rtl="0" eaLnBrk="1" latinLnBrk="0" hangingPunct="1">
              <a:spcBef>
                <a:spcPts val="1200"/>
              </a:spcBef>
              <a:buFont typeface="Arial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189" indent="-228594" algn="l" defTabSz="457189" rtl="0" eaLnBrk="1" latinLnBrk="0" hangingPunct="1">
              <a:spcBef>
                <a:spcPts val="600"/>
              </a:spcBef>
              <a:spcAft>
                <a:spcPts val="400"/>
              </a:spcAft>
              <a:buFont typeface="Arial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30223" indent="-171446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160" indent="-228594" algn="l" defTabSz="457189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4pPr>
            <a:lvl5pPr marL="2057349" indent="-228594" algn="l" defTabSz="457189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7472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Relevant ethical requirements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Strong support for how ED-ISQM 1 addresses network independence</a:t>
            </a:r>
          </a:p>
          <a:p>
            <a:pPr marL="347472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Resources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Support for how ED-ISQM 1 addresses technological resources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Suggestions to clarify the scope of technological resources addressed by ED-ISQM 1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Calls for additional guidance</a:t>
            </a:r>
          </a:p>
          <a:p>
            <a:pPr marL="347472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Information and communication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Overall mixed views</a:t>
            </a:r>
          </a:p>
          <a:p>
            <a:pPr marL="1042416" lvl="2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Concerns that requirement is too prescriptive regarding reference to transparency reports (e.g., creates a de facto requirement)</a:t>
            </a:r>
          </a:p>
          <a:p>
            <a:pPr marL="1042416" lvl="2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Others (incl. investors) suggesting ED-ISQM 1 should do more in addressing external communication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Further clarity needed on who external stakeholders may be </a:t>
            </a:r>
          </a:p>
          <a:p>
            <a:pPr marL="347472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M&amp;R</a:t>
            </a:r>
          </a:p>
          <a:p>
            <a:pPr marL="631627" lvl="1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Overall views that will improve robustness of firms’ M&amp;R</a:t>
            </a:r>
          </a:p>
          <a:p>
            <a:pPr marL="631627" lvl="1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Concerns about scalability of requirements, level of prescriptiveness and whether will drive innovation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endParaRPr lang="en-US" dirty="0"/>
          </a:p>
          <a:p>
            <a:pPr marL="347472" lvl="1" indent="0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Font typeface="Arial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08785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0" y="568411"/>
            <a:ext cx="12192000" cy="531048"/>
          </a:xfrm>
        </p:spPr>
        <p:txBody>
          <a:bodyPr/>
          <a:lstStyle/>
          <a:p>
            <a:pPr marL="347472"/>
            <a:r>
              <a:rPr lang="en-US" b="1" dirty="0">
                <a:ln w="0"/>
              </a:rPr>
              <a:t>Feedback on Other Aspects of ED-ISQM 1: Initial Impressions (cont.)</a:t>
            </a:r>
            <a:endParaRPr lang="en-US" sz="2400" b="1" dirty="0"/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9501613" y="6511061"/>
            <a:ext cx="2080788" cy="304412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rgbClr val="808080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A5D50FB3-691B-4551-985A-DEFE3F9B00A3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21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6484B08-BFC1-4FD0-ACDB-93C0FE31F09C}"/>
              </a:ext>
            </a:extLst>
          </p:cNvPr>
          <p:cNvSpPr txBox="1">
            <a:spLocks/>
          </p:cNvSpPr>
          <p:nvPr/>
        </p:nvSpPr>
        <p:spPr>
          <a:xfrm>
            <a:off x="238799" y="1144845"/>
            <a:ext cx="11629150" cy="5048078"/>
          </a:xfrm>
          <a:prstGeom prst="rect">
            <a:avLst/>
          </a:prstGeom>
        </p:spPr>
        <p:txBody>
          <a:bodyPr vert="horz" lIns="121920" tIns="0" rIns="121920" bIns="0" rtlCol="0">
            <a:noAutofit/>
          </a:bodyPr>
          <a:lstStyle>
            <a:lvl1pPr marL="173034" indent="-173034" algn="l" defTabSz="457189" rtl="0" eaLnBrk="1" latinLnBrk="0" hangingPunct="1">
              <a:spcBef>
                <a:spcPts val="1200"/>
              </a:spcBef>
              <a:buFont typeface="Arial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189" indent="-228594" algn="l" defTabSz="457189" rtl="0" eaLnBrk="1" latinLnBrk="0" hangingPunct="1">
              <a:spcBef>
                <a:spcPts val="600"/>
              </a:spcBef>
              <a:spcAft>
                <a:spcPts val="400"/>
              </a:spcAft>
              <a:buFont typeface="Arial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30223" indent="-171446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160" indent="-228594" algn="l" defTabSz="457189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4pPr>
            <a:lvl5pPr marL="2057349" indent="-228594" algn="l" defTabSz="457189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7472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M&amp;R (continued)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Mixed views on the requirement addressing inspection of completed engagements</a:t>
            </a:r>
          </a:p>
          <a:p>
            <a:pPr marL="1042416" lvl="2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Requirement is prescriptive - suggestions that requirement should be more risk-based </a:t>
            </a:r>
          </a:p>
          <a:p>
            <a:pPr marL="1042416" lvl="2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The “3 year suggestion” in AM is a de facto requirement</a:t>
            </a:r>
          </a:p>
          <a:p>
            <a:pPr marL="1042416" lvl="2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Discourages or creates barriers to firms developing other monitoring techniques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Clarity needed on references to “in-process reviews”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Concerns that a lack of clarity of framework for evaluating findings and identifying deficiencies</a:t>
            </a:r>
          </a:p>
          <a:p>
            <a:pPr marL="1042416" lvl="2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Difference between findings and deficiencies is not clear</a:t>
            </a:r>
          </a:p>
          <a:p>
            <a:pPr marL="1042416" lvl="2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Consider a concept of “significant deficiencies”</a:t>
            </a:r>
          </a:p>
          <a:p>
            <a:pPr marL="1042416" lvl="2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Various comments and suggestions on definition of deficiencies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Support for new requirement to investigate root causes – further suggestions</a:t>
            </a:r>
          </a:p>
          <a:p>
            <a:pPr marL="1042416" lvl="2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Clarify the scope of root cause analysis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Mixed views about how standard addresses positive findings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Clarify the iterative nature of identifying and evaluating deficiencies and undertaking root cause analysis</a:t>
            </a:r>
          </a:p>
          <a:p>
            <a:pPr marL="520506" lvl="2" indent="0">
              <a:spcBef>
                <a:spcPts val="300"/>
              </a:spcBef>
              <a:spcAft>
                <a:spcPts val="300"/>
              </a:spcAft>
              <a:buNone/>
            </a:pPr>
            <a:endParaRPr lang="en-US" dirty="0"/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endParaRPr lang="en-US" dirty="0"/>
          </a:p>
          <a:p>
            <a:pPr marL="867978" lvl="2" indent="-347472">
              <a:spcBef>
                <a:spcPts val="300"/>
              </a:spcBef>
              <a:spcAft>
                <a:spcPts val="300"/>
              </a:spcAft>
            </a:pPr>
            <a:endParaRPr lang="en-US" dirty="0"/>
          </a:p>
          <a:p>
            <a:pPr marL="867978" lvl="2" indent="-347472">
              <a:spcBef>
                <a:spcPts val="300"/>
              </a:spcBef>
              <a:spcAft>
                <a:spcPts val="300"/>
              </a:spcAft>
            </a:pPr>
            <a:endParaRPr lang="en-US" dirty="0"/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endParaRPr lang="en-US" dirty="0"/>
          </a:p>
          <a:p>
            <a:pPr marL="347472" lvl="1" indent="0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Font typeface="Arial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73752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0" y="568411"/>
            <a:ext cx="12192000" cy="531048"/>
          </a:xfrm>
        </p:spPr>
        <p:txBody>
          <a:bodyPr/>
          <a:lstStyle/>
          <a:p>
            <a:pPr marL="347472"/>
            <a:r>
              <a:rPr lang="en-US" b="1" dirty="0">
                <a:ln w="0"/>
              </a:rPr>
              <a:t>Feedback on Other Aspects of ED-ISQM 1: Initial Impressions (cont.)</a:t>
            </a:r>
            <a:endParaRPr lang="en-US" sz="2400" b="1" dirty="0"/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9501613" y="6511061"/>
            <a:ext cx="2080788" cy="304412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rgbClr val="808080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A5D50FB3-691B-4551-985A-DEFE3F9B00A3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22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6484B08-BFC1-4FD0-ACDB-93C0FE31F09C}"/>
              </a:ext>
            </a:extLst>
          </p:cNvPr>
          <p:cNvSpPr txBox="1">
            <a:spLocks/>
          </p:cNvSpPr>
          <p:nvPr/>
        </p:nvSpPr>
        <p:spPr>
          <a:xfrm>
            <a:off x="238799" y="1144845"/>
            <a:ext cx="11629150" cy="5048078"/>
          </a:xfrm>
          <a:prstGeom prst="rect">
            <a:avLst/>
          </a:prstGeom>
        </p:spPr>
        <p:txBody>
          <a:bodyPr vert="horz" lIns="121920" tIns="0" rIns="121920" bIns="0" rtlCol="0">
            <a:noAutofit/>
          </a:bodyPr>
          <a:lstStyle>
            <a:lvl1pPr marL="173034" indent="-173034" algn="l" defTabSz="457189" rtl="0" eaLnBrk="1" latinLnBrk="0" hangingPunct="1">
              <a:spcBef>
                <a:spcPts val="1200"/>
              </a:spcBef>
              <a:buFont typeface="Arial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189" indent="-228594" algn="l" defTabSz="457189" rtl="0" eaLnBrk="1" latinLnBrk="0" hangingPunct="1">
              <a:spcBef>
                <a:spcPts val="600"/>
              </a:spcBef>
              <a:spcAft>
                <a:spcPts val="400"/>
              </a:spcAft>
              <a:buFont typeface="Arial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30223" indent="-171446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160" indent="-228594" algn="l" defTabSz="457189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4pPr>
            <a:lvl5pPr marL="2057349" indent="-228594" algn="l" defTabSz="457189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7472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M&amp;R (continued)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Many challenges identified regarding annual evaluation of SOQM</a:t>
            </a:r>
          </a:p>
          <a:p>
            <a:pPr marL="1042416" lvl="2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Too onerous for SMPs, suggestions that the evaluation is too frequent</a:t>
            </a:r>
          </a:p>
          <a:p>
            <a:pPr marL="1042416" lvl="2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Clarity needed on whether it is “a point in time” vs. “a periodic” assessment, including how to consider deficiencies in the process of being remediated</a:t>
            </a:r>
          </a:p>
          <a:p>
            <a:pPr marL="1042416" lvl="2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Clarity needed on meaning of “reasonable assurance” and how severity of deficiencies affects the evaluation</a:t>
            </a:r>
          </a:p>
          <a:p>
            <a:pPr marL="1042416" lvl="2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Suggestions that it is a self-evaluation so may not be effective</a:t>
            </a:r>
          </a:p>
          <a:p>
            <a:pPr marL="1042416" lvl="2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Expectations on an individual may be onerous (also in context of other requirements in the standard)</a:t>
            </a:r>
          </a:p>
          <a:p>
            <a:pPr marL="347472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Networks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Overall support for the requirements proposed in ED-ISQM 1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Proposals that firms should determine that network requirements / services are appropriate for use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Concerns about challenges in obtaining the information from the network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Various comments on information that is to be obtained by the firm about the overall scope and results of the monitoring activities across the network firms’ SOQM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Respondents seeking guidance on how requirements should be implemented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Ad-hoc concerns about whether standard is sufficiently robust to address networks themselves</a:t>
            </a:r>
          </a:p>
        </p:txBody>
      </p:sp>
    </p:spTree>
    <p:extLst>
      <p:ext uri="{BB962C8B-B14F-4D97-AF65-F5344CB8AC3E}">
        <p14:creationId xmlns:p14="http://schemas.microsoft.com/office/powerpoint/2010/main" val="6456001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0" y="568411"/>
            <a:ext cx="12192000" cy="531048"/>
          </a:xfrm>
        </p:spPr>
        <p:txBody>
          <a:bodyPr/>
          <a:lstStyle/>
          <a:p>
            <a:pPr marL="347472"/>
            <a:r>
              <a:rPr lang="en-US" b="1" dirty="0">
                <a:ln w="0"/>
              </a:rPr>
              <a:t>Feedback on Other Aspects of ED-ISQM 1: Initial Impressions (cont.)</a:t>
            </a:r>
            <a:endParaRPr lang="en-US" sz="2400" b="1" dirty="0"/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9501613" y="6511061"/>
            <a:ext cx="2080788" cy="304412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rgbClr val="808080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A5D50FB3-691B-4551-985A-DEFE3F9B00A3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23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6484B08-BFC1-4FD0-ACDB-93C0FE31F09C}"/>
              </a:ext>
            </a:extLst>
          </p:cNvPr>
          <p:cNvSpPr txBox="1">
            <a:spLocks/>
          </p:cNvSpPr>
          <p:nvPr/>
        </p:nvSpPr>
        <p:spPr>
          <a:xfrm>
            <a:off x="238799" y="1144845"/>
            <a:ext cx="11629150" cy="5048078"/>
          </a:xfrm>
          <a:prstGeom prst="rect">
            <a:avLst/>
          </a:prstGeom>
        </p:spPr>
        <p:txBody>
          <a:bodyPr vert="horz" lIns="121920" tIns="0" rIns="121920" bIns="0" rtlCol="0">
            <a:noAutofit/>
          </a:bodyPr>
          <a:lstStyle>
            <a:lvl1pPr marL="173034" indent="-173034" algn="l" defTabSz="457189" rtl="0" eaLnBrk="1" latinLnBrk="0" hangingPunct="1">
              <a:spcBef>
                <a:spcPts val="1200"/>
              </a:spcBef>
              <a:buFont typeface="Arial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189" indent="-228594" algn="l" defTabSz="457189" rtl="0" eaLnBrk="1" latinLnBrk="0" hangingPunct="1">
              <a:spcBef>
                <a:spcPts val="600"/>
              </a:spcBef>
              <a:spcAft>
                <a:spcPts val="400"/>
              </a:spcAft>
              <a:buFont typeface="Arial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30223" indent="-171446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160" indent="-228594" algn="l" defTabSz="457189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4pPr>
            <a:lvl5pPr marL="2057349" indent="-228594" algn="l" defTabSz="457189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7472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Service providers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Overall support for addressing service providers in the standard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Concerns about</a:t>
            </a:r>
          </a:p>
          <a:p>
            <a:pPr marL="1042416" lvl="2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The scope of service providers </a:t>
            </a:r>
          </a:p>
          <a:p>
            <a:pPr marL="1042416" lvl="2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Obtaining information from service providers</a:t>
            </a:r>
          </a:p>
          <a:p>
            <a:pPr marL="1042416" lvl="2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Requirement being too onerous and not practical to implement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Respondents seeking guidance on how requirements should be implemented</a:t>
            </a:r>
          </a:p>
          <a:p>
            <a:pPr marL="347472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Application material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More examples needed of how standard is scalable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Reduce length of application material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Include helpful material from the Explanatory Memorandum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Support for additional FAQ and examples</a:t>
            </a:r>
          </a:p>
          <a:p>
            <a:pPr marL="410789" indent="-347472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Strong call for additional support materials and guidance, particularly guidance supporting first time implementation, SMPs, monitoring and remediation, root cause analysis and documentation </a:t>
            </a:r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endParaRPr lang="en-US" dirty="0"/>
          </a:p>
          <a:p>
            <a:pPr marL="694944" lvl="1" indent="-347472">
              <a:spcBef>
                <a:spcPts val="300"/>
              </a:spcBef>
              <a:spcAft>
                <a:spcPts val="300"/>
              </a:spcAft>
            </a:pPr>
            <a:endParaRPr lang="en-US" dirty="0"/>
          </a:p>
          <a:p>
            <a:pPr marL="347472" lvl="1" indent="0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Font typeface="Arial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91482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2167535"/>
      </p:ext>
    </p:extLst>
  </p:cSld>
  <p:clrMapOvr>
    <a:masterClrMapping/>
  </p:clrMapOvr>
</p:sld>
</file>

<file path=ppt/theme/theme1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Office Theme">
  <a:themeElements>
    <a:clrScheme name="Custom 34">
      <a:dk1>
        <a:sysClr val="windowText" lastClr="000000"/>
      </a:dk1>
      <a:lt1>
        <a:sysClr val="window" lastClr="FFFFFF"/>
      </a:lt1>
      <a:dk2>
        <a:srgbClr val="005BAA"/>
      </a:dk2>
      <a:lt2>
        <a:srgbClr val="00C0F3"/>
      </a:lt2>
      <a:accent1>
        <a:srgbClr val="F15A22"/>
      </a:accent1>
      <a:accent2>
        <a:srgbClr val="FAA61A"/>
      </a:accent2>
      <a:accent3>
        <a:srgbClr val="005BAA"/>
      </a:accent3>
      <a:accent4>
        <a:srgbClr val="00C0F3"/>
      </a:accent4>
      <a:accent5>
        <a:srgbClr val="0D9C4A"/>
      </a:accent5>
      <a:accent6>
        <a:srgbClr val="8DC63F"/>
      </a:accent6>
      <a:hlink>
        <a:srgbClr val="005BAA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AASB_Powerpoint_template_2016_Widescreen" id="{551C3455-CE53-451D-A561-326C993C81B9}" vid="{313783E5-FB8C-4610-BC8F-F48741466E03}"/>
    </a:ext>
  </a:extLst>
</a:theme>
</file>

<file path=ppt/theme/theme6.xml><?xml version="1.0" encoding="utf-8"?>
<a:theme xmlns:a="http://schemas.openxmlformats.org/drawingml/2006/main" name="Office Theme">
  <a:themeElements>
    <a:clrScheme name="Custom 34">
      <a:dk1>
        <a:sysClr val="windowText" lastClr="000000"/>
      </a:dk1>
      <a:lt1>
        <a:sysClr val="window" lastClr="FFFFFF"/>
      </a:lt1>
      <a:dk2>
        <a:srgbClr val="005BAA"/>
      </a:dk2>
      <a:lt2>
        <a:srgbClr val="00C0F3"/>
      </a:lt2>
      <a:accent1>
        <a:srgbClr val="F15A22"/>
      </a:accent1>
      <a:accent2>
        <a:srgbClr val="FAA61A"/>
      </a:accent2>
      <a:accent3>
        <a:srgbClr val="005BAA"/>
      </a:accent3>
      <a:accent4>
        <a:srgbClr val="00C0F3"/>
      </a:accent4>
      <a:accent5>
        <a:srgbClr val="0D9C4A"/>
      </a:accent5>
      <a:accent6>
        <a:srgbClr val="8DC63F"/>
      </a:accent6>
      <a:hlink>
        <a:srgbClr val="005BAA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AASB_Powerpoint_template_2016_Widescreen" id="{551C3455-CE53-451D-A561-326C993C81B9}" vid="{313783E5-FB8C-4610-BC8F-F48741466E03}"/>
    </a:ext>
  </a:extLst>
</a:theme>
</file>

<file path=ppt/theme/theme7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6715</TotalTime>
  <Words>2644</Words>
  <Application>Microsoft Office PowerPoint</Application>
  <PresentationFormat>Widescreen</PresentationFormat>
  <Paragraphs>328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24</vt:i4>
      </vt:variant>
    </vt:vector>
  </HeadingPairs>
  <TitlesOfParts>
    <vt:vector size="35" baseType="lpstr">
      <vt:lpstr>Arial</vt:lpstr>
      <vt:lpstr>Arial Narrow</vt:lpstr>
      <vt:lpstr>Calibri</vt:lpstr>
      <vt:lpstr>Calibri Light</vt:lpstr>
      <vt:lpstr>1_Custom Design</vt:lpstr>
      <vt:lpstr>Custom Design</vt:lpstr>
      <vt:lpstr>2_Custom Design</vt:lpstr>
      <vt:lpstr>3_Custom Design</vt:lpstr>
      <vt:lpstr>4_Office Theme</vt:lpstr>
      <vt:lpstr>Office Theme</vt:lpstr>
      <vt:lpstr>1_Office Theme</vt:lpstr>
      <vt:lpstr>PowerPoint Presentation</vt:lpstr>
      <vt:lpstr>Overview of Respondents</vt:lpstr>
      <vt:lpstr>New Quality Management Approach (QMA)</vt:lpstr>
      <vt:lpstr>Benefits for Engagement Quality and Professional Skepticism (PS)</vt:lpstr>
      <vt:lpstr>Scalability</vt:lpstr>
      <vt:lpstr>Scalability (continued)</vt:lpstr>
      <vt:lpstr>Challenges for Implementation</vt:lpstr>
      <vt:lpstr>Components and Structure</vt:lpstr>
      <vt:lpstr>Establish Quality Objectives (QO)</vt:lpstr>
      <vt:lpstr>Identify and Assess Quality Risks (QR)</vt:lpstr>
      <vt:lpstr>Design and Implement Responses</vt:lpstr>
      <vt:lpstr>CAG Feedback</vt:lpstr>
      <vt:lpstr>CAG Feedback (cont.)</vt:lpstr>
      <vt:lpstr>The Components and Structure of Proposed ISQM 1</vt:lpstr>
      <vt:lpstr>How Proposed ISQM 1 Should Address QO, QR and Responses</vt:lpstr>
      <vt:lpstr>How the Standard Addresses the FRAP</vt:lpstr>
      <vt:lpstr>The Scope of Firms and Services Covered by Proposed ISQM 1</vt:lpstr>
      <vt:lpstr>General Matters</vt:lpstr>
      <vt:lpstr>Feedback on Other Aspects of ED-ISQM 1: Initial Impressions</vt:lpstr>
      <vt:lpstr>Feedback on Other Aspects of ED-ISQM 1: Initial Impressions (cont.)</vt:lpstr>
      <vt:lpstr>Feedback on Other Aspects of ED-ISQM 1: Initial Impressions (cont.)</vt:lpstr>
      <vt:lpstr>Feedback on Other Aspects of ED-ISQM 1: Initial Impressions (cont.)</vt:lpstr>
      <vt:lpstr>Feedback on Other Aspects of ED-ISQM 1: Initial Impressions (cont.)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Armand Kotze</dc:creator>
  <cp:lastModifiedBy>Natalie Klonaridis</cp:lastModifiedBy>
  <cp:revision>627</cp:revision>
  <cp:lastPrinted>2018-10-23T13:03:17Z</cp:lastPrinted>
  <dcterms:created xsi:type="dcterms:W3CDTF">2018-10-18T19:25:41Z</dcterms:created>
  <dcterms:modified xsi:type="dcterms:W3CDTF">2019-09-14T12:56:37Z</dcterms:modified>
</cp:coreProperties>
</file>