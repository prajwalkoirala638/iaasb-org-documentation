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7"/>
  </p:notesMasterIdLst>
  <p:handoutMasterIdLst>
    <p:handoutMasterId r:id="rId28"/>
  </p:handoutMasterIdLst>
  <p:sldIdLst>
    <p:sldId id="427" r:id="rId2"/>
    <p:sldId id="525" r:id="rId3"/>
    <p:sldId id="527" r:id="rId4"/>
    <p:sldId id="526" r:id="rId5"/>
    <p:sldId id="501" r:id="rId6"/>
    <p:sldId id="503" r:id="rId7"/>
    <p:sldId id="482" r:id="rId8"/>
    <p:sldId id="483" r:id="rId9"/>
    <p:sldId id="484" r:id="rId10"/>
    <p:sldId id="485" r:id="rId11"/>
    <p:sldId id="496" r:id="rId12"/>
    <p:sldId id="519" r:id="rId13"/>
    <p:sldId id="520" r:id="rId14"/>
    <p:sldId id="487" r:id="rId15"/>
    <p:sldId id="504" r:id="rId16"/>
    <p:sldId id="521" r:id="rId17"/>
    <p:sldId id="490" r:id="rId18"/>
    <p:sldId id="508" r:id="rId19"/>
    <p:sldId id="512" r:id="rId20"/>
    <p:sldId id="510" r:id="rId21"/>
    <p:sldId id="522" r:id="rId22"/>
    <p:sldId id="524" r:id="rId23"/>
    <p:sldId id="511" r:id="rId24"/>
    <p:sldId id="523" r:id="rId25"/>
    <p:sldId id="445" r:id="rId26"/>
  </p:sldIdLst>
  <p:sldSz cx="9144000" cy="5143500" type="screen16x9"/>
  <p:notesSz cx="6888163" cy="10021888"/>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harko, Rich" initials="SR" lastIdx="15" clrIdx="6">
    <p:extLst>
      <p:ext uri="{19B8F6BF-5375-455C-9EA6-DF929625EA0E}">
        <p15:presenceInfo xmlns:p15="http://schemas.microsoft.com/office/powerpoint/2012/main" userId="S-1-5-21-1655004244-1037243801-1846952604-283205" providerId="AD"/>
      </p:ext>
    </p:extLst>
  </p:cmAuthor>
  <p:cmAuthor id="1" name="Zietsman, Megan" initials="MZ" lastIdx="39" clrIdx="0">
    <p:extLst>
      <p:ext uri="{19B8F6BF-5375-455C-9EA6-DF929625EA0E}">
        <p15:presenceInfo xmlns:p15="http://schemas.microsoft.com/office/powerpoint/2012/main" userId="Zietsman, Megan" providerId="None"/>
      </p:ext>
    </p:extLst>
  </p:cmAuthor>
  <p:cmAuthor id="8" name="Marek Grabowski" initials="MG" lastIdx="17" clrIdx="7">
    <p:extLst>
      <p:ext uri="{19B8F6BF-5375-455C-9EA6-DF929625EA0E}">
        <p15:presenceInfo xmlns:p15="http://schemas.microsoft.com/office/powerpoint/2012/main" userId="S-1-5-21-1482476501-920026266-725345543-28178" providerId="AD"/>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9" name="Jasper van den Hout" initials="JvdH" lastIdx="3" clrIdx="8">
    <p:extLst>
      <p:ext uri="{19B8F6BF-5375-455C-9EA6-DF929625EA0E}">
        <p15:presenceInfo xmlns:p15="http://schemas.microsoft.com/office/powerpoint/2012/main" userId="S-1-5-21-1801674531-1972579041-839522115-11621" providerId="AD"/>
      </p:ext>
    </p:extLst>
  </p:cmAuthor>
  <p:cmAuthor id="3" name="Natalie Klonaridis" initials="NK" lastIdx="16" clrIdx="2">
    <p:extLst>
      <p:ext uri="{19B8F6BF-5375-455C-9EA6-DF929625EA0E}">
        <p15:presenceInfo xmlns:p15="http://schemas.microsoft.com/office/powerpoint/2012/main" userId="S-1-5-21-1801674531-1972579041-839522115-13323" providerId="AD"/>
      </p:ext>
    </p:extLst>
  </p:cmAuthor>
  <p:cmAuthor id="10" name="Dan Montgomery" initials="DM" lastIdx="18" clrIdx="9">
    <p:extLst>
      <p:ext uri="{19B8F6BF-5375-455C-9EA6-DF929625EA0E}">
        <p15:presenceInfo xmlns:p15="http://schemas.microsoft.com/office/powerpoint/2012/main" userId="8ba5e3d143c5e0b2" providerId="Windows Live"/>
      </p:ext>
    </p:extLst>
  </p:cmAuthor>
  <p:cmAuthor id="4" name="Beverley Bahlmann" initials="BB" lastIdx="26" clrIdx="3">
    <p:extLst>
      <p:ext uri="{19B8F6BF-5375-455C-9EA6-DF929625EA0E}">
        <p15:presenceInfo xmlns:p15="http://schemas.microsoft.com/office/powerpoint/2012/main" userId="S-1-5-21-1801674531-1972579041-839522115-4280" providerId="AD"/>
      </p:ext>
    </p:extLst>
  </p:cmAuthor>
  <p:cmAuthor id="11" name="Sharko, Rich" initials="SR [2]" lastIdx="9" clrIdx="10">
    <p:extLst>
      <p:ext uri="{19B8F6BF-5375-455C-9EA6-DF929625EA0E}">
        <p15:presenceInfo xmlns:p15="http://schemas.microsoft.com/office/powerpoint/2012/main" userId="Sharko, Rich" providerId="None"/>
      </p:ext>
    </p:extLst>
  </p:cmAuthor>
  <p:cmAuthor id="5" name="Brett James" initials="BJ" lastIdx="1" clrIdx="4">
    <p:extLst>
      <p:ext uri="{19B8F6BF-5375-455C-9EA6-DF929625EA0E}">
        <p15:presenceInfo xmlns:p15="http://schemas.microsoft.com/office/powerpoint/2012/main" userId="S-1-5-21-1801674531-1972579041-839522115-7169" providerId="AD"/>
      </p:ext>
    </p:extLst>
  </p:cmAuthor>
  <p:cmAuthor id="6" name="Csilla Molnar" initials="CM" lastIdx="1" clrIdx="5">
    <p:extLst>
      <p:ext uri="{19B8F6BF-5375-455C-9EA6-DF929625EA0E}">
        <p15:presenceInfo xmlns:p15="http://schemas.microsoft.com/office/powerpoint/2012/main" userId="S-1-5-21-1801674531-1972579041-839522115-1336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5FE"/>
    <a:srgbClr val="118EFF"/>
    <a:srgbClr val="004F96"/>
    <a:srgbClr val="00488A"/>
    <a:srgbClr val="0060B8"/>
    <a:srgbClr val="006DD0"/>
    <a:srgbClr val="2597FF"/>
    <a:srgbClr val="FDFDFD"/>
    <a:srgbClr val="00427E"/>
    <a:srgbClr val="006B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6" autoAdjust="0"/>
    <p:restoredTop sz="89722" autoAdjust="0"/>
  </p:normalViewPr>
  <p:slideViewPr>
    <p:cSldViewPr snapToGrid="0" snapToObjects="1">
      <p:cViewPr varScale="1">
        <p:scale>
          <a:sx n="101" d="100"/>
          <a:sy n="101" d="100"/>
        </p:scale>
        <p:origin x="1003" y="72"/>
      </p:cViewPr>
      <p:guideLst>
        <p:guide orient="horz" pos="1620"/>
        <p:guide pos="2880"/>
      </p:guideLst>
    </p:cSldViewPr>
  </p:slideViewPr>
  <p:outlineViewPr>
    <p:cViewPr>
      <p:scale>
        <a:sx n="66" d="100"/>
        <a:sy n="66" d="100"/>
      </p:scale>
      <p:origin x="0" y="-17472"/>
    </p:cViewPr>
  </p:outlineViewPr>
  <p:notesTextViewPr>
    <p:cViewPr>
      <p:scale>
        <a:sx n="100" d="100"/>
        <a:sy n="100" d="100"/>
      </p:scale>
      <p:origin x="0" y="0"/>
    </p:cViewPr>
  </p:notesTextViewPr>
  <p:sorterViewPr>
    <p:cViewPr>
      <p:scale>
        <a:sx n="201" d="100"/>
        <a:sy n="201" d="100"/>
      </p:scale>
      <p:origin x="0" y="0"/>
    </p:cViewPr>
  </p:sorterViewPr>
  <p:notesViewPr>
    <p:cSldViewPr snapToGrid="0" snapToObjects="1">
      <p:cViewPr varScale="1">
        <p:scale>
          <a:sx n="88" d="100"/>
          <a:sy n="88" d="100"/>
        </p:scale>
        <p:origin x="3798"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4870" cy="501095"/>
          </a:xfrm>
          <a:prstGeom prst="rect">
            <a:avLst/>
          </a:prstGeom>
        </p:spPr>
        <p:txBody>
          <a:bodyPr vert="horz" lIns="92486" tIns="46243" rIns="92486" bIns="46243" rtlCol="0"/>
          <a:lstStyle>
            <a:lvl1pPr algn="l">
              <a:defRPr sz="1200"/>
            </a:lvl1pPr>
          </a:lstStyle>
          <a:p>
            <a:endParaRPr lang="en-US"/>
          </a:p>
        </p:txBody>
      </p:sp>
      <p:sp>
        <p:nvSpPr>
          <p:cNvPr id="3" name="Date Placeholder 2"/>
          <p:cNvSpPr>
            <a:spLocks noGrp="1"/>
          </p:cNvSpPr>
          <p:nvPr>
            <p:ph type="dt" sz="quarter" idx="1"/>
          </p:nvPr>
        </p:nvSpPr>
        <p:spPr>
          <a:xfrm>
            <a:off x="3901701" y="0"/>
            <a:ext cx="2984870" cy="501095"/>
          </a:xfrm>
          <a:prstGeom prst="rect">
            <a:avLst/>
          </a:prstGeom>
        </p:spPr>
        <p:txBody>
          <a:bodyPr vert="horz" lIns="92486" tIns="46243" rIns="92486" bIns="46243" rtlCol="0"/>
          <a:lstStyle>
            <a:lvl1pPr algn="r">
              <a:defRPr sz="1200"/>
            </a:lvl1pPr>
          </a:lstStyle>
          <a:p>
            <a:fld id="{1E59F908-4FD1-BC49-B361-D833AB0555FC}" type="datetimeFigureOut">
              <a:rPr lang="en-US" smtClean="0"/>
              <a:t>6/18/2018</a:t>
            </a:fld>
            <a:endParaRPr lang="en-US"/>
          </a:p>
        </p:txBody>
      </p:sp>
      <p:sp>
        <p:nvSpPr>
          <p:cNvPr id="4" name="Footer Placeholder 3"/>
          <p:cNvSpPr>
            <a:spLocks noGrp="1"/>
          </p:cNvSpPr>
          <p:nvPr>
            <p:ph type="ftr" sz="quarter" idx="2"/>
          </p:nvPr>
        </p:nvSpPr>
        <p:spPr>
          <a:xfrm>
            <a:off x="1" y="9519055"/>
            <a:ext cx="2984870" cy="501095"/>
          </a:xfrm>
          <a:prstGeom prst="rect">
            <a:avLst/>
          </a:prstGeom>
        </p:spPr>
        <p:txBody>
          <a:bodyPr vert="horz" lIns="92486" tIns="46243" rIns="92486" bIns="46243" rtlCol="0" anchor="b"/>
          <a:lstStyle>
            <a:lvl1pPr algn="l">
              <a:defRPr sz="1200"/>
            </a:lvl1pPr>
          </a:lstStyle>
          <a:p>
            <a:endParaRPr lang="en-US"/>
          </a:p>
        </p:txBody>
      </p:sp>
      <p:sp>
        <p:nvSpPr>
          <p:cNvPr id="5" name="Slide Number Placeholder 4"/>
          <p:cNvSpPr>
            <a:spLocks noGrp="1"/>
          </p:cNvSpPr>
          <p:nvPr>
            <p:ph type="sldNum" sz="quarter" idx="3"/>
          </p:nvPr>
        </p:nvSpPr>
        <p:spPr>
          <a:xfrm>
            <a:off x="3901701" y="9519055"/>
            <a:ext cx="2984870" cy="501095"/>
          </a:xfrm>
          <a:prstGeom prst="rect">
            <a:avLst/>
          </a:prstGeom>
        </p:spPr>
        <p:txBody>
          <a:bodyPr vert="horz" lIns="92486" tIns="46243" rIns="92486" bIns="46243"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4870" cy="501095"/>
          </a:xfrm>
          <a:prstGeom prst="rect">
            <a:avLst/>
          </a:prstGeom>
        </p:spPr>
        <p:txBody>
          <a:bodyPr vert="horz" lIns="92486" tIns="46243" rIns="92486" bIns="46243" rtlCol="0"/>
          <a:lstStyle>
            <a:lvl1pPr algn="l">
              <a:defRPr sz="1200"/>
            </a:lvl1pPr>
          </a:lstStyle>
          <a:p>
            <a:endParaRPr lang="en-US"/>
          </a:p>
        </p:txBody>
      </p:sp>
      <p:sp>
        <p:nvSpPr>
          <p:cNvPr id="3" name="Date Placeholder 2"/>
          <p:cNvSpPr>
            <a:spLocks noGrp="1"/>
          </p:cNvSpPr>
          <p:nvPr>
            <p:ph type="dt" idx="1"/>
          </p:nvPr>
        </p:nvSpPr>
        <p:spPr>
          <a:xfrm>
            <a:off x="3901701" y="0"/>
            <a:ext cx="2984870" cy="501095"/>
          </a:xfrm>
          <a:prstGeom prst="rect">
            <a:avLst/>
          </a:prstGeom>
        </p:spPr>
        <p:txBody>
          <a:bodyPr vert="horz" lIns="92486" tIns="46243" rIns="92486" bIns="46243" rtlCol="0"/>
          <a:lstStyle>
            <a:lvl1pPr algn="r">
              <a:defRPr sz="1200"/>
            </a:lvl1pPr>
          </a:lstStyle>
          <a:p>
            <a:fld id="{7745D6F9-5033-7542-84AC-41926A84456D}" type="datetimeFigureOut">
              <a:rPr lang="en-US" smtClean="0"/>
              <a:t>6/18/2018</a:t>
            </a:fld>
            <a:endParaRPr lang="en-US"/>
          </a:p>
        </p:txBody>
      </p:sp>
      <p:sp>
        <p:nvSpPr>
          <p:cNvPr id="4" name="Slide Image Placeholder 3"/>
          <p:cNvSpPr>
            <a:spLocks noGrp="1" noRot="1" noChangeAspect="1"/>
          </p:cNvSpPr>
          <p:nvPr>
            <p:ph type="sldImg" idx="2"/>
          </p:nvPr>
        </p:nvSpPr>
        <p:spPr>
          <a:xfrm>
            <a:off x="103188" y="750888"/>
            <a:ext cx="6681787" cy="3759200"/>
          </a:xfrm>
          <a:prstGeom prst="rect">
            <a:avLst/>
          </a:prstGeom>
          <a:noFill/>
          <a:ln w="12700">
            <a:solidFill>
              <a:prstClr val="black"/>
            </a:solidFill>
          </a:ln>
        </p:spPr>
        <p:txBody>
          <a:bodyPr vert="horz" lIns="92486" tIns="46243" rIns="92486" bIns="46243" rtlCol="0" anchor="ctr"/>
          <a:lstStyle/>
          <a:p>
            <a:endParaRPr lang="en-US"/>
          </a:p>
        </p:txBody>
      </p:sp>
      <p:sp>
        <p:nvSpPr>
          <p:cNvPr id="5" name="Notes Placeholder 4"/>
          <p:cNvSpPr>
            <a:spLocks noGrp="1"/>
          </p:cNvSpPr>
          <p:nvPr>
            <p:ph type="body" sz="quarter" idx="3"/>
          </p:nvPr>
        </p:nvSpPr>
        <p:spPr>
          <a:xfrm>
            <a:off x="688817" y="4760397"/>
            <a:ext cx="5510530" cy="4509850"/>
          </a:xfrm>
          <a:prstGeom prst="rect">
            <a:avLst/>
          </a:prstGeom>
        </p:spPr>
        <p:txBody>
          <a:bodyPr vert="horz" lIns="92486" tIns="46243" rIns="92486" bIns="4624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519055"/>
            <a:ext cx="2984870" cy="501095"/>
          </a:xfrm>
          <a:prstGeom prst="rect">
            <a:avLst/>
          </a:prstGeom>
        </p:spPr>
        <p:txBody>
          <a:bodyPr vert="horz" lIns="92486" tIns="46243" rIns="92486" bIns="46243" rtlCol="0" anchor="b"/>
          <a:lstStyle>
            <a:lvl1pPr algn="l">
              <a:defRPr sz="1200"/>
            </a:lvl1pPr>
          </a:lstStyle>
          <a:p>
            <a:endParaRPr lang="en-US"/>
          </a:p>
        </p:txBody>
      </p:sp>
      <p:sp>
        <p:nvSpPr>
          <p:cNvPr id="7" name="Slide Number Placeholder 6"/>
          <p:cNvSpPr>
            <a:spLocks noGrp="1"/>
          </p:cNvSpPr>
          <p:nvPr>
            <p:ph type="sldNum" sz="quarter" idx="5"/>
          </p:nvPr>
        </p:nvSpPr>
        <p:spPr>
          <a:xfrm>
            <a:off x="3901701" y="9519055"/>
            <a:ext cx="2984870" cy="501095"/>
          </a:xfrm>
          <a:prstGeom prst="rect">
            <a:avLst/>
          </a:prstGeom>
        </p:spPr>
        <p:txBody>
          <a:bodyPr vert="horz" lIns="92486" tIns="46243" rIns="92486" bIns="46243"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1</a:t>
            </a:fld>
            <a:endParaRPr lang="en-US"/>
          </a:p>
        </p:txBody>
      </p:sp>
    </p:spTree>
    <p:extLst>
      <p:ext uri="{BB962C8B-B14F-4D97-AF65-F5344CB8AC3E}">
        <p14:creationId xmlns:p14="http://schemas.microsoft.com/office/powerpoint/2010/main" val="1713707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8</a:t>
            </a:fld>
            <a:endParaRPr lang="en-US"/>
          </a:p>
        </p:txBody>
      </p:sp>
    </p:spTree>
    <p:extLst>
      <p:ext uri="{BB962C8B-B14F-4D97-AF65-F5344CB8AC3E}">
        <p14:creationId xmlns:p14="http://schemas.microsoft.com/office/powerpoint/2010/main" val="15564826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iaasb.org/" TargetMode="External"/><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hyperlink" Target="mailto:permissions@ifac.org" TargetMode="External"/><Relationship Id="rId5" Type="http://schemas.openxmlformats.org/officeDocument/2006/relationships/image" Target="../media/image7.png"/><Relationship Id="rId10" Type="http://schemas.openxmlformats.org/officeDocument/2006/relationships/hyperlink" Target="http://www.ifac.org/about-ifac/translations-permissions" TargetMode="External"/><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576669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AF73A935-0AD8-4B38-AD39-55437B5CA1D2}" type="datetime1">
              <a:rPr lang="en-US" smtClean="0"/>
              <a:t>6/18/2018</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6436"/>
            <a:ext cx="7893383" cy="568895"/>
          </a:xfrm>
        </p:spPr>
        <p:txBody>
          <a:bodyPr>
            <a:normAutofit fontScale="90000"/>
          </a:bodyPr>
          <a:lstStyle/>
          <a:p>
            <a:pPr>
              <a:lnSpc>
                <a:spcPts val="2800"/>
              </a:lnSpc>
              <a:spcBef>
                <a:spcPts val="600"/>
              </a:spcBef>
              <a:spcAft>
                <a:spcPts val="600"/>
              </a:spcAft>
            </a:pPr>
            <a:r>
              <a:rPr lang="en-GB" sz="2800" dirty="0"/>
              <a:t>ISA 540 (Revised)</a:t>
            </a:r>
            <a:br>
              <a:rPr lang="en-GB" sz="2800" dirty="0"/>
            </a:br>
            <a:endParaRPr lang="en-US" sz="2000" dirty="0"/>
          </a:p>
        </p:txBody>
      </p:sp>
      <p:sp>
        <p:nvSpPr>
          <p:cNvPr id="3" name="Subtitle 2"/>
          <p:cNvSpPr>
            <a:spLocks noGrp="1"/>
          </p:cNvSpPr>
          <p:nvPr>
            <p:ph type="subTitle" idx="1"/>
          </p:nvPr>
        </p:nvSpPr>
        <p:spPr>
          <a:xfrm>
            <a:off x="685801" y="3612995"/>
            <a:ext cx="6719340" cy="1027579"/>
          </a:xfrm>
        </p:spPr>
        <p:txBody>
          <a:bodyPr/>
          <a:lstStyle/>
          <a:p>
            <a:r>
              <a:rPr lang="en-US" b="1" dirty="0"/>
              <a:t>Rich </a:t>
            </a:r>
            <a:r>
              <a:rPr lang="en-US" b="1" dirty="0" err="1"/>
              <a:t>Sharko</a:t>
            </a:r>
            <a:r>
              <a:rPr lang="en-US" b="1" dirty="0"/>
              <a:t>, IAASB Member and Chair of the ISA 540 Task Force</a:t>
            </a:r>
          </a:p>
          <a:p>
            <a:r>
              <a:rPr lang="en-US" b="1" dirty="0"/>
              <a:t>Marek Grabowski, IAASB Member and Co-Chair of the ISA 540 Task Force</a:t>
            </a:r>
          </a:p>
          <a:p>
            <a:pPr>
              <a:spcBef>
                <a:spcPts val="0"/>
              </a:spcBef>
            </a:pPr>
            <a:endParaRPr lang="en-US" dirty="0"/>
          </a:p>
          <a:p>
            <a:r>
              <a:rPr lang="en-US" dirty="0"/>
              <a:t>June 18</a:t>
            </a:r>
            <a:r>
              <a:rPr lang="en-US"/>
              <a:t>, 2018 </a:t>
            </a:r>
            <a:endParaRPr lang="en-US" dirty="0"/>
          </a:p>
        </p:txBody>
      </p:sp>
    </p:spTree>
    <p:extLst>
      <p:ext uri="{BB962C8B-B14F-4D97-AF65-F5344CB8AC3E}">
        <p14:creationId xmlns:p14="http://schemas.microsoft.com/office/powerpoint/2010/main" val="4242544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Outreach</a:t>
            </a:r>
          </a:p>
        </p:txBody>
      </p:sp>
      <p:sp>
        <p:nvSpPr>
          <p:cNvPr id="3" name="Content Placeholder 2"/>
          <p:cNvSpPr>
            <a:spLocks noGrp="1"/>
          </p:cNvSpPr>
          <p:nvPr>
            <p:ph idx="1"/>
          </p:nvPr>
        </p:nvSpPr>
        <p:spPr>
          <a:xfrm>
            <a:off x="457199" y="969400"/>
            <a:ext cx="8561439" cy="3850107"/>
          </a:xfrm>
        </p:spPr>
        <p:txBody>
          <a:bodyPr/>
          <a:lstStyle/>
          <a:p>
            <a:r>
              <a:rPr lang="en-US" sz="1800" dirty="0" smtClean="0"/>
              <a:t>IFIAR</a:t>
            </a:r>
          </a:p>
          <a:p>
            <a:pPr lvl="1"/>
            <a:r>
              <a:rPr lang="en-US" sz="1600" dirty="0">
                <a:solidFill>
                  <a:schemeClr val="tx1">
                    <a:lumMod val="50000"/>
                    <a:lumOff val="50000"/>
                  </a:schemeClr>
                </a:solidFill>
              </a:rPr>
              <a:t>Clarify link between ISA 540 and ISA 500 with respect to work management’s </a:t>
            </a:r>
            <a:r>
              <a:rPr lang="en-US" sz="1600" dirty="0" smtClean="0">
                <a:solidFill>
                  <a:schemeClr val="tx1">
                    <a:lumMod val="50000"/>
                    <a:lumOff val="50000"/>
                  </a:schemeClr>
                </a:solidFill>
              </a:rPr>
              <a:t>expert</a:t>
            </a:r>
          </a:p>
          <a:p>
            <a:pPr lvl="1"/>
            <a:r>
              <a:rPr lang="en-US" sz="1600" dirty="0" smtClean="0">
                <a:solidFill>
                  <a:schemeClr val="tx1">
                    <a:lumMod val="50000"/>
                    <a:lumOff val="50000"/>
                  </a:schemeClr>
                </a:solidFill>
              </a:rPr>
              <a:t>Clarify relationship between ISA 540 and other standards (e.g. ISA 315 (Revised))</a:t>
            </a:r>
          </a:p>
          <a:p>
            <a:pPr lvl="1"/>
            <a:r>
              <a:rPr lang="en-US" sz="1600" dirty="0" smtClean="0">
                <a:solidFill>
                  <a:schemeClr val="tx1">
                    <a:lumMod val="50000"/>
                    <a:lumOff val="50000"/>
                  </a:schemeClr>
                </a:solidFill>
              </a:rPr>
              <a:t>Why added significant in some places (e.g. significant data, significant assumptions)</a:t>
            </a:r>
          </a:p>
          <a:p>
            <a:pPr lvl="1"/>
            <a:r>
              <a:rPr lang="en-US" sz="1600" dirty="0" smtClean="0">
                <a:solidFill>
                  <a:schemeClr val="tx1">
                    <a:lumMod val="50000"/>
                    <a:lumOff val="50000"/>
                  </a:schemeClr>
                </a:solidFill>
              </a:rPr>
              <a:t>Professional Skepticism – what else will be done?</a:t>
            </a:r>
          </a:p>
          <a:p>
            <a:pPr lvl="1"/>
            <a:r>
              <a:rPr lang="en-US" sz="1600" dirty="0" smtClean="0">
                <a:solidFill>
                  <a:schemeClr val="tx1">
                    <a:lumMod val="50000"/>
                    <a:lumOff val="50000"/>
                  </a:schemeClr>
                </a:solidFill>
              </a:rPr>
              <a:t>Control testing</a:t>
            </a:r>
          </a:p>
          <a:p>
            <a:pPr lvl="1"/>
            <a:r>
              <a:rPr lang="en-US" sz="1600" dirty="0" smtClean="0">
                <a:solidFill>
                  <a:schemeClr val="tx1">
                    <a:lumMod val="50000"/>
                    <a:lumOff val="50000"/>
                  </a:schemeClr>
                </a:solidFill>
              </a:rPr>
              <a:t>Re-exposure </a:t>
            </a:r>
            <a:endParaRPr lang="en-US" sz="1800" dirty="0" smtClean="0"/>
          </a:p>
          <a:p>
            <a:pPr marL="171450" lvl="1" indent="0">
              <a:buNone/>
            </a:pPr>
            <a:endParaRPr lang="en-US" sz="1650" dirty="0"/>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735216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Outreach</a:t>
            </a:r>
          </a:p>
        </p:txBody>
      </p:sp>
      <p:sp>
        <p:nvSpPr>
          <p:cNvPr id="3" name="Content Placeholder 2"/>
          <p:cNvSpPr>
            <a:spLocks noGrp="1"/>
          </p:cNvSpPr>
          <p:nvPr>
            <p:ph idx="1"/>
          </p:nvPr>
        </p:nvSpPr>
        <p:spPr>
          <a:xfrm>
            <a:off x="457199" y="969400"/>
            <a:ext cx="8561439" cy="3850107"/>
          </a:xfrm>
        </p:spPr>
        <p:txBody>
          <a:bodyPr/>
          <a:lstStyle/>
          <a:p>
            <a:r>
              <a:rPr lang="en-US" sz="1800" dirty="0" smtClean="0"/>
              <a:t>IOSCO </a:t>
            </a:r>
          </a:p>
          <a:p>
            <a:pPr lvl="1"/>
            <a:r>
              <a:rPr lang="en-US" sz="1600" dirty="0" smtClean="0">
                <a:solidFill>
                  <a:schemeClr val="tx1">
                    <a:lumMod val="50000"/>
                    <a:lumOff val="50000"/>
                  </a:schemeClr>
                </a:solidFill>
              </a:rPr>
              <a:t>Direction of travel on non-540 topics (sampling, experts)</a:t>
            </a:r>
          </a:p>
          <a:p>
            <a:pPr lvl="1"/>
            <a:r>
              <a:rPr lang="en-US" sz="1600" dirty="0" smtClean="0">
                <a:solidFill>
                  <a:schemeClr val="tx1">
                    <a:lumMod val="50000"/>
                    <a:lumOff val="50000"/>
                  </a:schemeClr>
                </a:solidFill>
              </a:rPr>
              <a:t>How will the ISA be aligned with revision of ISA 315</a:t>
            </a:r>
          </a:p>
          <a:p>
            <a:pPr lvl="1"/>
            <a:r>
              <a:rPr lang="en-US" sz="1600" dirty="0" smtClean="0">
                <a:solidFill>
                  <a:schemeClr val="tx1">
                    <a:lumMod val="50000"/>
                    <a:lumOff val="50000"/>
                  </a:schemeClr>
                </a:solidFill>
              </a:rPr>
              <a:t>Reasonable ranges – guidance on multiples of materiality not sufficient</a:t>
            </a:r>
          </a:p>
          <a:p>
            <a:pPr lvl="1"/>
            <a:r>
              <a:rPr lang="en-US" sz="1600" dirty="0" smtClean="0">
                <a:solidFill>
                  <a:schemeClr val="tx1">
                    <a:lumMod val="50000"/>
                    <a:lumOff val="50000"/>
                  </a:schemeClr>
                </a:solidFill>
              </a:rPr>
              <a:t>Scalability</a:t>
            </a:r>
          </a:p>
          <a:p>
            <a:pPr lvl="1"/>
            <a:r>
              <a:rPr lang="en-US" sz="1600" dirty="0" smtClean="0">
                <a:solidFill>
                  <a:schemeClr val="tx1">
                    <a:lumMod val="50000"/>
                    <a:lumOff val="50000"/>
                  </a:schemeClr>
                </a:solidFill>
              </a:rPr>
              <a:t>Re-exposure</a:t>
            </a:r>
          </a:p>
          <a:p>
            <a:r>
              <a:rPr lang="en-US" sz="1800" dirty="0" smtClean="0"/>
              <a:t>FSB Roundtable </a:t>
            </a:r>
          </a:p>
          <a:p>
            <a:r>
              <a:rPr lang="en-US" sz="1800" dirty="0" smtClean="0"/>
              <a:t>Basel Committee</a:t>
            </a:r>
          </a:p>
          <a:p>
            <a:pPr marL="171450" lvl="1" indent="0">
              <a:buNone/>
            </a:pPr>
            <a:endParaRPr lang="en-US" sz="1650" dirty="0"/>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702340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SMPC Letter</a:t>
            </a:r>
            <a:endParaRPr lang="en-US" dirty="0"/>
          </a:p>
        </p:txBody>
      </p:sp>
      <p:sp>
        <p:nvSpPr>
          <p:cNvPr id="3" name="Content Placeholder 2"/>
          <p:cNvSpPr>
            <a:spLocks noGrp="1"/>
          </p:cNvSpPr>
          <p:nvPr>
            <p:ph idx="1"/>
          </p:nvPr>
        </p:nvSpPr>
        <p:spPr>
          <a:xfrm>
            <a:off x="457199" y="1046747"/>
            <a:ext cx="8590547" cy="3693695"/>
          </a:xfrm>
        </p:spPr>
        <p:txBody>
          <a:bodyPr/>
          <a:lstStyle/>
          <a:p>
            <a:r>
              <a:rPr lang="en-US" sz="1800" dirty="0"/>
              <a:t>Concerns about scalability </a:t>
            </a:r>
            <a:r>
              <a:rPr lang="en-US" sz="1800" dirty="0" smtClean="0"/>
              <a:t>of the standard</a:t>
            </a:r>
            <a:endParaRPr lang="en-US" sz="1800" dirty="0"/>
          </a:p>
          <a:p>
            <a:pPr lvl="1"/>
            <a:r>
              <a:rPr lang="en-US" sz="1600" dirty="0" smtClean="0">
                <a:solidFill>
                  <a:schemeClr val="tx1">
                    <a:lumMod val="50000"/>
                    <a:lumOff val="50000"/>
                  </a:schemeClr>
                </a:solidFill>
              </a:rPr>
              <a:t>Risk assessment (paragraph 12)</a:t>
            </a:r>
            <a:endParaRPr lang="en-US" sz="1600" dirty="0">
              <a:solidFill>
                <a:schemeClr val="tx1">
                  <a:lumMod val="50000"/>
                  <a:lumOff val="50000"/>
                </a:schemeClr>
              </a:solidFill>
            </a:endParaRPr>
          </a:p>
          <a:p>
            <a:pPr lvl="2"/>
            <a:r>
              <a:rPr lang="en-US" sz="1400" dirty="0" smtClean="0"/>
              <a:t>Introductory sentence: </a:t>
            </a:r>
            <a:r>
              <a:rPr lang="en-US" sz="1400" dirty="0"/>
              <a:t>prefers ‘to the degree relevant in the circumstances” over “to the </a:t>
            </a:r>
            <a:r>
              <a:rPr lang="en-US" sz="1400" dirty="0" smtClean="0"/>
              <a:t>extent </a:t>
            </a:r>
            <a:r>
              <a:rPr lang="en-US" sz="1400" dirty="0"/>
              <a:t>necessary”</a:t>
            </a:r>
          </a:p>
          <a:p>
            <a:pPr lvl="2"/>
            <a:r>
              <a:rPr lang="en-US" sz="1400" dirty="0" smtClean="0"/>
              <a:t>Clarify expectation for accounting estimates with a low inherent risk</a:t>
            </a:r>
            <a:endParaRPr lang="en-US" sz="1400" dirty="0"/>
          </a:p>
          <a:p>
            <a:pPr lvl="1"/>
            <a:r>
              <a:rPr lang="en-US" sz="1600" dirty="0">
                <a:solidFill>
                  <a:schemeClr val="tx1">
                    <a:lumMod val="50000"/>
                    <a:lumOff val="50000"/>
                  </a:schemeClr>
                </a:solidFill>
              </a:rPr>
              <a:t>Response to the assessed </a:t>
            </a:r>
            <a:r>
              <a:rPr lang="en-US" sz="1600" dirty="0" err="1" smtClean="0">
                <a:solidFill>
                  <a:schemeClr val="tx1">
                    <a:lumMod val="50000"/>
                    <a:lumOff val="50000"/>
                  </a:schemeClr>
                </a:solidFill>
              </a:rPr>
              <a:t>RoMM</a:t>
            </a:r>
            <a:endParaRPr lang="en-US" sz="1600" dirty="0">
              <a:solidFill>
                <a:schemeClr val="tx1">
                  <a:lumMod val="50000"/>
                  <a:lumOff val="50000"/>
                </a:schemeClr>
              </a:solidFill>
            </a:endParaRPr>
          </a:p>
          <a:p>
            <a:pPr lvl="2"/>
            <a:r>
              <a:rPr lang="en-US" sz="1400" dirty="0" smtClean="0"/>
              <a:t>When </a:t>
            </a:r>
            <a:r>
              <a:rPr lang="en-US" sz="1400" dirty="0"/>
              <a:t>testing how management made the accounting </a:t>
            </a:r>
            <a:r>
              <a:rPr lang="en-US" sz="1400" dirty="0" smtClean="0"/>
              <a:t>estimate, or </a:t>
            </a:r>
            <a:r>
              <a:rPr lang="en-US" sz="1400" dirty="0"/>
              <a:t>develop an auditor’s point estimate or range, </a:t>
            </a:r>
            <a:r>
              <a:rPr lang="en-US" sz="1400" dirty="0" smtClean="0"/>
              <a:t>the required procedures are </a:t>
            </a:r>
            <a:r>
              <a:rPr lang="en-US" sz="1400" dirty="0"/>
              <a:t>disproportionate for simple accounting </a:t>
            </a:r>
            <a:r>
              <a:rPr lang="en-US" sz="1400" dirty="0" smtClean="0"/>
              <a:t>estimates</a:t>
            </a:r>
            <a:endParaRPr lang="en-US" sz="1400" dirty="0"/>
          </a:p>
          <a:p>
            <a:pPr marL="129779" lvl="1" indent="-129779">
              <a:spcBef>
                <a:spcPts val="900"/>
              </a:spcBef>
              <a:buFont typeface="Arial"/>
              <a:buChar char="•"/>
            </a:pPr>
            <a:r>
              <a:rPr lang="en-US" sz="1800" dirty="0" smtClean="0"/>
              <a:t>Effective date: Supportive </a:t>
            </a:r>
            <a:r>
              <a:rPr lang="en-US" sz="1800" dirty="0" smtClean="0"/>
              <a:t>of </a:t>
            </a:r>
            <a:r>
              <a:rPr lang="en-US" sz="1800" dirty="0" smtClean="0"/>
              <a:t>years beginning on or after </a:t>
            </a:r>
            <a:r>
              <a:rPr lang="en-US" sz="1800" dirty="0" smtClean="0"/>
              <a:t>December 15, </a:t>
            </a:r>
            <a:r>
              <a:rPr lang="en-US" sz="1800" dirty="0" smtClean="0"/>
              <a:t>2019 </a:t>
            </a:r>
            <a:r>
              <a:rPr lang="en-US" sz="1800" dirty="0" smtClean="0"/>
              <a:t>(with early adoption permitted</a:t>
            </a:r>
            <a:r>
              <a:rPr lang="en-US" sz="1800" dirty="0" smtClean="0"/>
              <a:t>)</a:t>
            </a:r>
            <a:endParaRPr lang="en-US" sz="1800" dirty="0" smtClean="0"/>
          </a:p>
          <a:p>
            <a:pPr marL="129779" lvl="1" indent="-129779">
              <a:spcBef>
                <a:spcPts val="900"/>
              </a:spcBef>
              <a:buFont typeface="Arial"/>
              <a:buChar char="•"/>
            </a:pPr>
            <a:r>
              <a:rPr lang="en-US" sz="1800" dirty="0" smtClean="0"/>
              <a:t>Supportive of implementation working group</a:t>
            </a:r>
          </a:p>
          <a:p>
            <a:pPr lvl="1"/>
            <a:r>
              <a:rPr lang="en-US" sz="1600" dirty="0">
                <a:solidFill>
                  <a:schemeClr val="tx1">
                    <a:lumMod val="50000"/>
                    <a:lumOff val="50000"/>
                  </a:schemeClr>
                </a:solidFill>
              </a:rPr>
              <a:t>Development of examples to illustrate scalability</a:t>
            </a:r>
          </a:p>
          <a:p>
            <a:pPr lvl="1">
              <a:buFontTx/>
              <a:buChar char="-"/>
            </a:pPr>
            <a:endParaRPr lang="en-US" sz="1450" dirty="0" smtClean="0">
              <a:solidFill>
                <a:schemeClr val="tx1">
                  <a:lumMod val="50000"/>
                  <a:lumOff val="50000"/>
                </a:schemeClr>
              </a:solidFill>
            </a:endParaRPr>
          </a:p>
          <a:p>
            <a:pPr marL="171450" lvl="1" indent="0">
              <a:buNone/>
            </a:pPr>
            <a:endParaRPr lang="en-US" sz="1450" dirty="0">
              <a:solidFill>
                <a:schemeClr val="tx1">
                  <a:lumMod val="50000"/>
                  <a:lumOff val="50000"/>
                </a:schemeClr>
              </a:solidFill>
            </a:endParaRPr>
          </a:p>
        </p:txBody>
      </p:sp>
      <p:sp>
        <p:nvSpPr>
          <p:cNvPr id="4" name="Slide Number Placeholder 3"/>
          <p:cNvSpPr>
            <a:spLocks noGrp="1"/>
          </p:cNvSpPr>
          <p:nvPr>
            <p:ph type="sldNum" sz="quarter" idx="12"/>
          </p:nvPr>
        </p:nvSpPr>
        <p:spPr/>
        <p:txBody>
          <a:bodyPr/>
          <a:lstStyle/>
          <a:p>
            <a:r>
              <a:rPr lang="en-US"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306070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7D7E3CC-06D2-404E-840A-00E467A92620}"/>
              </a:ext>
            </a:extLst>
          </p:cNvPr>
          <p:cNvSpPr>
            <a:spLocks noGrp="1"/>
          </p:cNvSpPr>
          <p:nvPr>
            <p:ph type="title"/>
          </p:nvPr>
        </p:nvSpPr>
        <p:spPr/>
        <p:txBody>
          <a:bodyPr/>
          <a:lstStyle/>
          <a:p>
            <a:r>
              <a:rPr lang="en-US" dirty="0"/>
              <a:t>Approach to IAASB Discussion</a:t>
            </a:r>
          </a:p>
        </p:txBody>
      </p:sp>
      <p:sp>
        <p:nvSpPr>
          <p:cNvPr id="3" name="Content Placeholder 2">
            <a:extLst>
              <a:ext uri="{FF2B5EF4-FFF2-40B4-BE49-F238E27FC236}">
                <a16:creationId xmlns="" xmlns:a16="http://schemas.microsoft.com/office/drawing/2014/main" id="{B27B6E78-DAF6-489C-80D3-A6EBE2246A57}"/>
              </a:ext>
            </a:extLst>
          </p:cNvPr>
          <p:cNvSpPr>
            <a:spLocks noGrp="1"/>
          </p:cNvSpPr>
          <p:nvPr>
            <p:ph idx="1"/>
          </p:nvPr>
        </p:nvSpPr>
        <p:spPr>
          <a:xfrm>
            <a:off x="457199" y="995680"/>
            <a:ext cx="8632613" cy="3780251"/>
          </a:xfrm>
        </p:spPr>
        <p:txBody>
          <a:bodyPr/>
          <a:lstStyle/>
          <a:p>
            <a:r>
              <a:rPr lang="en-US" sz="1800" dirty="0"/>
              <a:t>Walk through of ISA 540 (Revised) (</a:t>
            </a:r>
            <a:r>
              <a:rPr lang="en-US" sz="1800" b="1" dirty="0"/>
              <a:t>Agenda Item 2-B</a:t>
            </a:r>
            <a:r>
              <a:rPr lang="en-US" sz="1800" dirty="0"/>
              <a:t>)</a:t>
            </a:r>
          </a:p>
          <a:p>
            <a:r>
              <a:rPr lang="en-US" sz="1800" dirty="0"/>
              <a:t>Matter for IAASB Consideration #1 on professional skepticism (</a:t>
            </a:r>
            <a:r>
              <a:rPr lang="en-US" sz="1800" b="1" dirty="0"/>
              <a:t>Agenda Item 2</a:t>
            </a:r>
            <a:r>
              <a:rPr lang="en-US" sz="1800" dirty="0"/>
              <a:t> – section 2)</a:t>
            </a:r>
          </a:p>
          <a:p>
            <a:r>
              <a:rPr lang="en-US" sz="1800" dirty="0"/>
              <a:t>Walk through of the conforming and consequential amendments (</a:t>
            </a:r>
            <a:r>
              <a:rPr lang="en-US" sz="1800" b="1" dirty="0"/>
              <a:t>Agenda Item 2-D.1</a:t>
            </a:r>
            <a:r>
              <a:rPr lang="en-US" sz="1800" dirty="0"/>
              <a:t>)</a:t>
            </a:r>
          </a:p>
          <a:p>
            <a:r>
              <a:rPr lang="en-US" sz="1800" dirty="0"/>
              <a:t>Matters for IAASB consideration #2 and #3 on the effective date (</a:t>
            </a:r>
            <a:r>
              <a:rPr lang="en-US" sz="1800" b="1" dirty="0"/>
              <a:t>Agenda Item 2 </a:t>
            </a:r>
            <a:r>
              <a:rPr lang="en-US" sz="1800" dirty="0"/>
              <a:t>– section 3)</a:t>
            </a:r>
          </a:p>
        </p:txBody>
      </p:sp>
      <p:sp>
        <p:nvSpPr>
          <p:cNvPr id="4" name="Slide Number Placeholder 3">
            <a:extLst>
              <a:ext uri="{FF2B5EF4-FFF2-40B4-BE49-F238E27FC236}">
                <a16:creationId xmlns="" xmlns:a16="http://schemas.microsoft.com/office/drawing/2014/main" id="{A157026F-F516-42CC-8044-6902CB3A58C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507002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B5E0647F-A2A0-487C-AA18-B13F9B461C8B}"/>
              </a:ext>
            </a:extLst>
          </p:cNvPr>
          <p:cNvSpPr>
            <a:spLocks noGrp="1"/>
          </p:cNvSpPr>
          <p:nvPr>
            <p:ph type="ctrTitle"/>
          </p:nvPr>
        </p:nvSpPr>
        <p:spPr/>
        <p:txBody>
          <a:bodyPr>
            <a:normAutofit/>
          </a:bodyPr>
          <a:lstStyle/>
          <a:p>
            <a:r>
              <a:rPr lang="en-US" dirty="0">
                <a:solidFill>
                  <a:srgbClr val="808080"/>
                </a:solidFill>
                <a:ea typeface="+mn-ea"/>
              </a:rPr>
              <a:t>Summary of Significant Changes to ISA 540 (Revised)</a:t>
            </a:r>
          </a:p>
        </p:txBody>
      </p:sp>
      <p:sp>
        <p:nvSpPr>
          <p:cNvPr id="4" name="Slide Number Placeholder 3">
            <a:extLst>
              <a:ext uri="{FF2B5EF4-FFF2-40B4-BE49-F238E27FC236}">
                <a16:creationId xmlns="" xmlns:a16="http://schemas.microsoft.com/office/drawing/2014/main" id="{6EDFD2EB-07AD-4283-8EAF-E1CEE0C19939}"/>
              </a:ext>
            </a:extLst>
          </p:cNvPr>
          <p:cNvSpPr>
            <a:spLocks noGrp="1"/>
          </p:cNvSpPr>
          <p:nvPr>
            <p:ph type="sldNum" sz="quarter" idx="4294967295"/>
          </p:nvPr>
        </p:nvSpPr>
        <p:spPr>
          <a:xfrm>
            <a:off x="6386513" y="4883150"/>
            <a:ext cx="2757487" cy="228600"/>
          </a:xfrm>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937045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Objective and Definitions</a:t>
            </a:r>
          </a:p>
        </p:txBody>
      </p:sp>
      <p:sp>
        <p:nvSpPr>
          <p:cNvPr id="3" name="Content Placeholder 2"/>
          <p:cNvSpPr>
            <a:spLocks noGrp="1"/>
          </p:cNvSpPr>
          <p:nvPr>
            <p:ph idx="1"/>
          </p:nvPr>
        </p:nvSpPr>
        <p:spPr>
          <a:xfrm>
            <a:off x="457200" y="1016877"/>
            <a:ext cx="8686800" cy="3535388"/>
          </a:xfrm>
        </p:spPr>
        <p:txBody>
          <a:bodyPr/>
          <a:lstStyle/>
          <a:p>
            <a:r>
              <a:rPr lang="en-US" sz="1800" dirty="0"/>
              <a:t>Introduction</a:t>
            </a:r>
          </a:p>
          <a:p>
            <a:pPr lvl="1"/>
            <a:r>
              <a:rPr lang="en-US" sz="1600" dirty="0"/>
              <a:t>Further aligned with the work of ISA 315 Task Force (paragraphs 3, 4 and 7)</a:t>
            </a:r>
          </a:p>
          <a:p>
            <a:pPr lvl="1"/>
            <a:r>
              <a:rPr lang="en-US" sz="1600" dirty="0"/>
              <a:t>Updated based on April 24, 2018 teleconference </a:t>
            </a:r>
          </a:p>
          <a:p>
            <a:pPr lvl="2"/>
            <a:r>
              <a:rPr lang="en-US" sz="1400" dirty="0"/>
              <a:t>Paragraph 2 has been clarified </a:t>
            </a:r>
          </a:p>
          <a:p>
            <a:pPr lvl="2"/>
            <a:r>
              <a:rPr lang="en-US" sz="1400" dirty="0"/>
              <a:t>Former paragraph A1R relocated to paragraph 5</a:t>
            </a:r>
          </a:p>
          <a:p>
            <a:pPr marL="129779" lvl="1" indent="-129779">
              <a:spcBef>
                <a:spcPts val="900"/>
              </a:spcBef>
              <a:buFont typeface="Arial"/>
              <a:buChar char="•"/>
            </a:pPr>
            <a:r>
              <a:rPr lang="en-US" sz="1800" dirty="0"/>
              <a:t>Objective</a:t>
            </a:r>
          </a:p>
          <a:p>
            <a:pPr lvl="1"/>
            <a:r>
              <a:rPr lang="en-US" sz="1600" dirty="0"/>
              <a:t>No changes</a:t>
            </a:r>
          </a:p>
          <a:p>
            <a:pPr marL="129779" lvl="1" indent="-129779">
              <a:spcBef>
                <a:spcPts val="900"/>
              </a:spcBef>
              <a:buFont typeface="Arial"/>
              <a:buChar char="•"/>
            </a:pPr>
            <a:r>
              <a:rPr lang="en-US" sz="1800" dirty="0"/>
              <a:t>Definitions</a:t>
            </a:r>
          </a:p>
          <a:p>
            <a:pPr marL="171450" lvl="1" indent="0">
              <a:buNone/>
            </a:pPr>
            <a:r>
              <a:rPr lang="en-US" dirty="0"/>
              <a:t>- </a:t>
            </a:r>
            <a:r>
              <a:rPr lang="en-US" sz="1600" dirty="0"/>
              <a:t>Minor changes to the definition of an accounting estimate</a:t>
            </a:r>
          </a:p>
          <a:p>
            <a:endParaRPr lang="en-US" dirty="0"/>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067385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Assessment and Related Activities</a:t>
            </a:r>
          </a:p>
        </p:txBody>
      </p:sp>
      <p:sp>
        <p:nvSpPr>
          <p:cNvPr id="3" name="Content Placeholder 2"/>
          <p:cNvSpPr>
            <a:spLocks noGrp="1"/>
          </p:cNvSpPr>
          <p:nvPr>
            <p:ph idx="1"/>
          </p:nvPr>
        </p:nvSpPr>
        <p:spPr>
          <a:xfrm>
            <a:off x="365761" y="969383"/>
            <a:ext cx="8690186" cy="3775841"/>
          </a:xfrm>
        </p:spPr>
        <p:txBody>
          <a:bodyPr/>
          <a:lstStyle/>
          <a:p>
            <a:r>
              <a:rPr lang="en-US" sz="1800" dirty="0"/>
              <a:t>Paragraph 12</a:t>
            </a:r>
          </a:p>
          <a:p>
            <a:pPr lvl="1"/>
            <a:r>
              <a:rPr lang="en-US" sz="1600" dirty="0"/>
              <a:t>Changed lead-in wording to drive scalability </a:t>
            </a:r>
          </a:p>
          <a:p>
            <a:pPr lvl="2"/>
            <a:r>
              <a:rPr lang="en-US" sz="1400" dirty="0"/>
              <a:t>Emphasis shifted from varying the extent of the understanding to varying the extent of the risk assessment procedures to obtain the understanding</a:t>
            </a:r>
            <a:endParaRPr lang="en-US" sz="1400" dirty="0">
              <a:solidFill>
                <a:srgbClr val="FF0000"/>
              </a:solidFill>
            </a:endParaRPr>
          </a:p>
          <a:p>
            <a:pPr lvl="1"/>
            <a:r>
              <a:rPr lang="en-US" sz="1600" dirty="0"/>
              <a:t>Clarified subparagraph 12(g)</a:t>
            </a:r>
          </a:p>
          <a:p>
            <a:pPr lvl="2"/>
            <a:r>
              <a:rPr lang="en-US" sz="1400" dirty="0"/>
              <a:t> Understanding the entity’s risk assessment process may assist the auditor in understanding the effects of the IR factors</a:t>
            </a:r>
          </a:p>
          <a:p>
            <a:pPr lvl="1"/>
            <a:r>
              <a:rPr lang="en-US" sz="1600" dirty="0"/>
              <a:t>Clarified subparagraph 12(h) based on April 24, 2018 teleconference</a:t>
            </a:r>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646813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and Assessing the </a:t>
            </a:r>
            <a:r>
              <a:rPr lang="en-US" dirty="0" err="1"/>
              <a:t>RoMM</a:t>
            </a:r>
            <a:endParaRPr lang="en-US" dirty="0"/>
          </a:p>
        </p:txBody>
      </p:sp>
      <p:sp>
        <p:nvSpPr>
          <p:cNvPr id="3" name="Content Placeholder 2"/>
          <p:cNvSpPr>
            <a:spLocks noGrp="1"/>
          </p:cNvSpPr>
          <p:nvPr>
            <p:ph idx="1"/>
          </p:nvPr>
        </p:nvSpPr>
        <p:spPr>
          <a:xfrm>
            <a:off x="457200" y="1056641"/>
            <a:ext cx="8632613" cy="3332188"/>
          </a:xfrm>
        </p:spPr>
        <p:txBody>
          <a:bodyPr/>
          <a:lstStyle/>
          <a:p>
            <a:r>
              <a:rPr lang="en-US" sz="1800" dirty="0"/>
              <a:t>Paragraph 15</a:t>
            </a:r>
          </a:p>
          <a:p>
            <a:pPr lvl="1"/>
            <a:r>
              <a:rPr lang="en-US" sz="1600" dirty="0"/>
              <a:t>Application material added to</a:t>
            </a:r>
          </a:p>
          <a:p>
            <a:pPr lvl="2"/>
            <a:r>
              <a:rPr lang="en-US" sz="1400" dirty="0"/>
              <a:t>Explain how the auditor can assess control risk as well as the relationship between control risk and control reliance (paragraph A70)</a:t>
            </a:r>
          </a:p>
          <a:p>
            <a:pPr lvl="2"/>
            <a:r>
              <a:rPr lang="en-US" sz="1400" dirty="0"/>
              <a:t>Clarify the link between the inherent risk factors and the determination of whether any of the risks of material misstatement are a significant risk (paragraph A78)</a:t>
            </a:r>
          </a:p>
          <a:p>
            <a:pPr lvl="1"/>
            <a:r>
              <a:rPr lang="en-US" sz="1600" dirty="0"/>
              <a:t>Paragraphs A74, A75, A76 were enhanced to clarify that </a:t>
            </a:r>
            <a:r>
              <a:rPr lang="en-US" sz="1600" dirty="0" smtClean="0"/>
              <a:t>the </a:t>
            </a:r>
            <a:r>
              <a:rPr lang="en-US" sz="1600" dirty="0"/>
              <a:t>inherent risk factors </a:t>
            </a:r>
            <a:r>
              <a:rPr lang="en-US" sz="1600" dirty="0" smtClean="0"/>
              <a:t>are taken into account in assessing inherent risk (but not </a:t>
            </a:r>
            <a:r>
              <a:rPr lang="en-US" sz="1600" dirty="0"/>
              <a:t>control risk)</a:t>
            </a:r>
          </a:p>
          <a:p>
            <a:pPr marL="129779" lvl="1" indent="-129779">
              <a:spcBef>
                <a:spcPts val="900"/>
              </a:spcBef>
              <a:buFont typeface="Arial"/>
              <a:buChar char="•"/>
            </a:pPr>
            <a:r>
              <a:rPr lang="en-US" sz="1800" dirty="0"/>
              <a:t>Paragraph 16</a:t>
            </a:r>
          </a:p>
          <a:p>
            <a:pPr lvl="1"/>
            <a:r>
              <a:rPr lang="en-US" sz="1600" dirty="0"/>
              <a:t>Application material added to explain ‘obtain an understanding of the entity’s controls’, as included in paragraph 16 (paragraph A79)</a:t>
            </a:r>
          </a:p>
          <a:p>
            <a:pPr lvl="1"/>
            <a:endParaRPr lang="en-US" sz="1600" dirty="0"/>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4266299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Responses to the Assessed </a:t>
            </a:r>
            <a:r>
              <a:rPr lang="en-US" dirty="0" err="1"/>
              <a:t>RoMM</a:t>
            </a:r>
            <a:endParaRPr lang="en-US" dirty="0"/>
          </a:p>
        </p:txBody>
      </p:sp>
      <p:sp>
        <p:nvSpPr>
          <p:cNvPr id="3" name="Content Placeholder 2"/>
          <p:cNvSpPr>
            <a:spLocks noGrp="1"/>
          </p:cNvSpPr>
          <p:nvPr>
            <p:ph idx="1"/>
          </p:nvPr>
        </p:nvSpPr>
        <p:spPr>
          <a:xfrm>
            <a:off x="467066" y="1058261"/>
            <a:ext cx="8634761" cy="3743984"/>
          </a:xfrm>
        </p:spPr>
        <p:txBody>
          <a:bodyPr/>
          <a:lstStyle/>
          <a:p>
            <a:r>
              <a:rPr lang="en-US" sz="1800" dirty="0"/>
              <a:t>Paragraph 17</a:t>
            </a:r>
          </a:p>
          <a:p>
            <a:pPr lvl="1"/>
            <a:r>
              <a:rPr lang="en-US" sz="1600" dirty="0"/>
              <a:t>Shortened and clarified the descriptions of the testing approaches</a:t>
            </a:r>
          </a:p>
          <a:p>
            <a:pPr lvl="1"/>
            <a:r>
              <a:rPr lang="en-US" sz="1600" dirty="0"/>
              <a:t>Updated the last sentence based on April 24, 2018 teleconference and added application material (paragraph A82) to explain that it is not the intent for the auditor to do an exhaustive search to identify all possible source of audit evidence</a:t>
            </a:r>
          </a:p>
          <a:p>
            <a:pPr marL="129779" lvl="1" indent="-129779">
              <a:spcBef>
                <a:spcPts val="900"/>
              </a:spcBef>
              <a:buFont typeface="Arial"/>
              <a:buChar char="•"/>
            </a:pPr>
            <a:r>
              <a:rPr lang="en-US" sz="1800" dirty="0"/>
              <a:t>Paragraphs 18 and 19</a:t>
            </a:r>
          </a:p>
          <a:p>
            <a:pPr lvl="1"/>
            <a:r>
              <a:rPr lang="en-US" sz="1600" dirty="0"/>
              <a:t>Aligned with ISA 330</a:t>
            </a:r>
          </a:p>
          <a:p>
            <a:pPr lvl="1"/>
            <a:r>
              <a:rPr lang="en-US" sz="1600" dirty="0"/>
              <a:t>Added application material (paragraph A85) to signal the importance of testing the design, implementation and effectiveness of controls when inherent risk is assessed as higher on the spectrum of inherent risk</a:t>
            </a:r>
          </a:p>
        </p:txBody>
      </p:sp>
      <p:sp>
        <p:nvSpPr>
          <p:cNvPr id="4" name="Slide Number Placeholder 3"/>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75692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Responses to the Assessed </a:t>
            </a:r>
            <a:r>
              <a:rPr lang="en-US" dirty="0" err="1"/>
              <a:t>RoMM</a:t>
            </a:r>
            <a:r>
              <a:rPr lang="en-US" dirty="0"/>
              <a:t> (cont’d)</a:t>
            </a:r>
          </a:p>
        </p:txBody>
      </p:sp>
      <p:sp>
        <p:nvSpPr>
          <p:cNvPr id="3" name="Content Placeholder 2"/>
          <p:cNvSpPr>
            <a:spLocks noGrp="1"/>
          </p:cNvSpPr>
          <p:nvPr>
            <p:ph idx="1"/>
          </p:nvPr>
        </p:nvSpPr>
        <p:spPr>
          <a:xfrm>
            <a:off x="457200" y="949554"/>
            <a:ext cx="8584324" cy="3933741"/>
          </a:xfrm>
        </p:spPr>
        <p:txBody>
          <a:bodyPr/>
          <a:lstStyle/>
          <a:p>
            <a:r>
              <a:rPr lang="en-US" sz="1800" dirty="0"/>
              <a:t>Paragraph 20</a:t>
            </a:r>
          </a:p>
          <a:p>
            <a:pPr lvl="1"/>
            <a:r>
              <a:rPr lang="en-US" sz="1600" dirty="0"/>
              <a:t>Aligned wording with paragraph 17</a:t>
            </a:r>
          </a:p>
          <a:p>
            <a:pPr lvl="1"/>
            <a:r>
              <a:rPr lang="en-US" sz="1600" dirty="0"/>
              <a:t>Changed ‘shall evaluate’ to ‘shall consider’</a:t>
            </a:r>
          </a:p>
          <a:p>
            <a:pPr lvl="2"/>
            <a:r>
              <a:rPr lang="en-US" sz="1400" dirty="0"/>
              <a:t>The responses to the assessed </a:t>
            </a:r>
            <a:r>
              <a:rPr lang="en-US" sz="1400" dirty="0" err="1"/>
              <a:t>RoMM</a:t>
            </a:r>
            <a:r>
              <a:rPr lang="en-US" sz="1400" dirty="0"/>
              <a:t> (paragraphs 17-29) are about obtaining audit evidence, while the evaluation is done later (paragraphs 32-34)</a:t>
            </a:r>
          </a:p>
          <a:p>
            <a:pPr marL="129779" lvl="1" indent="-129779">
              <a:spcBef>
                <a:spcPts val="900"/>
              </a:spcBef>
              <a:buFont typeface="Arial"/>
              <a:buChar char="•"/>
            </a:pPr>
            <a:r>
              <a:rPr lang="en-US" sz="1800" dirty="0"/>
              <a:t>Paragraph 21</a:t>
            </a:r>
          </a:p>
          <a:p>
            <a:pPr lvl="1"/>
            <a:r>
              <a:rPr lang="en-US" sz="1600" dirty="0"/>
              <a:t>Aligned wording with paragraph 17</a:t>
            </a:r>
          </a:p>
          <a:p>
            <a:pPr lvl="1"/>
            <a:r>
              <a:rPr lang="en-US" sz="1600" dirty="0"/>
              <a:t>Changed the introductory wording </a:t>
            </a:r>
          </a:p>
          <a:p>
            <a:pPr lvl="2"/>
            <a:r>
              <a:rPr lang="en-US" sz="1400" dirty="0"/>
              <a:t>Done to highlight that further audit procedures are designed and performed to obtain sufficient appropriate audit evidence to address the risks of material misstatement</a:t>
            </a:r>
          </a:p>
          <a:p>
            <a:pPr lvl="2"/>
            <a:r>
              <a:rPr lang="en-US" sz="1400" dirty="0"/>
              <a:t>Introductory sentence to paragraphs 22, 23, 24 and 30 changed to “shall address” to highlight that the further audit procedures need to address certain matters </a:t>
            </a:r>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280939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Responses to the Assessed </a:t>
            </a:r>
            <a:r>
              <a:rPr lang="en-US" dirty="0" err="1"/>
              <a:t>RoMM</a:t>
            </a:r>
            <a:r>
              <a:rPr lang="en-US" dirty="0"/>
              <a:t> (cont’d)</a:t>
            </a:r>
          </a:p>
        </p:txBody>
      </p:sp>
      <p:sp>
        <p:nvSpPr>
          <p:cNvPr id="3" name="Content Placeholder 2"/>
          <p:cNvSpPr>
            <a:spLocks noGrp="1"/>
          </p:cNvSpPr>
          <p:nvPr>
            <p:ph idx="1"/>
          </p:nvPr>
        </p:nvSpPr>
        <p:spPr>
          <a:xfrm>
            <a:off x="457200" y="949554"/>
            <a:ext cx="8584324" cy="3933741"/>
          </a:xfrm>
        </p:spPr>
        <p:txBody>
          <a:bodyPr/>
          <a:lstStyle/>
          <a:p>
            <a:pPr marL="129779" lvl="1" indent="-129779">
              <a:spcBef>
                <a:spcPts val="900"/>
              </a:spcBef>
              <a:buFont typeface="Arial"/>
              <a:buChar char="•"/>
            </a:pPr>
            <a:r>
              <a:rPr lang="en-US" sz="1800" dirty="0"/>
              <a:t>Paragraph 23</a:t>
            </a:r>
          </a:p>
          <a:p>
            <a:pPr lvl="1"/>
            <a:r>
              <a:rPr lang="en-US" sz="1600" dirty="0"/>
              <a:t>Changed ‘to the extent such assumptions are known to the auditor’ to ‘based on the auditor’s knowledge obtained in the audit’</a:t>
            </a:r>
          </a:p>
          <a:p>
            <a:pPr lvl="2"/>
            <a:r>
              <a:rPr lang="en-US" sz="1400" dirty="0"/>
              <a:t>Similar to construct used in ISA 720 (Revised)</a:t>
            </a:r>
          </a:p>
          <a:p>
            <a:pPr lvl="1"/>
            <a:r>
              <a:rPr lang="en-US" sz="1600" dirty="0"/>
              <a:t>Deleted the second part of paragraph 23(d) – application material sufficiently addresses the point</a:t>
            </a:r>
          </a:p>
          <a:p>
            <a:pPr lvl="1"/>
            <a:r>
              <a:rPr lang="en-US" sz="1600" dirty="0"/>
              <a:t>Added application material to explain what is meant by ‘related assumptions used in other areas of the entity’s business activities’ (paragraph A108)</a:t>
            </a:r>
          </a:p>
          <a:p>
            <a:pPr marL="129779" lvl="1" indent="-129779">
              <a:spcBef>
                <a:spcPts val="900"/>
              </a:spcBef>
              <a:buFont typeface="Arial"/>
              <a:buChar char="•"/>
            </a:pPr>
            <a:r>
              <a:rPr lang="en-US" sz="1800" dirty="0"/>
              <a:t>Paragraph 24</a:t>
            </a:r>
          </a:p>
          <a:p>
            <a:pPr lvl="1"/>
            <a:r>
              <a:rPr lang="en-US" sz="1600" dirty="0"/>
              <a:t>Added application material which refers to ISA 500 to further explain what is meant by ‘relevant and reliable’ (paragraph A114)</a:t>
            </a:r>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697248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Responses to the Assessed </a:t>
            </a:r>
            <a:r>
              <a:rPr lang="en-US" dirty="0" err="1"/>
              <a:t>RoMM</a:t>
            </a:r>
            <a:r>
              <a:rPr lang="en-US" dirty="0"/>
              <a:t> (cont’d)</a:t>
            </a:r>
          </a:p>
        </p:txBody>
      </p:sp>
      <p:sp>
        <p:nvSpPr>
          <p:cNvPr id="3" name="Content Placeholder 2"/>
          <p:cNvSpPr>
            <a:spLocks noGrp="1"/>
          </p:cNvSpPr>
          <p:nvPr>
            <p:ph idx="1"/>
          </p:nvPr>
        </p:nvSpPr>
        <p:spPr>
          <a:xfrm>
            <a:off x="457200" y="949554"/>
            <a:ext cx="8584324" cy="3933741"/>
          </a:xfrm>
        </p:spPr>
        <p:txBody>
          <a:bodyPr/>
          <a:lstStyle/>
          <a:p>
            <a:pPr marL="129779" lvl="1" indent="-129779">
              <a:spcBef>
                <a:spcPts val="900"/>
              </a:spcBef>
              <a:buFont typeface="Arial"/>
              <a:buChar char="•"/>
            </a:pPr>
            <a:r>
              <a:rPr lang="en-US" sz="1800" dirty="0"/>
              <a:t>Paragraphs 27 and 28</a:t>
            </a:r>
          </a:p>
          <a:p>
            <a:pPr lvl="1"/>
            <a:r>
              <a:rPr lang="en-US" sz="1600" dirty="0"/>
              <a:t>Revised paragraph 27 into a single paragraph based on April 24, 2018 teleconference</a:t>
            </a:r>
          </a:p>
          <a:p>
            <a:pPr lvl="2"/>
            <a:r>
              <a:rPr lang="en-US" sz="1450" dirty="0"/>
              <a:t>Clarified that the intent of the requirement is for the auditor to include further audit procedures to evaluate whether the methods, assumptions and data used in making the accounting estimates are appropriate in the context of the applicable financial accounting framework</a:t>
            </a:r>
          </a:p>
          <a:p>
            <a:pPr lvl="1"/>
            <a:r>
              <a:rPr lang="en-US" sz="1600" dirty="0"/>
              <a:t>Paragraph 28(b) has been revised to be consistent with the wording in paragraphs 17 and 21 as described above</a:t>
            </a:r>
          </a:p>
          <a:p>
            <a:pPr marL="129779" lvl="1" indent="-129779">
              <a:spcBef>
                <a:spcPts val="900"/>
              </a:spcBef>
              <a:buFont typeface="Arial"/>
              <a:buChar char="•"/>
            </a:pPr>
            <a:r>
              <a:rPr lang="en-US" sz="1800" dirty="0"/>
              <a:t>Paragraph 29</a:t>
            </a:r>
          </a:p>
          <a:p>
            <a:pPr lvl="1"/>
            <a:r>
              <a:rPr lang="en-US" sz="1600" dirty="0"/>
              <a:t>Included reference to paragraphs 20-28, to clarify that this paragraph is applicable regardless of the testing approach selected</a:t>
            </a:r>
          </a:p>
          <a:p>
            <a:pPr lvl="2"/>
            <a:r>
              <a:rPr lang="en-US" sz="1450" dirty="0"/>
              <a:t>Deleted paragraph A134A, which conveyed a similar message</a:t>
            </a:r>
          </a:p>
          <a:p>
            <a:pPr lvl="1"/>
            <a:r>
              <a:rPr lang="en-US" sz="1600" dirty="0"/>
              <a:t>Added A129 to clarify that assumptions, data and methods that were made or identified by a management’s expert become management’s when used by management</a:t>
            </a:r>
          </a:p>
          <a:p>
            <a:pPr lvl="1"/>
            <a:endParaRPr lang="en-US" sz="1600" dirty="0"/>
          </a:p>
          <a:p>
            <a:pPr lvl="1"/>
            <a:endParaRPr lang="en-US" sz="1600" dirty="0"/>
          </a:p>
          <a:p>
            <a:pPr lvl="2"/>
            <a:endParaRPr lang="en-US" sz="1450" dirty="0"/>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105019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Requirements </a:t>
            </a:r>
          </a:p>
        </p:txBody>
      </p:sp>
      <p:sp>
        <p:nvSpPr>
          <p:cNvPr id="3" name="Content Placeholder 2"/>
          <p:cNvSpPr>
            <a:spLocks noGrp="1"/>
          </p:cNvSpPr>
          <p:nvPr>
            <p:ph idx="1"/>
          </p:nvPr>
        </p:nvSpPr>
        <p:spPr>
          <a:xfrm>
            <a:off x="386255" y="936046"/>
            <a:ext cx="8734097" cy="3842514"/>
          </a:xfrm>
        </p:spPr>
        <p:txBody>
          <a:bodyPr/>
          <a:lstStyle/>
          <a:p>
            <a:r>
              <a:rPr lang="en-US" sz="1800" dirty="0"/>
              <a:t>Disclosures: Explained the interactions between paragraph 25, 30 and 34 in application material (paragraph A130)</a:t>
            </a:r>
          </a:p>
          <a:p>
            <a:r>
              <a:rPr lang="en-US" sz="1800" dirty="0"/>
              <a:t>Stand-back</a:t>
            </a:r>
          </a:p>
          <a:p>
            <a:pPr lvl="1"/>
            <a:r>
              <a:rPr lang="en-US" sz="1600" dirty="0"/>
              <a:t>Clarified paragraph 34 by referring to “each class of transactions, account balance, or disclosure that includes an accounting estimate”</a:t>
            </a:r>
          </a:p>
          <a:p>
            <a:pPr lvl="2"/>
            <a:r>
              <a:rPr lang="en-US" sz="1400" dirty="0"/>
              <a:t>Added paragraph A138 to clarify that the determination in paragraph 34 is done at the assertion level </a:t>
            </a:r>
          </a:p>
          <a:p>
            <a:r>
              <a:rPr lang="en-US" sz="1800" dirty="0"/>
              <a:t>Documentation</a:t>
            </a:r>
          </a:p>
          <a:p>
            <a:pPr lvl="1"/>
            <a:r>
              <a:rPr lang="en-US" sz="1600" dirty="0"/>
              <a:t>Simplified the construct of the requirement by specifying what needs to be included in the audit documentation for accounting estimates, in addition to what is required by ISA 230</a:t>
            </a:r>
          </a:p>
          <a:p>
            <a:pPr lvl="1"/>
            <a:r>
              <a:rPr lang="en-US" sz="1600" dirty="0"/>
              <a:t>Aligned paragraph 37(b) more closely to ISA 330 and added AM to explain the requirement</a:t>
            </a:r>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667991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B5E0647F-A2A0-487C-AA18-B13F9B461C8B}"/>
              </a:ext>
            </a:extLst>
          </p:cNvPr>
          <p:cNvSpPr>
            <a:spLocks noGrp="1"/>
          </p:cNvSpPr>
          <p:nvPr>
            <p:ph type="ctrTitle"/>
          </p:nvPr>
        </p:nvSpPr>
        <p:spPr/>
        <p:txBody>
          <a:bodyPr/>
          <a:lstStyle/>
          <a:p>
            <a:r>
              <a:rPr lang="en-US" dirty="0"/>
              <a:t>Professional Skepticism </a:t>
            </a:r>
          </a:p>
        </p:txBody>
      </p:sp>
      <p:sp>
        <p:nvSpPr>
          <p:cNvPr id="4" name="Slide Number Placeholder 3">
            <a:extLst>
              <a:ext uri="{FF2B5EF4-FFF2-40B4-BE49-F238E27FC236}">
                <a16:creationId xmlns="" xmlns:a16="http://schemas.microsoft.com/office/drawing/2014/main" id="{6EDFD2EB-07AD-4283-8EAF-E1CEE0C19939}"/>
              </a:ext>
            </a:extLst>
          </p:cNvPr>
          <p:cNvSpPr>
            <a:spLocks noGrp="1"/>
          </p:cNvSpPr>
          <p:nvPr>
            <p:ph type="sldNum" sz="quarter" idx="4294967295"/>
          </p:nvPr>
        </p:nvSpPr>
        <p:spPr>
          <a:xfrm>
            <a:off x="6386513" y="4883150"/>
            <a:ext cx="2757487" cy="228600"/>
          </a:xfrm>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856302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Professional Skepticism</a:t>
            </a:r>
          </a:p>
        </p:txBody>
      </p:sp>
      <p:sp>
        <p:nvSpPr>
          <p:cNvPr id="3" name="Content Placeholder 2"/>
          <p:cNvSpPr>
            <a:spLocks noGrp="1"/>
          </p:cNvSpPr>
          <p:nvPr>
            <p:ph idx="1"/>
          </p:nvPr>
        </p:nvSpPr>
        <p:spPr>
          <a:xfrm>
            <a:off x="457200" y="1043093"/>
            <a:ext cx="8605520" cy="3345735"/>
          </a:xfrm>
        </p:spPr>
        <p:txBody>
          <a:bodyPr/>
          <a:lstStyle/>
          <a:p>
            <a:pPr marL="129779" lvl="1" indent="-129779">
              <a:spcBef>
                <a:spcPts val="900"/>
              </a:spcBef>
              <a:buFont typeface="Arial"/>
              <a:buChar char="•"/>
            </a:pPr>
            <a:r>
              <a:rPr lang="en-US" sz="1800" dirty="0"/>
              <a:t>Task Force has used stronger wording (i.e., question or challenge) in application material to drive appropriate auditor behavior in the audit of accounting estimates, including the exercise of professional skepticism</a:t>
            </a:r>
          </a:p>
          <a:p>
            <a:pPr lvl="1"/>
            <a:r>
              <a:rPr lang="en-US" sz="1600" dirty="0"/>
              <a:t>Retrospective review (</a:t>
            </a:r>
            <a:r>
              <a:rPr lang="en-US" sz="1600" dirty="0"/>
              <a:t>Paragraph A59)</a:t>
            </a:r>
          </a:p>
          <a:p>
            <a:pPr lvl="1"/>
            <a:r>
              <a:rPr lang="en-US" sz="1600" dirty="0"/>
              <a:t>Significant assumptions (Paragraph A97)</a:t>
            </a:r>
          </a:p>
          <a:p>
            <a:pPr lvl="1"/>
            <a:r>
              <a:rPr lang="en-US" sz="1600" dirty="0"/>
              <a:t>Management bias (Paragraph </a:t>
            </a:r>
            <a:r>
              <a:rPr lang="en-US" sz="1600" dirty="0"/>
              <a:t>A133)</a:t>
            </a:r>
            <a:endParaRPr lang="en-US" sz="1600" dirty="0"/>
          </a:p>
          <a:p>
            <a:pPr lvl="1"/>
            <a:r>
              <a:rPr lang="en-US" sz="1600" dirty="0"/>
              <a:t>Overall evaluation based on audit procedures performed (</a:t>
            </a:r>
            <a:r>
              <a:rPr lang="en-US" sz="1600" dirty="0"/>
              <a:t>A135 </a:t>
            </a:r>
            <a:r>
              <a:rPr lang="en-US" sz="1600" dirty="0"/>
              <a:t>and </a:t>
            </a:r>
            <a:r>
              <a:rPr lang="en-US" sz="1600" dirty="0"/>
              <a:t>A139)</a:t>
            </a:r>
            <a:endParaRPr lang="en-US" sz="1600" dirty="0"/>
          </a:p>
          <a:p>
            <a:pPr marL="129779" lvl="1" indent="-129779">
              <a:spcBef>
                <a:spcPts val="900"/>
              </a:spcBef>
              <a:buFont typeface="Arial"/>
              <a:buChar char="•"/>
            </a:pPr>
            <a:r>
              <a:rPr lang="en-US" sz="1800" dirty="0"/>
              <a:t>Changed the last sentence of paragraph 17 based on April 24, 2018 teleconference and added application material (paragraph A82) to explain that the auditor is not meant to do an exhaustive search to identify all possible source of audit evidence</a:t>
            </a:r>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4269958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Matters for IAASB Consideration</a:t>
            </a:r>
          </a:p>
        </p:txBody>
      </p:sp>
      <p:sp>
        <p:nvSpPr>
          <p:cNvPr id="3" name="Content Placeholder 2"/>
          <p:cNvSpPr>
            <a:spLocks noGrp="1"/>
          </p:cNvSpPr>
          <p:nvPr>
            <p:ph idx="1"/>
          </p:nvPr>
        </p:nvSpPr>
        <p:spPr>
          <a:xfrm>
            <a:off x="457199" y="1200151"/>
            <a:ext cx="8632613" cy="3515912"/>
          </a:xfrm>
        </p:spPr>
        <p:txBody>
          <a:bodyPr/>
          <a:lstStyle/>
          <a:p>
            <a:pPr marL="457200" indent="-457200">
              <a:buFont typeface="+mj-lt"/>
              <a:buAutoNum type="arabicPeriod"/>
            </a:pPr>
            <a:r>
              <a:rPr lang="en-US" sz="2400" dirty="0"/>
              <a:t>The IAASB is asked whether it supports the changes made to enhance the exercise of professional skepticism</a:t>
            </a:r>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17</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892030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B5E0647F-A2A0-487C-AA18-B13F9B461C8B}"/>
              </a:ext>
            </a:extLst>
          </p:cNvPr>
          <p:cNvSpPr>
            <a:spLocks noGrp="1"/>
          </p:cNvSpPr>
          <p:nvPr>
            <p:ph type="ctrTitle"/>
          </p:nvPr>
        </p:nvSpPr>
        <p:spPr/>
        <p:txBody>
          <a:bodyPr/>
          <a:lstStyle/>
          <a:p>
            <a:r>
              <a:rPr lang="en-US" dirty="0"/>
              <a:t>Proposed Conforming and Consequential Amendments</a:t>
            </a:r>
          </a:p>
        </p:txBody>
      </p:sp>
      <p:sp>
        <p:nvSpPr>
          <p:cNvPr id="4" name="Slide Number Placeholder 3">
            <a:extLst>
              <a:ext uri="{FF2B5EF4-FFF2-40B4-BE49-F238E27FC236}">
                <a16:creationId xmlns="" xmlns:a16="http://schemas.microsoft.com/office/drawing/2014/main" id="{6EDFD2EB-07AD-4283-8EAF-E1CEE0C19939}"/>
              </a:ext>
            </a:extLst>
          </p:cNvPr>
          <p:cNvSpPr>
            <a:spLocks noGrp="1"/>
          </p:cNvSpPr>
          <p:nvPr>
            <p:ph type="sldNum" sz="quarter" idx="4294967295"/>
          </p:nvPr>
        </p:nvSpPr>
        <p:spPr>
          <a:xfrm>
            <a:off x="6386513" y="4883150"/>
            <a:ext cx="2757487" cy="228600"/>
          </a:xfrm>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4248978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Matters – Conforming and Consequential Amendments</a:t>
            </a:r>
          </a:p>
        </p:txBody>
      </p:sp>
      <p:sp>
        <p:nvSpPr>
          <p:cNvPr id="3" name="Content Placeholder 2"/>
          <p:cNvSpPr>
            <a:spLocks noGrp="1"/>
          </p:cNvSpPr>
          <p:nvPr>
            <p:ph idx="1"/>
          </p:nvPr>
        </p:nvSpPr>
        <p:spPr>
          <a:xfrm>
            <a:off x="457200" y="996809"/>
            <a:ext cx="8229600" cy="3308890"/>
          </a:xfrm>
        </p:spPr>
        <p:txBody>
          <a:bodyPr/>
          <a:lstStyle/>
          <a:p>
            <a:r>
              <a:rPr lang="en-US" sz="1800" dirty="0"/>
              <a:t>ISA 500 </a:t>
            </a:r>
          </a:p>
          <a:p>
            <a:pPr lvl="1"/>
            <a:r>
              <a:rPr lang="en-US" sz="1600" dirty="0"/>
              <a:t>Paragraph A33A: Included a reference to management’s expert’s potential use of an external information source</a:t>
            </a:r>
          </a:p>
          <a:p>
            <a:pPr lvl="1"/>
            <a:r>
              <a:rPr lang="en-US" sz="1600" dirty="0"/>
              <a:t>Paragraph A33F: Reordered sentences to improve </a:t>
            </a:r>
            <a:r>
              <a:rPr lang="en-US" sz="1600" dirty="0" smtClean="0"/>
              <a:t>readability. Included </a:t>
            </a:r>
            <a:r>
              <a:rPr lang="en-US" sz="1600" dirty="0"/>
              <a:t>reference to ISA 315 (Revised) to reflect that the bullets are not solely about responding to risk </a:t>
            </a:r>
            <a:r>
              <a:rPr lang="en-US" sz="1600" dirty="0" smtClean="0"/>
              <a:t>but are also about </a:t>
            </a:r>
            <a:r>
              <a:rPr lang="en-US" sz="1600" dirty="0"/>
              <a:t>obtaining an understanding of the design and implementation of controls</a:t>
            </a:r>
          </a:p>
          <a:p>
            <a:pPr lvl="1"/>
            <a:r>
              <a:rPr lang="en-US" sz="1600" dirty="0"/>
              <a:t>Paragraph A33H: Reordered the two examples to address the more common example first and also to improve the flow into paragraph A33Ga</a:t>
            </a:r>
          </a:p>
        </p:txBody>
      </p:sp>
      <p:sp>
        <p:nvSpPr>
          <p:cNvPr id="4" name="Slide Number Placeholder 3"/>
          <p:cNvSpPr>
            <a:spLocks noGrp="1"/>
          </p:cNvSpPr>
          <p:nvPr>
            <p:ph type="sldNum" sz="quarter" idx="12"/>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808080"/>
                </a:solidFill>
                <a:effectLst/>
                <a:uLnTx/>
                <a:uFillTx/>
                <a:latin typeface="Arial" panose="020B0604020202020204" pitchFamily="34" charset="0"/>
                <a:ea typeface="+mn-ea"/>
                <a:cs typeface="MS PGothic" charset="0"/>
              </a:rPr>
              <a:t>Page </a:t>
            </a:r>
            <a:fld id="{95158037-59F0-9C4B-B231-1C776117AADA}" type="slidenum">
              <a:rPr kumimoji="0" lang="en-US" sz="675" b="0" i="0" u="none" strike="noStrike" kern="1200" cap="none" spc="0" normalizeH="0" baseline="0" noProof="0" smtClean="0">
                <a:ln>
                  <a:noFill/>
                </a:ln>
                <a:solidFill>
                  <a:srgbClr val="808080"/>
                </a:solidFill>
                <a:effectLst/>
                <a:uLnTx/>
                <a:uFillTx/>
                <a:latin typeface="Arial" panose="020B0604020202020204" pitchFamily="34" charset="0"/>
                <a:ea typeface="+mn-ea"/>
                <a:cs typeface="Arial" panose="020B0604020202020204" pitchFamily="34" charset="0"/>
              </a:rPr>
              <a:pPr marL="0" marR="0" lvl="0" indent="0" algn="r" defTabSz="342900" rtl="0" eaLnBrk="1" fontAlgn="auto" latinLnBrk="0" hangingPunct="1">
                <a:lnSpc>
                  <a:spcPct val="100000"/>
                </a:lnSpc>
                <a:spcBef>
                  <a:spcPts val="0"/>
                </a:spcBef>
                <a:spcAft>
                  <a:spcPts val="0"/>
                </a:spcAft>
                <a:buClrTx/>
                <a:buSzTx/>
                <a:buFontTx/>
                <a:buNone/>
                <a:tabLst/>
                <a:defRPr/>
              </a:pPr>
              <a:t>19</a:t>
            </a:fld>
            <a:endParaRPr kumimoji="0" lang="en-US" sz="675" b="0" i="0" u="none" strike="noStrike" kern="1200" cap="none" spc="0" normalizeH="0" baseline="0" noProof="0" dirty="0">
              <a:ln>
                <a:noFill/>
              </a:ln>
              <a:solidFill>
                <a:srgbClr val="808080"/>
              </a:solidFill>
              <a:effectLst/>
              <a:uLnTx/>
              <a:uFillTx/>
              <a:latin typeface="Arial" panose="020B0604020202020204" pitchFamily="34" charset="0"/>
              <a:ea typeface="+mn-ea"/>
              <a:cs typeface="MS PGothic" charset="0"/>
            </a:endParaRPr>
          </a:p>
        </p:txBody>
      </p:sp>
    </p:spTree>
    <p:extLst>
      <p:ext uri="{BB962C8B-B14F-4D97-AF65-F5344CB8AC3E}">
        <p14:creationId xmlns:p14="http://schemas.microsoft.com/office/powerpoint/2010/main" val="3702021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B5E0647F-A2A0-487C-AA18-B13F9B461C8B}"/>
              </a:ext>
            </a:extLst>
          </p:cNvPr>
          <p:cNvSpPr>
            <a:spLocks noGrp="1"/>
          </p:cNvSpPr>
          <p:nvPr>
            <p:ph type="ctrTitle"/>
          </p:nvPr>
        </p:nvSpPr>
        <p:spPr/>
        <p:txBody>
          <a:bodyPr/>
          <a:lstStyle/>
          <a:p>
            <a:r>
              <a:rPr lang="en-US" dirty="0"/>
              <a:t>Effective Date</a:t>
            </a:r>
          </a:p>
        </p:txBody>
      </p:sp>
      <p:sp>
        <p:nvSpPr>
          <p:cNvPr id="4" name="Slide Number Placeholder 3">
            <a:extLst>
              <a:ext uri="{FF2B5EF4-FFF2-40B4-BE49-F238E27FC236}">
                <a16:creationId xmlns="" xmlns:a16="http://schemas.microsoft.com/office/drawing/2014/main" id="{6EDFD2EB-07AD-4283-8EAF-E1CEE0C19939}"/>
              </a:ext>
            </a:extLst>
          </p:cNvPr>
          <p:cNvSpPr>
            <a:spLocks noGrp="1"/>
          </p:cNvSpPr>
          <p:nvPr>
            <p:ph type="sldNum" sz="quarter" idx="4294967295"/>
          </p:nvPr>
        </p:nvSpPr>
        <p:spPr>
          <a:xfrm>
            <a:off x="6386513" y="4883150"/>
            <a:ext cx="2757487" cy="228600"/>
          </a:xfrm>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20</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311290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Date</a:t>
            </a:r>
          </a:p>
        </p:txBody>
      </p:sp>
      <p:sp>
        <p:nvSpPr>
          <p:cNvPr id="3" name="Content Placeholder 2"/>
          <p:cNvSpPr>
            <a:spLocks noGrp="1"/>
          </p:cNvSpPr>
          <p:nvPr>
            <p:ph idx="1"/>
          </p:nvPr>
        </p:nvSpPr>
        <p:spPr>
          <a:xfrm>
            <a:off x="457199" y="1113503"/>
            <a:ext cx="8568814" cy="3275325"/>
          </a:xfrm>
        </p:spPr>
        <p:txBody>
          <a:bodyPr/>
          <a:lstStyle/>
          <a:p>
            <a:r>
              <a:rPr lang="en-US" sz="1800" dirty="0"/>
              <a:t>Task Force had mixed views on the effective date</a:t>
            </a:r>
          </a:p>
          <a:p>
            <a:r>
              <a:rPr lang="en-US" sz="1800" dirty="0"/>
              <a:t>Some TF members supported an effective date for audits beginning on or after December 15, 2019 (i.e., calendar 2020)</a:t>
            </a:r>
          </a:p>
          <a:p>
            <a:pPr lvl="1"/>
            <a:r>
              <a:rPr lang="en-US" sz="1600" dirty="0"/>
              <a:t> Assuming Board approval at this meeting, earlier effective date would provide 6 to 10 months for implementation of the standard, before commencement of planning for larger engagements. Implementation period depends on whether firms await PIOB consideration of approval, scheduled for </a:t>
            </a:r>
            <a:r>
              <a:rPr lang="en-US" sz="1600" dirty="0" smtClean="0"/>
              <a:t>September. </a:t>
            </a:r>
            <a:endParaRPr lang="en-US" sz="1600" dirty="0"/>
          </a:p>
          <a:p>
            <a:pPr lvl="2"/>
            <a:r>
              <a:rPr lang="en-US" sz="1400" dirty="0"/>
              <a:t>Firms need time to update their methodologies and audit tools, develop training materials, and train their staff</a:t>
            </a:r>
          </a:p>
          <a:p>
            <a:pPr lvl="2"/>
            <a:r>
              <a:rPr lang="en-US" sz="1400" dirty="0"/>
              <a:t>Third-party providers of audit software for smaller practitioners need time to update the software and supporting materials</a:t>
            </a:r>
          </a:p>
          <a:p>
            <a:pPr lvl="2"/>
            <a:r>
              <a:rPr lang="en-US" sz="1400" dirty="0"/>
              <a:t>Some national auditing standard setters need time to translate the standard</a:t>
            </a:r>
          </a:p>
          <a:p>
            <a:endParaRPr lang="en-US" dirty="0"/>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21</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4218370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Date</a:t>
            </a:r>
          </a:p>
        </p:txBody>
      </p:sp>
      <p:sp>
        <p:nvSpPr>
          <p:cNvPr id="3" name="Content Placeholder 2"/>
          <p:cNvSpPr>
            <a:spLocks noGrp="1"/>
          </p:cNvSpPr>
          <p:nvPr>
            <p:ph idx="1"/>
          </p:nvPr>
        </p:nvSpPr>
        <p:spPr>
          <a:xfrm>
            <a:off x="457199" y="1200151"/>
            <a:ext cx="8583561" cy="3188677"/>
          </a:xfrm>
        </p:spPr>
        <p:txBody>
          <a:bodyPr/>
          <a:lstStyle/>
          <a:p>
            <a:r>
              <a:rPr lang="en-US" sz="1800" dirty="0"/>
              <a:t>Other TF members </a:t>
            </a:r>
            <a:r>
              <a:rPr lang="en-US" sz="1800" dirty="0" smtClean="0"/>
              <a:t>were </a:t>
            </a:r>
            <a:r>
              <a:rPr lang="en-US" sz="1800" dirty="0"/>
              <a:t>in favor of an effective date for audits beginning on or after December 15, 2018 (i.e., calendar 2019)</a:t>
            </a:r>
          </a:p>
          <a:p>
            <a:pPr lvl="1"/>
            <a:r>
              <a:rPr lang="en-US" sz="1600" dirty="0"/>
              <a:t>Given the significant number of inspection findings related to accounting estimates, it is in the public interest for the standard to be effective as soon as possible</a:t>
            </a:r>
          </a:p>
          <a:p>
            <a:pPr lvl="1"/>
            <a:r>
              <a:rPr lang="en-US" sz="1600" dirty="0"/>
              <a:t>Financial institutions’ regulators have been urging the IAASB to have a revised auditing standard on accounting </a:t>
            </a:r>
            <a:r>
              <a:rPr lang="en-US" sz="1600" dirty="0" smtClean="0"/>
              <a:t>estimates closer to </a:t>
            </a:r>
            <a:r>
              <a:rPr lang="en-US" sz="1600" dirty="0"/>
              <a:t>when IFRS 9 becomes effective </a:t>
            </a:r>
          </a:p>
          <a:p>
            <a:pPr lvl="1"/>
            <a:r>
              <a:rPr lang="en-US" sz="1600" dirty="0"/>
              <a:t>A majority of the respondents to ED-540 supported an effective date for the standard for financial reporting periods ending approximately 18 months after the approval of a final ISA by the IAASB </a:t>
            </a:r>
          </a:p>
          <a:p>
            <a:pPr marL="0" indent="0">
              <a:buNone/>
            </a:pPr>
            <a:endParaRPr lang="en-US" dirty="0"/>
          </a:p>
        </p:txBody>
      </p:sp>
      <p:sp>
        <p:nvSpPr>
          <p:cNvPr id="4" name="Slide Number Placeholder 3"/>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22</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401497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Matter for IAASB Consideration</a:t>
            </a:r>
          </a:p>
        </p:txBody>
      </p:sp>
      <p:sp>
        <p:nvSpPr>
          <p:cNvPr id="3" name="Content Placeholder 2"/>
          <p:cNvSpPr>
            <a:spLocks noGrp="1"/>
          </p:cNvSpPr>
          <p:nvPr>
            <p:ph idx="1"/>
          </p:nvPr>
        </p:nvSpPr>
        <p:spPr>
          <a:xfrm>
            <a:off x="457200" y="1200151"/>
            <a:ext cx="8229600" cy="3515912"/>
          </a:xfrm>
        </p:spPr>
        <p:txBody>
          <a:bodyPr/>
          <a:lstStyle/>
          <a:p>
            <a:pPr marL="460375" indent="-460375">
              <a:buNone/>
            </a:pPr>
            <a:r>
              <a:rPr lang="en-US" sz="2000" dirty="0"/>
              <a:t>2.	The IAASB is asked for its views and a decision on the most appropriate effective date of ISA 540 (Revised), taking into account the public interest considerations identified</a:t>
            </a:r>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024920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Matter for IAASB Consideration</a:t>
            </a:r>
          </a:p>
        </p:txBody>
      </p:sp>
      <p:sp>
        <p:nvSpPr>
          <p:cNvPr id="3" name="Content Placeholder 2"/>
          <p:cNvSpPr>
            <a:spLocks noGrp="1"/>
          </p:cNvSpPr>
          <p:nvPr>
            <p:ph idx="1"/>
          </p:nvPr>
        </p:nvSpPr>
        <p:spPr/>
        <p:txBody>
          <a:bodyPr/>
          <a:lstStyle/>
          <a:p>
            <a:pPr marL="460375" indent="-460375">
              <a:buNone/>
            </a:pPr>
            <a:r>
              <a:rPr lang="en-US" sz="2000" dirty="0"/>
              <a:t>3. 	The IAASB is asked whether they agree with the Task Force conclusion that the final standard should be effective for audits of periods “beginning on or after” the chosen date</a:t>
            </a:r>
          </a:p>
        </p:txBody>
      </p:sp>
      <p:sp>
        <p:nvSpPr>
          <p:cNvPr id="4" name="Slide Number Placeholder 3"/>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682389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1694917"/>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14549</TotalTime>
  <Words>1673</Words>
  <Application>Microsoft Office PowerPoint</Application>
  <PresentationFormat>On-screen Show (16:9)</PresentationFormat>
  <Paragraphs>164</Paragraphs>
  <Slides>25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MS PGothic</vt:lpstr>
      <vt:lpstr>Arial</vt:lpstr>
      <vt:lpstr>Arial Narrow</vt:lpstr>
      <vt:lpstr>Calibri</vt:lpstr>
      <vt:lpstr>Times New Roman</vt:lpstr>
      <vt:lpstr>Office Theme</vt:lpstr>
      <vt:lpstr>ISA 540 (Revised) </vt:lpstr>
      <vt:lpstr>Outreach</vt:lpstr>
      <vt:lpstr>Outreach</vt:lpstr>
      <vt:lpstr>SMPC Letter</vt:lpstr>
      <vt:lpstr>Approach to IAASB Discussion</vt:lpstr>
      <vt:lpstr>Summary of Significant Changes to ISA 540 (Revised)</vt:lpstr>
      <vt:lpstr>Introduction, Objective and Definitions</vt:lpstr>
      <vt:lpstr>Risk Assessment and Related Activities</vt:lpstr>
      <vt:lpstr>Identifying and Assessing the RoMM</vt:lpstr>
      <vt:lpstr>Responses to the Assessed RoMM</vt:lpstr>
      <vt:lpstr>Responses to the Assessed RoMM (cont’d)</vt:lpstr>
      <vt:lpstr>Responses to the Assessed RoMM (cont’d)</vt:lpstr>
      <vt:lpstr>Responses to the Assessed RoMM (cont’d)</vt:lpstr>
      <vt:lpstr>Other Requirements </vt:lpstr>
      <vt:lpstr>Professional Skepticism </vt:lpstr>
      <vt:lpstr>Professional Skepticism</vt:lpstr>
      <vt:lpstr>Matters for IAASB Consideration</vt:lpstr>
      <vt:lpstr>Proposed Conforming and Consequential Amendments</vt:lpstr>
      <vt:lpstr>Other Matters – Conforming and Consequential Amendments</vt:lpstr>
      <vt:lpstr>Effective Date</vt:lpstr>
      <vt:lpstr>Effective Date</vt:lpstr>
      <vt:lpstr>Effective Date</vt:lpstr>
      <vt:lpstr>Matter for IAASB Consideration</vt:lpstr>
      <vt:lpstr>Matter for IAASB Consideration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Jasper van den Hout</cp:lastModifiedBy>
  <cp:revision>481</cp:revision>
  <cp:lastPrinted>2018-06-12T12:22:59Z</cp:lastPrinted>
  <dcterms:created xsi:type="dcterms:W3CDTF">2016-11-09T14:56:20Z</dcterms:created>
  <dcterms:modified xsi:type="dcterms:W3CDTF">2018-06-18T02:47:24Z</dcterms:modified>
</cp:coreProperties>
</file>