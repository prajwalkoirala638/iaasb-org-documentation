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5"/>
  </p:notesMasterIdLst>
  <p:handoutMasterIdLst>
    <p:handoutMasterId r:id="rId16"/>
  </p:handoutMasterIdLst>
  <p:sldIdLst>
    <p:sldId id="256" r:id="rId2"/>
    <p:sldId id="426" r:id="rId3"/>
    <p:sldId id="427" r:id="rId4"/>
    <p:sldId id="429" r:id="rId5"/>
    <p:sldId id="430" r:id="rId6"/>
    <p:sldId id="428" r:id="rId7"/>
    <p:sldId id="431" r:id="rId8"/>
    <p:sldId id="432" r:id="rId9"/>
    <p:sldId id="436" r:id="rId10"/>
    <p:sldId id="433" r:id="rId11"/>
    <p:sldId id="434" r:id="rId12"/>
    <p:sldId id="435" r:id="rId13"/>
    <p:sldId id="259" r:id="rId14"/>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Megan Zietsman" initials="MZ" lastIdx="6" clrIdx="2">
    <p:extLst>
      <p:ext uri="{19B8F6BF-5375-455C-9EA6-DF929625EA0E}">
        <p15:presenceInfo xmlns:p15="http://schemas.microsoft.com/office/powerpoint/2012/main" userId="Megan Zietsman" providerId="None"/>
      </p:ext>
    </p:extLst>
  </p:cmAuthor>
  <p:cmAuthor id="4" name="Beverley Bahlmann" initials="BB" lastIdx="1" clrIdx="3">
    <p:extLst>
      <p:ext uri="{19B8F6BF-5375-455C-9EA6-DF929625EA0E}">
        <p15:presenceInfo xmlns:p15="http://schemas.microsoft.com/office/powerpoint/2012/main" userId="S-1-5-21-1801674531-1972579041-839522115-4280" providerId="AD"/>
      </p:ext>
    </p:extLst>
  </p:cmAuthor>
  <p:cmAuthor id="5" name="Dan Montgomery" initials="DM" lastIdx="22" clrIdx="4">
    <p:extLst>
      <p:ext uri="{19B8F6BF-5375-455C-9EA6-DF929625EA0E}">
        <p15:presenceInfo xmlns:p15="http://schemas.microsoft.com/office/powerpoint/2012/main" userId="8ba5e3d143c5e0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00CC66"/>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16" autoAdjust="0"/>
    <p:restoredTop sz="75333" autoAdjust="0"/>
  </p:normalViewPr>
  <p:slideViewPr>
    <p:cSldViewPr snapToGrid="0" snapToObjects="1">
      <p:cViewPr varScale="1">
        <p:scale>
          <a:sx n="109" d="100"/>
          <a:sy n="109" d="100"/>
        </p:scale>
        <p:origin x="682" y="91"/>
      </p:cViewPr>
      <p:guideLst>
        <p:guide orient="horz" pos="1620"/>
        <p:guide pos="2880"/>
      </p:guideLst>
    </p:cSldViewPr>
  </p:slideViewPr>
  <p:outlineViewPr>
    <p:cViewPr>
      <p:scale>
        <a:sx n="66" d="100"/>
        <a:sy n="66" d="100"/>
      </p:scale>
      <p:origin x="0" y="0"/>
    </p:cViewPr>
  </p:outlineViewPr>
  <p:notesTextViewPr>
    <p:cViewPr>
      <p:scale>
        <a:sx n="3" d="2"/>
        <a:sy n="3" d="2"/>
      </p:scale>
      <p:origin x="0" y="0"/>
    </p:cViewPr>
  </p:notesTextViewPr>
  <p:sorterViewPr>
    <p:cViewPr>
      <p:scale>
        <a:sx n="201" d="100"/>
        <a:sy n="201" d="100"/>
      </p:scale>
      <p:origin x="0" y="0"/>
    </p:cViewPr>
  </p:sorterViewPr>
  <p:notesViewPr>
    <p:cSldViewPr snapToGrid="0" snapToObjects="1">
      <p:cViewPr varScale="1">
        <p:scale>
          <a:sx n="88" d="100"/>
          <a:sy n="88" d="100"/>
        </p:scale>
        <p:origin x="3798"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9/13/2019</a:t>
            </a:fld>
            <a:endParaRPr lang="en-US"/>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9/13/2019</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4D410189-AC31-7546-878A-F48FDE4A29F5}" type="slidenum">
              <a:rPr lang="en-US" smtClean="0"/>
              <a:t>1</a:t>
            </a:fld>
            <a:endParaRPr lang="en-US"/>
          </a:p>
        </p:txBody>
      </p:sp>
    </p:spTree>
    <p:extLst>
      <p:ext uri="{BB962C8B-B14F-4D97-AF65-F5344CB8AC3E}">
        <p14:creationId xmlns:p14="http://schemas.microsoft.com/office/powerpoint/2010/main" val="119454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2</a:t>
            </a:fld>
            <a:endParaRPr lang="en-US" dirty="0">
              <a:solidFill>
                <a:prstClr val="black"/>
              </a:solidFill>
            </a:endParaRPr>
          </a:p>
        </p:txBody>
      </p:sp>
    </p:spTree>
    <p:extLst>
      <p:ext uri="{BB962C8B-B14F-4D97-AF65-F5344CB8AC3E}">
        <p14:creationId xmlns:p14="http://schemas.microsoft.com/office/powerpoint/2010/main" val="1679517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3171856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3122887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2225875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3313550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531839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8</a:t>
            </a:fld>
            <a:endParaRPr lang="en-US" dirty="0">
              <a:solidFill>
                <a:prstClr val="black"/>
              </a:solidFill>
            </a:endParaRPr>
          </a:p>
        </p:txBody>
      </p:sp>
    </p:spTree>
    <p:extLst>
      <p:ext uri="{BB962C8B-B14F-4D97-AF65-F5344CB8AC3E}">
        <p14:creationId xmlns:p14="http://schemas.microsoft.com/office/powerpoint/2010/main" val="169887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1732493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10</a:t>
            </a:fld>
            <a:endParaRPr lang="en-US" dirty="0">
              <a:solidFill>
                <a:prstClr val="black"/>
              </a:solidFill>
            </a:endParaRPr>
          </a:p>
        </p:txBody>
      </p:sp>
    </p:spTree>
    <p:extLst>
      <p:ext uri="{BB962C8B-B14F-4D97-AF65-F5344CB8AC3E}">
        <p14:creationId xmlns:p14="http://schemas.microsoft.com/office/powerpoint/2010/main" val="3539238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2770950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12</a:t>
            </a:fld>
            <a:endParaRPr lang="en-US" dirty="0">
              <a:solidFill>
                <a:prstClr val="black"/>
              </a:solidFill>
            </a:endParaRPr>
          </a:p>
        </p:txBody>
      </p:sp>
    </p:spTree>
    <p:extLst>
      <p:ext uri="{BB962C8B-B14F-4D97-AF65-F5344CB8AC3E}">
        <p14:creationId xmlns:p14="http://schemas.microsoft.com/office/powerpoint/2010/main" val="2218544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410189-AC31-7546-878A-F48FDE4A29F5}" type="slidenum">
              <a:rPr lang="en-US" smtClean="0"/>
              <a:t>13</a:t>
            </a:fld>
            <a:endParaRPr lang="en-US"/>
          </a:p>
        </p:txBody>
      </p:sp>
    </p:spTree>
    <p:extLst>
      <p:ext uri="{BB962C8B-B14F-4D97-AF65-F5344CB8AC3E}">
        <p14:creationId xmlns:p14="http://schemas.microsoft.com/office/powerpoint/2010/main" val="2022118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iaasb.org/" TargetMode="External"/><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hyperlink" Target="mailto:permissions@ifac.org" TargetMode="External"/><Relationship Id="rId5" Type="http://schemas.openxmlformats.org/officeDocument/2006/relationships/image" Target="../media/image7.png"/><Relationship Id="rId10" Type="http://schemas.openxmlformats.org/officeDocument/2006/relationships/hyperlink" Target="http://www.ifac.org/about-ifac/translations-permissions" TargetMode="External"/><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289E18CF-C690-4C5C-8392-CD967FC1C437}" type="datetime1">
              <a:rPr lang="en-US" smtClean="0"/>
              <a:t>9/13/2019</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381534"/>
            <a:ext cx="7893383" cy="1280960"/>
          </a:xfrm>
        </p:spPr>
        <p:txBody>
          <a:bodyPr>
            <a:normAutofit/>
          </a:bodyPr>
          <a:lstStyle/>
          <a:p>
            <a:r>
              <a:rPr lang="en-US" dirty="0"/>
              <a:t>IAASB – IESBA Coordination </a:t>
            </a:r>
            <a:br>
              <a:rPr lang="en-US" dirty="0"/>
            </a:br>
            <a:r>
              <a:rPr lang="en-US" dirty="0"/>
              <a:t>Fees Proposals by IESBA</a:t>
            </a:r>
          </a:p>
        </p:txBody>
      </p:sp>
      <p:sp>
        <p:nvSpPr>
          <p:cNvPr id="6" name="Subtitle 5"/>
          <p:cNvSpPr>
            <a:spLocks noGrp="1"/>
          </p:cNvSpPr>
          <p:nvPr>
            <p:ph type="subTitle" idx="1"/>
          </p:nvPr>
        </p:nvSpPr>
        <p:spPr>
          <a:xfrm>
            <a:off x="685801" y="3603009"/>
            <a:ext cx="5880099" cy="1037565"/>
          </a:xfrm>
        </p:spPr>
        <p:txBody>
          <a:bodyPr/>
          <a:lstStyle/>
          <a:p>
            <a:pPr>
              <a:spcBef>
                <a:spcPts val="0"/>
              </a:spcBef>
            </a:pPr>
            <a:r>
              <a:rPr lang="en-US" sz="1200" dirty="0"/>
              <a:t>Willie Botha (IAASB Technical Director) and Imran Vanker (IAASB Member) </a:t>
            </a:r>
          </a:p>
          <a:p>
            <a:pPr>
              <a:spcBef>
                <a:spcPts val="300"/>
              </a:spcBef>
            </a:pPr>
            <a:r>
              <a:rPr lang="en-US" sz="1200" dirty="0"/>
              <a:t>IAASB Meeting – New York, USA  </a:t>
            </a:r>
          </a:p>
          <a:p>
            <a:pPr>
              <a:spcBef>
                <a:spcPts val="300"/>
              </a:spcBef>
            </a:pPr>
            <a:r>
              <a:rPr lang="en-US" sz="1200" dirty="0"/>
              <a:t>Agenda Item 3</a:t>
            </a:r>
          </a:p>
          <a:p>
            <a:pPr>
              <a:spcBef>
                <a:spcPts val="300"/>
              </a:spcBef>
            </a:pPr>
            <a:r>
              <a:rPr lang="en-US" sz="1200" dirty="0"/>
              <a:t>September 16, 2019</a:t>
            </a:r>
          </a:p>
        </p:txBody>
      </p:sp>
    </p:spTree>
    <p:extLst>
      <p:ext uri="{BB962C8B-B14F-4D97-AF65-F5344CB8AC3E}">
        <p14:creationId xmlns:p14="http://schemas.microsoft.com/office/powerpoint/2010/main" val="4240407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Coordination – Fees Proposals</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2</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636982"/>
            <a:ext cx="8457003" cy="4138218"/>
          </a:xfrm>
        </p:spPr>
        <p:txBody>
          <a:bodyPr/>
          <a:lstStyle/>
          <a:p>
            <a:pPr marL="347454" indent="-347454" algn="just">
              <a:lnSpc>
                <a:spcPts val="1800"/>
              </a:lnSpc>
              <a:spcBef>
                <a:spcPts val="225"/>
              </a:spcBef>
              <a:spcAft>
                <a:spcPts val="225"/>
              </a:spcAft>
              <a:buNone/>
            </a:pPr>
            <a:endParaRPr lang="en-US" sz="400" dirty="0"/>
          </a:p>
          <a:p>
            <a:pPr marL="260597" indent="-260597" algn="just">
              <a:lnSpc>
                <a:spcPts val="2400"/>
              </a:lnSpc>
              <a:spcBef>
                <a:spcPts val="600"/>
              </a:spcBef>
              <a:spcAft>
                <a:spcPts val="225"/>
              </a:spcAft>
              <a:buFont typeface="Arial" panose="020B0604020202020204" pitchFamily="34" charset="0"/>
              <a:buChar char="•"/>
              <a:tabLst>
                <a:tab pos="625445" algn="l"/>
              </a:tabLst>
            </a:pPr>
            <a:r>
              <a:rPr lang="en-US" sz="2400" b="1" dirty="0">
                <a:solidFill>
                  <a:schemeClr val="tx1">
                    <a:lumMod val="65000"/>
                    <a:lumOff val="35000"/>
                  </a:schemeClr>
                </a:solidFill>
              </a:rPr>
              <a:t>IESBA identified two broad matters </a:t>
            </a:r>
            <a:endParaRPr lang="en-US" sz="2000" b="1"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r>
              <a:rPr lang="en-US" sz="1800" dirty="0">
                <a:solidFill>
                  <a:schemeClr val="tx1">
                    <a:lumMod val="65000"/>
                    <a:lumOff val="35000"/>
                  </a:schemeClr>
                </a:solidFill>
              </a:rPr>
              <a:t>Level of audit </a:t>
            </a:r>
            <a:r>
              <a:rPr lang="en-US" sz="1800" dirty="0">
                <a:solidFill>
                  <a:srgbClr val="0070C0"/>
                </a:solidFill>
              </a:rPr>
              <a:t>fees</a:t>
            </a:r>
            <a:r>
              <a:rPr lang="en-US" sz="1800" dirty="0">
                <a:solidFill>
                  <a:schemeClr val="tx1">
                    <a:lumMod val="65000"/>
                    <a:lumOff val="35000"/>
                  </a:schemeClr>
                </a:solidFill>
              </a:rPr>
              <a:t> should not affect</a:t>
            </a:r>
          </a:p>
          <a:p>
            <a:pPr marL="822960" lvl="2" indent="-285750" algn="just">
              <a:lnSpc>
                <a:spcPts val="2200"/>
              </a:lnSpc>
              <a:spcBef>
                <a:spcPts val="0"/>
              </a:spcBef>
              <a:spcAft>
                <a:spcPts val="225"/>
              </a:spcAft>
              <a:buFont typeface="Courier New" panose="02070309020205020404" pitchFamily="49" charset="0"/>
              <a:buChar char="o"/>
              <a:tabLst>
                <a:tab pos="685766" algn="l"/>
              </a:tabLst>
            </a:pPr>
            <a:r>
              <a:rPr lang="en-US" sz="1300" dirty="0">
                <a:solidFill>
                  <a:schemeClr val="tx1">
                    <a:lumMod val="65000"/>
                    <a:lumOff val="35000"/>
                  </a:schemeClr>
                </a:solidFill>
              </a:rPr>
              <a:t>Firm’s ability to perform audit in accordance with professional standards</a:t>
            </a:r>
          </a:p>
          <a:p>
            <a:pPr marL="822960" lvl="2" indent="-285750" algn="just">
              <a:lnSpc>
                <a:spcPts val="2200"/>
              </a:lnSpc>
              <a:spcBef>
                <a:spcPts val="0"/>
              </a:spcBef>
              <a:spcAft>
                <a:spcPts val="225"/>
              </a:spcAft>
              <a:buFont typeface="Courier New" panose="02070309020205020404" pitchFamily="49" charset="0"/>
              <a:buChar char="o"/>
              <a:tabLst>
                <a:tab pos="685766" algn="l"/>
              </a:tabLst>
            </a:pPr>
            <a:r>
              <a:rPr lang="en-US" sz="1300" dirty="0">
                <a:solidFill>
                  <a:schemeClr val="tx1">
                    <a:lumMod val="65000"/>
                    <a:lumOff val="35000"/>
                  </a:schemeClr>
                </a:solidFill>
              </a:rPr>
              <a:t>Assigning sufficient and appropriate resources  </a:t>
            </a: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1800"/>
              </a:spcBef>
              <a:spcAft>
                <a:spcPts val="225"/>
              </a:spcAft>
              <a:buFont typeface="Arial" panose="020B0604020202020204" pitchFamily="34" charset="0"/>
              <a:buChar char="−"/>
              <a:tabLst>
                <a:tab pos="685766" algn="l"/>
              </a:tabLst>
            </a:pPr>
            <a:r>
              <a:rPr lang="en-US" sz="1800" dirty="0">
                <a:solidFill>
                  <a:schemeClr val="tx1">
                    <a:lumMod val="75000"/>
                    <a:lumOff val="25000"/>
                  </a:schemeClr>
                </a:solidFill>
              </a:rPr>
              <a:t>Transparency of information regarding </a:t>
            </a:r>
            <a:r>
              <a:rPr lang="en-US" sz="1800" dirty="0">
                <a:solidFill>
                  <a:srgbClr val="0070C0"/>
                </a:solidFill>
              </a:rPr>
              <a:t>fees</a:t>
            </a:r>
            <a:r>
              <a:rPr lang="en-US" sz="1800" dirty="0">
                <a:solidFill>
                  <a:schemeClr val="tx1">
                    <a:lumMod val="65000"/>
                    <a:lumOff val="35000"/>
                  </a:schemeClr>
                </a:solidFill>
              </a:rPr>
              <a:t> </a:t>
            </a:r>
            <a:r>
              <a:rPr lang="en-US" sz="1800" dirty="0">
                <a:solidFill>
                  <a:schemeClr val="tx1">
                    <a:lumMod val="75000"/>
                    <a:lumOff val="25000"/>
                  </a:schemeClr>
                </a:solidFill>
              </a:rPr>
              <a:t>for audits of </a:t>
            </a:r>
            <a:r>
              <a:rPr lang="en-US" sz="1800" dirty="0">
                <a:solidFill>
                  <a:srgbClr val="0070C0"/>
                </a:solidFill>
              </a:rPr>
              <a:t>PIEs</a:t>
            </a:r>
            <a:endParaRPr lang="en-US" sz="1800" dirty="0">
              <a:solidFill>
                <a:schemeClr val="tx1">
                  <a:lumMod val="75000"/>
                  <a:lumOff val="25000"/>
                </a:schemeClr>
              </a:solidFill>
            </a:endParaRPr>
          </a:p>
          <a:p>
            <a:pPr marL="822960" lvl="2" indent="-285750" algn="just">
              <a:lnSpc>
                <a:spcPts val="2200"/>
              </a:lnSpc>
              <a:spcBef>
                <a:spcPts val="0"/>
              </a:spcBef>
              <a:spcAft>
                <a:spcPts val="225"/>
              </a:spcAft>
              <a:buFont typeface="Courier New" panose="02070309020205020404" pitchFamily="49" charset="0"/>
              <a:buChar char="o"/>
              <a:tabLst>
                <a:tab pos="685766" algn="l"/>
              </a:tabLst>
            </a:pPr>
            <a:r>
              <a:rPr lang="en-US" sz="1300" dirty="0">
                <a:solidFill>
                  <a:schemeClr val="tx1">
                    <a:lumMod val="65000"/>
                    <a:lumOff val="35000"/>
                  </a:schemeClr>
                </a:solidFill>
              </a:rPr>
              <a:t>Communication with TCWG</a:t>
            </a:r>
          </a:p>
          <a:p>
            <a:pPr marL="822960" lvl="2" indent="-285750" algn="just">
              <a:lnSpc>
                <a:spcPts val="2200"/>
              </a:lnSpc>
              <a:spcBef>
                <a:spcPts val="0"/>
              </a:spcBef>
              <a:spcAft>
                <a:spcPts val="225"/>
              </a:spcAft>
              <a:buFont typeface="Courier New" panose="02070309020205020404" pitchFamily="49" charset="0"/>
              <a:buChar char="o"/>
              <a:tabLst>
                <a:tab pos="685766" algn="l"/>
              </a:tabLst>
            </a:pPr>
            <a:r>
              <a:rPr lang="en-US" sz="1300" dirty="0">
                <a:solidFill>
                  <a:schemeClr val="tx1">
                    <a:lumMod val="65000"/>
                    <a:lumOff val="35000"/>
                  </a:schemeClr>
                </a:solidFill>
              </a:rPr>
              <a:t>Public disclosure of fee-related information </a:t>
            </a:r>
            <a:endParaRPr lang="en-US" sz="1600" dirty="0">
              <a:solidFill>
                <a:schemeClr val="tx1">
                  <a:lumMod val="65000"/>
                  <a:lumOff val="35000"/>
                </a:schemeClr>
              </a:solidFill>
            </a:endParaRPr>
          </a:p>
        </p:txBody>
      </p:sp>
      <p:pic>
        <p:nvPicPr>
          <p:cNvPr id="4" name="Picture 3">
            <a:extLst>
              <a:ext uri="{FF2B5EF4-FFF2-40B4-BE49-F238E27FC236}">
                <a16:creationId xmlns:a16="http://schemas.microsoft.com/office/drawing/2014/main" id="{80500C01-E4CE-485D-848F-90A449430E0C}"/>
              </a:ext>
            </a:extLst>
          </p:cNvPr>
          <p:cNvPicPr>
            <a:picLocks noChangeAspect="1"/>
          </p:cNvPicPr>
          <p:nvPr/>
        </p:nvPicPr>
        <p:blipFill>
          <a:blip r:embed="rId3"/>
          <a:stretch>
            <a:fillRect/>
          </a:stretch>
        </p:blipFill>
        <p:spPr>
          <a:xfrm>
            <a:off x="6955467" y="972347"/>
            <a:ext cx="2029071" cy="1256639"/>
          </a:xfrm>
          <a:prstGeom prst="rect">
            <a:avLst/>
          </a:prstGeom>
        </p:spPr>
      </p:pic>
      <p:sp>
        <p:nvSpPr>
          <p:cNvPr id="8" name="Rectangle: Rounded Corners 7">
            <a:extLst>
              <a:ext uri="{FF2B5EF4-FFF2-40B4-BE49-F238E27FC236}">
                <a16:creationId xmlns:a16="http://schemas.microsoft.com/office/drawing/2014/main" id="{6384A844-ED04-4861-B39F-6FA208B5717D}"/>
              </a:ext>
            </a:extLst>
          </p:cNvPr>
          <p:cNvSpPr/>
          <p:nvPr/>
        </p:nvSpPr>
        <p:spPr>
          <a:xfrm>
            <a:off x="761998" y="2365829"/>
            <a:ext cx="5304972" cy="340262"/>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i="1" dirty="0">
                <a:solidFill>
                  <a:schemeClr val="tx1">
                    <a:lumMod val="75000"/>
                    <a:lumOff val="25000"/>
                  </a:schemeClr>
                </a:solidFill>
                <a:latin typeface="Arial" panose="020B0604020202020204" pitchFamily="34" charset="0"/>
                <a:cs typeface="Arial" panose="020B0604020202020204" pitchFamily="34" charset="0"/>
              </a:rPr>
              <a:t>Addressed at Quality Management Task Force level – ongoing</a:t>
            </a:r>
          </a:p>
        </p:txBody>
      </p:sp>
      <p:sp>
        <p:nvSpPr>
          <p:cNvPr id="9" name="Rectangle: Rounded Corners 8">
            <a:extLst>
              <a:ext uri="{FF2B5EF4-FFF2-40B4-BE49-F238E27FC236}">
                <a16:creationId xmlns:a16="http://schemas.microsoft.com/office/drawing/2014/main" id="{32C087C1-589D-4956-B884-E5A28EBDF693}"/>
              </a:ext>
            </a:extLst>
          </p:cNvPr>
          <p:cNvSpPr/>
          <p:nvPr/>
        </p:nvSpPr>
        <p:spPr>
          <a:xfrm>
            <a:off x="761998" y="3870261"/>
            <a:ext cx="5560829" cy="454996"/>
          </a:xfrm>
          <a:prstGeom prst="roundRect">
            <a:avLst/>
          </a:prstGeom>
          <a:solidFill>
            <a:schemeClr val="accent4">
              <a:lumMod val="20000"/>
              <a:lumOff val="80000"/>
            </a:schemeClr>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400" i="1" dirty="0">
                <a:solidFill>
                  <a:schemeClr val="tx1">
                    <a:lumMod val="85000"/>
                    <a:lumOff val="15000"/>
                  </a:schemeClr>
                </a:solidFill>
                <a:latin typeface="Arial" panose="020B0604020202020204" pitchFamily="34" charset="0"/>
                <a:cs typeface="Arial" panose="020B0604020202020204" pitchFamily="34" charset="0"/>
              </a:rPr>
              <a:t>Elevated to Board level for discussion – Sept 2019 IAASB meeting</a:t>
            </a:r>
          </a:p>
        </p:txBody>
      </p:sp>
    </p:spTree>
    <p:extLst>
      <p:ext uri="{BB962C8B-B14F-4D97-AF65-F5344CB8AC3E}">
        <p14:creationId xmlns:p14="http://schemas.microsoft.com/office/powerpoint/2010/main" val="2271797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Communication with TCWG</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3</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1084204"/>
            <a:ext cx="8457003" cy="3631857"/>
          </a:xfrm>
        </p:spPr>
        <p:txBody>
          <a:bodyPr/>
          <a:lstStyle/>
          <a:p>
            <a:pPr marL="347454" indent="-347454" algn="just">
              <a:lnSpc>
                <a:spcPts val="1800"/>
              </a:lnSpc>
              <a:spcBef>
                <a:spcPts val="225"/>
              </a:spcBef>
              <a:spcAft>
                <a:spcPts val="225"/>
              </a:spcAft>
              <a:buNone/>
            </a:pPr>
            <a:endParaRPr lang="en-US" sz="400" dirty="0"/>
          </a:p>
          <a:p>
            <a:pPr marL="260597" indent="-260597" algn="just">
              <a:lnSpc>
                <a:spcPts val="2400"/>
              </a:lnSpc>
              <a:spcBef>
                <a:spcPts val="1800"/>
              </a:spcBef>
              <a:spcAft>
                <a:spcPts val="225"/>
              </a:spcAft>
              <a:buFont typeface="Arial" panose="020B0604020202020204" pitchFamily="34" charset="0"/>
              <a:buChar char="•"/>
              <a:tabLst>
                <a:tab pos="625445" algn="l"/>
              </a:tabLst>
            </a:pPr>
            <a:r>
              <a:rPr lang="en-US" sz="1800" b="1" dirty="0">
                <a:solidFill>
                  <a:schemeClr val="tx1">
                    <a:lumMod val="65000"/>
                    <a:lumOff val="35000"/>
                  </a:schemeClr>
                </a:solidFill>
              </a:rPr>
              <a:t>Communicate with TCWG of an audit client that is a </a:t>
            </a:r>
            <a:r>
              <a:rPr lang="en-US" sz="1800" b="1" dirty="0">
                <a:solidFill>
                  <a:srgbClr val="0070C0"/>
                </a:solidFill>
              </a:rPr>
              <a:t>PIE</a:t>
            </a:r>
            <a:r>
              <a:rPr lang="en-US" sz="1800" b="1" dirty="0">
                <a:solidFill>
                  <a:schemeClr val="tx1">
                    <a:lumMod val="65000"/>
                    <a:lumOff val="35000"/>
                  </a:schemeClr>
                </a:solidFill>
              </a:rPr>
              <a:t>:   </a:t>
            </a:r>
            <a:endParaRPr lang="en-US" sz="2000" b="1" dirty="0">
              <a:solidFill>
                <a:schemeClr val="tx1">
                  <a:lumMod val="65000"/>
                  <a:lumOff val="35000"/>
                </a:schemeClr>
              </a:solidFill>
            </a:endParaRPr>
          </a:p>
          <a:p>
            <a:pPr marL="521195" indent="-260597">
              <a:lnSpc>
                <a:spcPts val="24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Where, for two consecutive years, the total fees from</a:t>
            </a:r>
            <a:br>
              <a:rPr lang="en-US" sz="1600" dirty="0">
                <a:solidFill>
                  <a:schemeClr val="tx1">
                    <a:lumMod val="65000"/>
                    <a:lumOff val="35000"/>
                  </a:schemeClr>
                </a:solidFill>
              </a:rPr>
            </a:br>
            <a:r>
              <a:rPr lang="en-US" sz="1600" dirty="0">
                <a:solidFill>
                  <a:schemeClr val="tx1">
                    <a:lumMod val="65000"/>
                    <a:lumOff val="35000"/>
                  </a:schemeClr>
                </a:solidFill>
              </a:rPr>
              <a:t>client &gt; 15% of total fees of the firm</a:t>
            </a:r>
          </a:p>
          <a:p>
            <a:pPr marL="822960" lvl="1" indent="-285750" algn="just">
              <a:lnSpc>
                <a:spcPts val="2400"/>
              </a:lnSpc>
              <a:spcBef>
                <a:spcPts val="600"/>
              </a:spcBef>
              <a:spcAft>
                <a:spcPts val="225"/>
              </a:spcAft>
              <a:buFont typeface="Courier New" panose="02070309020205020404" pitchFamily="49" charset="0"/>
              <a:buChar char="o"/>
              <a:tabLst>
                <a:tab pos="685766" algn="l"/>
              </a:tabLst>
            </a:pPr>
            <a:r>
              <a:rPr lang="en-US" sz="1450" dirty="0">
                <a:solidFill>
                  <a:schemeClr val="tx1">
                    <a:lumMod val="65000"/>
                    <a:lumOff val="35000"/>
                  </a:schemeClr>
                </a:solidFill>
              </a:rPr>
              <a:t>Disclose to TCWG the fact that such fees &gt; 15% of total fees</a:t>
            </a:r>
          </a:p>
          <a:p>
            <a:pPr marL="822960" lvl="1" indent="-285750" algn="just">
              <a:lnSpc>
                <a:spcPts val="2400"/>
              </a:lnSpc>
              <a:spcBef>
                <a:spcPts val="600"/>
              </a:spcBef>
              <a:spcAft>
                <a:spcPts val="225"/>
              </a:spcAft>
              <a:buFont typeface="Courier New" panose="02070309020205020404" pitchFamily="49" charset="0"/>
              <a:buChar char="o"/>
              <a:tabLst>
                <a:tab pos="685766" algn="l"/>
              </a:tabLst>
            </a:pPr>
            <a:r>
              <a:rPr lang="en-US" sz="1450" dirty="0">
                <a:solidFill>
                  <a:schemeClr val="tx1">
                    <a:lumMod val="65000"/>
                    <a:lumOff val="35000"/>
                  </a:schemeClr>
                </a:solidFill>
              </a:rPr>
              <a:t>…</a:t>
            </a:r>
          </a:p>
          <a:p>
            <a:pPr marL="822960" lvl="1" indent="-285750" algn="just">
              <a:lnSpc>
                <a:spcPts val="2400"/>
              </a:lnSpc>
              <a:spcBef>
                <a:spcPts val="600"/>
              </a:spcBef>
              <a:spcAft>
                <a:spcPts val="225"/>
              </a:spcAft>
              <a:buFont typeface="Courier New" panose="02070309020205020404" pitchFamily="49" charset="0"/>
              <a:buChar char="o"/>
              <a:tabLst>
                <a:tab pos="685766" algn="l"/>
              </a:tabLst>
            </a:pPr>
            <a:endParaRPr lang="en-US" sz="1450" dirty="0">
              <a:solidFill>
                <a:schemeClr val="tx1">
                  <a:lumMod val="65000"/>
                  <a:lumOff val="35000"/>
                </a:schemeClr>
              </a:solidFill>
            </a:endParaRP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p:txBody>
      </p:sp>
      <p:sp>
        <p:nvSpPr>
          <p:cNvPr id="10" name="Rectangle: Rounded Corners 9">
            <a:extLst>
              <a:ext uri="{FF2B5EF4-FFF2-40B4-BE49-F238E27FC236}">
                <a16:creationId xmlns:a16="http://schemas.microsoft.com/office/drawing/2014/main" id="{2EAD87C9-EC4C-4B69-BD9C-BAA3CA3DFC40}"/>
              </a:ext>
            </a:extLst>
          </p:cNvPr>
          <p:cNvSpPr/>
          <p:nvPr/>
        </p:nvSpPr>
        <p:spPr>
          <a:xfrm>
            <a:off x="229799" y="1024188"/>
            <a:ext cx="8123172" cy="403875"/>
          </a:xfrm>
          <a:prstGeom prst="roundRect">
            <a:avLst/>
          </a:prstGeom>
          <a:solidFill>
            <a:schemeClr val="accent2">
              <a:lumMod val="20000"/>
              <a:lumOff val="80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800" b="1" dirty="0">
                <a:solidFill>
                  <a:schemeClr val="tx1">
                    <a:lumMod val="75000"/>
                    <a:lumOff val="25000"/>
                  </a:schemeClr>
                </a:solidFill>
                <a:latin typeface="Arial" panose="020B0604020202020204" pitchFamily="34" charset="0"/>
                <a:cs typeface="Arial" panose="020B0604020202020204" pitchFamily="34" charset="0"/>
              </a:rPr>
              <a:t>Extant Code of Ethics [R410.4]</a:t>
            </a:r>
          </a:p>
        </p:txBody>
      </p:sp>
      <p:sp>
        <p:nvSpPr>
          <p:cNvPr id="12" name="Rectangle 11">
            <a:extLst>
              <a:ext uri="{FF2B5EF4-FFF2-40B4-BE49-F238E27FC236}">
                <a16:creationId xmlns:a16="http://schemas.microsoft.com/office/drawing/2014/main" id="{FB00CC15-0309-400D-9879-4F18AC512674}"/>
              </a:ext>
            </a:extLst>
          </p:cNvPr>
          <p:cNvSpPr/>
          <p:nvPr/>
        </p:nvSpPr>
        <p:spPr>
          <a:xfrm>
            <a:off x="333828" y="3653873"/>
            <a:ext cx="7378321" cy="403875"/>
          </a:xfrm>
          <a:prstGeom prst="rect">
            <a:avLst/>
          </a:prstGeom>
          <a:solidFill>
            <a:schemeClr val="bg1">
              <a:lumMod val="95000"/>
            </a:schemeClr>
          </a:solidFill>
          <a:ln>
            <a:solidFill>
              <a:schemeClr val="tx1">
                <a:lumMod val="50000"/>
                <a:lumOff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75000"/>
                    <a:lumOff val="25000"/>
                  </a:schemeClr>
                </a:solidFill>
                <a:latin typeface="Arial" panose="020B0604020202020204" pitchFamily="34" charset="0"/>
                <a:cs typeface="Arial" panose="020B0604020202020204" pitchFamily="34" charset="0"/>
              </a:rPr>
              <a:t>Extant Code does not require communication of any other fee-related information to TCWG</a:t>
            </a:r>
          </a:p>
        </p:txBody>
      </p:sp>
    </p:spTree>
    <p:extLst>
      <p:ext uri="{BB962C8B-B14F-4D97-AF65-F5344CB8AC3E}">
        <p14:creationId xmlns:p14="http://schemas.microsoft.com/office/powerpoint/2010/main" val="3578547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Communication with TCWG</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4</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943000"/>
            <a:ext cx="8457003" cy="3803808"/>
          </a:xfrm>
        </p:spPr>
        <p:txBody>
          <a:bodyPr/>
          <a:lstStyle/>
          <a:p>
            <a:pPr marL="347454" indent="-347454" algn="just">
              <a:lnSpc>
                <a:spcPts val="1800"/>
              </a:lnSpc>
              <a:spcBef>
                <a:spcPts val="225"/>
              </a:spcBef>
              <a:spcAft>
                <a:spcPts val="225"/>
              </a:spcAft>
              <a:buNone/>
            </a:pPr>
            <a:endParaRPr lang="en-US" sz="400" dirty="0"/>
          </a:p>
          <a:p>
            <a:pPr marL="260597" indent="-260597" algn="just">
              <a:lnSpc>
                <a:spcPts val="2400"/>
              </a:lnSpc>
              <a:spcBef>
                <a:spcPts val="1800"/>
              </a:spcBef>
              <a:spcAft>
                <a:spcPts val="225"/>
              </a:spcAft>
              <a:buFont typeface="Arial" panose="020B0604020202020204" pitchFamily="34" charset="0"/>
              <a:buChar char="•"/>
              <a:tabLst>
                <a:tab pos="625445" algn="l"/>
              </a:tabLst>
            </a:pPr>
            <a:r>
              <a:rPr lang="en-US" sz="1800" b="1" dirty="0">
                <a:solidFill>
                  <a:schemeClr val="tx1">
                    <a:lumMod val="65000"/>
                    <a:lumOff val="35000"/>
                  </a:schemeClr>
                </a:solidFill>
              </a:rPr>
              <a:t>Communicate with TCWG of an audit client that is a </a:t>
            </a:r>
            <a:r>
              <a:rPr lang="en-US" sz="2000" b="1" dirty="0">
                <a:solidFill>
                  <a:srgbClr val="0070C0"/>
                </a:solidFill>
              </a:rPr>
              <a:t>PIE</a:t>
            </a:r>
            <a:r>
              <a:rPr lang="en-US" sz="1800" b="1" dirty="0">
                <a:solidFill>
                  <a:schemeClr val="tx1">
                    <a:lumMod val="65000"/>
                    <a:lumOff val="35000"/>
                  </a:schemeClr>
                </a:solidFill>
              </a:rPr>
              <a:t>:   </a:t>
            </a:r>
            <a:endParaRPr lang="en-US" sz="2000" b="1" dirty="0">
              <a:solidFill>
                <a:schemeClr val="tx1">
                  <a:lumMod val="65000"/>
                  <a:lumOff val="35000"/>
                </a:schemeClr>
              </a:solidFill>
            </a:endParaRPr>
          </a:p>
          <a:p>
            <a:pPr marL="521195" indent="-260597">
              <a:lnSpc>
                <a:spcPts val="24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Amount of the </a:t>
            </a:r>
            <a:r>
              <a:rPr lang="en-US" sz="1600" dirty="0">
                <a:solidFill>
                  <a:srgbClr val="0070C0"/>
                </a:solidFill>
              </a:rPr>
              <a:t>audit fee</a:t>
            </a:r>
            <a:r>
              <a:rPr lang="en-US" sz="1600" dirty="0">
                <a:solidFill>
                  <a:schemeClr val="tx1">
                    <a:lumMod val="65000"/>
                    <a:lumOff val="35000"/>
                  </a:schemeClr>
                </a:solidFill>
              </a:rPr>
              <a:t> and how the firm is satisfied that</a:t>
            </a:r>
            <a:br>
              <a:rPr lang="en-US" sz="1600" dirty="0">
                <a:solidFill>
                  <a:schemeClr val="tx1">
                    <a:lumMod val="65000"/>
                    <a:lumOff val="35000"/>
                  </a:schemeClr>
                </a:solidFill>
              </a:rPr>
            </a:br>
            <a:r>
              <a:rPr lang="en-US" sz="1600" dirty="0">
                <a:solidFill>
                  <a:schemeClr val="tx1">
                    <a:lumMod val="65000"/>
                    <a:lumOff val="35000"/>
                  </a:schemeClr>
                </a:solidFill>
              </a:rPr>
              <a:t>level of audit fee did not compromise its independence </a:t>
            </a:r>
          </a:p>
          <a:p>
            <a:pPr marL="521195" indent="-260597">
              <a:lnSpc>
                <a:spcPts val="24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Amount of </a:t>
            </a:r>
            <a:r>
              <a:rPr lang="en-US" sz="1600" dirty="0">
                <a:solidFill>
                  <a:srgbClr val="0070C0"/>
                </a:solidFill>
              </a:rPr>
              <a:t>fees for non-audit services</a:t>
            </a:r>
            <a:r>
              <a:rPr lang="en-US" sz="1600" dirty="0">
                <a:solidFill>
                  <a:schemeClr val="tx1">
                    <a:lumMod val="65000"/>
                    <a:lumOff val="35000"/>
                  </a:schemeClr>
                </a:solidFill>
              </a:rPr>
              <a:t> charged by the</a:t>
            </a:r>
            <a:br>
              <a:rPr lang="en-US" sz="1600" dirty="0">
                <a:solidFill>
                  <a:schemeClr val="tx1">
                    <a:lumMod val="65000"/>
                    <a:lumOff val="35000"/>
                  </a:schemeClr>
                </a:solidFill>
              </a:rPr>
            </a:br>
            <a:r>
              <a:rPr lang="en-US" sz="1600" dirty="0">
                <a:solidFill>
                  <a:schemeClr val="tx1">
                    <a:lumMod val="65000"/>
                    <a:lumOff val="35000"/>
                  </a:schemeClr>
                </a:solidFill>
              </a:rPr>
              <a:t>firm or network (and threats and safeguards linked to</a:t>
            </a:r>
            <a:br>
              <a:rPr lang="en-US" sz="1600" dirty="0">
                <a:solidFill>
                  <a:schemeClr val="tx1">
                    <a:lumMod val="65000"/>
                    <a:lumOff val="35000"/>
                  </a:schemeClr>
                </a:solidFill>
              </a:rPr>
            </a:br>
            <a:r>
              <a:rPr lang="en-US" sz="1600" dirty="0">
                <a:solidFill>
                  <a:schemeClr val="tx1">
                    <a:lumMod val="65000"/>
                    <a:lumOff val="35000"/>
                  </a:schemeClr>
                </a:solidFill>
              </a:rPr>
              <a:t>proportion of non-audit fees to audit fees)</a:t>
            </a:r>
          </a:p>
          <a:p>
            <a:pPr marL="521195" indent="-260597">
              <a:lnSpc>
                <a:spcPts val="24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Any </a:t>
            </a:r>
            <a:r>
              <a:rPr lang="en-US" sz="1600" dirty="0">
                <a:solidFill>
                  <a:srgbClr val="0070C0"/>
                </a:solidFill>
              </a:rPr>
              <a:t>fee dependency</a:t>
            </a:r>
            <a:r>
              <a:rPr lang="en-US" sz="1600" dirty="0">
                <a:solidFill>
                  <a:schemeClr val="tx1">
                    <a:lumMod val="65000"/>
                    <a:lumOff val="35000"/>
                  </a:schemeClr>
                </a:solidFill>
              </a:rPr>
              <a:t>, whether it is likely to continue</a:t>
            </a:r>
            <a:br>
              <a:rPr lang="en-US" sz="1600" dirty="0">
                <a:solidFill>
                  <a:schemeClr val="tx1">
                    <a:lumMod val="65000"/>
                    <a:lumOff val="35000"/>
                  </a:schemeClr>
                </a:solidFill>
              </a:rPr>
            </a:br>
            <a:r>
              <a:rPr lang="en-US" sz="1600" dirty="0">
                <a:solidFill>
                  <a:schemeClr val="tx1">
                    <a:lumMod val="65000"/>
                    <a:lumOff val="35000"/>
                  </a:schemeClr>
                </a:solidFill>
              </a:rPr>
              <a:t>and the safeguards applied </a:t>
            </a: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p:txBody>
      </p:sp>
      <p:sp>
        <p:nvSpPr>
          <p:cNvPr id="10" name="Rectangle: Rounded Corners 9">
            <a:extLst>
              <a:ext uri="{FF2B5EF4-FFF2-40B4-BE49-F238E27FC236}">
                <a16:creationId xmlns:a16="http://schemas.microsoft.com/office/drawing/2014/main" id="{2EAD87C9-EC4C-4B69-BD9C-BAA3CA3DFC40}"/>
              </a:ext>
            </a:extLst>
          </p:cNvPr>
          <p:cNvSpPr/>
          <p:nvPr/>
        </p:nvSpPr>
        <p:spPr>
          <a:xfrm>
            <a:off x="229799" y="930053"/>
            <a:ext cx="8123172" cy="371238"/>
          </a:xfrm>
          <a:prstGeom prst="roundRect">
            <a:avLst/>
          </a:prstGeom>
          <a:solidFill>
            <a:schemeClr val="accent2">
              <a:lumMod val="20000"/>
              <a:lumOff val="80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800" b="1" dirty="0">
                <a:solidFill>
                  <a:schemeClr val="tx1">
                    <a:lumMod val="75000"/>
                    <a:lumOff val="25000"/>
                  </a:schemeClr>
                </a:solidFill>
                <a:latin typeface="Arial" panose="020B0604020202020204" pitchFamily="34" charset="0"/>
                <a:cs typeface="Arial" panose="020B0604020202020204" pitchFamily="34" charset="0"/>
              </a:rPr>
              <a:t>Proposed Requirement in the Code – Fee-Related Information</a:t>
            </a:r>
          </a:p>
        </p:txBody>
      </p:sp>
      <p:sp>
        <p:nvSpPr>
          <p:cNvPr id="11" name="Rectangle: Rounded Corners 10">
            <a:extLst>
              <a:ext uri="{FF2B5EF4-FFF2-40B4-BE49-F238E27FC236}">
                <a16:creationId xmlns:a16="http://schemas.microsoft.com/office/drawing/2014/main" id="{7C5D8374-EAB9-47FC-B635-13718C977B61}"/>
              </a:ext>
            </a:extLst>
          </p:cNvPr>
          <p:cNvSpPr/>
          <p:nvPr/>
        </p:nvSpPr>
        <p:spPr>
          <a:xfrm>
            <a:off x="6157876" y="2226392"/>
            <a:ext cx="2562535" cy="1866522"/>
          </a:xfrm>
          <a:prstGeom prst="roundRect">
            <a:avLst/>
          </a:prstGeom>
          <a:solidFill>
            <a:schemeClr val="bg1">
              <a:lumMod val="95000"/>
            </a:schemeClr>
          </a:solidFill>
          <a:ln w="127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t"/>
          <a:lstStyle/>
          <a:p>
            <a:pPr algn="ctr">
              <a:lnSpc>
                <a:spcPts val="1800"/>
              </a:lnSpc>
            </a:pPr>
            <a:r>
              <a:rPr lang="en-US" sz="1600" b="1" dirty="0">
                <a:solidFill>
                  <a:schemeClr val="tx1">
                    <a:lumMod val="85000"/>
                    <a:lumOff val="15000"/>
                  </a:schemeClr>
                </a:solidFill>
                <a:latin typeface="Arial" panose="020B0604020202020204" pitchFamily="34" charset="0"/>
                <a:cs typeface="Arial" panose="020B0604020202020204" pitchFamily="34" charset="0"/>
              </a:rPr>
              <a:t>WHY? </a:t>
            </a:r>
          </a:p>
          <a:p>
            <a:pPr algn="ctr">
              <a:lnSpc>
                <a:spcPts val="1800"/>
              </a:lnSpc>
            </a:pPr>
            <a:r>
              <a:rPr lang="en-US" sz="1600" dirty="0">
                <a:solidFill>
                  <a:schemeClr val="tx1">
                    <a:lumMod val="85000"/>
                    <a:lumOff val="15000"/>
                  </a:schemeClr>
                </a:solidFill>
                <a:latin typeface="Arial" panose="020B0604020202020204" pitchFamily="34" charset="0"/>
                <a:cs typeface="Arial" panose="020B0604020202020204" pitchFamily="34" charset="0"/>
              </a:rPr>
              <a:t>To provide a meaningful discussion with TCWG</a:t>
            </a:r>
            <a:br>
              <a:rPr lang="en-US" sz="1600" dirty="0">
                <a:solidFill>
                  <a:schemeClr val="tx1">
                    <a:lumMod val="85000"/>
                    <a:lumOff val="15000"/>
                  </a:schemeClr>
                </a:solidFill>
                <a:latin typeface="Arial" panose="020B0604020202020204" pitchFamily="34" charset="0"/>
                <a:cs typeface="Arial" panose="020B0604020202020204" pitchFamily="34" charset="0"/>
              </a:rPr>
            </a:br>
            <a:r>
              <a:rPr lang="en-US" sz="1600" dirty="0">
                <a:solidFill>
                  <a:schemeClr val="tx1">
                    <a:lumMod val="85000"/>
                    <a:lumOff val="15000"/>
                  </a:schemeClr>
                </a:solidFill>
                <a:latin typeface="Arial" panose="020B0604020202020204" pitchFamily="34" charset="0"/>
                <a:cs typeface="Arial" panose="020B0604020202020204" pitchFamily="34" charset="0"/>
              </a:rPr>
              <a:t>about fee-related</a:t>
            </a:r>
            <a:br>
              <a:rPr lang="en-US" sz="1600" dirty="0">
                <a:solidFill>
                  <a:schemeClr val="tx1">
                    <a:lumMod val="85000"/>
                    <a:lumOff val="15000"/>
                  </a:schemeClr>
                </a:solidFill>
                <a:latin typeface="Arial" panose="020B0604020202020204" pitchFamily="34" charset="0"/>
                <a:cs typeface="Arial" panose="020B0604020202020204" pitchFamily="34" charset="0"/>
              </a:rPr>
            </a:br>
            <a:r>
              <a:rPr lang="en-US" sz="1600" dirty="0">
                <a:solidFill>
                  <a:schemeClr val="tx1">
                    <a:lumMod val="85000"/>
                    <a:lumOff val="15000"/>
                  </a:schemeClr>
                </a:solidFill>
                <a:latin typeface="Arial" panose="020B0604020202020204" pitchFamily="34" charset="0"/>
                <a:cs typeface="Arial" panose="020B0604020202020204" pitchFamily="34" charset="0"/>
              </a:rPr>
              <a:t>information, including</a:t>
            </a:r>
            <a:br>
              <a:rPr lang="en-US" sz="1600" dirty="0">
                <a:solidFill>
                  <a:schemeClr val="tx1">
                    <a:lumMod val="85000"/>
                    <a:lumOff val="15000"/>
                  </a:schemeClr>
                </a:solidFill>
                <a:latin typeface="Arial" panose="020B0604020202020204" pitchFamily="34" charset="0"/>
                <a:cs typeface="Arial" panose="020B0604020202020204" pitchFamily="34" charset="0"/>
              </a:rPr>
            </a:br>
            <a:r>
              <a:rPr lang="en-US" sz="1600" dirty="0">
                <a:solidFill>
                  <a:schemeClr val="tx1">
                    <a:lumMod val="85000"/>
                    <a:lumOff val="15000"/>
                  </a:schemeClr>
                </a:solidFill>
                <a:latin typeface="Arial" panose="020B0604020202020204" pitchFamily="34" charset="0"/>
                <a:cs typeface="Arial" panose="020B0604020202020204" pitchFamily="34" charset="0"/>
              </a:rPr>
              <a:t>assessing independence</a:t>
            </a:r>
          </a:p>
        </p:txBody>
      </p:sp>
      <p:sp>
        <p:nvSpPr>
          <p:cNvPr id="12" name="Rectangle 11">
            <a:extLst>
              <a:ext uri="{FF2B5EF4-FFF2-40B4-BE49-F238E27FC236}">
                <a16:creationId xmlns:a16="http://schemas.microsoft.com/office/drawing/2014/main" id="{FB00CC15-0309-400D-9879-4F18AC512674}"/>
              </a:ext>
            </a:extLst>
          </p:cNvPr>
          <p:cNvSpPr/>
          <p:nvPr/>
        </p:nvSpPr>
        <p:spPr>
          <a:xfrm>
            <a:off x="748009" y="4279649"/>
            <a:ext cx="4017402" cy="371238"/>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75000"/>
                    <a:lumOff val="25000"/>
                  </a:schemeClr>
                </a:solidFill>
                <a:latin typeface="Arial" panose="020B0604020202020204" pitchFamily="34" charset="0"/>
                <a:cs typeface="Arial" panose="020B0604020202020204" pitchFamily="34" charset="0"/>
              </a:rPr>
              <a:t>Fees from audit client &gt; 15% of total fee income</a:t>
            </a:r>
          </a:p>
        </p:txBody>
      </p:sp>
    </p:spTree>
    <p:extLst>
      <p:ext uri="{BB962C8B-B14F-4D97-AF65-F5344CB8AC3E}">
        <p14:creationId xmlns:p14="http://schemas.microsoft.com/office/powerpoint/2010/main" val="3233482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Communication with TCWG</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5</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1119644"/>
            <a:ext cx="8457003" cy="3631857"/>
          </a:xfrm>
        </p:spPr>
        <p:txBody>
          <a:bodyPr/>
          <a:lstStyle/>
          <a:p>
            <a:pPr marL="347454" indent="-347454" algn="just">
              <a:lnSpc>
                <a:spcPts val="1800"/>
              </a:lnSpc>
              <a:spcBef>
                <a:spcPts val="225"/>
              </a:spcBef>
              <a:spcAft>
                <a:spcPts val="225"/>
              </a:spcAft>
              <a:buNone/>
            </a:pPr>
            <a:endParaRPr lang="en-US" sz="400" dirty="0"/>
          </a:p>
          <a:p>
            <a:pPr marL="260597" indent="-260597">
              <a:lnSpc>
                <a:spcPts val="1900"/>
              </a:lnSpc>
              <a:spcBef>
                <a:spcPts val="1800"/>
              </a:spcBef>
              <a:spcAft>
                <a:spcPts val="225"/>
              </a:spcAft>
              <a:buFont typeface="Arial" panose="020B0604020202020204" pitchFamily="34" charset="0"/>
              <a:buChar char="•"/>
              <a:tabLst>
                <a:tab pos="625445" algn="l"/>
              </a:tabLst>
            </a:pPr>
            <a:r>
              <a:rPr lang="en-US" sz="1700" b="1" dirty="0">
                <a:solidFill>
                  <a:schemeClr val="tx1">
                    <a:lumMod val="65000"/>
                    <a:lumOff val="35000"/>
                  </a:schemeClr>
                </a:solidFill>
              </a:rPr>
              <a:t>Obtain agreement with TCWG of an audit client that is a </a:t>
            </a:r>
            <a:r>
              <a:rPr lang="en-US" sz="1700" b="1" dirty="0">
                <a:solidFill>
                  <a:srgbClr val="0070C0"/>
                </a:solidFill>
              </a:rPr>
              <a:t>PIE</a:t>
            </a:r>
            <a:r>
              <a:rPr lang="en-US" sz="1700" b="1" dirty="0">
                <a:solidFill>
                  <a:schemeClr val="tx1">
                    <a:lumMod val="65000"/>
                    <a:lumOff val="35000"/>
                  </a:schemeClr>
                </a:solidFill>
              </a:rPr>
              <a:t> regarding </a:t>
            </a:r>
            <a:r>
              <a:rPr lang="en-US" sz="1700" b="1" dirty="0">
                <a:solidFill>
                  <a:srgbClr val="0070C0"/>
                </a:solidFill>
              </a:rPr>
              <a:t>provision of NAS</a:t>
            </a:r>
            <a:r>
              <a:rPr lang="en-US" sz="1700" b="1" dirty="0">
                <a:solidFill>
                  <a:schemeClr val="tx1">
                    <a:lumMod val="65000"/>
                    <a:lumOff val="35000"/>
                  </a:schemeClr>
                </a:solidFill>
              </a:rPr>
              <a:t>  </a:t>
            </a:r>
          </a:p>
          <a:p>
            <a:pPr marL="260597" indent="-260597">
              <a:lnSpc>
                <a:spcPts val="1900"/>
              </a:lnSpc>
              <a:spcBef>
                <a:spcPts val="600"/>
              </a:spcBef>
              <a:spcAft>
                <a:spcPts val="225"/>
              </a:spcAft>
              <a:buFont typeface="Arial" panose="020B0604020202020204" pitchFamily="34" charset="0"/>
              <a:buChar char="•"/>
              <a:tabLst>
                <a:tab pos="625445" algn="l"/>
              </a:tabLst>
            </a:pPr>
            <a:r>
              <a:rPr lang="en-US" sz="1700" b="1" dirty="0">
                <a:solidFill>
                  <a:schemeClr val="tx1">
                    <a:lumMod val="65000"/>
                    <a:lumOff val="35000"/>
                  </a:schemeClr>
                </a:solidFill>
              </a:rPr>
              <a:t>Before accepting </a:t>
            </a:r>
            <a:r>
              <a:rPr lang="en-US" sz="1700" b="1" dirty="0">
                <a:solidFill>
                  <a:srgbClr val="0070C0"/>
                </a:solidFill>
              </a:rPr>
              <a:t>NAS engagement</a:t>
            </a:r>
            <a:r>
              <a:rPr lang="en-US" sz="1700" b="1" dirty="0">
                <a:solidFill>
                  <a:schemeClr val="tx1">
                    <a:lumMod val="65000"/>
                    <a:lumOff val="35000"/>
                  </a:schemeClr>
                </a:solidFill>
              </a:rPr>
              <a:t>, provide information to TCWG about: </a:t>
            </a:r>
          </a:p>
          <a:p>
            <a:pPr marL="521195" indent="-260597">
              <a:lnSpc>
                <a:spcPts val="1900"/>
              </a:lnSpc>
              <a:spcBef>
                <a:spcPts val="600"/>
              </a:spcBef>
              <a:spcAft>
                <a:spcPts val="225"/>
              </a:spcAft>
              <a:buFont typeface="Arial" panose="020B0604020202020204" pitchFamily="34" charset="0"/>
              <a:buChar char="−"/>
              <a:tabLst>
                <a:tab pos="685766" algn="l"/>
              </a:tabLst>
            </a:pPr>
            <a:r>
              <a:rPr lang="en-US" dirty="0">
                <a:solidFill>
                  <a:schemeClr val="tx1">
                    <a:lumMod val="65000"/>
                    <a:lumOff val="35000"/>
                  </a:schemeClr>
                </a:solidFill>
              </a:rPr>
              <a:t>Nature and scope of services to be provided   </a:t>
            </a:r>
          </a:p>
          <a:p>
            <a:pPr marL="521195" indent="-260597">
              <a:lnSpc>
                <a:spcPts val="1900"/>
              </a:lnSpc>
              <a:spcBef>
                <a:spcPts val="600"/>
              </a:spcBef>
              <a:spcAft>
                <a:spcPts val="225"/>
              </a:spcAft>
              <a:buFont typeface="Arial" panose="020B0604020202020204" pitchFamily="34" charset="0"/>
              <a:buChar char="−"/>
              <a:tabLst>
                <a:tab pos="685766" algn="l"/>
              </a:tabLst>
            </a:pPr>
            <a:r>
              <a:rPr lang="en-US" dirty="0">
                <a:solidFill>
                  <a:schemeClr val="tx1">
                    <a:lumMod val="65000"/>
                    <a:lumOff val="35000"/>
                  </a:schemeClr>
                </a:solidFill>
              </a:rPr>
              <a:t>Any threats to independence that might be created</a:t>
            </a:r>
          </a:p>
          <a:p>
            <a:pPr marL="521195" indent="-260597">
              <a:lnSpc>
                <a:spcPts val="1900"/>
              </a:lnSpc>
              <a:spcBef>
                <a:spcPts val="600"/>
              </a:spcBef>
              <a:spcAft>
                <a:spcPts val="225"/>
              </a:spcAft>
              <a:buFont typeface="Arial" panose="020B0604020202020204" pitchFamily="34" charset="0"/>
              <a:buChar char="−"/>
              <a:tabLst>
                <a:tab pos="685766" algn="l"/>
              </a:tabLst>
            </a:pPr>
            <a:r>
              <a:rPr lang="en-US" dirty="0">
                <a:solidFill>
                  <a:schemeClr val="tx1">
                    <a:lumMod val="65000"/>
                    <a:lumOff val="35000"/>
                  </a:schemeClr>
                </a:solidFill>
              </a:rPr>
              <a:t>Firm’s evaluation of whether threats identified are at an acceptable level</a:t>
            </a:r>
          </a:p>
          <a:p>
            <a:pPr marL="521195" indent="-260597">
              <a:lnSpc>
                <a:spcPts val="1900"/>
              </a:lnSpc>
              <a:spcBef>
                <a:spcPts val="600"/>
              </a:spcBef>
              <a:spcAft>
                <a:spcPts val="225"/>
              </a:spcAft>
              <a:buFont typeface="Arial" panose="020B0604020202020204" pitchFamily="34" charset="0"/>
              <a:buChar char="−"/>
              <a:tabLst>
                <a:tab pos="685766" algn="l"/>
              </a:tabLst>
            </a:pPr>
            <a:r>
              <a:rPr lang="en-US" dirty="0">
                <a:solidFill>
                  <a:schemeClr val="tx1">
                    <a:lumMod val="65000"/>
                    <a:lumOff val="35000"/>
                  </a:schemeClr>
                </a:solidFill>
              </a:rPr>
              <a:t>If any threats are not at an acceptable level</a:t>
            </a:r>
          </a:p>
          <a:p>
            <a:pPr marL="822960" lvl="1" indent="-274320">
              <a:lnSpc>
                <a:spcPts val="1900"/>
              </a:lnSpc>
              <a:spcBef>
                <a:spcPts val="600"/>
              </a:spcBef>
              <a:spcAft>
                <a:spcPts val="225"/>
              </a:spcAft>
              <a:buFont typeface="Courier New" panose="02070309020205020404" pitchFamily="49" charset="0"/>
              <a:buChar char="o"/>
              <a:tabLst>
                <a:tab pos="685766" algn="l"/>
              </a:tabLst>
            </a:pPr>
            <a:r>
              <a:rPr lang="en-US" sz="1400" dirty="0">
                <a:solidFill>
                  <a:schemeClr val="tx1">
                    <a:lumMod val="65000"/>
                    <a:lumOff val="35000"/>
                  </a:schemeClr>
                </a:solidFill>
              </a:rPr>
              <a:t>Actions to address any threats</a:t>
            </a:r>
          </a:p>
          <a:p>
            <a:pPr marL="822960" lvl="1" indent="-274320">
              <a:lnSpc>
                <a:spcPts val="1900"/>
              </a:lnSpc>
              <a:spcBef>
                <a:spcPts val="600"/>
              </a:spcBef>
              <a:spcAft>
                <a:spcPts val="225"/>
              </a:spcAft>
              <a:buFont typeface="Courier New" panose="02070309020205020404" pitchFamily="49" charset="0"/>
              <a:buChar char="o"/>
              <a:tabLst>
                <a:tab pos="685766" algn="l"/>
              </a:tabLst>
            </a:pPr>
            <a:r>
              <a:rPr lang="en-US" sz="1400" dirty="0">
                <a:solidFill>
                  <a:schemeClr val="tx1">
                    <a:lumMod val="65000"/>
                    <a:lumOff val="35000"/>
                  </a:schemeClr>
                </a:solidFill>
              </a:rPr>
              <a:t>Why the threats would be eliminated or reduced to an acceptable level </a:t>
            </a:r>
          </a:p>
          <a:p>
            <a:pPr marL="731520" lvl="1" indent="-182880" algn="just">
              <a:lnSpc>
                <a:spcPts val="1800"/>
              </a:lnSpc>
              <a:spcBef>
                <a:spcPts val="600"/>
              </a:spcBef>
              <a:spcAft>
                <a:spcPts val="225"/>
              </a:spcAft>
              <a:buFont typeface="Courier New" panose="02070309020205020404" pitchFamily="49" charset="0"/>
              <a:buChar char="o"/>
              <a:tabLst>
                <a:tab pos="685766" algn="l"/>
              </a:tabLst>
            </a:pPr>
            <a:endParaRPr lang="en-US" sz="1450" dirty="0">
              <a:solidFill>
                <a:schemeClr val="tx1">
                  <a:lumMod val="65000"/>
                  <a:lumOff val="35000"/>
                </a:schemeClr>
              </a:solidFill>
            </a:endParaRPr>
          </a:p>
          <a:p>
            <a:pPr marL="731520" lvl="1" indent="-182880" algn="just">
              <a:lnSpc>
                <a:spcPts val="2400"/>
              </a:lnSpc>
              <a:spcBef>
                <a:spcPts val="600"/>
              </a:spcBef>
              <a:spcAft>
                <a:spcPts val="225"/>
              </a:spcAft>
              <a:buFont typeface="Courier New" panose="02070309020205020404" pitchFamily="49" charset="0"/>
              <a:buChar char="o"/>
              <a:tabLst>
                <a:tab pos="685766" algn="l"/>
              </a:tabLst>
            </a:pPr>
            <a:endParaRPr lang="en-US" sz="1450" dirty="0">
              <a:solidFill>
                <a:schemeClr val="tx1">
                  <a:lumMod val="65000"/>
                  <a:lumOff val="35000"/>
                </a:schemeClr>
              </a:solidFill>
            </a:endParaRP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p:txBody>
      </p:sp>
      <p:sp>
        <p:nvSpPr>
          <p:cNvPr id="10" name="Rectangle: Rounded Corners 9">
            <a:extLst>
              <a:ext uri="{FF2B5EF4-FFF2-40B4-BE49-F238E27FC236}">
                <a16:creationId xmlns:a16="http://schemas.microsoft.com/office/drawing/2014/main" id="{2EAD87C9-EC4C-4B69-BD9C-BAA3CA3DFC40}"/>
              </a:ext>
            </a:extLst>
          </p:cNvPr>
          <p:cNvSpPr/>
          <p:nvPr/>
        </p:nvSpPr>
        <p:spPr>
          <a:xfrm>
            <a:off x="229799" y="1024188"/>
            <a:ext cx="8123172" cy="403875"/>
          </a:xfrm>
          <a:prstGeom prst="roundRect">
            <a:avLst/>
          </a:prstGeom>
          <a:solidFill>
            <a:schemeClr val="accent2">
              <a:lumMod val="20000"/>
              <a:lumOff val="80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800" b="1" dirty="0">
                <a:solidFill>
                  <a:schemeClr val="tx1">
                    <a:lumMod val="75000"/>
                    <a:lumOff val="25000"/>
                  </a:schemeClr>
                </a:solidFill>
                <a:latin typeface="Arial" panose="020B0604020202020204" pitchFamily="34" charset="0"/>
                <a:cs typeface="Arial" panose="020B0604020202020204" pitchFamily="34" charset="0"/>
              </a:rPr>
              <a:t>Proposed Requirement in the Code – Non-Assurance Services (NAS)</a:t>
            </a:r>
          </a:p>
        </p:txBody>
      </p:sp>
    </p:spTree>
    <p:extLst>
      <p:ext uri="{BB962C8B-B14F-4D97-AF65-F5344CB8AC3E}">
        <p14:creationId xmlns:p14="http://schemas.microsoft.com/office/powerpoint/2010/main" val="2170423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Communication with TCWG</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6</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1030092"/>
            <a:ext cx="8800787" cy="3846705"/>
          </a:xfrm>
        </p:spPr>
        <p:txBody>
          <a:bodyPr/>
          <a:lstStyle/>
          <a:p>
            <a:pPr marL="347454" indent="-347454" algn="just">
              <a:lnSpc>
                <a:spcPts val="1800"/>
              </a:lnSpc>
              <a:spcBef>
                <a:spcPts val="225"/>
              </a:spcBef>
              <a:spcAft>
                <a:spcPts val="225"/>
              </a:spcAft>
              <a:buNone/>
            </a:pPr>
            <a:endParaRPr lang="en-US" sz="400" dirty="0"/>
          </a:p>
          <a:p>
            <a:pPr marL="260597" indent="-260597" algn="just">
              <a:lnSpc>
                <a:spcPts val="2400"/>
              </a:lnSpc>
              <a:spcBef>
                <a:spcPts val="1800"/>
              </a:spcBef>
              <a:spcAft>
                <a:spcPts val="225"/>
              </a:spcAft>
              <a:buFont typeface="Arial" panose="020B0604020202020204" pitchFamily="34" charset="0"/>
              <a:buChar char="•"/>
              <a:tabLst>
                <a:tab pos="625445" algn="l"/>
              </a:tabLst>
            </a:pPr>
            <a:r>
              <a:rPr lang="en-US" sz="1800" b="1" dirty="0">
                <a:solidFill>
                  <a:schemeClr val="tx1">
                    <a:lumMod val="65000"/>
                    <a:lumOff val="35000"/>
                  </a:schemeClr>
                </a:solidFill>
              </a:rPr>
              <a:t>Communicate with TCWG of </a:t>
            </a:r>
            <a:r>
              <a:rPr lang="en-US" sz="1800" b="1" dirty="0">
                <a:solidFill>
                  <a:srgbClr val="0070C0"/>
                </a:solidFill>
              </a:rPr>
              <a:t>listed</a:t>
            </a:r>
            <a:r>
              <a:rPr lang="en-US" sz="1800" b="1" dirty="0">
                <a:solidFill>
                  <a:schemeClr val="tx1">
                    <a:lumMod val="65000"/>
                    <a:lumOff val="35000"/>
                  </a:schemeClr>
                </a:solidFill>
              </a:rPr>
              <a:t> entities:   </a:t>
            </a:r>
            <a:endParaRPr lang="en-US" sz="2000" b="1" dirty="0">
              <a:solidFill>
                <a:schemeClr val="tx1">
                  <a:lumMod val="65000"/>
                  <a:lumOff val="35000"/>
                </a:schemeClr>
              </a:solidFill>
            </a:endParaRPr>
          </a:p>
          <a:p>
            <a:pPr marL="521195" indent="-260597" algn="just">
              <a:lnSpc>
                <a:spcPts val="22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Statement of compliance with relevant ethical requirements re: independence  </a:t>
            </a:r>
          </a:p>
          <a:p>
            <a:pPr marL="521195" indent="-260597" algn="just">
              <a:lnSpc>
                <a:spcPts val="22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Relationships and other matters that may reasonably be thought to bear on independence  </a:t>
            </a:r>
          </a:p>
          <a:p>
            <a:pPr marL="521195" indent="-260597" algn="just">
              <a:lnSpc>
                <a:spcPts val="22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Total fees charged for audit services and non-audit services during period covered by FS</a:t>
            </a:r>
          </a:p>
          <a:p>
            <a:pPr marL="521195" indent="-260597" algn="just">
              <a:lnSpc>
                <a:spcPts val="22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Safeguards applied to eliminate identified threats or reduce to an acceptable level  </a:t>
            </a: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p:txBody>
      </p:sp>
      <p:sp>
        <p:nvSpPr>
          <p:cNvPr id="10" name="Rectangle: Rounded Corners 9">
            <a:extLst>
              <a:ext uri="{FF2B5EF4-FFF2-40B4-BE49-F238E27FC236}">
                <a16:creationId xmlns:a16="http://schemas.microsoft.com/office/drawing/2014/main" id="{2EAD87C9-EC4C-4B69-BD9C-BAA3CA3DFC40}"/>
              </a:ext>
            </a:extLst>
          </p:cNvPr>
          <p:cNvSpPr/>
          <p:nvPr/>
        </p:nvSpPr>
        <p:spPr>
          <a:xfrm>
            <a:off x="229799" y="984967"/>
            <a:ext cx="8123172" cy="403875"/>
          </a:xfrm>
          <a:prstGeom prst="roundRect">
            <a:avLst/>
          </a:prstGeom>
          <a:solidFill>
            <a:schemeClr val="accent2">
              <a:lumMod val="20000"/>
              <a:lumOff val="80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800" b="1" dirty="0">
                <a:solidFill>
                  <a:schemeClr val="tx1">
                    <a:lumMod val="75000"/>
                    <a:lumOff val="25000"/>
                  </a:schemeClr>
                </a:solidFill>
                <a:latin typeface="Arial" panose="020B0604020202020204" pitchFamily="34" charset="0"/>
                <a:cs typeface="Arial" panose="020B0604020202020204" pitchFamily="34" charset="0"/>
              </a:rPr>
              <a:t>Overlap with ISA 260 (Revised), par. 17</a:t>
            </a:r>
          </a:p>
        </p:txBody>
      </p:sp>
      <p:sp>
        <p:nvSpPr>
          <p:cNvPr id="7" name="Rectangle: Rounded Corners 6">
            <a:extLst>
              <a:ext uri="{FF2B5EF4-FFF2-40B4-BE49-F238E27FC236}">
                <a16:creationId xmlns:a16="http://schemas.microsoft.com/office/drawing/2014/main" id="{A4EBC2BA-F22F-45BB-B056-93FC3112575D}"/>
              </a:ext>
            </a:extLst>
          </p:cNvPr>
          <p:cNvSpPr/>
          <p:nvPr/>
        </p:nvSpPr>
        <p:spPr>
          <a:xfrm>
            <a:off x="428272" y="3572540"/>
            <a:ext cx="5022685" cy="1132399"/>
          </a:xfrm>
          <a:prstGeom prst="roundRect">
            <a:avLst/>
          </a:prstGeom>
          <a:solidFill>
            <a:schemeClr val="bg1">
              <a:lumMod val="95000"/>
            </a:schemeClr>
          </a:solidFill>
          <a:ln w="127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t"/>
          <a:lstStyle/>
          <a:p>
            <a:pPr algn="ctr">
              <a:lnSpc>
                <a:spcPts val="1800"/>
              </a:lnSpc>
            </a:pPr>
            <a:r>
              <a:rPr lang="en-US" sz="1600" b="1" dirty="0">
                <a:solidFill>
                  <a:schemeClr val="tx1">
                    <a:lumMod val="85000"/>
                    <a:lumOff val="15000"/>
                  </a:schemeClr>
                </a:solidFill>
                <a:latin typeface="Arial" panose="020B0604020202020204" pitchFamily="34" charset="0"/>
                <a:cs typeface="Arial" panose="020B0604020202020204" pitchFamily="34" charset="0"/>
              </a:rPr>
              <a:t>Source: </a:t>
            </a:r>
          </a:p>
          <a:p>
            <a:pPr algn="ctr">
              <a:lnSpc>
                <a:spcPts val="1800"/>
              </a:lnSpc>
            </a:pPr>
            <a:r>
              <a:rPr lang="en-US" sz="1500" i="1" dirty="0">
                <a:solidFill>
                  <a:schemeClr val="tx1">
                    <a:lumMod val="85000"/>
                    <a:lumOff val="15000"/>
                  </a:schemeClr>
                </a:solidFill>
                <a:latin typeface="Arial" panose="020B0604020202020204" pitchFamily="34" charset="0"/>
                <a:cs typeface="Arial" panose="020B0604020202020204" pitchFamily="34" charset="0"/>
              </a:rPr>
              <a:t>Traced back to May 2003; Also, IFAC Code (2003) required written communication (at least annually) of</a:t>
            </a:r>
            <a:br>
              <a:rPr lang="en-US" sz="1500" i="1" dirty="0">
                <a:solidFill>
                  <a:schemeClr val="tx1">
                    <a:lumMod val="85000"/>
                    <a:lumOff val="15000"/>
                  </a:schemeClr>
                </a:solidFill>
                <a:latin typeface="Arial" panose="020B0604020202020204" pitchFamily="34" charset="0"/>
                <a:cs typeface="Arial" panose="020B0604020202020204" pitchFamily="34" charset="0"/>
              </a:rPr>
            </a:br>
            <a:r>
              <a:rPr lang="en-US" sz="1500" i="1" dirty="0">
                <a:solidFill>
                  <a:schemeClr val="tx1">
                    <a:lumMod val="85000"/>
                    <a:lumOff val="15000"/>
                  </a:schemeClr>
                </a:solidFill>
                <a:latin typeface="Arial" panose="020B0604020202020204" pitchFamily="34" charset="0"/>
                <a:cs typeface="Arial" panose="020B0604020202020204" pitchFamily="34" charset="0"/>
              </a:rPr>
              <a:t>all relationships that bear on independence</a:t>
            </a:r>
          </a:p>
        </p:txBody>
      </p:sp>
      <p:sp>
        <p:nvSpPr>
          <p:cNvPr id="8" name="Rectangle: Rounded Corners 7">
            <a:extLst>
              <a:ext uri="{FF2B5EF4-FFF2-40B4-BE49-F238E27FC236}">
                <a16:creationId xmlns:a16="http://schemas.microsoft.com/office/drawing/2014/main" id="{DA238E3C-2B4A-4997-BC85-C435993800AC}"/>
              </a:ext>
            </a:extLst>
          </p:cNvPr>
          <p:cNvSpPr/>
          <p:nvPr/>
        </p:nvSpPr>
        <p:spPr>
          <a:xfrm>
            <a:off x="5575256" y="3568472"/>
            <a:ext cx="3331030" cy="1132399"/>
          </a:xfrm>
          <a:prstGeom prst="roundRect">
            <a:avLst/>
          </a:prstGeom>
          <a:solidFill>
            <a:schemeClr val="bg1">
              <a:lumMod val="95000"/>
            </a:schemeClr>
          </a:solidFill>
          <a:ln w="127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t"/>
          <a:lstStyle/>
          <a:p>
            <a:pPr algn="ctr">
              <a:lnSpc>
                <a:spcPts val="1800"/>
              </a:lnSpc>
            </a:pPr>
            <a:r>
              <a:rPr lang="en-US" sz="1600" b="1" dirty="0">
                <a:solidFill>
                  <a:schemeClr val="tx1">
                    <a:lumMod val="85000"/>
                    <a:lumOff val="15000"/>
                  </a:schemeClr>
                </a:solidFill>
                <a:latin typeface="Arial" panose="020B0604020202020204" pitchFamily="34" charset="0"/>
                <a:cs typeface="Arial" panose="020B0604020202020204" pitchFamily="34" charset="0"/>
              </a:rPr>
              <a:t>ISA 200, par. 14:</a:t>
            </a:r>
          </a:p>
          <a:p>
            <a:pPr algn="ctr">
              <a:lnSpc>
                <a:spcPts val="1800"/>
              </a:lnSpc>
            </a:pPr>
            <a:r>
              <a:rPr lang="en-US" sz="1500" i="1" dirty="0">
                <a:solidFill>
                  <a:schemeClr val="tx1">
                    <a:lumMod val="85000"/>
                    <a:lumOff val="15000"/>
                  </a:schemeClr>
                </a:solidFill>
                <a:latin typeface="Arial" panose="020B0604020202020204" pitchFamily="34" charset="0"/>
                <a:cs typeface="Arial" panose="020B0604020202020204" pitchFamily="34" charset="0"/>
              </a:rPr>
              <a:t>The auditor shall comply with relevant ethical requirements …</a:t>
            </a:r>
            <a:r>
              <a:rPr lang="en-US" sz="1600" b="1" dirty="0">
                <a:solidFill>
                  <a:schemeClr val="tx1">
                    <a:lumMod val="85000"/>
                    <a:lumOff val="15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218359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Communication with TCWG</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7</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1199379"/>
            <a:ext cx="8457003" cy="3629492"/>
          </a:xfrm>
        </p:spPr>
        <p:txBody>
          <a:bodyPr/>
          <a:lstStyle/>
          <a:p>
            <a:pPr marL="347454" indent="-347454" algn="just">
              <a:lnSpc>
                <a:spcPts val="1800"/>
              </a:lnSpc>
              <a:spcBef>
                <a:spcPts val="225"/>
              </a:spcBef>
              <a:spcAft>
                <a:spcPts val="225"/>
              </a:spcAft>
              <a:buNone/>
            </a:pPr>
            <a:endParaRPr lang="en-US" sz="400" dirty="0"/>
          </a:p>
          <a:p>
            <a:pPr marL="603498" indent="-342900">
              <a:lnSpc>
                <a:spcPts val="1600"/>
              </a:lnSpc>
              <a:spcBef>
                <a:spcPts val="600"/>
              </a:spcBef>
              <a:spcAft>
                <a:spcPts val="225"/>
              </a:spcAft>
              <a:buFont typeface="+mj-lt"/>
              <a:buAutoNum type="alphaLcParenR"/>
              <a:tabLst>
                <a:tab pos="685766" algn="l"/>
              </a:tabLst>
            </a:pPr>
            <a:r>
              <a:rPr lang="en-US" sz="1600" dirty="0">
                <a:solidFill>
                  <a:schemeClr val="tx1">
                    <a:lumMod val="65000"/>
                    <a:lumOff val="35000"/>
                  </a:schemeClr>
                </a:solidFill>
              </a:rPr>
              <a:t>Align the scope of the requirements in ISA 260 (Revised) and the Code</a:t>
            </a:r>
          </a:p>
          <a:p>
            <a:pPr marL="603498" indent="-342900">
              <a:lnSpc>
                <a:spcPts val="1600"/>
              </a:lnSpc>
              <a:spcBef>
                <a:spcPts val="600"/>
              </a:spcBef>
              <a:spcAft>
                <a:spcPts val="225"/>
              </a:spcAft>
              <a:buFont typeface="+mj-lt"/>
              <a:buAutoNum type="alphaLcParenR"/>
              <a:tabLst>
                <a:tab pos="685766" algn="l"/>
              </a:tabLst>
            </a:pPr>
            <a:r>
              <a:rPr lang="en-US" sz="1600" dirty="0">
                <a:solidFill>
                  <a:schemeClr val="tx1">
                    <a:lumMod val="65000"/>
                    <a:lumOff val="35000"/>
                  </a:schemeClr>
                </a:solidFill>
              </a:rPr>
              <a:t>Do nothing (in context of pre-existing difference in scope)</a:t>
            </a:r>
          </a:p>
          <a:p>
            <a:pPr marL="603498" indent="-342900">
              <a:lnSpc>
                <a:spcPts val="1600"/>
              </a:lnSpc>
              <a:spcBef>
                <a:spcPts val="600"/>
              </a:spcBef>
              <a:spcAft>
                <a:spcPts val="225"/>
              </a:spcAft>
              <a:buFont typeface="+mj-lt"/>
              <a:buAutoNum type="alphaLcParenR"/>
              <a:tabLst>
                <a:tab pos="685766" algn="l"/>
              </a:tabLst>
            </a:pPr>
            <a:r>
              <a:rPr lang="en-US" sz="1600" dirty="0">
                <a:solidFill>
                  <a:schemeClr val="tx1">
                    <a:lumMod val="65000"/>
                    <a:lumOff val="35000"/>
                  </a:schemeClr>
                </a:solidFill>
              </a:rPr>
              <a:t>Withdraw the requirement in ISA 260 (Revised) – communication in</a:t>
            </a:r>
            <a:br>
              <a:rPr lang="en-US" sz="1600" dirty="0">
                <a:solidFill>
                  <a:schemeClr val="tx1">
                    <a:lumMod val="65000"/>
                    <a:lumOff val="35000"/>
                  </a:schemeClr>
                </a:solidFill>
              </a:rPr>
            </a:br>
            <a:r>
              <a:rPr lang="en-US" sz="1600" dirty="0">
                <a:solidFill>
                  <a:schemeClr val="tx1">
                    <a:lumMod val="65000"/>
                    <a:lumOff val="35000"/>
                  </a:schemeClr>
                </a:solidFill>
              </a:rPr>
              <a:t>relation to independence and fee information</a:t>
            </a:r>
          </a:p>
          <a:p>
            <a:pPr marL="603498" indent="-342900">
              <a:lnSpc>
                <a:spcPts val="1600"/>
              </a:lnSpc>
              <a:spcBef>
                <a:spcPts val="600"/>
              </a:spcBef>
              <a:spcAft>
                <a:spcPts val="225"/>
              </a:spcAft>
              <a:buFont typeface="+mj-lt"/>
              <a:buAutoNum type="alphaLcParenR"/>
              <a:tabLst>
                <a:tab pos="685766" algn="l"/>
              </a:tabLst>
            </a:pPr>
            <a:r>
              <a:rPr lang="en-US" sz="1600" dirty="0">
                <a:solidFill>
                  <a:schemeClr val="tx1">
                    <a:lumMod val="65000"/>
                    <a:lumOff val="35000"/>
                  </a:schemeClr>
                </a:solidFill>
              </a:rPr>
              <a:t>Withdraw only the part of the requirement in ISA 260 (Revised) concerning communication of fee information</a:t>
            </a:r>
          </a:p>
          <a:p>
            <a:pPr marL="731520" lvl="1" indent="-182880" algn="just">
              <a:lnSpc>
                <a:spcPts val="1800"/>
              </a:lnSpc>
              <a:spcBef>
                <a:spcPts val="600"/>
              </a:spcBef>
              <a:spcAft>
                <a:spcPts val="225"/>
              </a:spcAft>
              <a:buFont typeface="Courier New" panose="02070309020205020404" pitchFamily="49" charset="0"/>
              <a:buChar char="o"/>
              <a:tabLst>
                <a:tab pos="685766" algn="l"/>
              </a:tabLst>
            </a:pPr>
            <a:endParaRPr lang="en-US" sz="1450" dirty="0">
              <a:solidFill>
                <a:schemeClr val="tx1">
                  <a:lumMod val="65000"/>
                  <a:lumOff val="35000"/>
                </a:schemeClr>
              </a:solidFill>
            </a:endParaRPr>
          </a:p>
          <a:p>
            <a:pPr marL="731520" lvl="1" indent="-182880" algn="just">
              <a:lnSpc>
                <a:spcPts val="2400"/>
              </a:lnSpc>
              <a:spcBef>
                <a:spcPts val="600"/>
              </a:spcBef>
              <a:spcAft>
                <a:spcPts val="225"/>
              </a:spcAft>
              <a:buFont typeface="Courier New" panose="02070309020205020404" pitchFamily="49" charset="0"/>
              <a:buChar char="o"/>
              <a:tabLst>
                <a:tab pos="685766" algn="l"/>
              </a:tabLst>
            </a:pPr>
            <a:endParaRPr lang="en-US" sz="1450" dirty="0">
              <a:solidFill>
                <a:schemeClr val="tx1">
                  <a:lumMod val="65000"/>
                  <a:lumOff val="35000"/>
                </a:schemeClr>
              </a:solidFill>
            </a:endParaRP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p:txBody>
      </p:sp>
      <p:sp>
        <p:nvSpPr>
          <p:cNvPr id="10" name="Rectangle: Rounded Corners 9">
            <a:extLst>
              <a:ext uri="{FF2B5EF4-FFF2-40B4-BE49-F238E27FC236}">
                <a16:creationId xmlns:a16="http://schemas.microsoft.com/office/drawing/2014/main" id="{2EAD87C9-EC4C-4B69-BD9C-BAA3CA3DFC40}"/>
              </a:ext>
            </a:extLst>
          </p:cNvPr>
          <p:cNvSpPr/>
          <p:nvPr/>
        </p:nvSpPr>
        <p:spPr>
          <a:xfrm>
            <a:off x="229799" y="937103"/>
            <a:ext cx="8123172" cy="403875"/>
          </a:xfrm>
          <a:prstGeom prst="roundRect">
            <a:avLst/>
          </a:prstGeom>
          <a:solidFill>
            <a:schemeClr val="accent6">
              <a:lumMod val="20000"/>
              <a:lumOff val="80000"/>
            </a:schemeClr>
          </a:solidFill>
          <a:ln w="127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800" b="1" dirty="0">
                <a:solidFill>
                  <a:schemeClr val="tx1">
                    <a:lumMod val="75000"/>
                    <a:lumOff val="25000"/>
                  </a:schemeClr>
                </a:solidFill>
                <a:latin typeface="Arial" panose="020B0604020202020204" pitchFamily="34" charset="0"/>
                <a:cs typeface="Arial" panose="020B0604020202020204" pitchFamily="34" charset="0"/>
              </a:rPr>
              <a:t>Possible Options Identified by IESBA Representatives</a:t>
            </a:r>
          </a:p>
        </p:txBody>
      </p:sp>
      <p:sp>
        <p:nvSpPr>
          <p:cNvPr id="3" name="Rectangle: Rounded Corners 2">
            <a:extLst>
              <a:ext uri="{FF2B5EF4-FFF2-40B4-BE49-F238E27FC236}">
                <a16:creationId xmlns:a16="http://schemas.microsoft.com/office/drawing/2014/main" id="{CCB04388-9264-4212-9F70-11EFB6853AF4}"/>
              </a:ext>
            </a:extLst>
          </p:cNvPr>
          <p:cNvSpPr/>
          <p:nvPr/>
        </p:nvSpPr>
        <p:spPr>
          <a:xfrm>
            <a:off x="457198" y="3236686"/>
            <a:ext cx="7844971" cy="1479375"/>
          </a:xfrm>
          <a:prstGeom prst="roundRect">
            <a:avLst/>
          </a:prstGeom>
          <a:solidFill>
            <a:schemeClr val="bg1">
              <a:lumMod val="9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ts val="1800"/>
              </a:lnSpc>
            </a:pPr>
            <a:r>
              <a:rPr lang="en-US" sz="1300" b="1" dirty="0">
                <a:solidFill>
                  <a:schemeClr val="tx1">
                    <a:lumMod val="75000"/>
                    <a:lumOff val="25000"/>
                  </a:schemeClr>
                </a:solidFill>
                <a:latin typeface="Arial" panose="020B0604020202020204" pitchFamily="34" charset="0"/>
                <a:cs typeface="Arial" panose="020B0604020202020204" pitchFamily="34" charset="0"/>
              </a:rPr>
              <a:t>Matters for IAASB Consideration – The IAASB is asked</a:t>
            </a:r>
          </a:p>
          <a:p>
            <a:pPr marL="342900" indent="-342900">
              <a:lnSpc>
                <a:spcPts val="1800"/>
              </a:lnSpc>
              <a:buFont typeface="+mj-lt"/>
              <a:buAutoNum type="arabicPeriod"/>
            </a:pPr>
            <a:r>
              <a:rPr lang="en-US" sz="1300" dirty="0">
                <a:solidFill>
                  <a:schemeClr val="tx1">
                    <a:lumMod val="75000"/>
                    <a:lumOff val="25000"/>
                  </a:schemeClr>
                </a:solidFill>
                <a:latin typeface="Arial" panose="020B0604020202020204" pitchFamily="34" charset="0"/>
                <a:cs typeface="Arial" panose="020B0604020202020204" pitchFamily="34" charset="0"/>
              </a:rPr>
              <a:t>For its views on the four possible options to achieve closer alignment between ISA 260 (Revised) and the Code, including any other possibilities that should be considered</a:t>
            </a:r>
          </a:p>
          <a:p>
            <a:pPr marL="342900" indent="-342900">
              <a:lnSpc>
                <a:spcPts val="1800"/>
              </a:lnSpc>
              <a:buFont typeface="+mj-lt"/>
              <a:buAutoNum type="arabicPeriod"/>
            </a:pPr>
            <a:r>
              <a:rPr lang="en-US" sz="1300" dirty="0">
                <a:solidFill>
                  <a:schemeClr val="tx1">
                    <a:lumMod val="75000"/>
                    <a:lumOff val="25000"/>
                  </a:schemeClr>
                </a:solidFill>
                <a:latin typeface="Arial" panose="020B0604020202020204" pitchFamily="34" charset="0"/>
                <a:cs typeface="Arial" panose="020B0604020202020204" pitchFamily="34" charset="0"/>
              </a:rPr>
              <a:t>Whether there are any other matters that the JWG should consider in undertaking further coordination activities</a:t>
            </a:r>
          </a:p>
        </p:txBody>
      </p:sp>
    </p:spTree>
    <p:extLst>
      <p:ext uri="{BB962C8B-B14F-4D97-AF65-F5344CB8AC3E}">
        <p14:creationId xmlns:p14="http://schemas.microsoft.com/office/powerpoint/2010/main" val="2523452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Public Disclosure of Fee-Related Information</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8</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999309"/>
            <a:ext cx="8457003" cy="3558514"/>
          </a:xfrm>
        </p:spPr>
        <p:txBody>
          <a:bodyPr/>
          <a:lstStyle/>
          <a:p>
            <a:pPr marL="347454" indent="-347454" algn="just">
              <a:lnSpc>
                <a:spcPts val="1800"/>
              </a:lnSpc>
              <a:spcBef>
                <a:spcPts val="225"/>
              </a:spcBef>
              <a:spcAft>
                <a:spcPts val="225"/>
              </a:spcAft>
              <a:buNone/>
            </a:pPr>
            <a:endParaRPr lang="en-US" sz="400" dirty="0"/>
          </a:p>
          <a:p>
            <a:pPr marL="260597" indent="-260597">
              <a:lnSpc>
                <a:spcPts val="1900"/>
              </a:lnSpc>
              <a:spcBef>
                <a:spcPts val="2400"/>
              </a:spcBef>
              <a:spcAft>
                <a:spcPts val="225"/>
              </a:spcAft>
              <a:buFont typeface="Arial" panose="020B0604020202020204" pitchFamily="34" charset="0"/>
              <a:buChar char="•"/>
              <a:tabLst>
                <a:tab pos="625445" algn="l"/>
              </a:tabLst>
            </a:pPr>
            <a:r>
              <a:rPr lang="en-US" sz="1800" b="1" dirty="0">
                <a:solidFill>
                  <a:schemeClr val="tx1">
                    <a:lumMod val="65000"/>
                    <a:lumOff val="35000"/>
                  </a:schemeClr>
                </a:solidFill>
              </a:rPr>
              <a:t>For an audit client that is a </a:t>
            </a:r>
            <a:r>
              <a:rPr lang="en-US" sz="1800" b="1" dirty="0">
                <a:solidFill>
                  <a:srgbClr val="0070C0"/>
                </a:solidFill>
              </a:rPr>
              <a:t>PIE</a:t>
            </a:r>
            <a:r>
              <a:rPr lang="en-US" sz="1800" b="1" dirty="0">
                <a:solidFill>
                  <a:schemeClr val="tx1">
                    <a:lumMod val="65000"/>
                    <a:lumOff val="35000"/>
                  </a:schemeClr>
                </a:solidFill>
              </a:rPr>
              <a:t>, the firm shall be satisfied</a:t>
            </a:r>
            <a:br>
              <a:rPr lang="en-US" sz="1800" b="1" dirty="0">
                <a:solidFill>
                  <a:schemeClr val="tx1">
                    <a:lumMod val="65000"/>
                    <a:lumOff val="35000"/>
                  </a:schemeClr>
                </a:solidFill>
              </a:rPr>
            </a:br>
            <a:r>
              <a:rPr lang="en-US" sz="1800" b="1" dirty="0">
                <a:solidFill>
                  <a:schemeClr val="tx1">
                    <a:lumMod val="65000"/>
                    <a:lumOff val="35000"/>
                  </a:schemeClr>
                </a:solidFill>
              </a:rPr>
              <a:t>about public disclosure of:</a:t>
            </a:r>
          </a:p>
          <a:p>
            <a:pPr marL="521195" indent="-260597">
              <a:lnSpc>
                <a:spcPts val="19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Amount of the fee for the audit of the FS;  </a:t>
            </a:r>
          </a:p>
          <a:p>
            <a:pPr marL="521195" indent="-260597">
              <a:lnSpc>
                <a:spcPts val="19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Amount of fees for services other than the audit of the FS charged</a:t>
            </a:r>
            <a:br>
              <a:rPr lang="en-US" sz="1600" dirty="0">
                <a:solidFill>
                  <a:schemeClr val="tx1">
                    <a:lumMod val="65000"/>
                    <a:lumOff val="35000"/>
                  </a:schemeClr>
                </a:solidFill>
              </a:rPr>
            </a:br>
            <a:r>
              <a:rPr lang="en-US" sz="1600" dirty="0">
                <a:solidFill>
                  <a:schemeClr val="tx1">
                    <a:lumMod val="65000"/>
                    <a:lumOff val="35000"/>
                  </a:schemeClr>
                </a:solidFill>
              </a:rPr>
              <a:t>during the period covered by the FS; and</a:t>
            </a:r>
          </a:p>
          <a:p>
            <a:pPr marL="521195" indent="-260597">
              <a:lnSpc>
                <a:spcPts val="19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If applicable, the fact that total fees from audit client &gt; 15% of total fees of the firm</a:t>
            </a:r>
            <a:br>
              <a:rPr lang="en-US" sz="1600" dirty="0">
                <a:solidFill>
                  <a:schemeClr val="tx1">
                    <a:lumMod val="65000"/>
                    <a:lumOff val="35000"/>
                  </a:schemeClr>
                </a:solidFill>
              </a:rPr>
            </a:br>
            <a:r>
              <a:rPr lang="en-US" sz="1600" dirty="0">
                <a:solidFill>
                  <a:schemeClr val="tx1">
                    <a:lumMod val="65000"/>
                    <a:lumOff val="35000"/>
                  </a:schemeClr>
                </a:solidFill>
              </a:rPr>
              <a:t>(“… represent, or are likely to represent, … for two consecutive years, …”)</a:t>
            </a:r>
          </a:p>
          <a:p>
            <a:pPr marL="731520" lvl="1" indent="-182880">
              <a:lnSpc>
                <a:spcPts val="1800"/>
              </a:lnSpc>
              <a:spcBef>
                <a:spcPts val="600"/>
              </a:spcBef>
              <a:spcAft>
                <a:spcPts val="225"/>
              </a:spcAft>
              <a:buFont typeface="Courier New" panose="02070309020205020404" pitchFamily="49" charset="0"/>
              <a:buChar char="o"/>
              <a:tabLst>
                <a:tab pos="685766" algn="l"/>
              </a:tabLst>
            </a:pPr>
            <a:endParaRPr lang="en-US" sz="1450" dirty="0">
              <a:solidFill>
                <a:schemeClr val="tx1">
                  <a:lumMod val="65000"/>
                  <a:lumOff val="35000"/>
                </a:schemeClr>
              </a:solidFill>
            </a:endParaRPr>
          </a:p>
          <a:p>
            <a:pPr marL="731520" lvl="1" indent="-182880" algn="just">
              <a:lnSpc>
                <a:spcPts val="2400"/>
              </a:lnSpc>
              <a:spcBef>
                <a:spcPts val="600"/>
              </a:spcBef>
              <a:spcAft>
                <a:spcPts val="225"/>
              </a:spcAft>
              <a:buFont typeface="Courier New" panose="02070309020205020404" pitchFamily="49" charset="0"/>
              <a:buChar char="o"/>
              <a:tabLst>
                <a:tab pos="685766" algn="l"/>
              </a:tabLst>
            </a:pPr>
            <a:endParaRPr lang="en-US" sz="1450" dirty="0">
              <a:solidFill>
                <a:schemeClr val="tx1">
                  <a:lumMod val="65000"/>
                  <a:lumOff val="35000"/>
                </a:schemeClr>
              </a:solidFill>
            </a:endParaRP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p:txBody>
      </p:sp>
      <p:sp>
        <p:nvSpPr>
          <p:cNvPr id="10" name="Rectangle: Rounded Corners 9">
            <a:extLst>
              <a:ext uri="{FF2B5EF4-FFF2-40B4-BE49-F238E27FC236}">
                <a16:creationId xmlns:a16="http://schemas.microsoft.com/office/drawing/2014/main" id="{2EAD87C9-EC4C-4B69-BD9C-BAA3CA3DFC40}"/>
              </a:ext>
            </a:extLst>
          </p:cNvPr>
          <p:cNvSpPr/>
          <p:nvPr/>
        </p:nvSpPr>
        <p:spPr>
          <a:xfrm>
            <a:off x="229799" y="969134"/>
            <a:ext cx="8123172" cy="403875"/>
          </a:xfrm>
          <a:prstGeom prst="roundRect">
            <a:avLst/>
          </a:prstGeom>
          <a:solidFill>
            <a:schemeClr val="accent2">
              <a:lumMod val="20000"/>
              <a:lumOff val="80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800" b="1" dirty="0">
                <a:solidFill>
                  <a:schemeClr val="tx1">
                    <a:lumMod val="75000"/>
                    <a:lumOff val="25000"/>
                  </a:schemeClr>
                </a:solidFill>
                <a:latin typeface="Arial" panose="020B0604020202020204" pitchFamily="34" charset="0"/>
                <a:cs typeface="Arial" panose="020B0604020202020204" pitchFamily="34" charset="0"/>
              </a:rPr>
              <a:t>Proposed Requirement in the Code</a:t>
            </a:r>
          </a:p>
        </p:txBody>
      </p:sp>
      <p:sp>
        <p:nvSpPr>
          <p:cNvPr id="9" name="Rectangle: Rounded Corners 8">
            <a:extLst>
              <a:ext uri="{FF2B5EF4-FFF2-40B4-BE49-F238E27FC236}">
                <a16:creationId xmlns:a16="http://schemas.microsoft.com/office/drawing/2014/main" id="{504F5731-4AB8-4B72-88CE-D2DBD712F1FF}"/>
              </a:ext>
            </a:extLst>
          </p:cNvPr>
          <p:cNvSpPr/>
          <p:nvPr/>
        </p:nvSpPr>
        <p:spPr>
          <a:xfrm>
            <a:off x="396714" y="3734442"/>
            <a:ext cx="7655677" cy="974531"/>
          </a:xfrm>
          <a:prstGeom prst="roundRect">
            <a:avLst/>
          </a:prstGeom>
          <a:solidFill>
            <a:schemeClr val="bg1">
              <a:lumMod val="9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t"/>
          <a:lstStyle/>
          <a:p>
            <a:pPr>
              <a:lnSpc>
                <a:spcPts val="1900"/>
              </a:lnSpc>
            </a:pPr>
            <a:r>
              <a:rPr lang="en-US" sz="1300" dirty="0">
                <a:solidFill>
                  <a:schemeClr val="tx1">
                    <a:lumMod val="75000"/>
                    <a:lumOff val="25000"/>
                  </a:schemeClr>
                </a:solidFill>
                <a:latin typeface="Arial" panose="020B0604020202020204" pitchFamily="34" charset="0"/>
                <a:cs typeface="Arial" panose="020B0604020202020204" pitchFamily="34" charset="0"/>
              </a:rPr>
              <a:t>Information must be </a:t>
            </a:r>
            <a:r>
              <a:rPr lang="en-US" sz="1300" b="1" dirty="0">
                <a:solidFill>
                  <a:schemeClr val="tx1">
                    <a:lumMod val="75000"/>
                    <a:lumOff val="25000"/>
                  </a:schemeClr>
                </a:solidFill>
                <a:latin typeface="Arial" panose="020B0604020202020204" pitchFamily="34" charset="0"/>
                <a:cs typeface="Arial" panose="020B0604020202020204" pitchFamily="34" charset="0"/>
              </a:rPr>
              <a:t>“appropriately accessible”</a:t>
            </a:r>
          </a:p>
          <a:p>
            <a:pPr marL="285750" indent="-285750">
              <a:lnSpc>
                <a:spcPts val="1900"/>
              </a:lnSpc>
              <a:buFont typeface="Arial" panose="020B0604020202020204" pitchFamily="34" charset="0"/>
              <a:buChar char="‒"/>
            </a:pPr>
            <a:r>
              <a:rPr lang="en-US" sz="1300" dirty="0">
                <a:solidFill>
                  <a:schemeClr val="tx1">
                    <a:lumMod val="75000"/>
                    <a:lumOff val="25000"/>
                  </a:schemeClr>
                </a:solidFill>
                <a:latin typeface="Arial" panose="020B0604020202020204" pitchFamily="34" charset="0"/>
                <a:cs typeface="Arial" panose="020B0604020202020204" pitchFamily="34" charset="0"/>
              </a:rPr>
              <a:t>Readily available for any stakeholder </a:t>
            </a:r>
          </a:p>
          <a:p>
            <a:pPr marL="285750" indent="-285750">
              <a:lnSpc>
                <a:spcPts val="1900"/>
              </a:lnSpc>
              <a:buFont typeface="Arial" panose="020B0604020202020204" pitchFamily="34" charset="0"/>
              <a:buChar char="‒"/>
            </a:pPr>
            <a:r>
              <a:rPr lang="en-US" sz="1300" dirty="0">
                <a:solidFill>
                  <a:schemeClr val="tx1">
                    <a:lumMod val="75000"/>
                    <a:lumOff val="25000"/>
                  </a:schemeClr>
                </a:solidFill>
                <a:latin typeface="Arial" panose="020B0604020202020204" pitchFamily="34" charset="0"/>
                <a:cs typeface="Arial" panose="020B0604020202020204" pitchFamily="34" charset="0"/>
              </a:rPr>
              <a:t>In a manner that stakeholders are specifically informed about (or firm believes, know about)</a:t>
            </a:r>
          </a:p>
        </p:txBody>
      </p:sp>
    </p:spTree>
    <p:extLst>
      <p:ext uri="{BB962C8B-B14F-4D97-AF65-F5344CB8AC3E}">
        <p14:creationId xmlns:p14="http://schemas.microsoft.com/office/powerpoint/2010/main" val="3458004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Public Disclosure of Fee-Related Information</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9</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3040083" y="2138584"/>
            <a:ext cx="5861876" cy="2629814"/>
          </a:xfrm>
        </p:spPr>
        <p:txBody>
          <a:bodyPr/>
          <a:lstStyle/>
          <a:p>
            <a:pPr marL="0" indent="0">
              <a:lnSpc>
                <a:spcPts val="1900"/>
              </a:lnSpc>
              <a:spcBef>
                <a:spcPts val="2400"/>
              </a:spcBef>
              <a:spcAft>
                <a:spcPts val="225"/>
              </a:spcAft>
              <a:buNone/>
              <a:tabLst>
                <a:tab pos="625445" algn="l"/>
              </a:tabLst>
            </a:pPr>
            <a:r>
              <a:rPr lang="en-US" sz="1600" b="1" dirty="0">
                <a:solidFill>
                  <a:schemeClr val="tx1">
                    <a:lumMod val="65000"/>
                    <a:lumOff val="35000"/>
                  </a:schemeClr>
                </a:solidFill>
              </a:rPr>
              <a:t>If the requirement is not satisfied by disclosure made in accordance with law or regulation, further guidance is proposed, as follows:</a:t>
            </a:r>
          </a:p>
          <a:p>
            <a:pPr marL="546348" indent="-285750">
              <a:lnSpc>
                <a:spcPts val="1900"/>
              </a:lnSpc>
              <a:spcBef>
                <a:spcPts val="600"/>
              </a:spcBef>
              <a:spcAft>
                <a:spcPts val="225"/>
              </a:spcAft>
              <a:buFont typeface="Wingdings" panose="05000000000000000000" pitchFamily="2" charset="2"/>
              <a:buChar char="§"/>
              <a:tabLst>
                <a:tab pos="685766" algn="l"/>
              </a:tabLst>
            </a:pPr>
            <a:r>
              <a:rPr lang="en-US" sz="1600" dirty="0">
                <a:solidFill>
                  <a:schemeClr val="tx1">
                    <a:lumMod val="65000"/>
                    <a:lumOff val="35000"/>
                  </a:schemeClr>
                </a:solidFill>
              </a:rPr>
              <a:t>The audit client might agree to disclose the required fee-related information</a:t>
            </a:r>
          </a:p>
          <a:p>
            <a:pPr marL="546348" indent="-285750">
              <a:lnSpc>
                <a:spcPts val="1900"/>
              </a:lnSpc>
              <a:spcBef>
                <a:spcPts val="600"/>
              </a:spcBef>
              <a:spcAft>
                <a:spcPts val="225"/>
              </a:spcAft>
              <a:buFont typeface="Wingdings" panose="05000000000000000000" pitchFamily="2" charset="2"/>
              <a:buChar char="§"/>
              <a:tabLst>
                <a:tab pos="685766" algn="l"/>
              </a:tabLst>
            </a:pPr>
            <a:r>
              <a:rPr lang="en-US" sz="1600" dirty="0">
                <a:solidFill>
                  <a:schemeClr val="tx1">
                    <a:lumMod val="65000"/>
                    <a:lumOff val="35000"/>
                  </a:schemeClr>
                </a:solidFill>
              </a:rPr>
              <a:t>If not, the firm considers other suitable locations,</a:t>
            </a:r>
            <a:br>
              <a:rPr lang="en-US" sz="1600" dirty="0">
                <a:solidFill>
                  <a:schemeClr val="tx1">
                    <a:lumMod val="65000"/>
                    <a:lumOff val="35000"/>
                  </a:schemeClr>
                </a:solidFill>
              </a:rPr>
            </a:br>
            <a:r>
              <a:rPr lang="en-US" sz="1600" dirty="0">
                <a:solidFill>
                  <a:schemeClr val="tx1">
                    <a:lumMod val="65000"/>
                    <a:lumOff val="35000"/>
                  </a:schemeClr>
                </a:solidFill>
              </a:rPr>
              <a:t>for example:  </a:t>
            </a:r>
          </a:p>
          <a:p>
            <a:pPr marL="889248" lvl="2" indent="-285750">
              <a:lnSpc>
                <a:spcPts val="19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Client’s proxy statement</a:t>
            </a:r>
          </a:p>
          <a:p>
            <a:pPr marL="889248" lvl="2" indent="-285750">
              <a:lnSpc>
                <a:spcPts val="1900"/>
              </a:lnSpc>
              <a:spcBef>
                <a:spcPts val="600"/>
              </a:spcBef>
              <a:spcAft>
                <a:spcPts val="225"/>
              </a:spcAft>
              <a:buFont typeface="Arial" panose="020B0604020202020204" pitchFamily="34" charset="0"/>
              <a:buChar char="•"/>
              <a:tabLst>
                <a:tab pos="685766" algn="l"/>
              </a:tabLst>
            </a:pPr>
            <a:r>
              <a:rPr lang="en-US" sz="1600" dirty="0">
                <a:solidFill>
                  <a:schemeClr val="tx1">
                    <a:lumMod val="65000"/>
                    <a:lumOff val="35000"/>
                  </a:schemeClr>
                </a:solidFill>
              </a:rPr>
              <a:t>Auditor’s report</a:t>
            </a:r>
          </a:p>
          <a:p>
            <a:pPr marL="731520" lvl="1" indent="-182880" algn="just">
              <a:lnSpc>
                <a:spcPts val="2400"/>
              </a:lnSpc>
              <a:spcBef>
                <a:spcPts val="600"/>
              </a:spcBef>
              <a:spcAft>
                <a:spcPts val="225"/>
              </a:spcAft>
              <a:buFont typeface="Courier New" panose="02070309020205020404" pitchFamily="49" charset="0"/>
              <a:buChar char="o"/>
              <a:tabLst>
                <a:tab pos="685766" algn="l"/>
              </a:tabLst>
            </a:pPr>
            <a:endParaRPr lang="en-US" sz="1600" dirty="0">
              <a:solidFill>
                <a:schemeClr val="tx1">
                  <a:lumMod val="65000"/>
                  <a:lumOff val="35000"/>
                </a:schemeClr>
              </a:solidFill>
            </a:endParaRPr>
          </a:p>
          <a:p>
            <a:pPr marL="603498" lvl="2" indent="0" algn="just">
              <a:lnSpc>
                <a:spcPts val="2400"/>
              </a:lnSpc>
              <a:spcBef>
                <a:spcPts val="0"/>
              </a:spcBef>
              <a:spcAft>
                <a:spcPts val="225"/>
              </a:spcAft>
              <a:buNone/>
              <a:tabLst>
                <a:tab pos="685766" algn="l"/>
              </a:tabLst>
            </a:pPr>
            <a:endParaRPr lang="en-US" sz="16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600" dirty="0">
              <a:solidFill>
                <a:schemeClr val="tx1">
                  <a:lumMod val="65000"/>
                  <a:lumOff val="35000"/>
                </a:schemeClr>
              </a:solidFill>
            </a:endParaRPr>
          </a:p>
        </p:txBody>
      </p:sp>
      <p:sp>
        <p:nvSpPr>
          <p:cNvPr id="10" name="Rectangle: Rounded Corners 9">
            <a:extLst>
              <a:ext uri="{FF2B5EF4-FFF2-40B4-BE49-F238E27FC236}">
                <a16:creationId xmlns:a16="http://schemas.microsoft.com/office/drawing/2014/main" id="{2EAD87C9-EC4C-4B69-BD9C-BAA3CA3DFC40}"/>
              </a:ext>
            </a:extLst>
          </p:cNvPr>
          <p:cNvSpPr/>
          <p:nvPr/>
        </p:nvSpPr>
        <p:spPr>
          <a:xfrm>
            <a:off x="229799" y="962046"/>
            <a:ext cx="8123172" cy="403875"/>
          </a:xfrm>
          <a:prstGeom prst="roundRect">
            <a:avLst/>
          </a:prstGeom>
          <a:solidFill>
            <a:schemeClr val="accent2">
              <a:lumMod val="20000"/>
              <a:lumOff val="80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800" b="1" dirty="0">
                <a:solidFill>
                  <a:schemeClr val="tx1">
                    <a:lumMod val="75000"/>
                    <a:lumOff val="25000"/>
                  </a:schemeClr>
                </a:solidFill>
                <a:latin typeface="Arial" panose="020B0604020202020204" pitchFamily="34" charset="0"/>
                <a:cs typeface="Arial" panose="020B0604020202020204" pitchFamily="34" charset="0"/>
              </a:rPr>
              <a:t>Proposed Requirement in the Code – How to …</a:t>
            </a:r>
          </a:p>
        </p:txBody>
      </p:sp>
      <p:pic>
        <p:nvPicPr>
          <p:cNvPr id="8" name="Picture 7">
            <a:extLst>
              <a:ext uri="{FF2B5EF4-FFF2-40B4-BE49-F238E27FC236}">
                <a16:creationId xmlns:a16="http://schemas.microsoft.com/office/drawing/2014/main" id="{C13ACB98-6AC0-4C76-9D61-0149B71CBA44}"/>
              </a:ext>
            </a:extLst>
          </p:cNvPr>
          <p:cNvPicPr>
            <a:picLocks noChangeAspect="1"/>
          </p:cNvPicPr>
          <p:nvPr/>
        </p:nvPicPr>
        <p:blipFill>
          <a:blip r:embed="rId3"/>
          <a:stretch>
            <a:fillRect/>
          </a:stretch>
        </p:blipFill>
        <p:spPr>
          <a:xfrm>
            <a:off x="461838" y="2044853"/>
            <a:ext cx="2148115" cy="996308"/>
          </a:xfrm>
          <a:prstGeom prst="rect">
            <a:avLst/>
          </a:prstGeom>
        </p:spPr>
      </p:pic>
      <p:sp>
        <p:nvSpPr>
          <p:cNvPr id="11" name="Rectangle: Rounded Corners 10">
            <a:extLst>
              <a:ext uri="{FF2B5EF4-FFF2-40B4-BE49-F238E27FC236}">
                <a16:creationId xmlns:a16="http://schemas.microsoft.com/office/drawing/2014/main" id="{5D663157-C81A-4B40-9644-D5D63504F7A7}"/>
              </a:ext>
            </a:extLst>
          </p:cNvPr>
          <p:cNvSpPr/>
          <p:nvPr/>
        </p:nvSpPr>
        <p:spPr>
          <a:xfrm>
            <a:off x="142387" y="1544502"/>
            <a:ext cx="2576425" cy="582576"/>
          </a:xfrm>
          <a:prstGeom prst="round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ts val="1900"/>
              </a:lnSpc>
            </a:pPr>
            <a:r>
              <a:rPr lang="en-US" sz="1400" b="1" dirty="0">
                <a:solidFill>
                  <a:schemeClr val="tx1">
                    <a:lumMod val="75000"/>
                    <a:lumOff val="25000"/>
                  </a:schemeClr>
                </a:solidFill>
                <a:latin typeface="Arial" panose="020B0604020202020204" pitchFamily="34" charset="0"/>
                <a:cs typeface="Arial" panose="020B0604020202020204" pitchFamily="34" charset="0"/>
              </a:rPr>
              <a:t>Local laws and regulations</a:t>
            </a:r>
            <a:endParaRPr lang="en-US" sz="13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654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Public Disclosure of Fee-Related Information</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10</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1217832"/>
            <a:ext cx="8786454" cy="3602939"/>
          </a:xfrm>
        </p:spPr>
        <p:txBody>
          <a:bodyPr/>
          <a:lstStyle/>
          <a:p>
            <a:pPr marL="347454" indent="-347454" algn="just">
              <a:lnSpc>
                <a:spcPts val="1800"/>
              </a:lnSpc>
              <a:spcBef>
                <a:spcPts val="225"/>
              </a:spcBef>
              <a:spcAft>
                <a:spcPts val="225"/>
              </a:spcAft>
              <a:buNone/>
            </a:pPr>
            <a:endParaRPr lang="en-US" sz="400" dirty="0"/>
          </a:p>
          <a:p>
            <a:pPr marL="260597" indent="-260597">
              <a:lnSpc>
                <a:spcPts val="1900"/>
              </a:lnSpc>
              <a:spcBef>
                <a:spcPts val="600"/>
              </a:spcBef>
              <a:spcAft>
                <a:spcPts val="225"/>
              </a:spcAft>
              <a:buFont typeface="Arial" panose="020B0604020202020204" pitchFamily="34" charset="0"/>
              <a:buChar char="•"/>
              <a:tabLst>
                <a:tab pos="625445" algn="l"/>
              </a:tabLst>
            </a:pPr>
            <a:r>
              <a:rPr lang="en-US" sz="2000" b="1" dirty="0">
                <a:solidFill>
                  <a:srgbClr val="0070C0"/>
                </a:solidFill>
              </a:rPr>
              <a:t>ISA 700 (Revised)</a:t>
            </a:r>
          </a:p>
          <a:p>
            <a:pPr marL="548640" lvl="2" indent="-274320">
              <a:lnSpc>
                <a:spcPts val="1900"/>
              </a:lnSpc>
              <a:spcBef>
                <a:spcPts val="600"/>
              </a:spcBef>
              <a:spcAft>
                <a:spcPts val="225"/>
              </a:spcAft>
              <a:buFont typeface="Arial" panose="020B0604020202020204" pitchFamily="34" charset="0"/>
              <a:buChar char="─"/>
              <a:tabLst>
                <a:tab pos="625445" algn="l"/>
              </a:tabLst>
            </a:pPr>
            <a:r>
              <a:rPr lang="en-US" sz="1600" dirty="0">
                <a:solidFill>
                  <a:schemeClr val="tx1">
                    <a:lumMod val="65000"/>
                    <a:lumOff val="35000"/>
                  </a:schemeClr>
                </a:solidFill>
              </a:rPr>
              <a:t>Fees proposals not covered by the basic reporting elements of ISA 700 (Revised) </a:t>
            </a:r>
          </a:p>
          <a:p>
            <a:pPr marL="548640" lvl="2" indent="-274320">
              <a:lnSpc>
                <a:spcPts val="1900"/>
              </a:lnSpc>
              <a:spcBef>
                <a:spcPts val="600"/>
              </a:spcBef>
              <a:spcAft>
                <a:spcPts val="225"/>
              </a:spcAft>
              <a:buFont typeface="Arial" panose="020B0604020202020204" pitchFamily="34" charset="0"/>
              <a:buChar char="─"/>
              <a:tabLst>
                <a:tab pos="625445" algn="l"/>
              </a:tabLst>
            </a:pPr>
            <a:r>
              <a:rPr lang="en-US" sz="1600" dirty="0">
                <a:solidFill>
                  <a:schemeClr val="tx1">
                    <a:lumMod val="65000"/>
                    <a:lumOff val="35000"/>
                  </a:schemeClr>
                </a:solidFill>
              </a:rPr>
              <a:t>Reporting not required under the ISAs is regarded as ‘</a:t>
            </a:r>
            <a:r>
              <a:rPr lang="en-US" sz="1600" i="1" dirty="0">
                <a:solidFill>
                  <a:schemeClr val="tx1">
                    <a:lumMod val="65000"/>
                    <a:lumOff val="35000"/>
                  </a:schemeClr>
                </a:solidFill>
              </a:rPr>
              <a:t>Other Reporting Responsibilities</a:t>
            </a:r>
            <a:r>
              <a:rPr lang="en-US" sz="1600" dirty="0">
                <a:solidFill>
                  <a:schemeClr val="tx1">
                    <a:lumMod val="65000"/>
                    <a:lumOff val="35000"/>
                  </a:schemeClr>
                </a:solidFill>
              </a:rPr>
              <a:t>’ </a:t>
            </a:r>
          </a:p>
          <a:p>
            <a:pPr marL="925830" lvl="3" indent="-285750">
              <a:lnSpc>
                <a:spcPts val="1900"/>
              </a:lnSpc>
              <a:spcBef>
                <a:spcPts val="600"/>
              </a:spcBef>
              <a:spcAft>
                <a:spcPts val="225"/>
              </a:spcAft>
              <a:buFont typeface="Courier New" panose="02070309020205020404" pitchFamily="49" charset="0"/>
              <a:buChar char="o"/>
              <a:tabLst>
                <a:tab pos="625445" algn="l"/>
              </a:tabLst>
            </a:pPr>
            <a:r>
              <a:rPr lang="en-US" sz="1400" dirty="0">
                <a:solidFill>
                  <a:schemeClr val="tx1">
                    <a:lumMod val="65000"/>
                    <a:lumOff val="35000"/>
                  </a:schemeClr>
                </a:solidFill>
              </a:rPr>
              <a:t>Separate section, with heading ‘</a:t>
            </a:r>
            <a:r>
              <a:rPr lang="en-US" sz="1400" i="1" dirty="0">
                <a:solidFill>
                  <a:schemeClr val="tx1">
                    <a:lumMod val="65000"/>
                    <a:lumOff val="35000"/>
                  </a:schemeClr>
                </a:solidFill>
              </a:rPr>
              <a:t>Report on Other Legal and Regulatory Requirements</a:t>
            </a:r>
            <a:r>
              <a:rPr lang="en-US" sz="1400" dirty="0">
                <a:solidFill>
                  <a:schemeClr val="tx1">
                    <a:lumMod val="65000"/>
                    <a:lumOff val="35000"/>
                  </a:schemeClr>
                </a:solidFill>
              </a:rPr>
              <a:t>’ or</a:t>
            </a:r>
            <a:br>
              <a:rPr lang="en-US" sz="1400" dirty="0">
                <a:solidFill>
                  <a:schemeClr val="tx1">
                    <a:lumMod val="65000"/>
                    <a:lumOff val="35000"/>
                  </a:schemeClr>
                </a:solidFill>
              </a:rPr>
            </a:br>
            <a:r>
              <a:rPr lang="en-US" sz="1400" dirty="0">
                <a:solidFill>
                  <a:schemeClr val="tx1">
                    <a:lumMod val="65000"/>
                    <a:lumOff val="35000"/>
                  </a:schemeClr>
                </a:solidFill>
              </a:rPr>
              <a:t>otherwise as appropriate to the content of the section</a:t>
            </a:r>
          </a:p>
          <a:p>
            <a:pPr marL="260597" indent="-260597">
              <a:lnSpc>
                <a:spcPts val="1900"/>
              </a:lnSpc>
              <a:spcBef>
                <a:spcPts val="1200"/>
              </a:spcBef>
              <a:spcAft>
                <a:spcPts val="225"/>
              </a:spcAft>
              <a:buFont typeface="Arial" panose="020B0604020202020204" pitchFamily="34" charset="0"/>
              <a:buChar char="•"/>
              <a:tabLst>
                <a:tab pos="625445" algn="l"/>
              </a:tabLst>
            </a:pPr>
            <a:r>
              <a:rPr lang="en-US" sz="2000" b="1" dirty="0">
                <a:solidFill>
                  <a:srgbClr val="0070C0"/>
                </a:solidFill>
              </a:rPr>
              <a:t>ISA 706 (Revised)</a:t>
            </a:r>
          </a:p>
          <a:p>
            <a:pPr marL="548640" lvl="2" indent="-274320">
              <a:lnSpc>
                <a:spcPts val="1900"/>
              </a:lnSpc>
              <a:spcBef>
                <a:spcPts val="600"/>
              </a:spcBef>
              <a:spcAft>
                <a:spcPts val="225"/>
              </a:spcAft>
              <a:buFont typeface="Arial" panose="020B0604020202020204" pitchFamily="34" charset="0"/>
              <a:buChar char="─"/>
              <a:tabLst>
                <a:tab pos="625445" algn="l"/>
              </a:tabLst>
            </a:pPr>
            <a:r>
              <a:rPr lang="en-US" sz="1600" dirty="0">
                <a:solidFill>
                  <a:schemeClr val="tx1">
                    <a:lumMod val="65000"/>
                    <a:lumOff val="35000"/>
                  </a:schemeClr>
                </a:solidFill>
              </a:rPr>
              <a:t>If the auditor considers it necessary / in the auditor’s judgment</a:t>
            </a:r>
          </a:p>
          <a:p>
            <a:pPr marL="548640" lvl="2" indent="-274320">
              <a:lnSpc>
                <a:spcPts val="1900"/>
              </a:lnSpc>
              <a:spcBef>
                <a:spcPts val="600"/>
              </a:spcBef>
              <a:spcAft>
                <a:spcPts val="225"/>
              </a:spcAft>
              <a:buFont typeface="Arial" panose="020B0604020202020204" pitchFamily="34" charset="0"/>
              <a:buChar char="─"/>
              <a:tabLst>
                <a:tab pos="625445" algn="l"/>
              </a:tabLst>
            </a:pPr>
            <a:r>
              <a:rPr lang="en-US" sz="1600" dirty="0">
                <a:solidFill>
                  <a:schemeClr val="tx1">
                    <a:lumMod val="65000"/>
                    <a:lumOff val="35000"/>
                  </a:schemeClr>
                </a:solidFill>
              </a:rPr>
              <a:t>Matters, </a:t>
            </a:r>
            <a:r>
              <a:rPr lang="en-US" sz="1600" u="sng" dirty="0">
                <a:solidFill>
                  <a:schemeClr val="tx1">
                    <a:lumMod val="65000"/>
                    <a:lumOff val="35000"/>
                  </a:schemeClr>
                </a:solidFill>
              </a:rPr>
              <a:t>not</a:t>
            </a:r>
            <a:r>
              <a:rPr lang="en-US" sz="1600" dirty="0">
                <a:solidFill>
                  <a:schemeClr val="tx1">
                    <a:lumMod val="65000"/>
                    <a:lumOff val="35000"/>
                  </a:schemeClr>
                </a:solidFill>
              </a:rPr>
              <a:t> presented or disclosed in FS, relevant to users understanding of the audit, auditor’s responsibilities, or auditor’s report </a:t>
            </a:r>
          </a:p>
          <a:p>
            <a:pPr marL="548640" lvl="2" indent="-274320">
              <a:lnSpc>
                <a:spcPts val="1900"/>
              </a:lnSpc>
              <a:spcBef>
                <a:spcPts val="600"/>
              </a:spcBef>
              <a:spcAft>
                <a:spcPts val="225"/>
              </a:spcAft>
              <a:buFont typeface="Arial" panose="020B0604020202020204" pitchFamily="34" charset="0"/>
              <a:buChar char="─"/>
              <a:tabLst>
                <a:tab pos="625445" algn="l"/>
              </a:tabLst>
            </a:pPr>
            <a:r>
              <a:rPr lang="en-US" sz="1600" dirty="0">
                <a:solidFill>
                  <a:schemeClr val="tx1">
                    <a:lumMod val="65000"/>
                    <a:lumOff val="35000"/>
                  </a:schemeClr>
                </a:solidFill>
              </a:rPr>
              <a:t>Exceptions: Prohibited by law or regulation </a:t>
            </a:r>
            <a:r>
              <a:rPr lang="en-US" sz="1600" u="sng" dirty="0">
                <a:solidFill>
                  <a:schemeClr val="tx1">
                    <a:lumMod val="65000"/>
                    <a:lumOff val="35000"/>
                  </a:schemeClr>
                </a:solidFill>
              </a:rPr>
              <a:t>or</a:t>
            </a:r>
            <a:r>
              <a:rPr lang="en-US" sz="1600" dirty="0">
                <a:solidFill>
                  <a:schemeClr val="tx1">
                    <a:lumMod val="65000"/>
                    <a:lumOff val="35000"/>
                  </a:schemeClr>
                </a:solidFill>
              </a:rPr>
              <a:t> ‘Key Audit Matter’ (ISA 701)</a:t>
            </a:r>
            <a:endParaRPr lang="en-US" sz="1450" dirty="0">
              <a:solidFill>
                <a:schemeClr val="tx1">
                  <a:lumMod val="65000"/>
                  <a:lumOff val="35000"/>
                </a:schemeClr>
              </a:solidFill>
            </a:endParaRPr>
          </a:p>
          <a:p>
            <a:pPr marL="521195" indent="-260597" algn="just">
              <a:lnSpc>
                <a:spcPts val="1900"/>
              </a:lnSpc>
              <a:spcBef>
                <a:spcPts val="600"/>
              </a:spcBef>
              <a:spcAft>
                <a:spcPts val="225"/>
              </a:spcAft>
              <a:buFont typeface="Arial" panose="020B0604020202020204" pitchFamily="34" charset="0"/>
              <a:buChar char="−"/>
              <a:tabLst>
                <a:tab pos="685766" algn="l"/>
              </a:tabLst>
            </a:pPr>
            <a:endParaRPr lang="en-US" sz="1600" dirty="0">
              <a:solidFill>
                <a:schemeClr val="tx1">
                  <a:lumMod val="65000"/>
                  <a:lumOff val="35000"/>
                </a:schemeClr>
              </a:solidFill>
            </a:endParaRPr>
          </a:p>
          <a:p>
            <a:pPr marL="731520" lvl="1" indent="-182880" algn="just">
              <a:lnSpc>
                <a:spcPts val="2400"/>
              </a:lnSpc>
              <a:spcBef>
                <a:spcPts val="600"/>
              </a:spcBef>
              <a:spcAft>
                <a:spcPts val="225"/>
              </a:spcAft>
              <a:buFont typeface="Courier New" panose="02070309020205020404" pitchFamily="49" charset="0"/>
              <a:buChar char="o"/>
              <a:tabLst>
                <a:tab pos="685766" algn="l"/>
              </a:tabLst>
            </a:pPr>
            <a:endParaRPr lang="en-US" sz="1450" dirty="0">
              <a:solidFill>
                <a:schemeClr val="tx1">
                  <a:lumMod val="65000"/>
                  <a:lumOff val="35000"/>
                </a:schemeClr>
              </a:solidFill>
            </a:endParaRP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p:txBody>
      </p:sp>
      <p:sp>
        <p:nvSpPr>
          <p:cNvPr id="10" name="Rectangle: Rounded Corners 9">
            <a:extLst>
              <a:ext uri="{FF2B5EF4-FFF2-40B4-BE49-F238E27FC236}">
                <a16:creationId xmlns:a16="http://schemas.microsoft.com/office/drawing/2014/main" id="{2EAD87C9-EC4C-4B69-BD9C-BAA3CA3DFC40}"/>
              </a:ext>
            </a:extLst>
          </p:cNvPr>
          <p:cNvSpPr/>
          <p:nvPr/>
        </p:nvSpPr>
        <p:spPr>
          <a:xfrm>
            <a:off x="229799" y="950782"/>
            <a:ext cx="8123172" cy="403875"/>
          </a:xfrm>
          <a:prstGeom prst="roundRect">
            <a:avLst/>
          </a:prstGeom>
          <a:solidFill>
            <a:schemeClr val="accent2">
              <a:lumMod val="20000"/>
              <a:lumOff val="80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800" b="1" dirty="0">
                <a:solidFill>
                  <a:schemeClr val="tx1">
                    <a:lumMod val="75000"/>
                    <a:lumOff val="25000"/>
                  </a:schemeClr>
                </a:solidFill>
                <a:latin typeface="Arial" panose="020B0604020202020204" pitchFamily="34" charset="0"/>
                <a:cs typeface="Arial" panose="020B0604020202020204" pitchFamily="34" charset="0"/>
              </a:rPr>
              <a:t>Possible Disclosure in Auditor’s Report – ISA Requirements</a:t>
            </a:r>
          </a:p>
        </p:txBody>
      </p:sp>
    </p:spTree>
    <p:extLst>
      <p:ext uri="{BB962C8B-B14F-4D97-AF65-F5344CB8AC3E}">
        <p14:creationId xmlns:p14="http://schemas.microsoft.com/office/powerpoint/2010/main" val="347617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Public Disclosure of Fee-Related Information</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11</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1495644"/>
            <a:ext cx="8457003" cy="3140148"/>
          </a:xfrm>
        </p:spPr>
        <p:txBody>
          <a:bodyPr/>
          <a:lstStyle/>
          <a:p>
            <a:pPr marL="347454" indent="-347454" algn="just">
              <a:lnSpc>
                <a:spcPts val="1800"/>
              </a:lnSpc>
              <a:spcBef>
                <a:spcPts val="225"/>
              </a:spcBef>
              <a:spcAft>
                <a:spcPts val="225"/>
              </a:spcAft>
              <a:buNone/>
            </a:pPr>
            <a:endParaRPr lang="en-US" sz="400" dirty="0"/>
          </a:p>
          <a:p>
            <a:pPr marL="260597" indent="-260597">
              <a:lnSpc>
                <a:spcPts val="2880"/>
              </a:lnSpc>
              <a:spcBef>
                <a:spcPts val="600"/>
              </a:spcBef>
              <a:spcAft>
                <a:spcPts val="225"/>
              </a:spcAft>
              <a:buFont typeface="Arial" panose="020B0604020202020204" pitchFamily="34" charset="0"/>
              <a:buChar char="•"/>
              <a:tabLst>
                <a:tab pos="625445" algn="l"/>
              </a:tabLst>
            </a:pPr>
            <a:r>
              <a:rPr lang="en-US" sz="2000" dirty="0">
                <a:solidFill>
                  <a:schemeClr val="tx1">
                    <a:lumMod val="65000"/>
                    <a:lumOff val="35000"/>
                  </a:schemeClr>
                </a:solidFill>
              </a:rPr>
              <a:t>Fees paid (or estimate) include all fees paid / payable to firms in relation to audit work performed on which the audit opinion is based </a:t>
            </a:r>
          </a:p>
          <a:p>
            <a:pPr marL="521195" lvl="0" indent="-260597">
              <a:lnSpc>
                <a:spcPts val="2400"/>
              </a:lnSpc>
              <a:spcBef>
                <a:spcPts val="600"/>
              </a:spcBef>
              <a:spcAft>
                <a:spcPts val="225"/>
              </a:spcAft>
              <a:buFont typeface="Arial" panose="020B0604020202020204" pitchFamily="34" charset="0"/>
              <a:buChar char="−"/>
              <a:tabLst>
                <a:tab pos="685766" algn="l"/>
              </a:tabLst>
            </a:pPr>
            <a:r>
              <a:rPr lang="en-US" sz="1800" dirty="0">
                <a:solidFill>
                  <a:schemeClr val="tx1">
                    <a:lumMod val="65000"/>
                    <a:lumOff val="35000"/>
                  </a:schemeClr>
                </a:solidFill>
              </a:rPr>
              <a:t>Based on information available at time of the disclosure</a:t>
            </a:r>
          </a:p>
          <a:p>
            <a:pPr marL="260597" indent="-260597">
              <a:lnSpc>
                <a:spcPts val="2880"/>
              </a:lnSpc>
              <a:spcBef>
                <a:spcPts val="600"/>
              </a:spcBef>
              <a:spcAft>
                <a:spcPts val="225"/>
              </a:spcAft>
              <a:buFont typeface="Arial" panose="020B0604020202020204" pitchFamily="34" charset="0"/>
              <a:buChar char="•"/>
              <a:tabLst>
                <a:tab pos="625445" algn="l"/>
              </a:tabLst>
            </a:pPr>
            <a:r>
              <a:rPr lang="en-US" sz="2000" b="1" dirty="0">
                <a:solidFill>
                  <a:srgbClr val="0070C0"/>
                </a:solidFill>
              </a:rPr>
              <a:t>Group audits:</a:t>
            </a:r>
            <a:r>
              <a:rPr lang="en-US" sz="2000" b="1" dirty="0">
                <a:solidFill>
                  <a:srgbClr val="002060"/>
                </a:solidFill>
              </a:rPr>
              <a:t> </a:t>
            </a:r>
            <a:r>
              <a:rPr lang="en-US" sz="2000" dirty="0">
                <a:solidFill>
                  <a:schemeClr val="tx1">
                    <a:lumMod val="65000"/>
                    <a:lumOff val="35000"/>
                  </a:schemeClr>
                </a:solidFill>
              </a:rPr>
              <a:t>Include work by any component auditor at the</a:t>
            </a:r>
            <a:br>
              <a:rPr lang="en-US" sz="2000" dirty="0">
                <a:solidFill>
                  <a:schemeClr val="tx1">
                    <a:lumMod val="65000"/>
                    <a:lumOff val="35000"/>
                  </a:schemeClr>
                </a:solidFill>
              </a:rPr>
            </a:br>
            <a:r>
              <a:rPr lang="en-US" sz="2000" dirty="0">
                <a:solidFill>
                  <a:schemeClr val="tx1">
                    <a:lumMod val="65000"/>
                    <a:lumOff val="35000"/>
                  </a:schemeClr>
                </a:solidFill>
              </a:rPr>
              <a:t>direction of the group engagement partner in accordance with ISA 600 </a:t>
            </a:r>
          </a:p>
          <a:p>
            <a:pPr marL="521195" indent="-260597" algn="just">
              <a:lnSpc>
                <a:spcPts val="288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a:p>
            <a:pPr marL="731520" lvl="1" indent="-182880" algn="just">
              <a:lnSpc>
                <a:spcPts val="2880"/>
              </a:lnSpc>
              <a:spcBef>
                <a:spcPts val="600"/>
              </a:spcBef>
              <a:spcAft>
                <a:spcPts val="225"/>
              </a:spcAft>
              <a:buFont typeface="Courier New" panose="02070309020205020404" pitchFamily="49" charset="0"/>
              <a:buChar char="o"/>
              <a:tabLst>
                <a:tab pos="685766" algn="l"/>
              </a:tabLst>
            </a:pPr>
            <a:endParaRPr lang="en-US" sz="1600" dirty="0">
              <a:solidFill>
                <a:schemeClr val="tx1">
                  <a:lumMod val="65000"/>
                  <a:lumOff val="35000"/>
                </a:schemeClr>
              </a:solidFill>
            </a:endParaRP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p:txBody>
      </p:sp>
      <p:sp>
        <p:nvSpPr>
          <p:cNvPr id="10" name="Rectangle: Rounded Corners 9">
            <a:extLst>
              <a:ext uri="{FF2B5EF4-FFF2-40B4-BE49-F238E27FC236}">
                <a16:creationId xmlns:a16="http://schemas.microsoft.com/office/drawing/2014/main" id="{2EAD87C9-EC4C-4B69-BD9C-BAA3CA3DFC40}"/>
              </a:ext>
            </a:extLst>
          </p:cNvPr>
          <p:cNvSpPr/>
          <p:nvPr/>
        </p:nvSpPr>
        <p:spPr>
          <a:xfrm>
            <a:off x="229799" y="1068366"/>
            <a:ext cx="8123172" cy="403875"/>
          </a:xfrm>
          <a:prstGeom prst="roundRect">
            <a:avLst/>
          </a:prstGeom>
          <a:solidFill>
            <a:schemeClr val="accent2">
              <a:lumMod val="20000"/>
              <a:lumOff val="80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800" b="1" dirty="0">
                <a:solidFill>
                  <a:schemeClr val="tx1">
                    <a:lumMod val="75000"/>
                    <a:lumOff val="25000"/>
                  </a:schemeClr>
                </a:solidFill>
                <a:latin typeface="Arial" panose="020B0604020202020204" pitchFamily="34" charset="0"/>
                <a:cs typeface="Arial" panose="020B0604020202020204" pitchFamily="34" charset="0"/>
              </a:rPr>
              <a:t>Proposed IESBA Application Material – Group Audits</a:t>
            </a:r>
            <a:r>
              <a:rPr lang="en-US" sz="1800" b="1" dirty="0">
                <a:solidFill>
                  <a:schemeClr val="tx1">
                    <a:lumMod val="85000"/>
                    <a:lumOff val="15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365785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439"/>
            <a:ext cx="9144000" cy="403875"/>
          </a:xfrm>
        </p:spPr>
        <p:txBody>
          <a:bodyPr/>
          <a:lstStyle/>
          <a:p>
            <a:pPr marL="260597">
              <a:lnSpc>
                <a:spcPts val="1800"/>
              </a:lnSpc>
              <a:spcBef>
                <a:spcPts val="225"/>
              </a:spcBef>
              <a:spcAft>
                <a:spcPts val="225"/>
              </a:spcAft>
            </a:pPr>
            <a:r>
              <a:rPr lang="en-GB" b="1" dirty="0"/>
              <a:t>IESBA Fees Proposals – Public Disclosure of Fee-Related Information</a:t>
            </a:r>
            <a:endParaRPr lang="en-US" dirty="0"/>
          </a:p>
        </p:txBody>
      </p:sp>
      <p:sp>
        <p:nvSpPr>
          <p:cNvPr id="6" name="Slide Number Placeholder 5"/>
          <p:cNvSpPr txBox="1">
            <a:spLocks/>
          </p:cNvSpPr>
          <p:nvPr/>
        </p:nvSpPr>
        <p:spPr>
          <a:xfrm>
            <a:off x="7126211" y="4883297"/>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pPr algn="r"/>
              <a:t>12</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9" y="1000915"/>
            <a:ext cx="8457003" cy="4138218"/>
          </a:xfrm>
        </p:spPr>
        <p:txBody>
          <a:bodyPr/>
          <a:lstStyle/>
          <a:p>
            <a:pPr marL="548640" lvl="1" indent="0" algn="just">
              <a:lnSpc>
                <a:spcPts val="1800"/>
              </a:lnSpc>
              <a:spcBef>
                <a:spcPts val="600"/>
              </a:spcBef>
              <a:spcAft>
                <a:spcPts val="225"/>
              </a:spcAft>
              <a:buNone/>
              <a:tabLst>
                <a:tab pos="685766" algn="l"/>
              </a:tabLst>
            </a:pPr>
            <a:endParaRPr lang="en-US" sz="1450" dirty="0">
              <a:solidFill>
                <a:schemeClr val="tx1">
                  <a:lumMod val="65000"/>
                  <a:lumOff val="35000"/>
                </a:schemeClr>
              </a:solidFill>
            </a:endParaRPr>
          </a:p>
          <a:p>
            <a:pPr marL="731520" lvl="1" indent="-182880" algn="just">
              <a:lnSpc>
                <a:spcPts val="2400"/>
              </a:lnSpc>
              <a:spcBef>
                <a:spcPts val="600"/>
              </a:spcBef>
              <a:spcAft>
                <a:spcPts val="225"/>
              </a:spcAft>
              <a:buFont typeface="Courier New" panose="02070309020205020404" pitchFamily="49" charset="0"/>
              <a:buChar char="o"/>
              <a:tabLst>
                <a:tab pos="685766" algn="l"/>
              </a:tabLst>
            </a:pPr>
            <a:endParaRPr lang="en-US" sz="1450" dirty="0">
              <a:solidFill>
                <a:schemeClr val="tx1">
                  <a:lumMod val="65000"/>
                  <a:lumOff val="35000"/>
                </a:schemeClr>
              </a:solidFill>
            </a:endParaRPr>
          </a:p>
          <a:p>
            <a:pPr marL="603498" lvl="2" indent="0" algn="just">
              <a:lnSpc>
                <a:spcPts val="2400"/>
              </a:lnSpc>
              <a:spcBef>
                <a:spcPts val="0"/>
              </a:spcBef>
              <a:spcAft>
                <a:spcPts val="225"/>
              </a:spcAft>
              <a:buNone/>
              <a:tabLst>
                <a:tab pos="685766" algn="l"/>
              </a:tabLst>
            </a:pPr>
            <a:endParaRPr lang="en-US" sz="1300" dirty="0">
              <a:solidFill>
                <a:schemeClr val="tx1">
                  <a:lumMod val="65000"/>
                  <a:lumOff val="35000"/>
                </a:schemeClr>
              </a:solidFill>
            </a:endParaRPr>
          </a:p>
          <a:p>
            <a:pPr marL="521195" indent="-260597" algn="just">
              <a:lnSpc>
                <a:spcPts val="2400"/>
              </a:lnSpc>
              <a:spcBef>
                <a:spcPts val="600"/>
              </a:spcBef>
              <a:spcAft>
                <a:spcPts val="225"/>
              </a:spcAft>
              <a:buFont typeface="Arial" panose="020B0604020202020204" pitchFamily="34" charset="0"/>
              <a:buChar char="−"/>
              <a:tabLst>
                <a:tab pos="685766" algn="l"/>
              </a:tabLst>
            </a:pPr>
            <a:endParaRPr lang="en-US" sz="1800" dirty="0">
              <a:solidFill>
                <a:schemeClr val="tx1">
                  <a:lumMod val="65000"/>
                  <a:lumOff val="35000"/>
                </a:schemeClr>
              </a:solidFill>
            </a:endParaRPr>
          </a:p>
        </p:txBody>
      </p:sp>
      <p:sp>
        <p:nvSpPr>
          <p:cNvPr id="3" name="Rectangle: Rounded Corners 2">
            <a:extLst>
              <a:ext uri="{FF2B5EF4-FFF2-40B4-BE49-F238E27FC236}">
                <a16:creationId xmlns:a16="http://schemas.microsoft.com/office/drawing/2014/main" id="{CCB04388-9264-4212-9F70-11EFB6853AF4}"/>
              </a:ext>
            </a:extLst>
          </p:cNvPr>
          <p:cNvSpPr/>
          <p:nvPr/>
        </p:nvSpPr>
        <p:spPr>
          <a:xfrm>
            <a:off x="298937" y="1000915"/>
            <a:ext cx="7844971" cy="3562293"/>
          </a:xfrm>
          <a:prstGeom prst="roundRect">
            <a:avLst/>
          </a:prstGeom>
          <a:solidFill>
            <a:schemeClr val="bg1">
              <a:lumMod val="9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chemeClr val="tx1">
                    <a:lumMod val="75000"/>
                    <a:lumOff val="25000"/>
                  </a:schemeClr>
                </a:solidFill>
                <a:latin typeface="Arial" panose="020B0604020202020204" pitchFamily="34" charset="0"/>
                <a:cs typeface="Arial" panose="020B0604020202020204" pitchFamily="34" charset="0"/>
              </a:rPr>
              <a:t>Matters for IAASB Consideration – The IAASB is asked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a:p>
            <a:pPr marL="404812" indent="-342900" algn="just">
              <a:spcBef>
                <a:spcPts val="600"/>
              </a:spcBef>
              <a:buAutoNum type="arabicPeriod" startAt="3"/>
            </a:pPr>
            <a:r>
              <a:rPr lang="en-US" sz="1500" dirty="0">
                <a:solidFill>
                  <a:schemeClr val="tx1">
                    <a:lumMod val="75000"/>
                    <a:lumOff val="25000"/>
                  </a:schemeClr>
                </a:solidFill>
                <a:latin typeface="Arial" panose="020B0604020202020204" pitchFamily="34" charset="0"/>
                <a:cs typeface="Arial" panose="020B0604020202020204" pitchFamily="34" charset="0"/>
              </a:rPr>
              <a:t>For its views on the appropriate location in the auditor’s report for communication of relevant fee-related information as proposed by the Fees Task Force in those instances where it is determined that the auditor’s report is the appropriate location for such disclosure, including the possibilities discussed in paragraphs 25–31 of this paper or any other possibilities that should be considered.</a:t>
            </a:r>
          </a:p>
          <a:p>
            <a:pPr marL="404812" indent="-342900" algn="just">
              <a:spcBef>
                <a:spcPts val="800"/>
              </a:spcBef>
              <a:buAutoNum type="arabicPeriod" startAt="3"/>
            </a:pPr>
            <a:r>
              <a:rPr lang="en-US" sz="1500" dirty="0">
                <a:solidFill>
                  <a:schemeClr val="tx1">
                    <a:lumMod val="75000"/>
                    <a:lumOff val="25000"/>
                  </a:schemeClr>
                </a:solidFill>
                <a:latin typeface="Arial" panose="020B0604020202020204" pitchFamily="34" charset="0"/>
                <a:cs typeface="Arial" panose="020B0604020202020204" pitchFamily="34" charset="0"/>
              </a:rPr>
              <a:t>For its views on the proposed application material in the Code relating to the determination of the relevant fee-related information in the case of a group audit (refer to paragraph 32 of this paper).</a:t>
            </a:r>
          </a:p>
          <a:p>
            <a:pPr marL="404812" indent="-342900" algn="just">
              <a:spcBef>
                <a:spcPts val="800"/>
              </a:spcBef>
              <a:buAutoNum type="arabicPeriod" startAt="3"/>
            </a:pPr>
            <a:r>
              <a:rPr lang="en-US" sz="1500" dirty="0">
                <a:solidFill>
                  <a:schemeClr val="tx1">
                    <a:lumMod val="75000"/>
                    <a:lumOff val="25000"/>
                  </a:schemeClr>
                </a:solidFill>
                <a:latin typeface="Arial" panose="020B0604020202020204" pitchFamily="34" charset="0"/>
                <a:cs typeface="Arial" panose="020B0604020202020204" pitchFamily="34" charset="0"/>
              </a:rPr>
              <a:t>Whether there are any other matters that the JWG should consider in undertaking its further coordination activities after the September 2019 meetings of the IAASB and IESBA.</a:t>
            </a:r>
          </a:p>
        </p:txBody>
      </p:sp>
    </p:spTree>
    <p:extLst>
      <p:ext uri="{BB962C8B-B14F-4D97-AF65-F5344CB8AC3E}">
        <p14:creationId xmlns:p14="http://schemas.microsoft.com/office/powerpoint/2010/main" val="1298911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37148"/>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3651</TotalTime>
  <Words>959</Words>
  <Application>Microsoft Office PowerPoint</Application>
  <PresentationFormat>On-screen Show (16:9)</PresentationFormat>
  <Paragraphs>146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Narrow</vt:lpstr>
      <vt:lpstr>Calibri</vt:lpstr>
      <vt:lpstr>Courier New</vt:lpstr>
      <vt:lpstr>Wingdings</vt:lpstr>
      <vt:lpstr>Office Theme</vt:lpstr>
      <vt:lpstr>IAASB – IESBA Coordination  Fees Proposals by IESBA</vt:lpstr>
      <vt:lpstr>IESBA Coordination – Fees Proposals</vt:lpstr>
      <vt:lpstr>IESBA Fees Proposals – Communication with TCWG</vt:lpstr>
      <vt:lpstr>IESBA Fees Proposals – Communication with TCWG</vt:lpstr>
      <vt:lpstr>IESBA Fees Proposals – Communication with TCWG</vt:lpstr>
      <vt:lpstr>IESBA Fees Proposals – Communication with TCWG</vt:lpstr>
      <vt:lpstr>IESBA Fees Proposals – Communication with TCWG</vt:lpstr>
      <vt:lpstr>IESBA Fees Proposals – Public Disclosure of Fee-Related Information</vt:lpstr>
      <vt:lpstr>IESBA Fees Proposals – Public Disclosure of Fee-Related Information</vt:lpstr>
      <vt:lpstr>IESBA Fees Proposals – Public Disclosure of Fee-Related Information</vt:lpstr>
      <vt:lpstr>IESBA Fees Proposals – Public Disclosure of Fee-Related Information</vt:lpstr>
      <vt:lpstr>IESBA Fees Proposals – Public Disclosure of Fee-Related Information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Phil Minnaar</cp:lastModifiedBy>
  <cp:revision>313</cp:revision>
  <cp:lastPrinted>2019-06-15T13:32:24Z</cp:lastPrinted>
  <dcterms:created xsi:type="dcterms:W3CDTF">2016-11-09T14:56:20Z</dcterms:created>
  <dcterms:modified xsi:type="dcterms:W3CDTF">2019-09-13T14:30:26Z</dcterms:modified>
</cp:coreProperties>
</file>