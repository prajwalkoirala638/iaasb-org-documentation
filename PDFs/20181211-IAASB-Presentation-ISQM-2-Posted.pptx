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65" r:id="rId2"/>
    <p:sldId id="467" r:id="rId3"/>
    <p:sldId id="473" r:id="rId4"/>
    <p:sldId id="468" r:id="rId5"/>
    <p:sldId id="469" r:id="rId6"/>
    <p:sldId id="474" r:id="rId7"/>
    <p:sldId id="470" r:id="rId8"/>
    <p:sldId id="471" r:id="rId9"/>
    <p:sldId id="476" r:id="rId10"/>
    <p:sldId id="477" r:id="rId11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2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oy Thurgood" initials="JT" lastIdx="5" clrIdx="3">
    <p:extLst>
      <p:ext uri="{19B8F6BF-5375-455C-9EA6-DF929625EA0E}">
        <p15:presenceInfo xmlns:p15="http://schemas.microsoft.com/office/powerpoint/2012/main" userId="S-1-5-21-1801674531-1972579041-839522115-17607" providerId="AD"/>
      </p:ext>
    </p:extLst>
  </p:cmAuthor>
  <p:cmAuthor id="5" name="BJ" initials="BJ" lastIdx="3" clrIdx="4">
    <p:extLst>
      <p:ext uri="{19B8F6BF-5375-455C-9EA6-DF929625EA0E}">
        <p15:presenceInfo xmlns:p15="http://schemas.microsoft.com/office/powerpoint/2012/main" userId="BJ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43" autoAdjust="0"/>
    <p:restoredTop sz="56310" autoAdjust="0"/>
  </p:normalViewPr>
  <p:slideViewPr>
    <p:cSldViewPr snapToGrid="0" snapToObjects="1">
      <p:cViewPr varScale="1">
        <p:scale>
          <a:sx n="53" d="100"/>
          <a:sy n="53" d="100"/>
        </p:scale>
        <p:origin x="1926" y="54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64" d="100"/>
          <a:sy n="64" d="100"/>
        </p:scale>
        <p:origin x="3096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12/11/2018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12/11/2018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6875" y="716214"/>
            <a:ext cx="61563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1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3970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8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68053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8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9014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 indent="0">
              <a:spcBef>
                <a:spcPts val="900"/>
              </a:spcBef>
              <a:buFont typeface="Arial" panose="020B0604020202020204" pitchFamily="34" charset="0"/>
              <a:buNone/>
            </a:pPr>
            <a:endParaRPr lang="en-US" sz="18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67648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8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45716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 indent="0">
              <a:spcBef>
                <a:spcPts val="900"/>
              </a:spcBef>
              <a:buFont typeface="Arial" panose="020B0604020202020204" pitchFamily="34" charset="0"/>
              <a:buNone/>
            </a:pPr>
            <a:endParaRPr lang="en-US" sz="18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741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 indent="0">
              <a:spcBef>
                <a:spcPts val="900"/>
              </a:spcBef>
              <a:buFont typeface="Arial" panose="020B0604020202020204" pitchFamily="34" charset="0"/>
              <a:buNone/>
            </a:pPr>
            <a:endParaRPr lang="en-US" sz="18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27490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>
              <a:spcBef>
                <a:spcPts val="900"/>
              </a:spcBef>
            </a:pPr>
            <a:endParaRPr lang="en-US" sz="1200" dirty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4881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>
              <a:spcBef>
                <a:spcPts val="900"/>
              </a:spcBef>
            </a:pPr>
            <a:endParaRPr lang="en-US" sz="1200" dirty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7175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Proposed ISQM 2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221372"/>
            <a:ext cx="4919869" cy="1419203"/>
          </a:xfrm>
        </p:spPr>
        <p:txBody>
          <a:bodyPr/>
          <a:lstStyle/>
          <a:p>
            <a:r>
              <a:rPr lang="en-US" sz="1400" dirty="0"/>
              <a:t>Imran Vanker, EQ Review Task Force Chair</a:t>
            </a:r>
          </a:p>
          <a:p>
            <a:r>
              <a:rPr lang="en-US" sz="1400" dirty="0"/>
              <a:t>IAASB Meeting, New York</a:t>
            </a:r>
          </a:p>
          <a:p>
            <a:r>
              <a:rPr lang="en-US" sz="1400" dirty="0"/>
              <a:t>Agenda Items 4-A and 4-D</a:t>
            </a:r>
          </a:p>
          <a:p>
            <a:r>
              <a:rPr lang="en-US" sz="1400" dirty="0"/>
              <a:t>December 11, 2018 </a:t>
            </a:r>
          </a:p>
        </p:txBody>
      </p:sp>
    </p:spTree>
    <p:extLst>
      <p:ext uri="{BB962C8B-B14F-4D97-AF65-F5344CB8AC3E}">
        <p14:creationId xmlns:p14="http://schemas.microsoft.com/office/powerpoint/2010/main" val="188998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776218" cy="403875"/>
          </a:xfrm>
        </p:spPr>
        <p:txBody>
          <a:bodyPr/>
          <a:lstStyle/>
          <a:p>
            <a:r>
              <a:rPr lang="en-US" dirty="0"/>
              <a:t>Proposed ISQM 1 Extract (Agenda Item 4-D) – Engagements Subject to EQ Review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2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40(e)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A102 – A109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2408361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IESBA </a:t>
            </a:r>
          </a:p>
          <a:p>
            <a:pPr lvl="1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Question about “significant public interest” vs. use of PIE in IESBA Code</a:t>
            </a:r>
          </a:p>
          <a:p>
            <a:pPr lvl="1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Suggestion to include discussion and a question in the EM</a:t>
            </a: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SMPC</a:t>
            </a:r>
          </a:p>
          <a:p>
            <a:pPr lvl="1"/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Concern about requiring an EQR for entities the firm determines are of SPI; may be open to challenge by regulators</a:t>
            </a:r>
          </a:p>
        </p:txBody>
      </p:sp>
    </p:spTree>
    <p:extLst>
      <p:ext uri="{BB962C8B-B14F-4D97-AF65-F5344CB8AC3E}">
        <p14:creationId xmlns:p14="http://schemas.microsoft.com/office/powerpoint/2010/main" val="322735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/>
              <a:t>Proposed ISQM 2 (Agenda Item 4-A) – Introduction and Authority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3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Paragraphs 1 – 8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2408361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Off-line Board comments – no significant comments </a:t>
            </a: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Authority (para. 8)</a:t>
            </a:r>
            <a:endParaRPr lang="en-US" sz="16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Approach agreed with Interim Technical Director and Managing Director – Professional Standards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Addresses Board comments in September to keep an Authority section in each QM standard, but consider ways to streamline or reduce the detailed paragraphs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Detailed AM on Authority and Preface in ISQM 1 (paragraphs A5 – A5C)</a:t>
            </a: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32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/>
              <a:t>Proposed ISQM 2 (Agenda Item 4-A) – Objective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4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10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2408361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Objective is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outcome-based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(see paras. 11-13 in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Agenda Item 4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significant points raised</a:t>
            </a: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Intent of “obtain” from the EQ reviewer an objective evaluation – reporting to firm?</a:t>
            </a: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reference to firm requirements for appointment and eligibility</a:t>
            </a: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Omission of an objective for the EQ reviewer</a:t>
            </a:r>
          </a:p>
          <a:p>
            <a:r>
              <a:rPr lang="en-US" sz="17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SMPC also commented on omission of an objective for the EQ reviewer</a:t>
            </a: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80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/>
              <a:t>Proposed ISQM 2 (Agenda Item 4-A) – Definitions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1991857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s</a:t>
            </a:r>
            <a:r>
              <a:rPr lang="en-US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ignificant points raised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Engagement quality review – question about deletion of extant reference to “formulating the auditor’s report”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Engagement quality reviewer – placement of “suitably qualified” and clarity that the reviewer could be external to the firm</a:t>
            </a:r>
          </a:p>
          <a:p>
            <a:pPr lvl="1"/>
            <a:endParaRPr lang="en-US" sz="16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lvl="1" indent="0">
              <a:spcBef>
                <a:spcPts val="900"/>
              </a:spcBef>
              <a:buNone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5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11 and Application Material paragraph A1 	</a:t>
            </a:r>
          </a:p>
        </p:txBody>
      </p:sp>
    </p:spTree>
    <p:extLst>
      <p:ext uri="{BB962C8B-B14F-4D97-AF65-F5344CB8AC3E}">
        <p14:creationId xmlns:p14="http://schemas.microsoft.com/office/powerpoint/2010/main" val="4162077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895488" cy="403875"/>
          </a:xfrm>
        </p:spPr>
        <p:txBody>
          <a:bodyPr/>
          <a:lstStyle/>
          <a:p>
            <a:r>
              <a:rPr lang="en-US" sz="1600" dirty="0"/>
              <a:t>Proposed ISQM 2 (Agenda Item 4-A) – Applying and Complying with Relevant Requirements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6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12 – 14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1991857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Off-line Board comments – no significant comments </a:t>
            </a:r>
          </a:p>
          <a:p>
            <a:pPr marL="0" lvl="1" indent="0">
              <a:spcBef>
                <a:spcPts val="900"/>
              </a:spcBef>
              <a:buNone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1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/>
              <a:t>Proposed ISQM 2 (Agenda Item 4-A) – Appointment and Eligibility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7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0730" y="864992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15 – 18 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 – A21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726" y="1984392"/>
            <a:ext cx="8260547" cy="2559018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IESBA – discussions on objectivity of EQ reviewer and cooling-off period</a:t>
            </a: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Question about whether para. A6 creates a de facto requirement</a:t>
            </a: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IFIAR and IOSCO – importance of stature and seniority of the EQ reviewer</a:t>
            </a: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significant points raised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Reference to cooling-off period in the standard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Interaction of paras. A5 and A15 (IESBA had similar comments and suggestions)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Structure of section (firm P or P vs. requirements for EQ reviewer and assistants)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Objectivity of the individual</a:t>
            </a:r>
          </a:p>
        </p:txBody>
      </p:sp>
    </p:spTree>
    <p:extLst>
      <p:ext uri="{BB962C8B-B14F-4D97-AF65-F5344CB8AC3E}">
        <p14:creationId xmlns:p14="http://schemas.microsoft.com/office/powerpoint/2010/main" val="408387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895488" cy="403875"/>
          </a:xfrm>
        </p:spPr>
        <p:txBody>
          <a:bodyPr/>
          <a:lstStyle/>
          <a:p>
            <a:r>
              <a:rPr lang="en-US" dirty="0"/>
              <a:t>Proposed ISQM 2 (Agenda Item 4-A) – Performance of the EQ Review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8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19 – 21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A22 – A34 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2347425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significant points raised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Structure of para. 21 – EQ reviewer first needs to address any concerns about significant judgments before determining that the requirements of the ISQM have been met and the engagement report can be dated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Who are the appropriate individuals in the firm to be notified if the EQ reviewer has concerns?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Responsibility for making sure that the work of assistants is appropriate (EQ reviewer retains overall responsibility) </a:t>
            </a:r>
          </a:p>
          <a:p>
            <a:pPr lvl="1"/>
            <a:endParaRPr lang="en-US" sz="16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1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895488" cy="403875"/>
          </a:xfrm>
        </p:spPr>
        <p:txBody>
          <a:bodyPr/>
          <a:lstStyle/>
          <a:p>
            <a:r>
              <a:rPr lang="en-US" dirty="0"/>
              <a:t>Proposed ISQM 2 (Agenda Item 4-A) – Documentation of the EQ Review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9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Discussion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22 – 24 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A35 – A37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8" y="2307702"/>
            <a:ext cx="8260547" cy="1991857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significant points raised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Requirement for EQ reviewer to prepare documentation vs. determining that sufficient documentation of the EQ review is prepared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Concern about review of “other documentation” required by the firm’s policies or procedures (para. 24(e))</a:t>
            </a:r>
          </a:p>
          <a:p>
            <a:r>
              <a:rPr lang="en-US" sz="1750" dirty="0">
                <a:solidFill>
                  <a:prstClr val="black">
                    <a:lumMod val="65000"/>
                    <a:lumOff val="35000"/>
                  </a:prstClr>
                </a:solidFill>
              </a:rPr>
              <a:t>SMPC raised point on the firm requirement to establish policies or procedures (para. 22)</a:t>
            </a:r>
          </a:p>
        </p:txBody>
      </p:sp>
    </p:spTree>
    <p:extLst>
      <p:ext uri="{BB962C8B-B14F-4D97-AF65-F5344CB8AC3E}">
        <p14:creationId xmlns:p14="http://schemas.microsoft.com/office/powerpoint/2010/main" val="3092013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895488" cy="403875"/>
          </a:xfrm>
        </p:spPr>
        <p:txBody>
          <a:bodyPr/>
          <a:lstStyle/>
          <a:p>
            <a:r>
              <a:rPr lang="en-US" dirty="0"/>
              <a:t>Explanatory Memorandum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10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8512" y="890489"/>
            <a:ext cx="8260547" cy="1991857"/>
          </a:xfrm>
        </p:spPr>
        <p:txBody>
          <a:bodyPr/>
          <a:lstStyle/>
          <a:p>
            <a:pPr marL="184150" lvl="1" indent="-1841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Matters identified for inclusion in the EM: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Allocation of requirements between proposed ISQM 1 and proposed ISQM 2 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Engagements for which an engagement quality review is required, including entities that are of significant public interest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Objective of ISQM 2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Eligibility criteria for the engagement quality reviewer, including:</a:t>
            </a:r>
          </a:p>
          <a:p>
            <a:pPr lvl="1"/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Performance and documentation of the engagement quality review</a:t>
            </a:r>
          </a:p>
        </p:txBody>
      </p:sp>
      <p:sp>
        <p:nvSpPr>
          <p:cNvPr id="7" name="Content Placeholder 6"/>
          <p:cNvSpPr txBox="1">
            <a:spLocks/>
          </p:cNvSpPr>
          <p:nvPr/>
        </p:nvSpPr>
        <p:spPr>
          <a:xfrm>
            <a:off x="248512" y="3547417"/>
            <a:ext cx="8673483" cy="1213052"/>
          </a:xfrm>
          <a:prstGeom prst="roundRect">
            <a:avLst/>
          </a:prstGeom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29779" indent="-129779" algn="l" defTabSz="342900" rtl="0" eaLnBrk="1" latinLnBrk="0" hangingPunct="1">
              <a:spcBef>
                <a:spcPts val="900"/>
              </a:spcBef>
              <a:buFont typeface="Arial"/>
              <a:buChar char="•"/>
              <a:defRPr sz="15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342900" rtl="0" eaLnBrk="1" latinLnBrk="0" hangingPunct="1">
              <a:spcBef>
                <a:spcPts val="450"/>
              </a:spcBef>
              <a:spcAft>
                <a:spcPts val="300"/>
              </a:spcAft>
              <a:buFont typeface="Arial"/>
              <a:buChar char="–"/>
              <a:defRPr sz="135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472679" indent="-128588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642938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0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13197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0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there are other important matters that should be addressed in the EM for proposed ISQM 2?</a:t>
            </a:r>
          </a:p>
          <a:p>
            <a:pPr marL="171450" lvl="1" indent="0">
              <a:buNone/>
            </a:pPr>
            <a:endParaRPr lang="en-US" sz="16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66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ustom 34">
    <a:dk1>
      <a:sysClr val="windowText" lastClr="000000"/>
    </a:dk1>
    <a:lt1>
      <a:sysClr val="window" lastClr="FFFFFF"/>
    </a:lt1>
    <a:dk2>
      <a:srgbClr val="005BAA"/>
    </a:dk2>
    <a:lt2>
      <a:srgbClr val="00C0F3"/>
    </a:lt2>
    <a:accent1>
      <a:srgbClr val="F15A22"/>
    </a:accent1>
    <a:accent2>
      <a:srgbClr val="FAA61A"/>
    </a:accent2>
    <a:accent3>
      <a:srgbClr val="005BAA"/>
    </a:accent3>
    <a:accent4>
      <a:srgbClr val="00C0F3"/>
    </a:accent4>
    <a:accent5>
      <a:srgbClr val="0D9C4A"/>
    </a:accent5>
    <a:accent6>
      <a:srgbClr val="8DC63F"/>
    </a:accent6>
    <a:hlink>
      <a:srgbClr val="005BAA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754</Words>
  <Application>Microsoft Office PowerPoint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MS PGothic</vt:lpstr>
      <vt:lpstr>MS PGothic</vt:lpstr>
      <vt:lpstr>Arial</vt:lpstr>
      <vt:lpstr>Arial Narrow</vt:lpstr>
      <vt:lpstr>Calibri</vt:lpstr>
      <vt:lpstr>Times New Roman</vt:lpstr>
      <vt:lpstr>ヒラギノ角ゴ Pro W3</vt:lpstr>
      <vt:lpstr>Office Theme</vt:lpstr>
      <vt:lpstr>Proposed ISQM 2</vt:lpstr>
      <vt:lpstr>Proposed ISQM 1 Extract (Agenda Item 4-D) – Engagements Subject to EQ Review </vt:lpstr>
      <vt:lpstr>Proposed ISQM 2 (Agenda Item 4-A) – Introduction and Authority</vt:lpstr>
      <vt:lpstr>Proposed ISQM 2 (Agenda Item 4-A) – Objective</vt:lpstr>
      <vt:lpstr>Proposed ISQM 2 (Agenda Item 4-A) – Definitions</vt:lpstr>
      <vt:lpstr>Proposed ISQM 2 (Agenda Item 4-A) – Applying and Complying with Relevant Requirements </vt:lpstr>
      <vt:lpstr>Proposed ISQM 2 (Agenda Item 4-A) – Appointment and Eligibility</vt:lpstr>
      <vt:lpstr>Proposed ISQM 2 (Agenda Item 4-A) – Performance of the EQ Review</vt:lpstr>
      <vt:lpstr>Proposed ISQM 2 (Agenda Item 4-A) – Documentation of the EQ Review</vt:lpstr>
      <vt:lpstr>Explanatory Memorandum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Armand Kotze</cp:lastModifiedBy>
  <cp:revision>422</cp:revision>
  <cp:lastPrinted>2018-12-10T22:45:45Z</cp:lastPrinted>
  <dcterms:created xsi:type="dcterms:W3CDTF">2016-11-09T14:56:20Z</dcterms:created>
  <dcterms:modified xsi:type="dcterms:W3CDTF">2018-12-11T14:34:45Z</dcterms:modified>
</cp:coreProperties>
</file>