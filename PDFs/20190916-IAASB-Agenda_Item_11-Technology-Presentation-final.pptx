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11"/>
  </p:notesMasterIdLst>
  <p:sldIdLst>
    <p:sldId id="259" r:id="rId3"/>
    <p:sldId id="278" r:id="rId4"/>
    <p:sldId id="279" r:id="rId5"/>
    <p:sldId id="282" r:id="rId6"/>
    <p:sldId id="281" r:id="rId7"/>
    <p:sldId id="286" r:id="rId8"/>
    <p:sldId id="285"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J" initials="BJ" lastIdx="7" clrIdx="0">
    <p:extLst>
      <p:ext uri="{19B8F6BF-5375-455C-9EA6-DF929625EA0E}">
        <p15:presenceInfo xmlns:p15="http://schemas.microsoft.com/office/powerpoint/2012/main" userId="BJ"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8110" autoAdjust="0"/>
  </p:normalViewPr>
  <p:slideViewPr>
    <p:cSldViewPr snapToGrid="0">
      <p:cViewPr varScale="1">
        <p:scale>
          <a:sx n="72" d="100"/>
          <a:sy n="72" d="100"/>
        </p:scale>
        <p:origin x="102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E319F3-3784-49AA-BD3C-DCFB84C9C58D}" type="doc">
      <dgm:prSet loTypeId="urn:microsoft.com/office/officeart/2005/8/layout/arrow6" loCatId="relationship" qsTypeId="urn:microsoft.com/office/officeart/2005/8/quickstyle/simple1" qsCatId="simple" csTypeId="urn:microsoft.com/office/officeart/2005/8/colors/accent1_2" csCatId="accent1" phldr="1"/>
      <dgm:spPr/>
      <dgm:t>
        <a:bodyPr/>
        <a:lstStyle/>
        <a:p>
          <a:endParaRPr lang="en-US"/>
        </a:p>
      </dgm:t>
    </dgm:pt>
    <dgm:pt modelId="{C48F4AB0-C747-416D-8BEE-8783D1C969D2}">
      <dgm:prSet phldrT="[Text]" custT="1"/>
      <dgm:spPr/>
      <dgm:t>
        <a:bodyPr/>
        <a:lstStyle/>
        <a:p>
          <a:pPr algn="l"/>
          <a:r>
            <a:rPr lang="en-US" sz="1400" dirty="0">
              <a:solidFill>
                <a:schemeClr val="bg2">
                  <a:lumMod val="25000"/>
                </a:schemeClr>
              </a:solidFill>
              <a:latin typeface="Arial" panose="020B0604020202020204" pitchFamily="34" charset="0"/>
              <a:cs typeface="Arial" panose="020B0604020202020204" pitchFamily="34" charset="0"/>
            </a:rPr>
            <a:t>    </a:t>
          </a:r>
          <a:r>
            <a:rPr lang="en-US" sz="1600" b="1" dirty="0">
              <a:solidFill>
                <a:schemeClr val="tx1">
                  <a:lumMod val="65000"/>
                  <a:lumOff val="35000"/>
                </a:schemeClr>
              </a:solidFill>
              <a:effectLst/>
              <a:latin typeface="Arial" panose="020B0604020202020204" pitchFamily="34" charset="0"/>
              <a:cs typeface="Arial" panose="020B0604020202020204" pitchFamily="34" charset="0"/>
            </a:rPr>
            <a:t>Audit Evidence Workstream Plan</a:t>
          </a:r>
          <a:endParaRPr lang="en-US" sz="1400" b="1" dirty="0">
            <a:solidFill>
              <a:schemeClr val="tx1">
                <a:lumMod val="65000"/>
                <a:lumOff val="35000"/>
              </a:schemeClr>
            </a:solidFill>
            <a:effectLst/>
            <a:latin typeface="Arial" panose="020B0604020202020204" pitchFamily="34" charset="0"/>
            <a:cs typeface="Arial" panose="020B0604020202020204" pitchFamily="34" charset="0"/>
          </a:endParaRPr>
        </a:p>
      </dgm:t>
    </dgm:pt>
    <dgm:pt modelId="{82DF3AC9-2536-4CAD-9254-C7B6F0B9C403}" type="parTrans" cxnId="{B24AF546-6859-4D42-9EDD-470EA19EA6C8}">
      <dgm:prSet/>
      <dgm:spPr/>
      <dgm:t>
        <a:bodyPr/>
        <a:lstStyle/>
        <a:p>
          <a:endParaRPr lang="en-US"/>
        </a:p>
      </dgm:t>
    </dgm:pt>
    <dgm:pt modelId="{B99AD35D-5255-41CE-92F9-E64BC6BE2013}" type="sibTrans" cxnId="{B24AF546-6859-4D42-9EDD-470EA19EA6C8}">
      <dgm:prSet/>
      <dgm:spPr/>
      <dgm:t>
        <a:bodyPr/>
        <a:lstStyle/>
        <a:p>
          <a:endParaRPr lang="en-US"/>
        </a:p>
      </dgm:t>
    </dgm:pt>
    <dgm:pt modelId="{4F372C92-F8F9-49D5-9EDC-3872C09C6550}">
      <dgm:prSet phldrT="[Text]" custT="1"/>
      <dgm:spPr/>
      <dgm:t>
        <a:bodyPr/>
        <a:lstStyle/>
        <a:p>
          <a:pPr algn="r"/>
          <a:r>
            <a:rPr lang="en-US" sz="1600" b="1" dirty="0">
              <a:solidFill>
                <a:schemeClr val="tx1">
                  <a:lumMod val="65000"/>
                  <a:lumOff val="35000"/>
                </a:schemeClr>
              </a:solidFill>
              <a:latin typeface="Arial" panose="020B0604020202020204" pitchFamily="34" charset="0"/>
              <a:cs typeface="Arial" panose="020B0604020202020204" pitchFamily="34" charset="0"/>
            </a:rPr>
            <a:t>Technology Workstream Plan </a:t>
          </a:r>
        </a:p>
      </dgm:t>
    </dgm:pt>
    <dgm:pt modelId="{370A9F2F-D67F-4E20-899D-6FBA49FFD7A0}" type="parTrans" cxnId="{C1F185B0-A99D-4A99-94A1-AA833ABC6037}">
      <dgm:prSet/>
      <dgm:spPr/>
      <dgm:t>
        <a:bodyPr/>
        <a:lstStyle/>
        <a:p>
          <a:endParaRPr lang="en-US"/>
        </a:p>
      </dgm:t>
    </dgm:pt>
    <dgm:pt modelId="{525918A5-35E5-46CF-A64C-4F4AB64BB436}" type="sibTrans" cxnId="{C1F185B0-A99D-4A99-94A1-AA833ABC6037}">
      <dgm:prSet/>
      <dgm:spPr/>
      <dgm:t>
        <a:bodyPr/>
        <a:lstStyle/>
        <a:p>
          <a:endParaRPr lang="en-US"/>
        </a:p>
      </dgm:t>
    </dgm:pt>
    <dgm:pt modelId="{02A11184-E284-492E-ABDC-A95EFA3698BD}" type="pres">
      <dgm:prSet presAssocID="{3FE319F3-3784-49AA-BD3C-DCFB84C9C58D}" presName="compositeShape" presStyleCnt="0">
        <dgm:presLayoutVars>
          <dgm:chMax val="2"/>
          <dgm:dir/>
          <dgm:resizeHandles val="exact"/>
        </dgm:presLayoutVars>
      </dgm:prSet>
      <dgm:spPr/>
    </dgm:pt>
    <dgm:pt modelId="{92B48CD0-7093-4FA7-A5F7-4BE2496B4DEA}" type="pres">
      <dgm:prSet presAssocID="{3FE319F3-3784-49AA-BD3C-DCFB84C9C58D}" presName="ribbon" presStyleLbl="node1" presStyleIdx="0" presStyleCnt="1" custScaleX="230706" custLinFactNeighborX="15000" custLinFactNeighborY="2046"/>
      <dgm:spPr>
        <a:solidFill>
          <a:schemeClr val="accent2">
            <a:lumMod val="20000"/>
            <a:lumOff val="80000"/>
          </a:schemeClr>
        </a:solidFill>
        <a:ln>
          <a:solidFill>
            <a:schemeClr val="accent2"/>
          </a:solidFill>
        </a:ln>
      </dgm:spPr>
    </dgm:pt>
    <dgm:pt modelId="{9939D738-D044-4B86-884C-F6D85E032F99}" type="pres">
      <dgm:prSet presAssocID="{3FE319F3-3784-49AA-BD3C-DCFB84C9C58D}" presName="leftArrowText" presStyleLbl="node1" presStyleIdx="0" presStyleCnt="1" custScaleX="465295">
        <dgm:presLayoutVars>
          <dgm:chMax val="0"/>
          <dgm:bulletEnabled val="1"/>
        </dgm:presLayoutVars>
      </dgm:prSet>
      <dgm:spPr/>
    </dgm:pt>
    <dgm:pt modelId="{AB6B15AE-F6DD-41BA-9017-BFB3775BC06A}" type="pres">
      <dgm:prSet presAssocID="{3FE319F3-3784-49AA-BD3C-DCFB84C9C58D}" presName="rightArrowText" presStyleLbl="node1" presStyleIdx="0" presStyleCnt="1" custScaleX="329150">
        <dgm:presLayoutVars>
          <dgm:chMax val="0"/>
          <dgm:bulletEnabled val="1"/>
        </dgm:presLayoutVars>
      </dgm:prSet>
      <dgm:spPr/>
    </dgm:pt>
  </dgm:ptLst>
  <dgm:cxnLst>
    <dgm:cxn modelId="{B24AF546-6859-4D42-9EDD-470EA19EA6C8}" srcId="{3FE319F3-3784-49AA-BD3C-DCFB84C9C58D}" destId="{C48F4AB0-C747-416D-8BEE-8783D1C969D2}" srcOrd="0" destOrd="0" parTransId="{82DF3AC9-2536-4CAD-9254-C7B6F0B9C403}" sibTransId="{B99AD35D-5255-41CE-92F9-E64BC6BE2013}"/>
    <dgm:cxn modelId="{17A7D74B-4B19-4ECC-A3B0-A3ED17D413BE}" type="presOf" srcId="{3FE319F3-3784-49AA-BD3C-DCFB84C9C58D}" destId="{02A11184-E284-492E-ABDC-A95EFA3698BD}" srcOrd="0" destOrd="0" presId="urn:microsoft.com/office/officeart/2005/8/layout/arrow6"/>
    <dgm:cxn modelId="{CA2A08A7-4A8B-4CAC-8D91-51AC574D4F80}" type="presOf" srcId="{C48F4AB0-C747-416D-8BEE-8783D1C969D2}" destId="{9939D738-D044-4B86-884C-F6D85E032F99}" srcOrd="0" destOrd="0" presId="urn:microsoft.com/office/officeart/2005/8/layout/arrow6"/>
    <dgm:cxn modelId="{C1F185B0-A99D-4A99-94A1-AA833ABC6037}" srcId="{3FE319F3-3784-49AA-BD3C-DCFB84C9C58D}" destId="{4F372C92-F8F9-49D5-9EDC-3872C09C6550}" srcOrd="1" destOrd="0" parTransId="{370A9F2F-D67F-4E20-899D-6FBA49FFD7A0}" sibTransId="{525918A5-35E5-46CF-A64C-4F4AB64BB436}"/>
    <dgm:cxn modelId="{34CD37BD-E6ED-4320-B41A-4187E24252B9}" type="presOf" srcId="{4F372C92-F8F9-49D5-9EDC-3872C09C6550}" destId="{AB6B15AE-F6DD-41BA-9017-BFB3775BC06A}" srcOrd="0" destOrd="0" presId="urn:microsoft.com/office/officeart/2005/8/layout/arrow6"/>
    <dgm:cxn modelId="{3225B75A-1ED2-4AA0-85BA-F19A6D16BE2F}" type="presParOf" srcId="{02A11184-E284-492E-ABDC-A95EFA3698BD}" destId="{92B48CD0-7093-4FA7-A5F7-4BE2496B4DEA}" srcOrd="0" destOrd="0" presId="urn:microsoft.com/office/officeart/2005/8/layout/arrow6"/>
    <dgm:cxn modelId="{41A7169A-3B83-42F4-A4D2-E0211357351D}" type="presParOf" srcId="{02A11184-E284-492E-ABDC-A95EFA3698BD}" destId="{9939D738-D044-4B86-884C-F6D85E032F99}" srcOrd="1" destOrd="0" presId="urn:microsoft.com/office/officeart/2005/8/layout/arrow6"/>
    <dgm:cxn modelId="{F20BBF8D-4EB3-47B9-BB63-2A7F5C5FA2E4}" type="presParOf" srcId="{02A11184-E284-492E-ABDC-A95EFA3698BD}" destId="{AB6B15AE-F6DD-41BA-9017-BFB3775BC06A}"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B48CD0-7093-4FA7-A5F7-4BE2496B4DEA}">
      <dsp:nvSpPr>
        <dsp:cNvPr id="0" name=""/>
        <dsp:cNvSpPr/>
      </dsp:nvSpPr>
      <dsp:spPr>
        <a:xfrm>
          <a:off x="-237066" y="0"/>
          <a:ext cx="9606845" cy="1665643"/>
        </a:xfrm>
        <a:prstGeom prst="leftRightRibbon">
          <a:avLst/>
        </a:prstGeom>
        <a:solidFill>
          <a:schemeClr val="accent2">
            <a:lumMod val="20000"/>
            <a:lumOff val="8000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939D738-D044-4B86-884C-F6D85E032F99}">
      <dsp:nvSpPr>
        <dsp:cNvPr id="0" name=""/>
        <dsp:cNvSpPr/>
      </dsp:nvSpPr>
      <dsp:spPr>
        <a:xfrm>
          <a:off x="474134" y="291487"/>
          <a:ext cx="6393876" cy="81616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49784" rIns="0" bIns="53340" numCol="1" spcCol="1270" anchor="ctr" anchorCtr="0">
          <a:noAutofit/>
        </a:bodyPr>
        <a:lstStyle/>
        <a:p>
          <a:pPr marL="0" lvl="0" indent="0" algn="l" defTabSz="622300">
            <a:lnSpc>
              <a:spcPct val="90000"/>
            </a:lnSpc>
            <a:spcBef>
              <a:spcPct val="0"/>
            </a:spcBef>
            <a:spcAft>
              <a:spcPct val="35000"/>
            </a:spcAft>
            <a:buNone/>
          </a:pPr>
          <a:r>
            <a:rPr lang="en-US" sz="1400" kern="1200" dirty="0">
              <a:solidFill>
                <a:schemeClr val="bg2">
                  <a:lumMod val="25000"/>
                </a:schemeClr>
              </a:solidFill>
              <a:latin typeface="Arial" panose="020B0604020202020204" pitchFamily="34" charset="0"/>
              <a:cs typeface="Arial" panose="020B0604020202020204" pitchFamily="34" charset="0"/>
            </a:rPr>
            <a:t>    </a:t>
          </a:r>
          <a:r>
            <a:rPr lang="en-US" sz="1600" b="1" kern="1200" dirty="0">
              <a:solidFill>
                <a:schemeClr val="tx1">
                  <a:lumMod val="65000"/>
                  <a:lumOff val="35000"/>
                </a:schemeClr>
              </a:solidFill>
              <a:effectLst/>
              <a:latin typeface="Arial" panose="020B0604020202020204" pitchFamily="34" charset="0"/>
              <a:cs typeface="Arial" panose="020B0604020202020204" pitchFamily="34" charset="0"/>
            </a:rPr>
            <a:t>Audit Evidence Workstream Plan</a:t>
          </a:r>
          <a:endParaRPr lang="en-US" sz="1400" b="1" kern="1200" dirty="0">
            <a:solidFill>
              <a:schemeClr val="tx1">
                <a:lumMod val="65000"/>
                <a:lumOff val="35000"/>
              </a:schemeClr>
            </a:solidFill>
            <a:effectLst/>
            <a:latin typeface="Arial" panose="020B0604020202020204" pitchFamily="34" charset="0"/>
            <a:cs typeface="Arial" panose="020B0604020202020204" pitchFamily="34" charset="0"/>
          </a:endParaRPr>
        </a:p>
      </dsp:txBody>
      <dsp:txXfrm>
        <a:off x="474134" y="291487"/>
        <a:ext cx="6393876" cy="816165"/>
      </dsp:txXfrm>
    </dsp:sp>
    <dsp:sp modelId="{AB6B15AE-F6DD-41BA-9017-BFB3775BC06A}">
      <dsp:nvSpPr>
        <dsp:cNvPr id="0" name=""/>
        <dsp:cNvSpPr/>
      </dsp:nvSpPr>
      <dsp:spPr>
        <a:xfrm>
          <a:off x="2705655" y="557990"/>
          <a:ext cx="5345402" cy="816165"/>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56896" rIns="0" bIns="60960" numCol="1" spcCol="1270" anchor="ctr" anchorCtr="0">
          <a:noAutofit/>
        </a:bodyPr>
        <a:lstStyle/>
        <a:p>
          <a:pPr marL="0" lvl="0" indent="0" algn="r" defTabSz="711200">
            <a:lnSpc>
              <a:spcPct val="90000"/>
            </a:lnSpc>
            <a:spcBef>
              <a:spcPct val="0"/>
            </a:spcBef>
            <a:spcAft>
              <a:spcPct val="35000"/>
            </a:spcAft>
            <a:buNone/>
          </a:pPr>
          <a:r>
            <a:rPr lang="en-US" sz="1600" b="1" kern="1200" dirty="0">
              <a:solidFill>
                <a:schemeClr val="tx1">
                  <a:lumMod val="65000"/>
                  <a:lumOff val="35000"/>
                </a:schemeClr>
              </a:solidFill>
              <a:latin typeface="Arial" panose="020B0604020202020204" pitchFamily="34" charset="0"/>
              <a:cs typeface="Arial" panose="020B0604020202020204" pitchFamily="34" charset="0"/>
            </a:rPr>
            <a:t>Technology Workstream Plan </a:t>
          </a:r>
        </a:p>
      </dsp:txBody>
      <dsp:txXfrm>
        <a:off x="2705655" y="557990"/>
        <a:ext cx="5345402" cy="816165"/>
      </dsp:txXfrm>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22D069-970D-4398-BD95-A219843A6AD4}" type="datetimeFigureOut">
              <a:rPr lang="en-US" smtClean="0"/>
              <a:t>9/16/2019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CB90A-9334-4ADC-8CB5-77F605DA77C7}" type="slidenum">
              <a:rPr lang="en-US" smtClean="0"/>
              <a:t>‹#›</a:t>
            </a:fld>
            <a:endParaRPr lang="en-US"/>
          </a:p>
        </p:txBody>
      </p:sp>
    </p:spTree>
    <p:extLst>
      <p:ext uri="{BB962C8B-B14F-4D97-AF65-F5344CB8AC3E}">
        <p14:creationId xmlns:p14="http://schemas.microsoft.com/office/powerpoint/2010/main" val="1726668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D410189-AC31-7546-878A-F48FDE4A29F5}" type="slidenum">
              <a:rPr lang="en-US" smtClean="0">
                <a:solidFill>
                  <a:prstClr val="black"/>
                </a:solidFill>
              </a:rPr>
              <a:pPr/>
              <a:t>1</a:t>
            </a:fld>
            <a:endParaRPr lang="en-US">
              <a:solidFill>
                <a:prstClr val="black"/>
              </a:solidFill>
            </a:endParaRPr>
          </a:p>
        </p:txBody>
      </p:sp>
    </p:spTree>
    <p:extLst>
      <p:ext uri="{BB962C8B-B14F-4D97-AF65-F5344CB8AC3E}">
        <p14:creationId xmlns:p14="http://schemas.microsoft.com/office/powerpoint/2010/main" val="29361139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IAASB meeting March 2019: Initial consideration of some issues related to audit evidence, including technology </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IAASB meeting June 2019: </a:t>
            </a:r>
          </a:p>
          <a:p>
            <a:pPr marL="822960" lvl="1" indent="-36576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Presentation to the Board: Issues identified regarding audit evidence and technology, including possible actions (including standard setting)</a:t>
            </a:r>
          </a:p>
          <a:p>
            <a:pPr marL="822960" lvl="1" indent="-36576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Board noted pressing need for the </a:t>
            </a:r>
            <a:r>
              <a:rPr lang="en-US" b="1" dirty="0">
                <a:solidFill>
                  <a:schemeClr val="tx2">
                    <a:lumMod val="75000"/>
                  </a:schemeClr>
                </a:solidFill>
                <a:latin typeface="Arial" panose="020B0604020202020204" pitchFamily="34" charset="0"/>
                <a:cs typeface="Arial" panose="020B0604020202020204" pitchFamily="34" charset="0"/>
              </a:rPr>
              <a:t>development of guidance material </a:t>
            </a:r>
            <a:r>
              <a:rPr lang="en-US" dirty="0">
                <a:latin typeface="Arial" panose="020B0604020202020204" pitchFamily="34" charset="0"/>
                <a:cs typeface="Arial" panose="020B0604020202020204" pitchFamily="34" charset="0"/>
              </a:rPr>
              <a:t>on the implications of technology when applying certain aspects of the ISAs</a:t>
            </a:r>
          </a:p>
          <a:p>
            <a:pPr marL="822960" lvl="1" indent="-36576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Establishing a Technology Workstream Plan to facilitate process</a:t>
            </a:r>
          </a:p>
          <a:p>
            <a:pPr marL="457200" lvl="1" indent="-347472">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Development of FAQ – The use of automated tools and techniques when performing risk assessment procedures in accordance with ISA 315 (Revised)</a:t>
            </a:r>
          </a:p>
          <a:p>
            <a:endParaRPr lang="en-US" dirty="0"/>
          </a:p>
        </p:txBody>
      </p:sp>
      <p:sp>
        <p:nvSpPr>
          <p:cNvPr id="4" name="Slide Number Placeholder 3"/>
          <p:cNvSpPr>
            <a:spLocks noGrp="1"/>
          </p:cNvSpPr>
          <p:nvPr>
            <p:ph type="sldNum" sz="quarter" idx="5"/>
          </p:nvPr>
        </p:nvSpPr>
        <p:spPr/>
        <p:txBody>
          <a:bodyPr/>
          <a:lstStyle/>
          <a:p>
            <a:fld id="{BC5CB90A-9334-4ADC-8CB5-77F605DA77C7}" type="slidenum">
              <a:rPr lang="en-US" smtClean="0"/>
              <a:t>2</a:t>
            </a:fld>
            <a:endParaRPr lang="en-US"/>
          </a:p>
        </p:txBody>
      </p:sp>
    </p:spTree>
    <p:extLst>
      <p:ext uri="{BB962C8B-B14F-4D97-AF65-F5344CB8AC3E}">
        <p14:creationId xmlns:p14="http://schemas.microsoft.com/office/powerpoint/2010/main" val="27427888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t>
            </a:r>
            <a:r>
              <a:rPr lang="en-US" b="1" dirty="0"/>
              <a:t>December 2019:</a:t>
            </a:r>
            <a:r>
              <a:rPr lang="en-US" dirty="0"/>
              <a:t> 315</a:t>
            </a:r>
          </a:p>
          <a:p>
            <a:r>
              <a:rPr lang="en-US" sz="1200" kern="400" dirty="0">
                <a:effectLst/>
                <a:latin typeface="Arial" panose="020B0604020202020204" pitchFamily="34" charset="0"/>
                <a:ea typeface="Times New Roman" panose="02020603050405020304" pitchFamily="18" charset="0"/>
              </a:rPr>
              <a:t>2. </a:t>
            </a:r>
            <a:r>
              <a:rPr lang="en-US" sz="1200" b="1" kern="400" dirty="0">
                <a:effectLst/>
                <a:latin typeface="Arial" panose="020B0604020202020204" pitchFamily="34" charset="0"/>
                <a:ea typeface="Times New Roman" panose="02020603050405020304" pitchFamily="18" charset="0"/>
              </a:rPr>
              <a:t>January 2020: </a:t>
            </a:r>
            <a:r>
              <a:rPr lang="en-US" sz="1200" kern="400" dirty="0">
                <a:effectLst/>
                <a:latin typeface="Arial" panose="020B0604020202020204" pitchFamily="34" charset="0"/>
                <a:ea typeface="Times New Roman" panose="02020603050405020304" pitchFamily="18" charset="0"/>
              </a:rPr>
              <a:t>The emergence of new technologies has given rise to questions about the auditor’s documentation (i.e. various documentation challenges that may be experienced by auditors)</a:t>
            </a:r>
          </a:p>
          <a:p>
            <a:pPr marL="0" marR="0" lvl="0" indent="0" algn="just">
              <a:lnSpc>
                <a:spcPts val="1300"/>
              </a:lnSpc>
              <a:spcBef>
                <a:spcPts val="300"/>
              </a:spcBef>
              <a:spcAft>
                <a:spcPts val="300"/>
              </a:spcAft>
              <a:buFont typeface="+mj-lt"/>
              <a:buNone/>
            </a:pPr>
            <a:r>
              <a:rPr lang="en-US" sz="1200" kern="400" dirty="0">
                <a:effectLst/>
                <a:latin typeface="Arial" panose="020B0604020202020204" pitchFamily="34" charset="0"/>
              </a:rPr>
              <a:t>3. </a:t>
            </a:r>
            <a:r>
              <a:rPr lang="en-US" sz="1200" b="1" kern="400" dirty="0">
                <a:effectLst/>
                <a:latin typeface="Arial" panose="020B0604020202020204" pitchFamily="34" charset="0"/>
              </a:rPr>
              <a:t>April 2020:</a:t>
            </a:r>
          </a:p>
          <a:p>
            <a:pPr marL="0" marR="0" lvl="0" indent="0" algn="just">
              <a:lnSpc>
                <a:spcPts val="1300"/>
              </a:lnSpc>
              <a:spcBef>
                <a:spcPts val="300"/>
              </a:spcBef>
              <a:spcAft>
                <a:spcPts val="300"/>
              </a:spcAft>
              <a:buFont typeface="+mj-lt"/>
              <a:buNone/>
            </a:pPr>
            <a:r>
              <a:rPr lang="en-US" sz="1200" kern="400" dirty="0">
                <a:effectLst/>
                <a:latin typeface="Arial" panose="020B0604020202020204" pitchFamily="34" charset="0"/>
                <a:ea typeface="Times New Roman" panose="02020603050405020304" pitchFamily="18" charset="0"/>
              </a:rPr>
              <a:t>Audit procedures</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The use of technology to perform audit procedures has raised questions about whether an audit procedure can be both a risk assessment procedure and a substantive audit procedure.</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and </a:t>
            </a:r>
            <a:r>
              <a:rPr lang="en-US" sz="1200" kern="400" spc="-20" dirty="0">
                <a:effectLst/>
                <a:latin typeface="Arial" panose="020B0604020202020204" pitchFamily="34" charset="0"/>
                <a:ea typeface="Times New Roman" panose="02020603050405020304" pitchFamily="18" charset="0"/>
              </a:rPr>
              <a:t>the nature and number of sources of </a:t>
            </a:r>
            <a:r>
              <a:rPr lang="en-US" sz="1200" kern="400" dirty="0">
                <a:effectLst/>
                <a:latin typeface="Arial" panose="020B0604020202020204" pitchFamily="34" charset="0"/>
                <a:ea typeface="Times New Roman" panose="02020603050405020304" pitchFamily="18" charset="0"/>
              </a:rPr>
              <a:t>information, in particular the use of data analytic tools, raises questions about planning and performing substantive analytical procedures in accordance with ISA 520 (I.e. the effect of new technology and information sources).</a:t>
            </a:r>
          </a:p>
          <a:p>
            <a:pPr marL="0" marR="0" lvl="0" indent="0" algn="just">
              <a:lnSpc>
                <a:spcPts val="1300"/>
              </a:lnSpc>
              <a:spcBef>
                <a:spcPts val="300"/>
              </a:spcBef>
              <a:spcAft>
                <a:spcPts val="300"/>
              </a:spcAft>
              <a:buFont typeface="Symbol" panose="05050102010706020507" pitchFamily="18" charset="2"/>
              <a:buNone/>
            </a:pPr>
            <a:endParaRPr lang="en-US" sz="1200" kern="400" dirty="0">
              <a:effectLst/>
              <a:latin typeface="Arial" panose="020B0604020202020204" pitchFamily="34" charset="0"/>
            </a:endParaRPr>
          </a:p>
          <a:p>
            <a:pPr marL="0" marR="0" lvl="0" indent="0" algn="just">
              <a:lnSpc>
                <a:spcPts val="1300"/>
              </a:lnSpc>
              <a:spcBef>
                <a:spcPts val="300"/>
              </a:spcBef>
              <a:spcAft>
                <a:spcPts val="300"/>
              </a:spcAft>
              <a:buFont typeface="Symbol" panose="05050102010706020507" pitchFamily="18" charset="2"/>
              <a:buNone/>
            </a:pPr>
            <a:r>
              <a:rPr lang="en-US" sz="1200" b="1" kern="400" dirty="0">
                <a:effectLst/>
                <a:latin typeface="Arial" panose="020B0604020202020204" pitchFamily="34" charset="0"/>
              </a:rPr>
              <a:t>4. May 2020: </a:t>
            </a:r>
          </a:p>
          <a:p>
            <a:pPr marL="0" marR="0" lvl="0" indent="0" algn="just">
              <a:lnSpc>
                <a:spcPts val="1300"/>
              </a:lnSpc>
              <a:spcBef>
                <a:spcPts val="300"/>
              </a:spcBef>
              <a:spcAft>
                <a:spcPts val="300"/>
              </a:spcAft>
              <a:buFont typeface="Symbol" panose="05050102010706020507" pitchFamily="18" charset="2"/>
              <a:buNone/>
            </a:pPr>
            <a:r>
              <a:rPr lang="en-US" sz="1200" kern="400" dirty="0">
                <a:effectLst/>
                <a:latin typeface="Arial" panose="020B0604020202020204" pitchFamily="34" charset="0"/>
                <a:ea typeface="Times New Roman" panose="02020603050405020304" pitchFamily="18" charset="0"/>
              </a:rPr>
              <a:t>Through using technology, there is a risk of overreliance on an audit procedure as the auditor may not appropriately evaluate whether the audit procedure is designed and performed in a manner that provides the audit evidence needed about the relevant assertion being tested. This relates to whether the audit procedure is responsive to the assessed risks of material misstatement, designing how the procedure is to be performed and how the results are obtained. Furthermore, it includes highlighting the need for professional skepticism</a:t>
            </a:r>
          </a:p>
          <a:p>
            <a:pPr marL="0" marR="0" lvl="0" indent="0" algn="just">
              <a:lnSpc>
                <a:spcPts val="1300"/>
              </a:lnSpc>
              <a:spcBef>
                <a:spcPts val="300"/>
              </a:spcBef>
              <a:spcAft>
                <a:spcPts val="300"/>
              </a:spcAft>
              <a:buFont typeface="Symbol" panose="05050102010706020507" pitchFamily="18" charset="2"/>
              <a:buNone/>
            </a:pPr>
            <a:r>
              <a:rPr lang="en-US" sz="1200" b="1" kern="400" dirty="0">
                <a:effectLst/>
                <a:latin typeface="Arial" panose="020B0604020202020204" pitchFamily="34" charset="0"/>
                <a:ea typeface="Times New Roman" panose="02020603050405020304" pitchFamily="18" charset="0"/>
              </a:rPr>
              <a:t>5. June 2020</a:t>
            </a:r>
          </a:p>
          <a:p>
            <a:pPr marL="0" marR="0" lvl="0" indent="0" algn="just">
              <a:lnSpc>
                <a:spcPts val="1300"/>
              </a:lnSpc>
              <a:spcBef>
                <a:spcPts val="300"/>
              </a:spcBef>
              <a:spcAft>
                <a:spcPts val="300"/>
              </a:spcAft>
              <a:buFont typeface="Symbol" panose="05050102010706020507" pitchFamily="18" charset="2"/>
              <a:buNone/>
            </a:pPr>
            <a:r>
              <a:rPr lang="en-US" sz="1200" kern="400" dirty="0">
                <a:effectLst/>
                <a:latin typeface="Arial" panose="020B0604020202020204" pitchFamily="34" charset="0"/>
                <a:ea typeface="Times New Roman" panose="02020603050405020304" pitchFamily="18" charset="0"/>
              </a:rPr>
              <a:t>Evolution in technology and the </a:t>
            </a:r>
            <a:r>
              <a:rPr lang="en-US" sz="1200" kern="400" spc="-20" dirty="0">
                <a:effectLst/>
                <a:latin typeface="Arial" panose="020B0604020202020204" pitchFamily="34" charset="0"/>
                <a:ea typeface="Times New Roman" panose="02020603050405020304" pitchFamily="18" charset="0"/>
              </a:rPr>
              <a:t>nature and number of sources of </a:t>
            </a:r>
            <a:r>
              <a:rPr lang="en-US" sz="1200" kern="400" dirty="0">
                <a:effectLst/>
                <a:latin typeface="Arial" panose="020B0604020202020204" pitchFamily="34" charset="0"/>
                <a:ea typeface="Times New Roman" panose="02020603050405020304" pitchFamily="18" charset="0"/>
              </a:rPr>
              <a:t>information</a:t>
            </a:r>
            <a:r>
              <a:rPr lang="en-US" sz="1200" b="1" kern="400" dirty="0">
                <a:effectLst/>
                <a:latin typeface="Arial" panose="020B0604020202020204" pitchFamily="34" charset="0"/>
                <a:ea typeface="Times New Roman" panose="02020603050405020304" pitchFamily="18" charset="0"/>
              </a:rPr>
              <a:t> </a:t>
            </a:r>
            <a:r>
              <a:rPr lang="en-US" sz="1200" kern="400" dirty="0">
                <a:effectLst/>
                <a:latin typeface="Arial" panose="020B0604020202020204" pitchFamily="34" charset="0"/>
                <a:ea typeface="Times New Roman" panose="02020603050405020304" pitchFamily="18" charset="0"/>
              </a:rPr>
              <a:t>raises questions about aspects of the auditor’s responsibilities relating to fraud in accordance with ISA 240. For example, utilizing new technologies and new types of information sources in relation to fraud risk factors and evaluating the risk of material misstatement due to fraud.</a:t>
            </a:r>
            <a:endParaRPr lang="en-US" sz="1200" kern="400" dirty="0">
              <a:effectLst/>
              <a:latin typeface="Times New Roman" panose="02020603050405020304" pitchFamily="18" charset="0"/>
              <a:ea typeface="Times New Roman" panose="02020603050405020304" pitchFamily="18" charset="0"/>
            </a:endParaRPr>
          </a:p>
          <a:p>
            <a:pPr marL="0" marR="0" lvl="0" indent="0" algn="just">
              <a:lnSpc>
                <a:spcPts val="1300"/>
              </a:lnSpc>
              <a:spcBef>
                <a:spcPts val="300"/>
              </a:spcBef>
              <a:spcAft>
                <a:spcPts val="300"/>
              </a:spcAft>
              <a:buFont typeface="Symbol" panose="05050102010706020507" pitchFamily="18" charset="2"/>
              <a:buNone/>
            </a:pPr>
            <a:r>
              <a:rPr lang="en-US" sz="1200" b="1" kern="400" dirty="0">
                <a:effectLst/>
                <a:latin typeface="Times New Roman" panose="02020603050405020304" pitchFamily="18" charset="0"/>
                <a:ea typeface="Times New Roman" panose="02020603050405020304" pitchFamily="18" charset="0"/>
              </a:rPr>
              <a:t>6. July 2020</a:t>
            </a:r>
          </a:p>
          <a:p>
            <a:pPr marL="0" marR="0" lvl="0" indent="0" algn="just">
              <a:lnSpc>
                <a:spcPts val="1300"/>
              </a:lnSpc>
              <a:spcBef>
                <a:spcPts val="300"/>
              </a:spcBef>
              <a:spcAft>
                <a:spcPts val="300"/>
              </a:spcAft>
              <a:buFont typeface="Symbol" panose="05050102010706020507" pitchFamily="18" charset="2"/>
              <a:buNone/>
            </a:pPr>
            <a:r>
              <a:rPr lang="en-US" sz="1200" kern="400" dirty="0">
                <a:effectLst/>
                <a:latin typeface="Arial" panose="020B0604020202020204" pitchFamily="34" charset="0"/>
                <a:ea typeface="Times New Roman" panose="02020603050405020304" pitchFamily="18" charset="0"/>
              </a:rPr>
              <a:t>Evolution in technology and the nature and number of sources of information raises questions about aspects of the auditor’s responsibilities relating to going concern in accordance with ISA 570 (Revised). For example, utilizing new technologies and new types of information sources in relation to going concern risk factors and evaluating the appropriateness of management’s use of the going concern assumption.</a:t>
            </a:r>
            <a:endParaRPr lang="en-US" sz="1200" kern="400" dirty="0">
              <a:effectLst/>
              <a:latin typeface="Times New Roman" panose="02020603050405020304" pitchFamily="18" charset="0"/>
              <a:ea typeface="Times New Roman" panose="02020603050405020304" pitchFamily="18" charset="0"/>
            </a:endParaRPr>
          </a:p>
          <a:p>
            <a:pPr marL="0" marR="0" lvl="0" indent="0" algn="just">
              <a:lnSpc>
                <a:spcPts val="1300"/>
              </a:lnSpc>
              <a:spcBef>
                <a:spcPts val="300"/>
              </a:spcBef>
              <a:spcAft>
                <a:spcPts val="300"/>
              </a:spcAft>
              <a:buFont typeface="Symbol" panose="05050102010706020507" pitchFamily="18" charset="2"/>
              <a:buNone/>
            </a:pPr>
            <a:r>
              <a:rPr lang="en-US" sz="1200" b="1" kern="400" dirty="0">
                <a:effectLst/>
                <a:latin typeface="Times New Roman" panose="02020603050405020304" pitchFamily="18" charset="0"/>
                <a:ea typeface="Times New Roman" panose="02020603050405020304" pitchFamily="18" charset="0"/>
              </a:rPr>
              <a:t>7. Sept 2020</a:t>
            </a:r>
          </a:p>
          <a:p>
            <a:pPr marL="0" marR="0" lvl="0" indent="0" algn="just">
              <a:lnSpc>
                <a:spcPts val="1300"/>
              </a:lnSpc>
              <a:spcBef>
                <a:spcPts val="300"/>
              </a:spcBef>
              <a:spcAft>
                <a:spcPts val="300"/>
              </a:spcAft>
              <a:buFont typeface="Symbol" panose="05050102010706020507" pitchFamily="18" charset="2"/>
              <a:buNone/>
            </a:pPr>
            <a:r>
              <a:rPr lang="en-US" sz="1200" kern="400" dirty="0">
                <a:effectLst/>
                <a:latin typeface="Arial" panose="020B0604020202020204" pitchFamily="34" charset="0"/>
                <a:ea typeface="Times New Roman" panose="02020603050405020304" pitchFamily="18" charset="0"/>
              </a:rPr>
              <a:t>Evolution in technology used to perform audit procedures has raised questions about the concept of performance materiality in circumstances when 100% of the population, or a significant portion thereof, is tested.</a:t>
            </a:r>
            <a:endParaRPr lang="en-US" sz="1200" kern="400" dirty="0">
              <a:effectLst/>
              <a:latin typeface="Times New Roman" panose="02020603050405020304" pitchFamily="18" charset="0"/>
              <a:ea typeface="Times New Roman" panose="02020603050405020304" pitchFamily="18" charset="0"/>
            </a:endParaRPr>
          </a:p>
          <a:p>
            <a:pPr marL="0" marR="0" lvl="0" indent="0" algn="just">
              <a:lnSpc>
                <a:spcPts val="1300"/>
              </a:lnSpc>
              <a:spcBef>
                <a:spcPts val="300"/>
              </a:spcBef>
              <a:spcAft>
                <a:spcPts val="300"/>
              </a:spcAft>
              <a:buFont typeface="Symbol" panose="05050102010706020507" pitchFamily="18" charset="2"/>
              <a:buNone/>
            </a:pPr>
            <a:r>
              <a:rPr lang="en-ZA" sz="1200" kern="400" dirty="0">
                <a:effectLst/>
                <a:latin typeface="Arial" panose="020B0604020202020204" pitchFamily="34" charset="0"/>
                <a:ea typeface="Times New Roman" panose="02020603050405020304" pitchFamily="18" charset="0"/>
              </a:rPr>
              <a:t>In the context of performing further audit procedures, the use of technology that enables the analysis of larger populations has raised questions about whether the auditor is required to follow up all exceptions identified, or whether the auditor is able to perform further testing only on a selection of exceptions, provided that the risk of material misstatement in the remaining population is at an acceptably low level.</a:t>
            </a:r>
          </a:p>
          <a:p>
            <a:pPr marL="0" marR="0" lvl="0" indent="0" algn="just">
              <a:lnSpc>
                <a:spcPts val="1300"/>
              </a:lnSpc>
              <a:spcBef>
                <a:spcPts val="300"/>
              </a:spcBef>
              <a:spcAft>
                <a:spcPts val="300"/>
              </a:spcAft>
              <a:buFont typeface="+mj-lt"/>
              <a:buNone/>
            </a:pPr>
            <a:r>
              <a:rPr lang="en-US" sz="1200" b="1" kern="400" dirty="0">
                <a:effectLst/>
                <a:latin typeface="Arial" panose="020B0604020202020204" pitchFamily="34" charset="0"/>
                <a:ea typeface="Times New Roman" panose="02020603050405020304" pitchFamily="18" charset="0"/>
              </a:rPr>
              <a:t>8. December 2020</a:t>
            </a:r>
          </a:p>
          <a:p>
            <a:pPr marL="0" marR="0" lvl="0" indent="0" algn="just">
              <a:lnSpc>
                <a:spcPts val="1300"/>
              </a:lnSpc>
              <a:spcBef>
                <a:spcPts val="300"/>
              </a:spcBef>
              <a:spcAft>
                <a:spcPts val="300"/>
              </a:spcAft>
              <a:buFont typeface="+mj-lt"/>
              <a:buNone/>
            </a:pPr>
            <a:r>
              <a:rPr lang="en-US" sz="1200" b="1" kern="400" dirty="0">
                <a:effectLst/>
                <a:latin typeface="Arial" panose="020B0604020202020204" pitchFamily="34" charset="0"/>
                <a:ea typeface="Times New Roman" panose="02020603050405020304" pitchFamily="18" charset="0"/>
              </a:rPr>
              <a:t>‘Combined’ guidance: </a:t>
            </a:r>
            <a:endParaRPr lang="en-US" sz="1200" b="1"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and the </a:t>
            </a:r>
            <a:r>
              <a:rPr lang="en-US" sz="1200" kern="400" spc="-20" dirty="0">
                <a:effectLst/>
                <a:latin typeface="Arial" panose="020B0604020202020204" pitchFamily="34" charset="0"/>
                <a:ea typeface="Times New Roman" panose="02020603050405020304" pitchFamily="18" charset="0"/>
              </a:rPr>
              <a:t>nature and number of sources of </a:t>
            </a:r>
            <a:r>
              <a:rPr lang="en-US" sz="1200" kern="400" dirty="0">
                <a:effectLst/>
                <a:latin typeface="Arial" panose="020B0604020202020204" pitchFamily="34" charset="0"/>
                <a:ea typeface="Times New Roman" panose="02020603050405020304" pitchFamily="18" charset="0"/>
              </a:rPr>
              <a:t>information raises questions about whether guidance should be issued about  how the engagement letter addresses technology-related issues. Issues that could be discussed include the availability of algorithms and audit trails, access to key sources of internal and external data, security over data and arrangements with service providers (e.g., data warehouses).</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raises questions about the need to draw attention to specific considerations in relation to audit planning in accordance with ISA 300.</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may create new risks regarding related parties (as addressed in ISA 550). For example, with the use of blockchain, there may be new risks regarding unidentified related parties.</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and the nature and number of sources of information raises questions around key audit matters in accordance with ISA 701. For example, the application material describing how the auditor may determine key audit matters could be supplemented by guidance including  examples about technology related issues (e.g., audit of crypto assets or higher risks associated with technology such as the use of an AI tool).</a:t>
            </a:r>
            <a:endParaRPr lang="en-US" sz="1200" kern="400" dirty="0">
              <a:effectLst/>
              <a:latin typeface="Times New Roman" panose="02020603050405020304" pitchFamily="18" charset="0"/>
              <a:ea typeface="Times New Roman" panose="02020603050405020304" pitchFamily="18" charset="0"/>
            </a:endParaRPr>
          </a:p>
          <a:p>
            <a:pPr marL="342900" marR="0" lvl="0" indent="-342900" algn="just">
              <a:lnSpc>
                <a:spcPts val="1300"/>
              </a:lnSpc>
              <a:spcBef>
                <a:spcPts val="300"/>
              </a:spcBef>
              <a:spcAft>
                <a:spcPts val="300"/>
              </a:spcAft>
              <a:buFont typeface="Symbol" panose="05050102010706020507" pitchFamily="18" charset="2"/>
              <a:buChar char=""/>
            </a:pPr>
            <a:r>
              <a:rPr lang="en-US" sz="1200" kern="400" dirty="0">
                <a:effectLst/>
                <a:latin typeface="Arial" panose="020B0604020202020204" pitchFamily="34" charset="0"/>
                <a:ea typeface="Times New Roman" panose="02020603050405020304" pitchFamily="18" charset="0"/>
              </a:rPr>
              <a:t>Evolution in technology, and the extent to which it is used by the entity and the auditor, has raised questions about the practicalities of the auditor having an understanding of the field of expertise of the auditor’s expert, as required by paragraph 10 of ISA 620, given the complexity of technology (e.g. the complexity of the algorithms used). </a:t>
            </a:r>
            <a:endParaRPr lang="en-US" sz="1200" kern="400" dirty="0">
              <a:effectLst/>
              <a:latin typeface="Times New Roman" panose="02020603050405020304" pitchFamily="18" charset="0"/>
              <a:ea typeface="Times New Roman" panose="02020603050405020304" pitchFamily="18" charset="0"/>
            </a:endParaRPr>
          </a:p>
          <a:p>
            <a:pPr marL="0" marR="0" lvl="0" indent="0" algn="just">
              <a:lnSpc>
                <a:spcPts val="1300"/>
              </a:lnSpc>
              <a:spcBef>
                <a:spcPts val="300"/>
              </a:spcBef>
              <a:spcAft>
                <a:spcPts val="300"/>
              </a:spcAft>
              <a:buFont typeface="Symbol" panose="05050102010706020507" pitchFamily="18" charset="2"/>
              <a:buNone/>
            </a:pPr>
            <a:endParaRPr lang="en-US" sz="1200" kern="400" dirty="0">
              <a:effectLst/>
              <a:latin typeface="Times New Roman" panose="02020603050405020304" pitchFamily="18" charset="0"/>
              <a:ea typeface="Times New Roman" panose="02020603050405020304" pitchFamily="18" charset="0"/>
            </a:endParaRPr>
          </a:p>
          <a:p>
            <a:pPr marL="0" marR="0" lvl="0" indent="0" algn="just">
              <a:lnSpc>
                <a:spcPts val="1300"/>
              </a:lnSpc>
              <a:spcBef>
                <a:spcPts val="300"/>
              </a:spcBef>
              <a:spcAft>
                <a:spcPts val="300"/>
              </a:spcAft>
              <a:buFont typeface="Symbol" panose="05050102010706020507" pitchFamily="18" charset="2"/>
              <a:buNone/>
            </a:pPr>
            <a:endParaRPr lang="en-US" dirty="0"/>
          </a:p>
        </p:txBody>
      </p:sp>
      <p:sp>
        <p:nvSpPr>
          <p:cNvPr id="4" name="Slide Number Placeholder 3"/>
          <p:cNvSpPr>
            <a:spLocks noGrp="1"/>
          </p:cNvSpPr>
          <p:nvPr>
            <p:ph type="sldNum" sz="quarter" idx="5"/>
          </p:nvPr>
        </p:nvSpPr>
        <p:spPr/>
        <p:txBody>
          <a:bodyPr/>
          <a:lstStyle/>
          <a:p>
            <a:fld id="{BC5CB90A-9334-4ADC-8CB5-77F605DA77C7}" type="slidenum">
              <a:rPr lang="en-US" smtClean="0"/>
              <a:t>3</a:t>
            </a:fld>
            <a:endParaRPr lang="en-US"/>
          </a:p>
        </p:txBody>
      </p:sp>
    </p:spTree>
    <p:extLst>
      <p:ext uri="{BB962C8B-B14F-4D97-AF65-F5344CB8AC3E}">
        <p14:creationId xmlns:p14="http://schemas.microsoft.com/office/powerpoint/2010/main" val="568579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CB90A-9334-4ADC-8CB5-77F605DA77C7}" type="slidenum">
              <a:rPr lang="en-US" smtClean="0"/>
              <a:t>4</a:t>
            </a:fld>
            <a:endParaRPr lang="en-US"/>
          </a:p>
        </p:txBody>
      </p:sp>
    </p:spTree>
    <p:extLst>
      <p:ext uri="{BB962C8B-B14F-4D97-AF65-F5344CB8AC3E}">
        <p14:creationId xmlns:p14="http://schemas.microsoft.com/office/powerpoint/2010/main" val="2148271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 XBRL, Bitcoin, blockchain </a:t>
            </a:r>
          </a:p>
        </p:txBody>
      </p:sp>
      <p:sp>
        <p:nvSpPr>
          <p:cNvPr id="4" name="Slide Number Placeholder 3"/>
          <p:cNvSpPr>
            <a:spLocks noGrp="1"/>
          </p:cNvSpPr>
          <p:nvPr>
            <p:ph type="sldNum" sz="quarter" idx="5"/>
          </p:nvPr>
        </p:nvSpPr>
        <p:spPr/>
        <p:txBody>
          <a:bodyPr/>
          <a:lstStyle/>
          <a:p>
            <a:fld id="{BC5CB90A-9334-4ADC-8CB5-77F605DA77C7}" type="slidenum">
              <a:rPr lang="en-US" smtClean="0"/>
              <a:t>6</a:t>
            </a:fld>
            <a:endParaRPr lang="en-US"/>
          </a:p>
        </p:txBody>
      </p:sp>
    </p:spTree>
    <p:extLst>
      <p:ext uri="{BB962C8B-B14F-4D97-AF65-F5344CB8AC3E}">
        <p14:creationId xmlns:p14="http://schemas.microsoft.com/office/powerpoint/2010/main" val="14531272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5CB90A-9334-4ADC-8CB5-77F605DA77C7}" type="slidenum">
              <a:rPr lang="en-US" smtClean="0"/>
              <a:t>7</a:t>
            </a:fld>
            <a:endParaRPr lang="en-US"/>
          </a:p>
        </p:txBody>
      </p:sp>
    </p:spTree>
    <p:extLst>
      <p:ext uri="{BB962C8B-B14F-4D97-AF65-F5344CB8AC3E}">
        <p14:creationId xmlns:p14="http://schemas.microsoft.com/office/powerpoint/2010/main" val="22576839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iaasb.org/" TargetMode="External"/><Relationship Id="rId7" Type="http://schemas.openxmlformats.org/officeDocument/2006/relationships/image" Target="../media/image13.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12.png"/><Relationship Id="rId11" Type="http://schemas.openxmlformats.org/officeDocument/2006/relationships/hyperlink" Target="mailto:permissions@ifac.org" TargetMode="External"/><Relationship Id="rId5" Type="http://schemas.openxmlformats.org/officeDocument/2006/relationships/image" Target="../media/image11.png"/><Relationship Id="rId10" Type="http://schemas.openxmlformats.org/officeDocument/2006/relationships/hyperlink" Target="http://www.ifac.org/about-ifac/translations-permissions" TargetMode="External"/><Relationship Id="rId4" Type="http://schemas.openxmlformats.org/officeDocument/2006/relationships/image" Target="../media/image10.png"/><Relationship Id="rId9"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8BEC16-5153-4444-ADE5-376764F9317A}"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53966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6A7036-7F39-45B7-B8E7-90186E26FD34}"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6576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1F6F55C-F0A0-40C2-92AA-13448C1B6DE2}"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746027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6B41662-97DA-482D-BB44-A5E7E1463580}" type="datetime1">
              <a:rPr lang="en-US" smtClean="0">
                <a:solidFill>
                  <a:prstClr val="black">
                    <a:tint val="75000"/>
                  </a:prstClr>
                </a:solidFill>
              </a:rPr>
              <a:pPr/>
              <a:t>9/16/2019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12659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ED3B72-01DD-4123-ABCF-B71DC3DF9A35}" type="datetime1">
              <a:rPr lang="en-US" smtClean="0">
                <a:solidFill>
                  <a:prstClr val="black">
                    <a:tint val="75000"/>
                  </a:prstClr>
                </a:solidFill>
              </a:rPr>
              <a:pPr/>
              <a:t>9/16/2019</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596441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0D7D7D-1F9A-439A-9B1F-FAD176DAAE95}" type="datetime1">
              <a:rPr lang="en-US" smtClean="0">
                <a:solidFill>
                  <a:prstClr val="black">
                    <a:tint val="75000"/>
                  </a:prstClr>
                </a:solidFill>
              </a:rPr>
              <a:pPr/>
              <a:t>9/16/2019</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12155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E23D415-7CDF-4724-8022-A789958CE2B4}" type="datetime1">
              <a:rPr lang="en-US" smtClean="0">
                <a:solidFill>
                  <a:prstClr val="black">
                    <a:tint val="75000"/>
                  </a:prstClr>
                </a:solidFill>
              </a:rPr>
              <a:pPr/>
              <a:t>9/16/2019</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789338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82148A9-3F54-4B3A-97B0-C24F2AA0F49B}" type="datetime1">
              <a:rPr lang="en-US" smtClean="0">
                <a:solidFill>
                  <a:prstClr val="black">
                    <a:tint val="75000"/>
                  </a:prstClr>
                </a:solidFill>
              </a:rPr>
              <a:pPr/>
              <a:t>9/16/2019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5246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A325935-DE68-40A0-AD95-3EF9318A5653}" type="datetime1">
              <a:rPr lang="en-US" smtClean="0">
                <a:solidFill>
                  <a:prstClr val="black">
                    <a:tint val="75000"/>
                  </a:prstClr>
                </a:solidFill>
              </a:rPr>
              <a:pPr/>
              <a:t>9/16/2019</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5092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EBD7C1-6C21-4A0C-AB04-28957353C253}"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1976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CAAA40-D496-4BA5-94BC-EC2395AF4BA1}"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7E05DAD2-EBD2-4248-A1BE-DE5C530C13EE}"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40349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3"/>
            <a:ext cx="12192000" cy="3126879"/>
          </a:xfrm>
          <a:prstGeom prst="rect">
            <a:avLst/>
          </a:prstGeom>
        </p:spPr>
      </p:pic>
    </p:spTree>
    <p:extLst>
      <p:ext uri="{BB962C8B-B14F-4D97-AF65-F5344CB8AC3E}">
        <p14:creationId xmlns:p14="http://schemas.microsoft.com/office/powerpoint/2010/main" val="42866218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4026"/>
            <a:ext cx="3720336" cy="653407"/>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2" y="2"/>
            <a:ext cx="12208933" cy="3169919"/>
          </a:xfrm>
          <a:prstGeom prst="rect">
            <a:avLst/>
          </a:prstGeom>
        </p:spPr>
      </p:pic>
    </p:spTree>
    <p:extLst>
      <p:ext uri="{BB962C8B-B14F-4D97-AF65-F5344CB8AC3E}">
        <p14:creationId xmlns:p14="http://schemas.microsoft.com/office/powerpoint/2010/main" val="34245581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3"/>
            <a:ext cx="12192000" cy="575733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
        <p:nvSpPr>
          <p:cNvPr id="11" name="Title 1"/>
          <p:cNvSpPr>
            <a:spLocks noGrp="1"/>
          </p:cNvSpPr>
          <p:nvPr>
            <p:ph type="ctrTitle"/>
          </p:nvPr>
        </p:nvSpPr>
        <p:spPr>
          <a:xfrm>
            <a:off x="914401" y="3424965"/>
            <a:ext cx="10524511" cy="1458360"/>
          </a:xfrm>
        </p:spPr>
        <p:txBody>
          <a:bodyPr anchor="t">
            <a:normAutofit/>
          </a:bodyPr>
          <a:lstStyle>
            <a:lvl1pPr>
              <a:defRPr sz="32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914402" y="4961469"/>
            <a:ext cx="6310489" cy="1225964"/>
          </a:xfrm>
        </p:spPr>
        <p:txBody>
          <a:bodyPr anchor="b"/>
          <a:lstStyle>
            <a:lvl1pPr marL="0" indent="0" algn="l">
              <a:buNone/>
              <a:defRPr sz="1800">
                <a:solidFill>
                  <a:schemeClr val="tx1">
                    <a:lumMod val="65000"/>
                    <a:lumOff val="3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6605" y="5537200"/>
            <a:ext cx="3702259" cy="650232"/>
          </a:xfrm>
          <a:prstGeom prst="rect">
            <a:avLst/>
          </a:prstGeom>
        </p:spPr>
      </p:pic>
      <p:pic>
        <p:nvPicPr>
          <p:cNvPr id="9" name="Picture 8" descr="Ribbon_orange_top.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bwMode="auto">
          <a:xfrm>
            <a:off x="0" y="1601537"/>
            <a:ext cx="12192000" cy="1648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90643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857229" indent="-228594">
              <a:defRPr>
                <a:solidFill>
                  <a:srgbClr val="808080"/>
                </a:solidFill>
                <a:latin typeface="Arial" panose="020B0604020202020204" pitchFamily="34" charset="0"/>
                <a:cs typeface="Arial" panose="020B0604020202020204" pitchFamily="34" charset="0"/>
              </a:defRPr>
            </a:lvl4pPr>
            <a:lvl5pPr marL="1084236" indent="-228594">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7905136" y="6511061"/>
            <a:ext cx="3677264" cy="304412"/>
          </a:xfrm>
        </p:spPr>
        <p:txBody>
          <a:bodyPr/>
          <a:lstStyle>
            <a:lvl1pPr marL="0" marR="0" indent="0" algn="r" defTabSz="457189" rtl="0" eaLnBrk="1" fontAlgn="auto" latinLnBrk="0" hangingPunct="1">
              <a:lnSpc>
                <a:spcPct val="100000"/>
              </a:lnSpc>
              <a:spcBef>
                <a:spcPts val="0"/>
              </a:spcBef>
              <a:spcAft>
                <a:spcPts val="0"/>
              </a:spcAft>
              <a:buClrTx/>
              <a:buSzTx/>
              <a:buFontTx/>
              <a:buNone/>
              <a:tabLst/>
              <a:defRPr sz="900">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MS PGothic" charset="0"/>
            </a:endParaRPr>
          </a:p>
        </p:txBody>
      </p:sp>
    </p:spTree>
    <p:extLst>
      <p:ext uri="{BB962C8B-B14F-4D97-AF65-F5344CB8AC3E}">
        <p14:creationId xmlns:p14="http://schemas.microsoft.com/office/powerpoint/2010/main" val="32160728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610881"/>
            <a:ext cx="12192000" cy="525221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5732585"/>
            <a:ext cx="12192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5732585"/>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Tree>
    <p:extLst>
      <p:ext uri="{BB962C8B-B14F-4D97-AF65-F5344CB8AC3E}">
        <p14:creationId xmlns:p14="http://schemas.microsoft.com/office/powerpoint/2010/main" val="3613036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600201"/>
            <a:ext cx="5384800" cy="4525963"/>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8808016" y="6497447"/>
            <a:ext cx="2774384" cy="335775"/>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1361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350690"/>
            <a:ext cx="5386917"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003648"/>
            <a:ext cx="5386917"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93369" y="1350690"/>
            <a:ext cx="5389033" cy="480663"/>
          </a:xfrm>
        </p:spPr>
        <p:txBody>
          <a:bodyPr anchor="b"/>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003648"/>
            <a:ext cx="5389033" cy="3951288"/>
          </a:xfrm>
        </p:spPr>
        <p:txBody>
          <a:bodyPr/>
          <a:lstStyle>
            <a:lvl1pPr>
              <a:defRPr sz="2000">
                <a:solidFill>
                  <a:schemeClr val="tx1">
                    <a:lumMod val="65000"/>
                    <a:lumOff val="35000"/>
                  </a:schemeClr>
                </a:solidFill>
              </a:defRPr>
            </a:lvl1pPr>
            <a:lvl2pPr>
              <a:defRPr sz="1800">
                <a:solidFill>
                  <a:schemeClr val="tx1">
                    <a:lumMod val="65000"/>
                    <a:lumOff val="35000"/>
                  </a:schemeClr>
                </a:solidFill>
              </a:defRPr>
            </a:lvl2pPr>
            <a:lvl3pPr>
              <a:defRPr sz="1600">
                <a:solidFill>
                  <a:schemeClr val="tx1">
                    <a:lumMod val="65000"/>
                    <a:lumOff val="35000"/>
                  </a:schemeClr>
                </a:solidFill>
              </a:defRPr>
            </a:lvl3pPr>
            <a:lvl4pPr marL="855641" indent="-228594">
              <a:defRPr sz="1400">
                <a:solidFill>
                  <a:schemeClr val="tx1">
                    <a:lumMod val="65000"/>
                    <a:lumOff val="35000"/>
                  </a:schemeClr>
                </a:solidFill>
                <a:latin typeface="Arial" panose="020B0604020202020204" pitchFamily="34" charset="0"/>
                <a:cs typeface="Arial" panose="020B0604020202020204" pitchFamily="34" charset="0"/>
              </a:defRPr>
            </a:lvl4pPr>
            <a:lvl5pPr marL="1084236" indent="-228594">
              <a:defRPr sz="1400">
                <a:solidFill>
                  <a:schemeClr val="tx1">
                    <a:lumMod val="65000"/>
                    <a:lumOff val="35000"/>
                  </a:schemeClr>
                </a:solidFill>
                <a:latin typeface="Arial" panose="020B0604020202020204" pitchFamily="34" charset="0"/>
                <a:cs typeface="Arial" panose="020B0604020202020204"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982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52024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9666900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3024003" y="2082499"/>
            <a:ext cx="5857477" cy="976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5095865" y="5009183"/>
            <a:ext cx="1685141" cy="369332"/>
          </a:xfrm>
          <a:prstGeom prst="rect">
            <a:avLst/>
          </a:prstGeom>
        </p:spPr>
        <p:txBody>
          <a:bodyPr wrap="none">
            <a:spAutoFit/>
          </a:bodyPr>
          <a:lstStyle/>
          <a:p>
            <a:pPr defTabSz="457189"/>
            <a:r>
              <a:rPr lang="en-US" dirty="0">
                <a:solidFill>
                  <a:srgbClr val="1F497D"/>
                </a:solidFill>
                <a:latin typeface="Arial" panose="020B0604020202020204" pitchFamily="34" charset="0"/>
                <a:ea typeface="Calibri" panose="020F0502020204030204" pitchFamily="34" charset="0"/>
                <a:cs typeface="Arial" panose="020B0604020202020204" pitchFamily="34" charset="0"/>
                <a:hlinkClick r:id="rId3"/>
              </a:rPr>
              <a:t>www.iaasb.org</a:t>
            </a:r>
            <a:endParaRPr lang="en-US" sz="2000" dirty="0">
              <a:solidFill>
                <a:prstClr val="black"/>
              </a:solidFill>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508000" y="6430429"/>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dirty="0">
              <a:solidFill>
                <a:prstClr val="black"/>
              </a:solidFill>
            </a:endParaRPr>
          </a:p>
        </p:txBody>
      </p:sp>
      <p:pic>
        <p:nvPicPr>
          <p:cNvPr id="3" name="Picture 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72746" y="5557768"/>
            <a:ext cx="770407" cy="257536"/>
          </a:xfrm>
          <a:prstGeom prst="rect">
            <a:avLst/>
          </a:prstGeom>
        </p:spPr>
      </p:pic>
      <p:pic>
        <p:nvPicPr>
          <p:cNvPr id="4" name="Picture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3024003" y="5567520"/>
            <a:ext cx="583308" cy="257536"/>
          </a:xfrm>
          <a:prstGeom prst="rect">
            <a:avLst/>
          </a:prstGeom>
        </p:spPr>
      </p:pic>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573723" y="5554229"/>
            <a:ext cx="770407" cy="257536"/>
          </a:xfrm>
          <a:prstGeom prst="rect">
            <a:avLst/>
          </a:prstGeom>
        </p:spPr>
      </p:pic>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501197" y="5557768"/>
            <a:ext cx="770407" cy="312565"/>
          </a:xfrm>
          <a:prstGeom prst="rect">
            <a:avLst/>
          </a:prstGeom>
        </p:spPr>
      </p:pic>
      <p:pic>
        <p:nvPicPr>
          <p:cNvPr id="9" name="Picture 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8238015" y="5557768"/>
            <a:ext cx="770407" cy="257536"/>
          </a:xfrm>
          <a:prstGeom prst="rect">
            <a:avLst/>
          </a:prstGeom>
        </p:spPr>
      </p:pic>
      <p:pic>
        <p:nvPicPr>
          <p:cNvPr id="10" name="Picture 9"/>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9780285" y="5553603"/>
            <a:ext cx="770407" cy="257536"/>
          </a:xfrm>
          <a:prstGeom prst="rect">
            <a:avLst/>
          </a:prstGeom>
        </p:spPr>
      </p:pic>
      <p:sp>
        <p:nvSpPr>
          <p:cNvPr id="11" name="Rectangle 10"/>
          <p:cNvSpPr/>
          <p:nvPr userDrawn="1"/>
        </p:nvSpPr>
        <p:spPr>
          <a:xfrm>
            <a:off x="931335" y="6144039"/>
            <a:ext cx="10837333" cy="276999"/>
          </a:xfrm>
          <a:prstGeom prst="rect">
            <a:avLst/>
          </a:prstGeom>
        </p:spPr>
        <p:txBody>
          <a:bodyPr wrap="square">
            <a:spAutoFit/>
          </a:bodyPr>
          <a:lstStyle/>
          <a:p>
            <a:pPr defTabSz="457189"/>
            <a:r>
              <a:rPr lang="en-US" sz="1200" dirty="0">
                <a:solidFill>
                  <a:prstClr val="black"/>
                </a:solidFill>
                <a:latin typeface="Arial" panose="020B0604020202020204" pitchFamily="34" charset="0"/>
                <a:ea typeface="Calibri" panose="020F0502020204030204" pitchFamily="34" charset="0"/>
              </a:rPr>
              <a:t>For copyright, trademark, and permissions information, please go to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1200" dirty="0">
                <a:solidFill>
                  <a:prstClr val="black"/>
                </a:solidFill>
                <a:latin typeface="Arial" panose="020B0604020202020204" pitchFamily="34" charset="0"/>
                <a:ea typeface="Calibri" panose="020F0502020204030204" pitchFamily="34" charset="0"/>
              </a:rPr>
              <a:t> or contact </a:t>
            </a:r>
            <a:r>
              <a:rPr lang="en-US" sz="1200" u="sng" dirty="0">
                <a:solidFill>
                  <a:srgbClr val="0563C1"/>
                </a:solidFill>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1200" dirty="0">
                <a:solidFill>
                  <a:prstClr val="black"/>
                </a:solidFill>
                <a:latin typeface="Arial" panose="020B0604020202020204" pitchFamily="34" charset="0"/>
                <a:ea typeface="Calibri" panose="020F0502020204030204" pitchFamily="34" charset="0"/>
              </a:rPr>
              <a:t>.</a:t>
            </a:r>
            <a:endParaRPr lang="en-US" sz="1200" dirty="0">
              <a:solidFill>
                <a:prstClr val="black"/>
              </a:solidFill>
            </a:endParaRPr>
          </a:p>
        </p:txBody>
      </p:sp>
    </p:spTree>
    <p:extLst>
      <p:ext uri="{BB962C8B-B14F-4D97-AF65-F5344CB8AC3E}">
        <p14:creationId xmlns:p14="http://schemas.microsoft.com/office/powerpoint/2010/main" val="28556740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3.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856EE5-B36E-4704-9EC0-BD21A5BAD421}" type="datetime1">
              <a:rPr lang="en-US" smtClean="0">
                <a:solidFill>
                  <a:prstClr val="black">
                    <a:tint val="75000"/>
                  </a:prstClr>
                </a:solidFill>
              </a:rPr>
              <a:pPr/>
              <a:t>9/16/2019</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31BF3E-DF8B-49A5-8A7B-7F8F24820CAC}" type="slidenum">
              <a:rPr lang="en-US" smtClean="0">
                <a:solidFill>
                  <a:prstClr val="black">
                    <a:tint val="75000"/>
                  </a:prstClr>
                </a:solidFill>
              </a:rPr>
              <a:pPr/>
              <a:t>‹#›</a:t>
            </a:fld>
            <a:endParaRPr lang="en-US">
              <a:solidFill>
                <a:prstClr val="black">
                  <a:tint val="75000"/>
                </a:prstClr>
              </a:solidFill>
            </a:endParaRPr>
          </a:p>
        </p:txBody>
      </p:sp>
      <p:sp>
        <p:nvSpPr>
          <p:cNvPr id="13" name="Rectangle 12"/>
          <p:cNvSpPr/>
          <p:nvPr userDrawn="1"/>
        </p:nvSpPr>
        <p:spPr>
          <a:xfrm>
            <a:off x="0" y="633845"/>
            <a:ext cx="12192000" cy="447208"/>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a:solidFill>
                <a:prstClr val="white"/>
              </a:solidFill>
            </a:endParaRPr>
          </a:p>
        </p:txBody>
      </p:sp>
      <p:pic>
        <p:nvPicPr>
          <p:cNvPr id="14" name="Picture 13"/>
          <p:cNvPicPr>
            <a:picLocks noChangeAspect="1"/>
          </p:cNvPicPr>
          <p:nvPr userDrawn="1"/>
        </p:nvPicPr>
        <p:blipFill>
          <a:blip r:embed="rId13">
            <a:extLst>
              <a:ext uri="{28A0092B-C50C-407E-A947-70E740481C1C}">
                <a14:useLocalDpi xmlns:a14="http://schemas.microsoft.com/office/drawing/2010/main"/>
              </a:ext>
            </a:extLst>
          </a:blip>
          <a:stretch>
            <a:fillRect/>
          </a:stretch>
        </p:blipFill>
        <p:spPr>
          <a:xfrm>
            <a:off x="0" y="1"/>
            <a:ext cx="12192000" cy="633844"/>
          </a:xfrm>
          <a:prstGeom prst="rect">
            <a:avLst/>
          </a:prstGeom>
        </p:spPr>
      </p:pic>
      <p:pic>
        <p:nvPicPr>
          <p:cNvPr id="15" name="Picture 14"/>
          <p:cNvPicPr>
            <a:picLocks noChangeAspect="1"/>
          </p:cNvPicPr>
          <p:nvPr userDrawn="1"/>
        </p:nvPicPr>
        <p:blipFill>
          <a:blip r:embed="rId14" cstate="screen">
            <a:extLst>
              <a:ext uri="{28A0092B-C50C-407E-A947-70E740481C1C}">
                <a14:useLocalDpi xmlns:a14="http://schemas.microsoft.com/office/drawing/2010/main"/>
              </a:ext>
            </a:extLst>
          </a:blip>
          <a:stretch>
            <a:fillRect/>
          </a:stretch>
        </p:blipFill>
        <p:spPr>
          <a:xfrm>
            <a:off x="9038521" y="107419"/>
            <a:ext cx="2776728" cy="487680"/>
          </a:xfrm>
          <a:prstGeom prst="rect">
            <a:avLst/>
          </a:prstGeom>
        </p:spPr>
      </p:pic>
      <p:sp>
        <p:nvSpPr>
          <p:cNvPr id="16" name="Rectangle 15"/>
          <p:cNvSpPr/>
          <p:nvPr userDrawn="1"/>
        </p:nvSpPr>
        <p:spPr>
          <a:xfrm>
            <a:off x="0" y="6285141"/>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a:solidFill>
                <a:prstClr val="white"/>
              </a:solidFill>
            </a:endParaRPr>
          </a:p>
        </p:txBody>
      </p:sp>
      <p:sp>
        <p:nvSpPr>
          <p:cNvPr id="17" name="Rectangle 16"/>
          <p:cNvSpPr/>
          <p:nvPr userDrawn="1"/>
        </p:nvSpPr>
        <p:spPr>
          <a:xfrm>
            <a:off x="0" y="6207974"/>
            <a:ext cx="12192000" cy="49434"/>
          </a:xfrm>
          <a:prstGeom prst="rect">
            <a:avLst/>
          </a:prstGeom>
          <a:gradFill flip="none" rotWithShape="1">
            <a:gsLst>
              <a:gs pos="0">
                <a:srgbClr val="FAA61A"/>
              </a:gs>
              <a:gs pos="70000">
                <a:srgbClr val="F15A22"/>
              </a:gs>
            </a:gsLst>
            <a:lin ang="0" scaled="1"/>
            <a:tileRect/>
          </a:gradFill>
          <a:ln w="9525" cap="flat" cmpd="sng" algn="ctr">
            <a:noFill/>
            <a:prstDash val="solid"/>
          </a:ln>
          <a:effectLst/>
        </p:spPr>
        <p:txBody>
          <a:bodyPr rtlCol="0" anchor="ctr"/>
          <a:lstStyle/>
          <a:p>
            <a:pPr algn="ctr" defTabSz="342900">
              <a:defRPr/>
            </a:pPr>
            <a:endParaRPr lang="en-US" sz="1350" kern="0">
              <a:solidFill>
                <a:prstClr val="white"/>
              </a:solidFill>
            </a:endParaRPr>
          </a:p>
        </p:txBody>
      </p:sp>
    </p:spTree>
    <p:extLst>
      <p:ext uri="{BB962C8B-B14F-4D97-AF65-F5344CB8AC3E}">
        <p14:creationId xmlns:p14="http://schemas.microsoft.com/office/powerpoint/2010/main" val="25014235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569917"/>
            <a:ext cx="12192000" cy="538500"/>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189"/>
            <a:endParaRPr lang="en-US">
              <a:solidFill>
                <a:prstClr val="white"/>
              </a:solidFill>
            </a:endParaRPr>
          </a:p>
        </p:txBody>
      </p:sp>
      <p:sp>
        <p:nvSpPr>
          <p:cNvPr id="2" name="Title Placeholder 1"/>
          <p:cNvSpPr>
            <a:spLocks noGrp="1"/>
          </p:cNvSpPr>
          <p:nvPr>
            <p:ph type="title"/>
          </p:nvPr>
        </p:nvSpPr>
        <p:spPr>
          <a:xfrm>
            <a:off x="609600" y="569917"/>
            <a:ext cx="10972800" cy="538500"/>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609600" y="1600202"/>
            <a:ext cx="10972800" cy="4251569"/>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606647" y="6511061"/>
            <a:ext cx="2743200" cy="304412"/>
          </a:xfrm>
          <a:prstGeom prst="rect">
            <a:avLst/>
          </a:prstGeom>
        </p:spPr>
        <p:txBody>
          <a:bodyPr vert="horz" lIns="91440" tIns="45720" rIns="91440" bIns="45720" rtlCol="0" anchor="ctr"/>
          <a:lstStyle>
            <a:lvl1pPr algn="l">
              <a:defRPr sz="900">
                <a:solidFill>
                  <a:schemeClr val="tx1">
                    <a:tint val="75000"/>
                  </a:schemeClr>
                </a:solidFill>
                <a:latin typeface="Arial" panose="020B0604020202020204" pitchFamily="34" charset="0"/>
              </a:defRPr>
            </a:lvl1pPr>
          </a:lstStyle>
          <a:p>
            <a:pPr defTabSz="457189"/>
            <a:fld id="{AF73A935-0AD8-4B38-AD39-55437B5CA1D2}" type="datetime1">
              <a:rPr lang="en-US" smtClean="0">
                <a:solidFill>
                  <a:prstClr val="black">
                    <a:tint val="75000"/>
                  </a:prstClr>
                </a:solidFill>
              </a:rPr>
              <a:pPr defTabSz="457189"/>
              <a:t>9/16/2019</a:t>
            </a:fld>
            <a:endParaRPr lang="en-US" dirty="0">
              <a:solidFill>
                <a:prstClr val="black">
                  <a:tint val="75000"/>
                </a:prstClr>
              </a:solidFill>
            </a:endParaRPr>
          </a:p>
        </p:txBody>
      </p:sp>
      <p:sp>
        <p:nvSpPr>
          <p:cNvPr id="5" name="Footer Placeholder 4"/>
          <p:cNvSpPr>
            <a:spLocks noGrp="1"/>
          </p:cNvSpPr>
          <p:nvPr>
            <p:ph type="ftr" sz="quarter" idx="3"/>
          </p:nvPr>
        </p:nvSpPr>
        <p:spPr>
          <a:xfrm>
            <a:off x="4021531" y="6511061"/>
            <a:ext cx="4114800" cy="304412"/>
          </a:xfrm>
          <a:prstGeom prst="rect">
            <a:avLst/>
          </a:prstGeom>
        </p:spPr>
        <p:txBody>
          <a:bodyPr vert="horz" lIns="91440" tIns="45720" rIns="91440" bIns="45720" rtlCol="0" anchor="ctr"/>
          <a:lstStyle>
            <a:lvl1pPr algn="ctr">
              <a:defRPr sz="900">
                <a:solidFill>
                  <a:schemeClr val="tx1">
                    <a:tint val="75000"/>
                  </a:schemeClr>
                </a:solidFill>
                <a:latin typeface="Arial" panose="020B0604020202020204" pitchFamily="34" charset="0"/>
              </a:defRPr>
            </a:lvl1pPr>
          </a:lstStyle>
          <a:p>
            <a:pPr defTabSz="457189"/>
            <a:endParaRPr lang="en-US" dirty="0">
              <a:solidFill>
                <a:prstClr val="black">
                  <a:tint val="75000"/>
                </a:prstClr>
              </a:solidFill>
            </a:endParaRPr>
          </a:p>
        </p:txBody>
      </p:sp>
      <p:sp>
        <p:nvSpPr>
          <p:cNvPr id="6" name="Slide Number Placeholder 5"/>
          <p:cNvSpPr>
            <a:spLocks noGrp="1"/>
          </p:cNvSpPr>
          <p:nvPr>
            <p:ph type="sldNum" sz="quarter" idx="4"/>
          </p:nvPr>
        </p:nvSpPr>
        <p:spPr>
          <a:xfrm>
            <a:off x="8808016" y="6511061"/>
            <a:ext cx="2774384" cy="304412"/>
          </a:xfrm>
          <a:prstGeom prst="rect">
            <a:avLst/>
          </a:prstGeom>
        </p:spPr>
        <p:txBody>
          <a:bodyPr vert="horz" lIns="0" tIns="0" rIns="0" bIns="0" rtlCol="0" anchor="ctr"/>
          <a:lstStyle>
            <a:lvl1pPr algn="ctr">
              <a:defRPr sz="900">
                <a:solidFill>
                  <a:srgbClr val="808080"/>
                </a:solidFill>
                <a:latin typeface="Arial Narrow"/>
                <a:cs typeface="Arial Narrow"/>
              </a:defRPr>
            </a:lvl1pPr>
          </a:lstStyle>
          <a:p>
            <a:pPr algn="r" defTabSz="457189"/>
            <a:r>
              <a:rPr lang="en-US">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defTabSz="457189"/>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508000" y="6429638"/>
            <a:ext cx="11684000" cy="4603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defTabSz="457189"/>
            <a:endParaRPr lang="en-US" dirty="0">
              <a:solidFill>
                <a:prstClr val="black"/>
              </a:solidFill>
            </a:endParaRPr>
          </a:p>
        </p:txBody>
      </p:sp>
      <p:pic>
        <p:nvPicPr>
          <p:cNvPr id="11" name="Picture 10" descr="IAASB Logo with FullName.jpg"/>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9199157" y="73879"/>
            <a:ext cx="2383243" cy="418572"/>
          </a:xfrm>
          <a:prstGeom prst="rect">
            <a:avLst/>
          </a:prstGeom>
        </p:spPr>
      </p:pic>
    </p:spTree>
    <p:extLst>
      <p:ext uri="{BB962C8B-B14F-4D97-AF65-F5344CB8AC3E}">
        <p14:creationId xmlns:p14="http://schemas.microsoft.com/office/powerpoint/2010/main" val="311877592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Lst>
  <p:hf hdr="0" ftr="0" dt="0"/>
  <p:txStyles>
    <p:titleStyle>
      <a:lvl1pPr algn="l" defTabSz="457189" rtl="0" eaLnBrk="1" latinLnBrk="0" hangingPunct="1">
        <a:spcBef>
          <a:spcPct val="0"/>
        </a:spcBef>
        <a:buNone/>
        <a:defRPr sz="2400" kern="1200">
          <a:solidFill>
            <a:schemeClr val="bg1"/>
          </a:solidFill>
          <a:latin typeface="Arial" panose="020B0604020202020204" pitchFamily="34" charset="0"/>
          <a:ea typeface="+mj-ea"/>
          <a:cs typeface="Arial" panose="020B0604020202020204" pitchFamily="34" charset="0"/>
        </a:defRPr>
      </a:lvl1pPr>
    </p:titleStyle>
    <p:bodyStyle>
      <a:lvl1pPr marL="173034" indent="-173034" algn="l" defTabSz="457189" rtl="0" eaLnBrk="1" latinLnBrk="0" hangingPunct="1">
        <a:spcBef>
          <a:spcPts val="1200"/>
        </a:spcBef>
        <a:buFont typeface="Arial"/>
        <a:buChar char="•"/>
        <a:defRPr sz="20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457189" indent="-228594" algn="l" defTabSz="457189" rtl="0" eaLnBrk="1" latinLnBrk="0" hangingPunct="1">
        <a:spcBef>
          <a:spcPts val="600"/>
        </a:spcBef>
        <a:spcAft>
          <a:spcPts val="400"/>
        </a:spcAft>
        <a:buFont typeface="Arial"/>
        <a:buChar char="–"/>
        <a:defRPr sz="180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630223" indent="-171446" algn="l" defTabSz="457189" rtl="0" eaLnBrk="1" latinLnBrk="0" hangingPunct="1">
        <a:spcBef>
          <a:spcPct val="20000"/>
        </a:spcBef>
        <a:buFont typeface="Arial"/>
        <a:buChar char="•"/>
        <a:defRPr sz="16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600160"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4pPr>
      <a:lvl5pPr marL="2057349" indent="-228594" algn="l" defTabSz="457189" rtl="0" eaLnBrk="1" latinLnBrk="0" hangingPunct="1">
        <a:spcBef>
          <a:spcPct val="20000"/>
        </a:spcBef>
        <a:buFont typeface="Arial"/>
        <a:buChar char="»"/>
        <a:defRPr sz="1400" kern="1200">
          <a:solidFill>
            <a:schemeClr val="tx1"/>
          </a:solidFill>
          <a:latin typeface="Arial Narrow"/>
          <a:ea typeface="+mn-ea"/>
          <a:cs typeface="Arial Narrow"/>
        </a:defRPr>
      </a:lvl5pPr>
      <a:lvl6pPr marL="2514537" indent="-228594" algn="l" defTabSz="457189" rtl="0" eaLnBrk="1" latinLnBrk="0" hangingPunct="1">
        <a:spcBef>
          <a:spcPct val="20000"/>
        </a:spcBef>
        <a:buFont typeface="Arial"/>
        <a:buChar char="•"/>
        <a:defRPr sz="2000" kern="1200">
          <a:solidFill>
            <a:schemeClr val="tx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tx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tx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Technology </a:t>
            </a:r>
          </a:p>
        </p:txBody>
      </p:sp>
      <p:sp>
        <p:nvSpPr>
          <p:cNvPr id="6" name="Subtitle 5"/>
          <p:cNvSpPr>
            <a:spLocks noGrp="1"/>
          </p:cNvSpPr>
          <p:nvPr>
            <p:ph type="subTitle" idx="1"/>
          </p:nvPr>
        </p:nvSpPr>
        <p:spPr>
          <a:xfrm>
            <a:off x="914402" y="4295163"/>
            <a:ext cx="6310489" cy="1892271"/>
          </a:xfrm>
        </p:spPr>
        <p:txBody>
          <a:bodyPr/>
          <a:lstStyle/>
          <a:p>
            <a:r>
              <a:rPr lang="en-US" dirty="0"/>
              <a:t>Bob Dohrer, Technology Working Group Chair</a:t>
            </a:r>
          </a:p>
          <a:p>
            <a:r>
              <a:rPr lang="en-US" dirty="0"/>
              <a:t>IAASB Meeting, New York</a:t>
            </a:r>
          </a:p>
          <a:p>
            <a:r>
              <a:rPr lang="en-US" dirty="0"/>
              <a:t>Agenda Item 11</a:t>
            </a:r>
          </a:p>
          <a:p>
            <a:r>
              <a:rPr lang="en-US"/>
              <a:t>September 20, </a:t>
            </a:r>
            <a:r>
              <a:rPr lang="en-US" dirty="0"/>
              <a:t>2019</a:t>
            </a:r>
          </a:p>
        </p:txBody>
      </p:sp>
    </p:spTree>
    <p:extLst>
      <p:ext uri="{BB962C8B-B14F-4D97-AF65-F5344CB8AC3E}">
        <p14:creationId xmlns:p14="http://schemas.microsoft.com/office/powerpoint/2010/main" val="331025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2</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Technology Workstream Plan </a:t>
            </a:r>
          </a:p>
        </p:txBody>
      </p:sp>
      <p:sp>
        <p:nvSpPr>
          <p:cNvPr id="13" name="Content Placeholder 6"/>
          <p:cNvSpPr txBox="1">
            <a:spLocks/>
          </p:cNvSpPr>
          <p:nvPr/>
        </p:nvSpPr>
        <p:spPr>
          <a:xfrm>
            <a:off x="82487" y="1388532"/>
            <a:ext cx="11486697" cy="4804237"/>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ctr">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121917" indent="0">
              <a:lnSpc>
                <a:spcPts val="2600"/>
              </a:lnSpc>
              <a:spcBef>
                <a:spcPts val="600"/>
              </a:spcBef>
              <a:buNone/>
            </a:pPr>
            <a:endParaRPr lang="en-US" sz="2400" dirty="0">
              <a:latin typeface="Arial" panose="020B0604020202020204" pitchFamily="34" charset="0"/>
              <a:cs typeface="Arial" panose="020B0604020202020204" pitchFamily="34" charset="0"/>
            </a:endParaRPr>
          </a:p>
          <a:p>
            <a:pPr marL="502920" lvl="1" indent="-342900">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Expected outputs </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Development of non-authoritative guidance material in an expedient manner </a:t>
            </a:r>
          </a:p>
          <a:p>
            <a:pPr marL="1188710" lvl="3" indent="-285750">
              <a:lnSpc>
                <a:spcPts val="2800"/>
              </a:lnSpc>
              <a:buFont typeface="Courier New" panose="02070309020205020404" pitchFamily="49" charset="0"/>
              <a:buChar char="o"/>
            </a:pPr>
            <a:r>
              <a:rPr lang="en-US" sz="1600" dirty="0"/>
              <a:t>Agenda Item 11–A </a:t>
            </a:r>
            <a:endParaRPr lang="en-US" sz="1600" dirty="0">
              <a:latin typeface="Arial" panose="020B0604020202020204" pitchFamily="34" charset="0"/>
              <a:cs typeface="Arial" panose="020B0604020202020204" pitchFamily="34" charset="0"/>
            </a:endParaRP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Register outlining the scope and timing of topics  </a:t>
            </a:r>
          </a:p>
          <a:p>
            <a:pPr marL="502920" lvl="1" indent="-342900">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Identifying and prioritizing issues  </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Matters referred to the TWG by IAASB Task Forces, Working Groups and other stakeholders </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Highlighted through relevant information-gathering and outreach activities conducted</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Preliminary listing based on technology issues identified by AEWG – opportunity for immediate response (guidance)</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Regular updates to the Board</a:t>
            </a:r>
          </a:p>
          <a:p>
            <a:pPr marL="502920" lvl="1" indent="-347472">
              <a:lnSpc>
                <a:spcPts val="26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31E17E33-5666-406F-AA1F-A47939C5A3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302045" y="1414987"/>
            <a:ext cx="2667000" cy="1715381"/>
          </a:xfrm>
          <a:prstGeom prst="rect">
            <a:avLst/>
          </a:prstGeom>
        </p:spPr>
      </p:pic>
    </p:spTree>
    <p:extLst>
      <p:ext uri="{BB962C8B-B14F-4D97-AF65-F5344CB8AC3E}">
        <p14:creationId xmlns:p14="http://schemas.microsoft.com/office/powerpoint/2010/main" val="5650109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3</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Technology Workstream Plan </a:t>
            </a:r>
          </a:p>
        </p:txBody>
      </p:sp>
      <p:sp>
        <p:nvSpPr>
          <p:cNvPr id="13" name="Content Placeholder 6"/>
          <p:cNvSpPr txBox="1">
            <a:spLocks/>
          </p:cNvSpPr>
          <p:nvPr/>
        </p:nvSpPr>
        <p:spPr>
          <a:xfrm>
            <a:off x="190180" y="1300468"/>
            <a:ext cx="11271311" cy="4739088"/>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t">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502920" lvl="1" indent="-347472">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Drafting and format of technical guidance </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TWG, in consultation with subject matter experts (as needed)</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 Format as appropriate (e.g. Staff alert, FAQ, etc.) </a:t>
            </a:r>
          </a:p>
          <a:p>
            <a:pPr marL="502920" lvl="1" indent="-347472">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Approval of guidance</a:t>
            </a:r>
          </a:p>
          <a:p>
            <a:pPr marL="502920" lvl="1" indent="-347472">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Role of the Project Advisory Panel </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Panel was established to provide external perspectives on the use of </a:t>
            </a:r>
            <a:r>
              <a:rPr lang="en-US" b="1" dirty="0">
                <a:latin typeface="Arial" panose="020B0604020202020204" pitchFamily="34" charset="0"/>
                <a:cs typeface="Arial" panose="020B0604020202020204" pitchFamily="34" charset="0"/>
              </a:rPr>
              <a:t>data analytics</a:t>
            </a:r>
          </a:p>
          <a:p>
            <a:pPr marL="868680" lvl="1" indent="-365760">
              <a:lnSpc>
                <a:spcPts val="2800"/>
              </a:lnSpc>
              <a:buFont typeface="Arial" panose="020B0604020202020204" pitchFamily="34" charset="0"/>
              <a:buChar char="‒"/>
            </a:pPr>
            <a:r>
              <a:rPr lang="en-US" dirty="0">
                <a:latin typeface="Arial" panose="020B0604020202020204" pitchFamily="34" charset="0"/>
                <a:cs typeface="Arial" panose="020B0604020202020204" pitchFamily="34" charset="0"/>
              </a:rPr>
              <a:t>TWG will consult with the panel, as appropriate </a:t>
            </a:r>
          </a:p>
          <a:p>
            <a:pPr marL="502920" lvl="1" indent="-347472">
              <a:lnSpc>
                <a:spcPts val="2800"/>
              </a:lnSpc>
              <a:buFont typeface="Arial" panose="020B0604020202020204" pitchFamily="34" charset="0"/>
              <a:buChar char="•"/>
            </a:pPr>
            <a:r>
              <a:rPr lang="en-US" sz="2000" dirty="0">
                <a:latin typeface="Arial" panose="020B0604020202020204" pitchFamily="34" charset="0"/>
                <a:cs typeface="Arial" panose="020B0604020202020204" pitchFamily="34" charset="0"/>
              </a:rPr>
              <a:t>Timeline </a:t>
            </a:r>
          </a:p>
          <a:p>
            <a:pPr marL="118872" lvl="1" indent="0">
              <a:lnSpc>
                <a:spcPts val="2600"/>
              </a:lnSpc>
              <a:buNone/>
            </a:pPr>
            <a:endParaRPr lang="en-US" dirty="0">
              <a:latin typeface="Arial" panose="020B0604020202020204" pitchFamily="34" charset="0"/>
              <a:cs typeface="Arial" panose="020B0604020202020204" pitchFamily="34" charset="0"/>
            </a:endParaRPr>
          </a:p>
        </p:txBody>
      </p:sp>
      <p:sp>
        <p:nvSpPr>
          <p:cNvPr id="5" name="Rectangle: Rounded Corners 4">
            <a:extLst>
              <a:ext uri="{FF2B5EF4-FFF2-40B4-BE49-F238E27FC236}">
                <a16:creationId xmlns:a16="http://schemas.microsoft.com/office/drawing/2014/main" id="{E6EB8CCF-EBEA-4FC5-9B53-1BAA2B67D2C5}"/>
              </a:ext>
            </a:extLst>
          </p:cNvPr>
          <p:cNvSpPr/>
          <p:nvPr/>
        </p:nvSpPr>
        <p:spPr>
          <a:xfrm>
            <a:off x="8452022" y="1295292"/>
            <a:ext cx="2901778" cy="2374666"/>
          </a:xfrm>
          <a:prstGeom prst="roundRect">
            <a:avLst/>
          </a:prstGeom>
          <a:solidFill>
            <a:schemeClr val="accent4">
              <a:lumMod val="20000"/>
              <a:lumOff val="80000"/>
            </a:schemeClr>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en-US" sz="2000" b="1" dirty="0">
                <a:solidFill>
                  <a:schemeClr val="tx2"/>
                </a:solidFill>
                <a:latin typeface="Arial" panose="020B0604020202020204" pitchFamily="34" charset="0"/>
                <a:cs typeface="Arial" panose="020B0604020202020204" pitchFamily="34" charset="0"/>
              </a:rPr>
              <a:t>IAASB? </a:t>
            </a:r>
          </a:p>
          <a:p>
            <a:pPr algn="ctr">
              <a:lnSpc>
                <a:spcPts val="2400"/>
              </a:lnSpc>
              <a:spcBef>
                <a:spcPts val="600"/>
              </a:spcBef>
            </a:pPr>
            <a:r>
              <a:rPr lang="en-US" sz="2000" b="1" i="1" dirty="0">
                <a:solidFill>
                  <a:schemeClr val="bg2">
                    <a:lumMod val="50000"/>
                  </a:schemeClr>
                </a:solidFill>
                <a:latin typeface="Arial" panose="020B0604020202020204" pitchFamily="34" charset="0"/>
                <a:cs typeface="Arial" panose="020B0604020202020204" pitchFamily="34" charset="0"/>
              </a:rPr>
              <a:t>Input by Steering Committee </a:t>
            </a:r>
          </a:p>
          <a:p>
            <a:pPr algn="ctr">
              <a:lnSpc>
                <a:spcPts val="2400"/>
              </a:lnSpc>
              <a:spcBef>
                <a:spcPts val="600"/>
              </a:spcBef>
            </a:pPr>
            <a:r>
              <a:rPr lang="en-US" sz="2000" b="1" i="1" dirty="0">
                <a:solidFill>
                  <a:schemeClr val="bg2">
                    <a:lumMod val="50000"/>
                  </a:schemeClr>
                </a:solidFill>
                <a:latin typeface="Arial" panose="020B0604020202020204" pitchFamily="34" charset="0"/>
                <a:cs typeface="Arial" panose="020B0604020202020204" pitchFamily="34" charset="0"/>
              </a:rPr>
              <a:t>Updates to Board </a:t>
            </a:r>
          </a:p>
        </p:txBody>
      </p:sp>
    </p:spTree>
    <p:extLst>
      <p:ext uri="{BB962C8B-B14F-4D97-AF65-F5344CB8AC3E}">
        <p14:creationId xmlns:p14="http://schemas.microsoft.com/office/powerpoint/2010/main" val="3197950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4</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Preliminary Listing of Technology Issues</a:t>
            </a:r>
          </a:p>
        </p:txBody>
      </p:sp>
      <p:sp>
        <p:nvSpPr>
          <p:cNvPr id="13" name="Content Placeholder 6"/>
          <p:cNvSpPr txBox="1">
            <a:spLocks/>
          </p:cNvSpPr>
          <p:nvPr/>
        </p:nvSpPr>
        <p:spPr>
          <a:xfrm>
            <a:off x="297873" y="1396115"/>
            <a:ext cx="11271311" cy="4605867"/>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ctr">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114300" lvl="1" indent="0">
              <a:lnSpc>
                <a:spcPts val="2600"/>
              </a:lnSpc>
              <a:buNone/>
            </a:pPr>
            <a:r>
              <a:rPr lang="en-US" sz="2000" b="1" dirty="0">
                <a:latin typeface="Arial" panose="020B0604020202020204" pitchFamily="34" charset="0"/>
                <a:cs typeface="Arial" panose="020B0604020202020204" pitchFamily="34" charset="0"/>
              </a:rPr>
              <a:t>Implications of technology </a:t>
            </a:r>
            <a:r>
              <a:rPr lang="en-US" sz="2000" dirty="0">
                <a:latin typeface="Arial" panose="020B0604020202020204" pitchFamily="34" charset="0"/>
                <a:cs typeface="Arial" panose="020B0604020202020204" pitchFamily="34" charset="0"/>
              </a:rPr>
              <a:t>in relation to:</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ISA 315/Risk assessment procedures</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Documentation</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Dual-purpose audit procedures </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Overreliance on technology / professional skepticism </a:t>
            </a:r>
          </a:p>
          <a:p>
            <a:pPr marL="457200" lvl="1" indent="-342900">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Fraud and going concern </a:t>
            </a:r>
          </a:p>
          <a:p>
            <a:pPr marL="457200" lvl="1" indent="-347472">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Concept of performance materiality when 100% of population, or a significant portion thereof, is subject to a data analytic</a:t>
            </a:r>
          </a:p>
          <a:p>
            <a:pPr marL="457200" lvl="1" indent="-347472">
              <a:lnSpc>
                <a:spcPts val="2600"/>
              </a:lnSpc>
              <a:buFont typeface="Arial" panose="020B0604020202020204" pitchFamily="34" charset="0"/>
              <a:buChar char="•"/>
            </a:pPr>
            <a:r>
              <a:rPr lang="en-US" dirty="0">
                <a:latin typeface="Arial" panose="020B0604020202020204" pitchFamily="34" charset="0"/>
                <a:cs typeface="Arial" panose="020B0604020202020204" pitchFamily="34" charset="0"/>
              </a:rPr>
              <a:t>General effect of technology on other audit considerations such as the engagement letter, audit planning, related parties and the use of an expert</a:t>
            </a:r>
          </a:p>
        </p:txBody>
      </p:sp>
    </p:spTree>
    <p:extLst>
      <p:ext uri="{BB962C8B-B14F-4D97-AF65-F5344CB8AC3E}">
        <p14:creationId xmlns:p14="http://schemas.microsoft.com/office/powerpoint/2010/main" val="1751615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5</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Interaction with the Audit Evidence Initiative  </a:t>
            </a:r>
          </a:p>
        </p:txBody>
      </p:sp>
      <p:sp>
        <p:nvSpPr>
          <p:cNvPr id="13" name="Content Placeholder 6"/>
          <p:cNvSpPr txBox="1">
            <a:spLocks/>
          </p:cNvSpPr>
          <p:nvPr/>
        </p:nvSpPr>
        <p:spPr>
          <a:xfrm>
            <a:off x="460344" y="2530479"/>
            <a:ext cx="11271311" cy="3172178"/>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ctr">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121917" indent="0">
              <a:lnSpc>
                <a:spcPts val="2600"/>
              </a:lnSpc>
              <a:spcBef>
                <a:spcPts val="600"/>
              </a:spcBef>
              <a:buNone/>
            </a:pPr>
            <a:endParaRPr lang="en-US" sz="2400" dirty="0">
              <a:latin typeface="Arial" panose="020B0604020202020204" pitchFamily="34" charset="0"/>
              <a:cs typeface="Arial" panose="020B0604020202020204" pitchFamily="34" charset="0"/>
            </a:endParaRPr>
          </a:p>
        </p:txBody>
      </p:sp>
      <p:graphicFrame>
        <p:nvGraphicFramePr>
          <p:cNvPr id="5" name="Diagram 4">
            <a:extLst>
              <a:ext uri="{FF2B5EF4-FFF2-40B4-BE49-F238E27FC236}">
                <a16:creationId xmlns:a16="http://schemas.microsoft.com/office/drawing/2014/main" id="{FC1091FA-22E7-43EE-9A57-882D168265C6}"/>
              </a:ext>
            </a:extLst>
          </p:cNvPr>
          <p:cNvGraphicFramePr/>
          <p:nvPr>
            <p:extLst>
              <p:ext uri="{D42A27DB-BD31-4B8C-83A1-F6EECF244321}">
                <p14:modId xmlns:p14="http://schemas.microsoft.com/office/powerpoint/2010/main" val="451863073"/>
              </p:ext>
            </p:extLst>
          </p:nvPr>
        </p:nvGraphicFramePr>
        <p:xfrm>
          <a:off x="1154288" y="1155343"/>
          <a:ext cx="9132712" cy="16656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ACA3927E-03FD-41F6-A493-35F1D2A788BF}"/>
              </a:ext>
            </a:extLst>
          </p:cNvPr>
          <p:cNvSpPr/>
          <p:nvPr/>
        </p:nvSpPr>
        <p:spPr>
          <a:xfrm>
            <a:off x="696367" y="2920746"/>
            <a:ext cx="5219011" cy="3073654"/>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just">
              <a:lnSpc>
                <a:spcPts val="2200"/>
              </a:lnSpc>
              <a:buFont typeface="Arial" panose="020B0604020202020204" pitchFamily="34" charset="0"/>
              <a:buChar char="•"/>
            </a:pPr>
            <a:r>
              <a:rPr lang="en-US" sz="1900" dirty="0">
                <a:solidFill>
                  <a:schemeClr val="tx1">
                    <a:lumMod val="75000"/>
                    <a:lumOff val="25000"/>
                  </a:schemeClr>
                </a:solidFill>
                <a:latin typeface="Arial" panose="020B0604020202020204" pitchFamily="34" charset="0"/>
                <a:cs typeface="Arial" panose="020B0604020202020204" pitchFamily="34" charset="0"/>
              </a:rPr>
              <a:t>Information-gathering and research activities to pinpoint and prioritize </a:t>
            </a:r>
            <a:r>
              <a:rPr lang="en-US" sz="1900"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audit evidence</a:t>
            </a:r>
            <a:r>
              <a:rPr lang="en-US" sz="1900" dirty="0">
                <a:solidFill>
                  <a:schemeClr val="tx1">
                    <a:lumMod val="75000"/>
                    <a:lumOff val="25000"/>
                  </a:schemeClr>
                </a:solidFill>
                <a:latin typeface="Arial" panose="020B0604020202020204" pitchFamily="34" charset="0"/>
                <a:cs typeface="Arial" panose="020B0604020202020204" pitchFamily="34" charset="0"/>
              </a:rPr>
              <a:t> related issues, which may include</a:t>
            </a:r>
          </a:p>
          <a:p>
            <a:pPr marL="594360" indent="-285750">
              <a:lnSpc>
                <a:spcPts val="2200"/>
              </a:lnSpc>
              <a:buFont typeface="Arial" panose="020B0604020202020204" pitchFamily="34" charset="0"/>
              <a:buChar char="‒"/>
            </a:pPr>
            <a:r>
              <a:rPr lang="en-US" sz="1900" dirty="0">
                <a:solidFill>
                  <a:schemeClr val="tx1">
                    <a:lumMod val="75000"/>
                    <a:lumOff val="25000"/>
                  </a:schemeClr>
                </a:solidFill>
                <a:latin typeface="Arial" panose="020B0604020202020204" pitchFamily="34" charset="0"/>
                <a:cs typeface="Arial" panose="020B0604020202020204" pitchFamily="34" charset="0"/>
              </a:rPr>
              <a:t>Technology </a:t>
            </a:r>
          </a:p>
          <a:p>
            <a:pPr marL="594360" indent="-285750">
              <a:lnSpc>
                <a:spcPts val="2200"/>
              </a:lnSpc>
              <a:buFont typeface="Arial" panose="020B0604020202020204" pitchFamily="34" charset="0"/>
              <a:buChar char="‒"/>
            </a:pPr>
            <a:r>
              <a:rPr lang="en-US" sz="1900" dirty="0">
                <a:solidFill>
                  <a:schemeClr val="tx1">
                    <a:lumMod val="75000"/>
                    <a:lumOff val="25000"/>
                  </a:schemeClr>
                </a:solidFill>
                <a:latin typeface="Arial" panose="020B0604020202020204" pitchFamily="34" charset="0"/>
                <a:cs typeface="Arial" panose="020B0604020202020204" pitchFamily="34" charset="0"/>
              </a:rPr>
              <a:t>Professional skepticism</a:t>
            </a:r>
          </a:p>
          <a:p>
            <a:pPr marL="594360" indent="-285750">
              <a:lnSpc>
                <a:spcPts val="2200"/>
              </a:lnSpc>
              <a:buFont typeface="Arial" panose="020B0604020202020204" pitchFamily="34" charset="0"/>
              <a:buChar char="‒"/>
            </a:pPr>
            <a:r>
              <a:rPr lang="en-US" sz="1900" dirty="0">
                <a:solidFill>
                  <a:schemeClr val="tx1">
                    <a:lumMod val="75000"/>
                    <a:lumOff val="25000"/>
                  </a:schemeClr>
                </a:solidFill>
                <a:latin typeface="Arial" panose="020B0604020202020204" pitchFamily="34" charset="0"/>
                <a:cs typeface="Arial" panose="020B0604020202020204" pitchFamily="34" charset="0"/>
              </a:rPr>
              <a:t>Source of information</a:t>
            </a:r>
          </a:p>
          <a:p>
            <a:pPr marL="594360" indent="-285750">
              <a:lnSpc>
                <a:spcPts val="2200"/>
              </a:lnSpc>
              <a:buFont typeface="Arial" panose="020B0604020202020204" pitchFamily="34" charset="0"/>
              <a:buChar char="‒"/>
            </a:pPr>
            <a:endParaRPr lang="en-US" sz="1900" dirty="0">
              <a:solidFill>
                <a:schemeClr val="tx1">
                  <a:lumMod val="75000"/>
                  <a:lumOff val="25000"/>
                </a:schemeClr>
              </a:solidFill>
              <a:latin typeface="Arial" panose="020B0604020202020204" pitchFamily="34" charset="0"/>
              <a:cs typeface="Arial" panose="020B0604020202020204" pitchFamily="34" charset="0"/>
            </a:endParaRPr>
          </a:p>
          <a:p>
            <a:pPr marL="285750" indent="-285750" algn="just">
              <a:lnSpc>
                <a:spcPts val="2200"/>
              </a:lnSpc>
              <a:buFont typeface="Arial" panose="020B0604020202020204" pitchFamily="34" charset="0"/>
              <a:buChar char="•"/>
            </a:pPr>
            <a:r>
              <a:rPr lang="en-US" sz="1900" dirty="0">
                <a:solidFill>
                  <a:schemeClr val="tx1">
                    <a:lumMod val="75000"/>
                    <a:lumOff val="25000"/>
                  </a:schemeClr>
                </a:solidFill>
                <a:latin typeface="Arial" panose="020B0604020202020204" pitchFamily="34" charset="0"/>
                <a:cs typeface="Arial" panose="020B0604020202020204" pitchFamily="34" charset="0"/>
              </a:rPr>
              <a:t>Develop informed recommendations to the Board, including standard setting  </a:t>
            </a:r>
          </a:p>
        </p:txBody>
      </p:sp>
      <p:sp>
        <p:nvSpPr>
          <p:cNvPr id="12" name="Rectangle 11">
            <a:extLst>
              <a:ext uri="{FF2B5EF4-FFF2-40B4-BE49-F238E27FC236}">
                <a16:creationId xmlns:a16="http://schemas.microsoft.com/office/drawing/2014/main" id="{EB27C502-6D43-412B-866C-BFE8E2861043}"/>
              </a:ext>
            </a:extLst>
          </p:cNvPr>
          <p:cNvSpPr/>
          <p:nvPr/>
        </p:nvSpPr>
        <p:spPr>
          <a:xfrm>
            <a:off x="6138332" y="2934580"/>
            <a:ext cx="4653846" cy="3059819"/>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just">
              <a:lnSpc>
                <a:spcPts val="2200"/>
              </a:lnSpc>
              <a:buFont typeface="Arial" panose="020B0604020202020204" pitchFamily="34" charset="0"/>
              <a:buChar char="•"/>
            </a:pPr>
            <a:r>
              <a:rPr lang="en-US" dirty="0">
                <a:solidFill>
                  <a:schemeClr val="tx1">
                    <a:lumMod val="75000"/>
                    <a:lumOff val="25000"/>
                  </a:schemeClr>
                </a:solidFill>
                <a:latin typeface="Arial" panose="020B0604020202020204" pitchFamily="34" charset="0"/>
                <a:cs typeface="Arial" panose="020B0604020202020204" pitchFamily="34" charset="0"/>
              </a:rPr>
              <a:t>Identify matters for which there is an opportunity for an </a:t>
            </a:r>
            <a:r>
              <a:rPr lang="en-US"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immediate response </a:t>
            </a:r>
            <a:r>
              <a:rPr lang="en-US" dirty="0">
                <a:solidFill>
                  <a:schemeClr val="tx1">
                    <a:lumMod val="75000"/>
                    <a:lumOff val="25000"/>
                  </a:schemeClr>
                </a:solidFill>
                <a:latin typeface="Arial" panose="020B0604020202020204" pitchFamily="34" charset="0"/>
                <a:cs typeface="Arial" panose="020B0604020202020204" pitchFamily="34" charset="0"/>
              </a:rPr>
              <a:t>through developing and issuing of </a:t>
            </a:r>
            <a:r>
              <a:rPr lang="en-US"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guidance</a:t>
            </a:r>
            <a:r>
              <a:rPr lang="en-US" dirty="0">
                <a:solidFill>
                  <a:schemeClr val="tx1">
                    <a:lumMod val="75000"/>
                    <a:lumOff val="25000"/>
                  </a:schemeClr>
                </a:solidFill>
                <a:latin typeface="Arial" panose="020B0604020202020204" pitchFamily="34" charset="0"/>
                <a:cs typeface="Arial" panose="020B0604020202020204" pitchFamily="34" charset="0"/>
              </a:rPr>
              <a:t> to address the effect of </a:t>
            </a:r>
            <a:r>
              <a:rPr lang="en-US" b="1" dirty="0">
                <a:solidFill>
                  <a:schemeClr val="tx1">
                    <a:lumMod val="75000"/>
                    <a:lumOff val="25000"/>
                  </a:scheme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technology</a:t>
            </a:r>
            <a:r>
              <a:rPr lang="en-US" dirty="0">
                <a:solidFill>
                  <a:schemeClr val="tx1">
                    <a:lumMod val="75000"/>
                    <a:lumOff val="25000"/>
                  </a:schemeClr>
                </a:solidFill>
                <a:latin typeface="Arial" panose="020B0604020202020204" pitchFamily="34" charset="0"/>
                <a:cs typeface="Arial" panose="020B0604020202020204" pitchFamily="34" charset="0"/>
              </a:rPr>
              <a:t> when applying certain aspects of the ISAs.  </a:t>
            </a:r>
          </a:p>
          <a:p>
            <a:pPr>
              <a:lnSpc>
                <a:spcPts val="2200"/>
              </a:lnSpc>
            </a:pPr>
            <a:endParaRPr lang="en-US" dirty="0">
              <a:solidFill>
                <a:schemeClr val="tx1">
                  <a:lumMod val="75000"/>
                  <a:lumOff val="25000"/>
                </a:schemeClr>
              </a:solidFill>
              <a:latin typeface="Arial" panose="020B0604020202020204" pitchFamily="34" charset="0"/>
              <a:cs typeface="Arial" panose="020B0604020202020204" pitchFamily="34" charset="0"/>
            </a:endParaRPr>
          </a:p>
          <a:p>
            <a:pPr algn="ctr"/>
            <a:endParaRPr lang="en-US" dirty="0"/>
          </a:p>
        </p:txBody>
      </p:sp>
    </p:spTree>
    <p:extLst>
      <p:ext uri="{BB962C8B-B14F-4D97-AF65-F5344CB8AC3E}">
        <p14:creationId xmlns:p14="http://schemas.microsoft.com/office/powerpoint/2010/main" val="1104968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6</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Technology – CAG Feedback</a:t>
            </a:r>
          </a:p>
        </p:txBody>
      </p:sp>
      <p:sp>
        <p:nvSpPr>
          <p:cNvPr id="13" name="Content Placeholder 6"/>
          <p:cNvSpPr txBox="1">
            <a:spLocks/>
          </p:cNvSpPr>
          <p:nvPr/>
        </p:nvSpPr>
        <p:spPr>
          <a:xfrm>
            <a:off x="297873" y="1396115"/>
            <a:ext cx="11271311" cy="4605867"/>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t">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114300" lvl="1" indent="0">
              <a:lnSpc>
                <a:spcPts val="2600"/>
              </a:lnSpc>
              <a:buNone/>
            </a:pPr>
            <a:r>
              <a:rPr lang="en-US" sz="2400" b="1" dirty="0">
                <a:latin typeface="Arial" panose="020B0604020202020204" pitchFamily="34" charset="0"/>
                <a:cs typeface="Arial" panose="020B0604020202020204" pitchFamily="34" charset="0"/>
              </a:rPr>
              <a:t>CAG Feedback</a:t>
            </a:r>
            <a:endParaRPr lang="en-US" sz="2400" dirty="0">
              <a:latin typeface="Arial" panose="020B0604020202020204" pitchFamily="34" charset="0"/>
              <a:cs typeface="Arial" panose="020B0604020202020204" pitchFamily="34" charset="0"/>
            </a:endParaRPr>
          </a:p>
          <a:p>
            <a:pPr marL="457200" lvl="1" indent="-342900">
              <a:lnSpc>
                <a:spcPts val="2600"/>
              </a:lnSpc>
              <a:buFont typeface="Arial" panose="020B0604020202020204" pitchFamily="34" charset="0"/>
              <a:buChar char="•"/>
            </a:pPr>
            <a:r>
              <a:rPr lang="en-US" sz="1900" dirty="0">
                <a:latin typeface="Arial" panose="020B0604020202020204" pitchFamily="34" charset="0"/>
                <a:cs typeface="Arial" panose="020B0604020202020204" pitchFamily="34" charset="0"/>
              </a:rPr>
              <a:t>Support for guidance initiative</a:t>
            </a:r>
          </a:p>
          <a:p>
            <a:pPr marL="457200" lvl="1" indent="-342900">
              <a:lnSpc>
                <a:spcPts val="2600"/>
              </a:lnSpc>
              <a:buFont typeface="Arial" panose="020B0604020202020204" pitchFamily="34" charset="0"/>
              <a:buChar char="•"/>
            </a:pPr>
            <a:r>
              <a:rPr lang="en-US" sz="1900" dirty="0">
                <a:latin typeface="Arial" panose="020B0604020202020204" pitchFamily="34" charset="0"/>
                <a:cs typeface="Arial" panose="020B0604020202020204" pitchFamily="34" charset="0"/>
              </a:rPr>
              <a:t>Clarification of scope of TWG</a:t>
            </a:r>
          </a:p>
          <a:p>
            <a:pPr marL="457200" lvl="1" indent="-342900">
              <a:lnSpc>
                <a:spcPts val="2600"/>
              </a:lnSpc>
              <a:buFont typeface="Arial" panose="020B0604020202020204" pitchFamily="34" charset="0"/>
              <a:buChar char="•"/>
            </a:pPr>
            <a:r>
              <a:rPr lang="en-US" sz="1900" dirty="0">
                <a:latin typeface="Arial" panose="020B0604020202020204" pitchFamily="34" charset="0"/>
                <a:cs typeface="Arial" panose="020B0604020202020204" pitchFamily="34" charset="0"/>
              </a:rPr>
              <a:t>PCAOB initiatives and collaboration</a:t>
            </a:r>
          </a:p>
          <a:p>
            <a:pPr marL="457200" lvl="1" indent="-342900">
              <a:lnSpc>
                <a:spcPts val="26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39235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E05DAD2-EBD2-4248-A1BE-DE5C530C13EE}" type="slidenum">
              <a:rPr lang="en-US" smtClean="0">
                <a:solidFill>
                  <a:prstClr val="black">
                    <a:tint val="75000"/>
                  </a:prstClr>
                </a:solidFill>
              </a:rPr>
              <a:pPr/>
              <a:t>7</a:t>
            </a:fld>
            <a:endParaRPr lang="en-US">
              <a:solidFill>
                <a:prstClr val="black">
                  <a:tint val="75000"/>
                </a:prstClr>
              </a:solidFill>
            </a:endParaRPr>
          </a:p>
        </p:txBody>
      </p:sp>
      <p:sp>
        <p:nvSpPr>
          <p:cNvPr id="8" name="Title 1"/>
          <p:cNvSpPr txBox="1">
            <a:spLocks/>
          </p:cNvSpPr>
          <p:nvPr/>
        </p:nvSpPr>
        <p:spPr>
          <a:xfrm>
            <a:off x="297873" y="665230"/>
            <a:ext cx="11055927" cy="376518"/>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400" b="1" dirty="0">
                <a:solidFill>
                  <a:prstClr val="white"/>
                </a:solidFill>
                <a:latin typeface="Arial" panose="020B0604020202020204" pitchFamily="34" charset="0"/>
                <a:cs typeface="Arial" panose="020B0604020202020204" pitchFamily="34" charset="0"/>
              </a:rPr>
              <a:t>Technology</a:t>
            </a:r>
          </a:p>
        </p:txBody>
      </p:sp>
      <p:sp>
        <p:nvSpPr>
          <p:cNvPr id="13" name="Content Placeholder 6"/>
          <p:cNvSpPr txBox="1">
            <a:spLocks/>
          </p:cNvSpPr>
          <p:nvPr/>
        </p:nvSpPr>
        <p:spPr>
          <a:xfrm>
            <a:off x="666044" y="1041748"/>
            <a:ext cx="10419645" cy="5061059"/>
          </a:xfrm>
          <a:prstGeom prst="roundRect">
            <a:avLst/>
          </a:prstGeom>
          <a:noFill/>
          <a:ln w="57150" cap="flat" cmpd="sng" algn="ctr">
            <a:noFill/>
            <a:prstDash val="solid"/>
          </a:ln>
        </p:spPr>
        <p:style>
          <a:lnRef idx="2">
            <a:schemeClr val="dk1"/>
          </a:lnRef>
          <a:fillRef idx="1">
            <a:schemeClr val="lt1"/>
          </a:fillRef>
          <a:effectRef idx="0">
            <a:schemeClr val="dk1"/>
          </a:effectRef>
          <a:fontRef idx="minor">
            <a:schemeClr val="dk1"/>
          </a:fontRef>
        </p:style>
        <p:txBody>
          <a:bodyPr vert="horz" lIns="0" tIns="0" rIns="0" bIns="0" rtlCol="0" anchor="t">
            <a:noAutofit/>
          </a:bodyPr>
          <a:lstStyle>
            <a:lvl1pPr marL="173034" indent="-173034" algn="l" defTabSz="457189" rtl="0" eaLnBrk="1" latinLnBrk="0" hangingPunct="1">
              <a:spcBef>
                <a:spcPts val="1200"/>
              </a:spcBef>
              <a:buFont typeface="Arial"/>
              <a:buChar char="•"/>
              <a:defRPr sz="2000" kern="1200">
                <a:solidFill>
                  <a:srgbClr val="808080"/>
                </a:solidFill>
                <a:latin typeface="+mn-lt"/>
                <a:ea typeface="+mn-ea"/>
                <a:cs typeface="+mn-cs"/>
              </a:defRPr>
            </a:lvl1pPr>
            <a:lvl2pPr marL="457189" indent="-228594" algn="l" defTabSz="457189" rtl="0" eaLnBrk="1" latinLnBrk="0" hangingPunct="1">
              <a:spcBef>
                <a:spcPts val="600"/>
              </a:spcBef>
              <a:spcAft>
                <a:spcPts val="400"/>
              </a:spcAft>
              <a:buFont typeface="Arial"/>
              <a:buChar char="–"/>
              <a:defRPr sz="1800" kern="1200">
                <a:solidFill>
                  <a:srgbClr val="808080"/>
                </a:solidFill>
                <a:latin typeface="+mn-lt"/>
                <a:ea typeface="+mn-ea"/>
                <a:cs typeface="+mn-cs"/>
              </a:defRPr>
            </a:lvl2pPr>
            <a:lvl3pPr marL="630223" indent="-171446" algn="l" defTabSz="457189" rtl="0" eaLnBrk="1" latinLnBrk="0" hangingPunct="1">
              <a:spcBef>
                <a:spcPct val="20000"/>
              </a:spcBef>
              <a:buFont typeface="Arial"/>
              <a:buChar char="•"/>
              <a:defRPr sz="1600" kern="1200">
                <a:solidFill>
                  <a:srgbClr val="808080"/>
                </a:solidFill>
                <a:latin typeface="+mn-lt"/>
                <a:ea typeface="+mn-ea"/>
                <a:cs typeface="+mn-cs"/>
              </a:defRPr>
            </a:lvl3pPr>
            <a:lvl4pPr marL="857229"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4pPr>
            <a:lvl5pPr marL="1084236" indent="-228594" algn="l" defTabSz="457189" rtl="0" eaLnBrk="1" latinLnBrk="0" hangingPunct="1">
              <a:spcBef>
                <a:spcPct val="20000"/>
              </a:spcBef>
              <a:buFont typeface="Arial"/>
              <a:buChar char="»"/>
              <a:defRPr sz="1400" kern="1200">
                <a:solidFill>
                  <a:srgbClr val="808080"/>
                </a:solidFill>
                <a:latin typeface="Arial" panose="020B0604020202020204" pitchFamily="34" charset="0"/>
                <a:ea typeface="+mn-ea"/>
                <a:cs typeface="Arial" panose="020B0604020202020204" pitchFamily="34" charset="0"/>
              </a:defRPr>
            </a:lvl5pPr>
            <a:lvl6pPr marL="2514537" indent="-228594" algn="l" defTabSz="457189" rtl="0" eaLnBrk="1" latinLnBrk="0" hangingPunct="1">
              <a:spcBef>
                <a:spcPct val="20000"/>
              </a:spcBef>
              <a:buFont typeface="Arial"/>
              <a:buChar char="•"/>
              <a:defRPr sz="2000" kern="1200">
                <a:solidFill>
                  <a:schemeClr val="dk1"/>
                </a:solidFill>
                <a:latin typeface="+mn-lt"/>
                <a:ea typeface="+mn-ea"/>
                <a:cs typeface="+mn-cs"/>
              </a:defRPr>
            </a:lvl6pPr>
            <a:lvl7pPr marL="2971726" indent="-228594" algn="l" defTabSz="457189" rtl="0" eaLnBrk="1" latinLnBrk="0" hangingPunct="1">
              <a:spcBef>
                <a:spcPct val="20000"/>
              </a:spcBef>
              <a:buFont typeface="Arial"/>
              <a:buChar char="•"/>
              <a:defRPr sz="2000" kern="1200">
                <a:solidFill>
                  <a:schemeClr val="dk1"/>
                </a:solidFill>
                <a:latin typeface="+mn-lt"/>
                <a:ea typeface="+mn-ea"/>
                <a:cs typeface="+mn-cs"/>
              </a:defRPr>
            </a:lvl7pPr>
            <a:lvl8pPr marL="3428914" indent="-228594" algn="l" defTabSz="457189" rtl="0" eaLnBrk="1" latinLnBrk="0" hangingPunct="1">
              <a:spcBef>
                <a:spcPct val="20000"/>
              </a:spcBef>
              <a:buFont typeface="Arial"/>
              <a:buChar char="•"/>
              <a:defRPr sz="2000" kern="1200">
                <a:solidFill>
                  <a:schemeClr val="dk1"/>
                </a:solidFill>
                <a:latin typeface="+mn-lt"/>
                <a:ea typeface="+mn-ea"/>
                <a:cs typeface="+mn-cs"/>
              </a:defRPr>
            </a:lvl8pPr>
            <a:lvl9pPr marL="3886103" indent="-228594" algn="l" defTabSz="457189" rtl="0" eaLnBrk="1" latinLnBrk="0" hangingPunct="1">
              <a:spcBef>
                <a:spcPct val="20000"/>
              </a:spcBef>
              <a:buFont typeface="Arial"/>
              <a:buChar char="•"/>
              <a:defRPr sz="2000" kern="1200">
                <a:solidFill>
                  <a:schemeClr val="dk1"/>
                </a:solidFill>
                <a:latin typeface="+mn-lt"/>
                <a:ea typeface="+mn-ea"/>
                <a:cs typeface="+mn-cs"/>
              </a:defRPr>
            </a:lvl9pPr>
          </a:lstStyle>
          <a:p>
            <a:pPr marL="121917" indent="0" algn="ctr">
              <a:lnSpc>
                <a:spcPts val="2600"/>
              </a:lnSpc>
              <a:spcBef>
                <a:spcPts val="600"/>
              </a:spcBef>
              <a:buNone/>
            </a:pPr>
            <a:endParaRPr lang="en-US" sz="3600" b="1" dirty="0">
              <a:latin typeface="Arial" panose="020B0604020202020204" pitchFamily="34" charset="0"/>
              <a:cs typeface="Arial" panose="020B0604020202020204" pitchFamily="34" charset="0"/>
            </a:endParaRPr>
          </a:p>
          <a:p>
            <a:pPr marL="121917" indent="0" algn="ctr">
              <a:lnSpc>
                <a:spcPts val="2600"/>
              </a:lnSpc>
              <a:spcBef>
                <a:spcPts val="600"/>
              </a:spcBef>
              <a:buNone/>
            </a:pPr>
            <a:r>
              <a:rPr lang="en-US" sz="4400" b="1" dirty="0">
                <a:latin typeface="Arial" panose="020B0604020202020204" pitchFamily="34" charset="0"/>
                <a:cs typeface="Arial" panose="020B0604020202020204" pitchFamily="34" charset="0"/>
              </a:rPr>
              <a:t>QUESTIONS </a:t>
            </a:r>
            <a:endParaRPr lang="en-US" sz="4000" b="1" dirty="0">
              <a:latin typeface="Arial" panose="020B0604020202020204" pitchFamily="34" charset="0"/>
              <a:cs typeface="Arial" panose="020B0604020202020204" pitchFamily="34" charset="0"/>
            </a:endParaRPr>
          </a:p>
          <a:p>
            <a:pPr marL="1280160" lvl="2" indent="-365760">
              <a:lnSpc>
                <a:spcPts val="2400"/>
              </a:lnSpc>
              <a:buFont typeface="Courier New" panose="02070309020205020404" pitchFamily="49" charset="0"/>
              <a:buChar char="o"/>
            </a:pPr>
            <a:endParaRPr lang="en-US" dirty="0">
              <a:latin typeface="Arial" panose="020B0604020202020204" pitchFamily="34" charset="0"/>
              <a:cs typeface="Arial" panose="020B0604020202020204" pitchFamily="34" charset="0"/>
            </a:endParaRPr>
          </a:p>
          <a:p>
            <a:pPr marL="502920" lvl="1" indent="-347472">
              <a:lnSpc>
                <a:spcPts val="2600"/>
              </a:lnSpc>
              <a:buFont typeface="Arial" panose="020B0604020202020204" pitchFamily="34" charset="0"/>
              <a:buChar char="•"/>
            </a:pPr>
            <a:endParaRPr lang="en-US" dirty="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3B699172-65DA-469A-9DF9-9309D168BD38}"/>
              </a:ext>
            </a:extLst>
          </p:cNvPr>
          <p:cNvPicPr>
            <a:picLocks noChangeAspect="1"/>
          </p:cNvPicPr>
          <p:nvPr/>
        </p:nvPicPr>
        <p:blipFill>
          <a:blip r:embed="rId3"/>
          <a:stretch>
            <a:fillRect/>
          </a:stretch>
        </p:blipFill>
        <p:spPr>
          <a:xfrm>
            <a:off x="4088430" y="2291926"/>
            <a:ext cx="4015140" cy="3720570"/>
          </a:xfrm>
          <a:prstGeom prst="rect">
            <a:avLst/>
          </a:prstGeom>
        </p:spPr>
      </p:pic>
    </p:spTree>
    <p:extLst>
      <p:ext uri="{BB962C8B-B14F-4D97-AF65-F5344CB8AC3E}">
        <p14:creationId xmlns:p14="http://schemas.microsoft.com/office/powerpoint/2010/main" val="389731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27546"/>
      </p:ext>
    </p:extLst>
  </p:cSld>
  <p:clrMapOvr>
    <a:masterClrMapping/>
  </p:clrMapOvr>
</p:sld>
</file>

<file path=ppt/theme/theme1.xml><?xml version="1.0" encoding="utf-8"?>
<a:theme xmlns:a="http://schemas.openxmlformats.org/drawingml/2006/main" name="6_Custom Design">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945</TotalTime>
  <Words>1206</Words>
  <Application>Microsoft Office PowerPoint</Application>
  <PresentationFormat>Widescreen</PresentationFormat>
  <Paragraphs>97</Paragraphs>
  <Slides>8</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Arial</vt:lpstr>
      <vt:lpstr>Arial Narrow</vt:lpstr>
      <vt:lpstr>Calibri</vt:lpstr>
      <vt:lpstr>Calibri Light</vt:lpstr>
      <vt:lpstr>Courier New</vt:lpstr>
      <vt:lpstr>Symbol</vt:lpstr>
      <vt:lpstr>Times New Roman</vt:lpstr>
      <vt:lpstr>6_Custom Design</vt:lpstr>
      <vt:lpstr>2_Office Theme</vt:lpstr>
      <vt:lpstr>Technology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BJ</dc:creator>
  <cp:lastModifiedBy>Phil Minnaar</cp:lastModifiedBy>
  <cp:revision>52</cp:revision>
  <dcterms:created xsi:type="dcterms:W3CDTF">2019-02-14T19:07:31Z</dcterms:created>
  <dcterms:modified xsi:type="dcterms:W3CDTF">2019-09-16T16:12:50Z</dcterms:modified>
</cp:coreProperties>
</file>