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4"/>
  </p:notesMasterIdLst>
  <p:handoutMasterIdLst>
    <p:handoutMasterId r:id="rId15"/>
  </p:handoutMasterIdLst>
  <p:sldIdLst>
    <p:sldId id="256" r:id="rId2"/>
    <p:sldId id="449" r:id="rId3"/>
    <p:sldId id="450" r:id="rId4"/>
    <p:sldId id="451" r:id="rId5"/>
    <p:sldId id="455" r:id="rId6"/>
    <p:sldId id="452" r:id="rId7"/>
    <p:sldId id="453" r:id="rId8"/>
    <p:sldId id="456" r:id="rId9"/>
    <p:sldId id="454" r:id="rId10"/>
    <p:sldId id="458" r:id="rId11"/>
    <p:sldId id="457" r:id="rId12"/>
    <p:sldId id="259" r:id="rId13"/>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Megan Zietsman" initials="MZ" lastIdx="6" clrIdx="2">
    <p:extLst>
      <p:ext uri="{19B8F6BF-5375-455C-9EA6-DF929625EA0E}">
        <p15:presenceInfo xmlns:p15="http://schemas.microsoft.com/office/powerpoint/2012/main" userId="Megan Zietsman" providerId="None"/>
      </p:ext>
    </p:extLst>
  </p:cmAuthor>
  <p:cmAuthor id="4" name="Beverley Bahlmann" initials="BB" lastIdx="1" clrIdx="3">
    <p:extLst>
      <p:ext uri="{19B8F6BF-5375-455C-9EA6-DF929625EA0E}">
        <p15:presenceInfo xmlns:p15="http://schemas.microsoft.com/office/powerpoint/2012/main" userId="S-1-5-21-1801674531-1972579041-839522115-428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0CC66"/>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16" autoAdjust="0"/>
    <p:restoredTop sz="75333" autoAdjust="0"/>
  </p:normalViewPr>
  <p:slideViewPr>
    <p:cSldViewPr snapToGrid="0" snapToObjects="1">
      <p:cViewPr varScale="1">
        <p:scale>
          <a:sx n="67" d="100"/>
          <a:sy n="67" d="100"/>
        </p:scale>
        <p:origin x="1300" y="56"/>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9/18/2019</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9/18/2019</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119454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u="none" strike="noStrike" kern="1200" dirty="0">
                <a:solidFill>
                  <a:schemeClr val="tx1"/>
                </a:solidFill>
                <a:effectLst/>
                <a:latin typeface="+mn-lt"/>
                <a:ea typeface="+mn-ea"/>
                <a:cs typeface="+mn-cs"/>
              </a:rPr>
              <a:t> </a:t>
            </a:r>
            <a:endParaRPr lang="en-US" sz="9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a:p>
        </p:txBody>
      </p:sp>
    </p:spTree>
    <p:extLst>
      <p:ext uri="{BB962C8B-B14F-4D97-AF65-F5344CB8AC3E}">
        <p14:creationId xmlns:p14="http://schemas.microsoft.com/office/powerpoint/2010/main" val="1250627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a:p>
        </p:txBody>
      </p:sp>
    </p:spTree>
    <p:extLst>
      <p:ext uri="{BB962C8B-B14F-4D97-AF65-F5344CB8AC3E}">
        <p14:creationId xmlns:p14="http://schemas.microsoft.com/office/powerpoint/2010/main" val="3586193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a:p>
        </p:txBody>
      </p:sp>
    </p:spTree>
    <p:extLst>
      <p:ext uri="{BB962C8B-B14F-4D97-AF65-F5344CB8AC3E}">
        <p14:creationId xmlns:p14="http://schemas.microsoft.com/office/powerpoint/2010/main" val="2022118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289E18CF-C690-4C5C-8392-CD967FC1C437}" type="datetime1">
              <a:rPr lang="en-US" smtClean="0"/>
              <a:t>9/18/2019</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81534"/>
            <a:ext cx="7893383" cy="1280960"/>
          </a:xfrm>
        </p:spPr>
        <p:txBody>
          <a:bodyPr>
            <a:normAutofit/>
          </a:bodyPr>
          <a:lstStyle/>
          <a:p>
            <a:r>
              <a:rPr lang="en-US" dirty="0"/>
              <a:t>ISA 315 (Revised) </a:t>
            </a:r>
            <a:br>
              <a:rPr lang="en-US" dirty="0"/>
            </a:br>
            <a:r>
              <a:rPr lang="en-US" dirty="0"/>
              <a:t>Identifying and Assessing the Risks of Material Misstatement</a:t>
            </a:r>
          </a:p>
        </p:txBody>
      </p:sp>
      <p:sp>
        <p:nvSpPr>
          <p:cNvPr id="6" name="Subtitle 5"/>
          <p:cNvSpPr>
            <a:spLocks noGrp="1"/>
          </p:cNvSpPr>
          <p:nvPr>
            <p:ph type="subTitle" idx="1"/>
          </p:nvPr>
        </p:nvSpPr>
        <p:spPr>
          <a:xfrm>
            <a:off x="685801" y="3603009"/>
            <a:ext cx="5880099" cy="1037565"/>
          </a:xfrm>
        </p:spPr>
        <p:txBody>
          <a:bodyPr/>
          <a:lstStyle/>
          <a:p>
            <a:pPr>
              <a:spcBef>
                <a:spcPts val="0"/>
              </a:spcBef>
            </a:pPr>
            <a:r>
              <a:rPr lang="en-US" sz="1200" dirty="0"/>
              <a:t>Fiona Campbell, ISA 315 Task Force Chair &amp; Deputy Chair of the IAASB</a:t>
            </a:r>
          </a:p>
          <a:p>
            <a:pPr>
              <a:spcBef>
                <a:spcPts val="300"/>
              </a:spcBef>
            </a:pPr>
            <a:r>
              <a:rPr lang="en-US" sz="1200" dirty="0"/>
              <a:t>IAASB Meeting – New York, USA  </a:t>
            </a:r>
          </a:p>
          <a:p>
            <a:pPr>
              <a:spcBef>
                <a:spcPts val="300"/>
              </a:spcBef>
            </a:pPr>
            <a:r>
              <a:rPr lang="en-US" sz="1200" dirty="0"/>
              <a:t>Agenda Item 2</a:t>
            </a:r>
          </a:p>
          <a:p>
            <a:pPr>
              <a:spcBef>
                <a:spcPts val="300"/>
              </a:spcBef>
            </a:pPr>
            <a:r>
              <a:rPr lang="en-US" sz="1200" dirty="0"/>
              <a:t>Wednesday, September 18, 2019</a:t>
            </a:r>
          </a:p>
        </p:txBody>
      </p:sp>
    </p:spTree>
    <p:extLst>
      <p:ext uri="{BB962C8B-B14F-4D97-AF65-F5344CB8AC3E}">
        <p14:creationId xmlns:p14="http://schemas.microsoft.com/office/powerpoint/2010/main" val="424040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EBA5-FEBC-461A-B222-7EE27F98A3CF}"/>
              </a:ext>
            </a:extLst>
          </p:cNvPr>
          <p:cNvSpPr>
            <a:spLocks noGrp="1"/>
          </p:cNvSpPr>
          <p:nvPr>
            <p:ph type="title"/>
          </p:nvPr>
        </p:nvSpPr>
        <p:spPr/>
        <p:txBody>
          <a:bodyPr/>
          <a:lstStyle/>
          <a:p>
            <a:r>
              <a:rPr lang="en-US" b="1" dirty="0"/>
              <a:t>Significant Aspects Focused on by ISA 315 Task Force</a:t>
            </a:r>
          </a:p>
        </p:txBody>
      </p:sp>
      <p:sp>
        <p:nvSpPr>
          <p:cNvPr id="3" name="Content Placeholder 2">
            <a:extLst>
              <a:ext uri="{FF2B5EF4-FFF2-40B4-BE49-F238E27FC236}">
                <a16:creationId xmlns:a16="http://schemas.microsoft.com/office/drawing/2014/main" id="{6A20C715-8BF6-43D7-9261-737CE1D8A5BA}"/>
              </a:ext>
            </a:extLst>
          </p:cNvPr>
          <p:cNvSpPr>
            <a:spLocks noGrp="1"/>
          </p:cNvSpPr>
          <p:nvPr>
            <p:ph idx="1"/>
          </p:nvPr>
        </p:nvSpPr>
        <p:spPr/>
        <p:txBody>
          <a:bodyPr/>
          <a:lstStyle/>
          <a:p>
            <a:pPr marL="342900" indent="-342900">
              <a:buFont typeface="+mj-lt"/>
              <a:buAutoNum type="arabicPeriod"/>
            </a:pPr>
            <a:r>
              <a:rPr lang="en-US" dirty="0"/>
              <a:t>Definition of relevant assertions</a:t>
            </a:r>
          </a:p>
          <a:p>
            <a:pPr marL="342900" indent="-342900">
              <a:buFont typeface="+mj-lt"/>
              <a:buAutoNum type="arabicPeriod"/>
            </a:pPr>
            <a:r>
              <a:rPr lang="en-US" dirty="0"/>
              <a:t>Hanging paragraph – Para 17</a:t>
            </a:r>
          </a:p>
          <a:p>
            <a:pPr marL="342900" indent="-342900">
              <a:buFont typeface="+mj-lt"/>
              <a:buAutoNum type="arabicPeriod"/>
            </a:pPr>
            <a:r>
              <a:rPr lang="en-US" dirty="0"/>
              <a:t>Inherent risk factors and the way we describe consideration of the inherent risk factors in paragraph 23(c)</a:t>
            </a:r>
          </a:p>
          <a:p>
            <a:pPr marL="342900" indent="-342900">
              <a:buFont typeface="+mj-lt"/>
              <a:buAutoNum type="arabicPeriod"/>
            </a:pPr>
            <a:r>
              <a:rPr lang="en-US" dirty="0"/>
              <a:t>Paragraph 39(a)(ii)</a:t>
            </a:r>
          </a:p>
          <a:p>
            <a:pPr marL="342900" indent="-342900">
              <a:buFont typeface="+mj-lt"/>
              <a:buAutoNum type="arabicPeriod"/>
            </a:pPr>
            <a:r>
              <a:rPr lang="en-US" dirty="0"/>
              <a:t>Threshold for identifying risks of material misstatement (ISA 200 CA) </a:t>
            </a:r>
          </a:p>
          <a:p>
            <a:pPr marL="0" indent="0" algn="ctr">
              <a:buNone/>
            </a:pPr>
            <a:endParaRPr lang="en-US" sz="800" b="1" i="1" dirty="0">
              <a:solidFill>
                <a:schemeClr val="tx2"/>
              </a:solidFill>
            </a:endParaRPr>
          </a:p>
          <a:p>
            <a:pPr marL="0" indent="0" algn="ctr">
              <a:buNone/>
            </a:pPr>
            <a:r>
              <a:rPr lang="en-US" sz="2000" b="1" i="1" dirty="0">
                <a:solidFill>
                  <a:schemeClr val="tx2"/>
                </a:solidFill>
              </a:rPr>
              <a:t>We are looking for fatal flaws, including if drafting has not addressed your concern adequately</a:t>
            </a:r>
          </a:p>
          <a:p>
            <a:pPr marL="0" indent="0" algn="ctr">
              <a:buNone/>
            </a:pPr>
            <a:r>
              <a:rPr lang="en-US" sz="2000" b="1" i="1" dirty="0">
                <a:solidFill>
                  <a:schemeClr val="tx2"/>
                </a:solidFill>
              </a:rPr>
              <a:t>We need words!  Please provide drafting offline</a:t>
            </a:r>
          </a:p>
        </p:txBody>
      </p:sp>
      <p:sp>
        <p:nvSpPr>
          <p:cNvPr id="4" name="Slide Number Placeholder 3">
            <a:extLst>
              <a:ext uri="{FF2B5EF4-FFF2-40B4-BE49-F238E27FC236}">
                <a16:creationId xmlns:a16="http://schemas.microsoft.com/office/drawing/2014/main" id="{0C7A61BA-09AC-4364-AC33-19EBAD46DFC5}"/>
              </a:ext>
            </a:extLst>
          </p:cNvPr>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16474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EE71F-3F60-4D51-BDE1-A8C0300BB413}"/>
              </a:ext>
            </a:extLst>
          </p:cNvPr>
          <p:cNvSpPr>
            <a:spLocks noGrp="1"/>
          </p:cNvSpPr>
          <p:nvPr>
            <p:ph type="title"/>
          </p:nvPr>
        </p:nvSpPr>
        <p:spPr/>
        <p:txBody>
          <a:bodyPr/>
          <a:lstStyle/>
          <a:p>
            <a:r>
              <a:rPr lang="en-AU" dirty="0"/>
              <a:t>1. Definition of Relevant Assertion </a:t>
            </a:r>
          </a:p>
        </p:txBody>
      </p:sp>
      <p:pic>
        <p:nvPicPr>
          <p:cNvPr id="7" name="Content Placeholder 6">
            <a:extLst>
              <a:ext uri="{FF2B5EF4-FFF2-40B4-BE49-F238E27FC236}">
                <a16:creationId xmlns:a16="http://schemas.microsoft.com/office/drawing/2014/main" id="{FD6BA71A-6A73-40E5-BBF4-85BBD7990B8D}"/>
              </a:ext>
            </a:extLst>
          </p:cNvPr>
          <p:cNvPicPr>
            <a:picLocks noGrp="1" noChangeAspect="1"/>
          </p:cNvPicPr>
          <p:nvPr>
            <p:ph idx="1"/>
          </p:nvPr>
        </p:nvPicPr>
        <p:blipFill>
          <a:blip r:embed="rId3"/>
          <a:stretch>
            <a:fillRect/>
          </a:stretch>
        </p:blipFill>
        <p:spPr>
          <a:xfrm>
            <a:off x="890799" y="971840"/>
            <a:ext cx="7362402" cy="3744223"/>
          </a:xfrm>
          <a:prstGeom prst="rect">
            <a:avLst/>
          </a:prstGeom>
        </p:spPr>
      </p:pic>
      <p:sp>
        <p:nvSpPr>
          <p:cNvPr id="4" name="Slide Number Placeholder 3">
            <a:extLst>
              <a:ext uri="{FF2B5EF4-FFF2-40B4-BE49-F238E27FC236}">
                <a16:creationId xmlns:a16="http://schemas.microsoft.com/office/drawing/2014/main" id="{52F1F24D-36FB-481A-A622-A81BF746C694}"/>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217248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45E61-3A4F-4CC2-BA0B-0D1D36836710}"/>
              </a:ext>
            </a:extLst>
          </p:cNvPr>
          <p:cNvSpPr>
            <a:spLocks noGrp="1"/>
          </p:cNvSpPr>
          <p:nvPr>
            <p:ph type="title"/>
          </p:nvPr>
        </p:nvSpPr>
        <p:spPr/>
        <p:txBody>
          <a:bodyPr/>
          <a:lstStyle/>
          <a:p>
            <a:r>
              <a:rPr lang="en-AU" dirty="0"/>
              <a:t>2. Hanging paragraph to paragraph 17</a:t>
            </a:r>
          </a:p>
        </p:txBody>
      </p:sp>
      <p:pic>
        <p:nvPicPr>
          <p:cNvPr id="5" name="Content Placeholder 4">
            <a:extLst>
              <a:ext uri="{FF2B5EF4-FFF2-40B4-BE49-F238E27FC236}">
                <a16:creationId xmlns:a16="http://schemas.microsoft.com/office/drawing/2014/main" id="{59C77BD6-816D-49D1-8CFA-D5F603A97154}"/>
              </a:ext>
            </a:extLst>
          </p:cNvPr>
          <p:cNvPicPr>
            <a:picLocks noGrp="1" noChangeAspect="1"/>
          </p:cNvPicPr>
          <p:nvPr>
            <p:ph idx="1"/>
          </p:nvPr>
        </p:nvPicPr>
        <p:blipFill>
          <a:blip r:embed="rId2"/>
          <a:stretch>
            <a:fillRect/>
          </a:stretch>
        </p:blipFill>
        <p:spPr>
          <a:xfrm>
            <a:off x="457200" y="1263329"/>
            <a:ext cx="8229600" cy="2339029"/>
          </a:xfrm>
          <a:prstGeom prst="rect">
            <a:avLst/>
          </a:prstGeom>
        </p:spPr>
      </p:pic>
      <p:sp>
        <p:nvSpPr>
          <p:cNvPr id="4" name="Slide Number Placeholder 3">
            <a:extLst>
              <a:ext uri="{FF2B5EF4-FFF2-40B4-BE49-F238E27FC236}">
                <a16:creationId xmlns:a16="http://schemas.microsoft.com/office/drawing/2014/main" id="{52D83DBA-30FA-4828-B090-CEF18E245B32}"/>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660567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78F8C-305D-4150-85EB-EEDB00BFD2CE}"/>
              </a:ext>
            </a:extLst>
          </p:cNvPr>
          <p:cNvSpPr>
            <a:spLocks noGrp="1"/>
          </p:cNvSpPr>
          <p:nvPr>
            <p:ph type="title"/>
          </p:nvPr>
        </p:nvSpPr>
        <p:spPr/>
        <p:txBody>
          <a:bodyPr/>
          <a:lstStyle/>
          <a:p>
            <a:r>
              <a:rPr lang="en-AU" dirty="0"/>
              <a:t>2. Application Material to Para 17</a:t>
            </a:r>
          </a:p>
        </p:txBody>
      </p:sp>
      <p:pic>
        <p:nvPicPr>
          <p:cNvPr id="5" name="Content Placeholder 4">
            <a:extLst>
              <a:ext uri="{FF2B5EF4-FFF2-40B4-BE49-F238E27FC236}">
                <a16:creationId xmlns:a16="http://schemas.microsoft.com/office/drawing/2014/main" id="{E0B73A7B-2C28-430E-A4AD-54C955CD44B8}"/>
              </a:ext>
            </a:extLst>
          </p:cNvPr>
          <p:cNvPicPr>
            <a:picLocks noGrp="1" noChangeAspect="1"/>
          </p:cNvPicPr>
          <p:nvPr>
            <p:ph idx="1"/>
          </p:nvPr>
        </p:nvPicPr>
        <p:blipFill>
          <a:blip r:embed="rId2"/>
          <a:stretch>
            <a:fillRect/>
          </a:stretch>
        </p:blipFill>
        <p:spPr>
          <a:xfrm>
            <a:off x="457199" y="831312"/>
            <a:ext cx="8185653" cy="3707670"/>
          </a:xfrm>
          <a:prstGeom prst="rect">
            <a:avLst/>
          </a:prstGeom>
        </p:spPr>
      </p:pic>
      <p:sp>
        <p:nvSpPr>
          <p:cNvPr id="4" name="Slide Number Placeholder 3">
            <a:extLst>
              <a:ext uri="{FF2B5EF4-FFF2-40B4-BE49-F238E27FC236}">
                <a16:creationId xmlns:a16="http://schemas.microsoft.com/office/drawing/2014/main" id="{5B3750E8-E57C-48FE-BBE5-8DAA8F7F2507}"/>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542286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42BEA-4A28-4CD3-A34D-6975349A5FE7}"/>
              </a:ext>
            </a:extLst>
          </p:cNvPr>
          <p:cNvSpPr>
            <a:spLocks noGrp="1"/>
          </p:cNvSpPr>
          <p:nvPr>
            <p:ph type="title"/>
          </p:nvPr>
        </p:nvSpPr>
        <p:spPr/>
        <p:txBody>
          <a:bodyPr/>
          <a:lstStyle/>
          <a:p>
            <a:r>
              <a:rPr lang="en-AU" dirty="0"/>
              <a:t>3. IRF’s and Para 23(c)</a:t>
            </a:r>
          </a:p>
        </p:txBody>
      </p:sp>
      <p:pic>
        <p:nvPicPr>
          <p:cNvPr id="5" name="Content Placeholder 4">
            <a:extLst>
              <a:ext uri="{FF2B5EF4-FFF2-40B4-BE49-F238E27FC236}">
                <a16:creationId xmlns:a16="http://schemas.microsoft.com/office/drawing/2014/main" id="{E995AA27-799A-4799-8262-541C855ED01A}"/>
              </a:ext>
            </a:extLst>
          </p:cNvPr>
          <p:cNvPicPr>
            <a:picLocks noGrp="1" noChangeAspect="1"/>
          </p:cNvPicPr>
          <p:nvPr>
            <p:ph idx="1"/>
          </p:nvPr>
        </p:nvPicPr>
        <p:blipFill>
          <a:blip r:embed="rId2"/>
          <a:stretch>
            <a:fillRect/>
          </a:stretch>
        </p:blipFill>
        <p:spPr>
          <a:xfrm>
            <a:off x="457200" y="1062593"/>
            <a:ext cx="7734300" cy="3648104"/>
          </a:xfrm>
          <a:prstGeom prst="rect">
            <a:avLst/>
          </a:prstGeom>
        </p:spPr>
      </p:pic>
      <p:sp>
        <p:nvSpPr>
          <p:cNvPr id="4" name="Slide Number Placeholder 3">
            <a:extLst>
              <a:ext uri="{FF2B5EF4-FFF2-40B4-BE49-F238E27FC236}">
                <a16:creationId xmlns:a16="http://schemas.microsoft.com/office/drawing/2014/main" id="{253BCB93-109F-4C17-8101-AACCB6D05560}"/>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721430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FD78-09CF-456E-99B9-226220B5DCD3}"/>
              </a:ext>
            </a:extLst>
          </p:cNvPr>
          <p:cNvSpPr>
            <a:spLocks noGrp="1"/>
          </p:cNvSpPr>
          <p:nvPr>
            <p:ph type="title"/>
          </p:nvPr>
        </p:nvSpPr>
        <p:spPr/>
        <p:txBody>
          <a:bodyPr/>
          <a:lstStyle/>
          <a:p>
            <a:r>
              <a:rPr lang="en-AU" dirty="0"/>
              <a:t>4. Para 39(a)(ii)</a:t>
            </a:r>
          </a:p>
        </p:txBody>
      </p:sp>
      <p:sp>
        <p:nvSpPr>
          <p:cNvPr id="4" name="Slide Number Placeholder 3">
            <a:extLst>
              <a:ext uri="{FF2B5EF4-FFF2-40B4-BE49-F238E27FC236}">
                <a16:creationId xmlns:a16="http://schemas.microsoft.com/office/drawing/2014/main" id="{98FB93A1-35C9-4E9B-9B25-7323B2F068B4}"/>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
        <p:nvSpPr>
          <p:cNvPr id="7" name="Content Placeholder 6">
            <a:extLst>
              <a:ext uri="{FF2B5EF4-FFF2-40B4-BE49-F238E27FC236}">
                <a16:creationId xmlns:a16="http://schemas.microsoft.com/office/drawing/2014/main" id="{BEDB5591-7DAB-4A73-A99A-90EF13453BEC}"/>
              </a:ext>
            </a:extLst>
          </p:cNvPr>
          <p:cNvSpPr>
            <a:spLocks noGrp="1"/>
          </p:cNvSpPr>
          <p:nvPr>
            <p:ph idx="1"/>
          </p:nvPr>
        </p:nvSpPr>
        <p:spPr/>
        <p:txBody>
          <a:bodyPr/>
          <a:lstStyle/>
          <a:p>
            <a:endParaRPr lang="en-AU" dirty="0"/>
          </a:p>
        </p:txBody>
      </p:sp>
      <p:pic>
        <p:nvPicPr>
          <p:cNvPr id="8" name="Picture 7">
            <a:extLst>
              <a:ext uri="{FF2B5EF4-FFF2-40B4-BE49-F238E27FC236}">
                <a16:creationId xmlns:a16="http://schemas.microsoft.com/office/drawing/2014/main" id="{F0420B57-6A8E-47FE-8352-9FA33091D6EC}"/>
              </a:ext>
            </a:extLst>
          </p:cNvPr>
          <p:cNvPicPr>
            <a:picLocks noChangeAspect="1"/>
          </p:cNvPicPr>
          <p:nvPr/>
        </p:nvPicPr>
        <p:blipFill>
          <a:blip r:embed="rId2"/>
          <a:stretch>
            <a:fillRect/>
          </a:stretch>
        </p:blipFill>
        <p:spPr>
          <a:xfrm>
            <a:off x="2513876" y="200025"/>
            <a:ext cx="3681755" cy="4600575"/>
          </a:xfrm>
          <a:prstGeom prst="rect">
            <a:avLst/>
          </a:prstGeom>
        </p:spPr>
      </p:pic>
    </p:spTree>
    <p:extLst>
      <p:ext uri="{BB962C8B-B14F-4D97-AF65-F5344CB8AC3E}">
        <p14:creationId xmlns:p14="http://schemas.microsoft.com/office/powerpoint/2010/main" val="517999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1BA8A-7165-45C1-B774-4D15817E7B1A}"/>
              </a:ext>
            </a:extLst>
          </p:cNvPr>
          <p:cNvSpPr>
            <a:spLocks noGrp="1"/>
          </p:cNvSpPr>
          <p:nvPr>
            <p:ph type="title"/>
          </p:nvPr>
        </p:nvSpPr>
        <p:spPr/>
        <p:txBody>
          <a:bodyPr/>
          <a:lstStyle/>
          <a:p>
            <a:r>
              <a:rPr lang="en-AU" dirty="0"/>
              <a:t>4. Application Material to Para 39</a:t>
            </a:r>
          </a:p>
        </p:txBody>
      </p:sp>
      <p:pic>
        <p:nvPicPr>
          <p:cNvPr id="5" name="Content Placeholder 4">
            <a:extLst>
              <a:ext uri="{FF2B5EF4-FFF2-40B4-BE49-F238E27FC236}">
                <a16:creationId xmlns:a16="http://schemas.microsoft.com/office/drawing/2014/main" id="{0942917A-153F-4ACB-A934-7A2DBC9AB329}"/>
              </a:ext>
            </a:extLst>
          </p:cNvPr>
          <p:cNvPicPr>
            <a:picLocks noGrp="1" noChangeAspect="1"/>
          </p:cNvPicPr>
          <p:nvPr>
            <p:ph idx="1"/>
          </p:nvPr>
        </p:nvPicPr>
        <p:blipFill>
          <a:blip r:embed="rId2"/>
          <a:stretch>
            <a:fillRect/>
          </a:stretch>
        </p:blipFill>
        <p:spPr>
          <a:xfrm>
            <a:off x="806506" y="944427"/>
            <a:ext cx="7530988" cy="3771636"/>
          </a:xfrm>
          <a:prstGeom prst="rect">
            <a:avLst/>
          </a:prstGeom>
        </p:spPr>
      </p:pic>
      <p:sp>
        <p:nvSpPr>
          <p:cNvPr id="4" name="Slide Number Placeholder 3">
            <a:extLst>
              <a:ext uri="{FF2B5EF4-FFF2-40B4-BE49-F238E27FC236}">
                <a16:creationId xmlns:a16="http://schemas.microsoft.com/office/drawing/2014/main" id="{3F4C454B-FAEC-48E0-B071-1200C0D49DB9}"/>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1146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BCD8D-45B3-4542-9F4E-BF3BA2867014}"/>
              </a:ext>
            </a:extLst>
          </p:cNvPr>
          <p:cNvSpPr>
            <a:spLocks noGrp="1"/>
          </p:cNvSpPr>
          <p:nvPr>
            <p:ph type="title"/>
          </p:nvPr>
        </p:nvSpPr>
        <p:spPr/>
        <p:txBody>
          <a:bodyPr/>
          <a:lstStyle/>
          <a:p>
            <a:r>
              <a:rPr lang="en-AU" dirty="0"/>
              <a:t>5. Conforming Amendment to ISA 200 - Threshold</a:t>
            </a:r>
          </a:p>
        </p:txBody>
      </p:sp>
      <p:pic>
        <p:nvPicPr>
          <p:cNvPr id="5" name="Content Placeholder 4">
            <a:extLst>
              <a:ext uri="{FF2B5EF4-FFF2-40B4-BE49-F238E27FC236}">
                <a16:creationId xmlns:a16="http://schemas.microsoft.com/office/drawing/2014/main" id="{C197C4FB-ADFE-41A8-8428-5049F1CF5702}"/>
              </a:ext>
            </a:extLst>
          </p:cNvPr>
          <p:cNvPicPr>
            <a:picLocks noGrp="1" noChangeAspect="1"/>
          </p:cNvPicPr>
          <p:nvPr>
            <p:ph idx="1"/>
          </p:nvPr>
        </p:nvPicPr>
        <p:blipFill>
          <a:blip r:embed="rId2"/>
          <a:stretch>
            <a:fillRect/>
          </a:stretch>
        </p:blipFill>
        <p:spPr>
          <a:xfrm>
            <a:off x="350348" y="1204258"/>
            <a:ext cx="8443303" cy="3196292"/>
          </a:xfrm>
          <a:prstGeom prst="rect">
            <a:avLst/>
          </a:prstGeom>
        </p:spPr>
      </p:pic>
      <p:sp>
        <p:nvSpPr>
          <p:cNvPr id="4" name="Slide Number Placeholder 3">
            <a:extLst>
              <a:ext uri="{FF2B5EF4-FFF2-40B4-BE49-F238E27FC236}">
                <a16:creationId xmlns:a16="http://schemas.microsoft.com/office/drawing/2014/main" id="{BA9DD925-C70B-4118-A752-7C5708C62BC9}"/>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445708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A267-F8C3-4343-B761-017BE5EA454B}"/>
              </a:ext>
            </a:extLst>
          </p:cNvPr>
          <p:cNvSpPr>
            <a:spLocks noGrp="1"/>
          </p:cNvSpPr>
          <p:nvPr>
            <p:ph type="title"/>
          </p:nvPr>
        </p:nvSpPr>
        <p:spPr/>
        <p:txBody>
          <a:bodyPr/>
          <a:lstStyle/>
          <a:p>
            <a:r>
              <a:rPr lang="en-AU" dirty="0"/>
              <a:t>Question 1 from Issues Paper</a:t>
            </a:r>
          </a:p>
        </p:txBody>
      </p:sp>
      <p:sp>
        <p:nvSpPr>
          <p:cNvPr id="3" name="Content Placeholder 2">
            <a:extLst>
              <a:ext uri="{FF2B5EF4-FFF2-40B4-BE49-F238E27FC236}">
                <a16:creationId xmlns:a16="http://schemas.microsoft.com/office/drawing/2014/main" id="{92DA7FBF-CF35-4B96-8423-E59B14B51D67}"/>
              </a:ext>
            </a:extLst>
          </p:cNvPr>
          <p:cNvSpPr>
            <a:spLocks noGrp="1"/>
          </p:cNvSpPr>
          <p:nvPr>
            <p:ph idx="1"/>
          </p:nvPr>
        </p:nvSpPr>
        <p:spPr/>
        <p:txBody>
          <a:bodyPr/>
          <a:lstStyle/>
          <a:p>
            <a:r>
              <a:rPr lang="en-AU" b="1" dirty="0"/>
              <a:t>Matter for IAASB Consideration</a:t>
            </a:r>
          </a:p>
          <a:p>
            <a:r>
              <a:rPr lang="en-AU" dirty="0"/>
              <a:t>1.	The IAASB is asked to comment on the Task Force’s proposals in respect of the public sector, automated tools and techniques, or translations. The IAASB is also asked whether there are any other matters raised by respondent’s in relation to these areas that need to be further considered. </a:t>
            </a:r>
          </a:p>
          <a:p>
            <a:endParaRPr lang="en-AU" dirty="0"/>
          </a:p>
          <a:p>
            <a:r>
              <a:rPr lang="en-US" sz="1600" b="1" i="1" dirty="0">
                <a:solidFill>
                  <a:schemeClr val="tx2"/>
                </a:solidFill>
              </a:rPr>
              <a:t>We are looking for any additional fatal flaws that were not already raised during Monday’s discussion on ISA 315</a:t>
            </a:r>
            <a:endParaRPr lang="en-AU" dirty="0"/>
          </a:p>
        </p:txBody>
      </p:sp>
      <p:sp>
        <p:nvSpPr>
          <p:cNvPr id="4" name="Slide Number Placeholder 3">
            <a:extLst>
              <a:ext uri="{FF2B5EF4-FFF2-40B4-BE49-F238E27FC236}">
                <a16:creationId xmlns:a16="http://schemas.microsoft.com/office/drawing/2014/main" id="{F48F1484-48F9-4942-A695-951D847BB95C}"/>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001756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17DA8-9326-4A6C-B528-FB5D8E5044E6}"/>
              </a:ext>
            </a:extLst>
          </p:cNvPr>
          <p:cNvSpPr>
            <a:spLocks noGrp="1"/>
          </p:cNvSpPr>
          <p:nvPr>
            <p:ph type="title"/>
          </p:nvPr>
        </p:nvSpPr>
        <p:spPr/>
        <p:txBody>
          <a:bodyPr/>
          <a:lstStyle/>
          <a:p>
            <a:r>
              <a:rPr lang="en-AU" dirty="0"/>
              <a:t>Next Steps</a:t>
            </a:r>
          </a:p>
        </p:txBody>
      </p:sp>
      <p:sp>
        <p:nvSpPr>
          <p:cNvPr id="3" name="Content Placeholder 2">
            <a:extLst>
              <a:ext uri="{FF2B5EF4-FFF2-40B4-BE49-F238E27FC236}">
                <a16:creationId xmlns:a16="http://schemas.microsoft.com/office/drawing/2014/main" id="{DB304881-723B-4018-822A-091EE7DAF05B}"/>
              </a:ext>
            </a:extLst>
          </p:cNvPr>
          <p:cNvSpPr>
            <a:spLocks noGrp="1"/>
          </p:cNvSpPr>
          <p:nvPr>
            <p:ph idx="1"/>
          </p:nvPr>
        </p:nvSpPr>
        <p:spPr/>
        <p:txBody>
          <a:bodyPr/>
          <a:lstStyle/>
          <a:p>
            <a:r>
              <a:rPr lang="en-AU" dirty="0"/>
              <a:t>Taskforce to reflect on feedback from today</a:t>
            </a:r>
          </a:p>
          <a:p>
            <a:r>
              <a:rPr lang="en-AU" dirty="0"/>
              <a:t>All of the other offline feedback received from Board (up to Monday pm) is being considered by TF:</a:t>
            </a:r>
          </a:p>
          <a:p>
            <a:pPr lvl="1"/>
            <a:r>
              <a:rPr lang="en-AU" sz="1500" dirty="0"/>
              <a:t>Full standard</a:t>
            </a:r>
          </a:p>
          <a:p>
            <a:pPr lvl="1"/>
            <a:r>
              <a:rPr lang="en-AU" sz="1500" dirty="0"/>
              <a:t>Conforming Amendments</a:t>
            </a:r>
          </a:p>
          <a:p>
            <a:r>
              <a:rPr lang="en-AU" sz="1650" dirty="0"/>
              <a:t>Thursday (end of day) marked versions of documents to be provided for reading time</a:t>
            </a:r>
          </a:p>
          <a:p>
            <a:r>
              <a:rPr lang="en-AU" sz="1650" dirty="0"/>
              <a:t>Taskforce members and staff will be available during Friday reading time </a:t>
            </a:r>
          </a:p>
          <a:p>
            <a:pPr lvl="1"/>
            <a:endParaRPr lang="en-AU" sz="1500" dirty="0"/>
          </a:p>
        </p:txBody>
      </p:sp>
      <p:sp>
        <p:nvSpPr>
          <p:cNvPr id="4" name="Slide Number Placeholder 3">
            <a:extLst>
              <a:ext uri="{FF2B5EF4-FFF2-40B4-BE49-F238E27FC236}">
                <a16:creationId xmlns:a16="http://schemas.microsoft.com/office/drawing/2014/main" id="{B125AAA5-10AC-42C5-8DED-595A3FAB9546}"/>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r>
              <a:rPr lang="en-US">
                <a:latin typeface="Arial" panose="020B0604020202020204" pitchFamily="34" charset="0"/>
                <a:cs typeface="MS PGothic" charset="0"/>
              </a:rPr>
              <a:t>  |  Confidential and Proprietary Information</a:t>
            </a:r>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510866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664194</vt:lpwstr>
  </property>
  <property fmtid="{D5CDD505-2E9C-101B-9397-08002B2CF9AE}" pid="4" name="OptimizationTime">
    <vt:lpwstr>20190918_1258</vt:lpwstr>
  </property>
</Properties>
</file>

<file path=docProps/app.xml><?xml version="1.0" encoding="utf-8"?>
<Properties xmlns="http://schemas.openxmlformats.org/officeDocument/2006/extended-properties" xmlns:vt="http://schemas.openxmlformats.org/officeDocument/2006/docPropsVTypes">
  <Template>IAASB_Powerpoint_template_2016_Widescreen</Template>
  <TotalTime>3504</TotalTime>
  <Words>311</Words>
  <Application>Microsoft Office PowerPoint</Application>
  <PresentationFormat>On-screen Show (16:9)</PresentationFormat>
  <Paragraphs>48</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MS PGothic</vt:lpstr>
      <vt:lpstr>Arial</vt:lpstr>
      <vt:lpstr>Arial Narrow</vt:lpstr>
      <vt:lpstr>Calibri</vt:lpstr>
      <vt:lpstr>Times New Roman</vt:lpstr>
      <vt:lpstr>Office Theme</vt:lpstr>
      <vt:lpstr>ISA 315 (Revised)  Identifying and Assessing the Risks of Material Misstatement</vt:lpstr>
      <vt:lpstr>Significant Aspects Focused on by ISA 315 Task Force</vt:lpstr>
      <vt:lpstr>1. Definition of Relevant Assertion </vt:lpstr>
      <vt:lpstr>2. Hanging paragraph to paragraph 17</vt:lpstr>
      <vt:lpstr>2. Application Material to Para 17</vt:lpstr>
      <vt:lpstr>3. IRF’s and Para 23(c)</vt:lpstr>
      <vt:lpstr>4. Para 39(a)(ii)</vt:lpstr>
      <vt:lpstr>4. Application Material to Para 39</vt:lpstr>
      <vt:lpstr>5. Conforming Amendment to ISA 200 - Threshold</vt:lpstr>
      <vt:lpstr>Question 1 from Issues Paper</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Fiona M Campbell</cp:lastModifiedBy>
  <cp:revision>296</cp:revision>
  <cp:lastPrinted>2019-06-15T13:32:24Z</cp:lastPrinted>
  <dcterms:created xsi:type="dcterms:W3CDTF">2016-11-09T14:56:20Z</dcterms:created>
  <dcterms:modified xsi:type="dcterms:W3CDTF">2019-09-18T02:56:29Z</dcterms:modified>
</cp:coreProperties>
</file>