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3">
  <p:sldMasterIdLst>
    <p:sldMasterId id="2147483648" r:id="rId1"/>
  </p:sldMasterIdLst>
  <p:notesMasterIdLst>
    <p:notesMasterId r:id="rId29"/>
  </p:notesMasterIdLst>
  <p:handoutMasterIdLst>
    <p:handoutMasterId r:id="rId30"/>
  </p:handoutMasterIdLst>
  <p:sldIdLst>
    <p:sldId id="333" r:id="rId2"/>
    <p:sldId id="334" r:id="rId3"/>
    <p:sldId id="354" r:id="rId4"/>
    <p:sldId id="357" r:id="rId5"/>
    <p:sldId id="356" r:id="rId6"/>
    <p:sldId id="332" r:id="rId7"/>
    <p:sldId id="336" r:id="rId8"/>
    <p:sldId id="338" r:id="rId9"/>
    <p:sldId id="335" r:id="rId10"/>
    <p:sldId id="339" r:id="rId11"/>
    <p:sldId id="320" r:id="rId12"/>
    <p:sldId id="340" r:id="rId13"/>
    <p:sldId id="341" r:id="rId14"/>
    <p:sldId id="342" r:id="rId15"/>
    <p:sldId id="343" r:id="rId16"/>
    <p:sldId id="344" r:id="rId17"/>
    <p:sldId id="345" r:id="rId18"/>
    <p:sldId id="346" r:id="rId19"/>
    <p:sldId id="347" r:id="rId20"/>
    <p:sldId id="327" r:id="rId21"/>
    <p:sldId id="348" r:id="rId22"/>
    <p:sldId id="350" r:id="rId23"/>
    <p:sldId id="352" r:id="rId24"/>
    <p:sldId id="351" r:id="rId25"/>
    <p:sldId id="329" r:id="rId26"/>
    <p:sldId id="353" r:id="rId27"/>
    <p:sldId id="259" r:id="rId28"/>
  </p:sldIdLst>
  <p:sldSz cx="9144000" cy="5143500" type="screen16x9"/>
  <p:notesSz cx="6950075" cy="9236075"/>
  <p:defaultTex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ietsman, Megan" initials="MZ" lastIdx="15" clrIdx="0">
    <p:extLst>
      <p:ext uri="{19B8F6BF-5375-455C-9EA6-DF929625EA0E}">
        <p15:presenceInfo xmlns:p15="http://schemas.microsoft.com/office/powerpoint/2012/main" userId="Zietsman, Megan" providerId="None"/>
      </p:ext>
    </p:extLst>
  </p:cmAuthor>
  <p:cmAuthor id="2" name="Kathleen Healy" initials="KH" lastIdx="13" clrIdx="1">
    <p:extLst>
      <p:ext uri="{19B8F6BF-5375-455C-9EA6-DF929625EA0E}">
        <p15:presenceInfo xmlns:p15="http://schemas.microsoft.com/office/powerpoint/2012/main" userId="S-1-5-21-1801674531-1972579041-839522115-4130" providerId="AD"/>
      </p:ext>
    </p:extLst>
  </p:cmAuthor>
  <p:cmAuthor id="3" name="Schuyler Simms" initials="SS" lastIdx="17" clrIdx="2"/>
  <p:cmAuthor id="4" name="Schuyler Simms" initials="SSS" lastIdx="15" clrIdx="3">
    <p:extLst>
      <p:ext uri="{19B8F6BF-5375-455C-9EA6-DF929625EA0E}">
        <p15:presenceInfo xmlns:p15="http://schemas.microsoft.com/office/powerpoint/2012/main" userId="Schuyler Simms" providerId="None"/>
      </p:ext>
    </p:extLst>
  </p:cmAuthor>
  <p:cmAuthor id="5" name="BJ" initials="BJ" lastIdx="11" clrIdx="4">
    <p:extLst>
      <p:ext uri="{19B8F6BF-5375-455C-9EA6-DF929625EA0E}">
        <p15:presenceInfo xmlns:p15="http://schemas.microsoft.com/office/powerpoint/2012/main" userId="BJ" providerId="None"/>
      </p:ext>
    </p:extLst>
  </p:cmAuthor>
  <p:cmAuthor id="6" name="Megan Zietsman" initials="MZ" lastIdx="4" clrIdx="5">
    <p:extLst>
      <p:ext uri="{19B8F6BF-5375-455C-9EA6-DF929625EA0E}">
        <p15:presenceInfo xmlns:p15="http://schemas.microsoft.com/office/powerpoint/2012/main" userId="Megan Zietsm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5A22"/>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77" autoAdjust="0"/>
    <p:restoredTop sz="67110" autoAdjust="0"/>
  </p:normalViewPr>
  <p:slideViewPr>
    <p:cSldViewPr snapToGrid="0" snapToObjects="1">
      <p:cViewPr varScale="1">
        <p:scale>
          <a:sx n="74" d="100"/>
          <a:sy n="74" d="100"/>
        </p:scale>
        <p:origin x="984" y="72"/>
      </p:cViewPr>
      <p:guideLst>
        <p:guide orient="horz" pos="1620"/>
        <p:guide pos="2880"/>
      </p:guideLst>
    </p:cSldViewPr>
  </p:slideViewPr>
  <p:outlineViewPr>
    <p:cViewPr>
      <p:scale>
        <a:sx n="66" d="100"/>
        <a:sy n="66" d="100"/>
      </p:scale>
      <p:origin x="0" y="0"/>
    </p:cViewPr>
  </p:outlineViewPr>
  <p:notesTextViewPr>
    <p:cViewPr>
      <p:scale>
        <a:sx n="3" d="2"/>
        <a:sy n="3" d="2"/>
      </p:scale>
      <p:origin x="0" y="0"/>
    </p:cViewPr>
  </p:notesTextViewPr>
  <p:sorterViewPr>
    <p:cViewPr>
      <p:scale>
        <a:sx n="201" d="100"/>
        <a:sy n="201" d="100"/>
      </p:scale>
      <p:origin x="0" y="0"/>
    </p:cViewPr>
  </p:sorterViewPr>
  <p:notesViewPr>
    <p:cSldViewPr snapToGrid="0" snapToObjects="1">
      <p:cViewPr varScale="1">
        <p:scale>
          <a:sx n="88" d="100"/>
          <a:sy n="88" d="100"/>
        </p:scale>
        <p:origin x="3798"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1E59F908-4FD1-BC49-B361-D833AB0555FC}" type="datetimeFigureOut">
              <a:rPr lang="en-US" smtClean="0"/>
              <a:t>9/17/2018</a:t>
            </a:fld>
            <a:endParaRPr lang="en-US" dirty="0"/>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EA8AE4AE-12A8-4846-97A9-6CB7DEDDF69D}" type="slidenum">
              <a:rPr lang="en-US" smtClean="0"/>
              <a:t>‹#›</a:t>
            </a:fld>
            <a:endParaRPr lang="en-US" dirty="0"/>
          </a:p>
        </p:txBody>
      </p:sp>
    </p:spTree>
    <p:extLst>
      <p:ext uri="{BB962C8B-B14F-4D97-AF65-F5344CB8AC3E}">
        <p14:creationId xmlns:p14="http://schemas.microsoft.com/office/powerpoint/2010/main" val="24353285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7745D6F9-5033-7542-84AC-41926A84456D}" type="datetimeFigureOut">
              <a:rPr lang="en-US" smtClean="0"/>
              <a:t>9/17/2018</a:t>
            </a:fld>
            <a:endParaRPr lang="en-US" dirty="0"/>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dirty="0"/>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4D410189-AC31-7546-878A-F48FDE4A29F5}" type="slidenum">
              <a:rPr lang="en-US" smtClean="0"/>
              <a:t>‹#›</a:t>
            </a:fld>
            <a:endParaRPr lang="en-US" dirty="0"/>
          </a:p>
        </p:txBody>
      </p:sp>
    </p:spTree>
    <p:extLst>
      <p:ext uri="{BB962C8B-B14F-4D97-AF65-F5344CB8AC3E}">
        <p14:creationId xmlns:p14="http://schemas.microsoft.com/office/powerpoint/2010/main" val="525539108"/>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2</a:t>
            </a:fld>
            <a:endParaRPr lang="en-US" sz="1200" dirty="0"/>
          </a:p>
        </p:txBody>
      </p:sp>
    </p:spTree>
    <p:extLst>
      <p:ext uri="{BB962C8B-B14F-4D97-AF65-F5344CB8AC3E}">
        <p14:creationId xmlns:p14="http://schemas.microsoft.com/office/powerpoint/2010/main" val="3207559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3</a:t>
            </a:fld>
            <a:endParaRPr lang="en-US" sz="1200" dirty="0"/>
          </a:p>
        </p:txBody>
      </p:sp>
    </p:spTree>
    <p:extLst>
      <p:ext uri="{BB962C8B-B14F-4D97-AF65-F5344CB8AC3E}">
        <p14:creationId xmlns:p14="http://schemas.microsoft.com/office/powerpoint/2010/main" val="23689482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marL="0" marR="0" lvl="0" indent="0" algn="l" defTabSz="342900" rtl="0" eaLnBrk="1" fontAlgn="auto" latinLnBrk="0" hangingPunct="1">
              <a:lnSpc>
                <a:spcPct val="100000"/>
              </a:lnSpc>
              <a:spcBef>
                <a:spcPct val="0"/>
              </a:spcBef>
              <a:spcAft>
                <a:spcPts val="0"/>
              </a:spcAft>
              <a:buClrTx/>
              <a:buSzTx/>
              <a:buFontTx/>
              <a:buNone/>
              <a:tabLst/>
              <a:defRPr/>
            </a:pPr>
            <a:r>
              <a:rPr lang="en-US" sz="900" dirty="0" smtClean="0">
                <a:solidFill>
                  <a:schemeClr val="tx1">
                    <a:lumMod val="65000"/>
                    <a:lumOff val="35000"/>
                  </a:schemeClr>
                </a:solidFill>
              </a:rPr>
              <a:t>- Application</a:t>
            </a:r>
            <a:r>
              <a:rPr lang="en-US" sz="900" baseline="0" dirty="0" smtClean="0">
                <a:solidFill>
                  <a:schemeClr val="tx1">
                    <a:lumMod val="65000"/>
                    <a:lumOff val="35000"/>
                  </a:schemeClr>
                </a:solidFill>
              </a:rPr>
              <a:t> material on the </a:t>
            </a:r>
            <a:r>
              <a:rPr lang="en-US" sz="900" dirty="0" smtClean="0">
                <a:solidFill>
                  <a:schemeClr val="tx1">
                    <a:lumMod val="65000"/>
                    <a:lumOff val="35000"/>
                  </a:schemeClr>
                </a:solidFill>
              </a:rPr>
              <a:t>definition of “engagement team” l in paragraphs A2JA and A19D has been noted by IESBA in particular)</a:t>
            </a:r>
          </a:p>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4</a:t>
            </a:fld>
            <a:endParaRPr lang="en-US" sz="1200" dirty="0"/>
          </a:p>
        </p:txBody>
      </p:sp>
    </p:spTree>
    <p:extLst>
      <p:ext uri="{BB962C8B-B14F-4D97-AF65-F5344CB8AC3E}">
        <p14:creationId xmlns:p14="http://schemas.microsoft.com/office/powerpoint/2010/main" val="3482806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5</a:t>
            </a:fld>
            <a:endParaRPr lang="en-US" sz="1200" dirty="0"/>
          </a:p>
        </p:txBody>
      </p:sp>
    </p:spTree>
    <p:extLst>
      <p:ext uri="{BB962C8B-B14F-4D97-AF65-F5344CB8AC3E}">
        <p14:creationId xmlns:p14="http://schemas.microsoft.com/office/powerpoint/2010/main" val="8733582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6</a:t>
            </a:fld>
            <a:endParaRPr lang="en-US" sz="1200" dirty="0"/>
          </a:p>
        </p:txBody>
      </p:sp>
    </p:spTree>
    <p:extLst>
      <p:ext uri="{BB962C8B-B14F-4D97-AF65-F5344CB8AC3E}">
        <p14:creationId xmlns:p14="http://schemas.microsoft.com/office/powerpoint/2010/main" val="721030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7</a:t>
            </a:fld>
            <a:endParaRPr lang="en-US" sz="1200" dirty="0"/>
          </a:p>
        </p:txBody>
      </p:sp>
    </p:spTree>
    <p:extLst>
      <p:ext uri="{BB962C8B-B14F-4D97-AF65-F5344CB8AC3E}">
        <p14:creationId xmlns:p14="http://schemas.microsoft.com/office/powerpoint/2010/main" val="199151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8</a:t>
            </a:fld>
            <a:endParaRPr lang="en-US" sz="1200" dirty="0"/>
          </a:p>
        </p:txBody>
      </p:sp>
    </p:spTree>
    <p:extLst>
      <p:ext uri="{BB962C8B-B14F-4D97-AF65-F5344CB8AC3E}">
        <p14:creationId xmlns:p14="http://schemas.microsoft.com/office/powerpoint/2010/main" val="1981905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r>
              <a:rPr lang="en-US" dirty="0" smtClean="0">
                <a:latin typeface="Calibri" charset="0"/>
                <a:ea typeface="ＭＳ Ｐゴシック" charset="0"/>
                <a:cs typeface="ＭＳ Ｐゴシック" charset="0"/>
              </a:rPr>
              <a:t>Alignment</a:t>
            </a:r>
            <a:r>
              <a:rPr lang="en-US" baseline="0" dirty="0" smtClean="0">
                <a:latin typeface="Calibri" charset="0"/>
                <a:ea typeface="ＭＳ Ｐゴシック" charset="0"/>
                <a:cs typeface="ＭＳ Ｐゴシック" charset="0"/>
              </a:rPr>
              <a:t> of objective: </a:t>
            </a:r>
            <a:r>
              <a:rPr lang="en-US" sz="900" dirty="0" smtClean="0">
                <a:solidFill>
                  <a:schemeClr val="tx1">
                    <a:lumMod val="65000"/>
                    <a:lumOff val="35000"/>
                  </a:schemeClr>
                </a:solidFill>
                <a:latin typeface="Arial" panose="020B0604020202020204" pitchFamily="34" charset="0"/>
                <a:cs typeface="Arial" panose="020B0604020202020204" pitchFamily="34" charset="0"/>
              </a:rPr>
              <a:t>Included specific reference to “conducting audit engagements in accordance with such standards and requirements”</a:t>
            </a: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9</a:t>
            </a:fld>
            <a:endParaRPr lang="en-US" sz="1200" dirty="0"/>
          </a:p>
        </p:txBody>
      </p:sp>
    </p:spTree>
    <p:extLst>
      <p:ext uri="{BB962C8B-B14F-4D97-AF65-F5344CB8AC3E}">
        <p14:creationId xmlns:p14="http://schemas.microsoft.com/office/powerpoint/2010/main" val="1350581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10</a:t>
            </a:fld>
            <a:endParaRPr lang="en-US" sz="1200" dirty="0"/>
          </a:p>
        </p:txBody>
      </p:sp>
    </p:spTree>
    <p:extLst>
      <p:ext uri="{BB962C8B-B14F-4D97-AF65-F5344CB8AC3E}">
        <p14:creationId xmlns:p14="http://schemas.microsoft.com/office/powerpoint/2010/main" val="584182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11</a:t>
            </a:fld>
            <a:endParaRPr lang="en-US" sz="1200" dirty="0"/>
          </a:p>
        </p:txBody>
      </p:sp>
    </p:spTree>
    <p:extLst>
      <p:ext uri="{BB962C8B-B14F-4D97-AF65-F5344CB8AC3E}">
        <p14:creationId xmlns:p14="http://schemas.microsoft.com/office/powerpoint/2010/main" val="20428542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12</a:t>
            </a:fld>
            <a:endParaRPr lang="en-US" sz="1200" dirty="0"/>
          </a:p>
        </p:txBody>
      </p:sp>
    </p:spTree>
    <p:extLst>
      <p:ext uri="{BB962C8B-B14F-4D97-AF65-F5344CB8AC3E}">
        <p14:creationId xmlns:p14="http://schemas.microsoft.com/office/powerpoint/2010/main" val="36839157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13</a:t>
            </a:fld>
            <a:endParaRPr lang="en-US" sz="1200" dirty="0"/>
          </a:p>
        </p:txBody>
      </p:sp>
    </p:spTree>
    <p:extLst>
      <p:ext uri="{BB962C8B-B14F-4D97-AF65-F5344CB8AC3E}">
        <p14:creationId xmlns:p14="http://schemas.microsoft.com/office/powerpoint/2010/main" val="18542969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14</a:t>
            </a:fld>
            <a:endParaRPr lang="en-US" sz="1200" dirty="0"/>
          </a:p>
        </p:txBody>
      </p:sp>
    </p:spTree>
    <p:extLst>
      <p:ext uri="{BB962C8B-B14F-4D97-AF65-F5344CB8AC3E}">
        <p14:creationId xmlns:p14="http://schemas.microsoft.com/office/powerpoint/2010/main" val="36375460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15</a:t>
            </a:fld>
            <a:endParaRPr lang="en-US" sz="1200" dirty="0"/>
          </a:p>
        </p:txBody>
      </p:sp>
    </p:spTree>
    <p:extLst>
      <p:ext uri="{BB962C8B-B14F-4D97-AF65-F5344CB8AC3E}">
        <p14:creationId xmlns:p14="http://schemas.microsoft.com/office/powerpoint/2010/main" val="5100990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16</a:t>
            </a:fld>
            <a:endParaRPr lang="en-US" sz="1200" dirty="0"/>
          </a:p>
        </p:txBody>
      </p:sp>
    </p:spTree>
    <p:extLst>
      <p:ext uri="{BB962C8B-B14F-4D97-AF65-F5344CB8AC3E}">
        <p14:creationId xmlns:p14="http://schemas.microsoft.com/office/powerpoint/2010/main" val="13570749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17</a:t>
            </a:fld>
            <a:endParaRPr lang="en-US" sz="1200" dirty="0"/>
          </a:p>
        </p:txBody>
      </p:sp>
    </p:spTree>
    <p:extLst>
      <p:ext uri="{BB962C8B-B14F-4D97-AF65-F5344CB8AC3E}">
        <p14:creationId xmlns:p14="http://schemas.microsoft.com/office/powerpoint/2010/main" val="37156729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18</a:t>
            </a:fld>
            <a:endParaRPr lang="en-US" sz="1200" dirty="0"/>
          </a:p>
        </p:txBody>
      </p:sp>
    </p:spTree>
    <p:extLst>
      <p:ext uri="{BB962C8B-B14F-4D97-AF65-F5344CB8AC3E}">
        <p14:creationId xmlns:p14="http://schemas.microsoft.com/office/powerpoint/2010/main" val="14699260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19</a:t>
            </a:fld>
            <a:endParaRPr lang="en-US" sz="1200" dirty="0"/>
          </a:p>
        </p:txBody>
      </p:sp>
    </p:spTree>
    <p:extLst>
      <p:ext uri="{BB962C8B-B14F-4D97-AF65-F5344CB8AC3E}">
        <p14:creationId xmlns:p14="http://schemas.microsoft.com/office/powerpoint/2010/main" val="11989950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20</a:t>
            </a:fld>
            <a:endParaRPr lang="en-US" sz="1200" dirty="0"/>
          </a:p>
        </p:txBody>
      </p:sp>
    </p:spTree>
    <p:extLst>
      <p:ext uri="{BB962C8B-B14F-4D97-AF65-F5344CB8AC3E}">
        <p14:creationId xmlns:p14="http://schemas.microsoft.com/office/powerpoint/2010/main" val="10475761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21</a:t>
            </a:fld>
            <a:endParaRPr lang="en-US" sz="1200" dirty="0"/>
          </a:p>
        </p:txBody>
      </p:sp>
    </p:spTree>
    <p:extLst>
      <p:ext uri="{BB962C8B-B14F-4D97-AF65-F5344CB8AC3E}">
        <p14:creationId xmlns:p14="http://schemas.microsoft.com/office/powerpoint/2010/main" val="12760510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r>
              <a:rPr lang="en-US" dirty="0" smtClean="0">
                <a:latin typeface="Calibri" charset="0"/>
                <a:ea typeface="ＭＳ Ｐゴシック" charset="0"/>
                <a:cs typeface="ＭＳ Ｐゴシック" charset="0"/>
              </a:rPr>
              <a:t>-Deleted A35B in response to comments that it wasn’t relevant to the requirement</a:t>
            </a:r>
          </a:p>
          <a:p>
            <a:pPr eaLnBrk="1" hangingPunct="1">
              <a:spcBef>
                <a:spcPct val="0"/>
              </a:spcBef>
            </a:pPr>
            <a:r>
              <a:rPr lang="en-US" dirty="0" smtClean="0">
                <a:latin typeface="Calibri" charset="0"/>
                <a:ea typeface="ＭＳ Ｐゴシック" charset="0"/>
                <a:cs typeface="ＭＳ Ｐゴシック" charset="0"/>
              </a:rPr>
              <a:t>-removed reference to “inappropriate” involvement</a:t>
            </a: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22</a:t>
            </a:fld>
            <a:endParaRPr lang="en-US" sz="1200" dirty="0"/>
          </a:p>
        </p:txBody>
      </p:sp>
    </p:spTree>
    <p:extLst>
      <p:ext uri="{BB962C8B-B14F-4D97-AF65-F5344CB8AC3E}">
        <p14:creationId xmlns:p14="http://schemas.microsoft.com/office/powerpoint/2010/main" val="34956777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23</a:t>
            </a:fld>
            <a:endParaRPr lang="en-US" sz="1200" dirty="0"/>
          </a:p>
        </p:txBody>
      </p:sp>
    </p:spTree>
    <p:extLst>
      <p:ext uri="{BB962C8B-B14F-4D97-AF65-F5344CB8AC3E}">
        <p14:creationId xmlns:p14="http://schemas.microsoft.com/office/powerpoint/2010/main" val="41425713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24</a:t>
            </a:fld>
            <a:endParaRPr lang="en-US" sz="1200" dirty="0"/>
          </a:p>
        </p:txBody>
      </p:sp>
    </p:spTree>
    <p:extLst>
      <p:ext uri="{BB962C8B-B14F-4D97-AF65-F5344CB8AC3E}">
        <p14:creationId xmlns:p14="http://schemas.microsoft.com/office/powerpoint/2010/main" val="14862502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25</a:t>
            </a:fld>
            <a:endParaRPr lang="en-US" sz="1200" dirty="0"/>
          </a:p>
        </p:txBody>
      </p:sp>
    </p:spTree>
    <p:extLst>
      <p:ext uri="{BB962C8B-B14F-4D97-AF65-F5344CB8AC3E}">
        <p14:creationId xmlns:p14="http://schemas.microsoft.com/office/powerpoint/2010/main" val="42067423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p:cNvSpPr>
            <a:spLocks noGrp="1" noRot="1" noChangeAspect="1"/>
          </p:cNvSpPr>
          <p:nvPr>
            <p:ph type="sldImg"/>
          </p:nvPr>
        </p:nvSpPr>
        <p:spPr bwMode="auto">
          <a:xfrm>
            <a:off x="390525" y="690563"/>
            <a:ext cx="6135688" cy="34512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17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dirty="0">
              <a:latin typeface="Calibri" charset="0"/>
              <a:ea typeface="ＭＳ Ｐゴシック" charset="0"/>
              <a:cs typeface="ＭＳ Ｐゴシック" charset="0"/>
            </a:endParaRPr>
          </a:p>
        </p:txBody>
      </p:sp>
      <p:sp>
        <p:nvSpPr>
          <p:cNvPr id="317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ヒラギノ角ゴ Pro W3" charset="0"/>
                <a:cs typeface="ヒラギノ角ゴ Pro W3" charset="0"/>
              </a:defRPr>
            </a:lvl1pPr>
            <a:lvl2pPr marL="748448" indent="-287865">
              <a:defRPr sz="2400">
                <a:solidFill>
                  <a:schemeClr val="tx1"/>
                </a:solidFill>
                <a:latin typeface="Arial" charset="0"/>
                <a:ea typeface="ヒラギノ角ゴ Pro W3" charset="0"/>
                <a:cs typeface="ヒラギノ角ゴ Pro W3" charset="0"/>
              </a:defRPr>
            </a:lvl2pPr>
            <a:lvl3pPr marL="1151458" indent="-230292">
              <a:defRPr sz="2400">
                <a:solidFill>
                  <a:schemeClr val="tx1"/>
                </a:solidFill>
                <a:latin typeface="Arial" charset="0"/>
                <a:ea typeface="ヒラギノ角ゴ Pro W3" charset="0"/>
                <a:cs typeface="ヒラギノ角ゴ Pro W3" charset="0"/>
              </a:defRPr>
            </a:lvl3pPr>
            <a:lvl4pPr marL="1612041" indent="-230292">
              <a:defRPr sz="2400">
                <a:solidFill>
                  <a:schemeClr val="tx1"/>
                </a:solidFill>
                <a:latin typeface="Arial" charset="0"/>
                <a:ea typeface="ヒラギノ角ゴ Pro W3" charset="0"/>
                <a:cs typeface="ヒラギノ角ゴ Pro W3" charset="0"/>
              </a:defRPr>
            </a:lvl4pPr>
            <a:lvl5pPr marL="2072625" indent="-230292">
              <a:defRPr sz="2400">
                <a:solidFill>
                  <a:schemeClr val="tx1"/>
                </a:solidFill>
                <a:latin typeface="Arial" charset="0"/>
                <a:ea typeface="ヒラギノ角ゴ Pro W3" charset="0"/>
                <a:cs typeface="ヒラギノ角ゴ Pro W3" charset="0"/>
              </a:defRPr>
            </a:lvl5pPr>
            <a:lvl6pPr marL="253320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93791"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54375"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914958" indent="-230292"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fld id="{4B3CA995-7840-9148-9C87-92864F1A8B45}" type="slidenum">
              <a:rPr lang="en-US" sz="1200"/>
              <a:pPr/>
              <a:t>26</a:t>
            </a:fld>
            <a:endParaRPr lang="en-US" sz="1200" dirty="0"/>
          </a:p>
        </p:txBody>
      </p:sp>
    </p:spTree>
    <p:extLst>
      <p:ext uri="{BB962C8B-B14F-4D97-AF65-F5344CB8AC3E}">
        <p14:creationId xmlns:p14="http://schemas.microsoft.com/office/powerpoint/2010/main" val="26558312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www.iaasb.org/" TargetMode="External"/><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hyperlink" Target="mailto:permissions@ifac.org" TargetMode="External"/><Relationship Id="rId5" Type="http://schemas.openxmlformats.org/officeDocument/2006/relationships/image" Target="../media/image8.png"/><Relationship Id="rId10" Type="http://schemas.openxmlformats.org/officeDocument/2006/relationships/hyperlink" Target="http://www.ifac.org/about-ifac/translations-permissions" TargetMode="External"/><Relationship Id="rId4" Type="http://schemas.openxmlformats.org/officeDocument/2006/relationships/image" Target="../media/image7.png"/><Relationship Id="rId9"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07"/>
            <a:ext cx="9144000" cy="2345159"/>
          </a:xfrm>
          <a:prstGeom prst="rect">
            <a:avLst/>
          </a:prstGeom>
        </p:spPr>
      </p:pic>
    </p:spTree>
    <p:extLst>
      <p:ext uri="{BB962C8B-B14F-4D97-AF65-F5344CB8AC3E}">
        <p14:creationId xmlns:p14="http://schemas.microsoft.com/office/powerpoint/2010/main" val="3121637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1" y="1"/>
            <a:ext cx="9156700" cy="2377439"/>
          </a:xfrm>
          <a:prstGeom prst="rect">
            <a:avLst/>
          </a:prstGeom>
        </p:spPr>
      </p:pic>
    </p:spTree>
    <p:extLst>
      <p:ext uri="{BB962C8B-B14F-4D97-AF65-F5344CB8AC3E}">
        <p14:creationId xmlns:p14="http://schemas.microsoft.com/office/powerpoint/2010/main" val="283887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l="-76"/>
          <a:stretch/>
        </p:blipFill>
        <p:spPr>
          <a:xfrm>
            <a:off x="-12701" y="-26572"/>
            <a:ext cx="9156701" cy="2405255"/>
          </a:xfrm>
          <a:prstGeom prst="rect">
            <a:avLst/>
          </a:prstGeom>
        </p:spPr>
      </p:pic>
    </p:spTree>
    <p:extLst>
      <p:ext uri="{BB962C8B-B14F-4D97-AF65-F5344CB8AC3E}">
        <p14:creationId xmlns:p14="http://schemas.microsoft.com/office/powerpoint/2010/main" val="579527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2900"/>
            <a:ext cx="2776694" cy="487674"/>
          </a:xfrm>
          <a:prstGeom prst="rect">
            <a:avLst/>
          </a:prstGeom>
        </p:spPr>
      </p:pic>
      <p:pic>
        <p:nvPicPr>
          <p:cNvPr id="9" name="Picture 8" descr="Ribbon_orange_top.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201152"/>
            <a:ext cx="9144000" cy="123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588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642938" indent="-171450">
              <a:defRPr>
                <a:solidFill>
                  <a:srgbClr val="808080"/>
                </a:solidFill>
                <a:latin typeface="Arial" panose="020B0604020202020204" pitchFamily="34" charset="0"/>
                <a:cs typeface="Arial" panose="020B0604020202020204" pitchFamily="34" charset="0"/>
              </a:defRPr>
            </a:lvl4pPr>
            <a:lvl5pPr marL="813197" indent="-17145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5928852" y="4883295"/>
            <a:ext cx="2757948" cy="228309"/>
          </a:xfrm>
        </p:spPr>
        <p:txBody>
          <a:bodyPr/>
          <a:lstStyle>
            <a:lvl1pPr marL="0" marR="0" indent="0" algn="r" defTabSz="342900" rtl="0" eaLnBrk="1" fontAlgn="auto" latinLnBrk="0" hangingPunct="1">
              <a:lnSpc>
                <a:spcPct val="100000"/>
              </a:lnSpc>
              <a:spcBef>
                <a:spcPts val="0"/>
              </a:spcBef>
              <a:spcAft>
                <a:spcPts val="0"/>
              </a:spcAft>
              <a:buClrTx/>
              <a:buSzTx/>
              <a:buFontTx/>
              <a:buNone/>
              <a:tabLst/>
              <a:defRPr sz="675">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r>
              <a:rPr lang="en-US" dirty="0">
                <a:latin typeface="Arial" panose="020B0604020202020204" pitchFamily="34" charset="0"/>
                <a:cs typeface="MS PGothic" charset="0"/>
              </a:rPr>
              <a:t>  |  Confidential and Proprietary Information</a:t>
            </a:r>
          </a:p>
        </p:txBody>
      </p:sp>
    </p:spTree>
    <p:extLst>
      <p:ext uri="{BB962C8B-B14F-4D97-AF65-F5344CB8AC3E}">
        <p14:creationId xmlns:p14="http://schemas.microsoft.com/office/powerpoint/2010/main" val="2576669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208161"/>
            <a:ext cx="9144000" cy="39391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4299439"/>
            <a:ext cx="9144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4299438"/>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2193993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6606012" y="4873085"/>
            <a:ext cx="2080788" cy="251831"/>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203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013017"/>
            <a:ext cx="4040188"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502736"/>
            <a:ext cx="4040188"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1013017"/>
            <a:ext cx="4041775"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502736"/>
            <a:ext cx="4041775"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498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9045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776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268002" y="1561874"/>
            <a:ext cx="4393108" cy="73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3821898" y="3756887"/>
            <a:ext cx="1310039" cy="300082"/>
          </a:xfrm>
          <a:prstGeom prst="rect">
            <a:avLst/>
          </a:prstGeom>
        </p:spPr>
        <p:txBody>
          <a:bodyPr wrap="none">
            <a:spAutoFit/>
          </a:bodyPr>
          <a:lstStyle/>
          <a:p>
            <a:pPr marL="0" marR="0">
              <a:spcBef>
                <a:spcPts val="0"/>
              </a:spcBef>
              <a:spcAft>
                <a:spcPts val="0"/>
              </a:spcAft>
            </a:pPr>
            <a:r>
              <a:rPr lang="en-US" sz="1350" u="none" dirty="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3"/>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381000" y="4822821"/>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79559" y="4168326"/>
            <a:ext cx="577805" cy="193152"/>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268002" y="4175640"/>
            <a:ext cx="437481" cy="193152"/>
          </a:xfrm>
          <a:prstGeom prst="rect">
            <a:avLst/>
          </a:prstGeom>
        </p:spPr>
      </p:pic>
      <p:pic>
        <p:nvPicPr>
          <p:cNvPr id="6" name="Picture 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30292" y="4165672"/>
            <a:ext cx="577805" cy="193152"/>
          </a:xfrm>
          <a:prstGeom prst="rect">
            <a:avLst/>
          </a:prstGeom>
        </p:spPr>
      </p:pic>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875897" y="4168326"/>
            <a:ext cx="577805" cy="234424"/>
          </a:xfrm>
          <a:prstGeom prst="rect">
            <a:avLst/>
          </a:prstGeom>
        </p:spPr>
      </p:pic>
      <p:pic>
        <p:nvPicPr>
          <p:cNvPr id="9" name="Pictur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178511" y="4168326"/>
            <a:ext cx="577805" cy="193152"/>
          </a:xfrm>
          <a:prstGeom prst="rect">
            <a:avLst/>
          </a:prstGeom>
        </p:spPr>
      </p:pic>
      <p:pic>
        <p:nvPicPr>
          <p:cNvPr id="10" name="Picture 9"/>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335213" y="4165202"/>
            <a:ext cx="577805" cy="193152"/>
          </a:xfrm>
          <a:prstGeom prst="rect">
            <a:avLst/>
          </a:prstGeom>
        </p:spPr>
      </p:pic>
      <p:sp>
        <p:nvSpPr>
          <p:cNvPr id="11" name="Rectangle 10"/>
          <p:cNvSpPr/>
          <p:nvPr userDrawn="1"/>
        </p:nvSpPr>
        <p:spPr>
          <a:xfrm>
            <a:off x="698501" y="4608029"/>
            <a:ext cx="8128000" cy="230832"/>
          </a:xfrm>
          <a:prstGeom prst="rect">
            <a:avLst/>
          </a:prstGeom>
        </p:spPr>
        <p:txBody>
          <a:bodyPr wrap="square">
            <a:spAutoFit/>
          </a:bodyPr>
          <a:lstStyle/>
          <a:p>
            <a:pPr algn="l"/>
            <a:r>
              <a:rPr lang="en-US" sz="900" dirty="0">
                <a:effectLst/>
                <a:latin typeface="Arial" panose="020B0604020202020204" pitchFamily="34" charset="0"/>
                <a:ea typeface="Calibri" panose="020F0502020204030204" pitchFamily="34" charset="0"/>
              </a:rPr>
              <a:t>For copyright, trademark, and permissions information, please go to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900" dirty="0">
                <a:effectLst/>
                <a:latin typeface="Arial" panose="020B0604020202020204" pitchFamily="34" charset="0"/>
                <a:ea typeface="Calibri" panose="020F0502020204030204" pitchFamily="34" charset="0"/>
              </a:rPr>
              <a:t> or contact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900" dirty="0">
                <a:effectLst/>
                <a:latin typeface="Arial" panose="020B0604020202020204" pitchFamily="34" charset="0"/>
                <a:ea typeface="Calibri" panose="020F0502020204030204" pitchFamily="34" charset="0"/>
              </a:rPr>
              <a:t>.</a:t>
            </a:r>
            <a:endParaRPr lang="en-US" sz="900" dirty="0"/>
          </a:p>
        </p:txBody>
      </p:sp>
    </p:spTree>
    <p:extLst>
      <p:ext uri="{BB962C8B-B14F-4D97-AF65-F5344CB8AC3E}">
        <p14:creationId xmlns:p14="http://schemas.microsoft.com/office/powerpoint/2010/main" val="375457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427437"/>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2" name="Title Placeholder 1"/>
          <p:cNvSpPr>
            <a:spLocks noGrp="1"/>
          </p:cNvSpPr>
          <p:nvPr>
            <p:ph type="title"/>
          </p:nvPr>
        </p:nvSpPr>
        <p:spPr>
          <a:xfrm>
            <a:off x="457200" y="427437"/>
            <a:ext cx="8229600" cy="403875"/>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200151"/>
            <a:ext cx="8229600" cy="318867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4985" y="4883295"/>
            <a:ext cx="2057400" cy="228309"/>
          </a:xfrm>
          <a:prstGeom prst="rect">
            <a:avLst/>
          </a:prstGeom>
        </p:spPr>
        <p:txBody>
          <a:bodyPr vert="horz" lIns="91440" tIns="45720" rIns="91440" bIns="45720" rtlCol="0" anchor="ctr"/>
          <a:lstStyle>
            <a:lvl1pPr algn="l">
              <a:defRPr sz="675">
                <a:solidFill>
                  <a:schemeClr val="tx1">
                    <a:tint val="75000"/>
                  </a:schemeClr>
                </a:solidFill>
                <a:latin typeface="Arial" panose="020B0604020202020204" pitchFamily="34" charset="0"/>
              </a:defRPr>
            </a:lvl1pPr>
          </a:lstStyle>
          <a:p>
            <a:fld id="{289E18CF-C690-4C5C-8392-CD967FC1C437}" type="datetime1">
              <a:rPr lang="en-US" smtClean="0"/>
              <a:t>9/17/2018</a:t>
            </a:fld>
            <a:endParaRPr lang="en-US" dirty="0"/>
          </a:p>
        </p:txBody>
      </p:sp>
      <p:sp>
        <p:nvSpPr>
          <p:cNvPr id="5" name="Footer Placeholder 4"/>
          <p:cNvSpPr>
            <a:spLocks noGrp="1"/>
          </p:cNvSpPr>
          <p:nvPr>
            <p:ph type="ftr" sz="quarter" idx="3"/>
          </p:nvPr>
        </p:nvSpPr>
        <p:spPr>
          <a:xfrm>
            <a:off x="3016148" y="4883295"/>
            <a:ext cx="3086100" cy="228309"/>
          </a:xfrm>
          <a:prstGeom prst="rect">
            <a:avLst/>
          </a:prstGeom>
        </p:spPr>
        <p:txBody>
          <a:bodyPr vert="horz" lIns="91440" tIns="45720" rIns="91440" bIns="45720" rtlCol="0" anchor="ctr"/>
          <a:lstStyle>
            <a:lvl1pPr algn="ctr">
              <a:defRPr sz="675">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6606012" y="4883295"/>
            <a:ext cx="2080788" cy="228309"/>
          </a:xfrm>
          <a:prstGeom prst="rect">
            <a:avLst/>
          </a:prstGeom>
        </p:spPr>
        <p:txBody>
          <a:bodyPr vert="horz" lIns="0" tIns="0" rIns="0" bIns="0" rtlCol="0" anchor="ctr"/>
          <a:lstStyle>
            <a:lvl1pPr algn="ctr">
              <a:defRPr sz="675">
                <a:solidFill>
                  <a:srgbClr val="808080"/>
                </a:solidFill>
                <a:latin typeface="Arial Narrow"/>
                <a:cs typeface="Arial Narrow"/>
              </a:defRPr>
            </a:lvl1p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381000" y="4822228"/>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11" name="Picture 10" descr="IAASB Logo with FullName.jp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6899368" y="55409"/>
            <a:ext cx="1787432" cy="313929"/>
          </a:xfrm>
          <a:prstGeom prst="rect">
            <a:avLst/>
          </a:prstGeom>
        </p:spPr>
      </p:pic>
    </p:spTree>
    <p:extLst>
      <p:ext uri="{BB962C8B-B14F-4D97-AF65-F5344CB8AC3E}">
        <p14:creationId xmlns:p14="http://schemas.microsoft.com/office/powerpoint/2010/main" val="1054232877"/>
      </p:ext>
    </p:extLst>
  </p:cSld>
  <p:clrMap bg1="lt1" tx1="dk1" bg2="lt2" tx2="dk2" accent1="accent1" accent2="accent2" accent3="accent3" accent4="accent4" accent5="accent5" accent6="accent6" hlink="hlink" folHlink="folHlink"/>
  <p:sldLayoutIdLst>
    <p:sldLayoutId id="2147483657" r:id="rId1"/>
    <p:sldLayoutId id="2147483660" r:id="rId2"/>
    <p:sldLayoutId id="2147483661"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Lst>
  <p:hf hdr="0" ftr="0" dt="0"/>
  <p:txStyles>
    <p:title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p:titleStyle>
    <p:bodyStyle>
      <a:lvl1pPr marL="129779" indent="-129779" algn="l" defTabSz="342900" rtl="0" eaLnBrk="1" latinLnBrk="0" hangingPunct="1">
        <a:spcBef>
          <a:spcPts val="900"/>
        </a:spcBef>
        <a:buFont typeface="Arial"/>
        <a:buChar char="•"/>
        <a:defRPr sz="15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2001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4pPr>
      <a:lvl5pPr marL="15430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Quality Management at the Engagement Level</a:t>
            </a:r>
            <a:br>
              <a:rPr lang="en-US" dirty="0"/>
            </a:br>
            <a:r>
              <a:rPr lang="en-US" dirty="0" smtClean="0"/>
              <a:t>Proposed ISA </a:t>
            </a:r>
            <a:r>
              <a:rPr lang="en-US" dirty="0"/>
              <a:t>220 (Revised)</a:t>
            </a:r>
          </a:p>
        </p:txBody>
      </p:sp>
      <p:sp>
        <p:nvSpPr>
          <p:cNvPr id="3" name="Subtitle 2"/>
          <p:cNvSpPr>
            <a:spLocks noGrp="1"/>
          </p:cNvSpPr>
          <p:nvPr>
            <p:ph type="subTitle" idx="1"/>
          </p:nvPr>
        </p:nvSpPr>
        <p:spPr/>
        <p:txBody>
          <a:bodyPr/>
          <a:lstStyle/>
          <a:p>
            <a:r>
              <a:rPr lang="en-US" dirty="0"/>
              <a:t>Megan Zietsman, Task Force Chair </a:t>
            </a:r>
          </a:p>
          <a:p>
            <a:r>
              <a:rPr lang="en-US" dirty="0"/>
              <a:t>IAASB Meeting, New York, USA</a:t>
            </a:r>
          </a:p>
          <a:p>
            <a:r>
              <a:rPr lang="en-US" dirty="0"/>
              <a:t>Agenda Item </a:t>
            </a:r>
            <a:r>
              <a:rPr lang="en-US" dirty="0" smtClean="0"/>
              <a:t>4</a:t>
            </a:r>
            <a:endParaRPr lang="en-US" dirty="0"/>
          </a:p>
          <a:p>
            <a:r>
              <a:rPr lang="en-US" dirty="0" smtClean="0"/>
              <a:t>September 18, 2018</a:t>
            </a:r>
            <a:endParaRPr lang="en-US" dirty="0"/>
          </a:p>
        </p:txBody>
      </p:sp>
    </p:spTree>
    <p:extLst>
      <p:ext uri="{BB962C8B-B14F-4D97-AF65-F5344CB8AC3E}">
        <p14:creationId xmlns:p14="http://schemas.microsoft.com/office/powerpoint/2010/main" val="28398679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8776" y="427437"/>
            <a:ext cx="8358984" cy="403875"/>
          </a:xfrm>
        </p:spPr>
        <p:txBody>
          <a:bodyPr/>
          <a:lstStyle/>
          <a:p>
            <a:r>
              <a:rPr lang="en-US" dirty="0" smtClean="0"/>
              <a:t>Introduction to the Discussion </a:t>
            </a:r>
            <a:endParaRPr lang="en-US" dirty="0"/>
          </a:p>
        </p:txBody>
      </p:sp>
      <p:sp>
        <p:nvSpPr>
          <p:cNvPr id="6" name="Slide Number Placeholder 5"/>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a:t>
            </a:fld>
            <a:endParaRPr lang="en-US" dirty="0">
              <a:latin typeface="Arial" panose="020B0604020202020204" pitchFamily="34" charset="0"/>
              <a:cs typeface="MS PGothic" charset="0"/>
            </a:endParaRPr>
          </a:p>
        </p:txBody>
      </p:sp>
      <p:sp>
        <p:nvSpPr>
          <p:cNvPr id="8" name="Content Placeholder 1"/>
          <p:cNvSpPr>
            <a:spLocks noGrp="1"/>
          </p:cNvSpPr>
          <p:nvPr>
            <p:ph idx="1"/>
          </p:nvPr>
        </p:nvSpPr>
        <p:spPr>
          <a:xfrm>
            <a:off x="332792" y="921488"/>
            <a:ext cx="8229600" cy="3886888"/>
          </a:xfrm>
        </p:spPr>
        <p:txBody>
          <a:bodyPr/>
          <a:lstStyle/>
          <a:p>
            <a:pPr marL="347472" lvl="0" indent="-347472"/>
            <a:r>
              <a:rPr lang="en-US" sz="1800" dirty="0" smtClean="0">
                <a:solidFill>
                  <a:schemeClr val="tx1">
                    <a:lumMod val="65000"/>
                    <a:lumOff val="35000"/>
                  </a:schemeClr>
                </a:solidFill>
              </a:rPr>
              <a:t>Objectives of the discussion:</a:t>
            </a:r>
          </a:p>
          <a:p>
            <a:pPr marL="694944" lvl="1" indent="-347472"/>
            <a:r>
              <a:rPr lang="en-US" sz="1650" dirty="0" smtClean="0">
                <a:solidFill>
                  <a:schemeClr val="tx1">
                    <a:lumMod val="65000"/>
                    <a:lumOff val="35000"/>
                  </a:schemeClr>
                </a:solidFill>
              </a:rPr>
              <a:t>To </a:t>
            </a:r>
            <a:r>
              <a:rPr lang="en-US" sz="1650" dirty="0">
                <a:solidFill>
                  <a:schemeClr val="tx1">
                    <a:lumMod val="65000"/>
                    <a:lumOff val="35000"/>
                  </a:schemeClr>
                </a:solidFill>
              </a:rPr>
              <a:t>obtain the IAASB’s input based on a second read of the Exposure Draft (ED) of Proposed ISA 220 (</a:t>
            </a:r>
            <a:r>
              <a:rPr lang="en-US" sz="1650" dirty="0" smtClean="0">
                <a:solidFill>
                  <a:schemeClr val="tx1">
                    <a:lumMod val="65000"/>
                    <a:lumOff val="35000"/>
                  </a:schemeClr>
                </a:solidFill>
              </a:rPr>
              <a:t>Revised); </a:t>
            </a:r>
            <a:r>
              <a:rPr lang="en-US" sz="1650" dirty="0">
                <a:solidFill>
                  <a:schemeClr val="tx1">
                    <a:lumMod val="65000"/>
                    <a:lumOff val="35000"/>
                  </a:schemeClr>
                </a:solidFill>
              </a:rPr>
              <a:t>and</a:t>
            </a:r>
          </a:p>
          <a:p>
            <a:pPr marL="694944" lvl="1" indent="-347472"/>
            <a:r>
              <a:rPr lang="en-US" sz="1650" dirty="0">
                <a:solidFill>
                  <a:schemeClr val="tx1">
                    <a:lumMod val="65000"/>
                    <a:lumOff val="35000"/>
                  </a:schemeClr>
                </a:solidFill>
              </a:rPr>
              <a:t>To obtain specific comments from IAASB members about any remaining matters to be addressed in finalizing the ED of proposed ISA 220 (Revised), other than on material related to proposed ISQC 1 (Revised) and proposed ISQC 2. 	</a:t>
            </a:r>
            <a:endParaRPr lang="en-US" sz="1650" dirty="0" smtClean="0">
              <a:solidFill>
                <a:schemeClr val="tx1">
                  <a:lumMod val="65000"/>
                  <a:lumOff val="35000"/>
                </a:schemeClr>
              </a:solidFill>
            </a:endParaRPr>
          </a:p>
          <a:p>
            <a:pPr marL="347472" indent="-347472"/>
            <a:r>
              <a:rPr lang="en-US" sz="1800" dirty="0" smtClean="0">
                <a:solidFill>
                  <a:schemeClr val="tx1">
                    <a:lumMod val="65000"/>
                    <a:lumOff val="35000"/>
                  </a:schemeClr>
                </a:solidFill>
              </a:rPr>
              <a:t>To achieve planned December 2018 approval of ED:</a:t>
            </a:r>
          </a:p>
          <a:p>
            <a:pPr marL="694944" lvl="1" indent="-347472"/>
            <a:r>
              <a:rPr lang="en-US" sz="1650" dirty="0" smtClean="0">
                <a:solidFill>
                  <a:schemeClr val="tx1">
                    <a:lumMod val="65000"/>
                    <a:lumOff val="35000"/>
                  </a:schemeClr>
                </a:solidFill>
              </a:rPr>
              <a:t>Comments </a:t>
            </a:r>
            <a:r>
              <a:rPr lang="en-US" sz="1650" dirty="0">
                <a:solidFill>
                  <a:schemeClr val="tx1">
                    <a:lumMod val="65000"/>
                    <a:lumOff val="35000"/>
                  </a:schemeClr>
                </a:solidFill>
              </a:rPr>
              <a:t>on </a:t>
            </a:r>
            <a:r>
              <a:rPr lang="en-US" sz="1650" dirty="0" smtClean="0">
                <a:solidFill>
                  <a:schemeClr val="tx1">
                    <a:lumMod val="65000"/>
                    <a:lumOff val="35000"/>
                  </a:schemeClr>
                </a:solidFill>
              </a:rPr>
              <a:t>all </a:t>
            </a:r>
            <a:r>
              <a:rPr lang="en-US" sz="1650" dirty="0">
                <a:solidFill>
                  <a:schemeClr val="tx1">
                    <a:lumMod val="65000"/>
                    <a:lumOff val="35000"/>
                  </a:schemeClr>
                </a:solidFill>
              </a:rPr>
              <a:t>requirements and application </a:t>
            </a:r>
            <a:r>
              <a:rPr lang="en-US" sz="1650" dirty="0" smtClean="0">
                <a:solidFill>
                  <a:schemeClr val="tx1">
                    <a:lumMod val="65000"/>
                    <a:lumOff val="35000"/>
                  </a:schemeClr>
                </a:solidFill>
              </a:rPr>
              <a:t>material;</a:t>
            </a:r>
            <a:endParaRPr lang="en-US" sz="1650" dirty="0">
              <a:solidFill>
                <a:schemeClr val="tx1">
                  <a:lumMod val="65000"/>
                  <a:lumOff val="35000"/>
                </a:schemeClr>
              </a:solidFill>
            </a:endParaRPr>
          </a:p>
          <a:p>
            <a:pPr marL="694944" lvl="1" indent="-347472"/>
            <a:r>
              <a:rPr lang="en-US" sz="1650" dirty="0" smtClean="0">
                <a:solidFill>
                  <a:schemeClr val="tx1">
                    <a:lumMod val="65000"/>
                    <a:lumOff val="35000"/>
                  </a:schemeClr>
                </a:solidFill>
              </a:rPr>
              <a:t>At the end of the discussion, indicate whether there are any </a:t>
            </a:r>
            <a:r>
              <a:rPr lang="en-US" sz="1650" dirty="0">
                <a:solidFill>
                  <a:schemeClr val="tx1">
                    <a:lumMod val="65000"/>
                    <a:lumOff val="35000"/>
                  </a:schemeClr>
                </a:solidFill>
              </a:rPr>
              <a:t>remaining </a:t>
            </a:r>
            <a:r>
              <a:rPr lang="en-US" sz="1650" dirty="0" smtClean="0">
                <a:solidFill>
                  <a:schemeClr val="tx1">
                    <a:lumMod val="65000"/>
                    <a:lumOff val="35000"/>
                  </a:schemeClr>
                </a:solidFill>
              </a:rPr>
              <a:t>concerns; and </a:t>
            </a:r>
          </a:p>
          <a:p>
            <a:pPr marL="694944" lvl="1" indent="-347472"/>
            <a:r>
              <a:rPr lang="en-US" sz="1650" dirty="0" smtClean="0">
                <a:solidFill>
                  <a:schemeClr val="tx1">
                    <a:lumMod val="65000"/>
                    <a:lumOff val="35000"/>
                  </a:schemeClr>
                </a:solidFill>
              </a:rPr>
              <a:t>Subsequent to the discussion, provide </a:t>
            </a:r>
            <a:r>
              <a:rPr lang="en-US" sz="1650" dirty="0">
                <a:solidFill>
                  <a:schemeClr val="tx1">
                    <a:lumMod val="65000"/>
                    <a:lumOff val="35000"/>
                  </a:schemeClr>
                </a:solidFill>
              </a:rPr>
              <a:t>written </a:t>
            </a:r>
            <a:r>
              <a:rPr lang="en-US" sz="1650" dirty="0" smtClean="0">
                <a:solidFill>
                  <a:schemeClr val="tx1">
                    <a:lumMod val="65000"/>
                    <a:lumOff val="35000"/>
                  </a:schemeClr>
                </a:solidFill>
              </a:rPr>
              <a:t>comments as soon as possible.</a:t>
            </a:r>
            <a:endParaRPr lang="en-US" sz="1650" dirty="0">
              <a:solidFill>
                <a:schemeClr val="tx1">
                  <a:lumMod val="65000"/>
                  <a:lumOff val="35000"/>
                </a:schemeClr>
              </a:solidFill>
            </a:endParaRPr>
          </a:p>
        </p:txBody>
      </p:sp>
    </p:spTree>
    <p:extLst>
      <p:ext uri="{BB962C8B-B14F-4D97-AF65-F5344CB8AC3E}">
        <p14:creationId xmlns:p14="http://schemas.microsoft.com/office/powerpoint/2010/main" val="3958502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8776" y="427437"/>
            <a:ext cx="8358984" cy="403875"/>
          </a:xfrm>
        </p:spPr>
        <p:txBody>
          <a:bodyPr/>
          <a:lstStyle/>
          <a:p>
            <a:r>
              <a:rPr lang="en-US" dirty="0" smtClean="0"/>
              <a:t>IAASB CAG Feedback </a:t>
            </a:r>
            <a:endParaRPr lang="en-US" dirty="0"/>
          </a:p>
        </p:txBody>
      </p:sp>
      <p:sp>
        <p:nvSpPr>
          <p:cNvPr id="6" name="Slide Number Placeholder 5"/>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3</a:t>
            </a:fld>
            <a:endParaRPr lang="en-US" dirty="0">
              <a:latin typeface="Arial" panose="020B0604020202020204" pitchFamily="34" charset="0"/>
              <a:cs typeface="MS PGothic" charset="0"/>
            </a:endParaRPr>
          </a:p>
        </p:txBody>
      </p:sp>
      <p:sp>
        <p:nvSpPr>
          <p:cNvPr id="8" name="Content Placeholder 1"/>
          <p:cNvSpPr>
            <a:spLocks noGrp="1"/>
          </p:cNvSpPr>
          <p:nvPr>
            <p:ph idx="1"/>
          </p:nvPr>
        </p:nvSpPr>
        <p:spPr>
          <a:xfrm>
            <a:off x="257842" y="904049"/>
            <a:ext cx="8615994" cy="3886888"/>
          </a:xfrm>
        </p:spPr>
        <p:txBody>
          <a:bodyPr/>
          <a:lstStyle/>
          <a:p>
            <a:pPr marL="347472" lvl="0" indent="-347472"/>
            <a:r>
              <a:rPr lang="en-US" sz="1800" dirty="0" smtClean="0">
                <a:solidFill>
                  <a:schemeClr val="tx1">
                    <a:lumMod val="65000"/>
                    <a:lumOff val="35000"/>
                  </a:schemeClr>
                </a:solidFill>
              </a:rPr>
              <a:t>Support for the direction of changes in ISA 220, linkage between quality management at the firm and engagement level, and the identified public interest issues</a:t>
            </a:r>
            <a:endParaRPr lang="en-US" sz="1800" dirty="0">
              <a:solidFill>
                <a:schemeClr val="tx1">
                  <a:lumMod val="65000"/>
                  <a:lumOff val="35000"/>
                </a:schemeClr>
              </a:solidFill>
            </a:endParaRPr>
          </a:p>
          <a:p>
            <a:pPr marL="347472" lvl="0" indent="-347472"/>
            <a:r>
              <a:rPr lang="en-US" sz="1800" dirty="0" smtClean="0">
                <a:solidFill>
                  <a:schemeClr val="tx1">
                    <a:lumMod val="65000"/>
                    <a:lumOff val="35000"/>
                  </a:schemeClr>
                </a:solidFill>
              </a:rPr>
              <a:t>Scalability: support from SMPC representative, comments on application to group audits, concept of “reliance” on </a:t>
            </a:r>
            <a:r>
              <a:rPr lang="en-US" sz="1800" dirty="0" smtClean="0">
                <a:solidFill>
                  <a:schemeClr val="tx1">
                    <a:lumMod val="65000"/>
                    <a:lumOff val="35000"/>
                  </a:schemeClr>
                </a:solidFill>
              </a:rPr>
              <a:t>the firm’s systems in </a:t>
            </a:r>
            <a:r>
              <a:rPr lang="en-US" sz="1800" dirty="0" smtClean="0">
                <a:solidFill>
                  <a:schemeClr val="tx1">
                    <a:lumMod val="65000"/>
                    <a:lumOff val="35000"/>
                  </a:schemeClr>
                </a:solidFill>
              </a:rPr>
              <a:t>non-traditional </a:t>
            </a:r>
            <a:r>
              <a:rPr lang="en-US" sz="1800" dirty="0" smtClean="0">
                <a:solidFill>
                  <a:schemeClr val="tx1">
                    <a:lumMod val="65000"/>
                    <a:lumOff val="35000"/>
                  </a:schemeClr>
                </a:solidFill>
              </a:rPr>
              <a:t>firms </a:t>
            </a:r>
            <a:endParaRPr lang="en-US" sz="1800" dirty="0" smtClean="0">
              <a:solidFill>
                <a:schemeClr val="tx1">
                  <a:lumMod val="65000"/>
                  <a:lumOff val="35000"/>
                </a:schemeClr>
              </a:solidFill>
            </a:endParaRPr>
          </a:p>
          <a:p>
            <a:pPr marL="347472" lvl="0" indent="-347472"/>
            <a:r>
              <a:rPr lang="en-US" sz="1800" dirty="0" smtClean="0">
                <a:solidFill>
                  <a:schemeClr val="tx1">
                    <a:lumMod val="65000"/>
                    <a:lumOff val="35000"/>
                  </a:schemeClr>
                </a:solidFill>
              </a:rPr>
              <a:t>Other significant feedback: </a:t>
            </a:r>
          </a:p>
          <a:p>
            <a:pPr marL="685800" lvl="1" indent="-346075"/>
            <a:r>
              <a:rPr lang="en-US" sz="1650" dirty="0" smtClean="0">
                <a:solidFill>
                  <a:schemeClr val="tx1">
                    <a:lumMod val="65000"/>
                    <a:lumOff val="35000"/>
                  </a:schemeClr>
                </a:solidFill>
              </a:rPr>
              <a:t>Support for material on technological resources </a:t>
            </a:r>
            <a:endParaRPr lang="en-US" sz="1650" dirty="0" smtClean="0">
              <a:solidFill>
                <a:schemeClr val="tx1">
                  <a:lumMod val="65000"/>
                  <a:lumOff val="35000"/>
                </a:schemeClr>
              </a:solidFill>
            </a:endParaRPr>
          </a:p>
          <a:p>
            <a:pPr marL="685800" lvl="1" indent="-346075"/>
            <a:r>
              <a:rPr lang="en-US" sz="1650" dirty="0" smtClean="0">
                <a:solidFill>
                  <a:schemeClr val="tx1">
                    <a:lumMod val="65000"/>
                    <a:lumOff val="35000"/>
                  </a:schemeClr>
                </a:solidFill>
              </a:rPr>
              <a:t>Consider more </a:t>
            </a:r>
            <a:r>
              <a:rPr lang="en-US" sz="1650" dirty="0" smtClean="0">
                <a:solidFill>
                  <a:schemeClr val="tx1">
                    <a:lumMod val="65000"/>
                    <a:lumOff val="35000"/>
                  </a:schemeClr>
                </a:solidFill>
              </a:rPr>
              <a:t>explanation about</a:t>
            </a:r>
            <a:r>
              <a:rPr lang="en-US" sz="1650" dirty="0" smtClean="0">
                <a:solidFill>
                  <a:schemeClr val="tx1">
                    <a:lumMod val="65000"/>
                    <a:lumOff val="35000"/>
                  </a:schemeClr>
                </a:solidFill>
              </a:rPr>
              <a:t> </a:t>
            </a:r>
            <a:r>
              <a:rPr lang="en-US" sz="1650" dirty="0" smtClean="0">
                <a:solidFill>
                  <a:schemeClr val="tx1">
                    <a:lumMod val="65000"/>
                    <a:lumOff val="35000"/>
                  </a:schemeClr>
                </a:solidFill>
              </a:rPr>
              <a:t>how ISQC 1 is structured (e.g., eight components</a:t>
            </a:r>
            <a:r>
              <a:rPr lang="en-US" sz="1650" dirty="0" smtClean="0">
                <a:solidFill>
                  <a:schemeClr val="tx1">
                    <a:lumMod val="65000"/>
                    <a:lumOff val="35000"/>
                  </a:schemeClr>
                </a:solidFill>
              </a:rPr>
              <a:t>), and interrelationship to quality management at the engagement level</a:t>
            </a:r>
            <a:endParaRPr lang="en-US" sz="1650" dirty="0" smtClean="0">
              <a:solidFill>
                <a:schemeClr val="tx1">
                  <a:lumMod val="65000"/>
                  <a:lumOff val="35000"/>
                </a:schemeClr>
              </a:solidFill>
            </a:endParaRPr>
          </a:p>
          <a:p>
            <a:pPr marL="685800" lvl="1" indent="-346075"/>
            <a:r>
              <a:rPr lang="en-US" sz="1650" dirty="0" smtClean="0">
                <a:solidFill>
                  <a:schemeClr val="tx1">
                    <a:lumMod val="65000"/>
                    <a:lumOff val="35000"/>
                  </a:schemeClr>
                </a:solidFill>
              </a:rPr>
              <a:t>“</a:t>
            </a:r>
            <a:r>
              <a:rPr lang="en-US" sz="1650" dirty="0" smtClean="0">
                <a:solidFill>
                  <a:schemeClr val="tx1">
                    <a:lumMod val="65000"/>
                    <a:lumOff val="35000"/>
                  </a:schemeClr>
                </a:solidFill>
              </a:rPr>
              <a:t>Tone at the middle”</a:t>
            </a:r>
          </a:p>
          <a:p>
            <a:pPr marL="685800" lvl="1" indent="-346075"/>
            <a:r>
              <a:rPr lang="en-US" sz="1650" dirty="0" smtClean="0">
                <a:solidFill>
                  <a:schemeClr val="tx1">
                    <a:lumMod val="65000"/>
                    <a:lumOff val="35000"/>
                  </a:schemeClr>
                </a:solidFill>
              </a:rPr>
              <a:t>Are the requirements on ethics too passive?</a:t>
            </a:r>
            <a:endParaRPr lang="en-US" sz="1800" dirty="0" smtClean="0">
              <a:solidFill>
                <a:schemeClr val="tx1">
                  <a:lumMod val="65000"/>
                  <a:lumOff val="35000"/>
                </a:schemeClr>
              </a:solidFill>
            </a:endParaRPr>
          </a:p>
        </p:txBody>
      </p:sp>
    </p:spTree>
    <p:extLst>
      <p:ext uri="{BB962C8B-B14F-4D97-AF65-F5344CB8AC3E}">
        <p14:creationId xmlns:p14="http://schemas.microsoft.com/office/powerpoint/2010/main" val="2537910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8776" y="427437"/>
            <a:ext cx="8358984" cy="403875"/>
          </a:xfrm>
        </p:spPr>
        <p:txBody>
          <a:bodyPr/>
          <a:lstStyle/>
          <a:p>
            <a:r>
              <a:rPr lang="en-US" dirty="0" smtClean="0"/>
              <a:t>IESBA Feedback on proposed ISA 220 (Revised)</a:t>
            </a:r>
            <a:endParaRPr lang="en-US" dirty="0"/>
          </a:p>
        </p:txBody>
      </p:sp>
      <p:sp>
        <p:nvSpPr>
          <p:cNvPr id="6" name="Slide Number Placeholder 5"/>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4</a:t>
            </a:fld>
            <a:endParaRPr lang="en-US" dirty="0">
              <a:latin typeface="Arial" panose="020B0604020202020204" pitchFamily="34" charset="0"/>
              <a:cs typeface="MS PGothic" charset="0"/>
            </a:endParaRPr>
          </a:p>
        </p:txBody>
      </p:sp>
      <p:sp>
        <p:nvSpPr>
          <p:cNvPr id="8" name="Content Placeholder 1"/>
          <p:cNvSpPr>
            <a:spLocks noGrp="1"/>
          </p:cNvSpPr>
          <p:nvPr>
            <p:ph idx="1"/>
          </p:nvPr>
        </p:nvSpPr>
        <p:spPr>
          <a:xfrm>
            <a:off x="332792" y="1002632"/>
            <a:ext cx="8229600" cy="3805744"/>
          </a:xfrm>
        </p:spPr>
        <p:txBody>
          <a:bodyPr/>
          <a:lstStyle/>
          <a:p>
            <a:pPr marL="347472" lvl="0" indent="-347472"/>
            <a:r>
              <a:rPr lang="en-US" sz="1800" dirty="0" smtClean="0">
                <a:solidFill>
                  <a:schemeClr val="tx1">
                    <a:lumMod val="65000"/>
                    <a:lumOff val="35000"/>
                  </a:schemeClr>
                </a:solidFill>
              </a:rPr>
              <a:t>IESBA staff provided input into the draft of proposed ISA 220 (Revised) prior to posting </a:t>
            </a:r>
          </a:p>
          <a:p>
            <a:pPr marL="347472" lvl="0" indent="-347472"/>
            <a:r>
              <a:rPr lang="en-US" sz="1800" dirty="0" smtClean="0">
                <a:solidFill>
                  <a:schemeClr val="tx1">
                    <a:lumMod val="65000"/>
                    <a:lumOff val="35000"/>
                  </a:schemeClr>
                </a:solidFill>
              </a:rPr>
              <a:t>Joint meeting of IAASB QC Projects Chairs and Staff and IESBA Liaison Member on September 12</a:t>
            </a:r>
          </a:p>
          <a:p>
            <a:pPr marL="685800" lvl="1" indent="-346075"/>
            <a:r>
              <a:rPr lang="en-US" sz="1650" dirty="0">
                <a:solidFill>
                  <a:schemeClr val="tx1">
                    <a:lumMod val="65000"/>
                    <a:lumOff val="35000"/>
                  </a:schemeClr>
                </a:solidFill>
              </a:rPr>
              <a:t>Definition of “engagement team</a:t>
            </a:r>
            <a:r>
              <a:rPr lang="en-US" sz="1650" dirty="0" smtClean="0">
                <a:solidFill>
                  <a:schemeClr val="tx1">
                    <a:lumMod val="65000"/>
                    <a:lumOff val="35000"/>
                  </a:schemeClr>
                </a:solidFill>
              </a:rPr>
              <a:t>”</a:t>
            </a:r>
            <a:endParaRPr lang="en-US" sz="1650" dirty="0" smtClean="0">
              <a:solidFill>
                <a:schemeClr val="tx1">
                  <a:lumMod val="65000"/>
                  <a:lumOff val="35000"/>
                </a:schemeClr>
              </a:solidFill>
            </a:endParaRPr>
          </a:p>
          <a:p>
            <a:pPr marL="560593" lvl="1" indent="-347472"/>
            <a:endParaRPr lang="en-US" sz="1650" dirty="0" smtClean="0">
              <a:solidFill>
                <a:schemeClr val="tx1">
                  <a:lumMod val="65000"/>
                  <a:lumOff val="35000"/>
                </a:schemeClr>
              </a:solidFill>
            </a:endParaRPr>
          </a:p>
          <a:p>
            <a:pPr marL="560593" lvl="1" indent="-347472"/>
            <a:endParaRPr lang="en-US" sz="1650" dirty="0" smtClean="0">
              <a:solidFill>
                <a:schemeClr val="tx1">
                  <a:lumMod val="65000"/>
                  <a:lumOff val="35000"/>
                </a:schemeClr>
              </a:solidFill>
            </a:endParaRPr>
          </a:p>
          <a:p>
            <a:pPr marL="347472" lvl="0" indent="-347472"/>
            <a:endParaRPr lang="en-US" sz="1800" dirty="0" smtClean="0">
              <a:solidFill>
                <a:schemeClr val="tx1">
                  <a:lumMod val="65000"/>
                  <a:lumOff val="35000"/>
                </a:schemeClr>
              </a:solidFill>
            </a:endParaRPr>
          </a:p>
        </p:txBody>
      </p:sp>
    </p:spTree>
    <p:extLst>
      <p:ext uri="{BB962C8B-B14F-4D97-AF65-F5344CB8AC3E}">
        <p14:creationId xmlns:p14="http://schemas.microsoft.com/office/powerpoint/2010/main" val="2665838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8776" y="427437"/>
            <a:ext cx="8358984" cy="403875"/>
          </a:xfrm>
        </p:spPr>
        <p:txBody>
          <a:bodyPr/>
          <a:lstStyle/>
          <a:p>
            <a:r>
              <a:rPr lang="en-US" dirty="0" smtClean="0"/>
              <a:t>SMPC Feedback </a:t>
            </a:r>
            <a:endParaRPr lang="en-US" dirty="0"/>
          </a:p>
        </p:txBody>
      </p:sp>
      <p:sp>
        <p:nvSpPr>
          <p:cNvPr id="6" name="Slide Number Placeholder 5"/>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5</a:t>
            </a:fld>
            <a:endParaRPr lang="en-US" dirty="0">
              <a:latin typeface="Arial" panose="020B0604020202020204" pitchFamily="34" charset="0"/>
              <a:cs typeface="MS PGothic" charset="0"/>
            </a:endParaRPr>
          </a:p>
        </p:txBody>
      </p:sp>
      <p:sp>
        <p:nvSpPr>
          <p:cNvPr id="8" name="Content Placeholder 1"/>
          <p:cNvSpPr>
            <a:spLocks noGrp="1"/>
          </p:cNvSpPr>
          <p:nvPr>
            <p:ph idx="1"/>
          </p:nvPr>
        </p:nvSpPr>
        <p:spPr>
          <a:xfrm>
            <a:off x="332792" y="921488"/>
            <a:ext cx="8229600" cy="3785594"/>
          </a:xfrm>
        </p:spPr>
        <p:txBody>
          <a:bodyPr/>
          <a:lstStyle/>
          <a:p>
            <a:pPr marL="347472" lvl="0" indent="-347472"/>
            <a:r>
              <a:rPr lang="en-US" sz="1800" dirty="0" smtClean="0">
                <a:solidFill>
                  <a:schemeClr val="tx1">
                    <a:lumMod val="65000"/>
                    <a:lumOff val="35000"/>
                  </a:schemeClr>
                </a:solidFill>
              </a:rPr>
              <a:t>The requirements to follow firm policies or procedures may elevate firm policies or procedures to the level of IAASB requirements</a:t>
            </a:r>
          </a:p>
          <a:p>
            <a:pPr marL="347472" lvl="0" indent="-347472"/>
            <a:r>
              <a:rPr lang="en-US" sz="1800" dirty="0" smtClean="0">
                <a:solidFill>
                  <a:schemeClr val="tx1">
                    <a:lumMod val="65000"/>
                    <a:lumOff val="35000"/>
                  </a:schemeClr>
                </a:solidFill>
              </a:rPr>
              <a:t>Emphasized that all three quality control standards should be aligned</a:t>
            </a:r>
          </a:p>
          <a:p>
            <a:pPr marL="347472" lvl="0" indent="-347472"/>
            <a:r>
              <a:rPr lang="en-US" sz="1800" dirty="0" smtClean="0">
                <a:solidFill>
                  <a:schemeClr val="tx1">
                    <a:lumMod val="65000"/>
                    <a:lumOff val="35000"/>
                  </a:schemeClr>
                </a:solidFill>
              </a:rPr>
              <a:t>The material on “implementing additional responses” (para 3(b)) could incorrectly imply that the EP can disregard the firm’s responses</a:t>
            </a:r>
          </a:p>
          <a:p>
            <a:pPr marL="347472" lvl="0" indent="-347472"/>
            <a:r>
              <a:rPr lang="en-US" sz="1800" dirty="0" smtClean="0">
                <a:solidFill>
                  <a:schemeClr val="tx1">
                    <a:lumMod val="65000"/>
                    <a:lumOff val="35000"/>
                  </a:schemeClr>
                </a:solidFill>
              </a:rPr>
              <a:t>Other possible </a:t>
            </a:r>
            <a:r>
              <a:rPr lang="en-US" sz="1800" dirty="0" smtClean="0">
                <a:solidFill>
                  <a:schemeClr val="tx1">
                    <a:lumMod val="65000"/>
                    <a:lumOff val="35000"/>
                  </a:schemeClr>
                </a:solidFill>
              </a:rPr>
              <a:t>examples to </a:t>
            </a:r>
            <a:r>
              <a:rPr lang="en-US" sz="1800" dirty="0" smtClean="0">
                <a:solidFill>
                  <a:schemeClr val="tx1">
                    <a:lumMod val="65000"/>
                    <a:lumOff val="35000"/>
                  </a:schemeClr>
                </a:solidFill>
              </a:rPr>
              <a:t>enhance scalability:</a:t>
            </a:r>
          </a:p>
          <a:p>
            <a:pPr marL="685800" lvl="1" indent="-346075"/>
            <a:r>
              <a:rPr lang="en-US" sz="1650" dirty="0" smtClean="0">
                <a:solidFill>
                  <a:schemeClr val="tx1">
                    <a:lumMod val="65000"/>
                    <a:lumOff val="35000"/>
                  </a:schemeClr>
                </a:solidFill>
              </a:rPr>
              <a:t>Externally purchased software and tools</a:t>
            </a:r>
          </a:p>
          <a:p>
            <a:pPr marL="685800" lvl="1" indent="-346075"/>
            <a:r>
              <a:rPr lang="en-US" sz="1650" dirty="0" smtClean="0">
                <a:solidFill>
                  <a:schemeClr val="tx1">
                    <a:lumMod val="65000"/>
                    <a:lumOff val="35000"/>
                  </a:schemeClr>
                </a:solidFill>
              </a:rPr>
              <a:t>Highlight consultations as an additional </a:t>
            </a:r>
            <a:r>
              <a:rPr lang="en-US" sz="1650" dirty="0" smtClean="0">
                <a:solidFill>
                  <a:schemeClr val="tx1">
                    <a:lumMod val="65000"/>
                    <a:lumOff val="35000"/>
                  </a:schemeClr>
                </a:solidFill>
              </a:rPr>
              <a:t>example on a requirement that may not be </a:t>
            </a:r>
            <a:r>
              <a:rPr lang="en-US" sz="1650" dirty="0" smtClean="0">
                <a:solidFill>
                  <a:schemeClr val="tx1">
                    <a:lumMod val="65000"/>
                    <a:lumOff val="35000"/>
                  </a:schemeClr>
                </a:solidFill>
              </a:rPr>
              <a:t>applicable when </a:t>
            </a:r>
            <a:r>
              <a:rPr lang="en-US" sz="1650" dirty="0" smtClean="0">
                <a:solidFill>
                  <a:schemeClr val="tx1">
                    <a:lumMod val="65000"/>
                    <a:lumOff val="35000"/>
                  </a:schemeClr>
                </a:solidFill>
              </a:rPr>
              <a:t>the EP performs the audit </a:t>
            </a:r>
            <a:r>
              <a:rPr lang="en-US" sz="1650" dirty="0" smtClean="0">
                <a:solidFill>
                  <a:schemeClr val="tx1">
                    <a:lumMod val="65000"/>
                    <a:lumOff val="35000"/>
                  </a:schemeClr>
                </a:solidFill>
              </a:rPr>
              <a:t>alone</a:t>
            </a:r>
            <a:endParaRPr lang="en-US" sz="1650" dirty="0" smtClean="0">
              <a:solidFill>
                <a:schemeClr val="tx1">
                  <a:lumMod val="65000"/>
                  <a:lumOff val="35000"/>
                </a:schemeClr>
              </a:solidFill>
            </a:endParaRPr>
          </a:p>
        </p:txBody>
      </p:sp>
    </p:spTree>
    <p:extLst>
      <p:ext uri="{BB962C8B-B14F-4D97-AF65-F5344CB8AC3E}">
        <p14:creationId xmlns:p14="http://schemas.microsoft.com/office/powerpoint/2010/main" val="27746783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32791" y="427437"/>
            <a:ext cx="8761589" cy="403875"/>
          </a:xfrm>
        </p:spPr>
        <p:txBody>
          <a:bodyPr/>
          <a:lstStyle/>
          <a:p>
            <a:r>
              <a:rPr lang="en-US" dirty="0" smtClean="0"/>
              <a:t>Public </a:t>
            </a:r>
            <a:r>
              <a:rPr lang="en-US" dirty="0"/>
              <a:t>Interest; Exercising Professional Judgment and Professional </a:t>
            </a:r>
            <a:r>
              <a:rPr lang="en-US" dirty="0" smtClean="0"/>
              <a:t>Skepticism</a:t>
            </a:r>
            <a:endParaRPr lang="en-US" sz="2000" dirty="0"/>
          </a:p>
        </p:txBody>
      </p:sp>
      <p:sp>
        <p:nvSpPr>
          <p:cNvPr id="6" name="Slide Number Placeholder 5"/>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6</a:t>
            </a:fld>
            <a:endParaRPr lang="en-US" dirty="0">
              <a:latin typeface="Arial" panose="020B0604020202020204" pitchFamily="34" charset="0"/>
              <a:cs typeface="MS PGothic" charset="0"/>
            </a:endParaRPr>
          </a:p>
        </p:txBody>
      </p:sp>
      <p:graphicFrame>
        <p:nvGraphicFramePr>
          <p:cNvPr id="7" name="Content Placeholder 3"/>
          <p:cNvGraphicFramePr>
            <a:graphicFrameLocks/>
          </p:cNvGraphicFramePr>
          <p:nvPr>
            <p:extLst>
              <p:ext uri="{D42A27DB-BD31-4B8C-83A1-F6EECF244321}">
                <p14:modId xmlns:p14="http://schemas.microsoft.com/office/powerpoint/2010/main" val="186160203"/>
              </p:ext>
            </p:extLst>
          </p:nvPr>
        </p:nvGraphicFramePr>
        <p:xfrm>
          <a:off x="457200" y="1662545"/>
          <a:ext cx="8229600" cy="1691640"/>
        </p:xfrm>
        <a:graphic>
          <a:graphicData uri="http://schemas.openxmlformats.org/drawingml/2006/table">
            <a:tbl>
              <a:tblPr firstRow="1" bandRow="1">
                <a:tableStyleId>{5940675A-B579-460E-94D1-54222C63F5DA}</a:tableStyleId>
              </a:tblPr>
              <a:tblGrid>
                <a:gridCol w="8229600">
                  <a:extLst>
                    <a:ext uri="{9D8B030D-6E8A-4147-A177-3AD203B41FA5}">
                      <a16:colId xmlns:a16="http://schemas.microsoft.com/office/drawing/2014/main" xmlns="" val="20000"/>
                    </a:ext>
                  </a:extLst>
                </a:gridCol>
              </a:tblGrid>
              <a:tr h="1573585">
                <a:tc>
                  <a:txBody>
                    <a:bodyPr/>
                    <a:lstStyle/>
                    <a:p>
                      <a:pPr>
                        <a:spcBef>
                          <a:spcPts val="600"/>
                        </a:spcBef>
                      </a:pPr>
                      <a:r>
                        <a:rPr lang="en-US" sz="1800" b="1" u="sng" dirty="0" smtClean="0">
                          <a:solidFill>
                            <a:schemeClr val="tx1">
                              <a:lumMod val="65000"/>
                              <a:lumOff val="35000"/>
                            </a:schemeClr>
                          </a:solidFill>
                          <a:latin typeface="Arial" panose="020B0604020202020204" pitchFamily="34" charset="0"/>
                          <a:cs typeface="Arial" panose="020B0604020202020204" pitchFamily="34" charset="0"/>
                        </a:rPr>
                        <a:t>Matters </a:t>
                      </a:r>
                      <a:r>
                        <a:rPr lang="en-US" sz="1800" b="1" u="sng" dirty="0">
                          <a:solidFill>
                            <a:schemeClr val="tx1">
                              <a:lumMod val="65000"/>
                              <a:lumOff val="35000"/>
                            </a:schemeClr>
                          </a:solidFill>
                          <a:latin typeface="Arial" panose="020B0604020202020204" pitchFamily="34" charset="0"/>
                          <a:cs typeface="Arial" panose="020B0604020202020204" pitchFamily="34" charset="0"/>
                        </a:rPr>
                        <a:t>for IAASB Consideration </a:t>
                      </a:r>
                      <a:endParaRPr lang="en-US" sz="1800" b="1" u="sng" dirty="0" smtClean="0">
                        <a:solidFill>
                          <a:schemeClr val="tx1">
                            <a:lumMod val="65000"/>
                            <a:lumOff val="35000"/>
                          </a:schemeClr>
                        </a:solidFill>
                        <a:latin typeface="Arial" panose="020B0604020202020204" pitchFamily="34" charset="0"/>
                        <a:cs typeface="Arial" panose="020B0604020202020204" pitchFamily="34" charset="0"/>
                      </a:endParaRPr>
                    </a:p>
                    <a:p>
                      <a:pPr marL="342900" lvl="0" indent="-342900" algn="l" defTabSz="342900" rtl="0" eaLnBrk="1" latinLnBrk="0" hangingPunct="1">
                        <a:spcBef>
                          <a:spcPts val="600"/>
                        </a:spcBef>
                        <a:buFont typeface="+mj-lt"/>
                        <a:buAutoNum type="arabicParenR"/>
                      </a:pPr>
                      <a:r>
                        <a:rPr lang="en-US" sz="1800" kern="1200" dirty="0" smtClean="0">
                          <a:solidFill>
                            <a:schemeClr val="tx1">
                              <a:lumMod val="65000"/>
                              <a:lumOff val="35000"/>
                            </a:schemeClr>
                          </a:solidFill>
                          <a:latin typeface="Arial" panose="020B0604020202020204" pitchFamily="34" charset="0"/>
                          <a:ea typeface="+mn-ea"/>
                          <a:cs typeface="Arial" panose="020B0604020202020204" pitchFamily="34" charset="0"/>
                        </a:rPr>
                        <a:t>The IAASB is asked for its views on the material dealing with public interest, professional judgment, and professional skepticism in Agenda Item 4–A:</a:t>
                      </a:r>
                    </a:p>
                    <a:p>
                      <a:pPr marL="685800" lvl="1" indent="-342900" algn="l" defTabSz="342900" rtl="0" eaLnBrk="1" latinLnBrk="0" hangingPunct="1">
                        <a:spcBef>
                          <a:spcPts val="600"/>
                        </a:spcBef>
                        <a:buFont typeface="+mj-lt"/>
                        <a:buAutoNum type="alphaLcParenR"/>
                      </a:pPr>
                      <a:r>
                        <a:rPr lang="en-US" sz="1800" u="none" kern="1200" dirty="0" smtClean="0">
                          <a:solidFill>
                            <a:schemeClr val="tx1">
                              <a:lumMod val="65000"/>
                              <a:lumOff val="35000"/>
                            </a:schemeClr>
                          </a:solidFill>
                          <a:latin typeface="Arial" panose="020B0604020202020204" pitchFamily="34" charset="0"/>
                          <a:ea typeface="+mn-ea"/>
                          <a:cs typeface="Arial" panose="020B0604020202020204" pitchFamily="34" charset="0"/>
                        </a:rPr>
                        <a:t>Paragraphs 4B–4C</a:t>
                      </a:r>
                    </a:p>
                    <a:p>
                      <a:pPr marL="685800" lvl="1" indent="-342900" algn="l" defTabSz="342900" rtl="0" eaLnBrk="1" latinLnBrk="0" hangingPunct="1">
                        <a:spcBef>
                          <a:spcPts val="600"/>
                        </a:spcBef>
                        <a:buFont typeface="+mj-lt"/>
                        <a:buAutoNum type="alphaLcParenR"/>
                      </a:pPr>
                      <a:r>
                        <a:rPr lang="en-US" sz="1800" u="none" kern="1200" dirty="0" smtClean="0">
                          <a:solidFill>
                            <a:schemeClr val="tx1">
                              <a:lumMod val="65000"/>
                              <a:lumOff val="35000"/>
                            </a:schemeClr>
                          </a:solidFill>
                          <a:latin typeface="Arial" panose="020B0604020202020204" pitchFamily="34" charset="0"/>
                          <a:ea typeface="+mn-ea"/>
                          <a:cs typeface="Arial" panose="020B0604020202020204" pitchFamily="34" charset="0"/>
                        </a:rPr>
                        <a:t>Paragraphs A3G–A3I</a:t>
                      </a:r>
                      <a:endParaRPr lang="en-US" sz="1800" u="none"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xmlns="" val="10000"/>
                  </a:ext>
                </a:extLst>
              </a:tr>
            </a:tbl>
          </a:graphicData>
        </a:graphic>
      </p:graphicFrame>
      <p:sp>
        <p:nvSpPr>
          <p:cNvPr id="2" name="TextBox 1"/>
          <p:cNvSpPr txBox="1"/>
          <p:nvPr/>
        </p:nvSpPr>
        <p:spPr>
          <a:xfrm>
            <a:off x="457200" y="1143000"/>
            <a:ext cx="4509655" cy="369332"/>
          </a:xfrm>
          <a:prstGeom prst="rect">
            <a:avLst/>
          </a:prstGeom>
          <a:noFill/>
        </p:spPr>
        <p:txBody>
          <a:bodyPr wrap="square" rtlCol="0">
            <a:spAutoFit/>
          </a:bodyPr>
          <a:lstStyle/>
          <a:p>
            <a:pPr marL="285750" indent="-285750">
              <a:buFont typeface="Arial" panose="020B0604020202020204" pitchFamily="34" charset="0"/>
              <a:buChar char="•"/>
            </a:pPr>
            <a:r>
              <a:rPr lang="en-US" sz="1800" dirty="0" smtClean="0">
                <a:latin typeface="Arial" panose="020B0604020202020204" pitchFamily="34" charset="0"/>
                <a:cs typeface="Arial" panose="020B0604020202020204" pitchFamily="34" charset="0"/>
              </a:rPr>
              <a:t>Public Interest table: Section B</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8400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32791" y="427437"/>
            <a:ext cx="8761589" cy="403875"/>
          </a:xfrm>
        </p:spPr>
        <p:txBody>
          <a:bodyPr/>
          <a:lstStyle/>
          <a:p>
            <a:r>
              <a:rPr lang="en-US" sz="1500" dirty="0"/>
              <a:t>Scalability for Firms of Different Sizes, and for Engagements Where Nature and Circumstances Differ</a:t>
            </a:r>
          </a:p>
        </p:txBody>
      </p:sp>
      <p:sp>
        <p:nvSpPr>
          <p:cNvPr id="6" name="Slide Number Placeholder 5"/>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7</a:t>
            </a:fld>
            <a:endParaRPr lang="en-US" dirty="0">
              <a:latin typeface="Arial" panose="020B0604020202020204" pitchFamily="34" charset="0"/>
              <a:cs typeface="MS PGothic" charset="0"/>
            </a:endParaRPr>
          </a:p>
        </p:txBody>
      </p:sp>
      <p:sp>
        <p:nvSpPr>
          <p:cNvPr id="8" name="Content Placeholder 1"/>
          <p:cNvSpPr>
            <a:spLocks noGrp="1"/>
          </p:cNvSpPr>
          <p:nvPr>
            <p:ph idx="1"/>
          </p:nvPr>
        </p:nvSpPr>
        <p:spPr>
          <a:xfrm>
            <a:off x="332792" y="921489"/>
            <a:ext cx="8229600" cy="1239302"/>
          </a:xfrm>
        </p:spPr>
        <p:txBody>
          <a:bodyPr/>
          <a:lstStyle/>
          <a:p>
            <a:pPr marL="347472" indent="-347472"/>
            <a:r>
              <a:rPr lang="en-US" sz="1800" dirty="0">
                <a:solidFill>
                  <a:schemeClr val="tx1">
                    <a:lumMod val="65000"/>
                    <a:lumOff val="35000"/>
                  </a:schemeClr>
                </a:solidFill>
              </a:rPr>
              <a:t>Proposed revisions to requirements and application material emphasize </a:t>
            </a:r>
            <a:r>
              <a:rPr lang="en-US" sz="1800" dirty="0" smtClean="0">
                <a:solidFill>
                  <a:schemeClr val="tx1">
                    <a:lumMod val="65000"/>
                    <a:lumOff val="35000"/>
                  </a:schemeClr>
                </a:solidFill>
              </a:rPr>
              <a:t>scalability</a:t>
            </a:r>
          </a:p>
          <a:p>
            <a:pPr marL="560593" lvl="1" indent="-347472"/>
            <a:r>
              <a:rPr lang="en-US" sz="1800" dirty="0" smtClean="0">
                <a:solidFill>
                  <a:schemeClr val="tx1">
                    <a:lumMod val="65000"/>
                    <a:lumOff val="35000"/>
                  </a:schemeClr>
                </a:solidFill>
              </a:rPr>
              <a:t>Appendix A in Agenda Item 4–A</a:t>
            </a:r>
            <a:endParaRPr lang="en-US" sz="1800" dirty="0">
              <a:solidFill>
                <a:schemeClr val="tx1">
                  <a:lumMod val="65000"/>
                  <a:lumOff val="35000"/>
                </a:schemeClr>
              </a:solidFill>
            </a:endParaRPr>
          </a:p>
        </p:txBody>
      </p:sp>
      <p:graphicFrame>
        <p:nvGraphicFramePr>
          <p:cNvPr id="7" name="Content Placeholder 3"/>
          <p:cNvGraphicFramePr>
            <a:graphicFrameLocks/>
          </p:cNvGraphicFramePr>
          <p:nvPr>
            <p:extLst>
              <p:ext uri="{D42A27DB-BD31-4B8C-83A1-F6EECF244321}">
                <p14:modId xmlns:p14="http://schemas.microsoft.com/office/powerpoint/2010/main" val="2261067048"/>
              </p:ext>
            </p:extLst>
          </p:nvPr>
        </p:nvGraphicFramePr>
        <p:xfrm>
          <a:off x="403225" y="2080457"/>
          <a:ext cx="8229600" cy="2514600"/>
        </p:xfrm>
        <a:graphic>
          <a:graphicData uri="http://schemas.openxmlformats.org/drawingml/2006/table">
            <a:tbl>
              <a:tblPr firstRow="1" bandRow="1">
                <a:tableStyleId>{5940675A-B579-460E-94D1-54222C63F5DA}</a:tableStyleId>
              </a:tblPr>
              <a:tblGrid>
                <a:gridCol w="8229600">
                  <a:extLst>
                    <a:ext uri="{9D8B030D-6E8A-4147-A177-3AD203B41FA5}">
                      <a16:colId xmlns:a16="http://schemas.microsoft.com/office/drawing/2014/main" xmlns="" val="20000"/>
                    </a:ext>
                  </a:extLst>
                </a:gridCol>
              </a:tblGrid>
              <a:tr h="2326742">
                <a:tc>
                  <a:txBody>
                    <a:bodyPr/>
                    <a:lstStyle/>
                    <a:p>
                      <a:pPr>
                        <a:spcBef>
                          <a:spcPts val="600"/>
                        </a:spcBef>
                      </a:pPr>
                      <a:r>
                        <a:rPr lang="en-US" sz="1800" b="1" u="sng" dirty="0" smtClean="0">
                          <a:solidFill>
                            <a:schemeClr val="tx1">
                              <a:lumMod val="65000"/>
                              <a:lumOff val="35000"/>
                            </a:schemeClr>
                          </a:solidFill>
                          <a:latin typeface="Arial" panose="020B0604020202020204" pitchFamily="34" charset="0"/>
                          <a:cs typeface="Arial" panose="020B0604020202020204" pitchFamily="34" charset="0"/>
                        </a:rPr>
                        <a:t>Matters </a:t>
                      </a:r>
                      <a:r>
                        <a:rPr lang="en-US" sz="1800" b="1" u="sng" dirty="0">
                          <a:solidFill>
                            <a:schemeClr val="tx1">
                              <a:lumMod val="65000"/>
                              <a:lumOff val="35000"/>
                            </a:schemeClr>
                          </a:solidFill>
                          <a:latin typeface="Arial" panose="020B0604020202020204" pitchFamily="34" charset="0"/>
                          <a:cs typeface="Arial" panose="020B0604020202020204" pitchFamily="34" charset="0"/>
                        </a:rPr>
                        <a:t>for IAASB Consideration </a:t>
                      </a:r>
                    </a:p>
                    <a:p>
                      <a:pPr marL="342900" lvl="0" indent="-342900" algn="l" defTabSz="342900" rtl="0" eaLnBrk="1" latinLnBrk="0" hangingPunct="1">
                        <a:spcBef>
                          <a:spcPts val="600"/>
                        </a:spcBef>
                        <a:buFont typeface="+mj-lt"/>
                        <a:buAutoNum type="arabicParenR" startAt="2"/>
                      </a:pPr>
                      <a:r>
                        <a:rPr lang="en-US" sz="1800" kern="1200" dirty="0" smtClean="0">
                          <a:solidFill>
                            <a:schemeClr val="tx1">
                              <a:lumMod val="65000"/>
                              <a:lumOff val="35000"/>
                            </a:schemeClr>
                          </a:solidFill>
                          <a:latin typeface="Arial" panose="020B0604020202020204" pitchFamily="34" charset="0"/>
                          <a:ea typeface="+mn-ea"/>
                          <a:cs typeface="Arial" panose="020B0604020202020204" pitchFamily="34" charset="0"/>
                        </a:rPr>
                        <a:t>The IAASB is asked:</a:t>
                      </a:r>
                    </a:p>
                    <a:p>
                      <a:pPr marL="685800" lvl="1" indent="-342900" algn="l" defTabSz="342900" rtl="0" eaLnBrk="1" latinLnBrk="0" hangingPunct="1">
                        <a:spcBef>
                          <a:spcPts val="600"/>
                        </a:spcBef>
                        <a:buFont typeface="+mj-lt"/>
                        <a:buAutoNum type="alphaLcParenR"/>
                      </a:pPr>
                      <a:r>
                        <a:rPr lang="en-US" sz="1800" u="none" kern="1200" dirty="0" smtClean="0">
                          <a:solidFill>
                            <a:schemeClr val="tx1">
                              <a:lumMod val="65000"/>
                              <a:lumOff val="35000"/>
                            </a:schemeClr>
                          </a:solidFill>
                          <a:latin typeface="Arial" panose="020B0604020202020204" pitchFamily="34" charset="0"/>
                          <a:ea typeface="+mn-ea"/>
                          <a:cs typeface="Arial" panose="020B0604020202020204" pitchFamily="34" charset="0"/>
                        </a:rPr>
                        <a:t>For its views on how the scalability of the requirements and application material has been dealt with in proposed ISA 220 (Revised).</a:t>
                      </a:r>
                    </a:p>
                    <a:p>
                      <a:pPr marL="685800" lvl="1" indent="-342900" algn="l" defTabSz="342900" rtl="0" eaLnBrk="1" latinLnBrk="0" hangingPunct="1">
                        <a:spcBef>
                          <a:spcPts val="600"/>
                        </a:spcBef>
                        <a:buFont typeface="+mj-lt"/>
                        <a:buAutoNum type="alphaLcParenR"/>
                      </a:pPr>
                      <a:r>
                        <a:rPr lang="en-US" sz="1800" u="none" kern="1200" dirty="0" smtClean="0">
                          <a:solidFill>
                            <a:schemeClr val="tx1">
                              <a:lumMod val="65000"/>
                              <a:lumOff val="35000"/>
                            </a:schemeClr>
                          </a:solidFill>
                          <a:latin typeface="Arial" panose="020B0604020202020204" pitchFamily="34" charset="0"/>
                          <a:ea typeface="+mn-ea"/>
                          <a:cs typeface="Arial" panose="020B0604020202020204" pitchFamily="34" charset="0"/>
                        </a:rPr>
                        <a:t>Whether there are further examples to include in the standard to demonstrate how the ISA is sufficiently scalability for firms of different sizes, and for engagements with differing nature and circumstances. (The IAASB is requested to provide specific suggestions if possible.)</a:t>
                      </a:r>
                      <a:endParaRPr lang="en-US" sz="1800" u="none"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856635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32791" y="427437"/>
            <a:ext cx="8761589" cy="403875"/>
          </a:xfrm>
        </p:spPr>
        <p:txBody>
          <a:bodyPr/>
          <a:lstStyle/>
          <a:p>
            <a:r>
              <a:rPr lang="en-US" dirty="0" smtClean="0"/>
              <a:t>Firm Policies or Procedures</a:t>
            </a:r>
            <a:endParaRPr lang="en-US" dirty="0"/>
          </a:p>
        </p:txBody>
      </p:sp>
      <p:sp>
        <p:nvSpPr>
          <p:cNvPr id="6" name="Slide Number Placeholder 5"/>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8</a:t>
            </a:fld>
            <a:endParaRPr lang="en-US" dirty="0">
              <a:latin typeface="Arial" panose="020B0604020202020204" pitchFamily="34" charset="0"/>
              <a:cs typeface="MS PGothic" charset="0"/>
            </a:endParaRPr>
          </a:p>
        </p:txBody>
      </p:sp>
      <p:graphicFrame>
        <p:nvGraphicFramePr>
          <p:cNvPr id="7" name="Content Placeholder 3"/>
          <p:cNvGraphicFramePr>
            <a:graphicFrameLocks/>
          </p:cNvGraphicFramePr>
          <p:nvPr>
            <p:extLst>
              <p:ext uri="{D42A27DB-BD31-4B8C-83A1-F6EECF244321}">
                <p14:modId xmlns:p14="http://schemas.microsoft.com/office/powerpoint/2010/main" val="2521199372"/>
              </p:ext>
            </p:extLst>
          </p:nvPr>
        </p:nvGraphicFramePr>
        <p:xfrm>
          <a:off x="332791" y="2259806"/>
          <a:ext cx="8229600" cy="2514600"/>
        </p:xfrm>
        <a:graphic>
          <a:graphicData uri="http://schemas.openxmlformats.org/drawingml/2006/table">
            <a:tbl>
              <a:tblPr firstRow="1" bandRow="1">
                <a:tableStyleId>{5940675A-B579-460E-94D1-54222C63F5DA}</a:tableStyleId>
              </a:tblPr>
              <a:tblGrid>
                <a:gridCol w="8229600">
                  <a:extLst>
                    <a:ext uri="{9D8B030D-6E8A-4147-A177-3AD203B41FA5}">
                      <a16:colId xmlns:a16="http://schemas.microsoft.com/office/drawing/2014/main" xmlns="" val="20000"/>
                    </a:ext>
                  </a:extLst>
                </a:gridCol>
              </a:tblGrid>
              <a:tr h="2344553">
                <a:tc>
                  <a:txBody>
                    <a:bodyPr/>
                    <a:lstStyle/>
                    <a:p>
                      <a:pPr>
                        <a:spcBef>
                          <a:spcPts val="600"/>
                        </a:spcBef>
                      </a:pPr>
                      <a:r>
                        <a:rPr lang="en-US" sz="1800" b="1" u="sng" dirty="0" smtClean="0">
                          <a:solidFill>
                            <a:schemeClr val="tx1">
                              <a:lumMod val="65000"/>
                              <a:lumOff val="35000"/>
                            </a:schemeClr>
                          </a:solidFill>
                          <a:latin typeface="Arial" panose="020B0604020202020204" pitchFamily="34" charset="0"/>
                          <a:cs typeface="Arial" panose="020B0604020202020204" pitchFamily="34" charset="0"/>
                        </a:rPr>
                        <a:t>Matters </a:t>
                      </a:r>
                      <a:r>
                        <a:rPr lang="en-US" sz="1800" b="1" u="sng" dirty="0">
                          <a:solidFill>
                            <a:schemeClr val="tx1">
                              <a:lumMod val="65000"/>
                              <a:lumOff val="35000"/>
                            </a:schemeClr>
                          </a:solidFill>
                          <a:latin typeface="Arial" panose="020B0604020202020204" pitchFamily="34" charset="0"/>
                          <a:cs typeface="Arial" panose="020B0604020202020204" pitchFamily="34" charset="0"/>
                        </a:rPr>
                        <a:t>for IAASB Consideration </a:t>
                      </a:r>
                    </a:p>
                    <a:p>
                      <a:pPr marL="342900" lvl="0" indent="-342900" algn="l" defTabSz="342900" rtl="0" eaLnBrk="1" latinLnBrk="0" hangingPunct="1">
                        <a:spcBef>
                          <a:spcPts val="600"/>
                        </a:spcBef>
                        <a:buFont typeface="+mj-lt"/>
                        <a:buAutoNum type="arabicParenR" startAt="3"/>
                      </a:pPr>
                      <a:r>
                        <a:rPr lang="en-US" sz="1800" kern="1200" dirty="0" smtClean="0">
                          <a:solidFill>
                            <a:schemeClr val="tx1">
                              <a:lumMod val="65000"/>
                              <a:lumOff val="35000"/>
                            </a:schemeClr>
                          </a:solidFill>
                          <a:latin typeface="Arial" panose="020B0604020202020204" pitchFamily="34" charset="0"/>
                          <a:ea typeface="+mn-ea"/>
                          <a:cs typeface="Arial" panose="020B0604020202020204" pitchFamily="34" charset="0"/>
                        </a:rPr>
                        <a:t>The IAASB is asked for its views on: </a:t>
                      </a:r>
                    </a:p>
                    <a:p>
                      <a:pPr marL="685800" lvl="1" indent="-342900" algn="l" defTabSz="342900" rtl="0" eaLnBrk="1" latinLnBrk="0" hangingPunct="1">
                        <a:spcBef>
                          <a:spcPts val="600"/>
                        </a:spcBef>
                        <a:buFont typeface="+mj-lt"/>
                        <a:buAutoNum type="alphaLcParenR"/>
                      </a:pPr>
                      <a:r>
                        <a:rPr lang="en-US" sz="1800" u="none" kern="1200" dirty="0" smtClean="0">
                          <a:solidFill>
                            <a:schemeClr val="tx1">
                              <a:lumMod val="65000"/>
                              <a:lumOff val="35000"/>
                            </a:schemeClr>
                          </a:solidFill>
                          <a:latin typeface="Arial" panose="020B0604020202020204" pitchFamily="34" charset="0"/>
                          <a:ea typeface="+mn-ea"/>
                          <a:cs typeface="Arial" panose="020B0604020202020204" pitchFamily="34" charset="0"/>
                        </a:rPr>
                        <a:t>The overall approach to dealing with firm policies or procedures in the requirements of proposed ISA 220 (Revised).</a:t>
                      </a:r>
                    </a:p>
                    <a:p>
                      <a:pPr marL="685800" lvl="1" indent="-342900" algn="l" defTabSz="342900" rtl="0" eaLnBrk="1" latinLnBrk="0" hangingPunct="1">
                        <a:spcBef>
                          <a:spcPts val="600"/>
                        </a:spcBef>
                        <a:buFont typeface="+mj-lt"/>
                        <a:buAutoNum type="alphaLcParenR"/>
                      </a:pPr>
                      <a:r>
                        <a:rPr lang="en-US" sz="1800" u="none" kern="1200" dirty="0" smtClean="0">
                          <a:solidFill>
                            <a:schemeClr val="tx1">
                              <a:lumMod val="65000"/>
                              <a:lumOff val="35000"/>
                            </a:schemeClr>
                          </a:solidFill>
                          <a:latin typeface="Arial" panose="020B0604020202020204" pitchFamily="34" charset="0"/>
                          <a:ea typeface="+mn-ea"/>
                          <a:cs typeface="Arial" panose="020B0604020202020204" pitchFamily="34" charset="0"/>
                        </a:rPr>
                        <a:t>Proposed application material </a:t>
                      </a:r>
                      <a:r>
                        <a:rPr lang="en-US" sz="1800" u="none" kern="1200" dirty="0" smtClean="0">
                          <a:solidFill>
                            <a:schemeClr val="tx1">
                              <a:lumMod val="65000"/>
                              <a:lumOff val="35000"/>
                            </a:schemeClr>
                          </a:solidFill>
                          <a:latin typeface="Arial" panose="020B0604020202020204" pitchFamily="34" charset="0"/>
                          <a:ea typeface="+mn-ea"/>
                          <a:cs typeface="Arial" panose="020B0604020202020204" pitchFamily="34" charset="0"/>
                        </a:rPr>
                        <a:t>(e.g.</a:t>
                      </a:r>
                      <a:r>
                        <a:rPr lang="en-US" sz="1800" u="none" kern="1200" baseline="0" dirty="0" smtClean="0">
                          <a:solidFill>
                            <a:schemeClr val="tx1">
                              <a:lumMod val="65000"/>
                              <a:lumOff val="35000"/>
                            </a:schemeClr>
                          </a:solidFill>
                          <a:latin typeface="Arial" panose="020B0604020202020204" pitchFamily="34" charset="0"/>
                          <a:ea typeface="+mn-ea"/>
                          <a:cs typeface="Arial" panose="020B0604020202020204" pitchFamily="34" charset="0"/>
                        </a:rPr>
                        <a:t> </a:t>
                      </a:r>
                      <a:r>
                        <a:rPr lang="en-US" sz="1800" u="none" kern="1200" dirty="0" smtClean="0">
                          <a:solidFill>
                            <a:schemeClr val="tx1">
                              <a:lumMod val="65000"/>
                              <a:lumOff val="35000"/>
                            </a:schemeClr>
                          </a:solidFill>
                          <a:latin typeface="Arial" panose="020B0604020202020204" pitchFamily="34" charset="0"/>
                          <a:ea typeface="+mn-ea"/>
                          <a:cs typeface="Arial" panose="020B0604020202020204" pitchFamily="34" charset="0"/>
                        </a:rPr>
                        <a:t>para. A1E, A1F)</a:t>
                      </a:r>
                      <a:r>
                        <a:rPr lang="en-US" sz="1800" u="none" kern="1200" baseline="0" dirty="0" smtClean="0">
                          <a:solidFill>
                            <a:schemeClr val="tx1">
                              <a:lumMod val="65000"/>
                              <a:lumOff val="35000"/>
                            </a:schemeClr>
                          </a:solidFill>
                          <a:latin typeface="Arial" panose="020B0604020202020204" pitchFamily="34" charset="0"/>
                          <a:ea typeface="+mn-ea"/>
                          <a:cs typeface="Arial" panose="020B0604020202020204" pitchFamily="34" charset="0"/>
                        </a:rPr>
                        <a:t> </a:t>
                      </a:r>
                      <a:r>
                        <a:rPr lang="en-US" sz="1800" u="none" kern="1200" dirty="0" smtClean="0">
                          <a:solidFill>
                            <a:schemeClr val="tx1">
                              <a:lumMod val="65000"/>
                              <a:lumOff val="35000"/>
                            </a:schemeClr>
                          </a:solidFill>
                          <a:latin typeface="Arial" panose="020B0604020202020204" pitchFamily="34" charset="0"/>
                          <a:ea typeface="+mn-ea"/>
                          <a:cs typeface="Arial" panose="020B0604020202020204" pitchFamily="34" charset="0"/>
                        </a:rPr>
                        <a:t>that </a:t>
                      </a:r>
                      <a:r>
                        <a:rPr lang="en-US" sz="1800" u="none" kern="1200" dirty="0" smtClean="0">
                          <a:solidFill>
                            <a:schemeClr val="tx1">
                              <a:lumMod val="65000"/>
                              <a:lumOff val="35000"/>
                            </a:schemeClr>
                          </a:solidFill>
                          <a:latin typeface="Arial" panose="020B0604020202020204" pitchFamily="34" charset="0"/>
                          <a:ea typeface="+mn-ea"/>
                          <a:cs typeface="Arial" panose="020B0604020202020204" pitchFamily="34" charset="0"/>
                        </a:rPr>
                        <a:t>acknowledges the EP may depend on the firm’s policies or procedures or other relevant firm level responses, when complying with the requirements of proposed ISA 220 (Revised).</a:t>
                      </a:r>
                      <a:endParaRPr lang="en-US" sz="1800" u="none"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xmlns="" val="10000"/>
                  </a:ext>
                </a:extLst>
              </a:tr>
            </a:tbl>
          </a:graphicData>
        </a:graphic>
      </p:graphicFrame>
      <p:sp>
        <p:nvSpPr>
          <p:cNvPr id="9" name="Rounded Rectangle 8"/>
          <p:cNvSpPr/>
          <p:nvPr/>
        </p:nvSpPr>
        <p:spPr>
          <a:xfrm>
            <a:off x="332791" y="940271"/>
            <a:ext cx="8229600" cy="1210647"/>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800" b="1" u="sng" dirty="0" smtClean="0">
                <a:solidFill>
                  <a:schemeClr val="tx1">
                    <a:lumMod val="65000"/>
                    <a:lumOff val="35000"/>
                  </a:schemeClr>
                </a:solidFill>
                <a:latin typeface="Arial" panose="020B0604020202020204" pitchFamily="34" charset="0"/>
                <a:cs typeface="Arial" panose="020B0604020202020204" pitchFamily="34" charset="0"/>
              </a:rPr>
              <a:t>Depending on the Firm’s Policies or Procedures</a:t>
            </a:r>
            <a:r>
              <a:rPr lang="en-US" sz="1800" b="1" dirty="0" smtClean="0">
                <a:solidFill>
                  <a:schemeClr val="tx1">
                    <a:lumMod val="65000"/>
                    <a:lumOff val="35000"/>
                  </a:schemeClr>
                </a:solidFill>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sz="1800" dirty="0" smtClean="0">
                <a:solidFill>
                  <a:schemeClr val="tx1">
                    <a:lumMod val="65000"/>
                    <a:lumOff val="35000"/>
                  </a:schemeClr>
                </a:solidFill>
                <a:latin typeface="Arial" panose="020B0604020202020204" pitchFamily="34" charset="0"/>
                <a:cs typeface="Arial" panose="020B0604020202020204" pitchFamily="34" charset="0"/>
              </a:rPr>
              <a:t>The </a:t>
            </a:r>
            <a:r>
              <a:rPr lang="en-US" sz="1800" dirty="0">
                <a:solidFill>
                  <a:schemeClr val="tx1">
                    <a:lumMod val="65000"/>
                    <a:lumOff val="35000"/>
                  </a:schemeClr>
                </a:solidFill>
                <a:latin typeface="Arial" panose="020B0604020202020204" pitchFamily="34" charset="0"/>
                <a:cs typeface="Arial" panose="020B0604020202020204" pitchFamily="34" charset="0"/>
              </a:rPr>
              <a:t>EP may “depend on the firm’s policies or procedures” </a:t>
            </a:r>
            <a:endParaRPr lang="en-US" sz="1800" dirty="0" smtClean="0">
              <a:solidFill>
                <a:schemeClr val="tx1">
                  <a:lumMod val="65000"/>
                  <a:lumOff val="35000"/>
                </a:schemeClr>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smtClean="0">
                <a:solidFill>
                  <a:schemeClr val="tx1">
                    <a:lumMod val="65000"/>
                    <a:lumOff val="35000"/>
                  </a:schemeClr>
                </a:solidFill>
                <a:latin typeface="Arial" panose="020B0604020202020204" pitchFamily="34" charset="0"/>
                <a:cs typeface="Arial" panose="020B0604020202020204" pitchFamily="34" charset="0"/>
              </a:rPr>
              <a:t>Determine </a:t>
            </a:r>
            <a:r>
              <a:rPr lang="en-US" sz="1800" dirty="0">
                <a:solidFill>
                  <a:schemeClr val="tx1">
                    <a:lumMod val="65000"/>
                    <a:lumOff val="35000"/>
                  </a:schemeClr>
                </a:solidFill>
                <a:latin typeface="Arial" panose="020B0604020202020204" pitchFamily="34" charset="0"/>
                <a:cs typeface="Arial" panose="020B0604020202020204" pitchFamily="34" charset="0"/>
              </a:rPr>
              <a:t>whether those policies or procedures are “fit-for-purpose</a:t>
            </a:r>
            <a:r>
              <a:rPr lang="en-US" sz="1800" dirty="0" smtClean="0">
                <a:solidFill>
                  <a:schemeClr val="tx1">
                    <a:lumMod val="65000"/>
                    <a:lumOff val="35000"/>
                  </a:schemeClr>
                </a:solidFill>
                <a:latin typeface="Arial" panose="020B0604020202020204" pitchFamily="34" charset="0"/>
                <a:cs typeface="Arial" panose="020B0604020202020204" pitchFamily="34" charset="0"/>
              </a:rPr>
              <a:t>”</a:t>
            </a:r>
            <a:endParaRPr lang="en-US" sz="1800" dirty="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9519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Introduction, Objective, and Definitions</a:t>
            </a:r>
            <a:endParaRPr lang="en-US" dirty="0"/>
          </a:p>
        </p:txBody>
      </p:sp>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9</a:t>
            </a:fld>
            <a:endParaRPr lang="en-US" dirty="0">
              <a:latin typeface="Arial" panose="020B0604020202020204" pitchFamily="34" charset="0"/>
              <a:cs typeface="MS PGothic" charset="0"/>
            </a:endParaRPr>
          </a:p>
        </p:txBody>
      </p:sp>
      <p:graphicFrame>
        <p:nvGraphicFramePr>
          <p:cNvPr id="8" name="Content Placeholder 3"/>
          <p:cNvGraphicFramePr>
            <a:graphicFrameLocks/>
          </p:cNvGraphicFramePr>
          <p:nvPr>
            <p:extLst>
              <p:ext uri="{D42A27DB-BD31-4B8C-83A1-F6EECF244321}">
                <p14:modId xmlns:p14="http://schemas.microsoft.com/office/powerpoint/2010/main" val="2272966811"/>
              </p:ext>
            </p:extLst>
          </p:nvPr>
        </p:nvGraphicFramePr>
        <p:xfrm>
          <a:off x="810126" y="992068"/>
          <a:ext cx="7507706" cy="2141130"/>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856013">
                  <a:extLst>
                    <a:ext uri="{9D8B030D-6E8A-4147-A177-3AD203B41FA5}">
                      <a16:colId xmlns:a16="http://schemas.microsoft.com/office/drawing/2014/main" xmlns="" val="20000"/>
                    </a:ext>
                  </a:extLst>
                </a:gridCol>
                <a:gridCol w="1651105">
                  <a:extLst>
                    <a:ext uri="{9D8B030D-6E8A-4147-A177-3AD203B41FA5}">
                      <a16:colId xmlns:a16="http://schemas.microsoft.com/office/drawing/2014/main" xmlns="" val="20001"/>
                    </a:ext>
                  </a:extLst>
                </a:gridCol>
                <a:gridCol w="2000588">
                  <a:extLst>
                    <a:ext uri="{9D8B030D-6E8A-4147-A177-3AD203B41FA5}">
                      <a16:colId xmlns:a16="http://schemas.microsoft.com/office/drawing/2014/main" xmlns="" val="20002"/>
                    </a:ext>
                  </a:extLst>
                </a:gridCol>
              </a:tblGrid>
              <a:tr h="528014">
                <a:tc gridSpan="3">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US" sz="1800" dirty="0" smtClean="0">
                          <a:latin typeface="Arial" panose="020B0604020202020204" pitchFamily="34" charset="0"/>
                          <a:cs typeface="Arial" panose="020B0604020202020204" pitchFamily="34" charset="0"/>
                        </a:rPr>
                        <a:t>Proposed ISA 220 (Revised) – Agenda Item 4–A </a:t>
                      </a:r>
                    </a:p>
                    <a:p>
                      <a:pPr algn="ctr"/>
                      <a:endParaRPr lang="en-US" sz="1800" dirty="0">
                        <a:latin typeface="Arial" panose="020B0604020202020204" pitchFamily="34" charset="0"/>
                        <a:cs typeface="Arial" panose="020B0604020202020204" pitchFamily="34" charset="0"/>
                      </a:endParaRPr>
                    </a:p>
                  </a:txBody>
                  <a:tcPr marL="44167" marR="44167" marT="22089" marB="22089"/>
                </a:tc>
                <a:tc hMerge="1">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endParaRPr lang="en-US" sz="1800" dirty="0"/>
                    </a:p>
                  </a:txBody>
                  <a:tcPr marL="44167" marR="44167" marT="22089" marB="22089"/>
                </a:tc>
                <a:tc hMerge="1">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endParaRPr lang="en-US" sz="1800" dirty="0"/>
                    </a:p>
                  </a:txBody>
                  <a:tcPr marL="44167" marR="44167" marT="22089" marB="22089"/>
                </a:tc>
              </a:tr>
              <a:tr h="528014">
                <a:tc>
                  <a:txBody>
                    <a:bodyPr/>
                    <a:lstStyle/>
                    <a:p>
                      <a:pPr algn="ctr"/>
                      <a:r>
                        <a:rPr lang="en-US" sz="1800" b="1" dirty="0">
                          <a:solidFill>
                            <a:schemeClr val="bg1"/>
                          </a:solidFill>
                          <a:latin typeface="Arial" panose="020B0604020202020204" pitchFamily="34" charset="0"/>
                          <a:cs typeface="Arial" panose="020B0604020202020204" pitchFamily="34" charset="0"/>
                        </a:rPr>
                        <a:t>Section</a:t>
                      </a:r>
                    </a:p>
                  </a:txBody>
                  <a:tcPr marL="44167" marR="44167" marT="22089" marB="22089">
                    <a:solidFill>
                      <a:srgbClr val="F15A22"/>
                    </a:solidFill>
                  </a:tcPr>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Paragraph(s) </a:t>
                      </a:r>
                    </a:p>
                  </a:txBody>
                  <a:tcPr marL="44167" marR="44167" marT="22089" marB="22089">
                    <a:solidFill>
                      <a:srgbClr val="F15A22"/>
                    </a:solidFill>
                  </a:tcPr>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Arial" panose="020B0604020202020204" pitchFamily="34" charset="0"/>
                          <a:cs typeface="Arial" panose="020B0604020202020204" pitchFamily="34" charset="0"/>
                        </a:rPr>
                        <a:t>Application Material</a:t>
                      </a:r>
                    </a:p>
                  </a:txBody>
                  <a:tcPr marL="44167" marR="44167" marT="22089" marB="22089">
                    <a:solidFill>
                      <a:srgbClr val="F15A22"/>
                    </a:solidFill>
                  </a:tcPr>
                </a:tc>
                <a:extLst>
                  <a:ext uri="{0D108BD9-81ED-4DB2-BD59-A6C34878D82A}">
                    <a16:rowId xmlns:a16="http://schemas.microsoft.com/office/drawing/2014/main" xmlns="" val="10000"/>
                  </a:ext>
                </a:extLst>
              </a:tr>
              <a:tr h="283681">
                <a:tc>
                  <a:txBody>
                    <a:bodyPr/>
                    <a:lstStyle/>
                    <a:p>
                      <a:r>
                        <a:rPr lang="en-US" sz="1800" dirty="0">
                          <a:latin typeface="Arial" panose="020B0604020202020204" pitchFamily="34" charset="0"/>
                          <a:cs typeface="Arial" panose="020B0604020202020204" pitchFamily="34" charset="0"/>
                        </a:rPr>
                        <a:t>Introduction</a:t>
                      </a:r>
                    </a:p>
                  </a:txBody>
                  <a:tcPr marL="44167" marR="44167" marT="22089" marB="22089"/>
                </a:tc>
                <a:tc>
                  <a:txBody>
                    <a:bodyPr/>
                    <a:lstStyle/>
                    <a:p>
                      <a:pPr algn="ctr"/>
                      <a:r>
                        <a:rPr lang="en-US" sz="1800" dirty="0" smtClean="0">
                          <a:latin typeface="Arial" panose="020B0604020202020204" pitchFamily="34" charset="0"/>
                          <a:cs typeface="Arial" panose="020B0604020202020204" pitchFamily="34" charset="0"/>
                        </a:rPr>
                        <a:t>1–4C</a:t>
                      </a:r>
                      <a:endParaRPr lang="en-US" sz="1800" dirty="0">
                        <a:latin typeface="Arial" panose="020B0604020202020204" pitchFamily="34" charset="0"/>
                        <a:cs typeface="Arial" panose="020B0604020202020204" pitchFamily="34" charset="0"/>
                      </a:endParaRPr>
                    </a:p>
                  </a:txBody>
                  <a:tcPr marL="44167" marR="44167" marT="22089" marB="22089"/>
                </a:tc>
                <a:tc>
                  <a:txBody>
                    <a:bodyPr/>
                    <a:lstStyle/>
                    <a:p>
                      <a:pPr marL="0" algn="ctr" defTabSz="342900" rtl="0" eaLnBrk="1" latinLnBrk="0" hangingPunct="1"/>
                      <a:r>
                        <a:rPr lang="en-US" sz="1800" kern="1200" dirty="0">
                          <a:latin typeface="Arial" panose="020B0604020202020204" pitchFamily="34" charset="0"/>
                          <a:cs typeface="Arial" panose="020B0604020202020204" pitchFamily="34" charset="0"/>
                        </a:rPr>
                        <a:t>A0–A2F </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extLst>
                  <a:ext uri="{0D108BD9-81ED-4DB2-BD59-A6C34878D82A}">
                    <a16:rowId xmlns:a16="http://schemas.microsoft.com/office/drawing/2014/main" xmlns="" val="10001"/>
                  </a:ext>
                </a:extLst>
              </a:tr>
              <a:tr h="283681">
                <a:tc>
                  <a:txBody>
                    <a:bodyPr/>
                    <a:lstStyle/>
                    <a:p>
                      <a:r>
                        <a:rPr lang="en-US" sz="1800" dirty="0">
                          <a:latin typeface="Arial" panose="020B0604020202020204" pitchFamily="34" charset="0"/>
                          <a:cs typeface="Arial" panose="020B0604020202020204" pitchFamily="34" charset="0"/>
                        </a:rPr>
                        <a:t>Objective</a:t>
                      </a:r>
                    </a:p>
                  </a:txBody>
                  <a:tcPr marL="44167" marR="44167" marT="22089" marB="22089"/>
                </a:tc>
                <a:tc>
                  <a:txBody>
                    <a:bodyPr/>
                    <a:lstStyle/>
                    <a:p>
                      <a:pPr algn="ctr"/>
                      <a:r>
                        <a:rPr lang="en-US" sz="1800" dirty="0" smtClean="0">
                          <a:latin typeface="Arial" panose="020B0604020202020204" pitchFamily="34" charset="0"/>
                          <a:cs typeface="Arial" panose="020B0604020202020204" pitchFamily="34" charset="0"/>
                        </a:rPr>
                        <a:t>6</a:t>
                      </a:r>
                      <a:endParaRPr lang="en-US" sz="1800" dirty="0">
                        <a:latin typeface="Arial" panose="020B0604020202020204" pitchFamily="34" charset="0"/>
                        <a:cs typeface="Arial" panose="020B0604020202020204" pitchFamily="34" charset="0"/>
                      </a:endParaRPr>
                    </a:p>
                  </a:txBody>
                  <a:tcPr marL="44167" marR="44167" marT="22089" marB="22089"/>
                </a:tc>
                <a:tc>
                  <a:txBody>
                    <a:bodyPr/>
                    <a:lstStyle/>
                    <a:p>
                      <a:pPr algn="ctr"/>
                      <a:r>
                        <a:rPr lang="en-US" sz="1800" kern="1200" dirty="0">
                          <a:latin typeface="Arial" panose="020B0604020202020204" pitchFamily="34" charset="0"/>
                          <a:cs typeface="Arial" panose="020B0604020202020204" pitchFamily="34" charset="0"/>
                        </a:rPr>
                        <a:t>None</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extLst>
                  <a:ext uri="{0D108BD9-81ED-4DB2-BD59-A6C34878D82A}">
                    <a16:rowId xmlns:a16="http://schemas.microsoft.com/office/drawing/2014/main" xmlns="" val="10002"/>
                  </a:ext>
                </a:extLst>
              </a:tr>
              <a:tr h="283681">
                <a:tc>
                  <a:txBody>
                    <a:bodyPr/>
                    <a:lstStyle/>
                    <a:p>
                      <a:r>
                        <a:rPr lang="en-US" sz="1800" dirty="0" smtClean="0">
                          <a:latin typeface="Arial" panose="020B0604020202020204" pitchFamily="34" charset="0"/>
                          <a:cs typeface="Arial" panose="020B0604020202020204" pitchFamily="34" charset="0"/>
                        </a:rPr>
                        <a:t>Definitions </a:t>
                      </a:r>
                      <a:endParaRPr lang="en-US" sz="1800" dirty="0">
                        <a:latin typeface="Arial" panose="020B0604020202020204" pitchFamily="34" charset="0"/>
                        <a:cs typeface="Arial" panose="020B0604020202020204" pitchFamily="34" charset="0"/>
                      </a:endParaRPr>
                    </a:p>
                  </a:txBody>
                  <a:tcPr marL="44167" marR="44167" marT="22089" marB="22089"/>
                </a:tc>
                <a:tc>
                  <a:txBody>
                    <a:bodyPr/>
                    <a:lstStyle/>
                    <a:p>
                      <a:pPr algn="ctr"/>
                      <a:r>
                        <a:rPr lang="en-US" sz="1800" dirty="0" smtClean="0">
                          <a:latin typeface="Arial" panose="020B0604020202020204" pitchFamily="34" charset="0"/>
                          <a:cs typeface="Arial" panose="020B0604020202020204" pitchFamily="34" charset="0"/>
                        </a:rPr>
                        <a:t>7</a:t>
                      </a:r>
                      <a:endParaRPr lang="en-US" sz="1800" dirty="0">
                        <a:latin typeface="Arial" panose="020B0604020202020204" pitchFamily="34" charset="0"/>
                        <a:cs typeface="Arial" panose="020B0604020202020204" pitchFamily="34" charset="0"/>
                      </a:endParaRPr>
                    </a:p>
                  </a:txBody>
                  <a:tcPr marL="44167" marR="44167" marT="22089" marB="22089"/>
                </a:tc>
                <a:tc>
                  <a:txBody>
                    <a:bodyPr/>
                    <a:lstStyle/>
                    <a:p>
                      <a:pPr algn="ctr"/>
                      <a:r>
                        <a:rPr lang="en-US" sz="1800" kern="1200" dirty="0" smtClean="0">
                          <a:solidFill>
                            <a:schemeClr val="dk1"/>
                          </a:solidFill>
                          <a:latin typeface="Arial" panose="020B0604020202020204" pitchFamily="34" charset="0"/>
                          <a:ea typeface="+mn-ea"/>
                          <a:cs typeface="Arial" panose="020B0604020202020204" pitchFamily="34" charset="0"/>
                        </a:rPr>
                        <a:t>AH</a:t>
                      </a:r>
                      <a:r>
                        <a:rPr lang="en-US" sz="1800" kern="1200" dirty="0" smtClean="0">
                          <a:latin typeface="Arial" panose="020B0604020202020204" pitchFamily="34" charset="0"/>
                          <a:cs typeface="Arial" panose="020B0604020202020204" pitchFamily="34" charset="0"/>
                        </a:rPr>
                        <a:t>–</a:t>
                      </a:r>
                      <a:r>
                        <a:rPr lang="en-US" sz="1800" kern="1200" dirty="0" smtClean="0">
                          <a:solidFill>
                            <a:schemeClr val="dk1"/>
                          </a:solidFill>
                          <a:latin typeface="Arial" panose="020B0604020202020204" pitchFamily="34" charset="0"/>
                          <a:ea typeface="+mn-ea"/>
                          <a:cs typeface="Arial" panose="020B0604020202020204" pitchFamily="34" charset="0"/>
                        </a:rPr>
                        <a:t>A2L</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tr>
            </a:tbl>
          </a:graphicData>
        </a:graphic>
      </p:graphicFrame>
      <p:sp>
        <p:nvSpPr>
          <p:cNvPr id="2" name="Rounded Rectangle 1"/>
          <p:cNvSpPr/>
          <p:nvPr/>
        </p:nvSpPr>
        <p:spPr>
          <a:xfrm>
            <a:off x="457200" y="3288526"/>
            <a:ext cx="8229600" cy="143401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800" b="1" u="sng" dirty="0">
                <a:solidFill>
                  <a:schemeClr val="tx1">
                    <a:lumMod val="65000"/>
                    <a:lumOff val="35000"/>
                  </a:schemeClr>
                </a:solidFill>
                <a:latin typeface="Arial" panose="020B0604020202020204" pitchFamily="34" charset="0"/>
                <a:cs typeface="Arial" panose="020B0604020202020204" pitchFamily="34" charset="0"/>
              </a:rPr>
              <a:t>Key Changes from June 2018 IAASB Meeting</a:t>
            </a:r>
            <a:r>
              <a:rPr lang="en-US" sz="1800" b="1" dirty="0">
                <a:solidFill>
                  <a:schemeClr val="tx1">
                    <a:lumMod val="65000"/>
                    <a:lumOff val="35000"/>
                  </a:schemeClr>
                </a:solidFill>
                <a:latin typeface="Arial" panose="020B0604020202020204" pitchFamily="34" charset="0"/>
                <a:cs typeface="Arial" panose="020B0604020202020204" pitchFamily="34" charset="0"/>
              </a:rPr>
              <a:t>: </a:t>
            </a:r>
            <a:endParaRPr lang="en-US" sz="1800" b="1" dirty="0" smtClean="0">
              <a:solidFill>
                <a:schemeClr val="tx1">
                  <a:lumMod val="65000"/>
                  <a:lumOff val="35000"/>
                </a:schemeClr>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smtClean="0">
                <a:solidFill>
                  <a:schemeClr val="tx1">
                    <a:lumMod val="65000"/>
                    <a:lumOff val="35000"/>
                  </a:schemeClr>
                </a:solidFill>
                <a:latin typeface="Arial" panose="020B0604020202020204" pitchFamily="34" charset="0"/>
                <a:cs typeface="Arial" panose="020B0604020202020204" pitchFamily="34" charset="0"/>
              </a:rPr>
              <a:t>Explanation that audits </a:t>
            </a:r>
            <a:r>
              <a:rPr lang="en-US" sz="1800" dirty="0">
                <a:solidFill>
                  <a:schemeClr val="tx1">
                    <a:lumMod val="65000"/>
                    <a:lumOff val="35000"/>
                  </a:schemeClr>
                </a:solidFill>
                <a:latin typeface="Arial" panose="020B0604020202020204" pitchFamily="34" charset="0"/>
                <a:cs typeface="Arial" panose="020B0604020202020204" pitchFamily="34" charset="0"/>
              </a:rPr>
              <a:t>are performed in the public </a:t>
            </a:r>
            <a:r>
              <a:rPr lang="en-US" sz="1800" dirty="0" smtClean="0">
                <a:solidFill>
                  <a:schemeClr val="tx1">
                    <a:lumMod val="65000"/>
                    <a:lumOff val="35000"/>
                  </a:schemeClr>
                </a:solidFill>
                <a:latin typeface="Arial" panose="020B0604020202020204" pitchFamily="34" charset="0"/>
                <a:cs typeface="Arial" panose="020B0604020202020204" pitchFamily="34" charset="0"/>
              </a:rPr>
              <a:t>interest, importance </a:t>
            </a:r>
            <a:r>
              <a:rPr lang="en-US" sz="1800" dirty="0">
                <a:solidFill>
                  <a:schemeClr val="tx1">
                    <a:lumMod val="65000"/>
                    <a:lumOff val="35000"/>
                  </a:schemeClr>
                </a:solidFill>
                <a:latin typeface="Arial" panose="020B0604020202020204" pitchFamily="34" charset="0"/>
                <a:cs typeface="Arial" panose="020B0604020202020204" pitchFamily="34" charset="0"/>
              </a:rPr>
              <a:t>of applying </a:t>
            </a:r>
            <a:r>
              <a:rPr lang="en-US" sz="1800" dirty="0" smtClean="0">
                <a:solidFill>
                  <a:schemeClr val="tx1">
                    <a:lumMod val="65000"/>
                    <a:lumOff val="35000"/>
                  </a:schemeClr>
                </a:solidFill>
                <a:latin typeface="Arial" panose="020B0604020202020204" pitchFamily="34" charset="0"/>
                <a:cs typeface="Arial" panose="020B0604020202020204" pitchFamily="34" charset="0"/>
              </a:rPr>
              <a:t>prof. </a:t>
            </a:r>
            <a:r>
              <a:rPr lang="en-US" sz="1800" dirty="0">
                <a:solidFill>
                  <a:schemeClr val="tx1">
                    <a:lumMod val="65000"/>
                    <a:lumOff val="35000"/>
                  </a:schemeClr>
                </a:solidFill>
                <a:latin typeface="Arial" panose="020B0604020202020204" pitchFamily="34" charset="0"/>
                <a:cs typeface="Arial" panose="020B0604020202020204" pitchFamily="34" charset="0"/>
              </a:rPr>
              <a:t>judgment and </a:t>
            </a:r>
            <a:r>
              <a:rPr lang="en-US" sz="1800" dirty="0" smtClean="0">
                <a:solidFill>
                  <a:schemeClr val="tx1">
                    <a:lumMod val="65000"/>
                    <a:lumOff val="35000"/>
                  </a:schemeClr>
                </a:solidFill>
                <a:latin typeface="Arial" panose="020B0604020202020204" pitchFamily="34" charset="0"/>
                <a:cs typeface="Arial" panose="020B0604020202020204" pitchFamily="34" charset="0"/>
              </a:rPr>
              <a:t>prof. </a:t>
            </a:r>
            <a:r>
              <a:rPr lang="en-US" sz="1800" dirty="0">
                <a:solidFill>
                  <a:schemeClr val="tx1">
                    <a:lumMod val="65000"/>
                    <a:lumOff val="35000"/>
                  </a:schemeClr>
                </a:solidFill>
                <a:latin typeface="Arial" panose="020B0604020202020204" pitchFamily="34" charset="0"/>
                <a:cs typeface="Arial" panose="020B0604020202020204" pitchFamily="34" charset="0"/>
              </a:rPr>
              <a:t>skepticism in achieving </a:t>
            </a:r>
            <a:r>
              <a:rPr lang="en-US" sz="1800" dirty="0" smtClean="0">
                <a:solidFill>
                  <a:schemeClr val="tx1">
                    <a:lumMod val="65000"/>
                    <a:lumOff val="35000"/>
                  </a:schemeClr>
                </a:solidFill>
                <a:latin typeface="Arial" panose="020B0604020202020204" pitchFamily="34" charset="0"/>
                <a:cs typeface="Arial" panose="020B0604020202020204" pitchFamily="34" charset="0"/>
              </a:rPr>
              <a:t>audit </a:t>
            </a:r>
            <a:r>
              <a:rPr lang="en-US" sz="1800" dirty="0" smtClean="0">
                <a:solidFill>
                  <a:schemeClr val="tx1">
                    <a:lumMod val="65000"/>
                    <a:lumOff val="35000"/>
                  </a:schemeClr>
                </a:solidFill>
                <a:latin typeface="Arial" panose="020B0604020202020204" pitchFamily="34" charset="0"/>
                <a:cs typeface="Arial" panose="020B0604020202020204" pitchFamily="34" charset="0"/>
              </a:rPr>
              <a:t>quality (para. 4B)</a:t>
            </a:r>
            <a:endParaRPr lang="en-US" sz="1800" dirty="0" smtClean="0">
              <a:solidFill>
                <a:schemeClr val="tx1">
                  <a:lumMod val="65000"/>
                  <a:lumOff val="35000"/>
                </a:schemeClr>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smtClean="0">
                <a:solidFill>
                  <a:schemeClr val="tx1">
                    <a:lumMod val="65000"/>
                    <a:lumOff val="35000"/>
                  </a:schemeClr>
                </a:solidFill>
                <a:latin typeface="Arial" panose="020B0604020202020204" pitchFamily="34" charset="0"/>
                <a:cs typeface="Arial" panose="020B0604020202020204" pitchFamily="34" charset="0"/>
              </a:rPr>
              <a:t>Aligned objective with proposed ISQC 1 (Revised</a:t>
            </a:r>
            <a:r>
              <a:rPr lang="en-US" sz="1800" dirty="0" smtClean="0">
                <a:solidFill>
                  <a:schemeClr val="tx1">
                    <a:lumMod val="65000"/>
                    <a:lumOff val="35000"/>
                  </a:schemeClr>
                </a:solidFill>
                <a:latin typeface="Arial" panose="020B0604020202020204" pitchFamily="34" charset="0"/>
                <a:cs typeface="Arial" panose="020B0604020202020204" pitchFamily="34" charset="0"/>
              </a:rPr>
              <a:t>)</a:t>
            </a:r>
            <a:endParaRPr lang="en-US" sz="1800" dirty="0" smtClean="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91461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Introduction, Objective, and Definitions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60372813"/>
              </p:ext>
            </p:extLst>
          </p:nvPr>
        </p:nvGraphicFramePr>
        <p:xfrm>
          <a:off x="403225" y="1887136"/>
          <a:ext cx="8229600" cy="1219746"/>
        </p:xfrm>
        <a:graphic>
          <a:graphicData uri="http://schemas.openxmlformats.org/drawingml/2006/table">
            <a:tbl>
              <a:tblPr firstRow="1" bandRow="1">
                <a:tableStyleId>{5940675A-B579-460E-94D1-54222C63F5DA}</a:tableStyleId>
              </a:tblPr>
              <a:tblGrid>
                <a:gridCol w="8229600">
                  <a:extLst>
                    <a:ext uri="{9D8B030D-6E8A-4147-A177-3AD203B41FA5}">
                      <a16:colId xmlns:a16="http://schemas.microsoft.com/office/drawing/2014/main" xmlns="" val="20000"/>
                    </a:ext>
                  </a:extLst>
                </a:gridCol>
              </a:tblGrid>
              <a:tr h="1219746">
                <a:tc>
                  <a:txBody>
                    <a:bodyPr/>
                    <a:lstStyle/>
                    <a:p>
                      <a:pPr>
                        <a:spcBef>
                          <a:spcPts val="600"/>
                        </a:spcBef>
                      </a:pPr>
                      <a:r>
                        <a:rPr lang="en-US" sz="1600" b="1" u="sng" dirty="0" smtClean="0">
                          <a:solidFill>
                            <a:schemeClr val="tx1">
                              <a:lumMod val="65000"/>
                              <a:lumOff val="35000"/>
                            </a:schemeClr>
                          </a:solidFill>
                          <a:latin typeface="Arial" panose="020B0604020202020204" pitchFamily="34" charset="0"/>
                          <a:cs typeface="Arial" panose="020B0604020202020204" pitchFamily="34" charset="0"/>
                        </a:rPr>
                        <a:t>Matter </a:t>
                      </a:r>
                      <a:r>
                        <a:rPr lang="en-US" sz="1600" b="1" u="sng" dirty="0">
                          <a:solidFill>
                            <a:schemeClr val="tx1">
                              <a:lumMod val="65000"/>
                              <a:lumOff val="35000"/>
                            </a:schemeClr>
                          </a:solidFill>
                          <a:latin typeface="Arial" panose="020B0604020202020204" pitchFamily="34" charset="0"/>
                          <a:cs typeface="Arial" panose="020B0604020202020204" pitchFamily="34" charset="0"/>
                        </a:rPr>
                        <a:t>for IAASB Consideration </a:t>
                      </a:r>
                    </a:p>
                    <a:p>
                      <a:pPr marL="342900" indent="-342900" algn="l" defTabSz="342900" rtl="0" eaLnBrk="1" latinLnBrk="0" hangingPunct="1">
                        <a:spcBef>
                          <a:spcPts val="600"/>
                        </a:spcBef>
                        <a:buFont typeface="+mj-lt"/>
                        <a:buAutoNum type="arabicParenR" startAt="4"/>
                      </a:pPr>
                      <a:r>
                        <a:rPr lang="en-US" sz="1600" kern="1200" dirty="0" smtClean="0">
                          <a:solidFill>
                            <a:schemeClr val="tx1">
                              <a:lumMod val="65000"/>
                              <a:lumOff val="35000"/>
                            </a:schemeClr>
                          </a:solidFill>
                          <a:latin typeface="Arial" panose="020B0604020202020204" pitchFamily="34" charset="0"/>
                          <a:ea typeface="+mn-ea"/>
                          <a:cs typeface="Arial" panose="020B0604020202020204" pitchFamily="34" charset="0"/>
                        </a:rPr>
                        <a:t>Does the IAASB agree with the proposed changes to the introductory paragraphs, objective, and definitions and related application material (paragraphs 1-7 and A0-A2L)? </a:t>
                      </a:r>
                      <a:endParaRPr lang="en-US" sz="1600"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xmlns="" val="10000"/>
                  </a:ext>
                </a:extLst>
              </a:tr>
            </a:tbl>
          </a:graphicData>
        </a:graphic>
      </p:graphicFrame>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10</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983859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27437"/>
            <a:ext cx="8686800" cy="403875"/>
          </a:xfrm>
        </p:spPr>
        <p:txBody>
          <a:bodyPr/>
          <a:lstStyle/>
          <a:p>
            <a:r>
              <a:rPr lang="en-US" dirty="0" smtClean="0"/>
              <a:t>Leadership </a:t>
            </a:r>
            <a:r>
              <a:rPr lang="en-US" dirty="0"/>
              <a:t>Responsibilities for </a:t>
            </a:r>
            <a:r>
              <a:rPr lang="en-US" dirty="0" smtClean="0"/>
              <a:t>Managing and Achieving </a:t>
            </a:r>
            <a:r>
              <a:rPr lang="en-US" dirty="0"/>
              <a:t>Quality on Audits </a:t>
            </a:r>
          </a:p>
        </p:txBody>
      </p:sp>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11</a:t>
            </a:fld>
            <a:endParaRPr lang="en-US" dirty="0">
              <a:latin typeface="Arial" panose="020B0604020202020204" pitchFamily="34" charset="0"/>
              <a:cs typeface="MS PGothic" charset="0"/>
            </a:endParaRPr>
          </a:p>
        </p:txBody>
      </p:sp>
      <p:graphicFrame>
        <p:nvGraphicFramePr>
          <p:cNvPr id="7" name="Content Placeholder 3"/>
          <p:cNvGraphicFramePr>
            <a:graphicFrameLocks/>
          </p:cNvGraphicFramePr>
          <p:nvPr>
            <p:extLst>
              <p:ext uri="{D42A27DB-BD31-4B8C-83A1-F6EECF244321}">
                <p14:modId xmlns:p14="http://schemas.microsoft.com/office/powerpoint/2010/main" val="819555813"/>
              </p:ext>
            </p:extLst>
          </p:nvPr>
        </p:nvGraphicFramePr>
        <p:xfrm>
          <a:off x="818146" y="972052"/>
          <a:ext cx="7531770" cy="955494"/>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765885">
                  <a:extLst>
                    <a:ext uri="{9D8B030D-6E8A-4147-A177-3AD203B41FA5}">
                      <a16:colId xmlns:a16="http://schemas.microsoft.com/office/drawing/2014/main" xmlns="" val="20000"/>
                    </a:ext>
                  </a:extLst>
                </a:gridCol>
                <a:gridCol w="3765885">
                  <a:extLst>
                    <a:ext uri="{9D8B030D-6E8A-4147-A177-3AD203B41FA5}">
                      <a16:colId xmlns:a16="http://schemas.microsoft.com/office/drawing/2014/main" xmlns="" val="20001"/>
                    </a:ext>
                  </a:extLst>
                </a:gridCol>
              </a:tblGrid>
              <a:tr h="310989">
                <a:tc gridSpan="2">
                  <a:txBody>
                    <a:bodyPr/>
                    <a:lstStyle/>
                    <a:p>
                      <a:pPr algn="ctr"/>
                      <a:r>
                        <a:rPr lang="en-US" sz="1800" dirty="0">
                          <a:latin typeface="Arial" panose="020B0604020202020204" pitchFamily="34" charset="0"/>
                          <a:cs typeface="Arial" panose="020B0604020202020204" pitchFamily="34" charset="0"/>
                        </a:rPr>
                        <a:t>Proposed ISA 220 (Revised) – Agenda Item </a:t>
                      </a:r>
                      <a:r>
                        <a:rPr lang="en-US" sz="1800" dirty="0" smtClean="0">
                          <a:latin typeface="Arial" panose="020B0604020202020204" pitchFamily="34" charset="0"/>
                          <a:cs typeface="Arial" panose="020B0604020202020204" pitchFamily="34" charset="0"/>
                        </a:rPr>
                        <a:t>4–A </a:t>
                      </a:r>
                      <a:endParaRPr lang="en-US" sz="1800" dirty="0">
                        <a:latin typeface="Arial" panose="020B0604020202020204" pitchFamily="34" charset="0"/>
                        <a:cs typeface="Arial" panose="020B0604020202020204" pitchFamily="34" charset="0"/>
                      </a:endParaRPr>
                    </a:p>
                  </a:txBody>
                  <a:tcPr marL="44167" marR="44167" marT="22089" marB="22089"/>
                </a:tc>
                <a:tc hMerge="1">
                  <a:txBody>
                    <a:bodyPr/>
                    <a:lstStyle/>
                    <a:p>
                      <a:pPr algn="ctr"/>
                      <a:endParaRPr lang="en-US" sz="1800" dirty="0"/>
                    </a:p>
                  </a:txBody>
                  <a:tcPr marL="44167" marR="44167" marT="22089" marB="22089"/>
                </a:tc>
                <a:extLst>
                  <a:ext uri="{0D108BD9-81ED-4DB2-BD59-A6C34878D82A}">
                    <a16:rowId xmlns:a16="http://schemas.microsoft.com/office/drawing/2014/main" xmlns="" val="10000"/>
                  </a:ext>
                </a:extLst>
              </a:tr>
              <a:tr h="241458">
                <a:tc>
                  <a:txBody>
                    <a:bodyPr/>
                    <a:lstStyle/>
                    <a:p>
                      <a:r>
                        <a:rPr lang="en-US" sz="1800" dirty="0">
                          <a:latin typeface="Arial" panose="020B0604020202020204" pitchFamily="34" charset="0"/>
                          <a:cs typeface="Arial" panose="020B0604020202020204" pitchFamily="34" charset="0"/>
                        </a:rPr>
                        <a:t>  Paragraph(s)</a:t>
                      </a:r>
                    </a:p>
                  </a:txBody>
                  <a:tcPr marL="44167" marR="44167" marT="22089" marB="22089"/>
                </a:tc>
                <a:tc>
                  <a:txBody>
                    <a:bodyPr/>
                    <a:lstStyle/>
                    <a:p>
                      <a:pPr marL="0" algn="ctr" defTabSz="342900" rtl="0" eaLnBrk="1" latinLnBrk="0" hangingPunct="1"/>
                      <a:r>
                        <a:rPr lang="en-US" sz="1800" kern="1200" dirty="0">
                          <a:latin typeface="Arial" panose="020B0604020202020204" pitchFamily="34" charset="0"/>
                          <a:cs typeface="Arial" panose="020B0604020202020204" pitchFamily="34" charset="0"/>
                        </a:rPr>
                        <a:t>8–8B</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extLst>
                  <a:ext uri="{0D108BD9-81ED-4DB2-BD59-A6C34878D82A}">
                    <a16:rowId xmlns:a16="http://schemas.microsoft.com/office/drawing/2014/main" xmlns="" val="10001"/>
                  </a:ext>
                </a:extLst>
              </a:tr>
              <a:tr h="241458">
                <a:tc>
                  <a:txBody>
                    <a:bodyPr/>
                    <a:lstStyle/>
                    <a:p>
                      <a:r>
                        <a:rPr lang="en-US" sz="1800" dirty="0">
                          <a:latin typeface="Arial" panose="020B0604020202020204" pitchFamily="34" charset="0"/>
                          <a:cs typeface="Arial" panose="020B0604020202020204" pitchFamily="34" charset="0"/>
                        </a:rPr>
                        <a:t>  Application Material</a:t>
                      </a:r>
                    </a:p>
                  </a:txBody>
                  <a:tcPr marL="44167" marR="44167" marT="22089" marB="22089"/>
                </a:tc>
                <a:tc>
                  <a:txBody>
                    <a:bodyPr/>
                    <a:lstStyle/>
                    <a:p>
                      <a:pPr algn="ctr"/>
                      <a:r>
                        <a:rPr lang="en-US" sz="1800" kern="1200" dirty="0" smtClean="0">
                          <a:latin typeface="Arial" panose="020B0604020202020204" pitchFamily="34" charset="0"/>
                          <a:cs typeface="Arial" panose="020B0604020202020204" pitchFamily="34" charset="0"/>
                        </a:rPr>
                        <a:t>A3C–A3J</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extLst>
                  <a:ext uri="{0D108BD9-81ED-4DB2-BD59-A6C34878D82A}">
                    <a16:rowId xmlns:a16="http://schemas.microsoft.com/office/drawing/2014/main" xmlns="" val="10002"/>
                  </a:ext>
                </a:extLst>
              </a:tr>
            </a:tbl>
          </a:graphicData>
        </a:graphic>
      </p:graphicFrame>
      <p:sp>
        <p:nvSpPr>
          <p:cNvPr id="6" name="Rounded Rectangle 5"/>
          <p:cNvSpPr/>
          <p:nvPr/>
        </p:nvSpPr>
        <p:spPr>
          <a:xfrm>
            <a:off x="457200" y="2432464"/>
            <a:ext cx="8229600" cy="123552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800" b="1" u="sng" dirty="0">
                <a:solidFill>
                  <a:schemeClr val="tx1">
                    <a:lumMod val="65000"/>
                    <a:lumOff val="35000"/>
                  </a:schemeClr>
                </a:solidFill>
                <a:latin typeface="Arial" panose="020B0604020202020204" pitchFamily="34" charset="0"/>
                <a:cs typeface="Arial" panose="020B0604020202020204" pitchFamily="34" charset="0"/>
              </a:rPr>
              <a:t>Key Changes from June 2018 IAASB Meeting</a:t>
            </a:r>
            <a:r>
              <a:rPr lang="en-US" sz="1800" b="1" dirty="0">
                <a:solidFill>
                  <a:schemeClr val="tx1">
                    <a:lumMod val="65000"/>
                    <a:lumOff val="35000"/>
                  </a:schemeClr>
                </a:solidFill>
                <a:latin typeface="Arial" panose="020B0604020202020204" pitchFamily="34" charset="0"/>
                <a:cs typeface="Arial" panose="020B0604020202020204" pitchFamily="34" charset="0"/>
              </a:rPr>
              <a:t>: </a:t>
            </a:r>
            <a:endParaRPr lang="en-US" sz="1800" b="1" dirty="0" smtClean="0">
              <a:solidFill>
                <a:schemeClr val="tx1">
                  <a:lumMod val="65000"/>
                  <a:lumOff val="35000"/>
                </a:schemeClr>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smtClean="0">
                <a:solidFill>
                  <a:schemeClr val="tx1">
                    <a:lumMod val="65000"/>
                    <a:lumOff val="35000"/>
                  </a:schemeClr>
                </a:solidFill>
                <a:latin typeface="Arial" panose="020B0604020202020204" pitchFamily="34" charset="0"/>
                <a:cs typeface="Arial" panose="020B0604020202020204" pitchFamily="34" charset="0"/>
              </a:rPr>
              <a:t>Enhancements to application material to clarify how to apply the requirements</a:t>
            </a:r>
            <a:endParaRPr lang="en-US" sz="1800" dirty="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30364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27437"/>
            <a:ext cx="8686800" cy="403875"/>
          </a:xfrm>
        </p:spPr>
        <p:txBody>
          <a:bodyPr/>
          <a:lstStyle/>
          <a:p>
            <a:r>
              <a:rPr lang="en-US" dirty="0" smtClean="0"/>
              <a:t>Leadership </a:t>
            </a:r>
            <a:r>
              <a:rPr lang="en-US" dirty="0"/>
              <a:t>Responsibilities for </a:t>
            </a:r>
            <a:r>
              <a:rPr lang="en-US" dirty="0" smtClean="0"/>
              <a:t>Managing and Achieving </a:t>
            </a:r>
            <a:r>
              <a:rPr lang="en-US" dirty="0"/>
              <a:t>Quality on Audits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80198405"/>
              </p:ext>
            </p:extLst>
          </p:nvPr>
        </p:nvGraphicFramePr>
        <p:xfrm>
          <a:off x="457200" y="1861797"/>
          <a:ext cx="8229600" cy="995704"/>
        </p:xfrm>
        <a:graphic>
          <a:graphicData uri="http://schemas.openxmlformats.org/drawingml/2006/table">
            <a:tbl>
              <a:tblPr firstRow="1" bandRow="1">
                <a:tableStyleId>{5940675A-B579-460E-94D1-54222C63F5DA}</a:tableStyleId>
              </a:tblPr>
              <a:tblGrid>
                <a:gridCol w="8229600">
                  <a:extLst>
                    <a:ext uri="{9D8B030D-6E8A-4147-A177-3AD203B41FA5}">
                      <a16:colId xmlns:a16="http://schemas.microsoft.com/office/drawing/2014/main" xmlns="" val="20000"/>
                    </a:ext>
                  </a:extLst>
                </a:gridCol>
              </a:tblGrid>
              <a:tr h="995704">
                <a:tc>
                  <a:txBody>
                    <a:bodyPr/>
                    <a:lstStyle/>
                    <a:p>
                      <a:pPr>
                        <a:spcBef>
                          <a:spcPts val="450"/>
                        </a:spcBef>
                      </a:pPr>
                      <a:r>
                        <a:rPr lang="en-US" sz="1800" b="1" u="sng" dirty="0" smtClean="0">
                          <a:solidFill>
                            <a:schemeClr val="tx1">
                              <a:lumMod val="65000"/>
                              <a:lumOff val="35000"/>
                            </a:schemeClr>
                          </a:solidFill>
                          <a:latin typeface="Arial" panose="020B0604020202020204" pitchFamily="34" charset="0"/>
                          <a:cs typeface="Arial" panose="020B0604020202020204" pitchFamily="34" charset="0"/>
                        </a:rPr>
                        <a:t>Matter </a:t>
                      </a:r>
                      <a:r>
                        <a:rPr lang="en-US" sz="1800" b="1" u="sng" dirty="0">
                          <a:solidFill>
                            <a:schemeClr val="tx1">
                              <a:lumMod val="65000"/>
                              <a:lumOff val="35000"/>
                            </a:schemeClr>
                          </a:solidFill>
                          <a:latin typeface="Arial" panose="020B0604020202020204" pitchFamily="34" charset="0"/>
                          <a:cs typeface="Arial" panose="020B0604020202020204" pitchFamily="34" charset="0"/>
                        </a:rPr>
                        <a:t>for IAASB Consideration </a:t>
                      </a:r>
                    </a:p>
                    <a:p>
                      <a:pPr marL="342900" lvl="0" indent="-342900" algn="l" defTabSz="342900" rtl="0" eaLnBrk="1" latinLnBrk="0" hangingPunct="1">
                        <a:spcBef>
                          <a:spcPts val="600"/>
                        </a:spcBef>
                        <a:buFont typeface="+mj-lt"/>
                        <a:buAutoNum type="arabicParenR" startAt="5"/>
                      </a:pPr>
                      <a:r>
                        <a:rPr lang="en-US" sz="1800" kern="1200" dirty="0" smtClean="0">
                          <a:solidFill>
                            <a:schemeClr val="tx1">
                              <a:lumMod val="65000"/>
                              <a:lumOff val="35000"/>
                            </a:schemeClr>
                          </a:solidFill>
                          <a:latin typeface="Arial" panose="020B0604020202020204" pitchFamily="34" charset="0"/>
                          <a:ea typeface="+mn-ea"/>
                          <a:cs typeface="Arial" panose="020B0604020202020204" pitchFamily="34" charset="0"/>
                        </a:rPr>
                        <a:t>Does the IAASB agree with the proposed changes made to paragraphs 8–8B and the related application material at A3C–A3J in Agenda Item 4–A? </a:t>
                      </a:r>
                      <a:endParaRPr lang="en-US" sz="1800"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xmlns="" val="10000"/>
                  </a:ext>
                </a:extLst>
              </a:tr>
            </a:tbl>
          </a:graphicData>
        </a:graphic>
      </p:graphicFrame>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12</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716928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27437"/>
            <a:ext cx="8686800" cy="403875"/>
          </a:xfrm>
        </p:spPr>
        <p:txBody>
          <a:bodyPr/>
          <a:lstStyle/>
          <a:p>
            <a:r>
              <a:rPr lang="en-US" dirty="0"/>
              <a:t>Relevant Ethical Requirements, Including Independence Requirements </a:t>
            </a:r>
          </a:p>
        </p:txBody>
      </p:sp>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13</a:t>
            </a:fld>
            <a:endParaRPr lang="en-US" dirty="0">
              <a:latin typeface="Arial" panose="020B0604020202020204" pitchFamily="34" charset="0"/>
              <a:cs typeface="MS PGothic" charset="0"/>
            </a:endParaRPr>
          </a:p>
        </p:txBody>
      </p:sp>
      <p:graphicFrame>
        <p:nvGraphicFramePr>
          <p:cNvPr id="7" name="Content Placeholder 3"/>
          <p:cNvGraphicFramePr>
            <a:graphicFrameLocks/>
          </p:cNvGraphicFramePr>
          <p:nvPr>
            <p:extLst>
              <p:ext uri="{D42A27DB-BD31-4B8C-83A1-F6EECF244321}">
                <p14:modId xmlns:p14="http://schemas.microsoft.com/office/powerpoint/2010/main" val="1981606892"/>
              </p:ext>
            </p:extLst>
          </p:nvPr>
        </p:nvGraphicFramePr>
        <p:xfrm>
          <a:off x="818146" y="972052"/>
          <a:ext cx="7531770" cy="955494"/>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765885">
                  <a:extLst>
                    <a:ext uri="{9D8B030D-6E8A-4147-A177-3AD203B41FA5}">
                      <a16:colId xmlns:a16="http://schemas.microsoft.com/office/drawing/2014/main" xmlns="" val="20000"/>
                    </a:ext>
                  </a:extLst>
                </a:gridCol>
                <a:gridCol w="3765885">
                  <a:extLst>
                    <a:ext uri="{9D8B030D-6E8A-4147-A177-3AD203B41FA5}">
                      <a16:colId xmlns:a16="http://schemas.microsoft.com/office/drawing/2014/main" xmlns="" val="20001"/>
                    </a:ext>
                  </a:extLst>
                </a:gridCol>
              </a:tblGrid>
              <a:tr h="310989">
                <a:tc gridSpan="2">
                  <a:txBody>
                    <a:bodyPr/>
                    <a:lstStyle/>
                    <a:p>
                      <a:pPr algn="ctr"/>
                      <a:r>
                        <a:rPr lang="en-US" sz="1800" dirty="0">
                          <a:latin typeface="Arial" panose="020B0604020202020204" pitchFamily="34" charset="0"/>
                          <a:cs typeface="Arial" panose="020B0604020202020204" pitchFamily="34" charset="0"/>
                        </a:rPr>
                        <a:t>Proposed ISA 220 (Revised) – Agenda Item </a:t>
                      </a:r>
                      <a:r>
                        <a:rPr lang="en-US" sz="1800" dirty="0" smtClean="0">
                          <a:latin typeface="Arial" panose="020B0604020202020204" pitchFamily="34" charset="0"/>
                          <a:cs typeface="Arial" panose="020B0604020202020204" pitchFamily="34" charset="0"/>
                        </a:rPr>
                        <a:t>4–A </a:t>
                      </a:r>
                      <a:endParaRPr lang="en-US" sz="1800" dirty="0">
                        <a:latin typeface="Arial" panose="020B0604020202020204" pitchFamily="34" charset="0"/>
                        <a:cs typeface="Arial" panose="020B0604020202020204" pitchFamily="34" charset="0"/>
                      </a:endParaRPr>
                    </a:p>
                  </a:txBody>
                  <a:tcPr marL="44167" marR="44167" marT="22089" marB="22089"/>
                </a:tc>
                <a:tc hMerge="1">
                  <a:txBody>
                    <a:bodyPr/>
                    <a:lstStyle/>
                    <a:p>
                      <a:pPr algn="ctr"/>
                      <a:endParaRPr lang="en-US" sz="1800" dirty="0"/>
                    </a:p>
                  </a:txBody>
                  <a:tcPr marL="44167" marR="44167" marT="22089" marB="22089"/>
                </a:tc>
                <a:extLst>
                  <a:ext uri="{0D108BD9-81ED-4DB2-BD59-A6C34878D82A}">
                    <a16:rowId xmlns:a16="http://schemas.microsoft.com/office/drawing/2014/main" xmlns="" val="10000"/>
                  </a:ext>
                </a:extLst>
              </a:tr>
              <a:tr h="241458">
                <a:tc>
                  <a:txBody>
                    <a:bodyPr/>
                    <a:lstStyle/>
                    <a:p>
                      <a:r>
                        <a:rPr lang="en-US" sz="1800" dirty="0">
                          <a:latin typeface="Arial" panose="020B0604020202020204" pitchFamily="34" charset="0"/>
                          <a:cs typeface="Arial" panose="020B0604020202020204" pitchFamily="34" charset="0"/>
                        </a:rPr>
                        <a:t>  Paragraph(s)</a:t>
                      </a:r>
                    </a:p>
                  </a:txBody>
                  <a:tcPr marL="44167" marR="44167" marT="22089" marB="22089"/>
                </a:tc>
                <a:tc>
                  <a:txBody>
                    <a:bodyPr/>
                    <a:lstStyle/>
                    <a:p>
                      <a:pPr marL="0" algn="ctr" defTabSz="342900" rtl="0" eaLnBrk="1" latinLnBrk="0" hangingPunct="1"/>
                      <a:r>
                        <a:rPr lang="en-US" sz="1800" kern="1200" dirty="0" smtClean="0">
                          <a:latin typeface="Arial" panose="020B0604020202020204" pitchFamily="34" charset="0"/>
                          <a:cs typeface="Arial" panose="020B0604020202020204" pitchFamily="34" charset="0"/>
                        </a:rPr>
                        <a:t>9–10A</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extLst>
                  <a:ext uri="{0D108BD9-81ED-4DB2-BD59-A6C34878D82A}">
                    <a16:rowId xmlns:a16="http://schemas.microsoft.com/office/drawing/2014/main" xmlns="" val="10001"/>
                  </a:ext>
                </a:extLst>
              </a:tr>
              <a:tr h="241458">
                <a:tc>
                  <a:txBody>
                    <a:bodyPr/>
                    <a:lstStyle/>
                    <a:p>
                      <a:r>
                        <a:rPr lang="en-US" sz="1800" dirty="0">
                          <a:latin typeface="Arial" panose="020B0604020202020204" pitchFamily="34" charset="0"/>
                          <a:cs typeface="Arial" panose="020B0604020202020204" pitchFamily="34" charset="0"/>
                        </a:rPr>
                        <a:t>  Application Material</a:t>
                      </a:r>
                    </a:p>
                  </a:txBody>
                  <a:tcPr marL="44167" marR="44167" marT="22089" marB="22089"/>
                </a:tc>
                <a:tc>
                  <a:txBody>
                    <a:bodyPr/>
                    <a:lstStyle/>
                    <a:p>
                      <a:pPr algn="ctr"/>
                      <a:r>
                        <a:rPr lang="en-US" sz="1800" kern="1200" dirty="0" smtClean="0">
                          <a:latin typeface="Arial" panose="020B0604020202020204" pitchFamily="34" charset="0"/>
                          <a:cs typeface="Arial" panose="020B0604020202020204" pitchFamily="34" charset="0"/>
                        </a:rPr>
                        <a:t>A4–A7, A11C</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extLst>
                  <a:ext uri="{0D108BD9-81ED-4DB2-BD59-A6C34878D82A}">
                    <a16:rowId xmlns:a16="http://schemas.microsoft.com/office/drawing/2014/main" xmlns="" val="10002"/>
                  </a:ext>
                </a:extLst>
              </a:tr>
            </a:tbl>
          </a:graphicData>
        </a:graphic>
      </p:graphicFrame>
      <p:sp>
        <p:nvSpPr>
          <p:cNvPr id="6" name="Rounded Rectangle 5"/>
          <p:cNvSpPr/>
          <p:nvPr/>
        </p:nvSpPr>
        <p:spPr>
          <a:xfrm>
            <a:off x="457200" y="2182587"/>
            <a:ext cx="8229600" cy="160447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800" b="1" u="sng" dirty="0">
                <a:solidFill>
                  <a:schemeClr val="tx1">
                    <a:lumMod val="65000"/>
                    <a:lumOff val="35000"/>
                  </a:schemeClr>
                </a:solidFill>
                <a:latin typeface="Arial" panose="020B0604020202020204" pitchFamily="34" charset="0"/>
                <a:cs typeface="Arial" panose="020B0604020202020204" pitchFamily="34" charset="0"/>
              </a:rPr>
              <a:t>Key Changes from June 2018 IAASB Meeting</a:t>
            </a:r>
            <a:r>
              <a:rPr lang="en-US" sz="1800" b="1" dirty="0">
                <a:solidFill>
                  <a:schemeClr val="tx1">
                    <a:lumMod val="65000"/>
                    <a:lumOff val="35000"/>
                  </a:schemeClr>
                </a:solidFill>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n-US" sz="1800" dirty="0">
                <a:solidFill>
                  <a:schemeClr val="tx1">
                    <a:lumMod val="65000"/>
                    <a:lumOff val="35000"/>
                  </a:schemeClr>
                </a:solidFill>
                <a:latin typeface="Arial" panose="020B0604020202020204" pitchFamily="34" charset="0"/>
                <a:cs typeface="Arial" panose="020B0604020202020204" pitchFamily="34" charset="0"/>
              </a:rPr>
              <a:t>Enhanced </a:t>
            </a:r>
            <a:r>
              <a:rPr lang="en-US" sz="1800" dirty="0" smtClean="0">
                <a:solidFill>
                  <a:schemeClr val="tx1">
                    <a:lumMod val="65000"/>
                    <a:lumOff val="35000"/>
                  </a:schemeClr>
                </a:solidFill>
                <a:latin typeface="Arial" panose="020B0604020202020204" pitchFamily="34" charset="0"/>
                <a:cs typeface="Arial" panose="020B0604020202020204" pitchFamily="34" charset="0"/>
              </a:rPr>
              <a:t>material related </a:t>
            </a:r>
            <a:r>
              <a:rPr lang="en-US" sz="1800" dirty="0">
                <a:solidFill>
                  <a:schemeClr val="tx1">
                    <a:lumMod val="65000"/>
                    <a:lumOff val="35000"/>
                  </a:schemeClr>
                </a:solidFill>
                <a:latin typeface="Arial" panose="020B0604020202020204" pitchFamily="34" charset="0"/>
                <a:cs typeface="Arial" panose="020B0604020202020204" pitchFamily="34" charset="0"/>
              </a:rPr>
              <a:t>to the identification and evaluation of threats to compliance with </a:t>
            </a:r>
            <a:r>
              <a:rPr lang="en-US" sz="1800" dirty="0" smtClean="0">
                <a:solidFill>
                  <a:schemeClr val="tx1">
                    <a:lumMod val="65000"/>
                    <a:lumOff val="35000"/>
                  </a:schemeClr>
                </a:solidFill>
                <a:latin typeface="Arial" panose="020B0604020202020204" pitchFamily="34" charset="0"/>
                <a:cs typeface="Arial" panose="020B0604020202020204" pitchFamily="34" charset="0"/>
              </a:rPr>
              <a:t>relevant ethical </a:t>
            </a:r>
            <a:r>
              <a:rPr lang="en-US" sz="1800" dirty="0">
                <a:solidFill>
                  <a:schemeClr val="tx1">
                    <a:lumMod val="65000"/>
                    <a:lumOff val="35000"/>
                  </a:schemeClr>
                </a:solidFill>
                <a:latin typeface="Arial" panose="020B0604020202020204" pitchFamily="34" charset="0"/>
                <a:cs typeface="Arial" panose="020B0604020202020204" pitchFamily="34" charset="0"/>
              </a:rPr>
              <a:t>requirements </a:t>
            </a:r>
            <a:r>
              <a:rPr lang="en-US" sz="1800" dirty="0" smtClean="0">
                <a:solidFill>
                  <a:schemeClr val="tx1">
                    <a:lumMod val="65000"/>
                    <a:lumOff val="35000"/>
                  </a:schemeClr>
                </a:solidFill>
                <a:latin typeface="Arial" panose="020B0604020202020204" pitchFamily="34" charset="0"/>
                <a:cs typeface="Arial" panose="020B0604020202020204" pitchFamily="34" charset="0"/>
              </a:rPr>
              <a:t>(para. A4</a:t>
            </a:r>
            <a:r>
              <a:rPr lang="en-US" sz="1800" dirty="0">
                <a:solidFill>
                  <a:schemeClr val="tx1">
                    <a:lumMod val="65000"/>
                    <a:lumOff val="35000"/>
                  </a:schemeClr>
                </a:solidFill>
                <a:latin typeface="Arial" panose="020B0604020202020204" pitchFamily="34" charset="0"/>
                <a:cs typeface="Arial" panose="020B0604020202020204" pitchFamily="34" charset="0"/>
              </a:rPr>
              <a:t>DA</a:t>
            </a:r>
            <a:r>
              <a:rPr lang="en-US" sz="1800" dirty="0">
                <a:solidFill>
                  <a:schemeClr val="tx1">
                    <a:lumMod val="65000"/>
                    <a:lumOff val="35000"/>
                  </a:schemeClr>
                </a:solidFill>
                <a:latin typeface="Arial" panose="020B0604020202020204" pitchFamily="34" charset="0"/>
                <a:cs typeface="Arial" panose="020B0604020202020204" pitchFamily="34" charset="0"/>
              </a:rPr>
              <a:t>–</a:t>
            </a:r>
            <a:r>
              <a:rPr lang="en-US" sz="1800" dirty="0">
                <a:solidFill>
                  <a:schemeClr val="tx1">
                    <a:lumMod val="65000"/>
                    <a:lumOff val="35000"/>
                  </a:schemeClr>
                </a:solidFill>
                <a:latin typeface="Arial" panose="020B0604020202020204" pitchFamily="34" charset="0"/>
                <a:cs typeface="Arial" panose="020B0604020202020204" pitchFamily="34" charset="0"/>
              </a:rPr>
              <a:t>A</a:t>
            </a:r>
            <a:r>
              <a:rPr lang="en-US" sz="1800" dirty="0" smtClean="0">
                <a:solidFill>
                  <a:schemeClr val="tx1">
                    <a:lumMod val="65000"/>
                    <a:lumOff val="35000"/>
                  </a:schemeClr>
                </a:solidFill>
                <a:latin typeface="Arial" panose="020B0604020202020204" pitchFamily="34" charset="0"/>
                <a:cs typeface="Arial" panose="020B0604020202020204" pitchFamily="34" charset="0"/>
              </a:rPr>
              <a:t>4DC)</a:t>
            </a:r>
            <a:endParaRPr lang="en-US" sz="1800" dirty="0">
              <a:solidFill>
                <a:schemeClr val="tx1">
                  <a:lumMod val="65000"/>
                  <a:lumOff val="35000"/>
                </a:schemeClr>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smtClean="0">
                <a:solidFill>
                  <a:schemeClr val="tx1">
                    <a:lumMod val="65000"/>
                    <a:lumOff val="35000"/>
                  </a:schemeClr>
                </a:solidFill>
                <a:latin typeface="Arial" panose="020B0604020202020204" pitchFamily="34" charset="0"/>
                <a:cs typeface="Arial" panose="020B0604020202020204" pitchFamily="34" charset="0"/>
              </a:rPr>
              <a:t>Included </a:t>
            </a:r>
            <a:r>
              <a:rPr lang="en-US" sz="1800" dirty="0" smtClean="0">
                <a:solidFill>
                  <a:schemeClr val="tx1">
                    <a:lumMod val="65000"/>
                    <a:lumOff val="35000"/>
                  </a:schemeClr>
                </a:solidFill>
                <a:latin typeface="Arial" panose="020B0604020202020204" pitchFamily="34" charset="0"/>
                <a:cs typeface="Arial" panose="020B0604020202020204" pitchFamily="34" charset="0"/>
              </a:rPr>
              <a:t>application </a:t>
            </a:r>
            <a:r>
              <a:rPr lang="en-US" sz="1800" dirty="0" smtClean="0">
                <a:solidFill>
                  <a:schemeClr val="tx1">
                    <a:lumMod val="65000"/>
                    <a:lumOff val="35000"/>
                  </a:schemeClr>
                </a:solidFill>
                <a:latin typeface="Arial" panose="020B0604020202020204" pitchFamily="34" charset="0"/>
                <a:cs typeface="Arial" panose="020B0604020202020204" pitchFamily="34" charset="0"/>
              </a:rPr>
              <a:t>material on low audit </a:t>
            </a:r>
            <a:r>
              <a:rPr lang="en-US" sz="1800" dirty="0" smtClean="0">
                <a:solidFill>
                  <a:schemeClr val="tx1">
                    <a:lumMod val="65000"/>
                    <a:lumOff val="35000"/>
                  </a:schemeClr>
                </a:solidFill>
                <a:latin typeface="Arial" panose="020B0604020202020204" pitchFamily="34" charset="0"/>
                <a:cs typeface="Arial" panose="020B0604020202020204" pitchFamily="34" charset="0"/>
              </a:rPr>
              <a:t>fees (para. A4DB)</a:t>
            </a:r>
            <a:endParaRPr lang="en-US" sz="1800" dirty="0" smtClean="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7865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27437"/>
            <a:ext cx="8686800" cy="403875"/>
          </a:xfrm>
        </p:spPr>
        <p:txBody>
          <a:bodyPr/>
          <a:lstStyle/>
          <a:p>
            <a:r>
              <a:rPr lang="en-US" dirty="0"/>
              <a:t>Relevant Ethical Requirements, Including Independence Requirements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858414457"/>
              </p:ext>
            </p:extLst>
          </p:nvPr>
        </p:nvGraphicFramePr>
        <p:xfrm>
          <a:off x="457200" y="978569"/>
          <a:ext cx="8229600" cy="1058049"/>
        </p:xfrm>
        <a:graphic>
          <a:graphicData uri="http://schemas.openxmlformats.org/drawingml/2006/table">
            <a:tbl>
              <a:tblPr firstRow="1" bandRow="1">
                <a:tableStyleId>{5940675A-B579-460E-94D1-54222C63F5DA}</a:tableStyleId>
              </a:tblPr>
              <a:tblGrid>
                <a:gridCol w="8229600">
                  <a:extLst>
                    <a:ext uri="{9D8B030D-6E8A-4147-A177-3AD203B41FA5}">
                      <a16:colId xmlns:a16="http://schemas.microsoft.com/office/drawing/2014/main" xmlns="" val="20000"/>
                    </a:ext>
                  </a:extLst>
                </a:gridCol>
              </a:tblGrid>
              <a:tr h="1058049">
                <a:tc>
                  <a:txBody>
                    <a:bodyPr/>
                    <a:lstStyle/>
                    <a:p>
                      <a:pPr>
                        <a:spcBef>
                          <a:spcPts val="450"/>
                        </a:spcBef>
                      </a:pPr>
                      <a:r>
                        <a:rPr lang="en-US" sz="1800" b="1" u="sng" dirty="0" smtClean="0">
                          <a:solidFill>
                            <a:schemeClr val="tx1">
                              <a:lumMod val="65000"/>
                              <a:lumOff val="35000"/>
                            </a:schemeClr>
                          </a:solidFill>
                          <a:latin typeface="Arial" panose="020B0604020202020204" pitchFamily="34" charset="0"/>
                          <a:cs typeface="Arial" panose="020B0604020202020204" pitchFamily="34" charset="0"/>
                        </a:rPr>
                        <a:t>Matter </a:t>
                      </a:r>
                      <a:r>
                        <a:rPr lang="en-US" sz="1800" b="1" u="sng" dirty="0">
                          <a:solidFill>
                            <a:schemeClr val="tx1">
                              <a:lumMod val="65000"/>
                              <a:lumOff val="35000"/>
                            </a:schemeClr>
                          </a:solidFill>
                          <a:latin typeface="Arial" panose="020B0604020202020204" pitchFamily="34" charset="0"/>
                          <a:cs typeface="Arial" panose="020B0604020202020204" pitchFamily="34" charset="0"/>
                        </a:rPr>
                        <a:t>for IAASB Consideration </a:t>
                      </a:r>
                    </a:p>
                    <a:p>
                      <a:pPr marL="342900" lvl="0" indent="-342900" algn="l" defTabSz="342900" rtl="0" eaLnBrk="1" latinLnBrk="0" hangingPunct="1">
                        <a:spcBef>
                          <a:spcPts val="600"/>
                        </a:spcBef>
                        <a:buFont typeface="+mj-lt"/>
                        <a:buAutoNum type="arabicParenR" startAt="6"/>
                      </a:pPr>
                      <a:r>
                        <a:rPr lang="en-US" sz="1800" kern="1200" dirty="0" smtClean="0">
                          <a:solidFill>
                            <a:schemeClr val="tx1">
                              <a:lumMod val="65000"/>
                              <a:lumOff val="35000"/>
                            </a:schemeClr>
                          </a:solidFill>
                          <a:latin typeface="Arial" panose="020B0604020202020204" pitchFamily="34" charset="0"/>
                          <a:ea typeface="+mn-ea"/>
                          <a:cs typeface="Arial" panose="020B0604020202020204" pitchFamily="34" charset="0"/>
                        </a:rPr>
                        <a:t>Does the IAASB agree with the proposed changes made to paragraphs 9–10A and A4–A7 and A11C of Agenda Item 4–A? </a:t>
                      </a:r>
                      <a:endParaRPr lang="en-US" sz="1800"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xmlns="" val="10000"/>
                  </a:ext>
                </a:extLst>
              </a:tr>
            </a:tbl>
          </a:graphicData>
        </a:graphic>
      </p:graphicFrame>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14</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347574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27437"/>
            <a:ext cx="8686800" cy="403875"/>
          </a:xfrm>
        </p:spPr>
        <p:txBody>
          <a:bodyPr/>
          <a:lstStyle/>
          <a:p>
            <a:r>
              <a:rPr lang="en-US" dirty="0"/>
              <a:t>Acceptance and Continuance of Client Relationships and Audit Engagements</a:t>
            </a:r>
          </a:p>
        </p:txBody>
      </p:sp>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15</a:t>
            </a:fld>
            <a:endParaRPr lang="en-US" dirty="0">
              <a:latin typeface="Arial" panose="020B0604020202020204" pitchFamily="34" charset="0"/>
              <a:cs typeface="MS PGothic" charset="0"/>
            </a:endParaRPr>
          </a:p>
        </p:txBody>
      </p:sp>
      <p:graphicFrame>
        <p:nvGraphicFramePr>
          <p:cNvPr id="7" name="Content Placeholder 3"/>
          <p:cNvGraphicFramePr>
            <a:graphicFrameLocks/>
          </p:cNvGraphicFramePr>
          <p:nvPr>
            <p:extLst>
              <p:ext uri="{D42A27DB-BD31-4B8C-83A1-F6EECF244321}">
                <p14:modId xmlns:p14="http://schemas.microsoft.com/office/powerpoint/2010/main" val="1344800842"/>
              </p:ext>
            </p:extLst>
          </p:nvPr>
        </p:nvGraphicFramePr>
        <p:xfrm>
          <a:off x="818146" y="972052"/>
          <a:ext cx="7531770" cy="955494"/>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765885">
                  <a:extLst>
                    <a:ext uri="{9D8B030D-6E8A-4147-A177-3AD203B41FA5}">
                      <a16:colId xmlns:a16="http://schemas.microsoft.com/office/drawing/2014/main" xmlns="" val="20000"/>
                    </a:ext>
                  </a:extLst>
                </a:gridCol>
                <a:gridCol w="3765885">
                  <a:extLst>
                    <a:ext uri="{9D8B030D-6E8A-4147-A177-3AD203B41FA5}">
                      <a16:colId xmlns:a16="http://schemas.microsoft.com/office/drawing/2014/main" xmlns="" val="20001"/>
                    </a:ext>
                  </a:extLst>
                </a:gridCol>
              </a:tblGrid>
              <a:tr h="310989">
                <a:tc gridSpan="2">
                  <a:txBody>
                    <a:bodyPr/>
                    <a:lstStyle/>
                    <a:p>
                      <a:pPr algn="ctr"/>
                      <a:r>
                        <a:rPr lang="en-US" sz="1800" dirty="0">
                          <a:latin typeface="Arial" panose="020B0604020202020204" pitchFamily="34" charset="0"/>
                          <a:cs typeface="Arial" panose="020B0604020202020204" pitchFamily="34" charset="0"/>
                        </a:rPr>
                        <a:t>Proposed ISA 220 (Revised) – Agenda Item </a:t>
                      </a:r>
                      <a:r>
                        <a:rPr lang="en-US" sz="1800" dirty="0" smtClean="0">
                          <a:latin typeface="Arial" panose="020B0604020202020204" pitchFamily="34" charset="0"/>
                          <a:cs typeface="Arial" panose="020B0604020202020204" pitchFamily="34" charset="0"/>
                        </a:rPr>
                        <a:t>4–A </a:t>
                      </a:r>
                      <a:endParaRPr lang="en-US" sz="1800" dirty="0">
                        <a:latin typeface="Arial" panose="020B0604020202020204" pitchFamily="34" charset="0"/>
                        <a:cs typeface="Arial" panose="020B0604020202020204" pitchFamily="34" charset="0"/>
                      </a:endParaRPr>
                    </a:p>
                  </a:txBody>
                  <a:tcPr marL="44167" marR="44167" marT="22089" marB="22089"/>
                </a:tc>
                <a:tc hMerge="1">
                  <a:txBody>
                    <a:bodyPr/>
                    <a:lstStyle/>
                    <a:p>
                      <a:pPr algn="ctr"/>
                      <a:endParaRPr lang="en-US" sz="1800" dirty="0"/>
                    </a:p>
                  </a:txBody>
                  <a:tcPr marL="44167" marR="44167" marT="22089" marB="22089"/>
                </a:tc>
                <a:extLst>
                  <a:ext uri="{0D108BD9-81ED-4DB2-BD59-A6C34878D82A}">
                    <a16:rowId xmlns:a16="http://schemas.microsoft.com/office/drawing/2014/main" xmlns="" val="10000"/>
                  </a:ext>
                </a:extLst>
              </a:tr>
              <a:tr h="241458">
                <a:tc>
                  <a:txBody>
                    <a:bodyPr/>
                    <a:lstStyle/>
                    <a:p>
                      <a:r>
                        <a:rPr lang="en-US" sz="1800" dirty="0">
                          <a:latin typeface="Arial" panose="020B0604020202020204" pitchFamily="34" charset="0"/>
                          <a:cs typeface="Arial" panose="020B0604020202020204" pitchFamily="34" charset="0"/>
                        </a:rPr>
                        <a:t>  Paragraph(s)</a:t>
                      </a:r>
                    </a:p>
                  </a:txBody>
                  <a:tcPr marL="44167" marR="44167" marT="22089" marB="22089"/>
                </a:tc>
                <a:tc>
                  <a:txBody>
                    <a:bodyPr/>
                    <a:lstStyle/>
                    <a:p>
                      <a:pPr marL="0" algn="ctr" defTabSz="342900" rtl="0" eaLnBrk="1" latinLnBrk="0" hangingPunct="1"/>
                      <a:r>
                        <a:rPr lang="en-US" sz="1800" kern="1200" dirty="0" smtClean="0">
                          <a:latin typeface="Arial" panose="020B0604020202020204" pitchFamily="34" charset="0"/>
                          <a:cs typeface="Arial" panose="020B0604020202020204" pitchFamily="34" charset="0"/>
                        </a:rPr>
                        <a:t>12–13A</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extLst>
                  <a:ext uri="{0D108BD9-81ED-4DB2-BD59-A6C34878D82A}">
                    <a16:rowId xmlns:a16="http://schemas.microsoft.com/office/drawing/2014/main" xmlns="" val="10001"/>
                  </a:ext>
                </a:extLst>
              </a:tr>
              <a:tr h="241458">
                <a:tc>
                  <a:txBody>
                    <a:bodyPr/>
                    <a:lstStyle/>
                    <a:p>
                      <a:r>
                        <a:rPr lang="en-US" sz="1800" dirty="0">
                          <a:latin typeface="Arial" panose="020B0604020202020204" pitchFamily="34" charset="0"/>
                          <a:cs typeface="Arial" panose="020B0604020202020204" pitchFamily="34" charset="0"/>
                        </a:rPr>
                        <a:t>  Application Material</a:t>
                      </a:r>
                    </a:p>
                  </a:txBody>
                  <a:tcPr marL="44167" marR="44167" marT="22089" marB="22089"/>
                </a:tc>
                <a:tc>
                  <a:txBody>
                    <a:bodyPr/>
                    <a:lstStyle/>
                    <a:p>
                      <a:pPr algn="ctr"/>
                      <a:r>
                        <a:rPr lang="en-US" sz="1800" kern="1200" dirty="0" smtClean="0">
                          <a:latin typeface="Arial" panose="020B0604020202020204" pitchFamily="34" charset="0"/>
                          <a:cs typeface="Arial" panose="020B0604020202020204" pitchFamily="34" charset="0"/>
                        </a:rPr>
                        <a:t>A7A–A9</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extLst>
                  <a:ext uri="{0D108BD9-81ED-4DB2-BD59-A6C34878D82A}">
                    <a16:rowId xmlns:a16="http://schemas.microsoft.com/office/drawing/2014/main" xmlns="" val="10002"/>
                  </a:ext>
                </a:extLst>
              </a:tr>
            </a:tbl>
          </a:graphicData>
        </a:graphic>
      </p:graphicFrame>
      <p:sp>
        <p:nvSpPr>
          <p:cNvPr id="6" name="Rounded Rectangle 5"/>
          <p:cNvSpPr/>
          <p:nvPr/>
        </p:nvSpPr>
        <p:spPr>
          <a:xfrm>
            <a:off x="457200" y="2769248"/>
            <a:ext cx="8229600" cy="101781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800" b="1" u="sng" dirty="0">
                <a:solidFill>
                  <a:schemeClr val="tx1">
                    <a:lumMod val="65000"/>
                    <a:lumOff val="35000"/>
                  </a:schemeClr>
                </a:solidFill>
                <a:latin typeface="Arial" panose="020B0604020202020204" pitchFamily="34" charset="0"/>
                <a:cs typeface="Arial" panose="020B0604020202020204" pitchFamily="34" charset="0"/>
              </a:rPr>
              <a:t>Key Changes from June 2018 IAASB Meeting</a:t>
            </a:r>
            <a:r>
              <a:rPr lang="en-US" sz="1800" b="1" dirty="0">
                <a:solidFill>
                  <a:schemeClr val="tx1">
                    <a:lumMod val="65000"/>
                    <a:lumOff val="35000"/>
                  </a:schemeClr>
                </a:solidFill>
                <a:latin typeface="Arial" panose="020B0604020202020204" pitchFamily="34" charset="0"/>
                <a:cs typeface="Arial" panose="020B0604020202020204" pitchFamily="34" charset="0"/>
              </a:rPr>
              <a:t>: </a:t>
            </a:r>
            <a:endParaRPr lang="en-US" sz="1800" b="1" dirty="0" smtClean="0">
              <a:solidFill>
                <a:schemeClr val="tx1">
                  <a:lumMod val="65000"/>
                  <a:lumOff val="35000"/>
                </a:schemeClr>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smtClean="0">
                <a:solidFill>
                  <a:schemeClr val="tx1">
                    <a:lumMod val="65000"/>
                    <a:lumOff val="35000"/>
                  </a:schemeClr>
                </a:solidFill>
                <a:latin typeface="Arial" panose="020B0604020202020204" pitchFamily="34" charset="0"/>
                <a:cs typeface="Arial" panose="020B0604020202020204" pitchFamily="34" charset="0"/>
              </a:rPr>
              <a:t>Reordered </a:t>
            </a:r>
            <a:r>
              <a:rPr lang="en-US" sz="1800" dirty="0">
                <a:solidFill>
                  <a:schemeClr val="tx1">
                    <a:lumMod val="65000"/>
                    <a:lumOff val="35000"/>
                  </a:schemeClr>
                </a:solidFill>
                <a:latin typeface="Arial" panose="020B0604020202020204" pitchFamily="34" charset="0"/>
                <a:cs typeface="Arial" panose="020B0604020202020204" pitchFamily="34" charset="0"/>
              </a:rPr>
              <a:t>paragraphs 13 and </a:t>
            </a:r>
            <a:r>
              <a:rPr lang="en-US" sz="1800" dirty="0" smtClean="0">
                <a:solidFill>
                  <a:schemeClr val="tx1">
                    <a:lumMod val="65000"/>
                    <a:lumOff val="35000"/>
                  </a:schemeClr>
                </a:solidFill>
                <a:latin typeface="Arial" panose="020B0604020202020204" pitchFamily="34" charset="0"/>
                <a:cs typeface="Arial" panose="020B0604020202020204" pitchFamily="34" charset="0"/>
              </a:rPr>
              <a:t>13A</a:t>
            </a:r>
            <a:endParaRPr lang="en-US" sz="1800" dirty="0" smtClean="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7195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27437"/>
            <a:ext cx="8686800" cy="403875"/>
          </a:xfrm>
        </p:spPr>
        <p:txBody>
          <a:bodyPr/>
          <a:lstStyle/>
          <a:p>
            <a:r>
              <a:rPr lang="en-US" dirty="0"/>
              <a:t>Acceptance and Continuance of Client Relationships and Audit Engagements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06633829"/>
              </p:ext>
            </p:extLst>
          </p:nvPr>
        </p:nvGraphicFramePr>
        <p:xfrm>
          <a:off x="457200" y="2067791"/>
          <a:ext cx="8229600" cy="1089222"/>
        </p:xfrm>
        <a:graphic>
          <a:graphicData uri="http://schemas.openxmlformats.org/drawingml/2006/table">
            <a:tbl>
              <a:tblPr firstRow="1" bandRow="1">
                <a:tableStyleId>{5940675A-B579-460E-94D1-54222C63F5DA}</a:tableStyleId>
              </a:tblPr>
              <a:tblGrid>
                <a:gridCol w="8229600">
                  <a:extLst>
                    <a:ext uri="{9D8B030D-6E8A-4147-A177-3AD203B41FA5}">
                      <a16:colId xmlns:a16="http://schemas.microsoft.com/office/drawing/2014/main" xmlns="" val="20000"/>
                    </a:ext>
                  </a:extLst>
                </a:gridCol>
              </a:tblGrid>
              <a:tr h="1089222">
                <a:tc>
                  <a:txBody>
                    <a:bodyPr/>
                    <a:lstStyle/>
                    <a:p>
                      <a:pPr>
                        <a:spcBef>
                          <a:spcPts val="450"/>
                        </a:spcBef>
                      </a:pPr>
                      <a:r>
                        <a:rPr lang="en-US" sz="1800" b="1" u="sng" dirty="0" smtClean="0">
                          <a:solidFill>
                            <a:schemeClr val="tx1">
                              <a:lumMod val="65000"/>
                              <a:lumOff val="35000"/>
                            </a:schemeClr>
                          </a:solidFill>
                          <a:latin typeface="Arial" panose="020B0604020202020204" pitchFamily="34" charset="0"/>
                          <a:cs typeface="Arial" panose="020B0604020202020204" pitchFamily="34" charset="0"/>
                        </a:rPr>
                        <a:t>Matter </a:t>
                      </a:r>
                      <a:r>
                        <a:rPr lang="en-US" sz="1800" b="1" u="sng" dirty="0">
                          <a:solidFill>
                            <a:schemeClr val="tx1">
                              <a:lumMod val="65000"/>
                              <a:lumOff val="35000"/>
                            </a:schemeClr>
                          </a:solidFill>
                          <a:latin typeface="Arial" panose="020B0604020202020204" pitchFamily="34" charset="0"/>
                          <a:cs typeface="Arial" panose="020B0604020202020204" pitchFamily="34" charset="0"/>
                        </a:rPr>
                        <a:t>for IAASB Consideration </a:t>
                      </a:r>
                    </a:p>
                    <a:p>
                      <a:pPr marL="342900" lvl="0" indent="-342900" algn="l" defTabSz="342900" rtl="0" eaLnBrk="1" latinLnBrk="0" hangingPunct="1">
                        <a:spcBef>
                          <a:spcPts val="600"/>
                        </a:spcBef>
                        <a:buFont typeface="+mj-lt"/>
                        <a:buAutoNum type="arabicParenR" startAt="7"/>
                      </a:pPr>
                      <a:r>
                        <a:rPr lang="en-US" sz="1800" kern="1200" dirty="0" smtClean="0">
                          <a:solidFill>
                            <a:schemeClr val="tx1">
                              <a:lumMod val="65000"/>
                              <a:lumOff val="35000"/>
                            </a:schemeClr>
                          </a:solidFill>
                          <a:latin typeface="Arial" panose="020B0604020202020204" pitchFamily="34" charset="0"/>
                          <a:ea typeface="+mn-ea"/>
                          <a:cs typeface="Arial" panose="020B0604020202020204" pitchFamily="34" charset="0"/>
                        </a:rPr>
                        <a:t>Does the IAASB agree with the proposed changes made to paragraphs 12–13A and the related application material at A7A–A9 in Agenda Item 4–A? </a:t>
                      </a:r>
                      <a:endParaRPr lang="en-US" sz="1800"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xmlns="" val="10000"/>
                  </a:ext>
                </a:extLst>
              </a:tr>
            </a:tbl>
          </a:graphicData>
        </a:graphic>
      </p:graphicFrame>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16</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22354565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27437"/>
            <a:ext cx="8686800" cy="403875"/>
          </a:xfrm>
        </p:spPr>
        <p:txBody>
          <a:bodyPr/>
          <a:lstStyle/>
          <a:p>
            <a:r>
              <a:rPr lang="en-US" dirty="0"/>
              <a:t>Engagement Resources</a:t>
            </a:r>
          </a:p>
        </p:txBody>
      </p:sp>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17</a:t>
            </a:fld>
            <a:endParaRPr lang="en-US" dirty="0">
              <a:latin typeface="Arial" panose="020B0604020202020204" pitchFamily="34" charset="0"/>
              <a:cs typeface="MS PGothic" charset="0"/>
            </a:endParaRPr>
          </a:p>
        </p:txBody>
      </p:sp>
      <p:graphicFrame>
        <p:nvGraphicFramePr>
          <p:cNvPr id="7" name="Content Placeholder 3"/>
          <p:cNvGraphicFramePr>
            <a:graphicFrameLocks/>
          </p:cNvGraphicFramePr>
          <p:nvPr>
            <p:extLst>
              <p:ext uri="{D42A27DB-BD31-4B8C-83A1-F6EECF244321}">
                <p14:modId xmlns:p14="http://schemas.microsoft.com/office/powerpoint/2010/main" val="510977845"/>
              </p:ext>
            </p:extLst>
          </p:nvPr>
        </p:nvGraphicFramePr>
        <p:xfrm>
          <a:off x="818146" y="972052"/>
          <a:ext cx="7531770" cy="955494"/>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765885">
                  <a:extLst>
                    <a:ext uri="{9D8B030D-6E8A-4147-A177-3AD203B41FA5}">
                      <a16:colId xmlns:a16="http://schemas.microsoft.com/office/drawing/2014/main" xmlns="" val="20000"/>
                    </a:ext>
                  </a:extLst>
                </a:gridCol>
                <a:gridCol w="3765885">
                  <a:extLst>
                    <a:ext uri="{9D8B030D-6E8A-4147-A177-3AD203B41FA5}">
                      <a16:colId xmlns:a16="http://schemas.microsoft.com/office/drawing/2014/main" xmlns="" val="20001"/>
                    </a:ext>
                  </a:extLst>
                </a:gridCol>
              </a:tblGrid>
              <a:tr h="310989">
                <a:tc gridSpan="2">
                  <a:txBody>
                    <a:bodyPr/>
                    <a:lstStyle/>
                    <a:p>
                      <a:pPr algn="ctr"/>
                      <a:r>
                        <a:rPr lang="en-US" sz="1800" dirty="0">
                          <a:latin typeface="Arial" panose="020B0604020202020204" pitchFamily="34" charset="0"/>
                          <a:cs typeface="Arial" panose="020B0604020202020204" pitchFamily="34" charset="0"/>
                        </a:rPr>
                        <a:t>Proposed ISA 220 (Revised) – Agenda Item </a:t>
                      </a:r>
                      <a:r>
                        <a:rPr lang="en-US" sz="1800" dirty="0" smtClean="0">
                          <a:latin typeface="Arial" panose="020B0604020202020204" pitchFamily="34" charset="0"/>
                          <a:cs typeface="Arial" panose="020B0604020202020204" pitchFamily="34" charset="0"/>
                        </a:rPr>
                        <a:t>4–A </a:t>
                      </a:r>
                      <a:endParaRPr lang="en-US" sz="1800" dirty="0">
                        <a:latin typeface="Arial" panose="020B0604020202020204" pitchFamily="34" charset="0"/>
                        <a:cs typeface="Arial" panose="020B0604020202020204" pitchFamily="34" charset="0"/>
                      </a:endParaRPr>
                    </a:p>
                  </a:txBody>
                  <a:tcPr marL="44167" marR="44167" marT="22089" marB="22089"/>
                </a:tc>
                <a:tc hMerge="1">
                  <a:txBody>
                    <a:bodyPr/>
                    <a:lstStyle/>
                    <a:p>
                      <a:pPr algn="ctr"/>
                      <a:endParaRPr lang="en-US" sz="1800" dirty="0"/>
                    </a:p>
                  </a:txBody>
                  <a:tcPr marL="44167" marR="44167" marT="22089" marB="22089"/>
                </a:tc>
                <a:extLst>
                  <a:ext uri="{0D108BD9-81ED-4DB2-BD59-A6C34878D82A}">
                    <a16:rowId xmlns:a16="http://schemas.microsoft.com/office/drawing/2014/main" xmlns="" val="10000"/>
                  </a:ext>
                </a:extLst>
              </a:tr>
              <a:tr h="241458">
                <a:tc>
                  <a:txBody>
                    <a:bodyPr/>
                    <a:lstStyle/>
                    <a:p>
                      <a:r>
                        <a:rPr lang="en-US" sz="1800" dirty="0">
                          <a:latin typeface="Arial" panose="020B0604020202020204" pitchFamily="34" charset="0"/>
                          <a:cs typeface="Arial" panose="020B0604020202020204" pitchFamily="34" charset="0"/>
                        </a:rPr>
                        <a:t>  Paragraph(s)</a:t>
                      </a:r>
                    </a:p>
                  </a:txBody>
                  <a:tcPr marL="44167" marR="44167" marT="22089" marB="22089"/>
                </a:tc>
                <a:tc>
                  <a:txBody>
                    <a:bodyPr/>
                    <a:lstStyle/>
                    <a:p>
                      <a:pPr marL="0" algn="ctr" defTabSz="342900" rtl="0" eaLnBrk="1" latinLnBrk="0" hangingPunct="1"/>
                      <a:r>
                        <a:rPr lang="en-US" sz="1800" kern="1200" dirty="0" smtClean="0">
                          <a:latin typeface="Arial" panose="020B0604020202020204" pitchFamily="34" charset="0"/>
                          <a:cs typeface="Arial" panose="020B0604020202020204" pitchFamily="34" charset="0"/>
                        </a:rPr>
                        <a:t>14–14C</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extLst>
                  <a:ext uri="{0D108BD9-81ED-4DB2-BD59-A6C34878D82A}">
                    <a16:rowId xmlns:a16="http://schemas.microsoft.com/office/drawing/2014/main" xmlns="" val="10001"/>
                  </a:ext>
                </a:extLst>
              </a:tr>
              <a:tr h="241458">
                <a:tc>
                  <a:txBody>
                    <a:bodyPr/>
                    <a:lstStyle/>
                    <a:p>
                      <a:r>
                        <a:rPr lang="en-US" sz="1800" dirty="0">
                          <a:latin typeface="Arial" panose="020B0604020202020204" pitchFamily="34" charset="0"/>
                          <a:cs typeface="Arial" panose="020B0604020202020204" pitchFamily="34" charset="0"/>
                        </a:rPr>
                        <a:t>  Application Material</a:t>
                      </a:r>
                    </a:p>
                  </a:txBody>
                  <a:tcPr marL="44167" marR="44167" marT="22089" marB="22089"/>
                </a:tc>
                <a:tc>
                  <a:txBody>
                    <a:bodyPr/>
                    <a:lstStyle/>
                    <a:p>
                      <a:pPr algn="ctr"/>
                      <a:r>
                        <a:rPr lang="en-US" sz="1800" kern="1200" dirty="0" smtClean="0">
                          <a:latin typeface="Arial" panose="020B0604020202020204" pitchFamily="34" charset="0"/>
                          <a:cs typeface="Arial" panose="020B0604020202020204" pitchFamily="34" charset="0"/>
                        </a:rPr>
                        <a:t>A9A–A12</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extLst>
                  <a:ext uri="{0D108BD9-81ED-4DB2-BD59-A6C34878D82A}">
                    <a16:rowId xmlns:a16="http://schemas.microsoft.com/office/drawing/2014/main" xmlns="" val="10002"/>
                  </a:ext>
                </a:extLst>
              </a:tr>
            </a:tbl>
          </a:graphicData>
        </a:graphic>
      </p:graphicFrame>
      <p:sp>
        <p:nvSpPr>
          <p:cNvPr id="6" name="Rounded Rectangle 5"/>
          <p:cNvSpPr/>
          <p:nvPr/>
        </p:nvSpPr>
        <p:spPr>
          <a:xfrm>
            <a:off x="457200" y="2079670"/>
            <a:ext cx="8229600" cy="2274122"/>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800" b="1" u="sng" dirty="0">
                <a:solidFill>
                  <a:schemeClr val="tx1">
                    <a:lumMod val="65000"/>
                    <a:lumOff val="35000"/>
                  </a:schemeClr>
                </a:solidFill>
                <a:latin typeface="Arial" panose="020B0604020202020204" pitchFamily="34" charset="0"/>
                <a:cs typeface="Arial" panose="020B0604020202020204" pitchFamily="34" charset="0"/>
              </a:rPr>
              <a:t>Key Changes from June 2018 IAASB Meeting</a:t>
            </a:r>
            <a:r>
              <a:rPr lang="en-US" sz="1800" b="1" dirty="0">
                <a:solidFill>
                  <a:schemeClr val="tx1">
                    <a:lumMod val="65000"/>
                    <a:lumOff val="35000"/>
                  </a:schemeClr>
                </a:solidFill>
                <a:latin typeface="Arial" panose="020B0604020202020204" pitchFamily="34" charset="0"/>
                <a:cs typeface="Arial" panose="020B0604020202020204" pitchFamily="34" charset="0"/>
              </a:rPr>
              <a:t>: </a:t>
            </a:r>
            <a:endParaRPr lang="en-US" sz="1800" b="1" dirty="0" smtClean="0">
              <a:solidFill>
                <a:schemeClr val="tx1">
                  <a:lumMod val="65000"/>
                  <a:lumOff val="35000"/>
                </a:schemeClr>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smtClean="0">
                <a:solidFill>
                  <a:schemeClr val="tx1">
                    <a:lumMod val="65000"/>
                    <a:lumOff val="35000"/>
                  </a:schemeClr>
                </a:solidFill>
                <a:latin typeface="Arial" panose="020B0604020202020204" pitchFamily="34" charset="0"/>
                <a:cs typeface="Arial" panose="020B0604020202020204" pitchFamily="34" charset="0"/>
              </a:rPr>
              <a:t>“Competence and capabilities” of the </a:t>
            </a:r>
            <a:r>
              <a:rPr lang="en-US" sz="1800" dirty="0" smtClean="0">
                <a:solidFill>
                  <a:schemeClr val="tx1">
                    <a:lumMod val="65000"/>
                    <a:lumOff val="35000"/>
                  </a:schemeClr>
                </a:solidFill>
                <a:latin typeface="Arial" panose="020B0604020202020204" pitchFamily="34" charset="0"/>
                <a:cs typeface="Arial" panose="020B0604020202020204" pitchFamily="34" charset="0"/>
              </a:rPr>
              <a:t>ET, including sufficient time (para. 14A)</a:t>
            </a:r>
            <a:endParaRPr lang="en-US" sz="1800" dirty="0">
              <a:solidFill>
                <a:schemeClr val="tx1">
                  <a:lumMod val="65000"/>
                  <a:lumOff val="35000"/>
                </a:schemeClr>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smtClean="0">
                <a:solidFill>
                  <a:schemeClr val="tx1">
                    <a:lumMod val="65000"/>
                    <a:lumOff val="35000"/>
                  </a:schemeClr>
                </a:solidFill>
                <a:latin typeface="Arial" panose="020B0604020202020204" pitchFamily="34" charset="0"/>
                <a:cs typeface="Arial" panose="020B0604020202020204" pitchFamily="34" charset="0"/>
              </a:rPr>
              <a:t>Elevated </a:t>
            </a:r>
            <a:r>
              <a:rPr lang="en-US" sz="1800" dirty="0" smtClean="0">
                <a:solidFill>
                  <a:schemeClr val="tx1">
                    <a:lumMod val="65000"/>
                    <a:lumOff val="35000"/>
                  </a:schemeClr>
                </a:solidFill>
                <a:latin typeface="Arial" panose="020B0604020202020204" pitchFamily="34" charset="0"/>
                <a:cs typeface="Arial" panose="020B0604020202020204" pitchFamily="34" charset="0"/>
              </a:rPr>
              <a:t>material regarding communicating </a:t>
            </a:r>
            <a:r>
              <a:rPr lang="en-US" sz="1800" dirty="0">
                <a:solidFill>
                  <a:schemeClr val="tx1">
                    <a:lumMod val="65000"/>
                    <a:lumOff val="35000"/>
                  </a:schemeClr>
                </a:solidFill>
                <a:latin typeface="Arial" panose="020B0604020202020204" pitchFamily="34" charset="0"/>
                <a:cs typeface="Arial" panose="020B0604020202020204" pitchFamily="34" charset="0"/>
              </a:rPr>
              <a:t>with the appropriate person(s) within the firm when the resources are insufficient </a:t>
            </a:r>
            <a:r>
              <a:rPr lang="en-US" sz="1800" dirty="0" smtClean="0">
                <a:solidFill>
                  <a:schemeClr val="tx1">
                    <a:lumMod val="65000"/>
                    <a:lumOff val="35000"/>
                  </a:schemeClr>
                </a:solidFill>
                <a:latin typeface="Arial" panose="020B0604020202020204" pitchFamily="34" charset="0"/>
                <a:cs typeface="Arial" panose="020B0604020202020204" pitchFamily="34" charset="0"/>
              </a:rPr>
              <a:t>(para 14B)</a:t>
            </a:r>
            <a:endParaRPr lang="en-US" sz="1800" dirty="0">
              <a:solidFill>
                <a:schemeClr val="tx1">
                  <a:lumMod val="65000"/>
                  <a:lumOff val="35000"/>
                </a:schemeClr>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smtClean="0">
                <a:solidFill>
                  <a:schemeClr val="tx1">
                    <a:lumMod val="65000"/>
                    <a:lumOff val="35000"/>
                  </a:schemeClr>
                </a:solidFill>
                <a:latin typeface="Arial" panose="020B0604020202020204" pitchFamily="34" charset="0"/>
                <a:cs typeface="Arial" panose="020B0604020202020204" pitchFamily="34" charset="0"/>
              </a:rPr>
              <a:t>Acknowledgement that the </a:t>
            </a:r>
            <a:r>
              <a:rPr lang="en-US" sz="1800" dirty="0">
                <a:solidFill>
                  <a:schemeClr val="tx1">
                    <a:lumMod val="65000"/>
                    <a:lumOff val="35000"/>
                  </a:schemeClr>
                </a:solidFill>
                <a:latin typeface="Arial" panose="020B0604020202020204" pitchFamily="34" charset="0"/>
                <a:cs typeface="Arial" panose="020B0604020202020204" pitchFamily="34" charset="0"/>
              </a:rPr>
              <a:t>EP may be able to depend on the firm’s related policies or procedures when determining whether resources are sufficient </a:t>
            </a:r>
            <a:r>
              <a:rPr lang="en-US" sz="1800" dirty="0" smtClean="0">
                <a:solidFill>
                  <a:schemeClr val="tx1">
                    <a:lumMod val="65000"/>
                    <a:lumOff val="35000"/>
                  </a:schemeClr>
                </a:solidFill>
                <a:latin typeface="Arial" panose="020B0604020202020204" pitchFamily="34" charset="0"/>
                <a:cs typeface="Arial" panose="020B0604020202020204" pitchFamily="34" charset="0"/>
              </a:rPr>
              <a:t>and appropriate </a:t>
            </a:r>
            <a:r>
              <a:rPr lang="en-US" sz="1800" dirty="0" smtClean="0">
                <a:solidFill>
                  <a:schemeClr val="tx1">
                    <a:lumMod val="65000"/>
                    <a:lumOff val="35000"/>
                  </a:schemeClr>
                </a:solidFill>
                <a:latin typeface="Arial" panose="020B0604020202020204" pitchFamily="34" charset="0"/>
                <a:cs typeface="Arial" panose="020B0604020202020204" pitchFamily="34" charset="0"/>
              </a:rPr>
              <a:t>(para. A9A, A10F)</a:t>
            </a:r>
            <a:endParaRPr lang="en-US" sz="1800" dirty="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351564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27437"/>
            <a:ext cx="8686800" cy="403875"/>
          </a:xfrm>
        </p:spPr>
        <p:txBody>
          <a:bodyPr/>
          <a:lstStyle/>
          <a:p>
            <a:r>
              <a:rPr lang="en-US" dirty="0"/>
              <a:t>Engagement Resources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63435312"/>
              </p:ext>
            </p:extLst>
          </p:nvPr>
        </p:nvGraphicFramePr>
        <p:xfrm>
          <a:off x="457200" y="2121568"/>
          <a:ext cx="8229600" cy="1018673"/>
        </p:xfrm>
        <a:graphic>
          <a:graphicData uri="http://schemas.openxmlformats.org/drawingml/2006/table">
            <a:tbl>
              <a:tblPr firstRow="1" bandRow="1">
                <a:tableStyleId>{5940675A-B579-460E-94D1-54222C63F5DA}</a:tableStyleId>
              </a:tblPr>
              <a:tblGrid>
                <a:gridCol w="8229600">
                  <a:extLst>
                    <a:ext uri="{9D8B030D-6E8A-4147-A177-3AD203B41FA5}">
                      <a16:colId xmlns:a16="http://schemas.microsoft.com/office/drawing/2014/main" xmlns="" val="20000"/>
                    </a:ext>
                  </a:extLst>
                </a:gridCol>
              </a:tblGrid>
              <a:tr h="1018673">
                <a:tc>
                  <a:txBody>
                    <a:bodyPr/>
                    <a:lstStyle/>
                    <a:p>
                      <a:pPr>
                        <a:spcBef>
                          <a:spcPts val="450"/>
                        </a:spcBef>
                      </a:pPr>
                      <a:r>
                        <a:rPr lang="en-US" sz="1800" b="1" u="sng" dirty="0" smtClean="0">
                          <a:solidFill>
                            <a:schemeClr val="tx1">
                              <a:lumMod val="65000"/>
                              <a:lumOff val="35000"/>
                            </a:schemeClr>
                          </a:solidFill>
                          <a:latin typeface="Arial" panose="020B0604020202020204" pitchFamily="34" charset="0"/>
                          <a:cs typeface="Arial" panose="020B0604020202020204" pitchFamily="34" charset="0"/>
                        </a:rPr>
                        <a:t>Matter </a:t>
                      </a:r>
                      <a:r>
                        <a:rPr lang="en-US" sz="1800" b="1" u="sng" dirty="0">
                          <a:solidFill>
                            <a:schemeClr val="tx1">
                              <a:lumMod val="65000"/>
                              <a:lumOff val="35000"/>
                            </a:schemeClr>
                          </a:solidFill>
                          <a:latin typeface="Arial" panose="020B0604020202020204" pitchFamily="34" charset="0"/>
                          <a:cs typeface="Arial" panose="020B0604020202020204" pitchFamily="34" charset="0"/>
                        </a:rPr>
                        <a:t>for IAASB Consideration </a:t>
                      </a:r>
                    </a:p>
                    <a:p>
                      <a:pPr marL="342900" lvl="0" indent="-342900" algn="l" defTabSz="342900" rtl="0" eaLnBrk="1" latinLnBrk="0" hangingPunct="1">
                        <a:spcBef>
                          <a:spcPts val="600"/>
                        </a:spcBef>
                        <a:buFont typeface="+mj-lt"/>
                        <a:buAutoNum type="arabicParenR" startAt="8"/>
                      </a:pPr>
                      <a:r>
                        <a:rPr lang="en-US" sz="1800" kern="1200" dirty="0" smtClean="0">
                          <a:solidFill>
                            <a:schemeClr val="tx1">
                              <a:lumMod val="65000"/>
                              <a:lumOff val="35000"/>
                            </a:schemeClr>
                          </a:solidFill>
                          <a:latin typeface="Arial" panose="020B0604020202020204" pitchFamily="34" charset="0"/>
                          <a:ea typeface="+mn-ea"/>
                          <a:cs typeface="Arial" panose="020B0604020202020204" pitchFamily="34" charset="0"/>
                        </a:rPr>
                        <a:t>Does the IAASB agree with the proposed changes made to paragraphs 14–14C and the related application material at A9A–A12 in Agenda Item 4–A? </a:t>
                      </a:r>
                      <a:endParaRPr lang="en-US" sz="1800"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xmlns="" val="10000"/>
                  </a:ext>
                </a:extLst>
              </a:tr>
            </a:tbl>
          </a:graphicData>
        </a:graphic>
      </p:graphicFrame>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18</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9735093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27437"/>
            <a:ext cx="8686800" cy="403875"/>
          </a:xfrm>
        </p:spPr>
        <p:txBody>
          <a:bodyPr/>
          <a:lstStyle/>
          <a:p>
            <a:r>
              <a:rPr lang="en-US" dirty="0"/>
              <a:t>Engagement Performance – Direction, Supervision, and Review</a:t>
            </a:r>
          </a:p>
        </p:txBody>
      </p:sp>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19</a:t>
            </a:fld>
            <a:endParaRPr lang="en-US" dirty="0">
              <a:latin typeface="Arial" panose="020B0604020202020204" pitchFamily="34" charset="0"/>
              <a:cs typeface="MS PGothic" charset="0"/>
            </a:endParaRPr>
          </a:p>
        </p:txBody>
      </p:sp>
      <p:graphicFrame>
        <p:nvGraphicFramePr>
          <p:cNvPr id="7" name="Content Placeholder 3"/>
          <p:cNvGraphicFramePr>
            <a:graphicFrameLocks/>
          </p:cNvGraphicFramePr>
          <p:nvPr>
            <p:extLst>
              <p:ext uri="{D42A27DB-BD31-4B8C-83A1-F6EECF244321}">
                <p14:modId xmlns:p14="http://schemas.microsoft.com/office/powerpoint/2010/main" val="2077636647"/>
              </p:ext>
            </p:extLst>
          </p:nvPr>
        </p:nvGraphicFramePr>
        <p:xfrm>
          <a:off x="794084" y="972052"/>
          <a:ext cx="7555832" cy="955494"/>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777916">
                  <a:extLst>
                    <a:ext uri="{9D8B030D-6E8A-4147-A177-3AD203B41FA5}">
                      <a16:colId xmlns:a16="http://schemas.microsoft.com/office/drawing/2014/main" xmlns="" val="20000"/>
                    </a:ext>
                  </a:extLst>
                </a:gridCol>
                <a:gridCol w="3777916">
                  <a:extLst>
                    <a:ext uri="{9D8B030D-6E8A-4147-A177-3AD203B41FA5}">
                      <a16:colId xmlns:a16="http://schemas.microsoft.com/office/drawing/2014/main" xmlns="" val="20001"/>
                    </a:ext>
                  </a:extLst>
                </a:gridCol>
              </a:tblGrid>
              <a:tr h="310989">
                <a:tc gridSpan="2">
                  <a:txBody>
                    <a:bodyPr/>
                    <a:lstStyle/>
                    <a:p>
                      <a:pPr algn="ctr"/>
                      <a:r>
                        <a:rPr lang="en-US" sz="1800" dirty="0">
                          <a:latin typeface="Arial" panose="020B0604020202020204" pitchFamily="34" charset="0"/>
                          <a:cs typeface="Arial" panose="020B0604020202020204" pitchFamily="34" charset="0"/>
                        </a:rPr>
                        <a:t>Proposed ISA 220 (Revised) – Agenda Item </a:t>
                      </a:r>
                      <a:r>
                        <a:rPr lang="en-US" sz="1800" dirty="0" smtClean="0">
                          <a:latin typeface="Arial" panose="020B0604020202020204" pitchFamily="34" charset="0"/>
                          <a:cs typeface="Arial" panose="020B0604020202020204" pitchFamily="34" charset="0"/>
                        </a:rPr>
                        <a:t>4–A </a:t>
                      </a:r>
                      <a:endParaRPr lang="en-US" sz="1800" dirty="0">
                        <a:latin typeface="Arial" panose="020B0604020202020204" pitchFamily="34" charset="0"/>
                        <a:cs typeface="Arial" panose="020B0604020202020204" pitchFamily="34" charset="0"/>
                      </a:endParaRPr>
                    </a:p>
                  </a:txBody>
                  <a:tcPr marL="44167" marR="44167" marT="22089" marB="22089"/>
                </a:tc>
                <a:tc hMerge="1">
                  <a:txBody>
                    <a:bodyPr/>
                    <a:lstStyle/>
                    <a:p>
                      <a:pPr algn="ctr"/>
                      <a:endParaRPr lang="en-US" sz="1800" dirty="0"/>
                    </a:p>
                  </a:txBody>
                  <a:tcPr marL="44167" marR="44167" marT="22089" marB="22089"/>
                </a:tc>
                <a:extLst>
                  <a:ext uri="{0D108BD9-81ED-4DB2-BD59-A6C34878D82A}">
                    <a16:rowId xmlns:a16="http://schemas.microsoft.com/office/drawing/2014/main" xmlns="" val="10000"/>
                  </a:ext>
                </a:extLst>
              </a:tr>
              <a:tr h="241458">
                <a:tc>
                  <a:txBody>
                    <a:bodyPr/>
                    <a:lstStyle/>
                    <a:p>
                      <a:r>
                        <a:rPr lang="en-US" sz="1800" dirty="0">
                          <a:latin typeface="Arial" panose="020B0604020202020204" pitchFamily="34" charset="0"/>
                          <a:cs typeface="Arial" panose="020B0604020202020204" pitchFamily="34" charset="0"/>
                        </a:rPr>
                        <a:t>  Paragraph(s)</a:t>
                      </a:r>
                    </a:p>
                  </a:txBody>
                  <a:tcPr marL="44167" marR="44167" marT="22089" marB="22089"/>
                </a:tc>
                <a:tc>
                  <a:txBody>
                    <a:bodyPr/>
                    <a:lstStyle/>
                    <a:p>
                      <a:pPr marL="0" algn="ctr" defTabSz="342900" rtl="0" eaLnBrk="1" latinLnBrk="0" hangingPunct="1"/>
                      <a:r>
                        <a:rPr lang="en-US" sz="1800" kern="1200" dirty="0" smtClean="0">
                          <a:latin typeface="Arial" panose="020B0604020202020204" pitchFamily="34" charset="0"/>
                          <a:cs typeface="Arial" panose="020B0604020202020204" pitchFamily="34" charset="0"/>
                        </a:rPr>
                        <a:t>15–17C</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extLst>
                  <a:ext uri="{0D108BD9-81ED-4DB2-BD59-A6C34878D82A}">
                    <a16:rowId xmlns:a16="http://schemas.microsoft.com/office/drawing/2014/main" xmlns="" val="10001"/>
                  </a:ext>
                </a:extLst>
              </a:tr>
              <a:tr h="241458">
                <a:tc>
                  <a:txBody>
                    <a:bodyPr/>
                    <a:lstStyle/>
                    <a:p>
                      <a:r>
                        <a:rPr lang="en-US" sz="1800" dirty="0">
                          <a:latin typeface="Arial" panose="020B0604020202020204" pitchFamily="34" charset="0"/>
                          <a:cs typeface="Arial" panose="020B0604020202020204" pitchFamily="34" charset="0"/>
                        </a:rPr>
                        <a:t>  Application Material</a:t>
                      </a:r>
                    </a:p>
                  </a:txBody>
                  <a:tcPr marL="44167" marR="44167" marT="22089" marB="22089"/>
                </a:tc>
                <a:tc>
                  <a:txBody>
                    <a:bodyPr/>
                    <a:lstStyle/>
                    <a:p>
                      <a:pPr algn="ctr"/>
                      <a:r>
                        <a:rPr lang="en-US" sz="1800" kern="1200" dirty="0" smtClean="0">
                          <a:latin typeface="Arial" panose="020B0604020202020204" pitchFamily="34" charset="0"/>
                          <a:cs typeface="Arial" panose="020B0604020202020204" pitchFamily="34" charset="0"/>
                        </a:rPr>
                        <a:t>A12A–A19E</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extLst>
                  <a:ext uri="{0D108BD9-81ED-4DB2-BD59-A6C34878D82A}">
                    <a16:rowId xmlns:a16="http://schemas.microsoft.com/office/drawing/2014/main" xmlns="" val="10002"/>
                  </a:ext>
                </a:extLst>
              </a:tr>
            </a:tbl>
          </a:graphicData>
        </a:graphic>
      </p:graphicFrame>
      <p:sp>
        <p:nvSpPr>
          <p:cNvPr id="6" name="Rounded Rectangle 5"/>
          <p:cNvSpPr/>
          <p:nvPr/>
        </p:nvSpPr>
        <p:spPr>
          <a:xfrm>
            <a:off x="457200" y="2068286"/>
            <a:ext cx="8229600" cy="1558141"/>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800" b="1" u="sng" dirty="0">
                <a:solidFill>
                  <a:schemeClr val="tx1">
                    <a:lumMod val="65000"/>
                    <a:lumOff val="35000"/>
                  </a:schemeClr>
                </a:solidFill>
                <a:latin typeface="Arial" panose="020B0604020202020204" pitchFamily="34" charset="0"/>
                <a:cs typeface="Arial" panose="020B0604020202020204" pitchFamily="34" charset="0"/>
              </a:rPr>
              <a:t>Key Changes from June 2018 IAASB Meeting</a:t>
            </a:r>
            <a:r>
              <a:rPr lang="en-US" sz="1800" b="1" dirty="0">
                <a:solidFill>
                  <a:schemeClr val="tx1">
                    <a:lumMod val="65000"/>
                    <a:lumOff val="35000"/>
                  </a:schemeClr>
                </a:solidFill>
                <a:latin typeface="Arial" panose="020B0604020202020204" pitchFamily="34" charset="0"/>
                <a:cs typeface="Arial" panose="020B0604020202020204" pitchFamily="34" charset="0"/>
              </a:rPr>
              <a:t>: </a:t>
            </a:r>
            <a:endParaRPr lang="en-US" sz="1800" b="1" dirty="0" smtClean="0">
              <a:solidFill>
                <a:schemeClr val="tx1">
                  <a:lumMod val="65000"/>
                  <a:lumOff val="35000"/>
                </a:schemeClr>
              </a:solidFill>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US" sz="1800" dirty="0" smtClean="0">
                <a:solidFill>
                  <a:schemeClr val="tx1">
                    <a:lumMod val="65000"/>
                    <a:lumOff val="35000"/>
                  </a:schemeClr>
                </a:solidFill>
                <a:latin typeface="Arial" panose="020B0604020202020204" pitchFamily="34" charset="0"/>
                <a:cs typeface="Arial" panose="020B0604020202020204" pitchFamily="34" charset="0"/>
              </a:rPr>
              <a:t>Clarify </a:t>
            </a:r>
            <a:r>
              <a:rPr lang="en-US" sz="1800" dirty="0" smtClean="0">
                <a:solidFill>
                  <a:schemeClr val="tx1">
                    <a:lumMod val="65000"/>
                    <a:lumOff val="35000"/>
                  </a:schemeClr>
                </a:solidFill>
                <a:latin typeface="Arial" panose="020B0604020202020204" pitchFamily="34" charset="0"/>
                <a:cs typeface="Arial" panose="020B0604020202020204" pitchFamily="34" charset="0"/>
              </a:rPr>
              <a:t>that the EP’s review shall </a:t>
            </a:r>
            <a:r>
              <a:rPr lang="en-US" sz="1800" dirty="0">
                <a:solidFill>
                  <a:schemeClr val="tx1">
                    <a:lumMod val="65000"/>
                    <a:lumOff val="35000"/>
                  </a:schemeClr>
                </a:solidFill>
                <a:latin typeface="Arial" panose="020B0604020202020204" pitchFamily="34" charset="0"/>
                <a:cs typeface="Arial" panose="020B0604020202020204" pitchFamily="34" charset="0"/>
              </a:rPr>
              <a:t>occur at appropriate points in </a:t>
            </a:r>
            <a:r>
              <a:rPr lang="en-US" sz="1800" dirty="0" smtClean="0">
                <a:solidFill>
                  <a:schemeClr val="tx1">
                    <a:lumMod val="65000"/>
                    <a:lumOff val="35000"/>
                  </a:schemeClr>
                </a:solidFill>
                <a:latin typeface="Arial" panose="020B0604020202020204" pitchFamily="34" charset="0"/>
                <a:cs typeface="Arial" panose="020B0604020202020204" pitchFamily="34" charset="0"/>
              </a:rPr>
              <a:t>time (para. 17A)</a:t>
            </a:r>
            <a:endParaRPr lang="en-US" sz="1800" dirty="0" smtClean="0">
              <a:solidFill>
                <a:schemeClr val="tx1">
                  <a:lumMod val="65000"/>
                  <a:lumOff val="35000"/>
                </a:schemeClr>
              </a:solidFill>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US" sz="1800" dirty="0" smtClean="0">
                <a:solidFill>
                  <a:schemeClr val="tx1">
                    <a:lumMod val="65000"/>
                    <a:lumOff val="35000"/>
                  </a:schemeClr>
                </a:solidFill>
                <a:latin typeface="Arial" panose="020B0604020202020204" pitchFamily="34" charset="0"/>
                <a:cs typeface="Arial" panose="020B0604020202020204" pitchFamily="34" charset="0"/>
              </a:rPr>
              <a:t>EP to use </a:t>
            </a:r>
            <a:r>
              <a:rPr lang="en-US" sz="1800" dirty="0">
                <a:solidFill>
                  <a:schemeClr val="tx1">
                    <a:lumMod val="65000"/>
                    <a:lumOff val="35000"/>
                  </a:schemeClr>
                </a:solidFill>
                <a:latin typeface="Arial" panose="020B0604020202020204" pitchFamily="34" charset="0"/>
                <a:cs typeface="Arial" panose="020B0604020202020204" pitchFamily="34" charset="0"/>
              </a:rPr>
              <a:t>professional judgment in determining which audit documentation to review beyond documentation required to be </a:t>
            </a:r>
            <a:r>
              <a:rPr lang="en-US" sz="1800" dirty="0" smtClean="0">
                <a:solidFill>
                  <a:schemeClr val="tx1">
                    <a:lumMod val="65000"/>
                    <a:lumOff val="35000"/>
                  </a:schemeClr>
                </a:solidFill>
                <a:latin typeface="Arial" panose="020B0604020202020204" pitchFamily="34" charset="0"/>
                <a:cs typeface="Arial" panose="020B0604020202020204" pitchFamily="34" charset="0"/>
              </a:rPr>
              <a:t>reviewed (para. 17A(c))</a:t>
            </a:r>
            <a:endParaRPr lang="en-US" sz="1800" dirty="0">
              <a:solidFill>
                <a:schemeClr val="tx1">
                  <a:lumMod val="65000"/>
                  <a:lumOff val="35000"/>
                </a:schemeClr>
              </a:solidFill>
              <a:latin typeface="Arial" panose="020B0604020202020204" pitchFamily="34" charset="0"/>
              <a:cs typeface="Arial" panose="020B0604020202020204" pitchFamily="34" charset="0"/>
            </a:endParaRPr>
          </a:p>
        </p:txBody>
      </p:sp>
      <p:graphicFrame>
        <p:nvGraphicFramePr>
          <p:cNvPr id="8" name="Content Placeholder 3"/>
          <p:cNvGraphicFramePr>
            <a:graphicFrameLocks noGrp="1"/>
          </p:cNvGraphicFramePr>
          <p:nvPr>
            <p:ph idx="1"/>
            <p:extLst>
              <p:ext uri="{D42A27DB-BD31-4B8C-83A1-F6EECF244321}">
                <p14:modId xmlns:p14="http://schemas.microsoft.com/office/powerpoint/2010/main" val="1757092821"/>
              </p:ext>
            </p:extLst>
          </p:nvPr>
        </p:nvGraphicFramePr>
        <p:xfrm>
          <a:off x="457200" y="3854631"/>
          <a:ext cx="8437418" cy="1018673"/>
        </p:xfrm>
        <a:graphic>
          <a:graphicData uri="http://schemas.openxmlformats.org/drawingml/2006/table">
            <a:tbl>
              <a:tblPr firstRow="1" bandRow="1">
                <a:tableStyleId>{5940675A-B579-460E-94D1-54222C63F5DA}</a:tableStyleId>
              </a:tblPr>
              <a:tblGrid>
                <a:gridCol w="8437418">
                  <a:extLst>
                    <a:ext uri="{9D8B030D-6E8A-4147-A177-3AD203B41FA5}">
                      <a16:colId xmlns:a16="http://schemas.microsoft.com/office/drawing/2014/main" xmlns="" val="20000"/>
                    </a:ext>
                  </a:extLst>
                </a:gridCol>
              </a:tblGrid>
              <a:tr h="1018673">
                <a:tc>
                  <a:txBody>
                    <a:bodyPr/>
                    <a:lstStyle/>
                    <a:p>
                      <a:pPr>
                        <a:spcBef>
                          <a:spcPts val="450"/>
                        </a:spcBef>
                      </a:pPr>
                      <a:r>
                        <a:rPr lang="en-US" sz="1800" b="1" u="sng" dirty="0" smtClean="0">
                          <a:solidFill>
                            <a:schemeClr val="tx1">
                              <a:lumMod val="65000"/>
                              <a:lumOff val="35000"/>
                            </a:schemeClr>
                          </a:solidFill>
                          <a:latin typeface="Arial" panose="020B0604020202020204" pitchFamily="34" charset="0"/>
                          <a:cs typeface="Arial" panose="020B0604020202020204" pitchFamily="34" charset="0"/>
                        </a:rPr>
                        <a:t>Matter </a:t>
                      </a:r>
                      <a:r>
                        <a:rPr lang="en-US" sz="1800" b="1" u="sng" dirty="0">
                          <a:solidFill>
                            <a:schemeClr val="tx1">
                              <a:lumMod val="65000"/>
                              <a:lumOff val="35000"/>
                            </a:schemeClr>
                          </a:solidFill>
                          <a:latin typeface="Arial" panose="020B0604020202020204" pitchFamily="34" charset="0"/>
                          <a:cs typeface="Arial" panose="020B0604020202020204" pitchFamily="34" charset="0"/>
                        </a:rPr>
                        <a:t>for IAASB Consideration </a:t>
                      </a:r>
                    </a:p>
                    <a:p>
                      <a:pPr marL="342900" lvl="0" indent="-342900" algn="l" defTabSz="342900" rtl="0" eaLnBrk="1" latinLnBrk="0" hangingPunct="1">
                        <a:spcBef>
                          <a:spcPts val="600"/>
                        </a:spcBef>
                        <a:buFont typeface="+mj-lt"/>
                        <a:buAutoNum type="arabicParenR" startAt="9"/>
                      </a:pPr>
                      <a:r>
                        <a:rPr lang="en-US" sz="1800" kern="1200" dirty="0" smtClean="0">
                          <a:solidFill>
                            <a:schemeClr val="tx1">
                              <a:lumMod val="65000"/>
                              <a:lumOff val="35000"/>
                            </a:schemeClr>
                          </a:solidFill>
                          <a:latin typeface="Arial" panose="020B0604020202020204" pitchFamily="34" charset="0"/>
                          <a:ea typeface="+mn-ea"/>
                          <a:cs typeface="Arial" panose="020B0604020202020204" pitchFamily="34" charset="0"/>
                        </a:rPr>
                        <a:t>Does the IAASB agree with the proposed changes made to paragraphs 15–17C and the related application material at A12A–A19E in Agenda Item 4–A? </a:t>
                      </a:r>
                      <a:endParaRPr lang="en-US" sz="1800"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solidFill>
                      <a:schemeClr val="bg1"/>
                    </a:solidFill>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36379171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03225" y="427437"/>
            <a:ext cx="8740775" cy="403875"/>
          </a:xfrm>
        </p:spPr>
        <p:txBody>
          <a:bodyPr/>
          <a:lstStyle/>
          <a:p>
            <a:r>
              <a:rPr lang="en-US" dirty="0" smtClean="0"/>
              <a:t>Other </a:t>
            </a:r>
            <a:r>
              <a:rPr lang="en-US" dirty="0"/>
              <a:t>Sections</a:t>
            </a:r>
          </a:p>
        </p:txBody>
      </p:sp>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20</a:t>
            </a:fld>
            <a:endParaRPr lang="en-US" dirty="0">
              <a:latin typeface="Arial" panose="020B0604020202020204" pitchFamily="34" charset="0"/>
              <a:cs typeface="MS PGothic" charset="0"/>
            </a:endParaRPr>
          </a:p>
        </p:txBody>
      </p:sp>
      <p:graphicFrame>
        <p:nvGraphicFramePr>
          <p:cNvPr id="7" name="Content Placeholder 3"/>
          <p:cNvGraphicFramePr>
            <a:graphicFrameLocks/>
          </p:cNvGraphicFramePr>
          <p:nvPr>
            <p:extLst>
              <p:ext uri="{D42A27DB-BD31-4B8C-83A1-F6EECF244321}">
                <p14:modId xmlns:p14="http://schemas.microsoft.com/office/powerpoint/2010/main" val="2531847030"/>
              </p:ext>
            </p:extLst>
          </p:nvPr>
        </p:nvGraphicFramePr>
        <p:xfrm>
          <a:off x="786063" y="980085"/>
          <a:ext cx="7555831" cy="1866810"/>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880731">
                  <a:extLst>
                    <a:ext uri="{9D8B030D-6E8A-4147-A177-3AD203B41FA5}">
                      <a16:colId xmlns:a16="http://schemas.microsoft.com/office/drawing/2014/main" xmlns="" val="20000"/>
                    </a:ext>
                  </a:extLst>
                </a:gridCol>
                <a:gridCol w="1661688">
                  <a:extLst>
                    <a:ext uri="{9D8B030D-6E8A-4147-A177-3AD203B41FA5}">
                      <a16:colId xmlns:a16="http://schemas.microsoft.com/office/drawing/2014/main" xmlns="" val="20001"/>
                    </a:ext>
                  </a:extLst>
                </a:gridCol>
                <a:gridCol w="2013412">
                  <a:extLst>
                    <a:ext uri="{9D8B030D-6E8A-4147-A177-3AD203B41FA5}">
                      <a16:colId xmlns:a16="http://schemas.microsoft.com/office/drawing/2014/main" xmlns="" val="20002"/>
                    </a:ext>
                  </a:extLst>
                </a:gridCol>
              </a:tblGrid>
              <a:tr h="587390">
                <a:tc>
                  <a:txBody>
                    <a:bodyPr/>
                    <a:lstStyle/>
                    <a:p>
                      <a:pPr algn="ctr"/>
                      <a:r>
                        <a:rPr lang="en-US" sz="1800" dirty="0">
                          <a:latin typeface="Arial" panose="020B0604020202020204" pitchFamily="34" charset="0"/>
                          <a:cs typeface="Arial" panose="020B0604020202020204" pitchFamily="34" charset="0"/>
                        </a:rPr>
                        <a:t>Section</a:t>
                      </a:r>
                    </a:p>
                  </a:txBody>
                  <a:tcPr marL="44167" marR="44167" marT="22089" marB="22089"/>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US" sz="1800" dirty="0">
                          <a:latin typeface="Arial" panose="020B0604020202020204" pitchFamily="34" charset="0"/>
                          <a:cs typeface="Arial" panose="020B0604020202020204" pitchFamily="34" charset="0"/>
                        </a:rPr>
                        <a:t>Paragraph(s) </a:t>
                      </a:r>
                    </a:p>
                  </a:txBody>
                  <a:tcPr marL="44167" marR="44167" marT="22089" marB="22089"/>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US" sz="1800" dirty="0">
                          <a:latin typeface="Arial" panose="020B0604020202020204" pitchFamily="34" charset="0"/>
                          <a:cs typeface="Arial" panose="020B0604020202020204" pitchFamily="34" charset="0"/>
                        </a:rPr>
                        <a:t>Application Material</a:t>
                      </a:r>
                    </a:p>
                  </a:txBody>
                  <a:tcPr marL="44167" marR="44167" marT="22089" marB="22089"/>
                </a:tc>
                <a:extLst>
                  <a:ext uri="{0D108BD9-81ED-4DB2-BD59-A6C34878D82A}">
                    <a16:rowId xmlns:a16="http://schemas.microsoft.com/office/drawing/2014/main" xmlns="" val="10000"/>
                  </a:ext>
                </a:extLst>
              </a:tr>
              <a:tr h="241458">
                <a:tc>
                  <a:txBody>
                    <a:bodyPr/>
                    <a:lstStyle/>
                    <a:p>
                      <a:r>
                        <a:rPr lang="en-US" sz="1800" dirty="0">
                          <a:latin typeface="Arial" panose="020B0604020202020204" pitchFamily="34" charset="0"/>
                          <a:cs typeface="Arial" panose="020B0604020202020204" pitchFamily="34" charset="0"/>
                        </a:rPr>
                        <a:t>Consultation</a:t>
                      </a:r>
                    </a:p>
                  </a:txBody>
                  <a:tcPr marL="44167" marR="44167" marT="22089" marB="22089"/>
                </a:tc>
                <a:tc>
                  <a:txBody>
                    <a:bodyPr/>
                    <a:lstStyle/>
                    <a:p>
                      <a:pPr algn="ctr"/>
                      <a:r>
                        <a:rPr lang="en-US" sz="1800" dirty="0" smtClean="0">
                          <a:latin typeface="Arial" panose="020B0604020202020204" pitchFamily="34" charset="0"/>
                          <a:cs typeface="Arial" panose="020B0604020202020204" pitchFamily="34" charset="0"/>
                        </a:rPr>
                        <a:t>18</a:t>
                      </a:r>
                      <a:endParaRPr lang="en-US" sz="1800" dirty="0">
                        <a:latin typeface="Arial" panose="020B0604020202020204" pitchFamily="34" charset="0"/>
                        <a:cs typeface="Arial" panose="020B0604020202020204" pitchFamily="34" charset="0"/>
                      </a:endParaRPr>
                    </a:p>
                  </a:txBody>
                  <a:tcPr marL="44167" marR="44167" marT="22089" marB="22089"/>
                </a:tc>
                <a:tc>
                  <a:txBody>
                    <a:bodyPr/>
                    <a:lstStyle/>
                    <a:p>
                      <a:pPr marL="0" algn="ctr" defTabSz="342900" rtl="0" eaLnBrk="1" latinLnBrk="0" hangingPunct="1"/>
                      <a:r>
                        <a:rPr lang="en-US" sz="1800" kern="1200" dirty="0" smtClean="0">
                          <a:latin typeface="Arial" panose="020B0604020202020204" pitchFamily="34" charset="0"/>
                          <a:cs typeface="Arial" panose="020B0604020202020204" pitchFamily="34" charset="0"/>
                        </a:rPr>
                        <a:t>A19G–A22A </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extLst>
                  <a:ext uri="{0D108BD9-81ED-4DB2-BD59-A6C34878D82A}">
                    <a16:rowId xmlns:a16="http://schemas.microsoft.com/office/drawing/2014/main" xmlns="" val="10001"/>
                  </a:ext>
                </a:extLst>
              </a:tr>
              <a:tr h="241458">
                <a:tc>
                  <a:txBody>
                    <a:bodyPr/>
                    <a:lstStyle/>
                    <a:p>
                      <a:r>
                        <a:rPr lang="en-US" sz="1800" dirty="0">
                          <a:latin typeface="Arial" panose="020B0604020202020204" pitchFamily="34" charset="0"/>
                          <a:cs typeface="Arial" panose="020B0604020202020204" pitchFamily="34" charset="0"/>
                        </a:rPr>
                        <a:t>Engagement </a:t>
                      </a:r>
                      <a:r>
                        <a:rPr lang="en-US" sz="1800" dirty="0" smtClean="0">
                          <a:latin typeface="Arial" panose="020B0604020202020204" pitchFamily="34" charset="0"/>
                          <a:cs typeface="Arial" panose="020B0604020202020204" pitchFamily="34" charset="0"/>
                        </a:rPr>
                        <a:t>Quality Review</a:t>
                      </a:r>
                      <a:endParaRPr lang="en-US" sz="1800" dirty="0">
                        <a:latin typeface="Arial" panose="020B0604020202020204" pitchFamily="34" charset="0"/>
                        <a:cs typeface="Arial" panose="020B0604020202020204" pitchFamily="34" charset="0"/>
                      </a:endParaRPr>
                    </a:p>
                  </a:txBody>
                  <a:tcPr marL="44167" marR="44167" marT="22089" marB="22089"/>
                </a:tc>
                <a:tc>
                  <a:txBody>
                    <a:bodyPr/>
                    <a:lstStyle/>
                    <a:p>
                      <a:pPr algn="ctr"/>
                      <a:r>
                        <a:rPr lang="en-US" sz="1800" dirty="0" smtClean="0">
                          <a:latin typeface="Arial" panose="020B0604020202020204" pitchFamily="34" charset="0"/>
                          <a:cs typeface="Arial" panose="020B0604020202020204" pitchFamily="34" charset="0"/>
                        </a:rPr>
                        <a:t>19</a:t>
                      </a:r>
                      <a:endParaRPr lang="en-US" sz="1800" dirty="0">
                        <a:latin typeface="Arial" panose="020B0604020202020204" pitchFamily="34" charset="0"/>
                        <a:cs typeface="Arial" panose="020B0604020202020204" pitchFamily="34" charset="0"/>
                      </a:endParaRPr>
                    </a:p>
                  </a:txBody>
                  <a:tcPr marL="44167" marR="44167" marT="22089" marB="22089"/>
                </a:tc>
                <a:tc>
                  <a:txBody>
                    <a:bodyPr/>
                    <a:lstStyle/>
                    <a:p>
                      <a:pPr algn="ctr"/>
                      <a:r>
                        <a:rPr lang="en-US" sz="1800" kern="1200" dirty="0">
                          <a:latin typeface="Arial" panose="020B0604020202020204" pitchFamily="34" charset="0"/>
                          <a:cs typeface="Arial" panose="020B0604020202020204" pitchFamily="34" charset="0"/>
                        </a:rPr>
                        <a:t>A23–A25A</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extLst>
                  <a:ext uri="{0D108BD9-81ED-4DB2-BD59-A6C34878D82A}">
                    <a16:rowId xmlns:a16="http://schemas.microsoft.com/office/drawing/2014/main" xmlns="" val="10002"/>
                  </a:ext>
                </a:extLst>
              </a:tr>
              <a:tr h="241458">
                <a:tc>
                  <a:txBody>
                    <a:bodyPr/>
                    <a:lstStyle/>
                    <a:p>
                      <a:r>
                        <a:rPr lang="en-US" sz="1800" dirty="0">
                          <a:latin typeface="Arial" panose="020B0604020202020204" pitchFamily="34" charset="0"/>
                          <a:cs typeface="Arial" panose="020B0604020202020204" pitchFamily="34" charset="0"/>
                        </a:rPr>
                        <a:t>Differences of Opinion</a:t>
                      </a:r>
                    </a:p>
                  </a:txBody>
                  <a:tcPr marL="44167" marR="44167" marT="22089" marB="22089"/>
                </a:tc>
                <a:tc>
                  <a:txBody>
                    <a:bodyPr/>
                    <a:lstStyle/>
                    <a:p>
                      <a:pPr algn="ctr"/>
                      <a:r>
                        <a:rPr lang="en-US" sz="1800" dirty="0">
                          <a:latin typeface="Arial" panose="020B0604020202020204" pitchFamily="34" charset="0"/>
                          <a:cs typeface="Arial" panose="020B0604020202020204" pitchFamily="34" charset="0"/>
                        </a:rPr>
                        <a:t>22–22A </a:t>
                      </a:r>
                    </a:p>
                  </a:txBody>
                  <a:tcPr marL="44167" marR="44167" marT="22089" marB="22089"/>
                </a:tc>
                <a:tc>
                  <a:txBody>
                    <a:bodyPr/>
                    <a:lstStyle/>
                    <a:p>
                      <a:pPr algn="ctr"/>
                      <a:r>
                        <a:rPr lang="en-US" sz="1800" kern="1200" dirty="0">
                          <a:latin typeface="Arial" panose="020B0604020202020204" pitchFamily="34" charset="0"/>
                          <a:cs typeface="Arial" panose="020B0604020202020204" pitchFamily="34" charset="0"/>
                        </a:rPr>
                        <a:t>A32A–A32B</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extLst>
                  <a:ext uri="{0D108BD9-81ED-4DB2-BD59-A6C34878D82A}">
                    <a16:rowId xmlns:a16="http://schemas.microsoft.com/office/drawing/2014/main" xmlns="" val="10003"/>
                  </a:ext>
                </a:extLst>
              </a:tr>
              <a:tr h="241458">
                <a:tc>
                  <a:txBody>
                    <a:bodyPr/>
                    <a:lstStyle/>
                    <a:p>
                      <a:r>
                        <a:rPr lang="en-US" sz="1800" dirty="0">
                          <a:latin typeface="Arial" panose="020B0604020202020204" pitchFamily="34" charset="0"/>
                          <a:cs typeface="Arial" panose="020B0604020202020204" pitchFamily="34" charset="0"/>
                        </a:rPr>
                        <a:t>Monitoring and Remediation</a:t>
                      </a:r>
                    </a:p>
                  </a:txBody>
                  <a:tcPr marL="44167" marR="44167" marT="22089" marB="22089"/>
                </a:tc>
                <a:tc>
                  <a:txBody>
                    <a:bodyPr/>
                    <a:lstStyle/>
                    <a:p>
                      <a:pPr algn="ctr"/>
                      <a:r>
                        <a:rPr lang="en-US" sz="1800" dirty="0">
                          <a:latin typeface="Arial" panose="020B0604020202020204" pitchFamily="34" charset="0"/>
                          <a:cs typeface="Arial" panose="020B0604020202020204" pitchFamily="34" charset="0"/>
                        </a:rPr>
                        <a:t>23</a:t>
                      </a:r>
                    </a:p>
                  </a:txBody>
                  <a:tcPr marL="44167" marR="44167" marT="22089" marB="22089"/>
                </a:tc>
                <a:tc>
                  <a:txBody>
                    <a:bodyPr/>
                    <a:lstStyle/>
                    <a:p>
                      <a:pPr algn="ctr"/>
                      <a:r>
                        <a:rPr lang="en-US" sz="1800" kern="1200" dirty="0">
                          <a:latin typeface="Arial" panose="020B0604020202020204" pitchFamily="34" charset="0"/>
                          <a:cs typeface="Arial" panose="020B0604020202020204" pitchFamily="34" charset="0"/>
                        </a:rPr>
                        <a:t>A33–A35 </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extLst>
                  <a:ext uri="{0D108BD9-81ED-4DB2-BD59-A6C34878D82A}">
                    <a16:rowId xmlns:a16="http://schemas.microsoft.com/office/drawing/2014/main" xmlns="" val="10004"/>
                  </a:ext>
                </a:extLst>
              </a:tr>
            </a:tbl>
          </a:graphicData>
        </a:graphic>
      </p:graphicFrame>
      <p:sp>
        <p:nvSpPr>
          <p:cNvPr id="8" name="Rounded Rectangle 7"/>
          <p:cNvSpPr/>
          <p:nvPr/>
        </p:nvSpPr>
        <p:spPr>
          <a:xfrm>
            <a:off x="403225" y="2995668"/>
            <a:ext cx="8229600" cy="1701989"/>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800" b="1" u="sng" dirty="0">
                <a:solidFill>
                  <a:schemeClr val="tx1">
                    <a:lumMod val="65000"/>
                    <a:lumOff val="35000"/>
                  </a:schemeClr>
                </a:solidFill>
                <a:latin typeface="Arial" panose="020B0604020202020204" pitchFamily="34" charset="0"/>
                <a:cs typeface="Arial" panose="020B0604020202020204" pitchFamily="34" charset="0"/>
              </a:rPr>
              <a:t>Key Changes from June 2018 IAASB Meeting</a:t>
            </a:r>
            <a:r>
              <a:rPr lang="en-US" sz="1800" b="1" dirty="0">
                <a:solidFill>
                  <a:schemeClr val="tx1">
                    <a:lumMod val="65000"/>
                    <a:lumOff val="35000"/>
                  </a:schemeClr>
                </a:solidFill>
                <a:latin typeface="Arial" panose="020B0604020202020204" pitchFamily="34" charset="0"/>
                <a:cs typeface="Arial" panose="020B0604020202020204" pitchFamily="34" charset="0"/>
              </a:rPr>
              <a:t>: </a:t>
            </a:r>
            <a:endParaRPr lang="en-US" sz="1800" b="1" dirty="0" smtClean="0">
              <a:solidFill>
                <a:schemeClr val="tx1">
                  <a:lumMod val="65000"/>
                  <a:lumOff val="35000"/>
                </a:schemeClr>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a:solidFill>
                  <a:schemeClr val="tx1">
                    <a:lumMod val="65000"/>
                    <a:lumOff val="35000"/>
                  </a:schemeClr>
                </a:solidFill>
                <a:latin typeface="Arial" panose="020B0604020202020204" pitchFamily="34" charset="0"/>
                <a:cs typeface="Arial" panose="020B0604020202020204" pitchFamily="34" charset="0"/>
              </a:rPr>
              <a:t>Consultation – </a:t>
            </a:r>
            <a:r>
              <a:rPr lang="en-US" sz="1800" dirty="0" smtClean="0">
                <a:solidFill>
                  <a:schemeClr val="tx1">
                    <a:lumMod val="65000"/>
                    <a:lumOff val="35000"/>
                  </a:schemeClr>
                </a:solidFill>
                <a:latin typeface="Arial" panose="020B0604020202020204" pitchFamily="34" charset="0"/>
                <a:cs typeface="Arial" panose="020B0604020202020204" pitchFamily="34" charset="0"/>
              </a:rPr>
              <a:t>Examples </a:t>
            </a:r>
            <a:r>
              <a:rPr lang="en-US" sz="1800" dirty="0">
                <a:solidFill>
                  <a:schemeClr val="tx1">
                    <a:lumMod val="65000"/>
                    <a:lumOff val="35000"/>
                  </a:schemeClr>
                </a:solidFill>
                <a:latin typeface="Arial" panose="020B0604020202020204" pitchFamily="34" charset="0"/>
                <a:cs typeface="Arial" panose="020B0604020202020204" pitchFamily="34" charset="0"/>
              </a:rPr>
              <a:t>of matters that may necessitate consultation outside the </a:t>
            </a:r>
            <a:r>
              <a:rPr lang="en-US" sz="1800" dirty="0" smtClean="0">
                <a:solidFill>
                  <a:schemeClr val="tx1">
                    <a:lumMod val="65000"/>
                    <a:lumOff val="35000"/>
                  </a:schemeClr>
                </a:solidFill>
                <a:latin typeface="Arial" panose="020B0604020202020204" pitchFamily="34" charset="0"/>
                <a:cs typeface="Arial" panose="020B0604020202020204" pitchFamily="34" charset="0"/>
              </a:rPr>
              <a:t>ET (para. A19G)</a:t>
            </a:r>
            <a:endParaRPr lang="en-US" sz="1800" dirty="0">
              <a:solidFill>
                <a:schemeClr val="tx1">
                  <a:lumMod val="65000"/>
                  <a:lumOff val="35000"/>
                </a:schemeClr>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a:solidFill>
                  <a:schemeClr val="tx1">
                    <a:lumMod val="65000"/>
                    <a:lumOff val="35000"/>
                  </a:schemeClr>
                </a:solidFill>
                <a:latin typeface="Arial" panose="020B0604020202020204" pitchFamily="34" charset="0"/>
                <a:cs typeface="Arial" panose="020B0604020202020204" pitchFamily="34" charset="0"/>
              </a:rPr>
              <a:t>Engagement Quality </a:t>
            </a:r>
            <a:r>
              <a:rPr lang="en-US" sz="1800" dirty="0" smtClean="0">
                <a:solidFill>
                  <a:schemeClr val="tx1">
                    <a:lumMod val="65000"/>
                    <a:lumOff val="35000"/>
                  </a:schemeClr>
                </a:solidFill>
                <a:latin typeface="Arial" panose="020B0604020202020204" pitchFamily="34" charset="0"/>
                <a:cs typeface="Arial" panose="020B0604020202020204" pitchFamily="34" charset="0"/>
              </a:rPr>
              <a:t>Review – The EP’s </a:t>
            </a:r>
            <a:r>
              <a:rPr lang="en-US" sz="1800" dirty="0">
                <a:solidFill>
                  <a:schemeClr val="tx1">
                    <a:lumMod val="65000"/>
                    <a:lumOff val="35000"/>
                  </a:schemeClr>
                </a:solidFill>
                <a:latin typeface="Arial" panose="020B0604020202020204" pitchFamily="34" charset="0"/>
                <a:cs typeface="Arial" panose="020B0604020202020204" pitchFamily="34" charset="0"/>
              </a:rPr>
              <a:t>responsibility to cooperate with the engagement quality reviewer and to inform other members of the ET of their responsibility to do </a:t>
            </a:r>
            <a:r>
              <a:rPr lang="en-US" sz="1800" dirty="0" smtClean="0">
                <a:solidFill>
                  <a:schemeClr val="tx1">
                    <a:lumMod val="65000"/>
                    <a:lumOff val="35000"/>
                  </a:schemeClr>
                </a:solidFill>
                <a:latin typeface="Arial" panose="020B0604020202020204" pitchFamily="34" charset="0"/>
                <a:cs typeface="Arial" panose="020B0604020202020204" pitchFamily="34" charset="0"/>
              </a:rPr>
              <a:t>so (para. 19B)</a:t>
            </a:r>
            <a:endParaRPr lang="en-US" sz="1800" dirty="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184748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03225" y="427437"/>
            <a:ext cx="8740775" cy="403875"/>
          </a:xfrm>
        </p:spPr>
        <p:txBody>
          <a:bodyPr/>
          <a:lstStyle/>
          <a:p>
            <a:r>
              <a:rPr lang="en-US" dirty="0" smtClean="0"/>
              <a:t>Other </a:t>
            </a:r>
            <a:r>
              <a:rPr lang="en-US" dirty="0"/>
              <a:t>Sections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52489829"/>
              </p:ext>
            </p:extLst>
          </p:nvPr>
        </p:nvGraphicFramePr>
        <p:xfrm>
          <a:off x="403225" y="2315394"/>
          <a:ext cx="8229600" cy="2392680"/>
        </p:xfrm>
        <a:graphic>
          <a:graphicData uri="http://schemas.openxmlformats.org/drawingml/2006/table">
            <a:tbl>
              <a:tblPr firstRow="1" bandRow="1">
                <a:tableStyleId>{5940675A-B579-460E-94D1-54222C63F5DA}</a:tableStyleId>
              </a:tblPr>
              <a:tblGrid>
                <a:gridCol w="8229600">
                  <a:extLst>
                    <a:ext uri="{9D8B030D-6E8A-4147-A177-3AD203B41FA5}">
                      <a16:colId xmlns:a16="http://schemas.microsoft.com/office/drawing/2014/main" xmlns="" val="20000"/>
                    </a:ext>
                  </a:extLst>
                </a:gridCol>
              </a:tblGrid>
              <a:tr h="975690">
                <a:tc>
                  <a:txBody>
                    <a:bodyPr/>
                    <a:lstStyle/>
                    <a:p>
                      <a:pPr>
                        <a:spcBef>
                          <a:spcPts val="450"/>
                        </a:spcBef>
                      </a:pPr>
                      <a:r>
                        <a:rPr lang="en-US" sz="1800" b="1" u="sng" dirty="0" smtClean="0">
                          <a:solidFill>
                            <a:schemeClr val="tx1">
                              <a:lumMod val="65000"/>
                              <a:lumOff val="35000"/>
                            </a:schemeClr>
                          </a:solidFill>
                          <a:latin typeface="Arial" panose="020B0604020202020204" pitchFamily="34" charset="0"/>
                          <a:cs typeface="Arial" panose="020B0604020202020204" pitchFamily="34" charset="0"/>
                        </a:rPr>
                        <a:t>Matter </a:t>
                      </a:r>
                      <a:r>
                        <a:rPr lang="en-US" sz="1800" b="1" u="sng" dirty="0">
                          <a:solidFill>
                            <a:schemeClr val="tx1">
                              <a:lumMod val="65000"/>
                              <a:lumOff val="35000"/>
                            </a:schemeClr>
                          </a:solidFill>
                          <a:latin typeface="Arial" panose="020B0604020202020204" pitchFamily="34" charset="0"/>
                          <a:cs typeface="Arial" panose="020B0604020202020204" pitchFamily="34" charset="0"/>
                        </a:rPr>
                        <a:t>for IAASB Consideration </a:t>
                      </a:r>
                    </a:p>
                    <a:p>
                      <a:pPr marL="342900" lvl="0" indent="-342900" algn="l" defTabSz="342900" rtl="0" eaLnBrk="1" latinLnBrk="0" hangingPunct="1">
                        <a:spcBef>
                          <a:spcPts val="600"/>
                        </a:spcBef>
                        <a:buFont typeface="+mj-lt"/>
                        <a:buAutoNum type="arabicParenR" startAt="10"/>
                      </a:pPr>
                      <a:r>
                        <a:rPr lang="en-US" sz="1800" kern="1200" dirty="0" smtClean="0">
                          <a:solidFill>
                            <a:schemeClr val="tx1">
                              <a:lumMod val="65000"/>
                              <a:lumOff val="35000"/>
                            </a:schemeClr>
                          </a:solidFill>
                          <a:latin typeface="Arial" panose="020B0604020202020204" pitchFamily="34" charset="0"/>
                          <a:ea typeface="+mn-ea"/>
                          <a:cs typeface="Arial" panose="020B0604020202020204" pitchFamily="34" charset="0"/>
                        </a:rPr>
                        <a:t>Does the IAASB agree with the proposed changes made to paragraphs 18–23 and A19G–A35 in Agenda Item 4–A? </a:t>
                      </a:r>
                      <a:endParaRPr lang="en-US" sz="1800" kern="1200" dirty="0" smtClean="0">
                        <a:solidFill>
                          <a:schemeClr val="tx1">
                            <a:lumMod val="65000"/>
                            <a:lumOff val="35000"/>
                          </a:schemeClr>
                        </a:solidFill>
                        <a:latin typeface="Arial" panose="020B0604020202020204" pitchFamily="34" charset="0"/>
                        <a:ea typeface="+mn-ea"/>
                        <a:cs typeface="Arial" panose="020B0604020202020204" pitchFamily="34" charset="0"/>
                      </a:endParaRPr>
                    </a:p>
                    <a:p>
                      <a:pPr marL="800100" lvl="0" indent="-452438" algn="l" defTabSz="342900" rtl="0" eaLnBrk="1" latinLnBrk="0" hangingPunct="1">
                        <a:spcBef>
                          <a:spcPts val="600"/>
                        </a:spcBef>
                        <a:buFont typeface="Arial" panose="020B0604020202020204" pitchFamily="34" charset="0"/>
                        <a:buChar char="•"/>
                      </a:pPr>
                      <a:r>
                        <a:rPr lang="en-US" sz="1800" kern="1200" dirty="0" smtClean="0">
                          <a:solidFill>
                            <a:schemeClr val="tx1">
                              <a:lumMod val="65000"/>
                              <a:lumOff val="35000"/>
                            </a:schemeClr>
                          </a:solidFill>
                          <a:latin typeface="Arial" panose="020B0604020202020204" pitchFamily="34" charset="0"/>
                          <a:ea typeface="+mn-ea"/>
                          <a:cs typeface="Arial" panose="020B0604020202020204" pitchFamily="34" charset="0"/>
                        </a:rPr>
                        <a:t>Consultation</a:t>
                      </a:r>
                    </a:p>
                    <a:p>
                      <a:pPr marL="800100" lvl="0" indent="-452438" algn="l" defTabSz="342900" rtl="0" eaLnBrk="1" latinLnBrk="0" hangingPunct="1">
                        <a:spcBef>
                          <a:spcPts val="600"/>
                        </a:spcBef>
                        <a:buFont typeface="Arial" panose="020B0604020202020204" pitchFamily="34" charset="0"/>
                        <a:buChar char="•"/>
                      </a:pPr>
                      <a:r>
                        <a:rPr lang="en-US" sz="1800" kern="1200" dirty="0" smtClean="0">
                          <a:solidFill>
                            <a:schemeClr val="tx1">
                              <a:lumMod val="65000"/>
                              <a:lumOff val="35000"/>
                            </a:schemeClr>
                          </a:solidFill>
                          <a:latin typeface="Arial" panose="020B0604020202020204" pitchFamily="34" charset="0"/>
                          <a:ea typeface="+mn-ea"/>
                          <a:cs typeface="Arial" panose="020B0604020202020204" pitchFamily="34" charset="0"/>
                        </a:rPr>
                        <a:t>Engagement Quality Review</a:t>
                      </a:r>
                    </a:p>
                    <a:p>
                      <a:pPr marL="800100" lvl="0" indent="-452438" algn="l" defTabSz="342900" rtl="0" eaLnBrk="1" latinLnBrk="0" hangingPunct="1">
                        <a:spcBef>
                          <a:spcPts val="600"/>
                        </a:spcBef>
                        <a:buFont typeface="Arial" panose="020B0604020202020204" pitchFamily="34" charset="0"/>
                        <a:buChar char="•"/>
                      </a:pPr>
                      <a:r>
                        <a:rPr lang="en-US" sz="1800" kern="1200" dirty="0" smtClean="0">
                          <a:solidFill>
                            <a:schemeClr val="tx1">
                              <a:lumMod val="65000"/>
                              <a:lumOff val="35000"/>
                            </a:schemeClr>
                          </a:solidFill>
                          <a:latin typeface="Arial" panose="020B0604020202020204" pitchFamily="34" charset="0"/>
                          <a:ea typeface="+mn-ea"/>
                          <a:cs typeface="Arial" panose="020B0604020202020204" pitchFamily="34" charset="0"/>
                        </a:rPr>
                        <a:t>Differences of Opinion</a:t>
                      </a:r>
                    </a:p>
                    <a:p>
                      <a:pPr marL="800100" lvl="0" indent="-452438" algn="l" defTabSz="342900" rtl="0" eaLnBrk="1" latinLnBrk="0" hangingPunct="1">
                        <a:spcBef>
                          <a:spcPts val="600"/>
                        </a:spcBef>
                        <a:buFont typeface="Arial" panose="020B0604020202020204" pitchFamily="34" charset="0"/>
                        <a:buChar char="•"/>
                      </a:pPr>
                      <a:r>
                        <a:rPr lang="en-US" sz="1800" kern="1200" dirty="0" smtClean="0">
                          <a:solidFill>
                            <a:schemeClr val="tx1">
                              <a:lumMod val="65000"/>
                              <a:lumOff val="35000"/>
                            </a:schemeClr>
                          </a:solidFill>
                          <a:latin typeface="Arial" panose="020B0604020202020204" pitchFamily="34" charset="0"/>
                          <a:ea typeface="+mn-ea"/>
                          <a:cs typeface="Arial" panose="020B0604020202020204" pitchFamily="34" charset="0"/>
                        </a:rPr>
                        <a:t>Monitoring</a:t>
                      </a:r>
                      <a:r>
                        <a:rPr lang="en-US" sz="1800" kern="1200" baseline="0" dirty="0" smtClean="0">
                          <a:solidFill>
                            <a:schemeClr val="tx1">
                              <a:lumMod val="65000"/>
                              <a:lumOff val="35000"/>
                            </a:schemeClr>
                          </a:solidFill>
                          <a:latin typeface="Arial" panose="020B0604020202020204" pitchFamily="34" charset="0"/>
                          <a:ea typeface="+mn-ea"/>
                          <a:cs typeface="Arial" panose="020B0604020202020204" pitchFamily="34" charset="0"/>
                        </a:rPr>
                        <a:t> and Remediation</a:t>
                      </a:r>
                      <a:endParaRPr lang="en-US" sz="1800"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xmlns="" val="10000"/>
                  </a:ext>
                </a:extLst>
              </a:tr>
            </a:tbl>
          </a:graphicData>
        </a:graphic>
      </p:graphicFrame>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21</a:t>
            </a:fld>
            <a:endParaRPr lang="en-US" dirty="0">
              <a:latin typeface="Arial" panose="020B0604020202020204" pitchFamily="34" charset="0"/>
              <a:cs typeface="MS PGothic" charset="0"/>
            </a:endParaRPr>
          </a:p>
        </p:txBody>
      </p:sp>
      <p:sp>
        <p:nvSpPr>
          <p:cNvPr id="6" name="Rounded Rectangle 5"/>
          <p:cNvSpPr/>
          <p:nvPr/>
        </p:nvSpPr>
        <p:spPr>
          <a:xfrm>
            <a:off x="403225" y="837834"/>
            <a:ext cx="8229600" cy="1365039"/>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800" b="1" u="sng" dirty="0" smtClean="0">
                <a:solidFill>
                  <a:schemeClr val="tx1">
                    <a:lumMod val="65000"/>
                    <a:lumOff val="35000"/>
                  </a:schemeClr>
                </a:solidFill>
                <a:latin typeface="Arial" panose="020B0604020202020204" pitchFamily="34" charset="0"/>
                <a:cs typeface="Arial" panose="020B0604020202020204" pitchFamily="34" charset="0"/>
              </a:rPr>
              <a:t>(Cont.) Key </a:t>
            </a:r>
            <a:r>
              <a:rPr lang="en-US" sz="1800" b="1" u="sng" dirty="0">
                <a:solidFill>
                  <a:schemeClr val="tx1">
                    <a:lumMod val="65000"/>
                    <a:lumOff val="35000"/>
                  </a:schemeClr>
                </a:solidFill>
                <a:latin typeface="Arial" panose="020B0604020202020204" pitchFamily="34" charset="0"/>
                <a:cs typeface="Arial" panose="020B0604020202020204" pitchFamily="34" charset="0"/>
              </a:rPr>
              <a:t>Changes from June 2018 IAASB Meeting</a:t>
            </a:r>
            <a:r>
              <a:rPr lang="en-US" sz="1800" b="1" dirty="0">
                <a:solidFill>
                  <a:schemeClr val="tx1">
                    <a:lumMod val="65000"/>
                    <a:lumOff val="35000"/>
                  </a:schemeClr>
                </a:solidFill>
                <a:latin typeface="Arial" panose="020B0604020202020204" pitchFamily="34" charset="0"/>
                <a:cs typeface="Arial" panose="020B0604020202020204" pitchFamily="34" charset="0"/>
              </a:rPr>
              <a:t>: </a:t>
            </a:r>
            <a:endParaRPr lang="en-US" sz="1800" b="1" dirty="0" smtClean="0">
              <a:solidFill>
                <a:schemeClr val="tx1">
                  <a:lumMod val="65000"/>
                  <a:lumOff val="35000"/>
                </a:schemeClr>
              </a:solidFill>
              <a:latin typeface="Arial" panose="020B0604020202020204" pitchFamily="34" charset="0"/>
              <a:cs typeface="Arial" panose="020B0604020202020204" pitchFamily="34" charset="0"/>
            </a:endParaRPr>
          </a:p>
          <a:p>
            <a:pPr marL="285750" lvl="0" indent="-285750">
              <a:buFont typeface="Arial" panose="020B0604020202020204" pitchFamily="34" charset="0"/>
              <a:buChar char="•"/>
            </a:pPr>
            <a:r>
              <a:rPr lang="en-US" sz="1800" dirty="0" smtClean="0">
                <a:solidFill>
                  <a:schemeClr val="tx1">
                    <a:lumMod val="65000"/>
                    <a:lumOff val="35000"/>
                  </a:schemeClr>
                </a:solidFill>
                <a:latin typeface="Arial" panose="020B0604020202020204" pitchFamily="34" charset="0"/>
                <a:cs typeface="Arial" panose="020B0604020202020204" pitchFamily="34" charset="0"/>
              </a:rPr>
              <a:t>Monitoring </a:t>
            </a:r>
            <a:r>
              <a:rPr lang="en-US" sz="1800" dirty="0" smtClean="0">
                <a:solidFill>
                  <a:schemeClr val="tx1">
                    <a:lumMod val="65000"/>
                    <a:lumOff val="35000"/>
                  </a:schemeClr>
                </a:solidFill>
                <a:latin typeface="Arial" panose="020B0604020202020204" pitchFamily="34" charset="0"/>
                <a:cs typeface="Arial" panose="020B0604020202020204" pitchFamily="34" charset="0"/>
              </a:rPr>
              <a:t>and Remediation – Deleted the reference to “sufficient” understanding in relation to the firm’s monitoring and remediation process by all members of the </a:t>
            </a:r>
            <a:r>
              <a:rPr lang="en-US" sz="1800" dirty="0" smtClean="0">
                <a:solidFill>
                  <a:schemeClr val="tx1">
                    <a:lumMod val="65000"/>
                    <a:lumOff val="35000"/>
                  </a:schemeClr>
                </a:solidFill>
                <a:latin typeface="Arial" panose="020B0604020202020204" pitchFamily="34" charset="0"/>
                <a:cs typeface="Arial" panose="020B0604020202020204" pitchFamily="34" charset="0"/>
              </a:rPr>
              <a:t>ET (para. </a:t>
            </a:r>
            <a:r>
              <a:rPr lang="en-US" sz="1800" dirty="0" smtClean="0">
                <a:solidFill>
                  <a:schemeClr val="tx1">
                    <a:lumMod val="65000"/>
                    <a:lumOff val="35000"/>
                  </a:schemeClr>
                </a:solidFill>
                <a:latin typeface="Arial" panose="020B0604020202020204" pitchFamily="34" charset="0"/>
                <a:cs typeface="Arial" panose="020B0604020202020204" pitchFamily="34" charset="0"/>
              </a:rPr>
              <a:t>23(a))</a:t>
            </a:r>
            <a:endParaRPr lang="en-US" sz="1800" dirty="0" smtClean="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86287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27437"/>
            <a:ext cx="8686800" cy="403875"/>
          </a:xfrm>
        </p:spPr>
        <p:txBody>
          <a:bodyPr/>
          <a:lstStyle/>
          <a:p>
            <a:r>
              <a:rPr lang="en-US" dirty="0"/>
              <a:t>Taking Overall Responsibility for </a:t>
            </a:r>
            <a:r>
              <a:rPr lang="en-US" dirty="0" smtClean="0"/>
              <a:t>Managing and Achieving </a:t>
            </a:r>
            <a:r>
              <a:rPr lang="en-US" dirty="0"/>
              <a:t>Quality </a:t>
            </a:r>
          </a:p>
        </p:txBody>
      </p:sp>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Arial" panose="020B0604020202020204" pitchFamily="34" charset="0"/>
              </a:rPr>
              <a:t>Page </a:t>
            </a:r>
            <a:fld id="{95158037-59F0-9C4B-B231-1C776117AADA}" type="slidenum">
              <a:rPr lang="en-US" smtClean="0">
                <a:latin typeface="Arial" panose="020B0604020202020204" pitchFamily="34" charset="0"/>
                <a:cs typeface="Arial" panose="020B0604020202020204" pitchFamily="34" charset="0"/>
              </a:rPr>
              <a:pPr/>
              <a:t>22</a:t>
            </a:fld>
            <a:endParaRPr lang="en-US" dirty="0">
              <a:latin typeface="Arial" panose="020B0604020202020204" pitchFamily="34" charset="0"/>
              <a:cs typeface="Arial" panose="020B0604020202020204" pitchFamily="34" charset="0"/>
            </a:endParaRPr>
          </a:p>
        </p:txBody>
      </p:sp>
      <p:graphicFrame>
        <p:nvGraphicFramePr>
          <p:cNvPr id="7" name="Content Placeholder 3"/>
          <p:cNvGraphicFramePr>
            <a:graphicFrameLocks/>
          </p:cNvGraphicFramePr>
          <p:nvPr>
            <p:extLst>
              <p:ext uri="{D42A27DB-BD31-4B8C-83A1-F6EECF244321}">
                <p14:modId xmlns:p14="http://schemas.microsoft.com/office/powerpoint/2010/main" val="2255729833"/>
              </p:ext>
            </p:extLst>
          </p:nvPr>
        </p:nvGraphicFramePr>
        <p:xfrm>
          <a:off x="794084" y="972052"/>
          <a:ext cx="7555832" cy="955494"/>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777916">
                  <a:extLst>
                    <a:ext uri="{9D8B030D-6E8A-4147-A177-3AD203B41FA5}">
                      <a16:colId xmlns:a16="http://schemas.microsoft.com/office/drawing/2014/main" xmlns="" val="20000"/>
                    </a:ext>
                  </a:extLst>
                </a:gridCol>
                <a:gridCol w="3777916">
                  <a:extLst>
                    <a:ext uri="{9D8B030D-6E8A-4147-A177-3AD203B41FA5}">
                      <a16:colId xmlns:a16="http://schemas.microsoft.com/office/drawing/2014/main" xmlns="" val="20001"/>
                    </a:ext>
                  </a:extLst>
                </a:gridCol>
              </a:tblGrid>
              <a:tr h="310989">
                <a:tc gridSpan="2">
                  <a:txBody>
                    <a:bodyPr/>
                    <a:lstStyle/>
                    <a:p>
                      <a:pPr algn="ctr"/>
                      <a:r>
                        <a:rPr lang="en-US" sz="1800" dirty="0">
                          <a:latin typeface="Arial" panose="020B0604020202020204" pitchFamily="34" charset="0"/>
                          <a:cs typeface="Arial" panose="020B0604020202020204" pitchFamily="34" charset="0"/>
                        </a:rPr>
                        <a:t>Proposed ISA 220 (Revised) – Agenda Item </a:t>
                      </a:r>
                      <a:r>
                        <a:rPr lang="en-US" sz="1800" dirty="0" smtClean="0">
                          <a:latin typeface="Arial" panose="020B0604020202020204" pitchFamily="34" charset="0"/>
                          <a:cs typeface="Arial" panose="020B0604020202020204" pitchFamily="34" charset="0"/>
                        </a:rPr>
                        <a:t>4–A </a:t>
                      </a:r>
                      <a:endParaRPr lang="en-US" sz="1800" dirty="0">
                        <a:latin typeface="Arial" panose="020B0604020202020204" pitchFamily="34" charset="0"/>
                        <a:cs typeface="Arial" panose="020B0604020202020204" pitchFamily="34" charset="0"/>
                      </a:endParaRPr>
                    </a:p>
                  </a:txBody>
                  <a:tcPr marL="44167" marR="44167" marT="22089" marB="22089"/>
                </a:tc>
                <a:tc hMerge="1">
                  <a:txBody>
                    <a:bodyPr/>
                    <a:lstStyle/>
                    <a:p>
                      <a:pPr algn="ctr"/>
                      <a:endParaRPr lang="en-US" sz="1800" dirty="0"/>
                    </a:p>
                  </a:txBody>
                  <a:tcPr marL="44167" marR="44167" marT="22089" marB="22089"/>
                </a:tc>
                <a:extLst>
                  <a:ext uri="{0D108BD9-81ED-4DB2-BD59-A6C34878D82A}">
                    <a16:rowId xmlns:a16="http://schemas.microsoft.com/office/drawing/2014/main" xmlns="" val="10000"/>
                  </a:ext>
                </a:extLst>
              </a:tr>
              <a:tr h="241458">
                <a:tc>
                  <a:txBody>
                    <a:bodyPr/>
                    <a:lstStyle/>
                    <a:p>
                      <a:r>
                        <a:rPr lang="en-US" sz="1800" dirty="0">
                          <a:latin typeface="Arial" panose="020B0604020202020204" pitchFamily="34" charset="0"/>
                          <a:cs typeface="Arial" panose="020B0604020202020204" pitchFamily="34" charset="0"/>
                        </a:rPr>
                        <a:t>  Paragraph(s)</a:t>
                      </a:r>
                    </a:p>
                  </a:txBody>
                  <a:tcPr marL="44167" marR="44167" marT="22089" marB="22089"/>
                </a:tc>
                <a:tc>
                  <a:txBody>
                    <a:bodyPr/>
                    <a:lstStyle/>
                    <a:p>
                      <a:pPr marL="0" algn="ctr" defTabSz="342900" rtl="0" eaLnBrk="1" latinLnBrk="0" hangingPunct="1"/>
                      <a:r>
                        <a:rPr lang="en-US" sz="1800" kern="1200" dirty="0" smtClean="0">
                          <a:latin typeface="Arial" panose="020B0604020202020204" pitchFamily="34" charset="0"/>
                          <a:cs typeface="Arial" panose="020B0604020202020204" pitchFamily="34" charset="0"/>
                        </a:rPr>
                        <a:t>23A</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extLst>
                  <a:ext uri="{0D108BD9-81ED-4DB2-BD59-A6C34878D82A}">
                    <a16:rowId xmlns:a16="http://schemas.microsoft.com/office/drawing/2014/main" xmlns="" val="10001"/>
                  </a:ext>
                </a:extLst>
              </a:tr>
              <a:tr h="241458">
                <a:tc>
                  <a:txBody>
                    <a:bodyPr/>
                    <a:lstStyle/>
                    <a:p>
                      <a:r>
                        <a:rPr lang="en-US" sz="1800" dirty="0">
                          <a:latin typeface="Arial" panose="020B0604020202020204" pitchFamily="34" charset="0"/>
                          <a:cs typeface="Arial" panose="020B0604020202020204" pitchFamily="34" charset="0"/>
                        </a:rPr>
                        <a:t>  Application Material</a:t>
                      </a:r>
                    </a:p>
                  </a:txBody>
                  <a:tcPr marL="44167" marR="44167" marT="22089" marB="22089"/>
                </a:tc>
                <a:tc>
                  <a:txBody>
                    <a:bodyPr/>
                    <a:lstStyle/>
                    <a:p>
                      <a:pPr algn="ctr"/>
                      <a:r>
                        <a:rPr lang="en-US" sz="1800" kern="1200" dirty="0" smtClean="0">
                          <a:latin typeface="Arial" panose="020B0604020202020204" pitchFamily="34" charset="0"/>
                          <a:cs typeface="Arial" panose="020B0604020202020204" pitchFamily="34" charset="0"/>
                        </a:rPr>
                        <a:t>A35A–A35B</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extLst>
                  <a:ext uri="{0D108BD9-81ED-4DB2-BD59-A6C34878D82A}">
                    <a16:rowId xmlns:a16="http://schemas.microsoft.com/office/drawing/2014/main" xmlns="" val="10002"/>
                  </a:ext>
                </a:extLst>
              </a:tr>
            </a:tbl>
          </a:graphicData>
        </a:graphic>
      </p:graphicFrame>
      <p:sp>
        <p:nvSpPr>
          <p:cNvPr id="6" name="Rounded Rectangle 5"/>
          <p:cNvSpPr/>
          <p:nvPr/>
        </p:nvSpPr>
        <p:spPr>
          <a:xfrm>
            <a:off x="457200" y="2286993"/>
            <a:ext cx="8229600" cy="116279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1800" b="1" u="sng" dirty="0">
                <a:solidFill>
                  <a:schemeClr val="tx1">
                    <a:lumMod val="65000"/>
                    <a:lumOff val="35000"/>
                  </a:schemeClr>
                </a:solidFill>
                <a:latin typeface="Arial" panose="020B0604020202020204" pitchFamily="34" charset="0"/>
                <a:cs typeface="Arial" panose="020B0604020202020204" pitchFamily="34" charset="0"/>
              </a:rPr>
              <a:t>Key Changes from June 2018 IAASB Meeting</a:t>
            </a:r>
            <a:r>
              <a:rPr lang="en-US" sz="1800" b="1" dirty="0">
                <a:solidFill>
                  <a:schemeClr val="tx1">
                    <a:lumMod val="65000"/>
                    <a:lumOff val="35000"/>
                  </a:schemeClr>
                </a:solidFill>
                <a:latin typeface="Arial" panose="020B0604020202020204" pitchFamily="34" charset="0"/>
                <a:cs typeface="Arial" panose="020B0604020202020204" pitchFamily="34" charset="0"/>
              </a:rPr>
              <a:t>: </a:t>
            </a:r>
            <a:endParaRPr lang="en-US" sz="1800" b="1" dirty="0" smtClean="0">
              <a:solidFill>
                <a:schemeClr val="tx1">
                  <a:lumMod val="65000"/>
                  <a:lumOff val="35000"/>
                </a:schemeClr>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a:solidFill>
                  <a:schemeClr val="tx1">
                    <a:lumMod val="65000"/>
                    <a:lumOff val="35000"/>
                  </a:schemeClr>
                </a:solidFill>
                <a:latin typeface="Arial" panose="020B0604020202020204" pitchFamily="34" charset="0"/>
                <a:cs typeface="Arial" panose="020B0604020202020204" pitchFamily="34" charset="0"/>
              </a:rPr>
              <a:t>Align the requirement with the objective of the standard </a:t>
            </a:r>
          </a:p>
        </p:txBody>
      </p:sp>
    </p:spTree>
    <p:extLst>
      <p:ext uri="{BB962C8B-B14F-4D97-AF65-F5344CB8AC3E}">
        <p14:creationId xmlns:p14="http://schemas.microsoft.com/office/powerpoint/2010/main" val="2384860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27437"/>
            <a:ext cx="8686800" cy="403875"/>
          </a:xfrm>
        </p:spPr>
        <p:txBody>
          <a:bodyPr/>
          <a:lstStyle/>
          <a:p>
            <a:r>
              <a:rPr lang="en-US" dirty="0"/>
              <a:t>Taking Overall Responsibility for Managing and Achieving Quality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3153082"/>
              </p:ext>
            </p:extLst>
          </p:nvPr>
        </p:nvGraphicFramePr>
        <p:xfrm>
          <a:off x="457200" y="978568"/>
          <a:ext cx="8229600" cy="1018673"/>
        </p:xfrm>
        <a:graphic>
          <a:graphicData uri="http://schemas.openxmlformats.org/drawingml/2006/table">
            <a:tbl>
              <a:tblPr firstRow="1" bandRow="1">
                <a:tableStyleId>{5940675A-B579-460E-94D1-54222C63F5DA}</a:tableStyleId>
              </a:tblPr>
              <a:tblGrid>
                <a:gridCol w="8229600">
                  <a:extLst>
                    <a:ext uri="{9D8B030D-6E8A-4147-A177-3AD203B41FA5}">
                      <a16:colId xmlns:a16="http://schemas.microsoft.com/office/drawing/2014/main" xmlns="" val="20000"/>
                    </a:ext>
                  </a:extLst>
                </a:gridCol>
              </a:tblGrid>
              <a:tr h="1018673">
                <a:tc>
                  <a:txBody>
                    <a:bodyPr/>
                    <a:lstStyle/>
                    <a:p>
                      <a:pPr>
                        <a:spcBef>
                          <a:spcPts val="450"/>
                        </a:spcBef>
                      </a:pPr>
                      <a:r>
                        <a:rPr lang="en-US" sz="1800" b="1" u="sng" dirty="0" smtClean="0">
                          <a:solidFill>
                            <a:schemeClr val="tx1">
                              <a:lumMod val="65000"/>
                              <a:lumOff val="35000"/>
                            </a:schemeClr>
                          </a:solidFill>
                          <a:latin typeface="Arial" panose="020B0604020202020204" pitchFamily="34" charset="0"/>
                          <a:cs typeface="Arial" panose="020B0604020202020204" pitchFamily="34" charset="0"/>
                        </a:rPr>
                        <a:t>Matter </a:t>
                      </a:r>
                      <a:r>
                        <a:rPr lang="en-US" sz="1800" b="1" u="sng" dirty="0">
                          <a:solidFill>
                            <a:schemeClr val="tx1">
                              <a:lumMod val="65000"/>
                              <a:lumOff val="35000"/>
                            </a:schemeClr>
                          </a:solidFill>
                          <a:latin typeface="Arial" panose="020B0604020202020204" pitchFamily="34" charset="0"/>
                          <a:cs typeface="Arial" panose="020B0604020202020204" pitchFamily="34" charset="0"/>
                        </a:rPr>
                        <a:t>for IAASB Consideration </a:t>
                      </a:r>
                    </a:p>
                    <a:p>
                      <a:pPr marL="342900" lvl="0" indent="-342900" algn="l" defTabSz="342900" rtl="0" eaLnBrk="1" latinLnBrk="0" hangingPunct="1">
                        <a:spcBef>
                          <a:spcPts val="600"/>
                        </a:spcBef>
                        <a:buFont typeface="+mj-lt"/>
                        <a:buAutoNum type="arabicParenR" startAt="11"/>
                      </a:pPr>
                      <a:r>
                        <a:rPr lang="en-US" sz="1800" b="0" u="none" kern="1200" dirty="0" smtClean="0">
                          <a:solidFill>
                            <a:schemeClr val="tx1">
                              <a:lumMod val="65000"/>
                              <a:lumOff val="35000"/>
                            </a:schemeClr>
                          </a:solidFill>
                          <a:latin typeface="Arial" panose="020B0604020202020204" pitchFamily="34" charset="0"/>
                          <a:ea typeface="+mn-ea"/>
                          <a:cs typeface="Arial" panose="020B0604020202020204" pitchFamily="34" charset="0"/>
                        </a:rPr>
                        <a:t>Does the Board agree with the proposed changes made to paragraphs 23A and A35A–A35B in Agenda Item 4–A? </a:t>
                      </a:r>
                      <a:endParaRPr lang="en-US" sz="1800" b="0" u="none"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xmlns="" val="10000"/>
                  </a:ext>
                </a:extLst>
              </a:tr>
            </a:tbl>
          </a:graphicData>
        </a:graphic>
      </p:graphicFrame>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23</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626590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27437"/>
            <a:ext cx="8686800" cy="403875"/>
          </a:xfrm>
        </p:spPr>
        <p:txBody>
          <a:bodyPr/>
          <a:lstStyle/>
          <a:p>
            <a:r>
              <a:rPr lang="en-US" dirty="0" smtClean="0"/>
              <a:t>Documentation</a:t>
            </a:r>
            <a:endParaRPr lang="en-US" dirty="0"/>
          </a:p>
        </p:txBody>
      </p:sp>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24</a:t>
            </a:fld>
            <a:endParaRPr lang="en-US" dirty="0">
              <a:latin typeface="Arial" panose="020B0604020202020204" pitchFamily="34" charset="0"/>
              <a:cs typeface="MS PGothic" charset="0"/>
            </a:endParaRPr>
          </a:p>
        </p:txBody>
      </p:sp>
      <p:graphicFrame>
        <p:nvGraphicFramePr>
          <p:cNvPr id="7" name="Content Placeholder 3"/>
          <p:cNvGraphicFramePr>
            <a:graphicFrameLocks/>
          </p:cNvGraphicFramePr>
          <p:nvPr>
            <p:extLst>
              <p:ext uri="{D42A27DB-BD31-4B8C-83A1-F6EECF244321}">
                <p14:modId xmlns:p14="http://schemas.microsoft.com/office/powerpoint/2010/main" val="984524416"/>
              </p:ext>
            </p:extLst>
          </p:nvPr>
        </p:nvGraphicFramePr>
        <p:xfrm>
          <a:off x="794084" y="972052"/>
          <a:ext cx="7555832" cy="955494"/>
        </p:xfrm>
        <a:graphic>
          <a:graphicData uri="http://schemas.openxmlformats.org/drawingml/2006/table">
            <a:tbl>
              <a:tblPr firstRow="1" bandRow="1">
                <a:effectLst>
                  <a:outerShdw blurRad="63500" sx="102000" sy="102000" algn="ctr" rotWithShape="0">
                    <a:prstClr val="black">
                      <a:alpha val="40000"/>
                    </a:prstClr>
                  </a:outerShdw>
                </a:effectLst>
                <a:tableStyleId>{5C22544A-7EE6-4342-B048-85BDC9FD1C3A}</a:tableStyleId>
              </a:tblPr>
              <a:tblGrid>
                <a:gridCol w="3777916">
                  <a:extLst>
                    <a:ext uri="{9D8B030D-6E8A-4147-A177-3AD203B41FA5}">
                      <a16:colId xmlns:a16="http://schemas.microsoft.com/office/drawing/2014/main" xmlns="" val="20000"/>
                    </a:ext>
                  </a:extLst>
                </a:gridCol>
                <a:gridCol w="3777916">
                  <a:extLst>
                    <a:ext uri="{9D8B030D-6E8A-4147-A177-3AD203B41FA5}">
                      <a16:colId xmlns:a16="http://schemas.microsoft.com/office/drawing/2014/main" xmlns="" val="20001"/>
                    </a:ext>
                  </a:extLst>
                </a:gridCol>
              </a:tblGrid>
              <a:tr h="310989">
                <a:tc gridSpan="2">
                  <a:txBody>
                    <a:bodyPr/>
                    <a:lstStyle/>
                    <a:p>
                      <a:pPr algn="ctr"/>
                      <a:r>
                        <a:rPr lang="en-US" sz="1800" dirty="0">
                          <a:latin typeface="Arial" panose="020B0604020202020204" pitchFamily="34" charset="0"/>
                          <a:cs typeface="Arial" panose="020B0604020202020204" pitchFamily="34" charset="0"/>
                        </a:rPr>
                        <a:t>Proposed ISA 220 (Revised) – Agenda Item </a:t>
                      </a:r>
                      <a:r>
                        <a:rPr lang="en-US" sz="1800" dirty="0" smtClean="0">
                          <a:latin typeface="Arial" panose="020B0604020202020204" pitchFamily="34" charset="0"/>
                          <a:cs typeface="Arial" panose="020B0604020202020204" pitchFamily="34" charset="0"/>
                        </a:rPr>
                        <a:t>4–A </a:t>
                      </a:r>
                      <a:endParaRPr lang="en-US" sz="1800" dirty="0">
                        <a:latin typeface="Arial" panose="020B0604020202020204" pitchFamily="34" charset="0"/>
                        <a:cs typeface="Arial" panose="020B0604020202020204" pitchFamily="34" charset="0"/>
                      </a:endParaRPr>
                    </a:p>
                  </a:txBody>
                  <a:tcPr marL="44167" marR="44167" marT="22089" marB="22089"/>
                </a:tc>
                <a:tc hMerge="1">
                  <a:txBody>
                    <a:bodyPr/>
                    <a:lstStyle/>
                    <a:p>
                      <a:pPr algn="ctr"/>
                      <a:endParaRPr lang="en-US" sz="1800" dirty="0"/>
                    </a:p>
                  </a:txBody>
                  <a:tcPr marL="44167" marR="44167" marT="22089" marB="22089"/>
                </a:tc>
                <a:extLst>
                  <a:ext uri="{0D108BD9-81ED-4DB2-BD59-A6C34878D82A}">
                    <a16:rowId xmlns:a16="http://schemas.microsoft.com/office/drawing/2014/main" xmlns="" val="10000"/>
                  </a:ext>
                </a:extLst>
              </a:tr>
              <a:tr h="241458">
                <a:tc>
                  <a:txBody>
                    <a:bodyPr/>
                    <a:lstStyle/>
                    <a:p>
                      <a:r>
                        <a:rPr lang="en-US" sz="1800" dirty="0">
                          <a:latin typeface="Arial" panose="020B0604020202020204" pitchFamily="34" charset="0"/>
                          <a:cs typeface="Arial" panose="020B0604020202020204" pitchFamily="34" charset="0"/>
                        </a:rPr>
                        <a:t>  Paragraph(s)</a:t>
                      </a:r>
                    </a:p>
                  </a:txBody>
                  <a:tcPr marL="44167" marR="44167" marT="22089" marB="22089"/>
                </a:tc>
                <a:tc>
                  <a:txBody>
                    <a:bodyPr/>
                    <a:lstStyle/>
                    <a:p>
                      <a:pPr marL="0" algn="ctr" defTabSz="342900" rtl="0" eaLnBrk="1" latinLnBrk="0" hangingPunct="1"/>
                      <a:r>
                        <a:rPr lang="en-US" sz="1800" kern="1200" dirty="0" smtClean="0">
                          <a:latin typeface="Arial" panose="020B0604020202020204" pitchFamily="34" charset="0"/>
                          <a:cs typeface="Arial" panose="020B0604020202020204" pitchFamily="34" charset="0"/>
                        </a:rPr>
                        <a:t>24</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extLst>
                  <a:ext uri="{0D108BD9-81ED-4DB2-BD59-A6C34878D82A}">
                    <a16:rowId xmlns:a16="http://schemas.microsoft.com/office/drawing/2014/main" xmlns="" val="10001"/>
                  </a:ext>
                </a:extLst>
              </a:tr>
              <a:tr h="241458">
                <a:tc>
                  <a:txBody>
                    <a:bodyPr/>
                    <a:lstStyle/>
                    <a:p>
                      <a:r>
                        <a:rPr lang="en-US" sz="1800" dirty="0">
                          <a:latin typeface="Arial" panose="020B0604020202020204" pitchFamily="34" charset="0"/>
                          <a:cs typeface="Arial" panose="020B0604020202020204" pitchFamily="34" charset="0"/>
                        </a:rPr>
                        <a:t>  Application Material</a:t>
                      </a:r>
                    </a:p>
                  </a:txBody>
                  <a:tcPr marL="44167" marR="44167" marT="22089" marB="22089"/>
                </a:tc>
                <a:tc>
                  <a:txBody>
                    <a:bodyPr/>
                    <a:lstStyle/>
                    <a:p>
                      <a:pPr algn="ctr"/>
                      <a:r>
                        <a:rPr lang="en-US" sz="1800" kern="1200" dirty="0" smtClean="0">
                          <a:latin typeface="Arial" panose="020B0604020202020204" pitchFamily="34" charset="0"/>
                          <a:cs typeface="Arial" panose="020B0604020202020204" pitchFamily="34" charset="0"/>
                        </a:rPr>
                        <a:t>A35C–A36</a:t>
                      </a:r>
                      <a:endParaRPr lang="en-US" sz="1800" kern="1200" dirty="0">
                        <a:solidFill>
                          <a:schemeClr val="dk1"/>
                        </a:solidFill>
                        <a:latin typeface="Arial" panose="020B0604020202020204" pitchFamily="34" charset="0"/>
                        <a:ea typeface="+mn-ea"/>
                        <a:cs typeface="Arial" panose="020B0604020202020204" pitchFamily="34" charset="0"/>
                      </a:endParaRPr>
                    </a:p>
                  </a:txBody>
                  <a:tcPr marL="44167" marR="44167" marT="22089" marB="22089"/>
                </a:tc>
                <a:extLst>
                  <a:ext uri="{0D108BD9-81ED-4DB2-BD59-A6C34878D82A}">
                    <a16:rowId xmlns:a16="http://schemas.microsoft.com/office/drawing/2014/main" xmlns="" val="10002"/>
                  </a:ext>
                </a:extLst>
              </a:tr>
            </a:tbl>
          </a:graphicData>
        </a:graphic>
      </p:graphicFrame>
      <p:graphicFrame>
        <p:nvGraphicFramePr>
          <p:cNvPr id="8" name="Content Placeholder 3"/>
          <p:cNvGraphicFramePr>
            <a:graphicFrameLocks noGrp="1"/>
          </p:cNvGraphicFramePr>
          <p:nvPr>
            <p:ph idx="1"/>
            <p:extLst>
              <p:ext uri="{D42A27DB-BD31-4B8C-83A1-F6EECF244321}">
                <p14:modId xmlns:p14="http://schemas.microsoft.com/office/powerpoint/2010/main" val="1884360698"/>
              </p:ext>
            </p:extLst>
          </p:nvPr>
        </p:nvGraphicFramePr>
        <p:xfrm>
          <a:off x="457200" y="3420436"/>
          <a:ext cx="8229600" cy="1018673"/>
        </p:xfrm>
        <a:graphic>
          <a:graphicData uri="http://schemas.openxmlformats.org/drawingml/2006/table">
            <a:tbl>
              <a:tblPr firstRow="1" bandRow="1">
                <a:tableStyleId>{5940675A-B579-460E-94D1-54222C63F5DA}</a:tableStyleId>
              </a:tblPr>
              <a:tblGrid>
                <a:gridCol w="8229600">
                  <a:extLst>
                    <a:ext uri="{9D8B030D-6E8A-4147-A177-3AD203B41FA5}">
                      <a16:colId xmlns:a16="http://schemas.microsoft.com/office/drawing/2014/main" xmlns="" val="20000"/>
                    </a:ext>
                  </a:extLst>
                </a:gridCol>
              </a:tblGrid>
              <a:tr h="1018673">
                <a:tc>
                  <a:txBody>
                    <a:bodyPr/>
                    <a:lstStyle/>
                    <a:p>
                      <a:pPr>
                        <a:spcBef>
                          <a:spcPts val="450"/>
                        </a:spcBef>
                      </a:pPr>
                      <a:r>
                        <a:rPr lang="en-US" sz="1800" b="1" u="sng" dirty="0" smtClean="0">
                          <a:solidFill>
                            <a:schemeClr val="tx1">
                              <a:lumMod val="65000"/>
                              <a:lumOff val="35000"/>
                            </a:schemeClr>
                          </a:solidFill>
                          <a:latin typeface="Arial" panose="020B0604020202020204" pitchFamily="34" charset="0"/>
                          <a:cs typeface="Arial" panose="020B0604020202020204" pitchFamily="34" charset="0"/>
                        </a:rPr>
                        <a:t>Matter </a:t>
                      </a:r>
                      <a:r>
                        <a:rPr lang="en-US" sz="1800" b="1" u="sng" dirty="0">
                          <a:solidFill>
                            <a:schemeClr val="tx1">
                              <a:lumMod val="65000"/>
                              <a:lumOff val="35000"/>
                            </a:schemeClr>
                          </a:solidFill>
                          <a:latin typeface="Arial" panose="020B0604020202020204" pitchFamily="34" charset="0"/>
                          <a:cs typeface="Arial" panose="020B0604020202020204" pitchFamily="34" charset="0"/>
                        </a:rPr>
                        <a:t>for IAASB Consideration </a:t>
                      </a:r>
                    </a:p>
                    <a:p>
                      <a:pPr marL="342900" lvl="0" indent="-342900" algn="l" defTabSz="342900" rtl="0" eaLnBrk="1" latinLnBrk="0" hangingPunct="1">
                        <a:spcBef>
                          <a:spcPts val="600"/>
                        </a:spcBef>
                        <a:buFont typeface="+mj-lt"/>
                        <a:buAutoNum type="arabicParenR" startAt="12"/>
                      </a:pPr>
                      <a:r>
                        <a:rPr lang="en-US" sz="1800" b="0" u="none" kern="1200" dirty="0" smtClean="0">
                          <a:solidFill>
                            <a:schemeClr val="tx1">
                              <a:lumMod val="65000"/>
                              <a:lumOff val="35000"/>
                            </a:schemeClr>
                          </a:solidFill>
                          <a:latin typeface="Arial" panose="020B0604020202020204" pitchFamily="34" charset="0"/>
                          <a:ea typeface="+mn-ea"/>
                          <a:cs typeface="Arial" panose="020B0604020202020204" pitchFamily="34" charset="0"/>
                        </a:rPr>
                        <a:t>Does the Board agree with the proposed changes made to paragraph 24 and A35C–A36 in Agenda Item 4–A? </a:t>
                      </a:r>
                      <a:endParaRPr lang="en-US" sz="1800" b="0" u="none"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xmlns="" val="10000"/>
                  </a:ext>
                </a:extLst>
              </a:tr>
            </a:tbl>
          </a:graphicData>
        </a:graphic>
      </p:graphicFrame>
    </p:spTree>
    <p:extLst>
      <p:ext uri="{BB962C8B-B14F-4D97-AF65-F5344CB8AC3E}">
        <p14:creationId xmlns:p14="http://schemas.microsoft.com/office/powerpoint/2010/main" val="30134583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03225" y="427437"/>
            <a:ext cx="8740775" cy="403875"/>
          </a:xfrm>
        </p:spPr>
        <p:txBody>
          <a:bodyPr/>
          <a:lstStyle/>
          <a:p>
            <a:r>
              <a:rPr lang="en-US" dirty="0" smtClean="0"/>
              <a:t>Conforming Amendments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08356298"/>
              </p:ext>
            </p:extLst>
          </p:nvPr>
        </p:nvGraphicFramePr>
        <p:xfrm>
          <a:off x="403225" y="2380589"/>
          <a:ext cx="8229600" cy="1252220"/>
        </p:xfrm>
        <a:graphic>
          <a:graphicData uri="http://schemas.openxmlformats.org/drawingml/2006/table">
            <a:tbl>
              <a:tblPr firstRow="1" bandRow="1">
                <a:tableStyleId>{5940675A-B579-460E-94D1-54222C63F5DA}</a:tableStyleId>
              </a:tblPr>
              <a:tblGrid>
                <a:gridCol w="8229600">
                  <a:extLst>
                    <a:ext uri="{9D8B030D-6E8A-4147-A177-3AD203B41FA5}">
                      <a16:colId xmlns:a16="http://schemas.microsoft.com/office/drawing/2014/main" xmlns="" val="20000"/>
                    </a:ext>
                  </a:extLst>
                </a:gridCol>
              </a:tblGrid>
              <a:tr h="1170886">
                <a:tc>
                  <a:txBody>
                    <a:bodyPr/>
                    <a:lstStyle/>
                    <a:p>
                      <a:pPr>
                        <a:spcBef>
                          <a:spcPts val="450"/>
                        </a:spcBef>
                      </a:pPr>
                      <a:r>
                        <a:rPr lang="en-US" sz="1800" b="1" u="sng" dirty="0">
                          <a:solidFill>
                            <a:schemeClr val="tx1">
                              <a:lumMod val="65000"/>
                              <a:lumOff val="35000"/>
                            </a:schemeClr>
                          </a:solidFill>
                          <a:latin typeface="Arial" panose="020B0604020202020204" pitchFamily="34" charset="0"/>
                          <a:cs typeface="Arial" panose="020B0604020202020204" pitchFamily="34" charset="0"/>
                        </a:rPr>
                        <a:t>Matter for IAASB Consideration </a:t>
                      </a:r>
                    </a:p>
                    <a:p>
                      <a:pPr marL="342900" indent="-342900">
                        <a:spcBef>
                          <a:spcPts val="450"/>
                        </a:spcBef>
                        <a:buFont typeface="+mj-lt"/>
                        <a:buAutoNum type="arabicParenR" startAt="13"/>
                      </a:pPr>
                      <a:r>
                        <a:rPr lang="en-US" sz="1800" dirty="0" smtClean="0">
                          <a:solidFill>
                            <a:schemeClr val="tx1">
                              <a:lumMod val="65000"/>
                              <a:lumOff val="35000"/>
                            </a:schemeClr>
                          </a:solidFill>
                          <a:latin typeface="Arial" panose="020B0604020202020204" pitchFamily="34" charset="0"/>
                          <a:cs typeface="Arial" panose="020B0604020202020204" pitchFamily="34" charset="0"/>
                        </a:rPr>
                        <a:t>Does the IAASB support the proposed conforming and consequential amendments, in particular the approach to the conforming amendments proposed for ISA 300?</a:t>
                      </a:r>
                      <a:endParaRPr lang="en-US" sz="1800"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xmlns="" val="10000"/>
                  </a:ext>
                </a:extLst>
              </a:tr>
            </a:tbl>
          </a:graphicData>
        </a:graphic>
      </p:graphicFrame>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25</a:t>
            </a:fld>
            <a:endParaRPr lang="en-US" dirty="0">
              <a:latin typeface="Arial" panose="020B0604020202020204" pitchFamily="34" charset="0"/>
              <a:cs typeface="MS PGothic" charset="0"/>
            </a:endParaRPr>
          </a:p>
        </p:txBody>
      </p:sp>
      <p:sp>
        <p:nvSpPr>
          <p:cNvPr id="6" name="Content Placeholder 1"/>
          <p:cNvSpPr txBox="1">
            <a:spLocks/>
          </p:cNvSpPr>
          <p:nvPr/>
        </p:nvSpPr>
        <p:spPr>
          <a:xfrm>
            <a:off x="332792" y="1078301"/>
            <a:ext cx="8229600" cy="1055299"/>
          </a:xfrm>
          <a:prstGeom prst="rect">
            <a:avLst/>
          </a:prstGeom>
        </p:spPr>
        <p:txBody>
          <a:bodyPr vert="horz" lIns="0" tIns="0" rIns="0" bIns="0" rtlCol="0">
            <a:noAutofit/>
          </a:bodyPr>
          <a:lstStyle>
            <a:lvl1pPr marL="129779" indent="-129779" algn="l" defTabSz="342900" rtl="0" eaLnBrk="1" latinLnBrk="0" hangingPunct="1">
              <a:spcBef>
                <a:spcPts val="900"/>
              </a:spcBef>
              <a:buFont typeface="Arial"/>
              <a:buChar char="•"/>
              <a:defRPr sz="1500" kern="1200">
                <a:solidFill>
                  <a:srgbClr val="808080"/>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rgbClr val="808080"/>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rgbClr val="808080"/>
                </a:solidFill>
                <a:latin typeface="Arial" panose="020B0604020202020204" pitchFamily="34" charset="0"/>
                <a:ea typeface="+mn-ea"/>
                <a:cs typeface="Arial" panose="020B0604020202020204" pitchFamily="34" charset="0"/>
              </a:defRPr>
            </a:lvl3pPr>
            <a:lvl4pPr marL="642938"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4pPr>
            <a:lvl5pPr marL="813197"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347472" indent="-347472"/>
            <a:r>
              <a:rPr lang="en-US" sz="1800" dirty="0" smtClean="0">
                <a:solidFill>
                  <a:schemeClr val="tx1">
                    <a:lumMod val="65000"/>
                    <a:lumOff val="35000"/>
                  </a:schemeClr>
                </a:solidFill>
              </a:rPr>
              <a:t>Most conforming amendments are relatively minor</a:t>
            </a:r>
          </a:p>
          <a:p>
            <a:pPr marL="347472" indent="-347472"/>
            <a:r>
              <a:rPr lang="en-US" sz="1800" dirty="0" smtClean="0">
                <a:solidFill>
                  <a:schemeClr val="tx1">
                    <a:lumMod val="65000"/>
                    <a:lumOff val="35000"/>
                  </a:schemeClr>
                </a:solidFill>
              </a:rPr>
              <a:t>Conforming amendments to ISA 300 </a:t>
            </a:r>
            <a:r>
              <a:rPr lang="en-US" sz="1800" dirty="0">
                <a:solidFill>
                  <a:schemeClr val="tx1">
                    <a:lumMod val="65000"/>
                    <a:lumOff val="35000"/>
                  </a:schemeClr>
                </a:solidFill>
              </a:rPr>
              <a:t>more </a:t>
            </a:r>
            <a:r>
              <a:rPr lang="en-US" sz="1800" dirty="0" smtClean="0">
                <a:solidFill>
                  <a:schemeClr val="tx1">
                    <a:lumMod val="65000"/>
                    <a:lumOff val="35000"/>
                  </a:schemeClr>
                </a:solidFill>
              </a:rPr>
              <a:t>substantive—Proposed </a:t>
            </a:r>
            <a:r>
              <a:rPr lang="en-US" sz="1800" dirty="0">
                <a:solidFill>
                  <a:schemeClr val="tx1">
                    <a:lumMod val="65000"/>
                    <a:lumOff val="35000"/>
                  </a:schemeClr>
                </a:solidFill>
              </a:rPr>
              <a:t>only those amendments that are necessary to align </a:t>
            </a:r>
            <a:r>
              <a:rPr lang="en-US" sz="1800" dirty="0" smtClean="0">
                <a:solidFill>
                  <a:schemeClr val="tx1">
                    <a:lumMod val="65000"/>
                    <a:lumOff val="35000"/>
                  </a:schemeClr>
                </a:solidFill>
              </a:rPr>
              <a:t>with proposed ISA 220 (Revised) and </a:t>
            </a:r>
            <a:r>
              <a:rPr lang="en-US" sz="1800" dirty="0">
                <a:solidFill>
                  <a:schemeClr val="tx1">
                    <a:lumMod val="65000"/>
                    <a:lumOff val="35000"/>
                  </a:schemeClr>
                </a:solidFill>
              </a:rPr>
              <a:t>explain </a:t>
            </a:r>
            <a:r>
              <a:rPr lang="en-US" sz="1800" dirty="0" smtClean="0">
                <a:solidFill>
                  <a:schemeClr val="tx1">
                    <a:lumMod val="65000"/>
                    <a:lumOff val="35000"/>
                  </a:schemeClr>
                </a:solidFill>
              </a:rPr>
              <a:t>the interaction between the two standards.</a:t>
            </a:r>
            <a:endParaRPr lang="en-US" sz="1800" dirty="0">
              <a:solidFill>
                <a:schemeClr val="tx1">
                  <a:lumMod val="65000"/>
                  <a:lumOff val="35000"/>
                </a:schemeClr>
              </a:solidFill>
            </a:endParaRPr>
          </a:p>
        </p:txBody>
      </p:sp>
    </p:spTree>
    <p:extLst>
      <p:ext uri="{BB962C8B-B14F-4D97-AF65-F5344CB8AC3E}">
        <p14:creationId xmlns:p14="http://schemas.microsoft.com/office/powerpoint/2010/main" val="33343752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03225" y="427437"/>
            <a:ext cx="8740775" cy="403875"/>
          </a:xfrm>
        </p:spPr>
        <p:txBody>
          <a:bodyPr/>
          <a:lstStyle/>
          <a:p>
            <a:r>
              <a:rPr lang="en-US" dirty="0" smtClean="0"/>
              <a:t>Way Forward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89053306"/>
              </p:ext>
            </p:extLst>
          </p:nvPr>
        </p:nvGraphicFramePr>
        <p:xfrm>
          <a:off x="330488" y="2880269"/>
          <a:ext cx="8740775" cy="1770380"/>
        </p:xfrm>
        <a:graphic>
          <a:graphicData uri="http://schemas.openxmlformats.org/drawingml/2006/table">
            <a:tbl>
              <a:tblPr firstRow="1" bandRow="1">
                <a:tableStyleId>{5940675A-B579-460E-94D1-54222C63F5DA}</a:tableStyleId>
              </a:tblPr>
              <a:tblGrid>
                <a:gridCol w="8740775">
                  <a:extLst>
                    <a:ext uri="{9D8B030D-6E8A-4147-A177-3AD203B41FA5}">
                      <a16:colId xmlns:a16="http://schemas.microsoft.com/office/drawing/2014/main" xmlns="" val="20000"/>
                    </a:ext>
                  </a:extLst>
                </a:gridCol>
              </a:tblGrid>
              <a:tr h="1580147">
                <a:tc>
                  <a:txBody>
                    <a:bodyPr/>
                    <a:lstStyle/>
                    <a:p>
                      <a:pPr>
                        <a:spcBef>
                          <a:spcPts val="450"/>
                        </a:spcBef>
                      </a:pPr>
                      <a:r>
                        <a:rPr lang="en-US" sz="1600" b="1" u="sng" dirty="0">
                          <a:solidFill>
                            <a:schemeClr val="tx1">
                              <a:lumMod val="65000"/>
                              <a:lumOff val="35000"/>
                            </a:schemeClr>
                          </a:solidFill>
                          <a:latin typeface="Arial" panose="020B0604020202020204" pitchFamily="34" charset="0"/>
                          <a:cs typeface="Arial" panose="020B0604020202020204" pitchFamily="34" charset="0"/>
                        </a:rPr>
                        <a:t>Matter for IAASB Consideration </a:t>
                      </a:r>
                    </a:p>
                    <a:p>
                      <a:pPr marL="342900" indent="-342900">
                        <a:spcBef>
                          <a:spcPts val="450"/>
                        </a:spcBef>
                        <a:buFont typeface="+mj-lt"/>
                        <a:buAutoNum type="arabicParenR" startAt="14"/>
                      </a:pPr>
                      <a:r>
                        <a:rPr lang="en-US" sz="1800" kern="1200" dirty="0" smtClean="0">
                          <a:solidFill>
                            <a:schemeClr val="tx1">
                              <a:lumMod val="65000"/>
                              <a:lumOff val="35000"/>
                            </a:schemeClr>
                          </a:solidFill>
                          <a:effectLst/>
                          <a:latin typeface="Arial" panose="020B0604020202020204" pitchFamily="34" charset="0"/>
                          <a:ea typeface="+mn-ea"/>
                          <a:cs typeface="Arial" panose="020B0604020202020204" pitchFamily="34" charset="0"/>
                        </a:rPr>
                        <a:t>Are there any other matters the IAASB wish to raise for further consideration by the Task Force that they expect the Task Force to respond to prior to the December 2018 IAASB meeting and finalization of proposed ISA 220 (Revised) as an ED? If so, please be specific as to any such issues, and provide detailed suggestions as to how they should be addressed.</a:t>
                      </a:r>
                      <a:endParaRPr lang="en-US" sz="1800" kern="1200" dirty="0">
                        <a:solidFill>
                          <a:schemeClr val="tx1">
                            <a:lumMod val="65000"/>
                            <a:lumOff val="35000"/>
                          </a:schemeClr>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xmlns="" val="10000"/>
                  </a:ext>
                </a:extLst>
              </a:tr>
            </a:tbl>
          </a:graphicData>
        </a:graphic>
      </p:graphicFrame>
      <p:sp>
        <p:nvSpPr>
          <p:cNvPr id="5" name="Slide Number Placeholder 4"/>
          <p:cNvSpPr>
            <a:spLocks noGrp="1"/>
          </p:cNvSpPr>
          <p:nvPr>
            <p:ph type="sldNum" sz="quarter" idx="12"/>
          </p:nvPr>
        </p:nvSpPr>
        <p:spPr/>
        <p:txBody>
          <a:body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26</a:t>
            </a:fld>
            <a:endParaRPr lang="en-US" dirty="0">
              <a:latin typeface="Arial" panose="020B0604020202020204" pitchFamily="34" charset="0"/>
              <a:cs typeface="MS PGothic" charset="0"/>
            </a:endParaRPr>
          </a:p>
        </p:txBody>
      </p:sp>
      <p:sp>
        <p:nvSpPr>
          <p:cNvPr id="6" name="Content Placeholder 1"/>
          <p:cNvSpPr txBox="1">
            <a:spLocks/>
          </p:cNvSpPr>
          <p:nvPr/>
        </p:nvSpPr>
        <p:spPr>
          <a:xfrm>
            <a:off x="403224" y="904941"/>
            <a:ext cx="8159167" cy="2143060"/>
          </a:xfrm>
          <a:prstGeom prst="rect">
            <a:avLst/>
          </a:prstGeom>
        </p:spPr>
        <p:txBody>
          <a:bodyPr vert="horz" lIns="0" tIns="0" rIns="0" bIns="0" rtlCol="0">
            <a:noAutofit/>
          </a:bodyPr>
          <a:lstStyle>
            <a:lvl1pPr marL="129779" indent="-129779" algn="l" defTabSz="342900" rtl="0" eaLnBrk="1" latinLnBrk="0" hangingPunct="1">
              <a:spcBef>
                <a:spcPts val="900"/>
              </a:spcBef>
              <a:buFont typeface="Arial"/>
              <a:buChar char="•"/>
              <a:defRPr sz="1500" kern="1200">
                <a:solidFill>
                  <a:srgbClr val="808080"/>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rgbClr val="808080"/>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rgbClr val="808080"/>
                </a:solidFill>
                <a:latin typeface="Arial" panose="020B0604020202020204" pitchFamily="34" charset="0"/>
                <a:ea typeface="+mn-ea"/>
                <a:cs typeface="Arial" panose="020B0604020202020204" pitchFamily="34" charset="0"/>
              </a:defRPr>
            </a:lvl3pPr>
            <a:lvl4pPr marL="642938"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4pPr>
            <a:lvl5pPr marL="813197" indent="-171450" algn="l" defTabSz="342900" rtl="0" eaLnBrk="1" latinLnBrk="0" hangingPunct="1">
              <a:spcBef>
                <a:spcPct val="20000"/>
              </a:spcBef>
              <a:buFont typeface="Arial"/>
              <a:buChar char="»"/>
              <a:defRPr sz="1050" kern="1200">
                <a:solidFill>
                  <a:srgbClr val="808080"/>
                </a:solidFill>
                <a:latin typeface="Arial" panose="020B0604020202020204" pitchFamily="34" charset="0"/>
                <a:ea typeface="+mn-ea"/>
                <a:cs typeface="Arial" panose="020B060402020202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347472" indent="-347472"/>
            <a:r>
              <a:rPr lang="en-US" sz="1800" dirty="0" smtClean="0">
                <a:solidFill>
                  <a:schemeClr val="tx1">
                    <a:lumMod val="65000"/>
                    <a:lumOff val="35000"/>
                  </a:schemeClr>
                </a:solidFill>
              </a:rPr>
              <a:t>Upcoming Outreach (Q4 2018)</a:t>
            </a:r>
          </a:p>
          <a:p>
            <a:pPr marL="694944" lvl="1" indent="-347472"/>
            <a:r>
              <a:rPr lang="en-US" sz="1650" dirty="0" smtClean="0">
                <a:solidFill>
                  <a:schemeClr val="tx1">
                    <a:lumMod val="65000"/>
                    <a:lumOff val="35000"/>
                  </a:schemeClr>
                </a:solidFill>
              </a:rPr>
              <a:t>Forum of Firms </a:t>
            </a:r>
            <a:endParaRPr lang="en-US" sz="1650" dirty="0">
              <a:solidFill>
                <a:schemeClr val="tx1">
                  <a:lumMod val="65000"/>
                  <a:lumOff val="35000"/>
                </a:schemeClr>
              </a:solidFill>
            </a:endParaRPr>
          </a:p>
          <a:p>
            <a:pPr marL="694944" lvl="1" indent="-347472"/>
            <a:r>
              <a:rPr lang="en-US" sz="1650" dirty="0" smtClean="0">
                <a:solidFill>
                  <a:schemeClr val="tx1">
                    <a:lumMod val="65000"/>
                    <a:lumOff val="35000"/>
                  </a:schemeClr>
                </a:solidFill>
              </a:rPr>
              <a:t>IFIAR </a:t>
            </a:r>
            <a:r>
              <a:rPr lang="en-US" sz="1650" dirty="0">
                <a:solidFill>
                  <a:schemeClr val="tx1">
                    <a:lumMod val="65000"/>
                    <a:lumOff val="35000"/>
                  </a:schemeClr>
                </a:solidFill>
              </a:rPr>
              <a:t>Standards Coordination Working </a:t>
            </a:r>
            <a:r>
              <a:rPr lang="en-US" sz="1650" dirty="0" smtClean="0">
                <a:solidFill>
                  <a:schemeClr val="tx1">
                    <a:lumMod val="65000"/>
                    <a:lumOff val="35000"/>
                  </a:schemeClr>
                </a:solidFill>
              </a:rPr>
              <a:t>Group</a:t>
            </a:r>
          </a:p>
          <a:p>
            <a:pPr marL="694944" lvl="1" indent="-347472"/>
            <a:r>
              <a:rPr lang="en-US" sz="1650" dirty="0" smtClean="0">
                <a:solidFill>
                  <a:schemeClr val="tx1">
                    <a:lumMod val="65000"/>
                    <a:lumOff val="35000"/>
                  </a:schemeClr>
                </a:solidFill>
              </a:rPr>
              <a:t>IOSCO</a:t>
            </a:r>
            <a:endParaRPr lang="en-US" sz="1650" dirty="0">
              <a:solidFill>
                <a:schemeClr val="tx1">
                  <a:lumMod val="65000"/>
                  <a:lumOff val="35000"/>
                </a:schemeClr>
              </a:solidFill>
            </a:endParaRPr>
          </a:p>
          <a:p>
            <a:pPr marL="694944" lvl="1" indent="-347472"/>
            <a:r>
              <a:rPr lang="en-US" sz="1650" dirty="0" smtClean="0">
                <a:solidFill>
                  <a:schemeClr val="tx1">
                    <a:lumMod val="65000"/>
                    <a:lumOff val="35000"/>
                  </a:schemeClr>
                </a:solidFill>
              </a:rPr>
              <a:t>Continued coordination </a:t>
            </a:r>
            <a:r>
              <a:rPr lang="en-US" sz="1650" dirty="0">
                <a:solidFill>
                  <a:schemeClr val="tx1">
                    <a:lumMod val="65000"/>
                    <a:lumOff val="35000"/>
                  </a:schemeClr>
                </a:solidFill>
              </a:rPr>
              <a:t>with the task forces working on ISQC 1 and ISQC 2, as well as with the IESBA</a:t>
            </a:r>
          </a:p>
          <a:p>
            <a:pPr marL="694944" lvl="1" indent="-347472"/>
            <a:endParaRPr lang="en-US" sz="1650" dirty="0">
              <a:solidFill>
                <a:schemeClr val="tx1">
                  <a:lumMod val="65000"/>
                  <a:lumOff val="35000"/>
                </a:schemeClr>
              </a:solidFill>
            </a:endParaRPr>
          </a:p>
        </p:txBody>
      </p:sp>
    </p:spTree>
    <p:extLst>
      <p:ext uri="{BB962C8B-B14F-4D97-AF65-F5344CB8AC3E}">
        <p14:creationId xmlns:p14="http://schemas.microsoft.com/office/powerpoint/2010/main" val="19474473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6737148"/>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IAASB_Powerpoint_template_2016_Widescreen</Template>
  <TotalTime>17346</TotalTime>
  <Words>1808</Words>
  <Application>Microsoft Office PowerPoint</Application>
  <PresentationFormat>On-screen Show (16:9)</PresentationFormat>
  <Paragraphs>246</Paragraphs>
  <Slides>27</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MS PGothic</vt:lpstr>
      <vt:lpstr>MS PGothic</vt:lpstr>
      <vt:lpstr>Arial</vt:lpstr>
      <vt:lpstr>Arial Narrow</vt:lpstr>
      <vt:lpstr>Calibri</vt:lpstr>
      <vt:lpstr>Times New Roman</vt:lpstr>
      <vt:lpstr>ヒラギノ角ゴ Pro W3</vt:lpstr>
      <vt:lpstr>Office Theme</vt:lpstr>
      <vt:lpstr>Quality Management at the Engagement Level Proposed ISA 220 (Revised)</vt:lpstr>
      <vt:lpstr>Introduction to the Discussion </vt:lpstr>
      <vt:lpstr>IAASB CAG Feedback </vt:lpstr>
      <vt:lpstr>IESBA Feedback on proposed ISA 220 (Revised)</vt:lpstr>
      <vt:lpstr>SMPC Feedback </vt:lpstr>
      <vt:lpstr>Public Interest; Exercising Professional Judgment and Professional Skepticism</vt:lpstr>
      <vt:lpstr>Scalability for Firms of Different Sizes, and for Engagements Where Nature and Circumstances Differ</vt:lpstr>
      <vt:lpstr>Firm Policies or Procedures</vt:lpstr>
      <vt:lpstr>Introduction, Objective, and Definitions</vt:lpstr>
      <vt:lpstr>Introduction, Objective, and Definitions</vt:lpstr>
      <vt:lpstr>Leadership Responsibilities for Managing and Achieving Quality on Audits </vt:lpstr>
      <vt:lpstr>Leadership Responsibilities for Managing and Achieving Quality on Audits </vt:lpstr>
      <vt:lpstr>Relevant Ethical Requirements, Including Independence Requirements </vt:lpstr>
      <vt:lpstr>Relevant Ethical Requirements, Including Independence Requirements </vt:lpstr>
      <vt:lpstr>Acceptance and Continuance of Client Relationships and Audit Engagements</vt:lpstr>
      <vt:lpstr>Acceptance and Continuance of Client Relationships and Audit Engagements</vt:lpstr>
      <vt:lpstr>Engagement Resources</vt:lpstr>
      <vt:lpstr>Engagement Resources</vt:lpstr>
      <vt:lpstr>Engagement Performance – Direction, Supervision, and Review</vt:lpstr>
      <vt:lpstr>Other Sections</vt:lpstr>
      <vt:lpstr>Other Sections</vt:lpstr>
      <vt:lpstr>Taking Overall Responsibility for Managing and Achieving Quality </vt:lpstr>
      <vt:lpstr>Taking Overall Responsibility for Managing and Achieving Quality </vt:lpstr>
      <vt:lpstr>Documentation</vt:lpstr>
      <vt:lpstr>Conforming Amendments </vt:lpstr>
      <vt:lpstr>Way Forward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Bradley Williams</dc:creator>
  <cp:lastModifiedBy>BJ</cp:lastModifiedBy>
  <cp:revision>211</cp:revision>
  <cp:lastPrinted>2016-03-04T17:09:52Z</cp:lastPrinted>
  <dcterms:created xsi:type="dcterms:W3CDTF">2016-11-09T14:56:20Z</dcterms:created>
  <dcterms:modified xsi:type="dcterms:W3CDTF">2018-09-17T22:32:34Z</dcterms:modified>
</cp:coreProperties>
</file>