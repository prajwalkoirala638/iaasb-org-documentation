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  <p:sldMasterId id="2147483672" r:id="rId2"/>
    <p:sldMasterId id="2147483696" r:id="rId3"/>
    <p:sldMasterId id="2147483708" r:id="rId4"/>
    <p:sldMasterId id="2147483816" r:id="rId5"/>
    <p:sldMasterId id="2147483844" r:id="rId6"/>
    <p:sldMasterId id="2147483856" r:id="rId7"/>
  </p:sldMasterIdLst>
  <p:notesMasterIdLst>
    <p:notesMasterId r:id="rId29"/>
  </p:notesMasterIdLst>
  <p:sldIdLst>
    <p:sldId id="271" r:id="rId8"/>
    <p:sldId id="559" r:id="rId9"/>
    <p:sldId id="567" r:id="rId10"/>
    <p:sldId id="524" r:id="rId11"/>
    <p:sldId id="346" r:id="rId12"/>
    <p:sldId id="557" r:id="rId13"/>
    <p:sldId id="558" r:id="rId14"/>
    <p:sldId id="561" r:id="rId15"/>
    <p:sldId id="562" r:id="rId16"/>
    <p:sldId id="564" r:id="rId17"/>
    <p:sldId id="566" r:id="rId18"/>
    <p:sldId id="560" r:id="rId19"/>
    <p:sldId id="568" r:id="rId20"/>
    <p:sldId id="531" r:id="rId21"/>
    <p:sldId id="565" r:id="rId22"/>
    <p:sldId id="529" r:id="rId23"/>
    <p:sldId id="550" r:id="rId24"/>
    <p:sldId id="563" r:id="rId25"/>
    <p:sldId id="555" r:id="rId26"/>
    <p:sldId id="549" r:id="rId27"/>
    <p:sldId id="394" r:id="rId28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an Zietsman" initials="MZ" lastIdx="62" clrIdx="0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2" name="Dan Montgomery" initials="DM" lastIdx="100" clrIdx="1">
    <p:extLst>
      <p:ext uri="{19B8F6BF-5375-455C-9EA6-DF929625EA0E}">
        <p15:presenceInfo xmlns:p15="http://schemas.microsoft.com/office/powerpoint/2012/main" userId="8ba5e3d143c5e0b2" providerId="Windows Live"/>
      </p:ext>
    </p:extLst>
  </p:cmAuthor>
  <p:cmAuthor id="3" name="Natalie Klonaridis" initials="NK" lastIdx="14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James Grosvenor" initials="JG" lastIdx="2" clrIdx="3">
    <p:extLst>
      <p:ext uri="{19B8F6BF-5375-455C-9EA6-DF929625EA0E}">
        <p15:presenceInfo xmlns:p15="http://schemas.microsoft.com/office/powerpoint/2012/main" userId="S-1-5-21-1801674531-1972579041-839522115-17641" providerId="AD"/>
      </p:ext>
    </p:extLst>
  </p:cmAuthor>
  <p:cmAuthor id="5" name="BJ" initials="BJ" lastIdx="4" clrIdx="4">
    <p:extLst>
      <p:ext uri="{19B8F6BF-5375-455C-9EA6-DF929625EA0E}">
        <p15:presenceInfo xmlns:p15="http://schemas.microsoft.com/office/powerpoint/2012/main" userId="BJ" providerId="None"/>
      </p:ext>
    </p:extLst>
  </p:cmAuthor>
  <p:cmAuthor id="6" name="Jasper van den Hout" initials="JvdH" lastIdx="4" clrIdx="5">
    <p:extLst>
      <p:ext uri="{19B8F6BF-5375-455C-9EA6-DF929625EA0E}">
        <p15:presenceInfo xmlns:p15="http://schemas.microsoft.com/office/powerpoint/2012/main" userId="S::JaspervandenHout@iaasb.org::055bbbd2-5046-47f6-8263-b7d8da73be0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9CF"/>
    <a:srgbClr val="005BAA"/>
    <a:srgbClr val="00C0F3"/>
    <a:srgbClr val="006CB9"/>
    <a:srgbClr val="00A9E4"/>
    <a:srgbClr val="0093D6"/>
    <a:srgbClr val="007FC7"/>
    <a:srgbClr val="0079C2"/>
    <a:srgbClr val="009AD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74906" autoAdjust="0"/>
  </p:normalViewPr>
  <p:slideViewPr>
    <p:cSldViewPr snapToGrid="0">
      <p:cViewPr varScale="1">
        <p:scale>
          <a:sx n="59" d="100"/>
          <a:sy n="59" d="100"/>
        </p:scale>
        <p:origin x="16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commentAuthors" Target="commentAuthors.xml"/><Relationship Id="rId8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E99C36-7D1C-4387-AF44-E7FCB3F4E37E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E57C338-51D3-4B1F-B4F8-9C66609F5D9E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2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Proposed ISA 600 (Revised)</a:t>
          </a:r>
        </a:p>
      </dgm:t>
    </dgm:pt>
    <dgm:pt modelId="{ADC42DB5-B686-4B81-9DDE-65AA6D8D786E}" type="parTrans" cxnId="{BB8F9127-6199-4C01-BC50-348447405C04}">
      <dgm:prSet/>
      <dgm:spPr/>
      <dgm:t>
        <a:bodyPr/>
        <a:lstStyle/>
        <a:p>
          <a:endParaRPr lang="en-US"/>
        </a:p>
      </dgm:t>
    </dgm:pt>
    <dgm:pt modelId="{41425E7F-A94C-4EE9-8688-3D40A29C50CF}" type="sibTrans" cxnId="{BB8F9127-6199-4C01-BC50-348447405C04}">
      <dgm:prSet/>
      <dgm:spPr/>
      <dgm:t>
        <a:bodyPr/>
        <a:lstStyle/>
        <a:p>
          <a:endParaRPr lang="en-US"/>
        </a:p>
      </dgm:t>
    </dgm:pt>
    <dgm:pt modelId="{E83E304F-1CE4-4F40-B7A0-AFCB44E8A16A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2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Outreach</a:t>
          </a:r>
        </a:p>
      </dgm:t>
    </dgm:pt>
    <dgm:pt modelId="{ED41B722-1CA5-434E-BE9A-CDFED49BBA50}" type="parTrans" cxnId="{ADCA0F17-B32B-4155-B2F0-FE4DAE3EF635}">
      <dgm:prSet/>
      <dgm:spPr/>
      <dgm:t>
        <a:bodyPr/>
        <a:lstStyle/>
        <a:p>
          <a:endParaRPr lang="en-US"/>
        </a:p>
      </dgm:t>
    </dgm:pt>
    <dgm:pt modelId="{90995A6E-C06E-4926-928E-75F744FEA639}" type="sibTrans" cxnId="{ADCA0F17-B32B-4155-B2F0-FE4DAE3EF635}">
      <dgm:prSet/>
      <dgm:spPr/>
      <dgm:t>
        <a:bodyPr/>
        <a:lstStyle/>
        <a:p>
          <a:endParaRPr lang="en-US"/>
        </a:p>
      </dgm:t>
    </dgm:pt>
    <dgm:pt modelId="{E2A5FFBD-BCDC-4528-A164-F697BE22657C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2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Way Forward</a:t>
          </a:r>
        </a:p>
      </dgm:t>
    </dgm:pt>
    <dgm:pt modelId="{CD36D1BD-3CF0-4ADF-94EE-5BF2F3BEE9E2}" type="parTrans" cxnId="{74C8C037-DEF5-4DF0-A29F-AF0B4364300D}">
      <dgm:prSet/>
      <dgm:spPr/>
      <dgm:t>
        <a:bodyPr/>
        <a:lstStyle/>
        <a:p>
          <a:endParaRPr lang="en-US"/>
        </a:p>
      </dgm:t>
    </dgm:pt>
    <dgm:pt modelId="{93F8CB2F-C10C-4861-B258-D4E291B5206E}" type="sibTrans" cxnId="{74C8C037-DEF5-4DF0-A29F-AF0B4364300D}">
      <dgm:prSet/>
      <dgm:spPr/>
      <dgm:t>
        <a:bodyPr/>
        <a:lstStyle/>
        <a:p>
          <a:endParaRPr lang="en-US"/>
        </a:p>
      </dgm:t>
    </dgm:pt>
    <dgm:pt modelId="{B9DB9C65-BD86-414D-8F1D-303A7AD1D97A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2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Conforming and Consequential Amendments</a:t>
          </a:r>
        </a:p>
      </dgm:t>
    </dgm:pt>
    <dgm:pt modelId="{03844064-7BDC-40A5-9CAF-E4FDBE1543DF}" type="parTrans" cxnId="{0439062B-92B2-4384-BE1A-AD025502880C}">
      <dgm:prSet/>
      <dgm:spPr/>
      <dgm:t>
        <a:bodyPr/>
        <a:lstStyle/>
        <a:p>
          <a:endParaRPr lang="en-US"/>
        </a:p>
      </dgm:t>
    </dgm:pt>
    <dgm:pt modelId="{4F16BF82-112C-4687-8C13-2D87E4B4D9A8}" type="sibTrans" cxnId="{0439062B-92B2-4384-BE1A-AD025502880C}">
      <dgm:prSet/>
      <dgm:spPr/>
      <dgm:t>
        <a:bodyPr/>
        <a:lstStyle/>
        <a:p>
          <a:endParaRPr lang="en-US"/>
        </a:p>
      </dgm:t>
    </dgm:pt>
    <dgm:pt modelId="{83E5B1CA-B483-457E-A8F0-C5E51F759FA7}" type="pres">
      <dgm:prSet presAssocID="{62E99C36-7D1C-4387-AF44-E7FCB3F4E37E}" presName="diagram" presStyleCnt="0">
        <dgm:presLayoutVars>
          <dgm:dir/>
          <dgm:resizeHandles val="exact"/>
        </dgm:presLayoutVars>
      </dgm:prSet>
      <dgm:spPr/>
    </dgm:pt>
    <dgm:pt modelId="{A6187F86-BE4E-47A1-822E-A7F6F2CF29F8}" type="pres">
      <dgm:prSet presAssocID="{E83E304F-1CE4-4F40-B7A0-AFCB44E8A16A}" presName="node" presStyleLbl="node1" presStyleIdx="0" presStyleCnt="4">
        <dgm:presLayoutVars>
          <dgm:bulletEnabled val="1"/>
        </dgm:presLayoutVars>
      </dgm:prSet>
      <dgm:spPr/>
    </dgm:pt>
    <dgm:pt modelId="{B6E97986-4102-48CF-A946-1B20D2D5B41B}" type="pres">
      <dgm:prSet presAssocID="{90995A6E-C06E-4926-928E-75F744FEA639}" presName="sibTrans" presStyleCnt="0"/>
      <dgm:spPr/>
    </dgm:pt>
    <dgm:pt modelId="{DB9B51CC-1A90-42FA-858E-E568DD86B563}" type="pres">
      <dgm:prSet presAssocID="{4E57C338-51D3-4B1F-B4F8-9C66609F5D9E}" presName="node" presStyleLbl="node1" presStyleIdx="1" presStyleCnt="4">
        <dgm:presLayoutVars>
          <dgm:bulletEnabled val="1"/>
        </dgm:presLayoutVars>
      </dgm:prSet>
      <dgm:spPr/>
    </dgm:pt>
    <dgm:pt modelId="{C903028C-6FBE-46B4-8053-A39EE25BD57C}" type="pres">
      <dgm:prSet presAssocID="{41425E7F-A94C-4EE9-8688-3D40A29C50CF}" presName="sibTrans" presStyleCnt="0"/>
      <dgm:spPr/>
    </dgm:pt>
    <dgm:pt modelId="{0BB88F8D-40E9-4124-AA48-9043DE25A256}" type="pres">
      <dgm:prSet presAssocID="{B9DB9C65-BD86-414D-8F1D-303A7AD1D97A}" presName="node" presStyleLbl="node1" presStyleIdx="2" presStyleCnt="4">
        <dgm:presLayoutVars>
          <dgm:bulletEnabled val="1"/>
        </dgm:presLayoutVars>
      </dgm:prSet>
      <dgm:spPr/>
    </dgm:pt>
    <dgm:pt modelId="{EA7993E9-7A6A-4512-BD85-DE293D2CECB7}" type="pres">
      <dgm:prSet presAssocID="{4F16BF82-112C-4687-8C13-2D87E4B4D9A8}" presName="sibTrans" presStyleCnt="0"/>
      <dgm:spPr/>
    </dgm:pt>
    <dgm:pt modelId="{6D33E93E-6B27-4F49-A141-113A0E19CF47}" type="pres">
      <dgm:prSet presAssocID="{E2A5FFBD-BCDC-4528-A164-F697BE22657C}" presName="node" presStyleLbl="node1" presStyleIdx="3" presStyleCnt="4">
        <dgm:presLayoutVars>
          <dgm:bulletEnabled val="1"/>
        </dgm:presLayoutVars>
      </dgm:prSet>
      <dgm:spPr/>
    </dgm:pt>
  </dgm:ptLst>
  <dgm:cxnLst>
    <dgm:cxn modelId="{ADCA0F17-B32B-4155-B2F0-FE4DAE3EF635}" srcId="{62E99C36-7D1C-4387-AF44-E7FCB3F4E37E}" destId="{E83E304F-1CE4-4F40-B7A0-AFCB44E8A16A}" srcOrd="0" destOrd="0" parTransId="{ED41B722-1CA5-434E-BE9A-CDFED49BBA50}" sibTransId="{90995A6E-C06E-4926-928E-75F744FEA639}"/>
    <dgm:cxn modelId="{BB8F9127-6199-4C01-BC50-348447405C04}" srcId="{62E99C36-7D1C-4387-AF44-E7FCB3F4E37E}" destId="{4E57C338-51D3-4B1F-B4F8-9C66609F5D9E}" srcOrd="1" destOrd="0" parTransId="{ADC42DB5-B686-4B81-9DDE-65AA6D8D786E}" sibTransId="{41425E7F-A94C-4EE9-8688-3D40A29C50CF}"/>
    <dgm:cxn modelId="{0439062B-92B2-4384-BE1A-AD025502880C}" srcId="{62E99C36-7D1C-4387-AF44-E7FCB3F4E37E}" destId="{B9DB9C65-BD86-414D-8F1D-303A7AD1D97A}" srcOrd="2" destOrd="0" parTransId="{03844064-7BDC-40A5-9CAF-E4FDBE1543DF}" sibTransId="{4F16BF82-112C-4687-8C13-2D87E4B4D9A8}"/>
    <dgm:cxn modelId="{6B13DB2E-A3C7-45AE-A6AF-FE55DE083D82}" type="presOf" srcId="{E83E304F-1CE4-4F40-B7A0-AFCB44E8A16A}" destId="{A6187F86-BE4E-47A1-822E-A7F6F2CF29F8}" srcOrd="0" destOrd="0" presId="urn:microsoft.com/office/officeart/2005/8/layout/default"/>
    <dgm:cxn modelId="{74C8C037-DEF5-4DF0-A29F-AF0B4364300D}" srcId="{62E99C36-7D1C-4387-AF44-E7FCB3F4E37E}" destId="{E2A5FFBD-BCDC-4528-A164-F697BE22657C}" srcOrd="3" destOrd="0" parTransId="{CD36D1BD-3CF0-4ADF-94EE-5BF2F3BEE9E2}" sibTransId="{93F8CB2F-C10C-4861-B258-D4E291B5206E}"/>
    <dgm:cxn modelId="{1BD7F253-246C-44DE-B0DF-D3D86882A1AD}" type="presOf" srcId="{62E99C36-7D1C-4387-AF44-E7FCB3F4E37E}" destId="{83E5B1CA-B483-457E-A8F0-C5E51F759FA7}" srcOrd="0" destOrd="0" presId="urn:microsoft.com/office/officeart/2005/8/layout/default"/>
    <dgm:cxn modelId="{4543E28E-63AD-4981-8218-547BFC04030B}" type="presOf" srcId="{B9DB9C65-BD86-414D-8F1D-303A7AD1D97A}" destId="{0BB88F8D-40E9-4124-AA48-9043DE25A256}" srcOrd="0" destOrd="0" presId="urn:microsoft.com/office/officeart/2005/8/layout/default"/>
    <dgm:cxn modelId="{D05580C4-B9D0-41CA-8A0F-356E15888A5C}" type="presOf" srcId="{E2A5FFBD-BCDC-4528-A164-F697BE22657C}" destId="{6D33E93E-6B27-4F49-A141-113A0E19CF47}" srcOrd="0" destOrd="0" presId="urn:microsoft.com/office/officeart/2005/8/layout/default"/>
    <dgm:cxn modelId="{7D07A8FB-32A6-4C4D-B439-CA2E080666EC}" type="presOf" srcId="{4E57C338-51D3-4B1F-B4F8-9C66609F5D9E}" destId="{DB9B51CC-1A90-42FA-858E-E568DD86B563}" srcOrd="0" destOrd="0" presId="urn:microsoft.com/office/officeart/2005/8/layout/default"/>
    <dgm:cxn modelId="{08302717-20BA-4749-953A-9C99530880ED}" type="presParOf" srcId="{83E5B1CA-B483-457E-A8F0-C5E51F759FA7}" destId="{A6187F86-BE4E-47A1-822E-A7F6F2CF29F8}" srcOrd="0" destOrd="0" presId="urn:microsoft.com/office/officeart/2005/8/layout/default"/>
    <dgm:cxn modelId="{CB5DBD23-B554-4C5D-B184-5DD45DE93CC6}" type="presParOf" srcId="{83E5B1CA-B483-457E-A8F0-C5E51F759FA7}" destId="{B6E97986-4102-48CF-A946-1B20D2D5B41B}" srcOrd="1" destOrd="0" presId="urn:microsoft.com/office/officeart/2005/8/layout/default"/>
    <dgm:cxn modelId="{CA3613F7-52C0-4260-9E77-7FF4C08A6950}" type="presParOf" srcId="{83E5B1CA-B483-457E-A8F0-C5E51F759FA7}" destId="{DB9B51CC-1A90-42FA-858E-E568DD86B563}" srcOrd="2" destOrd="0" presId="urn:microsoft.com/office/officeart/2005/8/layout/default"/>
    <dgm:cxn modelId="{6555E0EE-FC00-4EA0-A2E1-A0499D30E8A3}" type="presParOf" srcId="{83E5B1CA-B483-457E-A8F0-C5E51F759FA7}" destId="{C903028C-6FBE-46B4-8053-A39EE25BD57C}" srcOrd="3" destOrd="0" presId="urn:microsoft.com/office/officeart/2005/8/layout/default"/>
    <dgm:cxn modelId="{E6708F4F-3B50-4BB7-8BB7-A6C504699336}" type="presParOf" srcId="{83E5B1CA-B483-457E-A8F0-C5E51F759FA7}" destId="{0BB88F8D-40E9-4124-AA48-9043DE25A256}" srcOrd="4" destOrd="0" presId="urn:microsoft.com/office/officeart/2005/8/layout/default"/>
    <dgm:cxn modelId="{B35BBE93-111A-4177-838F-D882C7D0BE9F}" type="presParOf" srcId="{83E5B1CA-B483-457E-A8F0-C5E51F759FA7}" destId="{EA7993E9-7A6A-4512-BD85-DE293D2CECB7}" srcOrd="5" destOrd="0" presId="urn:microsoft.com/office/officeart/2005/8/layout/default"/>
    <dgm:cxn modelId="{CA963FA0-E533-4E5F-B2A2-59EEE96E4188}" type="presParOf" srcId="{83E5B1CA-B483-457E-A8F0-C5E51F759FA7}" destId="{6D33E93E-6B27-4F49-A141-113A0E19CF4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E99C36-7D1C-4387-AF44-E7FCB3F4E37E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74618AA-21E5-4F09-BF54-725CAD3C33E7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4000" b="1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Outreach</a:t>
          </a:r>
          <a:endParaRPr lang="en-US" sz="4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EE6D9E-4C3D-44FD-85A5-F145A789F888}" type="parTrans" cxnId="{0ADE6BBE-E781-4357-9B40-CD3A6E9697D5}">
      <dgm:prSet/>
      <dgm:spPr/>
      <dgm:t>
        <a:bodyPr/>
        <a:lstStyle/>
        <a:p>
          <a:endParaRPr lang="en-US"/>
        </a:p>
      </dgm:t>
    </dgm:pt>
    <dgm:pt modelId="{08ECE219-19ED-4756-BF73-0E3709BAE153}" type="sibTrans" cxnId="{0ADE6BBE-E781-4357-9B40-CD3A6E9697D5}">
      <dgm:prSet/>
      <dgm:spPr/>
      <dgm:t>
        <a:bodyPr/>
        <a:lstStyle/>
        <a:p>
          <a:endParaRPr lang="en-US"/>
        </a:p>
      </dgm:t>
    </dgm:pt>
    <dgm:pt modelId="{83E5B1CA-B483-457E-A8F0-C5E51F759FA7}" type="pres">
      <dgm:prSet presAssocID="{62E99C36-7D1C-4387-AF44-E7FCB3F4E37E}" presName="diagram" presStyleCnt="0">
        <dgm:presLayoutVars>
          <dgm:dir/>
          <dgm:resizeHandles val="exact"/>
        </dgm:presLayoutVars>
      </dgm:prSet>
      <dgm:spPr/>
    </dgm:pt>
    <dgm:pt modelId="{6A493A84-DB72-47A1-AF63-4D5E4CDE9BBA}" type="pres">
      <dgm:prSet presAssocID="{874618AA-21E5-4F09-BF54-725CAD3C33E7}" presName="node" presStyleLbl="node1" presStyleIdx="0" presStyleCnt="1" custScaleX="57955" custScaleY="48296">
        <dgm:presLayoutVars>
          <dgm:bulletEnabled val="1"/>
        </dgm:presLayoutVars>
      </dgm:prSet>
      <dgm:spPr/>
    </dgm:pt>
  </dgm:ptLst>
  <dgm:cxnLst>
    <dgm:cxn modelId="{1BD7F253-246C-44DE-B0DF-D3D86882A1AD}" type="presOf" srcId="{62E99C36-7D1C-4387-AF44-E7FCB3F4E37E}" destId="{83E5B1CA-B483-457E-A8F0-C5E51F759FA7}" srcOrd="0" destOrd="0" presId="urn:microsoft.com/office/officeart/2005/8/layout/default"/>
    <dgm:cxn modelId="{1E4CD7AE-6115-46C3-B4AA-94E4CE09548F}" type="presOf" srcId="{874618AA-21E5-4F09-BF54-725CAD3C33E7}" destId="{6A493A84-DB72-47A1-AF63-4D5E4CDE9BBA}" srcOrd="0" destOrd="0" presId="urn:microsoft.com/office/officeart/2005/8/layout/default"/>
    <dgm:cxn modelId="{0ADE6BBE-E781-4357-9B40-CD3A6E9697D5}" srcId="{62E99C36-7D1C-4387-AF44-E7FCB3F4E37E}" destId="{874618AA-21E5-4F09-BF54-725CAD3C33E7}" srcOrd="0" destOrd="0" parTransId="{65EE6D9E-4C3D-44FD-85A5-F145A789F888}" sibTransId="{08ECE219-19ED-4756-BF73-0E3709BAE153}"/>
    <dgm:cxn modelId="{14B148F7-EA79-40F3-911B-14BE053E0216}" type="presParOf" srcId="{83E5B1CA-B483-457E-A8F0-C5E51F759FA7}" destId="{6A493A84-DB72-47A1-AF63-4D5E4CDE9BBA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E99C36-7D1C-4387-AF44-E7FCB3F4E37E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74618AA-21E5-4F09-BF54-725CAD3C33E7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4000" b="1" dirty="0">
              <a:latin typeface="Arial" panose="020B0604020202020204" pitchFamily="34" charset="0"/>
              <a:cs typeface="Arial" panose="020B0604020202020204" pitchFamily="34" charset="0"/>
            </a:rPr>
            <a:t>Proposed ISA 600 (Revised)</a:t>
          </a:r>
        </a:p>
      </dgm:t>
    </dgm:pt>
    <dgm:pt modelId="{65EE6D9E-4C3D-44FD-85A5-F145A789F888}" type="parTrans" cxnId="{0ADE6BBE-E781-4357-9B40-CD3A6E9697D5}">
      <dgm:prSet/>
      <dgm:spPr/>
      <dgm:t>
        <a:bodyPr/>
        <a:lstStyle/>
        <a:p>
          <a:endParaRPr lang="en-US"/>
        </a:p>
      </dgm:t>
    </dgm:pt>
    <dgm:pt modelId="{08ECE219-19ED-4756-BF73-0E3709BAE153}" type="sibTrans" cxnId="{0ADE6BBE-E781-4357-9B40-CD3A6E9697D5}">
      <dgm:prSet/>
      <dgm:spPr/>
      <dgm:t>
        <a:bodyPr/>
        <a:lstStyle/>
        <a:p>
          <a:endParaRPr lang="en-US"/>
        </a:p>
      </dgm:t>
    </dgm:pt>
    <dgm:pt modelId="{83E5B1CA-B483-457E-A8F0-C5E51F759FA7}" type="pres">
      <dgm:prSet presAssocID="{62E99C36-7D1C-4387-AF44-E7FCB3F4E37E}" presName="diagram" presStyleCnt="0">
        <dgm:presLayoutVars>
          <dgm:dir/>
          <dgm:resizeHandles val="exact"/>
        </dgm:presLayoutVars>
      </dgm:prSet>
      <dgm:spPr/>
    </dgm:pt>
    <dgm:pt modelId="{6A493A84-DB72-47A1-AF63-4D5E4CDE9BBA}" type="pres">
      <dgm:prSet presAssocID="{874618AA-21E5-4F09-BF54-725CAD3C33E7}" presName="node" presStyleLbl="node1" presStyleIdx="0" presStyleCnt="1" custScaleX="57955" custScaleY="48296">
        <dgm:presLayoutVars>
          <dgm:bulletEnabled val="1"/>
        </dgm:presLayoutVars>
      </dgm:prSet>
      <dgm:spPr/>
    </dgm:pt>
  </dgm:ptLst>
  <dgm:cxnLst>
    <dgm:cxn modelId="{1BD7F253-246C-44DE-B0DF-D3D86882A1AD}" type="presOf" srcId="{62E99C36-7D1C-4387-AF44-E7FCB3F4E37E}" destId="{83E5B1CA-B483-457E-A8F0-C5E51F759FA7}" srcOrd="0" destOrd="0" presId="urn:microsoft.com/office/officeart/2005/8/layout/default"/>
    <dgm:cxn modelId="{1E4CD7AE-6115-46C3-B4AA-94E4CE09548F}" type="presOf" srcId="{874618AA-21E5-4F09-BF54-725CAD3C33E7}" destId="{6A493A84-DB72-47A1-AF63-4D5E4CDE9BBA}" srcOrd="0" destOrd="0" presId="urn:microsoft.com/office/officeart/2005/8/layout/default"/>
    <dgm:cxn modelId="{0ADE6BBE-E781-4357-9B40-CD3A6E9697D5}" srcId="{62E99C36-7D1C-4387-AF44-E7FCB3F4E37E}" destId="{874618AA-21E5-4F09-BF54-725CAD3C33E7}" srcOrd="0" destOrd="0" parTransId="{65EE6D9E-4C3D-44FD-85A5-F145A789F888}" sibTransId="{08ECE219-19ED-4756-BF73-0E3709BAE153}"/>
    <dgm:cxn modelId="{14B148F7-EA79-40F3-911B-14BE053E0216}" type="presParOf" srcId="{83E5B1CA-B483-457E-A8F0-C5E51F759FA7}" destId="{6A493A84-DB72-47A1-AF63-4D5E4CDE9BBA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E99C36-7D1C-4387-AF44-E7FCB3F4E37E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74618AA-21E5-4F09-BF54-725CAD3C33E7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4000" b="1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Conforming and Consequential  Amendments</a:t>
          </a:r>
          <a:endParaRPr lang="en-US" sz="4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EE6D9E-4C3D-44FD-85A5-F145A789F888}" type="parTrans" cxnId="{0ADE6BBE-E781-4357-9B40-CD3A6E9697D5}">
      <dgm:prSet/>
      <dgm:spPr/>
      <dgm:t>
        <a:bodyPr/>
        <a:lstStyle/>
        <a:p>
          <a:endParaRPr lang="en-US"/>
        </a:p>
      </dgm:t>
    </dgm:pt>
    <dgm:pt modelId="{08ECE219-19ED-4756-BF73-0E3709BAE153}" type="sibTrans" cxnId="{0ADE6BBE-E781-4357-9B40-CD3A6E9697D5}">
      <dgm:prSet/>
      <dgm:spPr/>
      <dgm:t>
        <a:bodyPr/>
        <a:lstStyle/>
        <a:p>
          <a:endParaRPr lang="en-US"/>
        </a:p>
      </dgm:t>
    </dgm:pt>
    <dgm:pt modelId="{83E5B1CA-B483-457E-A8F0-C5E51F759FA7}" type="pres">
      <dgm:prSet presAssocID="{62E99C36-7D1C-4387-AF44-E7FCB3F4E37E}" presName="diagram" presStyleCnt="0">
        <dgm:presLayoutVars>
          <dgm:dir/>
          <dgm:resizeHandles val="exact"/>
        </dgm:presLayoutVars>
      </dgm:prSet>
      <dgm:spPr/>
    </dgm:pt>
    <dgm:pt modelId="{6A493A84-DB72-47A1-AF63-4D5E4CDE9BBA}" type="pres">
      <dgm:prSet presAssocID="{874618AA-21E5-4F09-BF54-725CAD3C33E7}" presName="node" presStyleLbl="node1" presStyleIdx="0" presStyleCnt="1" custScaleX="57955" custScaleY="48296">
        <dgm:presLayoutVars>
          <dgm:bulletEnabled val="1"/>
        </dgm:presLayoutVars>
      </dgm:prSet>
      <dgm:spPr/>
    </dgm:pt>
  </dgm:ptLst>
  <dgm:cxnLst>
    <dgm:cxn modelId="{1BD7F253-246C-44DE-B0DF-D3D86882A1AD}" type="presOf" srcId="{62E99C36-7D1C-4387-AF44-E7FCB3F4E37E}" destId="{83E5B1CA-B483-457E-A8F0-C5E51F759FA7}" srcOrd="0" destOrd="0" presId="urn:microsoft.com/office/officeart/2005/8/layout/default"/>
    <dgm:cxn modelId="{1E4CD7AE-6115-46C3-B4AA-94E4CE09548F}" type="presOf" srcId="{874618AA-21E5-4F09-BF54-725CAD3C33E7}" destId="{6A493A84-DB72-47A1-AF63-4D5E4CDE9BBA}" srcOrd="0" destOrd="0" presId="urn:microsoft.com/office/officeart/2005/8/layout/default"/>
    <dgm:cxn modelId="{0ADE6BBE-E781-4357-9B40-CD3A6E9697D5}" srcId="{62E99C36-7D1C-4387-AF44-E7FCB3F4E37E}" destId="{874618AA-21E5-4F09-BF54-725CAD3C33E7}" srcOrd="0" destOrd="0" parTransId="{65EE6D9E-4C3D-44FD-85A5-F145A789F888}" sibTransId="{08ECE219-19ED-4756-BF73-0E3709BAE153}"/>
    <dgm:cxn modelId="{14B148F7-EA79-40F3-911B-14BE053E0216}" type="presParOf" srcId="{83E5B1CA-B483-457E-A8F0-C5E51F759FA7}" destId="{6A493A84-DB72-47A1-AF63-4D5E4CDE9BBA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E99C36-7D1C-4387-AF44-E7FCB3F4E37E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74618AA-21E5-4F09-BF54-725CAD3C33E7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4000" b="1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Way Forward</a:t>
          </a:r>
          <a:endParaRPr lang="en-US" sz="4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EE6D9E-4C3D-44FD-85A5-F145A789F888}" type="parTrans" cxnId="{0ADE6BBE-E781-4357-9B40-CD3A6E9697D5}">
      <dgm:prSet/>
      <dgm:spPr/>
      <dgm:t>
        <a:bodyPr/>
        <a:lstStyle/>
        <a:p>
          <a:endParaRPr lang="en-US"/>
        </a:p>
      </dgm:t>
    </dgm:pt>
    <dgm:pt modelId="{08ECE219-19ED-4756-BF73-0E3709BAE153}" type="sibTrans" cxnId="{0ADE6BBE-E781-4357-9B40-CD3A6E9697D5}">
      <dgm:prSet/>
      <dgm:spPr/>
      <dgm:t>
        <a:bodyPr/>
        <a:lstStyle/>
        <a:p>
          <a:endParaRPr lang="en-US"/>
        </a:p>
      </dgm:t>
    </dgm:pt>
    <dgm:pt modelId="{83E5B1CA-B483-457E-A8F0-C5E51F759FA7}" type="pres">
      <dgm:prSet presAssocID="{62E99C36-7D1C-4387-AF44-E7FCB3F4E37E}" presName="diagram" presStyleCnt="0">
        <dgm:presLayoutVars>
          <dgm:dir/>
          <dgm:resizeHandles val="exact"/>
        </dgm:presLayoutVars>
      </dgm:prSet>
      <dgm:spPr/>
    </dgm:pt>
    <dgm:pt modelId="{6A493A84-DB72-47A1-AF63-4D5E4CDE9BBA}" type="pres">
      <dgm:prSet presAssocID="{874618AA-21E5-4F09-BF54-725CAD3C33E7}" presName="node" presStyleLbl="node1" presStyleIdx="0" presStyleCnt="1" custScaleX="57955" custScaleY="48296">
        <dgm:presLayoutVars>
          <dgm:bulletEnabled val="1"/>
        </dgm:presLayoutVars>
      </dgm:prSet>
      <dgm:spPr/>
    </dgm:pt>
  </dgm:ptLst>
  <dgm:cxnLst>
    <dgm:cxn modelId="{1BD7F253-246C-44DE-B0DF-D3D86882A1AD}" type="presOf" srcId="{62E99C36-7D1C-4387-AF44-E7FCB3F4E37E}" destId="{83E5B1CA-B483-457E-A8F0-C5E51F759FA7}" srcOrd="0" destOrd="0" presId="urn:microsoft.com/office/officeart/2005/8/layout/default"/>
    <dgm:cxn modelId="{1E4CD7AE-6115-46C3-B4AA-94E4CE09548F}" type="presOf" srcId="{874618AA-21E5-4F09-BF54-725CAD3C33E7}" destId="{6A493A84-DB72-47A1-AF63-4D5E4CDE9BBA}" srcOrd="0" destOrd="0" presId="urn:microsoft.com/office/officeart/2005/8/layout/default"/>
    <dgm:cxn modelId="{0ADE6BBE-E781-4357-9B40-CD3A6E9697D5}" srcId="{62E99C36-7D1C-4387-AF44-E7FCB3F4E37E}" destId="{874618AA-21E5-4F09-BF54-725CAD3C33E7}" srcOrd="0" destOrd="0" parTransId="{65EE6D9E-4C3D-44FD-85A5-F145A789F888}" sibTransId="{08ECE219-19ED-4756-BF73-0E3709BAE153}"/>
    <dgm:cxn modelId="{14B148F7-EA79-40F3-911B-14BE053E0216}" type="presParOf" srcId="{83E5B1CA-B483-457E-A8F0-C5E51F759FA7}" destId="{6A493A84-DB72-47A1-AF63-4D5E4CDE9BBA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87F86-BE4E-47A1-822E-A7F6F2CF29F8}">
      <dsp:nvSpPr>
        <dsp:cNvPr id="0" name=""/>
        <dsp:cNvSpPr/>
      </dsp:nvSpPr>
      <dsp:spPr>
        <a:xfrm>
          <a:off x="1592486" y="481"/>
          <a:ext cx="3742586" cy="2245552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Outreach</a:t>
          </a:r>
        </a:p>
      </dsp:txBody>
      <dsp:txXfrm>
        <a:off x="1592486" y="481"/>
        <a:ext cx="3742586" cy="2245552"/>
      </dsp:txXfrm>
    </dsp:sp>
    <dsp:sp modelId="{DB9B51CC-1A90-42FA-858E-E568DD86B563}">
      <dsp:nvSpPr>
        <dsp:cNvPr id="0" name=""/>
        <dsp:cNvSpPr/>
      </dsp:nvSpPr>
      <dsp:spPr>
        <a:xfrm>
          <a:off x="5709332" y="481"/>
          <a:ext cx="3742586" cy="2245552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Proposed ISA 600 (Revised)</a:t>
          </a:r>
        </a:p>
      </dsp:txBody>
      <dsp:txXfrm>
        <a:off x="5709332" y="481"/>
        <a:ext cx="3742586" cy="2245552"/>
      </dsp:txXfrm>
    </dsp:sp>
    <dsp:sp modelId="{0BB88F8D-40E9-4124-AA48-9043DE25A256}">
      <dsp:nvSpPr>
        <dsp:cNvPr id="0" name=""/>
        <dsp:cNvSpPr/>
      </dsp:nvSpPr>
      <dsp:spPr>
        <a:xfrm>
          <a:off x="1592486" y="2620291"/>
          <a:ext cx="3742586" cy="2245552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Conforming and Consequential Amendments</a:t>
          </a:r>
        </a:p>
      </dsp:txBody>
      <dsp:txXfrm>
        <a:off x="1592486" y="2620291"/>
        <a:ext cx="3742586" cy="2245552"/>
      </dsp:txXfrm>
    </dsp:sp>
    <dsp:sp modelId="{6D33E93E-6B27-4F49-A141-113A0E19CF47}">
      <dsp:nvSpPr>
        <dsp:cNvPr id="0" name=""/>
        <dsp:cNvSpPr/>
      </dsp:nvSpPr>
      <dsp:spPr>
        <a:xfrm>
          <a:off x="5709332" y="2620291"/>
          <a:ext cx="3742586" cy="2245552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Way Forward</a:t>
          </a:r>
        </a:p>
      </dsp:txBody>
      <dsp:txXfrm>
        <a:off x="5709332" y="2620291"/>
        <a:ext cx="3742586" cy="2245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93A84-DB72-47A1-AF63-4D5E4CDE9BBA}">
      <dsp:nvSpPr>
        <dsp:cNvPr id="0" name=""/>
        <dsp:cNvSpPr/>
      </dsp:nvSpPr>
      <dsp:spPr>
        <a:xfrm>
          <a:off x="2321810" y="832960"/>
          <a:ext cx="6400785" cy="3200403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Outreach</a:t>
          </a:r>
          <a:endParaRPr lang="en-US" sz="4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21810" y="832960"/>
        <a:ext cx="6400785" cy="32004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93A84-DB72-47A1-AF63-4D5E4CDE9BBA}">
      <dsp:nvSpPr>
        <dsp:cNvPr id="0" name=""/>
        <dsp:cNvSpPr/>
      </dsp:nvSpPr>
      <dsp:spPr>
        <a:xfrm>
          <a:off x="2321810" y="832960"/>
          <a:ext cx="6400785" cy="3200403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latin typeface="Arial" panose="020B0604020202020204" pitchFamily="34" charset="0"/>
              <a:cs typeface="Arial" panose="020B0604020202020204" pitchFamily="34" charset="0"/>
            </a:rPr>
            <a:t>Proposed ISA 600 (Revised)</a:t>
          </a:r>
        </a:p>
      </dsp:txBody>
      <dsp:txXfrm>
        <a:off x="2321810" y="832960"/>
        <a:ext cx="6400785" cy="32004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93A84-DB72-47A1-AF63-4D5E4CDE9BBA}">
      <dsp:nvSpPr>
        <dsp:cNvPr id="0" name=""/>
        <dsp:cNvSpPr/>
      </dsp:nvSpPr>
      <dsp:spPr>
        <a:xfrm>
          <a:off x="2321810" y="832960"/>
          <a:ext cx="6400785" cy="3200403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Conforming and Consequential  Amendments</a:t>
          </a:r>
          <a:endParaRPr lang="en-US" sz="4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21810" y="832960"/>
        <a:ext cx="6400785" cy="32004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93A84-DB72-47A1-AF63-4D5E4CDE9BBA}">
      <dsp:nvSpPr>
        <dsp:cNvPr id="0" name=""/>
        <dsp:cNvSpPr/>
      </dsp:nvSpPr>
      <dsp:spPr>
        <a:xfrm>
          <a:off x="2321810" y="832960"/>
          <a:ext cx="6400785" cy="3200403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Way Forward</a:t>
          </a:r>
          <a:endParaRPr lang="en-US" sz="4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21810" y="832960"/>
        <a:ext cx="6400785" cy="3200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11698" cy="463409"/>
          </a:xfrm>
          <a:prstGeom prst="rect">
            <a:avLst/>
          </a:prstGeom>
        </p:spPr>
        <p:txBody>
          <a:bodyPr vert="horz" lIns="91798" tIns="45899" rIns="91798" bIns="4589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70" y="0"/>
            <a:ext cx="3011698" cy="463409"/>
          </a:xfrm>
          <a:prstGeom prst="rect">
            <a:avLst/>
          </a:prstGeom>
        </p:spPr>
        <p:txBody>
          <a:bodyPr vert="horz" lIns="91798" tIns="45899" rIns="91798" bIns="45899" rtlCol="0"/>
          <a:lstStyle>
            <a:lvl1pPr algn="r">
              <a:defRPr sz="1200"/>
            </a:lvl1pPr>
          </a:lstStyle>
          <a:p>
            <a:fld id="{8217F18B-FBA3-4F6B-97D9-EA188CD16FE5}" type="datetimeFigureOut">
              <a:rPr lang="en-US" smtClean="0"/>
              <a:t>12/16/2019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9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98" tIns="45899" rIns="91798" bIns="4589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9" y="4444862"/>
            <a:ext cx="5560060" cy="3636705"/>
          </a:xfrm>
          <a:prstGeom prst="rect">
            <a:avLst/>
          </a:prstGeom>
        </p:spPr>
        <p:txBody>
          <a:bodyPr vert="horz" lIns="91798" tIns="45899" rIns="91798" bIns="4589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772669"/>
            <a:ext cx="3011698" cy="463408"/>
          </a:xfrm>
          <a:prstGeom prst="rect">
            <a:avLst/>
          </a:prstGeom>
        </p:spPr>
        <p:txBody>
          <a:bodyPr vert="horz" lIns="91798" tIns="45899" rIns="91798" bIns="4589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70" y="8772669"/>
            <a:ext cx="3011698" cy="463408"/>
          </a:xfrm>
          <a:prstGeom prst="rect">
            <a:avLst/>
          </a:prstGeom>
        </p:spPr>
        <p:txBody>
          <a:bodyPr vert="horz" lIns="91798" tIns="45899" rIns="91798" bIns="45899" rtlCol="0" anchor="b"/>
          <a:lstStyle>
            <a:lvl1pPr algn="r">
              <a:defRPr sz="1200"/>
            </a:lvl1pPr>
          </a:lstStyle>
          <a:p>
            <a:fld id="{BAD342E5-AFF1-4E5D-BEDB-B5261E7DAD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7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77551F-2C26-5D4E-AA97-F437309E4641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91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993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096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02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876" y="4262514"/>
            <a:ext cx="6156325" cy="451015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1F99D-8DB6-499A-A5BE-D707899593C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41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876" y="4262514"/>
            <a:ext cx="6156325" cy="451015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1F99D-8DB6-499A-A5BE-D707899593C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115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469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882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985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12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093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876" y="4262514"/>
            <a:ext cx="6156325" cy="451015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1F99D-8DB6-499A-A5BE-D707899593C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580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21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244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15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876" y="4262514"/>
            <a:ext cx="6156325" cy="451015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1F99D-8DB6-499A-A5BE-D707899593C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022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497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8918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876" y="4262514"/>
            <a:ext cx="6156325" cy="451015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1F99D-8DB6-499A-A5BE-D707899593C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2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082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5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9BED-9370-4C69-8B19-DF5364062FE8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4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0B73-8C76-4707-80F8-3963866B81ED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72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C273B-D08E-4382-AC60-9B5464EA60A9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8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5696-183B-49B5-AC88-D34FC4452DEE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62864-BFD7-472A-B17C-B9A242BBF5D0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5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0F75-C365-4794-9298-176CBB056E2F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6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030E-23EE-4B6F-A577-FFA754F6F221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9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B20F4-4371-48A2-A1C5-564A141E18FA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4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E5E0-6B3C-4B70-BA81-DF7E8E12A50B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17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743C-A172-4B79-957C-A37D69B35244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0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5299-30FF-4207-93B4-7A9215AAF387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880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EC16-5153-4444-ADE5-376764F9317A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067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7036-7F39-45B7-B8E7-90186E26FD34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3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F55C-F0A0-40C2-92AA-13448C1B6DE2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55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1662-97DA-482D-BB44-A5E7E1463580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06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3B72-01DD-4123-ABCF-B71DC3DF9A35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1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7D7D-1F9A-439A-9B1F-FAD176DAAE95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47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D415-7CDF-4724-8022-A789958CE2B4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61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48A9-3F54-4B3A-97B0-C24F2AA0F49B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60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5935-DE68-40A0-AD95-3EF9318A5653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8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BD7C1-6C21-4A0C-AB04-28957353C253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AAA40-D496-4BA5-94BC-EC2395AF4BA1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14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FA47-1DBD-4C30-88B4-1AA2876CD950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723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B669-7C2F-4EE4-B944-62950FE6507F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11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AF38-C557-41C9-8FF5-BEDE134E17EE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80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6C26-B280-45A4-847B-175DFD0A3F0F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65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1335-23B7-4ACE-8A39-51D3C834FF8A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63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56E5-0DA9-479C-BCFC-7EE8D0DE2A8E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712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7FDF-1E42-4280-A018-ACBA192297BC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13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A5003-1A61-4041-91CF-BE3D4D09EBF1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726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7D3B-67DA-40FC-B2AC-DA938EAA2F72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13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7F13-E155-42CD-A20C-B277FF788E23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48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F6321-C77C-49CA-83B2-29284D793B25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49E-A96C-479D-999D-26024B301EF2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829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7697-44BE-464F-8981-C5EF3A124C23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688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7D8D-BF23-4BCF-8EBC-861A1B1DE27C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157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2379-2070-4859-82B4-0B6BF96F6750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23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5070-400A-40B5-8F3B-79E375432C4D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5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35FA3-A859-46EE-9DBA-3396054253CC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39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04EDA-4DB0-43F1-8DF2-E50A41E978FD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788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0095-03E6-49D1-8FE2-66640AD7D839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847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9738-EE9C-4FC1-8835-2C036BE91A2B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7808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346-6166-4BF4-867B-66F542385138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0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F4C4-52B4-4181-878C-D87ACB1BAF46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8767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54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91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847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839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01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8865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457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382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6723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7278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211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489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3392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502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198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6522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930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0182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5007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4799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10058400" cy="5334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4499" y="6326390"/>
            <a:ext cx="852032" cy="335775"/>
          </a:xfrm>
        </p:spPr>
        <p:txBody>
          <a:bodyPr/>
          <a:lstStyle/>
          <a:p>
            <a:fld id="{605F50E8-FD69-1B47-8B62-FEC05D1615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1330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8D7C-8822-4144-868B-B6EFA480259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54553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BFDA1-892D-475D-A681-5E1B87AA4CC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9520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B08FF-86A9-489B-9293-6DAA81CF558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6665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77F70-787D-4334-ABBD-4BEE84081B9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972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4004-8839-470E-98FD-2398CB00388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305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DBE43-71DC-4CB5-9DC9-86D083825D1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72827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6410-D2D8-4C53-8D73-7FAB926DC67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25341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7214-0AB1-49E6-A7A9-395C2525D2C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49580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15EC8-B9E7-4675-8613-1CB4C2CB49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6056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143D-A714-4C9D-9075-7EC3BC78008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3438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81AF-C2C2-42FA-ACA9-4469AE76468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07761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"/>
          <a:stretch/>
        </p:blipFill>
        <p:spPr>
          <a:xfrm>
            <a:off x="-16934" y="-35429"/>
            <a:ext cx="12208935" cy="320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6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6.xml"/><Relationship Id="rId21" Type="http://schemas.openxmlformats.org/officeDocument/2006/relationships/hyperlink" Target="http://www.iaasb.org/" TargetMode="Externa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6.png"/><Relationship Id="rId20" Type="http://schemas.openxmlformats.org/officeDocument/2006/relationships/hyperlink" Target="mailto:permissions@ifac.org" TargetMode="Externa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43.xml"/><Relationship Id="rId19" Type="http://schemas.openxmlformats.org/officeDocument/2006/relationships/hyperlink" Target="http://www.ifac.org/about-ifac/translations-permissions" TargetMode="Externa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4.png"/><Relationship Id="rId22" Type="http://schemas.openxmlformats.org/officeDocument/2006/relationships/image" Target="../media/image9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56EE5-B36E-4704-9EC0-BD21A5BAD421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878278"/>
              </p:ext>
            </p:extLst>
          </p:nvPr>
        </p:nvGraphicFramePr>
        <p:xfrm>
          <a:off x="838200" y="291549"/>
          <a:ext cx="10515600" cy="5910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04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9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B8EE7-8247-42AD-8E12-DC9551FCB683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33845"/>
            <a:ext cx="12192000" cy="447208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384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1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6B8DE-675F-4831-9241-FE2F5CAD1845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2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C7CB0-694A-4CF9-A877-F97EB51B4CF3}" type="datetime1">
              <a:rPr lang="en-US" smtClean="0"/>
              <a:t>12/16/2019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2746" y="5520048"/>
            <a:ext cx="770407" cy="193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3" y="5527362"/>
            <a:ext cx="583308" cy="1931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3723" y="5517394"/>
            <a:ext cx="770407" cy="1931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197" y="5520048"/>
            <a:ext cx="770407" cy="2344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015" y="5520048"/>
            <a:ext cx="770407" cy="1931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285" y="5516924"/>
            <a:ext cx="770407" cy="193152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931335" y="5827229"/>
            <a:ext cx="1083733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9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5139681" y="4870068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1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399" y="2461794"/>
            <a:ext cx="4326783" cy="759918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06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fld id="{AF73A935-0AD8-4B38-AD39-55437B5CA1D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89"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8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fld id="{AF73A935-0AD8-4B38-AD39-55437B5CA1D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89"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2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E7E7A-EFDA-4F96-BA3A-43C7E3A490F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 userDrawn="1"/>
        </p:nvGraphicFramePr>
        <p:xfrm>
          <a:off x="838200" y="1225605"/>
          <a:ext cx="2006600" cy="12914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017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3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59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4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156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ISA 600 – Group Audits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4287915"/>
            <a:ext cx="6831104" cy="1889365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US" sz="2600" b="1" dirty="0"/>
              <a:t>Len </a:t>
            </a:r>
            <a:r>
              <a:rPr lang="en-US" sz="2600" b="1" dirty="0" err="1"/>
              <a:t>Jui</a:t>
            </a:r>
            <a:r>
              <a:rPr lang="en-US" sz="2600" b="1" dirty="0"/>
              <a:t>, Task Force Chair</a:t>
            </a:r>
          </a:p>
          <a:p>
            <a:pPr>
              <a:spcBef>
                <a:spcPts val="800"/>
              </a:spcBef>
            </a:pPr>
            <a:r>
              <a:rPr lang="en-US" sz="2600" b="1" dirty="0"/>
              <a:t>IAASB Meeting December 2019</a:t>
            </a:r>
          </a:p>
          <a:p>
            <a:pPr>
              <a:spcBef>
                <a:spcPts val="800"/>
              </a:spcBef>
            </a:pPr>
            <a:r>
              <a:rPr lang="en-US" sz="2600" b="1" dirty="0"/>
              <a:t>Agenda Item 2</a:t>
            </a:r>
          </a:p>
        </p:txBody>
      </p:sp>
    </p:spTree>
    <p:extLst>
      <p:ext uri="{BB962C8B-B14F-4D97-AF65-F5344CB8AC3E}">
        <p14:creationId xmlns:p14="http://schemas.microsoft.com/office/powerpoint/2010/main" val="349763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Task Force Members and Staff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436879" y="1567543"/>
            <a:ext cx="11646033" cy="4722045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/>
              <a:t>Task Force members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Len </a:t>
            </a:r>
            <a:r>
              <a:rPr lang="en-US" sz="2000" dirty="0" err="1"/>
              <a:t>Jui</a:t>
            </a:r>
            <a:r>
              <a:rPr lang="en-US" sz="2000" dirty="0"/>
              <a:t>, Task Force Chair (supported by Susan Jones)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Robert Dohrer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Rich Sharko (supported by Jamie Shannon)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Wolf </a:t>
            </a:r>
            <a:r>
              <a:rPr lang="en-US" sz="2000" dirty="0" err="1"/>
              <a:t>Böhm</a:t>
            </a:r>
            <a:endParaRPr lang="en-US" sz="2000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Josephine Jackson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Dora Burzenski (Correspondent member)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/>
              <a:t>Staff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Jasper van den Hout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Dan Montgomery</a:t>
            </a:r>
            <a:endParaRPr lang="en-US" sz="2400" dirty="0">
              <a:solidFill>
                <a:srgbClr val="FF0000"/>
              </a:solidFill>
            </a:endParaRP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0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Task Force’s Activities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404222" y="1328058"/>
            <a:ext cx="9273177" cy="4961532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/>
              <a:t>3-day Task Force meeting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/>
              <a:t>4 Video conferences…</a:t>
            </a: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B538D-5B32-4B61-9F77-E4B2A798F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172" y="1166110"/>
            <a:ext cx="6844783" cy="512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4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48640" y="568411"/>
            <a:ext cx="1164336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Objectives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548641" y="1950720"/>
            <a:ext cx="5652770" cy="433886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/>
              <a:t>Obtain the Board’s views on the recommendations of the ISA 600 Task Force for the proposed revisions to ISA 600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238799" y="3647440"/>
            <a:ext cx="11844115" cy="3958634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7978" lvl="2" indent="-347472">
              <a:spcAft>
                <a:spcPts val="300"/>
              </a:spcAft>
            </a:pPr>
            <a:endParaRPr lang="en-US" dirty="0"/>
          </a:p>
          <a:p>
            <a:pPr marL="694944" lvl="1" indent="-347472">
              <a:lnSpc>
                <a:spcPts val="2400"/>
              </a:lnSpc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pic>
        <p:nvPicPr>
          <p:cNvPr id="3" name="Picture 2" descr="A close up of a necklace&#10;&#10;Description automatically generated">
            <a:extLst>
              <a:ext uri="{FF2B5EF4-FFF2-40B4-BE49-F238E27FC236}">
                <a16:creationId xmlns:a16="http://schemas.microsoft.com/office/drawing/2014/main" id="{E6EC40C0-D2E7-47DA-9C46-BE91CE0D5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777" y="1950720"/>
            <a:ext cx="5652770" cy="370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6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A09D6E-E118-4148-8EA1-5AC4A04F67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3" y="569384"/>
            <a:ext cx="11734797" cy="539749"/>
          </a:xfrm>
          <a:prstGeom prst="rect">
            <a:avLst/>
          </a:prstGeom>
        </p:spPr>
        <p:txBody>
          <a:bodyPr/>
          <a:lstStyle>
            <a:lvl1pPr algn="l" defTabSz="342900" rtl="0" eaLnBrk="1" latinLnBrk="0" hangingPunct="1">
              <a:spcBef>
                <a:spcPct val="0"/>
              </a:spcBef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463284">
              <a:lnSpc>
                <a:spcPts val="3200"/>
              </a:lnSpc>
            </a:pPr>
            <a:r>
              <a:rPr lang="en-US" sz="2400" b="1" dirty="0"/>
              <a:t>Overview</a:t>
            </a:r>
            <a:r>
              <a:rPr lang="en-US" sz="2667" b="1" dirty="0"/>
              <a:t>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C3EC23-7873-48A9-AE2D-15A6D112B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386931"/>
              </p:ext>
            </p:extLst>
          </p:nvPr>
        </p:nvGraphicFramePr>
        <p:xfrm>
          <a:off x="731520" y="1259840"/>
          <a:ext cx="11044406" cy="4866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22CE8F-9B8C-4BF7-B7EA-FDF950632F42}"/>
              </a:ext>
            </a:extLst>
          </p:cNvPr>
          <p:cNvSpPr txBox="1">
            <a:spLocks/>
          </p:cNvSpPr>
          <p:nvPr/>
        </p:nvSpPr>
        <p:spPr>
          <a:xfrm>
            <a:off x="7905136" y="6511061"/>
            <a:ext cx="3677264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Page </a:t>
            </a:r>
            <a:fld id="{95158037-59F0-9C4B-B231-1C776117AADA}" type="slidenum">
              <a:rPr lang="en-US" sz="900">
                <a:solidFill>
                  <a:srgbClr val="808080"/>
                </a:solidFill>
                <a:latin typeface="Arial" panose="020B0604020202020204" pitchFamily="34" charset="0"/>
              </a:rPr>
              <a:pPr algn="r"/>
              <a:t>5</a:t>
            </a:fld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71196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C3EC23-7873-48A9-AE2D-15A6D112B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33887"/>
              </p:ext>
            </p:extLst>
          </p:nvPr>
        </p:nvGraphicFramePr>
        <p:xfrm>
          <a:off x="731520" y="1259840"/>
          <a:ext cx="11044406" cy="4866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22CE8F-9B8C-4BF7-B7EA-FDF950632F42}"/>
              </a:ext>
            </a:extLst>
          </p:cNvPr>
          <p:cNvSpPr txBox="1">
            <a:spLocks/>
          </p:cNvSpPr>
          <p:nvPr/>
        </p:nvSpPr>
        <p:spPr>
          <a:xfrm>
            <a:off x="7905136" y="6511061"/>
            <a:ext cx="3677264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Page </a:t>
            </a:r>
            <a:fld id="{95158037-59F0-9C4B-B231-1C776117AADA}" type="slidenum">
              <a:rPr lang="en-US" sz="900">
                <a:solidFill>
                  <a:srgbClr val="808080"/>
                </a:solidFill>
                <a:latin typeface="Arial" panose="020B0604020202020204" pitchFamily="34" charset="0"/>
              </a:rPr>
              <a:pPr algn="r"/>
              <a:t>6</a:t>
            </a:fld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659361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7909-7189-4363-9374-F9BA8EF7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Outreach – IOSCO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44E5-1EE6-47D0-801D-4678479C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0918"/>
            <a:ext cx="11503631" cy="5086332"/>
          </a:xfrm>
        </p:spPr>
        <p:txBody>
          <a:bodyPr/>
          <a:lstStyle/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 with IOSCO Committee 1, Auditing Subcommittee and IOSCO Committee 1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IOSCO Committee 1, Auditing Subcommittee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Support for definition engagement team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Focus on how group engagement team can overcome access issues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Risk-based approach: clarify that auditor still needs to test material account balances, classes of transactions and disclosures (330.18)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IOSCO Committee 1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Going Concern: would like to see more application material on going concern matters at the component that would impact the group financial statement and/or other components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Call for separate standard for component auditors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Agree it is outside of the scope of 600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8BE7-4A03-4C6C-9F98-D8B31E55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918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7909-7189-4363-9374-F9BA8EF7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Outreach – Forum of Firms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44E5-1EE6-47D0-801D-4678479C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0917"/>
            <a:ext cx="11503631" cy="5220143"/>
          </a:xfrm>
        </p:spPr>
        <p:txBody>
          <a:bodyPr/>
          <a:lstStyle/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Deep dive session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Presentation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Break out session on risk-based approach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Panel discussion on access and documentation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Matters raised include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engagement team needs to do additional work on fraud, going concern, related parties 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engagement team should treat component auditors as extension of group engagement team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Restrictions to access to people and information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Often there are ways to overcome access issues – focus on overcoming restrictions and identifying restrictions timely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Documentation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Guidance needed on what should be documented when reviewing component auditor’s work</a:t>
            </a:r>
          </a:p>
          <a:p>
            <a:pPr marL="687388" lvl="1" indent="-346075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Implementation support will be very important</a:t>
            </a:r>
          </a:p>
          <a:p>
            <a:pPr marL="521910" lvl="1" indent="0">
              <a:spcBef>
                <a:spcPts val="300"/>
              </a:spcBef>
              <a:spcAft>
                <a:spcPts val="300"/>
              </a:spcAft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8BE7-4A03-4C6C-9F98-D8B31E55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56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7909-7189-4363-9374-F9BA8EF7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Outreach – GPPC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44E5-1EE6-47D0-801D-4678479C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4955"/>
            <a:ext cx="11503631" cy="5157950"/>
          </a:xfrm>
        </p:spPr>
        <p:txBody>
          <a:bodyPr/>
          <a:lstStyle/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Clarify scope of the standard and clarify that it builds on other standards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example, when GET audits all components – does ISA 600 apply?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 it management’s or auditor’s view on what is a component?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Further develop guidance on how to overcome access issues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Support for removing concept of group-wide controls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Risk-based approach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GET will likely spend more time on coordination/ communication with component auditors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Clarify involvement of component auditors in risk assessment and identifying, assessing and responding to RoMM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Clarify communications between group engagement team and component auditors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remove option to ‘review financial information of component’?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Address group engagement team’s work on fraud, going concern, related parties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Time is needed for field testing – 120-day exposure period not enough</a:t>
            </a:r>
          </a:p>
          <a:p>
            <a:pPr marL="0" lvl="1" indent="0"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8BE7-4A03-4C6C-9F98-D8B31E55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742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4567-516F-4304-9AB7-AF778511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Outreach – SMPC and Hong Kong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0F55-D79F-4E10-A95B-7BD3799AD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9754"/>
            <a:ext cx="11400890" cy="4362018"/>
          </a:xfrm>
        </p:spPr>
        <p:txBody>
          <a:bodyPr/>
          <a:lstStyle/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SMPC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Held two teleconferences – September 30 and December 4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Generally supportive of changes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Concerns with respect to the definition of engagement team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Clarify involvement of component auditors in risk assessment and identifying, assessing and responding to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RoMM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Communication should be two-way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Requirement on going concern (paragraph 41C) – include guidance about how this works in practice 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Hong Kong Financial Reporting Council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Clarify documentation requirement – what is GET expected to document?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Signing partner issue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C15ED-4211-434C-9F41-ACCB52DD3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45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7909-7189-4363-9374-F9BA8EF72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</p:spPr>
        <p:txBody>
          <a:bodyPr/>
          <a:lstStyle/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solidFill>
                  <a:schemeClr val="bg1"/>
                </a:solidFill>
              </a:rPr>
              <a:t>Outreach – Hong Kong Outreach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44E5-1EE6-47D0-801D-4678479C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58645"/>
            <a:ext cx="11455153" cy="4828312"/>
          </a:xfrm>
        </p:spPr>
        <p:txBody>
          <a:bodyPr/>
          <a:lstStyle/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Hong Kong Institute of Certified Public Accountants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Two meetings – Quality Assurance Team (Inspectors) and Auditing Assurance Standards Committee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Quality management at the network level influences involvement of group engagement team in the work of component auditors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Clarify documentation requirement 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GET expected to document?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Stronger linkage with ISA 230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8BE7-4A03-4C6C-9F98-D8B31E55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344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C3EC23-7873-48A9-AE2D-15A6D112B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637288"/>
              </p:ext>
            </p:extLst>
          </p:nvPr>
        </p:nvGraphicFramePr>
        <p:xfrm>
          <a:off x="731520" y="1259840"/>
          <a:ext cx="11044406" cy="4866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22CE8F-9B8C-4BF7-B7EA-FDF950632F42}"/>
              </a:ext>
            </a:extLst>
          </p:cNvPr>
          <p:cNvSpPr txBox="1">
            <a:spLocks/>
          </p:cNvSpPr>
          <p:nvPr/>
        </p:nvSpPr>
        <p:spPr>
          <a:xfrm>
            <a:off x="7905136" y="6511061"/>
            <a:ext cx="3677264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Page </a:t>
            </a:r>
            <a:fld id="{95158037-59F0-9C4B-B231-1C776117AADA}" type="slidenum">
              <a:rPr lang="en-US" sz="900">
                <a:solidFill>
                  <a:srgbClr val="808080"/>
                </a:solidFill>
                <a:latin typeface="Arial" panose="020B0604020202020204" pitchFamily="34" charset="0"/>
              </a:rPr>
              <a:pPr algn="r"/>
              <a:t>12</a:t>
            </a:fld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93645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07AD2-96C9-46F3-8E45-187FE53D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8EE43-3F1B-46A3-B704-6ECCC9AF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2351"/>
            <a:ext cx="11582400" cy="5188449"/>
          </a:xfrm>
        </p:spPr>
        <p:txBody>
          <a:bodyPr/>
          <a:lstStyle/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Materiality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ZA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New definition of aggregation risk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Changed ‘component materiality’ to ‘component performance materiality’ 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Clarified the interactions between the group engagement team and component auditor under the risk-based approach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engagement team has overall responsibility, component auditors may be involved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 component auditors are involved, the group engagement team needs to direct, supervise and review their work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Clarified and strengthened the group engagement team’s responsibilities related to fraud, related parties, going concern and subsequent events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Enhanced requirements and AM re: nature timing and extent of direction, supervision and review and two-way communication between the GET and CAs 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Enhanced documentation requirement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5D3F-F242-4780-A174-366F0361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42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Matter for IAASB Consideration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494485" y="2219417"/>
            <a:ext cx="11203029" cy="2791972"/>
          </a:xfrm>
          <a:prstGeom prst="roundRect">
            <a:avLst/>
          </a:prstGeom>
          <a:ln w="127000" cap="flat" cmpd="sng" algn="ctr">
            <a:solidFill>
              <a:schemeClr val="accent3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spcBef>
                <a:spcPts val="800"/>
              </a:spcBef>
              <a:buFont typeface="Arial"/>
              <a:buNone/>
            </a:pPr>
            <a:r>
              <a:rPr lang="en-US" sz="3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IAASB is asked for its views on the changes to proposed ISA 600 (Revised) as presented in </a:t>
            </a:r>
            <a:r>
              <a:rPr lang="en-US" sz="3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Item 2-B</a:t>
            </a:r>
            <a:r>
              <a:rPr lang="en-US" sz="3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9677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7909-7189-4363-9374-F9BA8EF72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</p:spPr>
        <p:txBody>
          <a:bodyPr/>
          <a:lstStyle/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solidFill>
                  <a:schemeClr val="bg1"/>
                </a:solidFill>
              </a:rPr>
              <a:t>Structure of Board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44E5-1EE6-47D0-801D-4678479C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58645"/>
            <a:ext cx="11455153" cy="4828312"/>
          </a:xfrm>
        </p:spPr>
        <p:txBody>
          <a:bodyPr/>
          <a:lstStyle/>
          <a:p>
            <a:pPr marL="0" lvl="1" indent="0">
              <a:spcBef>
                <a:spcPts val="300"/>
              </a:spcBef>
              <a:spcAft>
                <a:spcPts val="300"/>
              </a:spcAft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8BE7-4A03-4C6C-9F98-D8B31E55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A48A45-1C63-4EFF-A537-209592ECB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9852"/>
              </p:ext>
            </p:extLst>
          </p:nvPr>
        </p:nvGraphicFramePr>
        <p:xfrm>
          <a:off x="534256" y="1258643"/>
          <a:ext cx="11048143" cy="511969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5559777">
                  <a:extLst>
                    <a:ext uri="{9D8B030D-6E8A-4147-A177-3AD203B41FA5}">
                      <a16:colId xmlns:a16="http://schemas.microsoft.com/office/drawing/2014/main" val="1179571033"/>
                    </a:ext>
                  </a:extLst>
                </a:gridCol>
                <a:gridCol w="2534215">
                  <a:extLst>
                    <a:ext uri="{9D8B030D-6E8A-4147-A177-3AD203B41FA5}">
                      <a16:colId xmlns:a16="http://schemas.microsoft.com/office/drawing/2014/main" val="3837258975"/>
                    </a:ext>
                  </a:extLst>
                </a:gridCol>
                <a:gridCol w="2954151">
                  <a:extLst>
                    <a:ext uri="{9D8B030D-6E8A-4147-A177-3AD203B41FA5}">
                      <a16:colId xmlns:a16="http://schemas.microsoft.com/office/drawing/2014/main" val="99882395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 Paragraphs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 Paragraphs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5197759"/>
                  </a:ext>
                </a:extLst>
              </a:tr>
              <a:tr h="319095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Scope, Objectives, Definitions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1-10A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A1A-A5C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312769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Leadership Responsibilities for Managing and Achieving Quality, Acceptance and Continuance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11A-13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A9A-A12H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34762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the Entity and Its Environment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17-17A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A23-A29B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943267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Materiality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17B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A29C-A29F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618038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Assessing and Responding to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RoMM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20A-37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A29G-A56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245433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 Management when CA Are Involved: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88277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RER, Competence and Capabilities</a:t>
                      </a:r>
                      <a:endParaRPr lang="en-US" sz="1600" i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37A-37C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A57A-A57Q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70293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 	Engagement Performance, Two-way 	Communication</a:t>
                      </a:r>
                      <a:endParaRPr lang="en-US" sz="1600" i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37D-41A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A57R-A61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457248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l" defTabSz="457189" rtl="0" eaLnBrk="1" latinLnBrk="0" hangingPunct="1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Related Parties, Going Concern, Subsequent Events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41B-41E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A61A-A61B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020900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Evaluating SAAE, Auditor’s Report, Communications with Group Management and TCWG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44-49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A61C-A66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397275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Documentation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4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A67-A67A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477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380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C3EC23-7873-48A9-AE2D-15A6D112B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434868"/>
              </p:ext>
            </p:extLst>
          </p:nvPr>
        </p:nvGraphicFramePr>
        <p:xfrm>
          <a:off x="731520" y="1259840"/>
          <a:ext cx="11044406" cy="4866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22CE8F-9B8C-4BF7-B7EA-FDF950632F42}"/>
              </a:ext>
            </a:extLst>
          </p:cNvPr>
          <p:cNvSpPr txBox="1">
            <a:spLocks/>
          </p:cNvSpPr>
          <p:nvPr/>
        </p:nvSpPr>
        <p:spPr>
          <a:xfrm>
            <a:off x="7905136" y="6511061"/>
            <a:ext cx="3677264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Page </a:t>
            </a:r>
            <a:fld id="{95158037-59F0-9C4B-B231-1C776117AADA}" type="slidenum">
              <a:rPr lang="en-US" sz="900">
                <a:solidFill>
                  <a:srgbClr val="808080"/>
                </a:solidFill>
                <a:latin typeface="Arial" panose="020B0604020202020204" pitchFamily="34" charset="0"/>
              </a:rPr>
              <a:pPr algn="r"/>
              <a:t>16</a:t>
            </a:fld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45597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7909-7189-4363-9374-F9BA8EF7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Conforming and Consequential Amendments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44E5-1EE6-47D0-801D-4678479C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" y="1376979"/>
            <a:ext cx="11455153" cy="5134082"/>
          </a:xfrm>
        </p:spPr>
        <p:txBody>
          <a:bodyPr/>
          <a:lstStyle/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Consequential amendment made to ISA 300 based on discussion with Board in September 2019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Added requirement for the engagement partner to review the overall audit strategy and plan for all audits of financial statements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Staff performed an initial assessment on whether other conforming or consequential amendments are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8BE7-4A03-4C6C-9F98-D8B31E55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45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Matter for IAASB Consideration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494485" y="2219417"/>
            <a:ext cx="11203029" cy="2791972"/>
          </a:xfrm>
          <a:prstGeom prst="roundRect">
            <a:avLst/>
          </a:prstGeom>
          <a:ln w="127000" cap="flat" cmpd="sng" algn="ctr">
            <a:solidFill>
              <a:schemeClr val="accent3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spcBef>
                <a:spcPts val="800"/>
              </a:spcBef>
              <a:buFont typeface="Arial"/>
              <a:buNone/>
            </a:pPr>
            <a:r>
              <a:rPr lang="en-US" sz="3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IAASB is asked for its views on the proposed conforming and consequential amendments as presented in </a:t>
            </a:r>
            <a:r>
              <a:rPr lang="en-US" sz="3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Item 2-D</a:t>
            </a:r>
            <a:r>
              <a:rPr lang="en-US" sz="3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87486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C3EC23-7873-48A9-AE2D-15A6D112B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9638519"/>
              </p:ext>
            </p:extLst>
          </p:nvPr>
        </p:nvGraphicFramePr>
        <p:xfrm>
          <a:off x="731520" y="1259840"/>
          <a:ext cx="11044406" cy="4866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22CE8F-9B8C-4BF7-B7EA-FDF950632F42}"/>
              </a:ext>
            </a:extLst>
          </p:cNvPr>
          <p:cNvSpPr txBox="1">
            <a:spLocks/>
          </p:cNvSpPr>
          <p:nvPr/>
        </p:nvSpPr>
        <p:spPr>
          <a:xfrm>
            <a:off x="7905136" y="6511061"/>
            <a:ext cx="3677264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Page </a:t>
            </a:r>
            <a:fld id="{95158037-59F0-9C4B-B231-1C776117AADA}" type="slidenum">
              <a:rPr lang="en-US" sz="900">
                <a:solidFill>
                  <a:srgbClr val="808080"/>
                </a:solidFill>
                <a:latin typeface="Arial" panose="020B0604020202020204" pitchFamily="34" charset="0"/>
              </a:rPr>
              <a:pPr algn="r"/>
              <a:t>19</a:t>
            </a:fld>
            <a:r>
              <a:rPr lang="en-US" sz="900" dirty="0">
                <a:solidFill>
                  <a:srgbClr val="808080"/>
                </a:solidFill>
                <a:latin typeface="Arial" panose="020B0604020202020204" pitchFamily="34" charset="0"/>
              </a:rPr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567121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7909-7189-4363-9374-F9BA8EF7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44E5-1EE6-47D0-801D-4678479C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6039"/>
            <a:ext cx="11455153" cy="4786222"/>
          </a:xfrm>
        </p:spPr>
        <p:txBody>
          <a:bodyPr/>
          <a:lstStyle/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Working towards the approval of the exposure draft of proposed ISA 600 (Revised) at the March 2020 IAASB meeting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After the December 2019 meeting the Task Force will focus on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Addressing comments from the Board, as well as feedback received on outreach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Updating the appendices in extant ISA 600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Staff performed an initial assessment to identify potential changes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Enhancing the application material in certain areas</a:t>
            </a:r>
          </a:p>
          <a:p>
            <a:pPr marL="347472" lvl="1" indent="-347472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Task Force continues to liaise with stakeholders, IESBA and other IAASB Task Forces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Outreach scheduled with IAIS, IFIAR, IOSCO, INTOSAI and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PCAOB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8BE7-4A03-4C6C-9F98-D8B31E55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830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16753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6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7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12345</TotalTime>
  <Words>1073</Words>
  <Application>Microsoft Office PowerPoint</Application>
  <PresentationFormat>Widescreen</PresentationFormat>
  <Paragraphs>191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Arial Narrow</vt:lpstr>
      <vt:lpstr>Calibri</vt:lpstr>
      <vt:lpstr>Calibri Light</vt:lpstr>
      <vt:lpstr>1_Custom Design</vt:lpstr>
      <vt:lpstr>Custom Design</vt:lpstr>
      <vt:lpstr>2_Custom Design</vt:lpstr>
      <vt:lpstr>3_Custom Design</vt:lpstr>
      <vt:lpstr>4_Office Theme</vt:lpstr>
      <vt:lpstr>Office Theme</vt:lpstr>
      <vt:lpstr>1_Office Theme</vt:lpstr>
      <vt:lpstr>ISA 600 – Group Audits</vt:lpstr>
      <vt:lpstr>Task Force Members and Staff</vt:lpstr>
      <vt:lpstr>Task Force’s Activities</vt:lpstr>
      <vt:lpstr>Objectives</vt:lpstr>
      <vt:lpstr>Overview </vt:lpstr>
      <vt:lpstr>PowerPoint Presentation</vt:lpstr>
      <vt:lpstr>Outreach – IOSCO</vt:lpstr>
      <vt:lpstr>Outreach – Forum of Firms</vt:lpstr>
      <vt:lpstr>Outreach – GPPC</vt:lpstr>
      <vt:lpstr>Outreach – SMPC and Hong Kong</vt:lpstr>
      <vt:lpstr>Outreach – Hong Kong Outreach</vt:lpstr>
      <vt:lpstr>PowerPoint Presentation</vt:lpstr>
      <vt:lpstr>Key Enhancements</vt:lpstr>
      <vt:lpstr>Matter for IAASB Consideration</vt:lpstr>
      <vt:lpstr>Structure of Board Discussion</vt:lpstr>
      <vt:lpstr>PowerPoint Presentation</vt:lpstr>
      <vt:lpstr>Conforming and Consequential Amendments</vt:lpstr>
      <vt:lpstr>Matter for IAASB Consideration</vt:lpstr>
      <vt:lpstr>PowerPoint Presentation</vt:lpstr>
      <vt:lpstr>Way Forward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 Kotze</dc:creator>
  <cp:lastModifiedBy>Armand Kotze</cp:lastModifiedBy>
  <cp:revision>820</cp:revision>
  <cp:lastPrinted>2019-12-09T00:36:58Z</cp:lastPrinted>
  <dcterms:created xsi:type="dcterms:W3CDTF">2018-10-18T19:25:41Z</dcterms:created>
  <dcterms:modified xsi:type="dcterms:W3CDTF">2019-12-16T15:21:51Z</dcterms:modified>
</cp:coreProperties>
</file>