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2.xml" ContentType="application/vnd.openxmlformats-officedocument.drawingml.chartshapes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3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4.xml" ContentType="application/vnd.openxmlformats-officedocument.drawingml.chartshapes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5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6.xml" ContentType="application/vnd.openxmlformats-officedocument.drawingml.chartshape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  <p:sldMasterId id="2147483672" r:id="rId2"/>
    <p:sldMasterId id="2147483696" r:id="rId3"/>
    <p:sldMasterId id="2147483708" r:id="rId4"/>
    <p:sldMasterId id="2147483768" r:id="rId5"/>
    <p:sldMasterId id="2147483780" r:id="rId6"/>
    <p:sldMasterId id="2147483880" r:id="rId7"/>
  </p:sldMasterIdLst>
  <p:notesMasterIdLst>
    <p:notesMasterId r:id="rId23"/>
  </p:notesMasterIdLst>
  <p:handoutMasterIdLst>
    <p:handoutMasterId r:id="rId24"/>
  </p:handoutMasterIdLst>
  <p:sldIdLst>
    <p:sldId id="436" r:id="rId8"/>
    <p:sldId id="534" r:id="rId9"/>
    <p:sldId id="525" r:id="rId10"/>
    <p:sldId id="526" r:id="rId11"/>
    <p:sldId id="532" r:id="rId12"/>
    <p:sldId id="524" r:id="rId13"/>
    <p:sldId id="528" r:id="rId14"/>
    <p:sldId id="450" r:id="rId15"/>
    <p:sldId id="529" r:id="rId16"/>
    <p:sldId id="530" r:id="rId17"/>
    <p:sldId id="522" r:id="rId18"/>
    <p:sldId id="451" r:id="rId19"/>
    <p:sldId id="531" r:id="rId20"/>
    <p:sldId id="523" r:id="rId21"/>
    <p:sldId id="310" r:id="rId22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gan Zietsman" initials="MZ" lastIdx="51" clrIdx="0">
    <p:extLst>
      <p:ext uri="{19B8F6BF-5375-455C-9EA6-DF929625EA0E}">
        <p15:presenceInfo xmlns:p15="http://schemas.microsoft.com/office/powerpoint/2012/main" userId="Megan Zietsman" providerId="None"/>
      </p:ext>
    </p:extLst>
  </p:cmAuthor>
  <p:cmAuthor id="2" name="Dan Montgomery" initials="DM" lastIdx="2" clrIdx="1">
    <p:extLst>
      <p:ext uri="{19B8F6BF-5375-455C-9EA6-DF929625EA0E}">
        <p15:presenceInfo xmlns:p15="http://schemas.microsoft.com/office/powerpoint/2012/main" userId="8ba5e3d143c5e0b2" providerId="Windows Live"/>
      </p:ext>
    </p:extLst>
  </p:cmAuthor>
  <p:cmAuthor id="3" name="Roger Simnett" initials="RS" lastIdx="12" clrIdx="2">
    <p:extLst>
      <p:ext uri="{19B8F6BF-5375-455C-9EA6-DF929625EA0E}">
        <p15:presenceInfo xmlns:p15="http://schemas.microsoft.com/office/powerpoint/2012/main" userId="S::z8700013@ad.unsw.edu.au::18292ba6-e97e-4e5f-a184-d8075406fcb6" providerId="AD"/>
      </p:ext>
    </p:extLst>
  </p:cmAuthor>
  <p:cmAuthor id="4" name="Kalina Shukarova Savovska" initials="KSS" lastIdx="12" clrIdx="3">
    <p:extLst>
      <p:ext uri="{19B8F6BF-5375-455C-9EA6-DF929625EA0E}">
        <p15:presenceInfo xmlns:p15="http://schemas.microsoft.com/office/powerpoint/2012/main" userId="S::KalinaShukarova@iaasb.org::0c310e09-a4f1-4b78-977e-44e02227c9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4BB"/>
    <a:srgbClr val="DFE8F1"/>
    <a:srgbClr val="FCEAE8"/>
    <a:srgbClr val="FFCCCC"/>
    <a:srgbClr val="057DBF"/>
    <a:srgbClr val="3399FF"/>
    <a:srgbClr val="6699FF"/>
    <a:srgbClr val="FFCC99"/>
    <a:srgbClr val="CCECFF"/>
    <a:srgbClr val="66CCF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59338" autoAdjust="0"/>
  </p:normalViewPr>
  <p:slideViewPr>
    <p:cSldViewPr snapToGrid="0">
      <p:cViewPr varScale="1">
        <p:scale>
          <a:sx n="46" d="100"/>
          <a:sy n="46" d="100"/>
        </p:scale>
        <p:origin x="2106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4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5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Discussion Paper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50829681118703074"/>
          <c:y val="0.12810696038478517"/>
          <c:w val="0.49170311228119817"/>
          <c:h val="0.8476797241498356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</c:v>
                </c:pt>
              </c:strCache>
            </c:strRef>
          </c:tx>
          <c:spPr>
            <a:solidFill>
              <a:srgbClr val="F15A2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093758609607917"/>
                  <c:y val="-5.346912526405741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CD8-4AE1-8F90-38EFDB28D5E9}"/>
                </c:ext>
              </c:extLst>
            </c:dLbl>
            <c:dLbl>
              <c:idx val="1"/>
              <c:layout>
                <c:manualLayout>
                  <c:x val="0.11606873129980678"/>
                  <c:y val="-2.6734562632028218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CD8-4AE1-8F90-38EFDB28D5E9}"/>
                </c:ext>
              </c:extLst>
            </c:dLbl>
            <c:dLbl>
              <c:idx val="2"/>
              <c:layout>
                <c:manualLayout>
                  <c:x val="5.0648252098967471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CD8-4AE1-8F90-38EFDB28D5E9}"/>
                </c:ext>
              </c:extLst>
            </c:dLbl>
            <c:dLbl>
              <c:idx val="3"/>
              <c:layout>
                <c:manualLayout>
                  <c:x val="3.1882498430498972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CD8-4AE1-8F90-38EFDB28D5E9}"/>
                </c:ext>
              </c:extLst>
            </c:dLbl>
            <c:dLbl>
              <c:idx val="4"/>
              <c:layout>
                <c:manualLayout>
                  <c:x val="6.5015478291228614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CD8-4AE1-8F90-38EFDB28D5E9}"/>
                </c:ext>
              </c:extLst>
            </c:dLbl>
            <c:dLbl>
              <c:idx val="5"/>
              <c:layout>
                <c:manualLayout>
                  <c:x val="4.334365219415294E-2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CD8-4AE1-8F90-38EFDB28D5E9}"/>
                </c:ext>
              </c:extLst>
            </c:dLbl>
            <c:dLbl>
              <c:idx val="6"/>
              <c:layout>
                <c:manualLayout>
                  <c:x val="4.7678017413568315E-2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CD8-4AE1-8F90-38EFDB28D5E9}"/>
                </c:ext>
              </c:extLst>
            </c:dLbl>
            <c:dLbl>
              <c:idx val="7"/>
              <c:layout>
                <c:manualLayout>
                  <c:x val="4.3343652194152864E-2"/>
                  <c:y val="-2.3808829996432176E-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CD8-4AE1-8F90-38EFDB28D5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Member and Other Professional Organizations</c:v>
                </c:pt>
                <c:pt idx="1">
                  <c:v>Accounting Firms</c:v>
                </c:pt>
                <c:pt idx="2">
                  <c:v>National Auditing Standard Setters</c:v>
                </c:pt>
                <c:pt idx="3">
                  <c:v>Individuals and Others</c:v>
                </c:pt>
                <c:pt idx="4">
                  <c:v>Regulators and Audit Oversight Authorities</c:v>
                </c:pt>
                <c:pt idx="5">
                  <c:v>Public Sector Organizations</c:v>
                </c:pt>
                <c:pt idx="6">
                  <c:v>Academics</c:v>
                </c:pt>
                <c:pt idx="7">
                  <c:v>Monitoring Group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</c:v>
                </c:pt>
                <c:pt idx="1">
                  <c:v>25</c:v>
                </c:pt>
                <c:pt idx="2">
                  <c:v>14</c:v>
                </c:pt>
                <c:pt idx="3">
                  <c:v>11</c:v>
                </c:pt>
                <c:pt idx="4">
                  <c:v>5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CD8-4AE1-8F90-38EFDB28D5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Member and Other Professional Organizations</c:v>
                </c:pt>
                <c:pt idx="1">
                  <c:v>Accounting Firms</c:v>
                </c:pt>
                <c:pt idx="2">
                  <c:v>National Auditing Standard Setters</c:v>
                </c:pt>
                <c:pt idx="3">
                  <c:v>Individuals and Others</c:v>
                </c:pt>
                <c:pt idx="4">
                  <c:v>Regulators and Audit Oversight Authorities</c:v>
                </c:pt>
                <c:pt idx="5">
                  <c:v>Public Sector Organizations</c:v>
                </c:pt>
                <c:pt idx="6">
                  <c:v>Academics</c:v>
                </c:pt>
                <c:pt idx="7">
                  <c:v>Monitoring Group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9-9CD8-4AE1-8F90-38EFDB28D5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Member and Other Professional Organizations</c:v>
                </c:pt>
                <c:pt idx="1">
                  <c:v>Accounting Firms</c:v>
                </c:pt>
                <c:pt idx="2">
                  <c:v>National Auditing Standard Setters</c:v>
                </c:pt>
                <c:pt idx="3">
                  <c:v>Individuals and Others</c:v>
                </c:pt>
                <c:pt idx="4">
                  <c:v>Regulators and Audit Oversight Authorities</c:v>
                </c:pt>
                <c:pt idx="5">
                  <c:v>Public Sector Organizations</c:v>
                </c:pt>
                <c:pt idx="6">
                  <c:v>Academics</c:v>
                </c:pt>
                <c:pt idx="7">
                  <c:v>Monitoring Group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A-9CD8-4AE1-8F90-38EFDB28D5E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4"/>
        <c:overlap val="100"/>
        <c:axId val="1323639344"/>
        <c:axId val="1463924288"/>
      </c:barChart>
      <c:catAx>
        <c:axId val="1323639344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63924288"/>
        <c:crosses val="autoZero"/>
        <c:auto val="0"/>
        <c:lblAlgn val="ctr"/>
        <c:lblOffset val="100"/>
        <c:noMultiLvlLbl val="0"/>
      </c:catAx>
      <c:valAx>
        <c:axId val="146392428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23639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>
          <a:lumMod val="65000"/>
          <a:lumOff val="3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IFAC Survey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50829681118703074"/>
          <c:y val="0.13070431729802892"/>
          <c:w val="0.49170311228119817"/>
          <c:h val="0.8476797241498356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</c:v>
                </c:pt>
              </c:strCache>
            </c:strRef>
          </c:tx>
          <c:spPr>
            <a:solidFill>
              <a:srgbClr val="057DBF"/>
            </a:solidFill>
            <a:ln>
              <a:solidFill>
                <a:srgbClr val="057DBF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17500630957299149"/>
                  <c:y val="3.7292913459288368E-5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2000" b="1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0FB97F9-EDAF-4332-AEA6-42615CD967F0}" type="VALUE">
                      <a:rPr lang="en-US">
                        <a:solidFill>
                          <a:schemeClr val="bg1"/>
                        </a:solidFill>
                      </a:rPr>
                      <a:pPr>
                        <a:defRPr sz="2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defRPr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8401011715925704E-2"/>
                      <c:h val="6.6011928208236842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5C5-456B-9668-602CABB20F7B}"/>
                </c:ext>
              </c:extLst>
            </c:dLbl>
            <c:dLbl>
              <c:idx val="1"/>
              <c:layout>
                <c:manualLayout>
                  <c:x val="3.4674921755322274E-2"/>
                  <c:y val="9.386954642700411E-17"/>
                </c:manualLayout>
              </c:layout>
              <c:tx>
                <c:rich>
                  <a:bodyPr/>
                  <a:lstStyle/>
                  <a:p>
                    <a:fld id="{53CA98AF-605F-4452-B645-B27D04E2A55C}" type="VALUE">
                      <a:rPr lang="en-US" dirty="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5C5-456B-9668-602CABB20F7B}"/>
                </c:ext>
              </c:extLst>
            </c:dLbl>
            <c:dLbl>
              <c:idx val="2"/>
              <c:layout>
                <c:manualLayout>
                  <c:x val="8.6417515750042195E-2"/>
                  <c:y val="-1.5216012153176158E-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5C5-456B-9668-602CABB20F7B}"/>
                </c:ext>
              </c:extLst>
            </c:dLbl>
            <c:dLbl>
              <c:idx val="3"/>
              <c:layout>
                <c:manualLayout>
                  <c:x val="9.1021669607721095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5C5-456B-9668-602CABB20F7B}"/>
                </c:ext>
              </c:extLst>
            </c:dLbl>
            <c:dLbl>
              <c:idx val="4"/>
              <c:layout>
                <c:manualLayout>
                  <c:x val="9.3188852217428744E-2"/>
                  <c:y val="1.298780714768033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6931887157019891E-2"/>
                      <c:h val="6.860928512148062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A5C5-456B-9668-602CABB20F7B}"/>
                </c:ext>
              </c:extLst>
            </c:dLbl>
            <c:dLbl>
              <c:idx val="5"/>
              <c:layout>
                <c:manualLayout>
                  <c:x val="9.8731208436381085E-2"/>
                  <c:y val="7.60432742936117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5C5-456B-9668-602CABB20F7B}"/>
                </c:ext>
              </c:extLst>
            </c:dLbl>
            <c:dLbl>
              <c:idx val="6"/>
              <c:layout>
                <c:manualLayout>
                  <c:x val="9.5356034827136477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5C5-456B-9668-602CABB20F7B}"/>
                </c:ext>
              </c:extLst>
            </c:dLbl>
            <c:dLbl>
              <c:idx val="7"/>
              <c:layout>
                <c:manualLayout>
                  <c:x val="9.7523217436844112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5C5-456B-9668-602CABB20F7B}"/>
                </c:ext>
              </c:extLst>
            </c:dLbl>
            <c:dLbl>
              <c:idx val="8"/>
              <c:layout>
                <c:manualLayout>
                  <c:x val="9.8326269512535786E-2"/>
                  <c:y val="2.597356913243779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5C5-456B-9668-602CABB20F7B}"/>
                </c:ext>
              </c:extLst>
            </c:dLbl>
            <c:dLbl>
              <c:idx val="9"/>
              <c:layout>
                <c:manualLayout>
                  <c:x val="9.6897976721728465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5C5-456B-9668-602CABB20F7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Public Practice</c:v>
                </c:pt>
                <c:pt idx="1">
                  <c:v>Preparers of Financial Statements</c:v>
                </c:pt>
                <c:pt idx="2">
                  <c:v>Academics</c:v>
                </c:pt>
                <c:pt idx="3">
                  <c:v>Public Sector</c:v>
                </c:pt>
                <c:pt idx="4">
                  <c:v>Regulators and Audit Oversight Authorities</c:v>
                </c:pt>
                <c:pt idx="5">
                  <c:v>IFAC Member Organizations</c:v>
                </c:pt>
                <c:pt idx="6">
                  <c:v>Others</c:v>
                </c:pt>
                <c:pt idx="7">
                  <c:v>Those Charged with Governance</c:v>
                </c:pt>
                <c:pt idx="8">
                  <c:v>Investors / Analysts</c:v>
                </c:pt>
                <c:pt idx="9">
                  <c:v>National Standard Setters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947</c:v>
                </c:pt>
                <c:pt idx="1">
                  <c:v>327</c:v>
                </c:pt>
                <c:pt idx="2">
                  <c:v>98</c:v>
                </c:pt>
                <c:pt idx="3">
                  <c:v>86</c:v>
                </c:pt>
                <c:pt idx="4">
                  <c:v>64</c:v>
                </c:pt>
                <c:pt idx="5">
                  <c:v>57</c:v>
                </c:pt>
                <c:pt idx="6">
                  <c:v>45</c:v>
                </c:pt>
                <c:pt idx="7">
                  <c:v>32</c:v>
                </c:pt>
                <c:pt idx="8">
                  <c:v>27</c:v>
                </c:pt>
                <c:pt idx="9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5C5-456B-9668-602CABB20F7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4"/>
        <c:overlap val="100"/>
        <c:axId val="1323639344"/>
        <c:axId val="1463924288"/>
      </c:barChart>
      <c:catAx>
        <c:axId val="1323639344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b" anchorCtr="1"/>
          <a:lstStyle/>
          <a:p>
            <a:pPr>
              <a:defRPr sz="14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63924288"/>
        <c:crosses val="autoZero"/>
        <c:auto val="0"/>
        <c:lblAlgn val="r"/>
        <c:lblOffset val="100"/>
        <c:noMultiLvlLbl val="0"/>
      </c:catAx>
      <c:valAx>
        <c:axId val="146392428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23639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>
          <a:lumMod val="65000"/>
          <a:lumOff val="3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832894693842809"/>
          <c:y val="4.7871003101060967E-2"/>
          <c:w val="0.52166819550832144"/>
          <c:h val="0.8205124539156056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6CE-4B3B-9229-03B02322614A}"/>
              </c:ext>
            </c:extLst>
          </c:dPt>
          <c:dPt>
            <c:idx val="1"/>
            <c:bubble3D val="0"/>
            <c:spPr>
              <a:solidFill>
                <a:srgbClr val="005BA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6CE-4B3B-9229-03B02322614A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1"/>
                <c:pt idx="0">
                  <c:v>Revising the ISAs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0.15</c:v>
                </c:pt>
                <c:pt idx="1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6CE-4B3B-9229-03B0232261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832894693842809"/>
          <c:y val="4.7871003101060967E-2"/>
          <c:w val="0.52166819550832144"/>
          <c:h val="0.8205124539156056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C06-4B79-8BCE-E16C511DB5E5}"/>
              </c:ext>
            </c:extLst>
          </c:dPt>
          <c:dPt>
            <c:idx val="1"/>
            <c:bubble3D val="0"/>
            <c:spPr>
              <a:solidFill>
                <a:srgbClr val="005BA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C06-4B79-8BCE-E16C511DB5E5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1"/>
                <c:pt idx="0">
                  <c:v>Revising the ISAs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0.51</c:v>
                </c:pt>
                <c:pt idx="1">
                  <c:v>0.49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C06-4B79-8BCE-E16C511DB5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832894693842809"/>
          <c:y val="4.7871003101060967E-2"/>
          <c:w val="0.52166819550832144"/>
          <c:h val="0.8205124539156056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6CE-4B3B-9229-03B02322614A}"/>
              </c:ext>
            </c:extLst>
          </c:dPt>
          <c:dPt>
            <c:idx val="1"/>
            <c:bubble3D val="0"/>
            <c:spPr>
              <a:solidFill>
                <a:srgbClr val="005BA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6CE-4B3B-9229-03B02322614A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1"/>
                <c:pt idx="0">
                  <c:v>Separate Standard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0.46</c:v>
                </c:pt>
                <c:pt idx="1">
                  <c:v>0.54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6CE-4B3B-9229-03B0232261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832894693842809"/>
          <c:y val="4.7871003101060967E-2"/>
          <c:w val="0.52166819550832144"/>
          <c:h val="0.8205124539156056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C06-4B79-8BCE-E16C511DB5E5}"/>
              </c:ext>
            </c:extLst>
          </c:dPt>
          <c:dPt>
            <c:idx val="1"/>
            <c:bubble3D val="0"/>
            <c:spPr>
              <a:solidFill>
                <a:srgbClr val="005BA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C06-4B79-8BCE-E16C511DB5E5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1"/>
                <c:pt idx="0">
                  <c:v>Separate Standard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0.44</c:v>
                </c:pt>
                <c:pt idx="1">
                  <c:v>0.56000000000000005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C06-4B79-8BCE-E16C511DB5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832894693842809"/>
          <c:y val="4.7871003101060967E-2"/>
          <c:w val="0.52166819550832144"/>
          <c:h val="0.8205124539156056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6CE-4B3B-9229-03B02322614A}"/>
              </c:ext>
            </c:extLst>
          </c:dPt>
          <c:dPt>
            <c:idx val="1"/>
            <c:bubble3D val="0"/>
            <c:spPr>
              <a:solidFill>
                <a:srgbClr val="005BA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6CE-4B3B-9229-03B02322614A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1"/>
                <c:pt idx="0">
                  <c:v>Guidance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0.37</c:v>
                </c:pt>
                <c:pt idx="1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6CE-4B3B-9229-03B0232261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832894693842809"/>
          <c:y val="4.7871003101060967E-2"/>
          <c:w val="0.52166819550832144"/>
          <c:h val="0.8205124539156056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C06-4B79-8BCE-E16C511DB5E5}"/>
              </c:ext>
            </c:extLst>
          </c:dPt>
          <c:dPt>
            <c:idx val="1"/>
            <c:bubble3D val="0"/>
            <c:spPr>
              <a:solidFill>
                <a:srgbClr val="005BA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C06-4B79-8BCE-E16C511DB5E5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1"/>
                <c:pt idx="0">
                  <c:v>Guidance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0.05</c:v>
                </c:pt>
                <c:pt idx="1">
                  <c:v>0.95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C06-4B79-8BCE-E16C511DB5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0.26819</cdr:x>
      <cdr:y>0.29634</cdr:y>
    </cdr:from>
    <cdr:to>
      <cdr:x>0.56849</cdr:x>
      <cdr:y>0.5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1054594" y="708018"/>
          <a:ext cx="1180838" cy="48660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4400" b="1" dirty="0">
              <a:solidFill>
                <a:srgbClr val="E5420F"/>
              </a:solidFill>
            </a:rPr>
            <a:t>15</a:t>
          </a:r>
          <a:r>
            <a:rPr lang="en-US" sz="4000" b="1" dirty="0">
              <a:solidFill>
                <a:srgbClr val="E5420F"/>
              </a:solidFill>
            </a:rPr>
            <a:t>%</a:t>
          </a:r>
          <a:endParaRPr lang="en-US" sz="4400" b="1" dirty="0">
            <a:solidFill>
              <a:srgbClr val="E5420F"/>
            </a:solidFill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0.27363</cdr:x>
      <cdr:y>0.31497</cdr:y>
    </cdr:from>
    <cdr:to>
      <cdr:x>0.57393</cdr:x>
      <cdr:y>0.59837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966955" y="752538"/>
          <a:ext cx="1061206" cy="677108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3800" b="1" dirty="0">
              <a:solidFill>
                <a:srgbClr val="E5420F"/>
              </a:solidFill>
            </a:rPr>
            <a:t>51%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0.26819</cdr:x>
      <cdr:y>0.29634</cdr:y>
    </cdr:from>
    <cdr:to>
      <cdr:x>0.56849</cdr:x>
      <cdr:y>0.61838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1054594" y="708018"/>
          <a:ext cx="1180838" cy="76944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4400" b="1" dirty="0">
              <a:solidFill>
                <a:srgbClr val="E5420F"/>
              </a:solidFill>
            </a:rPr>
            <a:t>46</a:t>
          </a:r>
          <a:r>
            <a:rPr lang="en-US" sz="4000" b="1" dirty="0">
              <a:solidFill>
                <a:srgbClr val="E5420F"/>
              </a:solidFill>
            </a:rPr>
            <a:t>%</a:t>
          </a:r>
          <a:endParaRPr lang="en-US" sz="4400" b="1" dirty="0">
            <a:solidFill>
              <a:srgbClr val="E5420F"/>
            </a:solidFill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0.27363</cdr:x>
      <cdr:y>0.31497</cdr:y>
    </cdr:from>
    <cdr:to>
      <cdr:x>0.57393</cdr:x>
      <cdr:y>0.59837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966955" y="752538"/>
          <a:ext cx="1061206" cy="677108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3800" b="1" dirty="0">
              <a:solidFill>
                <a:srgbClr val="E5420F"/>
              </a:solidFill>
            </a:rPr>
            <a:t>44%</a:t>
          </a: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0.26819</cdr:x>
      <cdr:y>0.29634</cdr:y>
    </cdr:from>
    <cdr:to>
      <cdr:x>0.56849</cdr:x>
      <cdr:y>0.61838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1054594" y="708018"/>
          <a:ext cx="1180838" cy="76944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4400" b="1" dirty="0">
              <a:solidFill>
                <a:srgbClr val="E5420F"/>
              </a:solidFill>
            </a:rPr>
            <a:t>37</a:t>
          </a:r>
          <a:r>
            <a:rPr lang="en-US" sz="4000" b="1" dirty="0">
              <a:solidFill>
                <a:srgbClr val="E5420F"/>
              </a:solidFill>
            </a:rPr>
            <a:t>%</a:t>
          </a:r>
          <a:endParaRPr lang="en-US" sz="4400" b="1" dirty="0">
            <a:solidFill>
              <a:srgbClr val="E5420F"/>
            </a:solidFill>
          </a:endParaRP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0.27363</cdr:x>
      <cdr:y>0.31497</cdr:y>
    </cdr:from>
    <cdr:to>
      <cdr:x>0.57393</cdr:x>
      <cdr:y>0.59837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966955" y="752538"/>
          <a:ext cx="1061206" cy="677108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3800" b="1" dirty="0">
              <a:solidFill>
                <a:srgbClr val="E5420F"/>
              </a:solidFill>
            </a:rPr>
            <a:t>5%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D2FFC1-921C-4620-89A5-9770D57F4E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98535-7BEF-4674-8B7B-A59AF1A36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2184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8217F18B-FBA3-4F6B-97D9-EA188CD16FE5}" type="datetimeFigureOut">
              <a:rPr lang="en-US" smtClean="0"/>
              <a:t>12/16/2019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BAD342E5-AFF1-4E5D-BEDB-B5261E7DAD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4790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910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008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635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724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6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2077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20B30-62F6-4713-A58D-86DEA8266B8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8373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20B30-62F6-4713-A58D-86DEA8266B8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3618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20B30-62F6-4713-A58D-86DEA8266B8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0457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20B30-62F6-4713-A58D-86DEA8266B8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4785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5121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10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703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2882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42E5-AFF1-4E5D-BEDB-B5261E7DADB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174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9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18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244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726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38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5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159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768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099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943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175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70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880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067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5138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634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855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906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614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547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2619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5600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180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05138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0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8141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1723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1116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5805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9651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5636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2712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132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0726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4130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2484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60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8297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0688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1578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3237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450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2396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6788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9847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7808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700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8767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3676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898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2433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4036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4091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9672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4443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21079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6293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5745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3394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43"/>
            <a:ext cx="12192000" cy="312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870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4026"/>
            <a:ext cx="3720336" cy="6534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2" y="2"/>
            <a:ext cx="12208933" cy="316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39108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3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1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2" y="4961469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537200"/>
            <a:ext cx="3702259" cy="650232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601537"/>
            <a:ext cx="12192000" cy="164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755250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857229" indent="-228594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5136" y="6511061"/>
            <a:ext cx="3677264" cy="304412"/>
          </a:xfrm>
        </p:spPr>
        <p:txBody>
          <a:bodyPr/>
          <a:lstStyle>
            <a:lvl1pPr marL="0" marR="0" indent="0" algn="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37147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10881"/>
            <a:ext cx="12192000" cy="52522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5732585"/>
            <a:ext cx="12192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5732585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53283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08016" y="6497447"/>
            <a:ext cx="2774384" cy="335775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2314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50690"/>
            <a:ext cx="5386917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03648"/>
            <a:ext cx="5386917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350690"/>
            <a:ext cx="5389033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003648"/>
            <a:ext cx="5389033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41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36" indent="-228594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8252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09303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5406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24003" y="2082499"/>
            <a:ext cx="5857477" cy="976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5095865" y="5009183"/>
            <a:ext cx="1685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189"/>
            <a:r>
              <a:rPr lang="en-US" sz="1800" dirty="0">
                <a:solidFill>
                  <a:srgbClr val="1F497D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508000" y="6430429"/>
            <a:ext cx="11684000" cy="4603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189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746" y="5557768"/>
            <a:ext cx="770407" cy="2575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3" y="5567520"/>
            <a:ext cx="583308" cy="2575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723" y="5554229"/>
            <a:ext cx="770407" cy="2575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197" y="5557768"/>
            <a:ext cx="770407" cy="3125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015" y="5557768"/>
            <a:ext cx="770407" cy="2575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285" y="5553603"/>
            <a:ext cx="770407" cy="257536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931335" y="6144039"/>
            <a:ext cx="108373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189"/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62856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10058400" cy="53340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0"/>
          </p:nvPr>
        </p:nvSpPr>
        <p:spPr>
          <a:xfrm>
            <a:off x="508000" y="152400"/>
            <a:ext cx="3556000" cy="228600"/>
          </a:xfr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24359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10058400" cy="533400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0"/>
          </p:nvPr>
        </p:nvSpPr>
        <p:spPr>
          <a:xfrm>
            <a:off x="508000" y="152400"/>
            <a:ext cx="3556000" cy="228600"/>
          </a:xfr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30451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32666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5137"/>
            <a:ext cx="10515600" cy="4351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16275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75818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26535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9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9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99732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40676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03774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8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9" y="2057401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18078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8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9" y="2057401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5664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05137"/>
            <a:ext cx="10515600" cy="435133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06044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683500" cy="581183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938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png"/><Relationship Id="rId18" Type="http://schemas.openxmlformats.org/officeDocument/2006/relationships/image" Target="../media/image8.png"/><Relationship Id="rId3" Type="http://schemas.openxmlformats.org/officeDocument/2006/relationships/slideLayout" Target="../slideLayouts/slideLayout36.xml"/><Relationship Id="rId21" Type="http://schemas.openxmlformats.org/officeDocument/2006/relationships/hyperlink" Target="http://www.iaasb.org/" TargetMode="Externa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6.png"/><Relationship Id="rId20" Type="http://schemas.openxmlformats.org/officeDocument/2006/relationships/hyperlink" Target="mailto:permissions@ifac.org" TargetMode="Externa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43.xml"/><Relationship Id="rId19" Type="http://schemas.openxmlformats.org/officeDocument/2006/relationships/hyperlink" Target="http://www.ifac.org/about-ifac/translations-permissions" TargetMode="Externa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4.png"/><Relationship Id="rId22" Type="http://schemas.openxmlformats.org/officeDocument/2006/relationships/image" Target="../media/image9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0.png"/><Relationship Id="rId18" Type="http://schemas.openxmlformats.org/officeDocument/2006/relationships/image" Target="../media/image7.png"/><Relationship Id="rId3" Type="http://schemas.openxmlformats.org/officeDocument/2006/relationships/slideLayout" Target="../slideLayouts/slideLayout47.xml"/><Relationship Id="rId21" Type="http://schemas.openxmlformats.org/officeDocument/2006/relationships/hyperlink" Target="mailto:permissions@ifac.org" TargetMode="Externa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image" Target="../media/image6.png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5.png"/><Relationship Id="rId20" Type="http://schemas.openxmlformats.org/officeDocument/2006/relationships/hyperlink" Target="http://www.ifac.org/about-ifac/translations-permissions" TargetMode="Externa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54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3.png"/><Relationship Id="rId22" Type="http://schemas.openxmlformats.org/officeDocument/2006/relationships/hyperlink" Target="http://www.iaasb.org/" TargetMode="Externa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11.jpe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8878278"/>
              </p:ext>
            </p:extLst>
          </p:nvPr>
        </p:nvGraphicFramePr>
        <p:xfrm>
          <a:off x="838200" y="291549"/>
          <a:ext cx="10515600" cy="5910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104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>
                    <a:lnL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8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599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5DAD2-EBD2-4248-A1BE-DE5C530C13E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633845"/>
            <a:ext cx="12192000" cy="447208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33844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6285141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6207974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1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5E96D-C2D6-4C1C-BEE1-8F30C6DF7FE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2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7A7E9-A6B9-48E9-BF8E-B5EFD8DCE52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2746" y="5520048"/>
            <a:ext cx="770407" cy="1931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4003" y="5527362"/>
            <a:ext cx="583308" cy="1931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3723" y="5517394"/>
            <a:ext cx="770407" cy="19315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1197" y="5520048"/>
            <a:ext cx="770407" cy="2344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8015" y="5520048"/>
            <a:ext cx="770407" cy="19315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80285" y="5516924"/>
            <a:ext cx="770407" cy="193152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931335" y="5827229"/>
            <a:ext cx="1083733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9"/>
              </a:rPr>
              <a:t>permissions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0"/>
              </a:rPr>
              <a:t>permissions@ifac.org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5139681" y="4870068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21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399" y="2461794"/>
            <a:ext cx="4326783" cy="759918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>
            <a:off x="0" y="6285141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0" y="6207974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8069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1BF3E-DF8B-49A5-8A7B-7F8F24820CAC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Picture 9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167262" y="2489527"/>
            <a:ext cx="5857477" cy="7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2746" y="5520048"/>
            <a:ext cx="770407" cy="1931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4003" y="5527362"/>
            <a:ext cx="583308" cy="1931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3723" y="5517394"/>
            <a:ext cx="770407" cy="19315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1197" y="5520048"/>
            <a:ext cx="770407" cy="2344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8015" y="5520048"/>
            <a:ext cx="770407" cy="19315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80285" y="5516924"/>
            <a:ext cx="770407" cy="193152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931335" y="5827229"/>
            <a:ext cx="1083733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0"/>
              </a:rPr>
              <a:t>permissions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1"/>
              </a:rPr>
              <a:t>permissions@ifac.org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5139681" y="4870068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22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0" y="6285141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0" y="6207974"/>
            <a:ext cx="12192000" cy="49434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429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3393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69917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69917"/>
            <a:ext cx="10972800" cy="5385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2515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6647" y="6511061"/>
            <a:ext cx="27432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189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21531" y="6511061"/>
            <a:ext cx="41148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189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8016" y="6511061"/>
            <a:ext cx="2774384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 defTabSz="457189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 defTabSz="457189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508000" y="6429638"/>
            <a:ext cx="11684000" cy="4603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189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157" y="73879"/>
            <a:ext cx="2383243" cy="41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084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904" r:id="rId12"/>
  </p:sldLayoutIdLst>
  <p:hf hdr="0" ftr="0" dt="0"/>
  <p:txStyles>
    <p:titleStyle>
      <a:lvl1pPr algn="l" defTabSz="457189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034" indent="-173034" algn="l" defTabSz="457189" rtl="0" eaLnBrk="1" latinLnBrk="0" hangingPunct="1">
        <a:spcBef>
          <a:spcPts val="120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189" indent="-228594" algn="l" defTabSz="457189" rtl="0" eaLnBrk="1" latinLnBrk="0" hangingPunct="1">
        <a:spcBef>
          <a:spcPts val="600"/>
        </a:spcBef>
        <a:spcAft>
          <a:spcPts val="400"/>
        </a:spcAft>
        <a:buFont typeface="Arial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30223" indent="-171446" algn="l" defTabSz="457189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77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77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77"/>
            <a:fld id="{7E05DAD2-EBD2-4248-A1BE-DE5C530C13E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377"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633845"/>
            <a:ext cx="12192000" cy="447208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189">
              <a:defRPr/>
            </a:pPr>
            <a:endParaRPr lang="en-US" sz="1351" kern="0" dirty="0">
              <a:solidFill>
                <a:prstClr val="white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"/>
            <a:ext cx="12192000" cy="633844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6285141"/>
            <a:ext cx="12192000" cy="49435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189">
              <a:defRPr/>
            </a:pPr>
            <a:endParaRPr lang="en-US" sz="1351" kern="0" dirty="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6207973"/>
            <a:ext cx="12192000" cy="49435"/>
          </a:xfrm>
          <a:prstGeom prst="rect">
            <a:avLst/>
          </a:prstGeom>
          <a:gradFill flip="none" rotWithShape="1">
            <a:gsLst>
              <a:gs pos="0">
                <a:srgbClr val="FAA61A"/>
              </a:gs>
              <a:gs pos="70000">
                <a:srgbClr val="F15A22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189">
              <a:defRPr/>
            </a:pPr>
            <a:endParaRPr lang="en-US" sz="1351" kern="0" dirty="0">
              <a:solidFill>
                <a:prstClr val="white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8521" y="107419"/>
            <a:ext cx="2776728" cy="4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40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7" Type="http://schemas.openxmlformats.org/officeDocument/2006/relationships/image" Target="../media/image2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9.xml"/><Relationship Id="rId6" Type="http://schemas.openxmlformats.org/officeDocument/2006/relationships/slide" Target="slide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9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9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9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9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Hexagon, Group, Knowledge, Concentration, Together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858" y="1227910"/>
            <a:ext cx="6047361" cy="507530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0" y="2243111"/>
            <a:ext cx="10515600" cy="2371779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173034" indent="-173034" algn="l" defTabSz="457189" rtl="0" eaLnBrk="1" latinLnBrk="0" hangingPunct="1">
              <a:spcBef>
                <a:spcPts val="1200"/>
              </a:spcBef>
              <a:buFont typeface="Arial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-228594" algn="l" defTabSz="457189" rtl="0" eaLnBrk="1" latinLnBrk="0" hangingPunct="1">
              <a:spcBef>
                <a:spcPts val="600"/>
              </a:spcBef>
              <a:spcAft>
                <a:spcPts val="400"/>
              </a:spcAft>
              <a:buFont typeface="Arial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0223" indent="-171446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349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7200" b="1" dirty="0">
                <a:solidFill>
                  <a:srgbClr val="0070C0"/>
                </a:solidFill>
              </a:rPr>
              <a:t>Audits of Less Complex Entities (LCEs)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6C2FB-0544-4623-A616-1DEA30918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670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7611F-78F0-4B02-9524-02852C3D1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LCE Working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88A52-8139-4063-A6FA-72E7CD92B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EE64AD6-56A2-4B0A-AD9A-39CE46651073}"/>
              </a:ext>
            </a:extLst>
          </p:cNvPr>
          <p:cNvSpPr txBox="1">
            <a:spLocks/>
          </p:cNvSpPr>
          <p:nvPr/>
        </p:nvSpPr>
        <p:spPr>
          <a:xfrm>
            <a:off x="489857" y="1268361"/>
            <a:ext cx="5217768" cy="47405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189">
              <a:lnSpc>
                <a:spcPts val="1800"/>
              </a:lnSpc>
              <a:spcBef>
                <a:spcPts val="600"/>
              </a:spcBef>
              <a:buNone/>
            </a:pPr>
            <a:endParaRPr lang="en-US" sz="2400" b="1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0" indent="0" algn="ctr" defTabSz="457189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3400" b="1" dirty="0">
                <a:solidFill>
                  <a:srgbClr val="808080"/>
                </a:solidFill>
                <a:latin typeface="Arial" panose="020B0604020202020204" pitchFamily="34" charset="0"/>
              </a:rPr>
              <a:t>LCE Working Group Members</a:t>
            </a:r>
            <a:endParaRPr lang="en-US" sz="34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0" indent="0" defTabSz="457189">
              <a:lnSpc>
                <a:spcPts val="1800"/>
              </a:lnSpc>
              <a:spcBef>
                <a:spcPts val="600"/>
              </a:spcBef>
              <a:buNone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228600" lvl="1">
              <a:lnSpc>
                <a:spcPts val="2400"/>
              </a:lnSpc>
              <a:spcBef>
                <a:spcPts val="300"/>
              </a:spcBef>
              <a:buFontTx/>
              <a:buChar char="-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</a:rPr>
              <a:t>Roger Simnett (Chair)</a:t>
            </a:r>
          </a:p>
          <a:p>
            <a:pPr marL="228600" lvl="1">
              <a:lnSpc>
                <a:spcPts val="2400"/>
              </a:lnSpc>
              <a:spcBef>
                <a:spcPts val="300"/>
              </a:spcBef>
              <a:buFontTx/>
              <a:buChar char="-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</a:rPr>
              <a:t>Isabelle Tracq-Sengeissen </a:t>
            </a:r>
          </a:p>
          <a:p>
            <a:pPr marL="228600" lvl="1">
              <a:lnSpc>
                <a:spcPts val="2400"/>
              </a:lnSpc>
              <a:spcBef>
                <a:spcPts val="300"/>
              </a:spcBef>
              <a:buFontTx/>
              <a:buChar char="-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</a:rPr>
              <a:t>Kai Morten Hagen</a:t>
            </a:r>
          </a:p>
          <a:p>
            <a:pPr marL="228600" lvl="1">
              <a:lnSpc>
                <a:spcPts val="2400"/>
              </a:lnSpc>
              <a:spcBef>
                <a:spcPts val="300"/>
              </a:spcBef>
              <a:buFontTx/>
              <a:buChar char="-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</a:rPr>
              <a:t>Chun Wee Chiew</a:t>
            </a:r>
          </a:p>
          <a:p>
            <a:pPr marL="228600" lvl="1">
              <a:lnSpc>
                <a:spcPts val="2400"/>
              </a:lnSpc>
              <a:spcBef>
                <a:spcPts val="300"/>
              </a:spcBef>
              <a:buFontTx/>
              <a:buChar char="-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</a:rPr>
              <a:t>Rich </a:t>
            </a:r>
            <a:r>
              <a:rPr lang="en-US" dirty="0" err="1">
                <a:solidFill>
                  <a:srgbClr val="808080"/>
                </a:solidFill>
                <a:latin typeface="Arial" panose="020B0604020202020204" pitchFamily="34" charset="0"/>
              </a:rPr>
              <a:t>Sharko</a:t>
            </a:r>
            <a:endParaRPr lang="en-US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228600" lvl="1">
              <a:lnSpc>
                <a:spcPts val="2400"/>
              </a:lnSpc>
              <a:spcBef>
                <a:spcPts val="300"/>
              </a:spcBef>
              <a:buFontTx/>
              <a:buChar char="-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</a:rPr>
              <a:t>Brendan Murtagh</a:t>
            </a:r>
          </a:p>
          <a:p>
            <a:pPr marL="228600" lvl="1">
              <a:lnSpc>
                <a:spcPts val="2400"/>
              </a:lnSpc>
              <a:spcBef>
                <a:spcPts val="300"/>
              </a:spcBef>
              <a:buFontTx/>
              <a:buChar char="-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</a:rPr>
              <a:t>Gordon Cummings</a:t>
            </a:r>
          </a:p>
          <a:p>
            <a:pPr marL="228600" lvl="1">
              <a:lnSpc>
                <a:spcPts val="2400"/>
              </a:lnSpc>
              <a:spcBef>
                <a:spcPts val="300"/>
              </a:spcBef>
              <a:buFontTx/>
              <a:buChar char="-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</a:rPr>
              <a:t>Christopher Arnold </a:t>
            </a:r>
          </a:p>
          <a:p>
            <a:pPr marL="228600" lvl="1">
              <a:lnSpc>
                <a:spcPts val="2400"/>
              </a:lnSpc>
              <a:spcBef>
                <a:spcPts val="300"/>
              </a:spcBef>
              <a:buFontTx/>
              <a:buChar char="-"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82DF8B2-107F-4B3F-A447-1EE578A2899D}"/>
              </a:ext>
            </a:extLst>
          </p:cNvPr>
          <p:cNvSpPr txBox="1">
            <a:spLocks/>
          </p:cNvSpPr>
          <p:nvPr/>
        </p:nvSpPr>
        <p:spPr>
          <a:xfrm>
            <a:off x="5965371" y="1268360"/>
            <a:ext cx="6019800" cy="2617839"/>
          </a:xfrm>
          <a:prstGeom prst="rect">
            <a:avLst/>
          </a:prstGeom>
          <a:solidFill>
            <a:srgbClr val="DFE8F1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189">
              <a:lnSpc>
                <a:spcPts val="1800"/>
              </a:lnSpc>
              <a:spcBef>
                <a:spcPts val="600"/>
              </a:spcBef>
              <a:buNone/>
            </a:pPr>
            <a:endParaRPr lang="en-US" sz="2400" b="1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0" indent="0" algn="ctr" defTabSz="457189">
              <a:lnSpc>
                <a:spcPts val="2700"/>
              </a:lnSpc>
              <a:spcBef>
                <a:spcPts val="600"/>
              </a:spcBef>
              <a:buNone/>
            </a:pPr>
            <a:endParaRPr lang="en-US" sz="3400" b="1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0" indent="0" algn="ctr" defTabSz="457189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3400" b="1" dirty="0">
                <a:solidFill>
                  <a:srgbClr val="808080"/>
                </a:solidFill>
                <a:latin typeface="Arial" panose="020B0604020202020204" pitchFamily="34" charset="0"/>
              </a:rPr>
              <a:t>Meetings since March 2019</a:t>
            </a:r>
            <a:endParaRPr lang="en-US" sz="34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0" indent="0" defTabSz="457189">
              <a:lnSpc>
                <a:spcPts val="1800"/>
              </a:lnSpc>
              <a:spcBef>
                <a:spcPts val="600"/>
              </a:spcBef>
              <a:buNone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228600" lvl="1">
              <a:lnSpc>
                <a:spcPts val="2400"/>
              </a:lnSpc>
              <a:spcBef>
                <a:spcPts val="300"/>
              </a:spcBef>
              <a:buFontTx/>
              <a:buChar char="-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</a:rPr>
              <a:t>One in person meeting (October 2019)</a:t>
            </a:r>
          </a:p>
          <a:p>
            <a:pPr marL="228600" lvl="1">
              <a:lnSpc>
                <a:spcPts val="2400"/>
              </a:lnSpc>
              <a:spcBef>
                <a:spcPts val="300"/>
              </a:spcBef>
              <a:buFontTx/>
              <a:buChar char="-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</a:rPr>
              <a:t>One teleconference (November 2019)</a:t>
            </a:r>
          </a:p>
          <a:p>
            <a:pPr marL="0" lvl="1" indent="0">
              <a:lnSpc>
                <a:spcPts val="2400"/>
              </a:lnSpc>
              <a:spcBef>
                <a:spcPts val="300"/>
              </a:spcBef>
              <a:buNone/>
            </a:pPr>
            <a:endParaRPr lang="en-US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228600" lvl="1">
              <a:lnSpc>
                <a:spcPts val="2400"/>
              </a:lnSpc>
              <a:spcBef>
                <a:spcPts val="300"/>
              </a:spcBef>
              <a:buFontTx/>
              <a:buChar char="-"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185CD00-0C0D-42A5-A03F-042C1F5E9E4E}"/>
              </a:ext>
            </a:extLst>
          </p:cNvPr>
          <p:cNvSpPr txBox="1">
            <a:spLocks/>
          </p:cNvSpPr>
          <p:nvPr/>
        </p:nvSpPr>
        <p:spPr>
          <a:xfrm>
            <a:off x="5965371" y="4087585"/>
            <a:ext cx="6019800" cy="19376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189">
              <a:lnSpc>
                <a:spcPts val="1800"/>
              </a:lnSpc>
              <a:spcBef>
                <a:spcPts val="600"/>
              </a:spcBef>
              <a:buNone/>
            </a:pPr>
            <a:endParaRPr lang="en-US" sz="2400" b="1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0" indent="0" algn="ctr" defTabSz="457189">
              <a:lnSpc>
                <a:spcPts val="2700"/>
              </a:lnSpc>
              <a:spcBef>
                <a:spcPts val="600"/>
              </a:spcBef>
              <a:buNone/>
            </a:pPr>
            <a:endParaRPr lang="en-US" sz="3400" b="1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0" indent="0" algn="ctr" defTabSz="457189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13600" b="1" dirty="0">
                <a:solidFill>
                  <a:srgbClr val="808080"/>
                </a:solidFill>
                <a:latin typeface="Arial" panose="020B0604020202020204" pitchFamily="34" charset="0"/>
              </a:rPr>
              <a:t>Supported by IAASB Staff</a:t>
            </a:r>
            <a:endParaRPr lang="en-US" sz="136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0" indent="0" defTabSz="457189">
              <a:lnSpc>
                <a:spcPts val="1800"/>
              </a:lnSpc>
              <a:spcBef>
                <a:spcPts val="600"/>
              </a:spcBef>
              <a:buNone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228600" lvl="1">
              <a:lnSpc>
                <a:spcPts val="2400"/>
              </a:lnSpc>
              <a:spcBef>
                <a:spcPts val="300"/>
              </a:spcBef>
              <a:buFontTx/>
              <a:buChar char="-"/>
            </a:pPr>
            <a:r>
              <a:rPr lang="en-US" sz="9600" dirty="0">
                <a:solidFill>
                  <a:srgbClr val="808080"/>
                </a:solidFill>
                <a:latin typeface="Arial" panose="020B0604020202020204" pitchFamily="34" charset="0"/>
              </a:rPr>
              <a:t>Beverley Bahlmann </a:t>
            </a:r>
          </a:p>
          <a:p>
            <a:pPr marL="228600" lvl="1">
              <a:lnSpc>
                <a:spcPts val="2400"/>
              </a:lnSpc>
              <a:spcBef>
                <a:spcPts val="300"/>
              </a:spcBef>
              <a:buFontTx/>
              <a:buChar char="-"/>
            </a:pPr>
            <a:r>
              <a:rPr lang="en-US" sz="9600" dirty="0">
                <a:solidFill>
                  <a:srgbClr val="808080"/>
                </a:solidFill>
                <a:latin typeface="Arial" panose="020B0604020202020204" pitchFamily="34" charset="0"/>
              </a:rPr>
              <a:t>Kalina Shukarova Savovska</a:t>
            </a:r>
          </a:p>
          <a:p>
            <a:pPr marL="0" lvl="1" indent="0">
              <a:lnSpc>
                <a:spcPts val="2400"/>
              </a:lnSpc>
              <a:spcBef>
                <a:spcPts val="300"/>
              </a:spcBef>
              <a:buNone/>
            </a:pPr>
            <a:endParaRPr lang="en-US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228600" lvl="1">
              <a:lnSpc>
                <a:spcPts val="2400"/>
              </a:lnSpc>
              <a:spcBef>
                <a:spcPts val="300"/>
              </a:spcBef>
              <a:buFontTx/>
              <a:buChar char="-"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341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1E37C-07BF-4130-B504-65729B61D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Broad Range of Responses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29DD3D-34A7-44C6-A828-5AEEDDEA4716}"/>
              </a:ext>
            </a:extLst>
          </p:cNvPr>
          <p:cNvGrpSpPr/>
          <p:nvPr/>
        </p:nvGrpSpPr>
        <p:grpSpPr>
          <a:xfrm>
            <a:off x="176981" y="1084006"/>
            <a:ext cx="7961230" cy="5204077"/>
            <a:chOff x="-2919187" y="656787"/>
            <a:chExt cx="8761352" cy="52495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FA081D-179A-4D76-B402-DA27AF026475}"/>
                </a:ext>
              </a:extLst>
            </p:cNvPr>
            <p:cNvSpPr/>
            <p:nvPr/>
          </p:nvSpPr>
          <p:spPr>
            <a:xfrm>
              <a:off x="-2511462" y="814662"/>
              <a:ext cx="8353627" cy="509162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6F68CCFB-2E79-4C8F-8653-86D6459E34A1}"/>
                </a:ext>
              </a:extLst>
            </p:cNvPr>
            <p:cNvSpPr/>
            <p:nvPr/>
          </p:nvSpPr>
          <p:spPr>
            <a:xfrm>
              <a:off x="-2188303" y="1020160"/>
              <a:ext cx="4982933" cy="4655127"/>
            </a:xfrm>
            <a:prstGeom prst="flowChartConnector">
              <a:avLst/>
            </a:prstGeom>
            <a:blipFill dpi="0" rotWithShape="1">
              <a:blip r:embed="rId3">
                <a:alphaModFix amt="75000"/>
              </a:blip>
              <a:srcRect/>
              <a:stretch>
                <a:fillRect l="-14000" r="-9000"/>
              </a:stretch>
            </a:blipFill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9E75D72-5E5E-411A-BEFE-8F5675858ADC}"/>
                </a:ext>
              </a:extLst>
            </p:cNvPr>
            <p:cNvGrpSpPr/>
            <p:nvPr/>
          </p:nvGrpSpPr>
          <p:grpSpPr>
            <a:xfrm>
              <a:off x="72699" y="656787"/>
              <a:ext cx="1962150" cy="1118870"/>
              <a:chOff x="-1975176" y="-86163"/>
              <a:chExt cx="1962150" cy="1118870"/>
            </a:xfrm>
          </p:grpSpPr>
          <p:sp>
            <p:nvSpPr>
              <p:cNvPr id="41" name="Teardrop 40">
                <a:extLst>
                  <a:ext uri="{FF2B5EF4-FFF2-40B4-BE49-F238E27FC236}">
                    <a16:creationId xmlns:a16="http://schemas.microsoft.com/office/drawing/2014/main" id="{8D355D26-ED51-410D-A7AB-4CC43638033F}"/>
                  </a:ext>
                </a:extLst>
              </p:cNvPr>
              <p:cNvSpPr/>
              <p:nvPr/>
            </p:nvSpPr>
            <p:spPr>
              <a:xfrm rot="10170168">
                <a:off x="-1523221" y="-29947"/>
                <a:ext cx="1041120" cy="971755"/>
              </a:xfrm>
              <a:prstGeom prst="teardrop">
                <a:avLst>
                  <a:gd name="adj" fmla="val 173581"/>
                </a:avLst>
              </a:prstGeom>
              <a:solidFill>
                <a:schemeClr val="tx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en-US" dirty="0"/>
              </a:p>
            </p:txBody>
          </p:sp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2821F3D5-29F3-4BF0-B87C-45077D62FF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800000">
                <a:off x="-1975176" y="-86163"/>
                <a:ext cx="1962150" cy="1118870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37D50FC-D54F-4944-98F6-E17AD752CA1C}"/>
                </a:ext>
              </a:extLst>
            </p:cNvPr>
            <p:cNvGrpSpPr/>
            <p:nvPr/>
          </p:nvGrpSpPr>
          <p:grpSpPr>
            <a:xfrm>
              <a:off x="-2919187" y="858022"/>
              <a:ext cx="1962150" cy="1118870"/>
              <a:chOff x="-3004912" y="-27803"/>
              <a:chExt cx="1962150" cy="1118870"/>
            </a:xfrm>
          </p:grpSpPr>
          <p:sp>
            <p:nvSpPr>
              <p:cNvPr id="39" name="Teardrop 38">
                <a:extLst>
                  <a:ext uri="{FF2B5EF4-FFF2-40B4-BE49-F238E27FC236}">
                    <a16:creationId xmlns:a16="http://schemas.microsoft.com/office/drawing/2014/main" id="{98DF422E-1AFE-415E-9CE8-09B4CC6AA2C1}"/>
                  </a:ext>
                </a:extLst>
              </p:cNvPr>
              <p:cNvSpPr/>
              <p:nvPr/>
            </p:nvSpPr>
            <p:spPr>
              <a:xfrm rot="7401110">
                <a:off x="-2543267" y="6872"/>
                <a:ext cx="1005840" cy="1005840"/>
              </a:xfrm>
              <a:prstGeom prst="teardrop">
                <a:avLst>
                  <a:gd name="adj" fmla="val 162067"/>
                </a:avLst>
              </a:prstGeom>
              <a:solidFill>
                <a:schemeClr val="tx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en-US" dirty="0"/>
              </a:p>
            </p:txBody>
          </p:sp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6B217458-9AD3-4CA1-966C-5C6F02157A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800000">
                <a:off x="-3004912" y="-27803"/>
                <a:ext cx="1962150" cy="1118870"/>
              </a:xfrm>
              <a:prstGeom prst="rect">
                <a:avLst/>
              </a:prstGeom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1A308D5-8A45-432E-AFBB-9FCA1D32923A}"/>
                </a:ext>
              </a:extLst>
            </p:cNvPr>
            <p:cNvGrpSpPr/>
            <p:nvPr/>
          </p:nvGrpSpPr>
          <p:grpSpPr>
            <a:xfrm>
              <a:off x="-2680048" y="4638555"/>
              <a:ext cx="1962150" cy="1118870"/>
              <a:chOff x="-2680048" y="-343020"/>
              <a:chExt cx="1962150" cy="1118870"/>
            </a:xfrm>
          </p:grpSpPr>
          <p:sp>
            <p:nvSpPr>
              <p:cNvPr id="37" name="Teardrop 36">
                <a:extLst>
                  <a:ext uri="{FF2B5EF4-FFF2-40B4-BE49-F238E27FC236}">
                    <a16:creationId xmlns:a16="http://schemas.microsoft.com/office/drawing/2014/main" id="{2C1004C2-2008-4F4A-82C9-DC92C96CFA1D}"/>
                  </a:ext>
                </a:extLst>
              </p:cNvPr>
              <p:cNvSpPr/>
              <p:nvPr/>
            </p:nvSpPr>
            <p:spPr>
              <a:xfrm rot="21190817">
                <a:off x="-2201893" y="-288882"/>
                <a:ext cx="1005841" cy="1005840"/>
              </a:xfrm>
              <a:prstGeom prst="teardrop">
                <a:avLst>
                  <a:gd name="adj" fmla="val 148335"/>
                </a:avLst>
              </a:prstGeom>
              <a:solidFill>
                <a:schemeClr val="tx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en-US" dirty="0"/>
              </a:p>
            </p:txBody>
          </p: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8883B95D-4D0B-4E16-A2AA-2297E241A2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800000">
                <a:off x="-2680048" y="-343020"/>
                <a:ext cx="1962150" cy="1118870"/>
              </a:xfrm>
              <a:prstGeom prst="rect">
                <a:avLst/>
              </a:prstGeom>
            </p:spPr>
          </p:pic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536C772-1D14-42DC-BE76-54CE20912BCC}"/>
                </a:ext>
              </a:extLst>
            </p:cNvPr>
            <p:cNvGrpSpPr/>
            <p:nvPr/>
          </p:nvGrpSpPr>
          <p:grpSpPr>
            <a:xfrm>
              <a:off x="315894" y="3489765"/>
              <a:ext cx="1962150" cy="1118870"/>
              <a:chOff x="-2989281" y="-1025085"/>
              <a:chExt cx="1962150" cy="1118870"/>
            </a:xfrm>
          </p:grpSpPr>
          <p:sp>
            <p:nvSpPr>
              <p:cNvPr id="35" name="Teardrop 34">
                <a:extLst>
                  <a:ext uri="{FF2B5EF4-FFF2-40B4-BE49-F238E27FC236}">
                    <a16:creationId xmlns:a16="http://schemas.microsoft.com/office/drawing/2014/main" id="{57951D71-7923-4CB8-8CA8-13E8DB4A7404}"/>
                  </a:ext>
                </a:extLst>
              </p:cNvPr>
              <p:cNvSpPr/>
              <p:nvPr/>
            </p:nvSpPr>
            <p:spPr>
              <a:xfrm rot="17215639">
                <a:off x="-2515488" y="-954758"/>
                <a:ext cx="1005840" cy="1005840"/>
              </a:xfrm>
              <a:prstGeom prst="teardrop">
                <a:avLst>
                  <a:gd name="adj" fmla="val 200000"/>
                </a:avLst>
              </a:prstGeom>
              <a:solidFill>
                <a:schemeClr val="tx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40E03F71-8D78-4AFF-BA1D-C31DFEC14D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800000">
                <a:off x="-2989281" y="-1025085"/>
                <a:ext cx="1962150" cy="1118870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6FCEE5A-8304-4E0D-95C7-85B7199BDEEA}"/>
                </a:ext>
              </a:extLst>
            </p:cNvPr>
            <p:cNvGrpSpPr/>
            <p:nvPr/>
          </p:nvGrpSpPr>
          <p:grpSpPr>
            <a:xfrm>
              <a:off x="2034849" y="3848705"/>
              <a:ext cx="1962150" cy="1118870"/>
              <a:chOff x="-2994351" y="1419830"/>
              <a:chExt cx="1962150" cy="1118870"/>
            </a:xfrm>
          </p:grpSpPr>
          <p:sp>
            <p:nvSpPr>
              <p:cNvPr id="33" name="Teardrop 32">
                <a:extLst>
                  <a:ext uri="{FF2B5EF4-FFF2-40B4-BE49-F238E27FC236}">
                    <a16:creationId xmlns:a16="http://schemas.microsoft.com/office/drawing/2014/main" id="{86425FD8-E74D-4B11-BDEB-840A4B06DD15}"/>
                  </a:ext>
                </a:extLst>
              </p:cNvPr>
              <p:cNvSpPr/>
              <p:nvPr/>
            </p:nvSpPr>
            <p:spPr>
              <a:xfrm rot="15917886">
                <a:off x="-2516866" y="1472528"/>
                <a:ext cx="971755" cy="1041120"/>
              </a:xfrm>
              <a:prstGeom prst="teardrop">
                <a:avLst>
                  <a:gd name="adj" fmla="val 157134"/>
                </a:avLst>
              </a:prstGeom>
              <a:solidFill>
                <a:schemeClr val="tx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en-US" dirty="0"/>
              </a:p>
            </p:txBody>
          </p: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A68ECD25-DE9B-4928-B29F-5949B5A5A5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800000">
                <a:off x="-2994351" y="1419830"/>
                <a:ext cx="1962150" cy="1118870"/>
              </a:xfrm>
              <a:prstGeom prst="rect">
                <a:avLst/>
              </a:prstGeom>
            </p:spPr>
          </p:pic>
        </p:grpSp>
        <p:sp>
          <p:nvSpPr>
            <p:cNvPr id="13" name="Text Box 117">
              <a:extLst>
                <a:ext uri="{FF2B5EF4-FFF2-40B4-BE49-F238E27FC236}">
                  <a16:creationId xmlns:a16="http://schemas.microsoft.com/office/drawing/2014/main" id="{FF7B05B0-1269-4627-980A-F3550377C946}"/>
                </a:ext>
              </a:extLst>
            </p:cNvPr>
            <p:cNvSpPr txBox="1"/>
            <p:nvPr/>
          </p:nvSpPr>
          <p:spPr>
            <a:xfrm>
              <a:off x="33326" y="2175325"/>
              <a:ext cx="1066800" cy="394539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b="1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Europe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 Box 118">
              <a:extLst>
                <a:ext uri="{FF2B5EF4-FFF2-40B4-BE49-F238E27FC236}">
                  <a16:creationId xmlns:a16="http://schemas.microsoft.com/office/drawing/2014/main" id="{2B82F1EF-F6BC-482B-ABCB-3081308FD2DE}"/>
                </a:ext>
              </a:extLst>
            </p:cNvPr>
            <p:cNvSpPr txBox="1"/>
            <p:nvPr/>
          </p:nvSpPr>
          <p:spPr>
            <a:xfrm>
              <a:off x="-1712661" y="1975607"/>
              <a:ext cx="1127497" cy="637154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b="1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North America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Box 119">
              <a:extLst>
                <a:ext uri="{FF2B5EF4-FFF2-40B4-BE49-F238E27FC236}">
                  <a16:creationId xmlns:a16="http://schemas.microsoft.com/office/drawing/2014/main" id="{1540004C-107E-4694-BA22-DAE86A2EC34A}"/>
                </a:ext>
              </a:extLst>
            </p:cNvPr>
            <p:cNvSpPr txBox="1"/>
            <p:nvPr/>
          </p:nvSpPr>
          <p:spPr>
            <a:xfrm>
              <a:off x="-1668874" y="3707183"/>
              <a:ext cx="1127497" cy="601168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b="1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South America 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Box 120">
              <a:extLst>
                <a:ext uri="{FF2B5EF4-FFF2-40B4-BE49-F238E27FC236}">
                  <a16:creationId xmlns:a16="http://schemas.microsoft.com/office/drawing/2014/main" id="{031CDF5D-25C8-4C06-B7E1-2837841D817A}"/>
                </a:ext>
              </a:extLst>
            </p:cNvPr>
            <p:cNvSpPr txBox="1"/>
            <p:nvPr/>
          </p:nvSpPr>
          <p:spPr>
            <a:xfrm>
              <a:off x="-522976" y="2767809"/>
              <a:ext cx="1412574" cy="478387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b="1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Africa and Middle East</a:t>
              </a:r>
              <a:endPara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 Box 121">
              <a:extLst>
                <a:ext uri="{FF2B5EF4-FFF2-40B4-BE49-F238E27FC236}">
                  <a16:creationId xmlns:a16="http://schemas.microsoft.com/office/drawing/2014/main" id="{D99881C3-28FE-40E3-9CE2-693FB2B3812C}"/>
                </a:ext>
              </a:extLst>
            </p:cNvPr>
            <p:cNvSpPr txBox="1"/>
            <p:nvPr/>
          </p:nvSpPr>
          <p:spPr>
            <a:xfrm>
              <a:off x="1818728" y="3260554"/>
              <a:ext cx="1047749" cy="588151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b="1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Asia Pacific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Box 122">
              <a:extLst>
                <a:ext uri="{FF2B5EF4-FFF2-40B4-BE49-F238E27FC236}">
                  <a16:creationId xmlns:a16="http://schemas.microsoft.com/office/drawing/2014/main" id="{0BE8C532-ECAF-4F37-B0C9-4E40A412B4E5}"/>
                </a:ext>
              </a:extLst>
            </p:cNvPr>
            <p:cNvSpPr txBox="1"/>
            <p:nvPr/>
          </p:nvSpPr>
          <p:spPr>
            <a:xfrm>
              <a:off x="801130" y="839625"/>
              <a:ext cx="571500" cy="25717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39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Box 123">
              <a:extLst>
                <a:ext uri="{FF2B5EF4-FFF2-40B4-BE49-F238E27FC236}">
                  <a16:creationId xmlns:a16="http://schemas.microsoft.com/office/drawing/2014/main" id="{08FA03DE-CCF4-459C-A190-79B20025EB9D}"/>
                </a:ext>
              </a:extLst>
            </p:cNvPr>
            <p:cNvSpPr txBox="1"/>
            <p:nvPr/>
          </p:nvSpPr>
          <p:spPr>
            <a:xfrm>
              <a:off x="515381" y="1156018"/>
              <a:ext cx="571500" cy="25717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28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 Box 124">
              <a:extLst>
                <a:ext uri="{FF2B5EF4-FFF2-40B4-BE49-F238E27FC236}">
                  <a16:creationId xmlns:a16="http://schemas.microsoft.com/office/drawing/2014/main" id="{AC8F5F66-C753-42B4-8AA5-6C9213102A8A}"/>
                </a:ext>
              </a:extLst>
            </p:cNvPr>
            <p:cNvSpPr txBox="1"/>
            <p:nvPr/>
          </p:nvSpPr>
          <p:spPr>
            <a:xfrm>
              <a:off x="1000854" y="1205631"/>
              <a:ext cx="571500" cy="25717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542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Box 125">
              <a:extLst>
                <a:ext uri="{FF2B5EF4-FFF2-40B4-BE49-F238E27FC236}">
                  <a16:creationId xmlns:a16="http://schemas.microsoft.com/office/drawing/2014/main" id="{8A0D9CCB-7ADC-4E50-B9AE-F4327E832D8F}"/>
                </a:ext>
              </a:extLst>
            </p:cNvPr>
            <p:cNvSpPr txBox="1"/>
            <p:nvPr/>
          </p:nvSpPr>
          <p:spPr>
            <a:xfrm>
              <a:off x="-2222453" y="1087635"/>
              <a:ext cx="571500" cy="25717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 Box 126">
              <a:extLst>
                <a:ext uri="{FF2B5EF4-FFF2-40B4-BE49-F238E27FC236}">
                  <a16:creationId xmlns:a16="http://schemas.microsoft.com/office/drawing/2014/main" id="{F620B8BD-7F0F-49AF-8060-9D56CBB7F1A6}"/>
                </a:ext>
              </a:extLst>
            </p:cNvPr>
            <p:cNvSpPr txBox="1"/>
            <p:nvPr/>
          </p:nvSpPr>
          <p:spPr>
            <a:xfrm>
              <a:off x="-2435961" y="1403328"/>
              <a:ext cx="571500" cy="25717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8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 Box 127">
              <a:extLst>
                <a:ext uri="{FF2B5EF4-FFF2-40B4-BE49-F238E27FC236}">
                  <a16:creationId xmlns:a16="http://schemas.microsoft.com/office/drawing/2014/main" id="{7A3F03CB-8B0F-4F86-A130-9666589A7815}"/>
                </a:ext>
              </a:extLst>
            </p:cNvPr>
            <p:cNvSpPr txBox="1"/>
            <p:nvPr/>
          </p:nvSpPr>
          <p:spPr>
            <a:xfrm>
              <a:off x="-2035179" y="1403328"/>
              <a:ext cx="571500" cy="25717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67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 Box 128">
              <a:extLst>
                <a:ext uri="{FF2B5EF4-FFF2-40B4-BE49-F238E27FC236}">
                  <a16:creationId xmlns:a16="http://schemas.microsoft.com/office/drawing/2014/main" id="{916DB27C-9F1F-4ECF-9C86-A61816B09891}"/>
                </a:ext>
              </a:extLst>
            </p:cNvPr>
            <p:cNvSpPr txBox="1"/>
            <p:nvPr/>
          </p:nvSpPr>
          <p:spPr>
            <a:xfrm>
              <a:off x="2729920" y="4049200"/>
              <a:ext cx="571500" cy="29785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29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129">
              <a:extLst>
                <a:ext uri="{FF2B5EF4-FFF2-40B4-BE49-F238E27FC236}">
                  <a16:creationId xmlns:a16="http://schemas.microsoft.com/office/drawing/2014/main" id="{792DA0C7-7336-4280-AA5E-B23409D971FF}"/>
                </a:ext>
              </a:extLst>
            </p:cNvPr>
            <p:cNvSpPr txBox="1"/>
            <p:nvPr/>
          </p:nvSpPr>
          <p:spPr>
            <a:xfrm>
              <a:off x="1006856" y="3720118"/>
              <a:ext cx="571500" cy="25717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46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130">
              <a:extLst>
                <a:ext uri="{FF2B5EF4-FFF2-40B4-BE49-F238E27FC236}">
                  <a16:creationId xmlns:a16="http://schemas.microsoft.com/office/drawing/2014/main" id="{26AB2D77-4A7E-4644-8F92-6F8DF6F8CFC9}"/>
                </a:ext>
              </a:extLst>
            </p:cNvPr>
            <p:cNvSpPr txBox="1"/>
            <p:nvPr/>
          </p:nvSpPr>
          <p:spPr>
            <a:xfrm>
              <a:off x="-1984722" y="4860202"/>
              <a:ext cx="571500" cy="25717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b="1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26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 Box 131">
              <a:extLst>
                <a:ext uri="{FF2B5EF4-FFF2-40B4-BE49-F238E27FC236}">
                  <a16:creationId xmlns:a16="http://schemas.microsoft.com/office/drawing/2014/main" id="{C76416C6-1B33-4E00-90C7-7605F5D437E8}"/>
                </a:ext>
              </a:extLst>
            </p:cNvPr>
            <p:cNvSpPr txBox="1"/>
            <p:nvPr/>
          </p:nvSpPr>
          <p:spPr>
            <a:xfrm>
              <a:off x="2526585" y="4404626"/>
              <a:ext cx="571500" cy="25717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16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132">
              <a:extLst>
                <a:ext uri="{FF2B5EF4-FFF2-40B4-BE49-F238E27FC236}">
                  <a16:creationId xmlns:a16="http://schemas.microsoft.com/office/drawing/2014/main" id="{026ABE14-E212-4A3D-80B1-9643B4E365B1}"/>
                </a:ext>
              </a:extLst>
            </p:cNvPr>
            <p:cNvSpPr txBox="1"/>
            <p:nvPr/>
          </p:nvSpPr>
          <p:spPr>
            <a:xfrm>
              <a:off x="2954764" y="4438706"/>
              <a:ext cx="571500" cy="25717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315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133">
              <a:extLst>
                <a:ext uri="{FF2B5EF4-FFF2-40B4-BE49-F238E27FC236}">
                  <a16:creationId xmlns:a16="http://schemas.microsoft.com/office/drawing/2014/main" id="{85A2C756-D43F-4145-968C-723CA09711DE}"/>
                </a:ext>
              </a:extLst>
            </p:cNvPr>
            <p:cNvSpPr txBox="1"/>
            <p:nvPr/>
          </p:nvSpPr>
          <p:spPr>
            <a:xfrm>
              <a:off x="1228100" y="4042591"/>
              <a:ext cx="571500" cy="25717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509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134">
              <a:extLst>
                <a:ext uri="{FF2B5EF4-FFF2-40B4-BE49-F238E27FC236}">
                  <a16:creationId xmlns:a16="http://schemas.microsoft.com/office/drawing/2014/main" id="{FBBC66EE-355E-490F-86A4-C7DBA5A465E8}"/>
                </a:ext>
              </a:extLst>
            </p:cNvPr>
            <p:cNvSpPr txBox="1"/>
            <p:nvPr/>
          </p:nvSpPr>
          <p:spPr>
            <a:xfrm>
              <a:off x="-1798509" y="5182475"/>
              <a:ext cx="571500" cy="25717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273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135">
              <a:extLst>
                <a:ext uri="{FF2B5EF4-FFF2-40B4-BE49-F238E27FC236}">
                  <a16:creationId xmlns:a16="http://schemas.microsoft.com/office/drawing/2014/main" id="{D7222EF9-DC3A-4E17-A2E0-FF8BD2A3B17C}"/>
                </a:ext>
              </a:extLst>
            </p:cNvPr>
            <p:cNvSpPr txBox="1"/>
            <p:nvPr/>
          </p:nvSpPr>
          <p:spPr>
            <a:xfrm>
              <a:off x="-2240373" y="5190407"/>
              <a:ext cx="571500" cy="25717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10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136">
              <a:extLst>
                <a:ext uri="{FF2B5EF4-FFF2-40B4-BE49-F238E27FC236}">
                  <a16:creationId xmlns:a16="http://schemas.microsoft.com/office/drawing/2014/main" id="{19FC5F66-477D-4136-A081-30FD277AFF7E}"/>
                </a:ext>
              </a:extLst>
            </p:cNvPr>
            <p:cNvSpPr txBox="1"/>
            <p:nvPr/>
          </p:nvSpPr>
          <p:spPr>
            <a:xfrm>
              <a:off x="801130" y="4049200"/>
              <a:ext cx="571500" cy="243957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13</a:t>
              </a:r>
              <a:endPara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3D609C33-08EA-4033-869D-7543E77523A1}"/>
              </a:ext>
            </a:extLst>
          </p:cNvPr>
          <p:cNvSpPr/>
          <p:nvPr/>
        </p:nvSpPr>
        <p:spPr>
          <a:xfrm>
            <a:off x="5444898" y="1523512"/>
            <a:ext cx="238632" cy="234845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44" name="Text Box 137">
            <a:extLst>
              <a:ext uri="{FF2B5EF4-FFF2-40B4-BE49-F238E27FC236}">
                <a16:creationId xmlns:a16="http://schemas.microsoft.com/office/drawing/2014/main" id="{1B048907-FC39-4B4C-B2F1-C7C779F6DC0D}"/>
              </a:ext>
            </a:extLst>
          </p:cNvPr>
          <p:cNvSpPr txBox="1"/>
          <p:nvPr/>
        </p:nvSpPr>
        <p:spPr>
          <a:xfrm>
            <a:off x="5878980" y="1470308"/>
            <a:ext cx="1834426" cy="27178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of Countries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6D0DB79-9A94-462C-8241-B28B59B52FD7}"/>
              </a:ext>
            </a:extLst>
          </p:cNvPr>
          <p:cNvSpPr/>
          <p:nvPr/>
        </p:nvSpPr>
        <p:spPr>
          <a:xfrm flipH="1">
            <a:off x="8347135" y="1293289"/>
            <a:ext cx="2575096" cy="818070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93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Respondents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the DP</a:t>
            </a:r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2E6E10E5-6C5B-4E3D-980B-674204350C5F}"/>
              </a:ext>
            </a:extLst>
          </p:cNvPr>
          <p:cNvSpPr/>
          <p:nvPr/>
        </p:nvSpPr>
        <p:spPr>
          <a:xfrm>
            <a:off x="5444898" y="1890455"/>
            <a:ext cx="226448" cy="218722"/>
          </a:xfrm>
          <a:prstGeom prst="flowChartConnector">
            <a:avLst/>
          </a:prstGeom>
          <a:solidFill>
            <a:srgbClr val="057DB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50" name="Text Box 137">
            <a:extLst>
              <a:ext uri="{FF2B5EF4-FFF2-40B4-BE49-F238E27FC236}">
                <a16:creationId xmlns:a16="http://schemas.microsoft.com/office/drawing/2014/main" id="{06626553-B5F4-4391-9107-708DA94C68EC}"/>
              </a:ext>
            </a:extLst>
          </p:cNvPr>
          <p:cNvSpPr txBox="1"/>
          <p:nvPr/>
        </p:nvSpPr>
        <p:spPr>
          <a:xfrm>
            <a:off x="5877954" y="1892082"/>
            <a:ext cx="2260256" cy="35051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Respondents – DP</a:t>
            </a:r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9D368931-3EE9-4C0D-BCFE-8EC82C68E424}"/>
              </a:ext>
            </a:extLst>
          </p:cNvPr>
          <p:cNvSpPr/>
          <p:nvPr/>
        </p:nvSpPr>
        <p:spPr>
          <a:xfrm>
            <a:off x="5450990" y="2282053"/>
            <a:ext cx="226448" cy="218722"/>
          </a:xfrm>
          <a:prstGeom prst="flowChartConnector">
            <a:avLst/>
          </a:prstGeom>
          <a:solidFill>
            <a:srgbClr val="7395D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52" name="Text Box 137">
            <a:extLst>
              <a:ext uri="{FF2B5EF4-FFF2-40B4-BE49-F238E27FC236}">
                <a16:creationId xmlns:a16="http://schemas.microsoft.com/office/drawing/2014/main" id="{B78D9387-78FB-4CF7-B56F-24F05B775B09}"/>
              </a:ext>
            </a:extLst>
          </p:cNvPr>
          <p:cNvSpPr txBox="1"/>
          <p:nvPr/>
        </p:nvSpPr>
        <p:spPr>
          <a:xfrm>
            <a:off x="5862848" y="2259484"/>
            <a:ext cx="2209390" cy="32992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Respondents – IFAC Survey</a:t>
            </a:r>
          </a:p>
        </p:txBody>
      </p:sp>
      <p:sp>
        <p:nvSpPr>
          <p:cNvPr id="54" name="Text Box 3">
            <a:extLst>
              <a:ext uri="{FF2B5EF4-FFF2-40B4-BE49-F238E27FC236}">
                <a16:creationId xmlns:a16="http://schemas.microsoft.com/office/drawing/2014/main" id="{09AD454E-2248-46F1-9C50-FE2081C117AD}"/>
              </a:ext>
            </a:extLst>
          </p:cNvPr>
          <p:cNvSpPr txBox="1"/>
          <p:nvPr/>
        </p:nvSpPr>
        <p:spPr>
          <a:xfrm>
            <a:off x="2531084" y="5424080"/>
            <a:ext cx="1513333" cy="733369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Global Respondents</a:t>
            </a:r>
            <a:endParaRPr lang="en-US" sz="14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</a:t>
            </a:r>
            <a:endParaRPr lang="en-U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72C060A7-F520-4472-A5A9-EAD043672238}"/>
              </a:ext>
            </a:extLst>
          </p:cNvPr>
          <p:cNvSpPr txBox="1">
            <a:spLocks/>
          </p:cNvSpPr>
          <p:nvPr/>
        </p:nvSpPr>
        <p:spPr>
          <a:xfrm>
            <a:off x="8257649" y="1265262"/>
            <a:ext cx="3757372" cy="5022821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189">
              <a:lnSpc>
                <a:spcPts val="3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</a:rPr>
              <a:t>We heard from a broad range of stakeholders, regions, and gathered feedback from variety of sources:</a:t>
            </a:r>
          </a:p>
          <a:p>
            <a:pPr lvl="1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800" dirty="0">
                <a:solidFill>
                  <a:srgbClr val="808080"/>
                </a:solidFill>
                <a:latin typeface="Arial" panose="020B0604020202020204" pitchFamily="34" charset="0"/>
              </a:rPr>
              <a:t>Public Consultation</a:t>
            </a:r>
          </a:p>
          <a:p>
            <a:pPr lvl="1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800" dirty="0">
                <a:solidFill>
                  <a:srgbClr val="808080"/>
                </a:solidFill>
                <a:latin typeface="Arial" panose="020B0604020202020204" pitchFamily="34" charset="0"/>
              </a:rPr>
              <a:t>Surveys </a:t>
            </a:r>
          </a:p>
          <a:p>
            <a:pPr lvl="1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800" dirty="0">
                <a:solidFill>
                  <a:srgbClr val="808080"/>
                </a:solidFill>
                <a:latin typeface="Arial" panose="020B0604020202020204" pitchFamily="34" charset="0"/>
              </a:rPr>
              <a:t>Outreach</a:t>
            </a: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5" name="Slide Zoom 44">
                <a:extLst>
                  <a:ext uri="{FF2B5EF4-FFF2-40B4-BE49-F238E27FC236}">
                    <a16:creationId xmlns:a16="http://schemas.microsoft.com/office/drawing/2014/main" id="{D7C3B764-C18C-4EDE-9724-B5F5D49F921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26886625"/>
                  </p:ext>
                </p:extLst>
              </p:nvPr>
            </p:nvGraphicFramePr>
            <p:xfrm>
              <a:off x="-8166763" y="2016579"/>
              <a:ext cx="3048000" cy="1714500"/>
            </p:xfrm>
            <a:graphic>
              <a:graphicData uri="http://schemas.microsoft.com/office/powerpoint/2016/slidezoom">
                <pslz:sldZm>
                  <pslz:sldZmObj sldId="525" cId="3695128127">
                    <pslz:zmPr id="{1A0A89D9-F775-4E56-A63E-59C5719C2B51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5" name="Slide Zoom 44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D7C3B764-C18C-4EDE-9724-B5F5D49F92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8166763" y="2016579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C555A-8DB3-4E3A-9C84-ABFC0DD6A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128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6A9D1-E32E-411E-8A45-6757C0103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Stakeholder Constituencies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BD419FB-DBAC-4EE9-A828-03550AEF2A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2633526"/>
              </p:ext>
            </p:extLst>
          </p:nvPr>
        </p:nvGraphicFramePr>
        <p:xfrm>
          <a:off x="235857" y="1319303"/>
          <a:ext cx="5860143" cy="4960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5856842-DD7E-4261-934F-1EA8CA6E8F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5859246"/>
              </p:ext>
            </p:extLst>
          </p:nvPr>
        </p:nvGraphicFramePr>
        <p:xfrm>
          <a:off x="6096000" y="1327355"/>
          <a:ext cx="5860143" cy="4960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7B981-E365-4717-9A0C-F7B485E5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666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064" y="1371601"/>
            <a:ext cx="8360427" cy="4874456"/>
          </a:xfrm>
        </p:spPr>
        <p:txBody>
          <a:bodyPr/>
          <a:lstStyle/>
          <a:p>
            <a:r>
              <a:rPr lang="en-US" sz="2400" dirty="0">
                <a:solidFill>
                  <a:srgbClr val="808080"/>
                </a:solidFill>
              </a:rPr>
              <a:t>“</a:t>
            </a:r>
            <a:r>
              <a:rPr lang="en-US" sz="2400" i="1" dirty="0">
                <a:solidFill>
                  <a:srgbClr val="808080"/>
                </a:solidFill>
              </a:rPr>
              <a:t>Smaller entities make a critical contribution to the world economy, and quantitatively the majority of audits globally are audits of smaller entities.</a:t>
            </a:r>
            <a:r>
              <a:rPr lang="en-US" sz="2400" dirty="0">
                <a:solidFill>
                  <a:srgbClr val="808080"/>
                </a:solidFill>
              </a:rPr>
              <a:t>” </a:t>
            </a:r>
          </a:p>
          <a:p>
            <a:r>
              <a:rPr lang="en-US" sz="2200" dirty="0">
                <a:solidFill>
                  <a:srgbClr val="808080"/>
                </a:solidFill>
              </a:rPr>
              <a:t>Jurisdictions who have developed or are in a process of developing LCE / SME requirements:</a:t>
            </a:r>
          </a:p>
          <a:p>
            <a:pPr lvl="1"/>
            <a:r>
              <a:rPr lang="en-US" sz="2000" dirty="0">
                <a:solidFill>
                  <a:srgbClr val="808080"/>
                </a:solidFill>
              </a:rPr>
              <a:t>Nordic Federation</a:t>
            </a:r>
          </a:p>
          <a:p>
            <a:pPr lvl="1"/>
            <a:r>
              <a:rPr lang="en-US" sz="2000" dirty="0">
                <a:solidFill>
                  <a:srgbClr val="808080"/>
                </a:solidFill>
              </a:rPr>
              <a:t>Sri Lanka</a:t>
            </a:r>
          </a:p>
          <a:p>
            <a:pPr lvl="1"/>
            <a:r>
              <a:rPr lang="en-US" sz="2000" dirty="0">
                <a:solidFill>
                  <a:srgbClr val="808080"/>
                </a:solidFill>
              </a:rPr>
              <a:t>France</a:t>
            </a:r>
          </a:p>
          <a:p>
            <a:pPr lvl="1"/>
            <a:r>
              <a:rPr lang="en-US" sz="2000" dirty="0">
                <a:solidFill>
                  <a:srgbClr val="808080"/>
                </a:solidFill>
              </a:rPr>
              <a:t>Belgium</a:t>
            </a:r>
          </a:p>
          <a:p>
            <a:pPr lvl="1"/>
            <a:r>
              <a:rPr lang="en-US" sz="2000" dirty="0">
                <a:solidFill>
                  <a:srgbClr val="808080"/>
                </a:solidFill>
              </a:rPr>
              <a:t>India</a:t>
            </a:r>
          </a:p>
          <a:p>
            <a:pPr lvl="1"/>
            <a:r>
              <a:rPr lang="en-US" sz="2000" dirty="0">
                <a:solidFill>
                  <a:srgbClr val="808080"/>
                </a:solidFill>
              </a:rPr>
              <a:t>Germany</a:t>
            </a:r>
          </a:p>
          <a:p>
            <a:pPr lvl="1"/>
            <a:r>
              <a:rPr lang="en-US" sz="2000" dirty="0">
                <a:solidFill>
                  <a:srgbClr val="808080"/>
                </a:solidFill>
              </a:rPr>
              <a:t>Morocco</a:t>
            </a:r>
          </a:p>
          <a:p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808080"/>
              </a:solidFill>
            </a:endParaRPr>
          </a:p>
        </p:txBody>
      </p:sp>
      <p:pic>
        <p:nvPicPr>
          <p:cNvPr id="6" name="Content Placeholder 4" descr="Hexagon, Group, Knowledge, Concentration, Together">
            <a:extLst>
              <a:ext uri="{FF2B5EF4-FFF2-40B4-BE49-F238E27FC236}">
                <a16:creationId xmlns:a16="http://schemas.microsoft.com/office/drawing/2014/main" id="{5B0A167A-96AC-42BA-81C5-CBEBC6D5AE0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1" y="1241238"/>
            <a:ext cx="3395946" cy="300425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9895B12-740E-4ECF-8D0A-9253F8244389}"/>
              </a:ext>
            </a:extLst>
          </p:cNvPr>
          <p:cNvSpPr txBox="1">
            <a:spLocks/>
          </p:cNvSpPr>
          <p:nvPr/>
        </p:nvSpPr>
        <p:spPr>
          <a:xfrm>
            <a:off x="609600" y="569917"/>
            <a:ext cx="10972800" cy="5385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/>
              <a:t>Growing Regional and Jurisdictional Initiatives Targeted at LCEs</a:t>
            </a:r>
            <a:endParaRPr lang="en-US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9B12ABF-6135-4F7F-9825-795DF12500FD}"/>
              </a:ext>
            </a:extLst>
          </p:cNvPr>
          <p:cNvSpPr txBox="1">
            <a:spLocks/>
          </p:cNvSpPr>
          <p:nvPr/>
        </p:nvSpPr>
        <p:spPr>
          <a:xfrm>
            <a:off x="7872462" y="6511061"/>
            <a:ext cx="3714037" cy="3044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5</a:t>
            </a:fld>
            <a:endParaRPr lang="en-US" sz="900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529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064" y="1371601"/>
            <a:ext cx="8360427" cy="4874456"/>
          </a:xfrm>
        </p:spPr>
        <p:txBody>
          <a:bodyPr/>
          <a:lstStyle/>
          <a:p>
            <a:r>
              <a:rPr lang="en-US" sz="2400" b="1" dirty="0">
                <a:solidFill>
                  <a:srgbClr val="808080"/>
                </a:solidFill>
              </a:rPr>
              <a:t>Strong support </a:t>
            </a:r>
            <a:r>
              <a:rPr lang="en-US" sz="2400" dirty="0">
                <a:solidFill>
                  <a:srgbClr val="808080"/>
                </a:solidFill>
              </a:rPr>
              <a:t>for the IAASB’s work in this area</a:t>
            </a:r>
          </a:p>
          <a:p>
            <a:r>
              <a:rPr lang="en-US" sz="2400" dirty="0">
                <a:solidFill>
                  <a:srgbClr val="808080"/>
                </a:solidFill>
              </a:rPr>
              <a:t>Need for a </a:t>
            </a:r>
            <a:r>
              <a:rPr lang="en-US" sz="2400" b="1" dirty="0">
                <a:solidFill>
                  <a:srgbClr val="808080"/>
                </a:solidFill>
              </a:rPr>
              <a:t>timely solution </a:t>
            </a:r>
            <a:r>
              <a:rPr lang="en-US" sz="2400" dirty="0">
                <a:solidFill>
                  <a:srgbClr val="808080"/>
                </a:solidFill>
              </a:rPr>
              <a:t>(urgency)</a:t>
            </a:r>
          </a:p>
          <a:p>
            <a:r>
              <a:rPr lang="en-US" sz="2400" dirty="0">
                <a:solidFill>
                  <a:srgbClr val="808080"/>
                </a:solidFill>
              </a:rPr>
              <a:t>Need for a solution that is </a:t>
            </a:r>
            <a:r>
              <a:rPr lang="en-US" sz="2400" b="1" dirty="0">
                <a:solidFill>
                  <a:srgbClr val="808080"/>
                </a:solidFill>
              </a:rPr>
              <a:t>global</a:t>
            </a:r>
          </a:p>
          <a:p>
            <a:r>
              <a:rPr lang="en-US" sz="2400" b="1" dirty="0">
                <a:solidFill>
                  <a:srgbClr val="808080"/>
                </a:solidFill>
              </a:rPr>
              <a:t>Concerns that regional and jurisdictional initiatives </a:t>
            </a:r>
            <a:r>
              <a:rPr lang="en-US" sz="2400" dirty="0">
                <a:solidFill>
                  <a:srgbClr val="808080"/>
                </a:solidFill>
              </a:rPr>
              <a:t>primarily related to a separate standard, are working against global solution</a:t>
            </a:r>
          </a:p>
          <a:p>
            <a:r>
              <a:rPr lang="en-US" sz="2400" dirty="0">
                <a:solidFill>
                  <a:srgbClr val="808080"/>
                </a:solidFill>
              </a:rPr>
              <a:t>Solution is </a:t>
            </a:r>
            <a:r>
              <a:rPr lang="en-US" sz="2400" b="1" dirty="0">
                <a:solidFill>
                  <a:srgbClr val="808080"/>
                </a:solidFill>
              </a:rPr>
              <a:t>not limited to one action</a:t>
            </a:r>
            <a:r>
              <a:rPr lang="en-US" sz="2400" dirty="0">
                <a:solidFill>
                  <a:srgbClr val="808080"/>
                </a:solidFill>
              </a:rPr>
              <a:t>, encouragement that the IAASB consider all of the possible three actions</a:t>
            </a:r>
          </a:p>
          <a:p>
            <a:r>
              <a:rPr lang="en-US" sz="2400" dirty="0">
                <a:solidFill>
                  <a:srgbClr val="808080"/>
                </a:solidFill>
              </a:rPr>
              <a:t>Standards need to become more </a:t>
            </a:r>
            <a:r>
              <a:rPr lang="en-US" sz="2400" b="1" dirty="0">
                <a:solidFill>
                  <a:srgbClr val="808080"/>
                </a:solidFill>
              </a:rPr>
              <a:t>accessible and searchable </a:t>
            </a:r>
            <a:r>
              <a:rPr lang="en-US" sz="2400" dirty="0">
                <a:solidFill>
                  <a:srgbClr val="808080"/>
                </a:solidFill>
              </a:rPr>
              <a:t>(electronic format)</a:t>
            </a:r>
            <a:endParaRPr lang="en-US" sz="2400" b="1" dirty="0">
              <a:solidFill>
                <a:srgbClr val="808080"/>
              </a:solidFill>
            </a:endParaRPr>
          </a:p>
          <a:p>
            <a:endParaRPr lang="en-US" sz="2200" dirty="0">
              <a:solidFill>
                <a:srgbClr val="808080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808080"/>
              </a:solidFill>
            </a:endParaRPr>
          </a:p>
        </p:txBody>
      </p:sp>
      <p:pic>
        <p:nvPicPr>
          <p:cNvPr id="6" name="Content Placeholder 4" descr="Hexagon, Group, Knowledge, Concentration, Together">
            <a:extLst>
              <a:ext uri="{FF2B5EF4-FFF2-40B4-BE49-F238E27FC236}">
                <a16:creationId xmlns:a16="http://schemas.microsoft.com/office/drawing/2014/main" id="{5B0A167A-96AC-42BA-81C5-CBEBC6D5AE0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1" y="1241238"/>
            <a:ext cx="3395946" cy="300425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9895B12-740E-4ECF-8D0A-9253F8244389}"/>
              </a:ext>
            </a:extLst>
          </p:cNvPr>
          <p:cNvSpPr txBox="1">
            <a:spLocks/>
          </p:cNvSpPr>
          <p:nvPr/>
        </p:nvSpPr>
        <p:spPr>
          <a:xfrm>
            <a:off x="609600" y="569917"/>
            <a:ext cx="10972800" cy="5385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dirty="0"/>
              <a:t>Key Messages</a:t>
            </a:r>
            <a:endParaRPr lang="en-US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44D88BF1-BB28-4CF8-AC75-F9D2B3B6DD49}"/>
              </a:ext>
            </a:extLst>
          </p:cNvPr>
          <p:cNvSpPr txBox="1">
            <a:spLocks/>
          </p:cNvSpPr>
          <p:nvPr/>
        </p:nvSpPr>
        <p:spPr>
          <a:xfrm>
            <a:off x="7872462" y="6511061"/>
            <a:ext cx="3714037" cy="3044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6</a:t>
            </a:fld>
            <a:endParaRPr lang="en-US" sz="900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006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E792FD-6B8F-44E9-AF03-8315E0936293}"/>
              </a:ext>
            </a:extLst>
          </p:cNvPr>
          <p:cNvSpPr/>
          <p:nvPr/>
        </p:nvSpPr>
        <p:spPr>
          <a:xfrm>
            <a:off x="5834743" y="800100"/>
            <a:ext cx="6019989" cy="5487983"/>
          </a:xfrm>
          <a:prstGeom prst="rect">
            <a:avLst/>
          </a:prstGeom>
          <a:solidFill>
            <a:srgbClr val="CCECFF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lnSpc>
                <a:spcPts val="2400"/>
              </a:lnSpc>
              <a:spcBef>
                <a:spcPts val="600"/>
              </a:spcBef>
            </a:pPr>
            <a:r>
              <a:rPr lang="en-US" sz="2400" b="1" dirty="0">
                <a:solidFill>
                  <a:srgbClr val="808080"/>
                </a:solidFill>
                <a:latin typeface="Arial" panose="020B0604020202020204" pitchFamily="34" charset="0"/>
              </a:rPr>
              <a:t>“Root Causes” of the Challenges Related to Applying the ISAs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189">
              <a:lnSpc>
                <a:spcPts val="18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28600" indent="-228600">
              <a:lnSpc>
                <a:spcPts val="18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»"/>
            </a:pPr>
            <a:r>
              <a:rPr lang="en-US" sz="1600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</a:t>
            </a:r>
            <a:r>
              <a:rPr lang="en-US" sz="1600" b="1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length and volume </a:t>
            </a:r>
            <a:r>
              <a:rPr lang="en-US" sz="1600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standards</a:t>
            </a:r>
          </a:p>
          <a:p>
            <a:pPr marL="228600" indent="-228600">
              <a:lnSpc>
                <a:spcPts val="18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»"/>
            </a:pPr>
            <a:r>
              <a:rPr lang="en-US" sz="1600" b="1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Complexity</a:t>
            </a:r>
            <a:r>
              <a:rPr lang="en-US" sz="1600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an issue, as well as increasing level of prescriptiveness</a:t>
            </a:r>
          </a:p>
          <a:p>
            <a:pPr marL="228600" indent="-228600">
              <a:lnSpc>
                <a:spcPts val="18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»"/>
            </a:pPr>
            <a:r>
              <a:rPr lang="en-US" sz="1600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prescribed procedures in some cases </a:t>
            </a:r>
            <a:r>
              <a:rPr lang="en-US" sz="1600" b="1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have a benefit or add little value </a:t>
            </a:r>
          </a:p>
          <a:p>
            <a:pPr marL="228600" indent="-228600">
              <a:lnSpc>
                <a:spcPts val="18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»"/>
            </a:pPr>
            <a:r>
              <a:rPr lang="en-US" sz="1600" b="1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 of support tools and guidance</a:t>
            </a:r>
          </a:p>
          <a:p>
            <a:pPr marL="228600" indent="-228600">
              <a:lnSpc>
                <a:spcPts val="18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»"/>
            </a:pPr>
            <a:r>
              <a:rPr lang="en-US" sz="1600" b="1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Specific ISAs </a:t>
            </a:r>
            <a:r>
              <a:rPr lang="en-US" sz="1600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highlighted include ISA 230 (documentation), ISA 240 (fraud), ISA 315 (Revised) (identifying and assessing risks) and ISA 540 (Revised) (accounting estimates)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E0279-26B8-431D-80F9-DB5BA92E0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Overarching Themes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1D54DD-FA8C-4068-A8F2-DB3FBCD903E1}"/>
              </a:ext>
            </a:extLst>
          </p:cNvPr>
          <p:cNvSpPr/>
          <p:nvPr/>
        </p:nvSpPr>
        <p:spPr>
          <a:xfrm>
            <a:off x="489858" y="1268361"/>
            <a:ext cx="5217767" cy="4789539"/>
          </a:xfrm>
          <a:prstGeom prst="rect">
            <a:avLst/>
          </a:prstGeom>
          <a:solidFill>
            <a:srgbClr val="F78D28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DE3F074-5BA7-42B7-BC07-D2745888AE30}"/>
              </a:ext>
            </a:extLst>
          </p:cNvPr>
          <p:cNvSpPr txBox="1">
            <a:spLocks/>
          </p:cNvSpPr>
          <p:nvPr/>
        </p:nvSpPr>
        <p:spPr>
          <a:xfrm>
            <a:off x="489857" y="1268361"/>
            <a:ext cx="5217768" cy="4873937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189">
              <a:lnSpc>
                <a:spcPts val="1800"/>
              </a:lnSpc>
              <a:spcBef>
                <a:spcPts val="600"/>
              </a:spcBef>
              <a:buNone/>
            </a:pPr>
            <a:endParaRPr lang="en-US" sz="2400" b="1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0" indent="0" algn="ctr" defTabSz="457189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3400" b="1" dirty="0">
                <a:solidFill>
                  <a:srgbClr val="808080"/>
                </a:solidFill>
                <a:latin typeface="Arial" panose="020B0604020202020204" pitchFamily="34" charset="0"/>
              </a:rPr>
              <a:t>Description of “Less Complex Entity”</a:t>
            </a:r>
            <a:r>
              <a:rPr lang="en-US" sz="3400" dirty="0">
                <a:solidFill>
                  <a:srgbClr val="808080"/>
                </a:solidFill>
                <a:latin typeface="Arial" panose="020B0604020202020204" pitchFamily="34" charset="0"/>
              </a:rPr>
              <a:t> </a:t>
            </a:r>
          </a:p>
          <a:p>
            <a:pPr marL="0" indent="0" defTabSz="457189">
              <a:lnSpc>
                <a:spcPts val="1800"/>
              </a:lnSpc>
              <a:spcBef>
                <a:spcPts val="600"/>
              </a:spcBef>
              <a:buNone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lvl="0">
              <a:lnSpc>
                <a:spcPts val="2400"/>
              </a:lnSpc>
              <a:spcBef>
                <a:spcPts val="600"/>
              </a:spcBef>
            </a:pPr>
            <a:r>
              <a:rPr lang="en-US" sz="2300" dirty="0">
                <a:solidFill>
                  <a:srgbClr val="808080"/>
                </a:solidFill>
                <a:latin typeface="Arial" panose="020B0604020202020204" pitchFamily="34" charset="0"/>
              </a:rPr>
              <a:t>Support for a principle-based approach using </a:t>
            </a:r>
            <a:r>
              <a:rPr lang="en-US" sz="2300" b="1" dirty="0">
                <a:solidFill>
                  <a:srgbClr val="808080"/>
                </a:solidFill>
                <a:latin typeface="Arial" panose="020B0604020202020204" pitchFamily="34" charset="0"/>
              </a:rPr>
              <a:t>qualitative characteristics</a:t>
            </a:r>
          </a:p>
          <a:p>
            <a:pPr lvl="0">
              <a:lnSpc>
                <a:spcPts val="2400"/>
              </a:lnSpc>
              <a:spcBef>
                <a:spcPts val="600"/>
              </a:spcBef>
            </a:pPr>
            <a:r>
              <a:rPr lang="en-US" sz="2300" dirty="0">
                <a:solidFill>
                  <a:srgbClr val="808080"/>
                </a:solidFill>
                <a:latin typeface="Arial" panose="020B0604020202020204" pitchFamily="34" charset="0"/>
              </a:rPr>
              <a:t>Further consideration needed about qualitative characteristics, including other </a:t>
            </a:r>
            <a:r>
              <a:rPr lang="en-US" sz="2300" b="1" dirty="0">
                <a:solidFill>
                  <a:srgbClr val="808080"/>
                </a:solidFill>
                <a:latin typeface="Arial" panose="020B0604020202020204" pitchFamily="34" charset="0"/>
              </a:rPr>
              <a:t>risk-based factors</a:t>
            </a:r>
          </a:p>
          <a:p>
            <a:pPr lvl="0">
              <a:lnSpc>
                <a:spcPts val="2400"/>
              </a:lnSpc>
              <a:spcBef>
                <a:spcPts val="600"/>
              </a:spcBef>
            </a:pPr>
            <a:r>
              <a:rPr lang="en-US" sz="2300" dirty="0">
                <a:solidFill>
                  <a:srgbClr val="808080"/>
                </a:solidFill>
                <a:latin typeface="Arial" panose="020B0604020202020204" pitchFamily="34" charset="0"/>
              </a:rPr>
              <a:t>A number of views were expressed for </a:t>
            </a:r>
            <a:r>
              <a:rPr lang="en-US" sz="2300" b="1" dirty="0">
                <a:solidFill>
                  <a:srgbClr val="808080"/>
                </a:solidFill>
                <a:latin typeface="Arial" panose="020B0604020202020204" pitchFamily="34" charset="0"/>
              </a:rPr>
              <a:t>excluding ‘listed’ or ‘public interest entities’</a:t>
            </a:r>
            <a:r>
              <a:rPr lang="en-US" sz="2300" dirty="0">
                <a:solidFill>
                  <a:srgbClr val="808080"/>
                </a:solidFill>
                <a:latin typeface="Arial" panose="020B0604020202020204" pitchFamily="34" charset="0"/>
              </a:rPr>
              <a:t> expressed </a:t>
            </a:r>
          </a:p>
          <a:p>
            <a:pPr lvl="0">
              <a:lnSpc>
                <a:spcPts val="2400"/>
              </a:lnSpc>
              <a:spcBef>
                <a:spcPts val="600"/>
              </a:spcBef>
            </a:pPr>
            <a:r>
              <a:rPr lang="en-US" sz="2300" dirty="0">
                <a:solidFill>
                  <a:srgbClr val="808080"/>
                </a:solidFill>
                <a:latin typeface="Arial" panose="020B0604020202020204" pitchFamily="34" charset="0"/>
              </a:rPr>
              <a:t>Caution that </a:t>
            </a:r>
            <a:r>
              <a:rPr lang="en-US" sz="2300" b="1" dirty="0">
                <a:solidFill>
                  <a:srgbClr val="808080"/>
                </a:solidFill>
                <a:latin typeface="Arial" panose="020B0604020202020204" pitchFamily="34" charset="0"/>
              </a:rPr>
              <a:t>description needs to be in context </a:t>
            </a:r>
            <a:r>
              <a:rPr lang="en-US" sz="2300" dirty="0">
                <a:solidFill>
                  <a:srgbClr val="808080"/>
                </a:solidFill>
                <a:latin typeface="Arial" panose="020B0604020202020204" pitchFamily="34" charset="0"/>
              </a:rPr>
              <a:t>of outcomes of IAASB’s work – so that description is relevant</a:t>
            </a:r>
          </a:p>
          <a:p>
            <a:pPr marL="228600" lvl="1">
              <a:lnSpc>
                <a:spcPts val="2400"/>
              </a:lnSpc>
              <a:spcBef>
                <a:spcPts val="300"/>
              </a:spcBef>
              <a:buFontTx/>
              <a:buChar char="-"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41370-8C37-4783-9268-2881AD0A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411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E792FD-6B8F-44E9-AF03-8315E0936293}"/>
              </a:ext>
            </a:extLst>
          </p:cNvPr>
          <p:cNvSpPr/>
          <p:nvPr/>
        </p:nvSpPr>
        <p:spPr>
          <a:xfrm>
            <a:off x="1666558" y="1256640"/>
            <a:ext cx="10161647" cy="2065473"/>
          </a:xfrm>
          <a:prstGeom prst="rect">
            <a:avLst/>
          </a:prstGeom>
          <a:solidFill>
            <a:srgbClr val="F78D28">
              <a:alpha val="14902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>
              <a:lnSpc>
                <a:spcPts val="2400"/>
              </a:lnSpc>
              <a:spcBef>
                <a:spcPts val="300"/>
              </a:spcBef>
              <a:buSzPct val="100000"/>
            </a:pPr>
            <a:r>
              <a:rPr lang="en-US" sz="2400" b="1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Written Responses: </a:t>
            </a:r>
          </a:p>
          <a:p>
            <a:endParaRPr lang="en-US" dirty="0">
              <a:solidFill>
                <a:srgbClr val="808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Preference for ‘building-blocks’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Mixed views about targeted approach versus a ‘big bang’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Would be most effective solution in addressing issues/challenges, but recognition that not timely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simpler language and principles-based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more scalability and proportionality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E0279-26B8-431D-80F9-DB5BA92E0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Possible Actions (Part 1)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1D54DD-FA8C-4068-A8F2-DB3FBCD903E1}"/>
              </a:ext>
            </a:extLst>
          </p:cNvPr>
          <p:cNvSpPr/>
          <p:nvPr/>
        </p:nvSpPr>
        <p:spPr>
          <a:xfrm>
            <a:off x="489858" y="1228285"/>
            <a:ext cx="881742" cy="4927585"/>
          </a:xfrm>
          <a:prstGeom prst="rect">
            <a:avLst/>
          </a:prstGeom>
          <a:solidFill>
            <a:srgbClr val="005BAA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005BAA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DE3F074-5BA7-42B7-BC07-D2745888AE30}"/>
              </a:ext>
            </a:extLst>
          </p:cNvPr>
          <p:cNvSpPr txBox="1">
            <a:spLocks/>
          </p:cNvSpPr>
          <p:nvPr/>
        </p:nvSpPr>
        <p:spPr>
          <a:xfrm>
            <a:off x="489859" y="1149753"/>
            <a:ext cx="1751896" cy="5006117"/>
          </a:xfrm>
          <a:prstGeom prst="rect">
            <a:avLst/>
          </a:prstGeom>
          <a:ln w="19050">
            <a:noFill/>
          </a:ln>
        </p:spPr>
        <p:txBody>
          <a:bodyPr vert="vert270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189">
              <a:lnSpc>
                <a:spcPts val="2400"/>
              </a:lnSpc>
              <a:spcBef>
                <a:spcPts val="600"/>
              </a:spcBef>
              <a:buNone/>
            </a:pPr>
            <a:endParaRPr lang="en-US" sz="2400" b="1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0" indent="0" algn="ctr" defTabSz="457189">
              <a:lnSpc>
                <a:spcPts val="2400"/>
              </a:lnSpc>
              <a:spcBef>
                <a:spcPts val="600"/>
              </a:spcBef>
              <a:buNone/>
            </a:pPr>
            <a:r>
              <a:rPr lang="en-US" sz="3600" b="1" dirty="0">
                <a:solidFill>
                  <a:srgbClr val="808080"/>
                </a:solidFill>
                <a:latin typeface="Arial" panose="020B0604020202020204" pitchFamily="34" charset="0"/>
              </a:rPr>
              <a:t>Revising the ISAs</a:t>
            </a:r>
            <a:endParaRPr lang="en-US" sz="36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0" indent="0" defTabSz="457189">
              <a:lnSpc>
                <a:spcPts val="2400"/>
              </a:lnSpc>
              <a:spcBef>
                <a:spcPts val="600"/>
              </a:spcBef>
              <a:buNone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2" name="Content Placeholder 8">
            <a:extLst>
              <a:ext uri="{FF2B5EF4-FFF2-40B4-BE49-F238E27FC236}">
                <a16:creationId xmlns:a16="http://schemas.microsoft.com/office/drawing/2014/main" id="{55D4876B-192B-4B87-8E43-2867FEA41A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3710444"/>
              </p:ext>
            </p:extLst>
          </p:nvPr>
        </p:nvGraphicFramePr>
        <p:xfrm>
          <a:off x="1666559" y="3973643"/>
          <a:ext cx="3932195" cy="2389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6C1FC7D7-C7E8-4121-88DD-C95FD4AA98A8}"/>
              </a:ext>
            </a:extLst>
          </p:cNvPr>
          <p:cNvSpPr/>
          <p:nvPr/>
        </p:nvSpPr>
        <p:spPr>
          <a:xfrm>
            <a:off x="1666560" y="3429000"/>
            <a:ext cx="5108894" cy="2915406"/>
          </a:xfrm>
          <a:prstGeom prst="rect">
            <a:avLst/>
          </a:prstGeom>
          <a:solidFill>
            <a:srgbClr val="CCECFF">
              <a:alpha val="14902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>
              <a:lnSpc>
                <a:spcPts val="2400"/>
              </a:lnSpc>
              <a:spcBef>
                <a:spcPts val="300"/>
              </a:spcBef>
              <a:buSzPct val="100000"/>
              <a:defRPr/>
            </a:pPr>
            <a:r>
              <a:rPr lang="en-US" sz="2400" b="1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IFAC Survey:</a:t>
            </a:r>
          </a:p>
          <a:p>
            <a:pPr lvl="1">
              <a:lnSpc>
                <a:spcPts val="2400"/>
              </a:lnSpc>
              <a:spcBef>
                <a:spcPts val="300"/>
              </a:spcBef>
              <a:buSzPct val="100000"/>
              <a:defRPr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360FE0-AABF-4339-B0B6-90262E45A3E8}"/>
              </a:ext>
            </a:extLst>
          </p:cNvPr>
          <p:cNvSpPr/>
          <p:nvPr/>
        </p:nvSpPr>
        <p:spPr>
          <a:xfrm>
            <a:off x="4256651" y="4073530"/>
            <a:ext cx="2336597" cy="2065473"/>
          </a:xfrm>
          <a:prstGeom prst="rect">
            <a:avLst/>
          </a:prstGeom>
          <a:solidFill>
            <a:schemeClr val="bg1"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45% Building blocks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35% Greater Focus on what the auditor needs to do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52223B-171A-43D3-A7AC-C7D8F7D7F3FE}"/>
              </a:ext>
            </a:extLst>
          </p:cNvPr>
          <p:cNvSpPr/>
          <p:nvPr/>
        </p:nvSpPr>
        <p:spPr>
          <a:xfrm>
            <a:off x="6887496" y="3420578"/>
            <a:ext cx="4940709" cy="2915406"/>
          </a:xfrm>
          <a:prstGeom prst="rect">
            <a:avLst/>
          </a:prstGeom>
          <a:solidFill>
            <a:schemeClr val="accent2">
              <a:lumMod val="20000"/>
              <a:lumOff val="80000"/>
              <a:alpha val="14902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>
              <a:lnSpc>
                <a:spcPts val="2400"/>
              </a:lnSpc>
              <a:spcBef>
                <a:spcPts val="300"/>
              </a:spcBef>
              <a:buSzPct val="100000"/>
              <a:defRPr/>
            </a:pPr>
            <a:r>
              <a:rPr lang="en-US" sz="2400" b="1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Paris LCE Conference:</a:t>
            </a:r>
          </a:p>
          <a:p>
            <a:pPr lvl="1">
              <a:lnSpc>
                <a:spcPts val="2400"/>
              </a:lnSpc>
              <a:spcBef>
                <a:spcPts val="300"/>
              </a:spcBef>
              <a:buSzPct val="100000"/>
              <a:defRPr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9" name="Content Placeholder 8">
            <a:extLst>
              <a:ext uri="{FF2B5EF4-FFF2-40B4-BE49-F238E27FC236}">
                <a16:creationId xmlns:a16="http://schemas.microsoft.com/office/drawing/2014/main" id="{8E06DDF2-8C02-4D0A-803E-1139320757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6450220"/>
              </p:ext>
            </p:extLst>
          </p:nvPr>
        </p:nvGraphicFramePr>
        <p:xfrm>
          <a:off x="7619012" y="3898847"/>
          <a:ext cx="3533817" cy="2389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90F4C-0928-4CAC-B191-898E12F40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561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E792FD-6B8F-44E9-AF03-8315E0936293}"/>
              </a:ext>
            </a:extLst>
          </p:cNvPr>
          <p:cNvSpPr/>
          <p:nvPr/>
        </p:nvSpPr>
        <p:spPr>
          <a:xfrm>
            <a:off x="1666558" y="1256640"/>
            <a:ext cx="10161647" cy="2065473"/>
          </a:xfrm>
          <a:prstGeom prst="rect">
            <a:avLst/>
          </a:prstGeom>
          <a:solidFill>
            <a:srgbClr val="F78D28">
              <a:alpha val="14902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>
              <a:lnSpc>
                <a:spcPts val="2400"/>
              </a:lnSpc>
              <a:spcBef>
                <a:spcPts val="300"/>
              </a:spcBef>
              <a:buSzPct val="100000"/>
            </a:pPr>
            <a:r>
              <a:rPr lang="en-US" sz="2400" b="1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Written Responses: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808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timely - would be quicker than revising all of the ISAs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Needs to be a reasonable level of assurance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Little support for development of a separate standard using a different framework – i.e., not based on the ISAs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E0279-26B8-431D-80F9-DB5BA92E0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Possible Actions (Part 2)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1D54DD-FA8C-4068-A8F2-DB3FBCD903E1}"/>
              </a:ext>
            </a:extLst>
          </p:cNvPr>
          <p:cNvSpPr/>
          <p:nvPr/>
        </p:nvSpPr>
        <p:spPr>
          <a:xfrm>
            <a:off x="489858" y="1228285"/>
            <a:ext cx="881742" cy="4927585"/>
          </a:xfrm>
          <a:prstGeom prst="rect">
            <a:avLst/>
          </a:prstGeom>
          <a:solidFill>
            <a:srgbClr val="005BAA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005BAA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DE3F074-5BA7-42B7-BC07-D2745888AE30}"/>
              </a:ext>
            </a:extLst>
          </p:cNvPr>
          <p:cNvSpPr txBox="1">
            <a:spLocks/>
          </p:cNvSpPr>
          <p:nvPr/>
        </p:nvSpPr>
        <p:spPr>
          <a:xfrm>
            <a:off x="489859" y="1149753"/>
            <a:ext cx="1425676" cy="5006117"/>
          </a:xfrm>
          <a:prstGeom prst="rect">
            <a:avLst/>
          </a:prstGeom>
          <a:ln w="19050">
            <a:noFill/>
          </a:ln>
        </p:spPr>
        <p:txBody>
          <a:bodyPr vert="vert270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189">
              <a:lnSpc>
                <a:spcPts val="2400"/>
              </a:lnSpc>
              <a:spcBef>
                <a:spcPts val="600"/>
              </a:spcBef>
              <a:buNone/>
            </a:pPr>
            <a:endParaRPr lang="en-US" sz="2400" b="1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0" indent="0" algn="ctr" defTabSz="457189">
              <a:lnSpc>
                <a:spcPts val="2400"/>
              </a:lnSpc>
              <a:spcBef>
                <a:spcPts val="600"/>
              </a:spcBef>
              <a:buNone/>
            </a:pPr>
            <a:r>
              <a:rPr lang="en-US" sz="3600" b="1" dirty="0">
                <a:solidFill>
                  <a:srgbClr val="808080"/>
                </a:solidFill>
                <a:latin typeface="Arial" panose="020B0604020202020204" pitchFamily="34" charset="0"/>
              </a:rPr>
              <a:t>Separate Standard</a:t>
            </a:r>
            <a:endParaRPr lang="en-US" sz="24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2" name="Content Placeholder 8">
            <a:extLst>
              <a:ext uri="{FF2B5EF4-FFF2-40B4-BE49-F238E27FC236}">
                <a16:creationId xmlns:a16="http://schemas.microsoft.com/office/drawing/2014/main" id="{55D4876B-192B-4B87-8E43-2867FEA41A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0673370"/>
              </p:ext>
            </p:extLst>
          </p:nvPr>
        </p:nvGraphicFramePr>
        <p:xfrm>
          <a:off x="1666559" y="3973643"/>
          <a:ext cx="3932195" cy="2389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6C1FC7D7-C7E8-4121-88DD-C95FD4AA98A8}"/>
              </a:ext>
            </a:extLst>
          </p:cNvPr>
          <p:cNvSpPr/>
          <p:nvPr/>
        </p:nvSpPr>
        <p:spPr>
          <a:xfrm>
            <a:off x="1691847" y="3425231"/>
            <a:ext cx="5108894" cy="2915406"/>
          </a:xfrm>
          <a:prstGeom prst="rect">
            <a:avLst/>
          </a:prstGeom>
          <a:solidFill>
            <a:srgbClr val="CCECFF">
              <a:alpha val="14902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>
              <a:lnSpc>
                <a:spcPts val="2400"/>
              </a:lnSpc>
              <a:spcBef>
                <a:spcPts val="300"/>
              </a:spcBef>
              <a:buSzPct val="100000"/>
              <a:defRPr/>
            </a:pPr>
            <a:r>
              <a:rPr lang="en-US" sz="2400" b="1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IFAC Survey:</a:t>
            </a:r>
          </a:p>
          <a:p>
            <a:pPr lvl="1">
              <a:lnSpc>
                <a:spcPts val="2400"/>
              </a:lnSpc>
              <a:spcBef>
                <a:spcPts val="300"/>
              </a:spcBef>
              <a:buSzPct val="100000"/>
              <a:defRPr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360FE0-AABF-4339-B0B6-90262E45A3E8}"/>
              </a:ext>
            </a:extLst>
          </p:cNvPr>
          <p:cNvSpPr/>
          <p:nvPr/>
        </p:nvSpPr>
        <p:spPr>
          <a:xfrm>
            <a:off x="4256651" y="4073530"/>
            <a:ext cx="2336597" cy="2065473"/>
          </a:xfrm>
          <a:prstGeom prst="rect">
            <a:avLst/>
          </a:prstGeom>
          <a:solidFill>
            <a:schemeClr val="bg1"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60% Based on ISAs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38% Based on a Different Framework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52223B-171A-43D3-A7AC-C7D8F7D7F3FE}"/>
              </a:ext>
            </a:extLst>
          </p:cNvPr>
          <p:cNvSpPr/>
          <p:nvPr/>
        </p:nvSpPr>
        <p:spPr>
          <a:xfrm>
            <a:off x="6887496" y="3420578"/>
            <a:ext cx="4940709" cy="2915406"/>
          </a:xfrm>
          <a:prstGeom prst="rect">
            <a:avLst/>
          </a:prstGeom>
          <a:solidFill>
            <a:schemeClr val="accent2">
              <a:lumMod val="20000"/>
              <a:lumOff val="80000"/>
              <a:alpha val="14902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>
              <a:lnSpc>
                <a:spcPts val="2400"/>
              </a:lnSpc>
              <a:spcBef>
                <a:spcPts val="300"/>
              </a:spcBef>
              <a:buSzPct val="100000"/>
              <a:defRPr/>
            </a:pPr>
            <a:r>
              <a:rPr lang="en-US" sz="2400" b="1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Paris LCE Conference:</a:t>
            </a:r>
          </a:p>
          <a:p>
            <a:pPr lvl="1">
              <a:lnSpc>
                <a:spcPts val="2400"/>
              </a:lnSpc>
              <a:spcBef>
                <a:spcPts val="300"/>
              </a:spcBef>
              <a:buSzPct val="100000"/>
              <a:defRPr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9" name="Content Placeholder 8">
            <a:extLst>
              <a:ext uri="{FF2B5EF4-FFF2-40B4-BE49-F238E27FC236}">
                <a16:creationId xmlns:a16="http://schemas.microsoft.com/office/drawing/2014/main" id="{8E06DDF2-8C02-4D0A-803E-1139320757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6252441"/>
              </p:ext>
            </p:extLst>
          </p:nvPr>
        </p:nvGraphicFramePr>
        <p:xfrm>
          <a:off x="7619012" y="3898847"/>
          <a:ext cx="3533817" cy="2389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BB3A7-349A-4FB1-A53B-7426E24DB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274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E792FD-6B8F-44E9-AF03-8315E0936293}"/>
              </a:ext>
            </a:extLst>
          </p:cNvPr>
          <p:cNvSpPr/>
          <p:nvPr/>
        </p:nvSpPr>
        <p:spPr>
          <a:xfrm>
            <a:off x="1666558" y="1256640"/>
            <a:ext cx="10161647" cy="2065473"/>
          </a:xfrm>
          <a:prstGeom prst="rect">
            <a:avLst/>
          </a:prstGeom>
          <a:solidFill>
            <a:srgbClr val="F78D28">
              <a:alpha val="14902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>
              <a:lnSpc>
                <a:spcPts val="2400"/>
              </a:lnSpc>
              <a:spcBef>
                <a:spcPts val="300"/>
              </a:spcBef>
              <a:buSzPct val="100000"/>
            </a:pPr>
            <a:r>
              <a:rPr lang="en-US" sz="2400" b="1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Written Responses: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808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seen as a standalone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identified, but should support the other two options as appropriate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E0279-26B8-431D-80F9-DB5BA92E0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Possible Actions (Part 3)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1D54DD-FA8C-4068-A8F2-DB3FBCD903E1}"/>
              </a:ext>
            </a:extLst>
          </p:cNvPr>
          <p:cNvSpPr/>
          <p:nvPr/>
        </p:nvSpPr>
        <p:spPr>
          <a:xfrm>
            <a:off x="489858" y="1228285"/>
            <a:ext cx="881742" cy="4927585"/>
          </a:xfrm>
          <a:prstGeom prst="rect">
            <a:avLst/>
          </a:prstGeom>
          <a:solidFill>
            <a:srgbClr val="005BAA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005BAA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DE3F074-5BA7-42B7-BC07-D2745888AE30}"/>
              </a:ext>
            </a:extLst>
          </p:cNvPr>
          <p:cNvSpPr txBox="1">
            <a:spLocks/>
          </p:cNvSpPr>
          <p:nvPr/>
        </p:nvSpPr>
        <p:spPr>
          <a:xfrm>
            <a:off x="489859" y="1149753"/>
            <a:ext cx="1425676" cy="5006117"/>
          </a:xfrm>
          <a:prstGeom prst="rect">
            <a:avLst/>
          </a:prstGeom>
          <a:ln w="19050">
            <a:noFill/>
          </a:ln>
        </p:spPr>
        <p:txBody>
          <a:bodyPr vert="vert270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189">
              <a:lnSpc>
                <a:spcPts val="2400"/>
              </a:lnSpc>
              <a:spcBef>
                <a:spcPts val="600"/>
              </a:spcBef>
              <a:buNone/>
            </a:pPr>
            <a:endParaRPr lang="en-US" sz="2400" b="1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 marL="0" indent="0" algn="ctr" defTabSz="457189">
              <a:lnSpc>
                <a:spcPts val="2400"/>
              </a:lnSpc>
              <a:spcBef>
                <a:spcPts val="600"/>
              </a:spcBef>
              <a:buNone/>
            </a:pPr>
            <a:r>
              <a:rPr lang="en-US" sz="3600" b="1" dirty="0">
                <a:solidFill>
                  <a:srgbClr val="808080"/>
                </a:solidFill>
                <a:latin typeface="Arial" panose="020B0604020202020204" pitchFamily="34" charset="0"/>
              </a:rPr>
              <a:t>Guidance</a:t>
            </a:r>
            <a:endParaRPr lang="en-US" sz="24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808080"/>
              </a:solidFill>
              <a:latin typeface="Arial" panose="020B0604020202020204" pitchFamily="34" charset="0"/>
            </a:endParaRP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2" name="Content Placeholder 8">
            <a:extLst>
              <a:ext uri="{FF2B5EF4-FFF2-40B4-BE49-F238E27FC236}">
                <a16:creationId xmlns:a16="http://schemas.microsoft.com/office/drawing/2014/main" id="{55D4876B-192B-4B87-8E43-2867FEA41A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8510846"/>
              </p:ext>
            </p:extLst>
          </p:nvPr>
        </p:nvGraphicFramePr>
        <p:xfrm>
          <a:off x="1666559" y="3973643"/>
          <a:ext cx="3932195" cy="2389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6C1FC7D7-C7E8-4121-88DD-C95FD4AA98A8}"/>
              </a:ext>
            </a:extLst>
          </p:cNvPr>
          <p:cNvSpPr/>
          <p:nvPr/>
        </p:nvSpPr>
        <p:spPr>
          <a:xfrm>
            <a:off x="1702204" y="3420578"/>
            <a:ext cx="5108894" cy="2915406"/>
          </a:xfrm>
          <a:prstGeom prst="rect">
            <a:avLst/>
          </a:prstGeom>
          <a:solidFill>
            <a:srgbClr val="CCECFF">
              <a:alpha val="14902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>
              <a:lnSpc>
                <a:spcPts val="2400"/>
              </a:lnSpc>
              <a:spcBef>
                <a:spcPts val="300"/>
              </a:spcBef>
              <a:buSzPct val="100000"/>
              <a:defRPr/>
            </a:pPr>
            <a:r>
              <a:rPr lang="en-US" sz="2400" b="1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IFAC Survey:</a:t>
            </a:r>
          </a:p>
          <a:p>
            <a:pPr lvl="1">
              <a:lnSpc>
                <a:spcPts val="2400"/>
              </a:lnSpc>
              <a:spcBef>
                <a:spcPts val="300"/>
              </a:spcBef>
              <a:buSzPct val="100000"/>
              <a:defRPr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360FE0-AABF-4339-B0B6-90262E45A3E8}"/>
              </a:ext>
            </a:extLst>
          </p:cNvPr>
          <p:cNvSpPr/>
          <p:nvPr/>
        </p:nvSpPr>
        <p:spPr>
          <a:xfrm>
            <a:off x="4256651" y="4073530"/>
            <a:ext cx="2336597" cy="2065473"/>
          </a:xfrm>
          <a:prstGeom prst="rect">
            <a:avLst/>
          </a:prstGeom>
          <a:solidFill>
            <a:schemeClr val="bg1"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44% Comprehensive ISA Guide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20% International Auditing Practice Note (IAPN)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52223B-171A-43D3-A7AC-C7D8F7D7F3FE}"/>
              </a:ext>
            </a:extLst>
          </p:cNvPr>
          <p:cNvSpPr/>
          <p:nvPr/>
        </p:nvSpPr>
        <p:spPr>
          <a:xfrm>
            <a:off x="6887496" y="3420578"/>
            <a:ext cx="4940709" cy="2915406"/>
          </a:xfrm>
          <a:prstGeom prst="rect">
            <a:avLst/>
          </a:prstGeom>
          <a:solidFill>
            <a:schemeClr val="accent2">
              <a:lumMod val="20000"/>
              <a:lumOff val="80000"/>
              <a:alpha val="14902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>
              <a:lnSpc>
                <a:spcPts val="2400"/>
              </a:lnSpc>
              <a:spcBef>
                <a:spcPts val="300"/>
              </a:spcBef>
              <a:buSzPct val="100000"/>
              <a:defRPr/>
            </a:pPr>
            <a:r>
              <a:rPr lang="en-US" sz="2400" b="1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Paris LCE Conference:</a:t>
            </a:r>
          </a:p>
          <a:p>
            <a:pPr lvl="1">
              <a:lnSpc>
                <a:spcPts val="2400"/>
              </a:lnSpc>
              <a:spcBef>
                <a:spcPts val="300"/>
              </a:spcBef>
              <a:buSzPct val="100000"/>
              <a:defRPr/>
            </a:pPr>
            <a:endParaRPr lang="en-US" sz="2400" dirty="0">
              <a:solidFill>
                <a:srgbClr val="808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9" name="Content Placeholder 8">
            <a:extLst>
              <a:ext uri="{FF2B5EF4-FFF2-40B4-BE49-F238E27FC236}">
                <a16:creationId xmlns:a16="http://schemas.microsoft.com/office/drawing/2014/main" id="{8E06DDF2-8C02-4D0A-803E-1139320757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6122933"/>
              </p:ext>
            </p:extLst>
          </p:nvPr>
        </p:nvGraphicFramePr>
        <p:xfrm>
          <a:off x="7619012" y="3898847"/>
          <a:ext cx="3533817" cy="2389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64191-A94D-479F-A321-84B87EAE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536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064" y="611944"/>
            <a:ext cx="10058400" cy="533400"/>
          </a:xfrm>
        </p:spPr>
        <p:txBody>
          <a:bodyPr/>
          <a:lstStyle/>
          <a:p>
            <a:r>
              <a:rPr lang="en-US" b="1" dirty="0"/>
              <a:t>Proposed Way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825" y="1371600"/>
            <a:ext cx="6310098" cy="5139461"/>
          </a:xfrm>
        </p:spPr>
        <p:txBody>
          <a:bodyPr/>
          <a:lstStyle/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808080"/>
                </a:solidFill>
              </a:rPr>
              <a:t>From the responses it is clear that changes to the standards are needed, but what those specific changes need to be is not yet clear</a:t>
            </a: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rgbClr val="808080"/>
              </a:solidFill>
            </a:endParaRP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808080"/>
                </a:solidFill>
              </a:rPr>
              <a:t>The LCE Working Group proposes a combination of approaches with two distinct workstreams that would run in the same time:</a:t>
            </a: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rgbClr val="808080"/>
              </a:solidFill>
            </a:endParaRPr>
          </a:p>
          <a:p>
            <a:pPr lvl="1"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808080"/>
                </a:solidFill>
              </a:rPr>
              <a:t>LCE Focused Workstream </a:t>
            </a:r>
            <a:r>
              <a:rPr lang="en-US" sz="2000" dirty="0">
                <a:solidFill>
                  <a:srgbClr val="808080"/>
                </a:solidFill>
              </a:rPr>
              <a:t>to explore and develop a separate standard for audits of LCEs</a:t>
            </a:r>
          </a:p>
          <a:p>
            <a:pPr lvl="1"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808080"/>
                </a:solidFill>
              </a:rPr>
              <a:t>ISA Focused Workstream </a:t>
            </a:r>
            <a:r>
              <a:rPr lang="en-US" sz="2000" dirty="0">
                <a:solidFill>
                  <a:srgbClr val="808080"/>
                </a:solidFill>
              </a:rPr>
              <a:t>to explore different approaches to revise the ISA</a:t>
            </a:r>
          </a:p>
          <a:p>
            <a:pPr lvl="1"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808080"/>
              </a:solidFill>
            </a:endParaRP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808080"/>
                </a:solidFill>
              </a:rPr>
              <a:t>Synergies between the two workstreams (work from one workstream will inform the other)</a:t>
            </a:r>
            <a:r>
              <a:rPr lang="en-US" sz="2400" dirty="0">
                <a:solidFill>
                  <a:srgbClr val="808080"/>
                </a:solidFill>
              </a:rPr>
              <a:t> </a:t>
            </a: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80808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6CE81C-1039-4027-84A9-6201F239B52F}"/>
              </a:ext>
            </a:extLst>
          </p:cNvPr>
          <p:cNvSpPr/>
          <p:nvPr/>
        </p:nvSpPr>
        <p:spPr>
          <a:xfrm>
            <a:off x="7123472" y="1218930"/>
            <a:ext cx="3982064" cy="1034731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Initial Discussion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December 2019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50DA6C-9FE3-4CDF-BC75-A2C1CFB0A106}"/>
              </a:ext>
            </a:extLst>
          </p:cNvPr>
          <p:cNvSpPr/>
          <p:nvPr/>
        </p:nvSpPr>
        <p:spPr>
          <a:xfrm>
            <a:off x="7123472" y="2394269"/>
            <a:ext cx="3982064" cy="1034731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Recommendations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March 2020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782A36-112F-4103-B3E8-1F6904CB21D1}"/>
              </a:ext>
            </a:extLst>
          </p:cNvPr>
          <p:cNvSpPr/>
          <p:nvPr/>
        </p:nvSpPr>
        <p:spPr>
          <a:xfrm>
            <a:off x="9092672" y="4137149"/>
            <a:ext cx="1416792" cy="2028673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</a:rPr>
              <a:t>Shorter-term actions</a:t>
            </a:r>
          </a:p>
          <a:p>
            <a:pPr lvl="0" algn="ctr"/>
            <a:r>
              <a:rPr lang="en-US" dirty="0">
                <a:solidFill>
                  <a:schemeClr val="tx1"/>
                </a:solidFill>
              </a:rPr>
              <a:t>(1‒3 years)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87F29B-18ED-466D-89FF-E769E4F9077B}"/>
              </a:ext>
            </a:extLst>
          </p:cNvPr>
          <p:cNvSpPr/>
          <p:nvPr/>
        </p:nvSpPr>
        <p:spPr>
          <a:xfrm>
            <a:off x="6728903" y="3601947"/>
            <a:ext cx="2080788" cy="2563876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LCE Focused Workstream</a:t>
            </a:r>
          </a:p>
          <a:p>
            <a:pPr lvl="0" algn="ctr"/>
            <a:endParaRPr lang="en-US" dirty="0">
              <a:solidFill>
                <a:schemeClr val="tx1"/>
              </a:solidFill>
            </a:endParaRPr>
          </a:p>
          <a:p>
            <a:pPr lvl="0" algn="ctr"/>
            <a:endParaRPr lang="en-US" dirty="0">
              <a:solidFill>
                <a:schemeClr val="tx1"/>
              </a:solidFill>
            </a:endParaRPr>
          </a:p>
          <a:p>
            <a:pPr lvl="0" algn="ctr"/>
            <a:r>
              <a:rPr lang="en-US" dirty="0">
                <a:solidFill>
                  <a:schemeClr val="tx1"/>
                </a:solidFill>
              </a:rPr>
              <a:t>Medium-term actions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(3-4 years)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9A8D88-DC14-4C62-A9E8-F9FF24C41268}"/>
              </a:ext>
            </a:extLst>
          </p:cNvPr>
          <p:cNvSpPr/>
          <p:nvPr/>
        </p:nvSpPr>
        <p:spPr>
          <a:xfrm>
            <a:off x="9092672" y="3601947"/>
            <a:ext cx="2833584" cy="511278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>
                <a:solidFill>
                  <a:schemeClr val="tx1"/>
                </a:solidFill>
              </a:rPr>
              <a:t>ISA Focused Workstream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E028B3-DABD-4559-8077-B79B8D841CBB}"/>
              </a:ext>
            </a:extLst>
          </p:cNvPr>
          <p:cNvSpPr/>
          <p:nvPr/>
        </p:nvSpPr>
        <p:spPr>
          <a:xfrm>
            <a:off x="10509464" y="4137149"/>
            <a:ext cx="1416792" cy="2028673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</a:rPr>
              <a:t>Longer-term actions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(5+ years)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5E9598AC-F838-41BE-BDC3-DCA63A9CFFF5}"/>
              </a:ext>
            </a:extLst>
          </p:cNvPr>
          <p:cNvSpPr/>
          <p:nvPr/>
        </p:nvSpPr>
        <p:spPr>
          <a:xfrm>
            <a:off x="7455945" y="3274142"/>
            <a:ext cx="555535" cy="575187"/>
          </a:xfrm>
          <a:prstGeom prst="downArrow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8D01659C-7870-4F6D-ABC4-D01FA48FC0BB}"/>
              </a:ext>
            </a:extLst>
          </p:cNvPr>
          <p:cNvSpPr/>
          <p:nvPr/>
        </p:nvSpPr>
        <p:spPr>
          <a:xfrm>
            <a:off x="10264239" y="3191522"/>
            <a:ext cx="555535" cy="575187"/>
          </a:xfrm>
          <a:prstGeom prst="downArrow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30343B0F-EF54-4DFF-80A7-64DC47D1CDC3}"/>
              </a:ext>
            </a:extLst>
          </p:cNvPr>
          <p:cNvSpPr/>
          <p:nvPr/>
        </p:nvSpPr>
        <p:spPr>
          <a:xfrm>
            <a:off x="8773432" y="2094714"/>
            <a:ext cx="555535" cy="575187"/>
          </a:xfrm>
          <a:prstGeom prst="downArrow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67623512-95D0-4DA7-B1D3-B1792D531450}"/>
              </a:ext>
            </a:extLst>
          </p:cNvPr>
          <p:cNvSpPr txBox="1">
            <a:spLocks/>
          </p:cNvSpPr>
          <p:nvPr/>
        </p:nvSpPr>
        <p:spPr>
          <a:xfrm>
            <a:off x="7872462" y="6511061"/>
            <a:ext cx="3714037" cy="3044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11</a:t>
            </a:fld>
            <a:endParaRPr lang="en-US" sz="900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321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A9FE4-88BA-43DE-9FB7-609FF732E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Workstreams – Proposed Direction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6BC2984-2692-486A-9A03-11C3CF13CF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16660"/>
              </p:ext>
            </p:extLst>
          </p:nvPr>
        </p:nvGraphicFramePr>
        <p:xfrm>
          <a:off x="609600" y="1338426"/>
          <a:ext cx="10972800" cy="5172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7857148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687904986"/>
                    </a:ext>
                  </a:extLst>
                </a:gridCol>
              </a:tblGrid>
              <a:tr h="63270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LCE Focused Workstream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ISA Focused Workstream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083833"/>
                  </a:ext>
                </a:extLst>
              </a:tr>
              <a:tr h="3290253">
                <a:tc rowSpan="2">
                  <a:txBody>
                    <a:bodyPr/>
                    <a:lstStyle/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the </a:t>
                      </a: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short- to medium-term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0" marR="0" lvl="0" indent="0" algn="l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Determine the most appropriate basis for developing a separate standard (taking into account feedback from DP and learning from the experience of others)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 a standard (or other action) accordingly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Explore if anything else is needed to support such a standard and work with others (such as IFAC and NSS)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C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the </a:t>
                      </a:r>
                      <a:r>
                        <a:rPr lang="en-US" sz="1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shorter-to medium-term</a:t>
                      </a:r>
                      <a:r>
                        <a:rPr lang="en-US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Exploring different approaches to revising the ISAs, including consideration of whether (and how) more ‘immediate’ changes could be made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Consideration of respondents comments about specific ISAs identified as challenging and how these challenges can be addressed</a:t>
                      </a:r>
                    </a:p>
                  </a:txBody>
                  <a:tcPr>
                    <a:solidFill>
                      <a:srgbClr val="FC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775092"/>
                  </a:ext>
                </a:extLst>
              </a:tr>
              <a:tr h="960870">
                <a:tc vMerge="1"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the </a:t>
                      </a:r>
                      <a:r>
                        <a:rPr lang="en-US" sz="1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longer-term</a:t>
                      </a:r>
                      <a:r>
                        <a:rPr lang="en-US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endParaRPr lang="en-US" sz="1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Consideration of changes to the ISAs more broadly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62013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BF518-D8A1-4FF3-A0E9-DA6F473DD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098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064" y="611944"/>
            <a:ext cx="10058400" cy="533400"/>
          </a:xfrm>
        </p:spPr>
        <p:txBody>
          <a:bodyPr/>
          <a:lstStyle/>
          <a:p>
            <a:r>
              <a:rPr lang="en-US" b="1" dirty="0"/>
              <a:t>Feedback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825" y="1371600"/>
            <a:ext cx="6810666" cy="4961331"/>
          </a:xfrm>
        </p:spPr>
        <p:txBody>
          <a:bodyPr/>
          <a:lstStyle/>
          <a:p>
            <a:pPr>
              <a:lnSpc>
                <a:spcPts val="336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808080"/>
                </a:solidFill>
              </a:rPr>
              <a:t>Feedback Statement part of proposal for work on LCEs:</a:t>
            </a:r>
          </a:p>
          <a:p>
            <a:pPr>
              <a:lnSpc>
                <a:spcPts val="336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808080"/>
              </a:solidFill>
            </a:endParaRPr>
          </a:p>
          <a:p>
            <a:pPr lvl="1">
              <a:lnSpc>
                <a:spcPts val="3360"/>
              </a:lnSpc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808080"/>
                </a:solidFill>
              </a:rPr>
              <a:t>Summarizing </a:t>
            </a:r>
            <a:r>
              <a:rPr lang="en-US" sz="2600" b="1" dirty="0">
                <a:solidFill>
                  <a:srgbClr val="808080"/>
                </a:solidFill>
              </a:rPr>
              <a:t>what the IAASB has heard </a:t>
            </a:r>
            <a:r>
              <a:rPr lang="en-US" sz="2600" dirty="0">
                <a:solidFill>
                  <a:srgbClr val="808080"/>
                </a:solidFill>
              </a:rPr>
              <a:t>from stakeholders (DP, Survey and Paris roundtable)</a:t>
            </a:r>
          </a:p>
          <a:p>
            <a:pPr lvl="1">
              <a:lnSpc>
                <a:spcPts val="3360"/>
              </a:lnSpc>
              <a:spcBef>
                <a:spcPts val="300"/>
              </a:spcBef>
              <a:buFont typeface="Wingdings" panose="05000000000000000000" pitchFamily="2" charset="2"/>
              <a:buChar char="q"/>
            </a:pPr>
            <a:endParaRPr lang="en-US" sz="2600" dirty="0">
              <a:solidFill>
                <a:srgbClr val="808080"/>
              </a:solidFill>
            </a:endParaRPr>
          </a:p>
          <a:p>
            <a:pPr lvl="1">
              <a:lnSpc>
                <a:spcPts val="3360"/>
              </a:lnSpc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808080"/>
                </a:solidFill>
              </a:rPr>
              <a:t>To keep stakeholders </a:t>
            </a:r>
            <a:r>
              <a:rPr lang="en-US" sz="2600" b="1" dirty="0">
                <a:solidFill>
                  <a:srgbClr val="808080"/>
                </a:solidFill>
              </a:rPr>
              <a:t>informed of progress </a:t>
            </a:r>
            <a:r>
              <a:rPr lang="en-US" sz="2600" dirty="0">
                <a:solidFill>
                  <a:srgbClr val="808080"/>
                </a:solidFill>
              </a:rPr>
              <a:t>in relation to audits of LCEs</a:t>
            </a: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808080"/>
              </a:solidFill>
            </a:endParaRP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80808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C9ECB4-C755-439B-87FA-D4B416CB7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501" y="1371600"/>
            <a:ext cx="3573900" cy="48477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E948A730-59DC-480F-8E93-B161189CBC7E}"/>
              </a:ext>
            </a:extLst>
          </p:cNvPr>
          <p:cNvSpPr txBox="1">
            <a:spLocks/>
          </p:cNvSpPr>
          <p:nvPr/>
        </p:nvSpPr>
        <p:spPr>
          <a:xfrm>
            <a:off x="7872462" y="6511061"/>
            <a:ext cx="3714037" cy="3044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13</a:t>
            </a:fld>
            <a:endParaRPr lang="en-US" sz="900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510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064" y="611944"/>
            <a:ext cx="10058400" cy="533400"/>
          </a:xfrm>
        </p:spPr>
        <p:txBody>
          <a:bodyPr/>
          <a:lstStyle/>
          <a:p>
            <a:r>
              <a:rPr lang="en-US" b="1"/>
              <a:t>Questions </a:t>
            </a:r>
            <a:r>
              <a:rPr lang="en-US" b="1" dirty="0"/>
              <a:t>for IAASB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824" y="1371600"/>
            <a:ext cx="8675667" cy="4961331"/>
          </a:xfrm>
        </p:spPr>
        <p:txBody>
          <a:bodyPr/>
          <a:lstStyle/>
          <a:p>
            <a:pPr marL="0" indent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400" dirty="0">
                <a:solidFill>
                  <a:srgbClr val="808080"/>
                </a:solidFill>
                <a:highlight>
                  <a:srgbClr val="FFFF00"/>
                </a:highlight>
              </a:rPr>
              <a:t> </a:t>
            </a: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808080"/>
              </a:solidFill>
              <a:highlight>
                <a:srgbClr val="FFFF00"/>
              </a:highlight>
            </a:endParaRP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FF0000"/>
                </a:solidFill>
              </a:rPr>
              <a:t>Question 1</a:t>
            </a:r>
            <a:r>
              <a:rPr lang="en-US" sz="2200" dirty="0">
                <a:solidFill>
                  <a:srgbClr val="808080"/>
                </a:solidFill>
              </a:rPr>
              <a:t>:</a:t>
            </a:r>
          </a:p>
          <a:p>
            <a:pPr marL="0" indent="0">
              <a:lnSpc>
                <a:spcPts val="2400"/>
              </a:lnSpc>
              <a:spcBef>
                <a:spcPts val="300"/>
              </a:spcBef>
              <a:buNone/>
            </a:pPr>
            <a:endParaRPr lang="en-US" sz="2400" dirty="0">
              <a:solidFill>
                <a:srgbClr val="808080"/>
              </a:solidFill>
            </a:endParaRPr>
          </a:p>
          <a:p>
            <a:pPr marL="0" indent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400" dirty="0">
                <a:solidFill>
                  <a:srgbClr val="808080"/>
                </a:solidFill>
              </a:rPr>
              <a:t>The IAASB is asked for its views about the direction for the possible way forward as described in paragraph 76 of Agenda Item 6?</a:t>
            </a:r>
          </a:p>
          <a:p>
            <a:pPr marL="0" indent="0">
              <a:lnSpc>
                <a:spcPts val="2400"/>
              </a:lnSpc>
              <a:spcBef>
                <a:spcPts val="300"/>
              </a:spcBef>
              <a:buNone/>
            </a:pPr>
            <a:endParaRPr lang="en-US" sz="2200" dirty="0">
              <a:solidFill>
                <a:srgbClr val="808080"/>
              </a:solidFill>
            </a:endParaRPr>
          </a:p>
          <a:p>
            <a:pPr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FF0000"/>
                </a:solidFill>
              </a:rPr>
              <a:t>Question 2</a:t>
            </a:r>
            <a:r>
              <a:rPr lang="en-US" sz="2200" dirty="0">
                <a:solidFill>
                  <a:srgbClr val="808080"/>
                </a:solidFill>
              </a:rPr>
              <a:t>:</a:t>
            </a:r>
          </a:p>
          <a:p>
            <a:pPr marL="0" indent="0">
              <a:lnSpc>
                <a:spcPts val="2400"/>
              </a:lnSpc>
              <a:spcBef>
                <a:spcPts val="300"/>
              </a:spcBef>
              <a:buNone/>
            </a:pPr>
            <a:endParaRPr lang="en-US" sz="2400" dirty="0">
              <a:solidFill>
                <a:srgbClr val="808080"/>
              </a:solidFill>
            </a:endParaRPr>
          </a:p>
          <a:p>
            <a:pPr marL="0" indent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2400" dirty="0">
                <a:solidFill>
                  <a:srgbClr val="808080"/>
                </a:solidFill>
              </a:rPr>
              <a:t>The IAASB is asked whether it agrees that the draft Feedback Statement should be published? </a:t>
            </a:r>
          </a:p>
        </p:txBody>
      </p:sp>
      <p:pic>
        <p:nvPicPr>
          <p:cNvPr id="6" name="Content Placeholder 4" descr="Hexagon, Group, Knowledge, Concentration, Together">
            <a:extLst>
              <a:ext uri="{FF2B5EF4-FFF2-40B4-BE49-F238E27FC236}">
                <a16:creationId xmlns:a16="http://schemas.microsoft.com/office/drawing/2014/main" id="{5B0A167A-96AC-42BA-81C5-CBEBC6D5AE0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91" y="1241238"/>
            <a:ext cx="3395946" cy="30042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CA281A1-EE6C-402D-96B5-FCC37DC31448}"/>
              </a:ext>
            </a:extLst>
          </p:cNvPr>
          <p:cNvSpPr txBox="1">
            <a:spLocks/>
          </p:cNvSpPr>
          <p:nvPr/>
        </p:nvSpPr>
        <p:spPr>
          <a:xfrm>
            <a:off x="7872462" y="6511061"/>
            <a:ext cx="3714037" cy="3044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14</a:t>
            </a:fld>
            <a:endParaRPr lang="en-US" sz="900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635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FB008827-D9D9-4DD3-B514-1459241F9999}"/>
              </a:ext>
            </a:extLst>
          </p:cNvPr>
          <p:cNvSpPr txBox="1">
            <a:spLocks/>
          </p:cNvSpPr>
          <p:nvPr/>
        </p:nvSpPr>
        <p:spPr>
          <a:xfrm>
            <a:off x="7872462" y="6511061"/>
            <a:ext cx="3714037" cy="3044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15</a:t>
            </a:fld>
            <a:endParaRPr lang="en-US" sz="900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191454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7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6074</TotalTime>
  <Words>1042</Words>
  <Application>Microsoft Office PowerPoint</Application>
  <PresentationFormat>Widescreen</PresentationFormat>
  <Paragraphs>245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Arial</vt:lpstr>
      <vt:lpstr>Arial Narrow</vt:lpstr>
      <vt:lpstr>Calibri</vt:lpstr>
      <vt:lpstr>Calibri Light</vt:lpstr>
      <vt:lpstr>Symbol</vt:lpstr>
      <vt:lpstr>Wingdings</vt:lpstr>
      <vt:lpstr>1_Custom Design</vt:lpstr>
      <vt:lpstr>Custom Design</vt:lpstr>
      <vt:lpstr>2_Custom Design</vt:lpstr>
      <vt:lpstr>3_Custom Design</vt:lpstr>
      <vt:lpstr>7_Custom Design</vt:lpstr>
      <vt:lpstr>1_Office Theme</vt:lpstr>
      <vt:lpstr>4_Custom Design</vt:lpstr>
      <vt:lpstr>PowerPoint Presentation</vt:lpstr>
      <vt:lpstr>LCE Working Group</vt:lpstr>
      <vt:lpstr>Broad Range of Responses</vt:lpstr>
      <vt:lpstr>Stakeholder Constituencies</vt:lpstr>
      <vt:lpstr>PowerPoint Presentation</vt:lpstr>
      <vt:lpstr>PowerPoint Presentation</vt:lpstr>
      <vt:lpstr>Overarching Themes</vt:lpstr>
      <vt:lpstr>Possible Actions (Part 1)</vt:lpstr>
      <vt:lpstr>Possible Actions (Part 2)</vt:lpstr>
      <vt:lpstr>Possible Actions (Part 3)</vt:lpstr>
      <vt:lpstr>Proposed Way Forward</vt:lpstr>
      <vt:lpstr>Workstreams – Proposed Direction</vt:lpstr>
      <vt:lpstr>Feedback Statement</vt:lpstr>
      <vt:lpstr>Questions for IAASB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Armand Kotze</dc:creator>
  <cp:lastModifiedBy>Armand Kotze</cp:lastModifiedBy>
  <cp:revision>826</cp:revision>
  <cp:lastPrinted>2019-12-09T19:12:20Z</cp:lastPrinted>
  <dcterms:created xsi:type="dcterms:W3CDTF">2018-10-18T19:25:41Z</dcterms:created>
  <dcterms:modified xsi:type="dcterms:W3CDTF">2019-12-16T16:30:08Z</dcterms:modified>
</cp:coreProperties>
</file>