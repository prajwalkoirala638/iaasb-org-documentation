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41"/>
  </p:notesMasterIdLst>
  <p:sldIdLst>
    <p:sldId id="288" r:id="rId5"/>
    <p:sldId id="366" r:id="rId6"/>
    <p:sldId id="372" r:id="rId7"/>
    <p:sldId id="389" r:id="rId8"/>
    <p:sldId id="398" r:id="rId9"/>
    <p:sldId id="387" r:id="rId10"/>
    <p:sldId id="422" r:id="rId11"/>
    <p:sldId id="391" r:id="rId12"/>
    <p:sldId id="421" r:id="rId13"/>
    <p:sldId id="393" r:id="rId14"/>
    <p:sldId id="400" r:id="rId15"/>
    <p:sldId id="394" r:id="rId16"/>
    <p:sldId id="401" r:id="rId17"/>
    <p:sldId id="395" r:id="rId18"/>
    <p:sldId id="425" r:id="rId19"/>
    <p:sldId id="396" r:id="rId20"/>
    <p:sldId id="397" r:id="rId21"/>
    <p:sldId id="404" r:id="rId22"/>
    <p:sldId id="388" r:id="rId23"/>
    <p:sldId id="406" r:id="rId24"/>
    <p:sldId id="407" r:id="rId25"/>
    <p:sldId id="411" r:id="rId26"/>
    <p:sldId id="409" r:id="rId27"/>
    <p:sldId id="412" r:id="rId28"/>
    <p:sldId id="424" r:id="rId29"/>
    <p:sldId id="385" r:id="rId30"/>
    <p:sldId id="367" r:id="rId31"/>
    <p:sldId id="427" r:id="rId32"/>
    <p:sldId id="419" r:id="rId33"/>
    <p:sldId id="418" r:id="rId34"/>
    <p:sldId id="428" r:id="rId35"/>
    <p:sldId id="416" r:id="rId36"/>
    <p:sldId id="420" r:id="rId37"/>
    <p:sldId id="429" r:id="rId38"/>
    <p:sldId id="350" r:id="rId39"/>
    <p:sldId id="294" r:id="rId40"/>
  </p:sldIdLst>
  <p:sldSz cx="12192000" cy="6858000"/>
  <p:notesSz cx="6797675" cy="9928225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2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ek Grabowski" initials="MG" lastIdx="1" clrIdx="0">
    <p:extLst>
      <p:ext uri="{19B8F6BF-5375-455C-9EA6-DF929625EA0E}">
        <p15:presenceInfo xmlns:p15="http://schemas.microsoft.com/office/powerpoint/2012/main" userId="S::M.Grabowski@frc.org.uk::776b50aa-4428-4d28-8fa1-1e8000cbd15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F4C0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3860" autoAdjust="0"/>
  </p:normalViewPr>
  <p:slideViewPr>
    <p:cSldViewPr snapToGrid="0" showGuides="1">
      <p:cViewPr>
        <p:scale>
          <a:sx n="76" d="100"/>
          <a:sy n="76" d="100"/>
        </p:scale>
        <p:origin x="922" y="158"/>
      </p:cViewPr>
      <p:guideLst>
        <p:guide orient="horz" pos="2160"/>
        <p:guide pos="22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2CE1A-B037-4479-976B-9CF538C18F87}" type="datetimeFigureOut">
              <a:rPr lang="en-US" smtClean="0"/>
              <a:t>9/17/2019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61214-B916-4CCA-9541-0FEB1C2289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82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767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61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413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475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0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788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65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891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466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76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857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51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48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89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590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9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42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399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1" y="4961468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403" y="5699752"/>
            <a:ext cx="2881505" cy="487680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1536"/>
            <a:ext cx="121920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Page topper.jp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319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9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399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1" y="4961468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699752"/>
            <a:ext cx="3702304" cy="487680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1536"/>
            <a:ext cx="121920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1"/>
            <a:ext cx="1220893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0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399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1" y="4961468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699752"/>
            <a:ext cx="3702304" cy="487680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1536"/>
            <a:ext cx="121920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621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50" indent="-22860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0"/>
            <a:ext cx="3677264" cy="304412"/>
          </a:xfrm>
        </p:spPr>
        <p:txBody>
          <a:bodyPr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7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4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20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4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12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89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350689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8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4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5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39174" y="2240324"/>
            <a:ext cx="5998518" cy="918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3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8"/>
            <a:ext cx="11684000" cy="46038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33" y="5658033"/>
            <a:ext cx="1019144" cy="2555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97" y="5658033"/>
            <a:ext cx="771637" cy="2555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21" y="5658033"/>
            <a:ext cx="1019144" cy="2555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85" y="5619933"/>
            <a:ext cx="1019144" cy="3101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349" y="5658033"/>
            <a:ext cx="1019144" cy="2555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08" y="5658033"/>
            <a:ext cx="1019144" cy="25551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4" y="6144038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93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564078"/>
            <a:ext cx="10058400" cy="53340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DFB4106-AFAF-4C3F-96BE-EEC27417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136" y="6511060"/>
            <a:ext cx="3677264" cy="304412"/>
          </a:xfrm>
        </p:spPr>
        <p:txBody>
          <a:bodyPr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960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10058400" cy="5334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52E12-8942-4E20-BAB3-AECBD9FCC915}"/>
              </a:ext>
            </a:extLst>
          </p:cNvPr>
          <p:cNvSpPr txBox="1">
            <a:spLocks/>
          </p:cNvSpPr>
          <p:nvPr userDrawn="1"/>
        </p:nvSpPr>
        <p:spPr>
          <a:xfrm>
            <a:off x="7905136" y="6511060"/>
            <a:ext cx="367726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99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6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6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0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2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0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2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0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200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200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7"/>
            <a:ext cx="11684000" cy="46038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916" y="178653"/>
            <a:ext cx="1746545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7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8" indent="-173038" algn="l" defTabSz="457200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228600" algn="l" defTabSz="457200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38" indent="-17145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1" y="3424964"/>
            <a:ext cx="10524509" cy="1870049"/>
          </a:xfrm>
        </p:spPr>
        <p:txBody>
          <a:bodyPr>
            <a:normAutofit/>
          </a:bodyPr>
          <a:lstStyle/>
          <a:p>
            <a:r>
              <a:rPr lang="en-GB" b="1" dirty="0"/>
              <a:t>EER Assurance Engagements</a:t>
            </a:r>
            <a:br>
              <a:rPr lang="en-GB" b="1" dirty="0"/>
            </a:br>
            <a:r>
              <a:rPr lang="en-GB" sz="2800" b="1" dirty="0"/>
              <a:t>Applying ISAE 3000 (Revised) – Non-authoritative Guidance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798CF-04D5-4809-86A7-C2BE240E0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5050368"/>
            <a:ext cx="6310489" cy="1225964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GB" dirty="0"/>
              <a:t>Marek Grabowski, EER Task Force Chair &amp; IAASB Member</a:t>
            </a:r>
            <a:br>
              <a:rPr lang="en-GB" dirty="0"/>
            </a:br>
            <a:r>
              <a:rPr lang="en-GB" dirty="0"/>
              <a:t>IAASB Meeting – New York, USA</a:t>
            </a:r>
            <a:br>
              <a:rPr lang="en-GB" dirty="0"/>
            </a:br>
            <a:r>
              <a:rPr lang="en-GB" dirty="0"/>
              <a:t>Agenda Item 6</a:t>
            </a:r>
            <a:br>
              <a:rPr lang="en-GB" dirty="0"/>
            </a:br>
            <a:r>
              <a:rPr lang="en-GB" dirty="0"/>
              <a:t>September 17, 2019</a:t>
            </a:r>
          </a:p>
        </p:txBody>
      </p:sp>
    </p:spTree>
    <p:extLst>
      <p:ext uri="{BB962C8B-B14F-4D97-AF65-F5344CB8AC3E}">
        <p14:creationId xmlns:p14="http://schemas.microsoft.com/office/powerpoint/2010/main" val="1534033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0086-32C4-443B-8BFC-73E14412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 for Today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735BCD-2A73-4A89-9D7C-8BE0FBD10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7340" y="2635935"/>
            <a:ext cx="9275060" cy="402733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14:00 – 15:00			Consultation Paper responses and Task Force proposals	</a:t>
            </a:r>
          </a:p>
          <a:p>
            <a:pPr marL="0" indent="0">
              <a:buNone/>
            </a:pPr>
            <a:r>
              <a:rPr lang="en-GB" dirty="0"/>
              <a:t>15:00 – 15:30			Phase 2 draft guidance to date: Chapter 3 </a:t>
            </a:r>
          </a:p>
          <a:p>
            <a:pPr marL="0" indent="0">
              <a:buNone/>
            </a:pPr>
            <a:r>
              <a:rPr lang="en-GB" dirty="0"/>
              <a:t>15:30 – 16:00			Break</a:t>
            </a:r>
          </a:p>
          <a:p>
            <a:pPr marL="0" indent="0">
              <a:buNone/>
            </a:pPr>
            <a:r>
              <a:rPr lang="en-GB" dirty="0"/>
              <a:t>16:00 – 17:30 			Phase 2 draft guidance to date: Chapters 4,5, 10-12, 14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D92EA-4812-41EA-971D-0272CA0F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44F74279-D628-451E-AFB3-C6DD6944992E}"/>
              </a:ext>
            </a:extLst>
          </p:cNvPr>
          <p:cNvSpPr/>
          <p:nvPr/>
        </p:nvSpPr>
        <p:spPr>
          <a:xfrm rot="5400000">
            <a:off x="-240273" y="2604490"/>
            <a:ext cx="3163852" cy="1270699"/>
          </a:xfrm>
          <a:prstGeom prst="trapezoid">
            <a:avLst>
              <a:gd name="adj" fmla="val 54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Graphic 12" descr="Clock">
            <a:extLst>
              <a:ext uri="{FF2B5EF4-FFF2-40B4-BE49-F238E27FC236}">
                <a16:creationId xmlns:a16="http://schemas.microsoft.com/office/drawing/2014/main" id="{4B4236A7-3859-4EB5-A987-BB2D25DAA2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98" y="2643483"/>
            <a:ext cx="1192710" cy="119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3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Consultation Paper (‘CP’) Responses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08033"/>
            <a:ext cx="5486400" cy="5272669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Generally positive support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Comments related in the main to: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Length and complexity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Examples to cover broader range of EER frameworks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Work effort for preconditions pre- and post-acceptance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Determining suitability of criteria is challenging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Materiality process including terminology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Assertions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Limited vs reasonable assurance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Many detailed drafting suggestions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Some comments on matters related to phase 2 or not in 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B2242-A45E-435F-B9DC-EB4CF3BD8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591" y="2297430"/>
            <a:ext cx="6519166" cy="314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4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4078"/>
            <a:ext cx="10058400" cy="533400"/>
          </a:xfrm>
        </p:spPr>
        <p:txBody>
          <a:bodyPr/>
          <a:lstStyle/>
          <a:p>
            <a:r>
              <a:rPr lang="en-GB" sz="2000" dirty="0"/>
              <a:t>CP Responses – Overarching Themes Relating to Guidance as a Whole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8601"/>
            <a:ext cx="10972800" cy="4343399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Guidance long, complex, difficult to navigate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Focus should be on EER-specific challenges, but useful to also provide educational background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Sustainability reporting addressed well; value creation not sufficiently addressed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Differential requirements for limited and reasonable assurance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‘Future-proof’ guidance: consider evolution in EER reporting (including technological) and implications for assurance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Clarify linkages between guidance, Standard and other subject-specific standards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4078"/>
            <a:ext cx="10807700" cy="533400"/>
          </a:xfrm>
        </p:spPr>
        <p:txBody>
          <a:bodyPr/>
          <a:lstStyle/>
          <a:p>
            <a:r>
              <a:rPr lang="en-GB" dirty="0"/>
              <a:t>TF Proposals to Address Overarching Themes Relating to Guidance as a Whole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29756"/>
            <a:ext cx="10972800" cy="5064166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Restructure guidance: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Main body of guidance: practical guidance and short examples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Appendix: longer/more complex examples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Supplement: Background and Contextual Information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Use hyperlinks between main body of guidance, Appendix and Supplement</a:t>
            </a:r>
          </a:p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Broaden range of examples </a:t>
            </a:r>
          </a:p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Address differential requirements for limited and reasonable assurance </a:t>
            </a:r>
          </a:p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Acknowledge technology and other developments, but principles remain the same</a:t>
            </a:r>
          </a:p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Address detailed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drafting suggestions in drafting combined guidance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92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36" y="572611"/>
            <a:ext cx="11761037" cy="533400"/>
          </a:xfrm>
        </p:spPr>
        <p:txBody>
          <a:bodyPr/>
          <a:lstStyle/>
          <a:p>
            <a:r>
              <a:rPr lang="en-GB" sz="2000" dirty="0"/>
              <a:t>Question 1 Themes on Scope of Guidance (paras 9-15 of CP) and TF proposals to address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4530"/>
            <a:ext cx="10972800" cy="4910859"/>
          </a:xfrm>
        </p:spPr>
        <p:txBody>
          <a:bodyPr/>
          <a:lstStyle/>
          <a:p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Clearly define EER engagements, intended audience and purpose</a:t>
            </a:r>
          </a:p>
          <a:p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Guidance would be helpful on: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Using the work of others 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Financial information in EER reports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Quality control (and compliance with ISQC 1 or similar standard)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Direct engagements</a:t>
            </a:r>
          </a:p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Task Force proposals:</a:t>
            </a:r>
          </a:p>
          <a:p>
            <a:pPr lvl="1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Identify subject matters covered under ISAE 3000 (Revised) and whether they are EER engagements</a:t>
            </a:r>
          </a:p>
          <a:p>
            <a:pPr lvl="1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Clarify focus is non-authoritative guidance for assurance practitioners on EER key challenges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Guidance on using work of others, ISQC 1, and financial information to be developed in phase 2: 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Direct engagements outside of project proposal, but clarify that guidance may be applied where challenges present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1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Comments and Questions on Structure and Scope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A36CF0B-1EC6-4C44-A8A4-ED53ABECB75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15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36" y="559911"/>
            <a:ext cx="11188281" cy="533400"/>
          </a:xfrm>
        </p:spPr>
        <p:txBody>
          <a:bodyPr/>
          <a:lstStyle/>
          <a:p>
            <a:r>
              <a:rPr lang="en-GB" dirty="0"/>
              <a:t>Question 1 Themes on Preconditions and Internal Control (paras 25 of 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07611"/>
            <a:ext cx="10972800" cy="4976178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Guidance generally supported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Some concerns raised about: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Differentiating work effort pre- and post-acceptance, and iterative nature 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Apparent inconsistencies between paragraphs 45 and 60 of draft guidance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Interrelationships between preconditions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Further guidance needed: 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 readiness assessments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To recognise a substantive approach is possible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 rational purpose: point in time engagements; inappropriate association of the practitioner’s name; direct contact with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86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7E63-620E-4CD0-BDC1-4572CEB1B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TF Proposals to Address Themes on Preconditions and Internal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D6EEF-5607-48D6-AF6F-6A186CCFC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22401"/>
            <a:ext cx="10972800" cy="4394199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Guidance cannot provide a ‘bright line’ on work effort pre- and post- acceptance, but can indicate factors and give examples of factors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Further guidance on readiness assessments included in phase 2 material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Clarify paragraphs 46 and 60 to address apparent inconsistencies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Other comments to be considered during further development of phase 2 guidance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13CBE-23AA-44BF-9A22-36F52773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136" y="6536460"/>
            <a:ext cx="3677264" cy="30441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54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36" y="547211"/>
            <a:ext cx="11188281" cy="533400"/>
          </a:xfrm>
        </p:spPr>
        <p:txBody>
          <a:bodyPr/>
          <a:lstStyle/>
          <a:p>
            <a:r>
              <a:rPr lang="en-GB" dirty="0"/>
              <a:t>Question 1 Themes on Suitability and Availability of Criteria (paragraph 29 of 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8910"/>
            <a:ext cx="10972800" cy="4654639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Determining suitability of criteria challenging in practice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Call for examples to address non-prescriptive nature of principles-based frameworks, for example, Integrated Reporting, IASB’s Management Commentary Practice Statement, UK Strategic Report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Need for further guidance on: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Availability of criteria, and changes in criteria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Consideration of how preparer has identified user needs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Clarifying apparent inconsistency between presumption that established criteria are suitable and need for entity-developed criteria when using some established frameworks</a:t>
            </a:r>
          </a:p>
          <a:p>
            <a:pPr lvl="1"/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GB" dirty="0"/>
              <a:t>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258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4078"/>
            <a:ext cx="11074400" cy="533400"/>
          </a:xfrm>
        </p:spPr>
        <p:txBody>
          <a:bodyPr/>
          <a:lstStyle/>
          <a:p>
            <a:r>
              <a:rPr lang="en-GB" dirty="0"/>
              <a:t>TF Proposals to Address Themes on Suitability and Availability of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80556"/>
            <a:ext cx="10972800" cy="4251569"/>
          </a:xfrm>
        </p:spPr>
        <p:txBody>
          <a:bodyPr/>
          <a:lstStyle/>
          <a:p>
            <a:pPr marL="346076" lvl="2" indent="-173038">
              <a:spcBef>
                <a:spcPts val="1200"/>
              </a:spcBef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Further examples to illustrate thought process, including understanding user needs and changes in criteria</a:t>
            </a:r>
          </a:p>
          <a:p>
            <a:pPr marL="346076" lvl="2" indent="-173038">
              <a:spcBef>
                <a:spcPts val="1200"/>
              </a:spcBef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Clarify that criteria under an EER reporting framework are unlikely to be sufficient without supplementary entity-developed criteria</a:t>
            </a:r>
          </a:p>
          <a:p>
            <a:pPr marL="346076" lvl="2" indent="-173038">
              <a:spcBef>
                <a:spcPts val="1200"/>
              </a:spcBef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Clarify apparent inconsistency by explicitly stating that high-level principles-based framework is an indicator that framework may not be suitable on its own</a:t>
            </a:r>
          </a:p>
          <a:p>
            <a:pPr marL="346076" lvl="2" indent="-173038">
              <a:spcBef>
                <a:spcPts val="1200"/>
              </a:spcBef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Clarify that it is a precondition for criteria to be made available</a:t>
            </a:r>
          </a:p>
          <a:p>
            <a:pPr marL="346076" lvl="2" indent="-173038">
              <a:spcBef>
                <a:spcPts val="1200"/>
              </a:spcBef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406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36" y="572611"/>
            <a:ext cx="11188281" cy="533400"/>
          </a:xfrm>
        </p:spPr>
        <p:txBody>
          <a:bodyPr/>
          <a:lstStyle/>
          <a:p>
            <a:r>
              <a:rPr lang="en-GB" dirty="0"/>
              <a:t>Question 1 Themes on Materiality Process (paragraph 33 of 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89046"/>
            <a:ext cx="10972800" cy="4690067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Chapter 8 provides useful guidance on a complex area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However: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Terminology is confusing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Clear linkage needed between practitioner’s consideration of the ‘materiality process’ and of preconditions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needs of intended users are crucial 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Guidance should not imply an obligation to review ‘materiality process’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There is a need for the preparer to consider more than ‘impact’ in developing criteria 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Clarification needed on disclosure of materiality process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Guidance would be helpful on the use of multiple frameworks as sources of criteria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GB" dirty="0"/>
              <a:t>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492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4078"/>
            <a:ext cx="11074400" cy="533400"/>
          </a:xfrm>
        </p:spPr>
        <p:txBody>
          <a:bodyPr/>
          <a:lstStyle/>
          <a:p>
            <a:r>
              <a:rPr lang="en-GB" dirty="0"/>
              <a:t>TF Proposals to Address Themes on Materiality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80556"/>
            <a:ext cx="10972800" cy="4251569"/>
          </a:xfrm>
        </p:spPr>
        <p:txBody>
          <a:bodyPr/>
          <a:lstStyle/>
          <a:p>
            <a:pPr marL="458788" lvl="2" indent="-285750">
              <a:spcBef>
                <a:spcPts val="1200"/>
              </a:spcBef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Develop different term to describe a preparer’s process</a:t>
            </a:r>
          </a:p>
          <a:p>
            <a:pPr marL="458788" lvl="2" indent="-285750">
              <a:spcBef>
                <a:spcPts val="1200"/>
              </a:spcBef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Further examples to show how criteria are developed and applied and link consideration of ‘materiality process’ and preconditions, and to illustrate considerations where multiple frameworks are used</a:t>
            </a:r>
          </a:p>
          <a:p>
            <a:pPr marL="458788" lvl="2" indent="-285750">
              <a:spcBef>
                <a:spcPts val="1200"/>
              </a:spcBef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Clarify that preparer’s ‘materiality process’ may be a useful source of evidence about suitability of criteria</a:t>
            </a:r>
          </a:p>
          <a:p>
            <a:pPr marL="458788" lvl="2" indent="-285750">
              <a:spcBef>
                <a:spcPts val="1200"/>
              </a:spcBef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Clarify that disclosure not generally required (although some frameworks may require), but may be helpful to users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65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36" y="572611"/>
            <a:ext cx="11700748" cy="533400"/>
          </a:xfrm>
        </p:spPr>
        <p:txBody>
          <a:bodyPr/>
          <a:lstStyle/>
          <a:p>
            <a:r>
              <a:rPr lang="en-GB" sz="2000" dirty="0"/>
              <a:t>Question 1 Themes on Materiality of Misstatements (paragraph 35 of CP) and TF proposals to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06011"/>
            <a:ext cx="10972800" cy="5324934"/>
          </a:xfrm>
        </p:spPr>
        <p:txBody>
          <a:bodyPr/>
          <a:lstStyle/>
          <a:p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More guidance is needed on: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Qualitative materiality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Disparate aspects of underlying subject matter with no common basis for aggregation 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The meaning of ‘clearly trivial’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Consideration of materiality in planning and performing the engagement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Considering the structure of the overall report and the priority with which the information is presented</a:t>
            </a:r>
          </a:p>
          <a:p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One respondent noted that misstatements arising from ‘not knowing’ could be material</a:t>
            </a:r>
          </a:p>
          <a:p>
            <a:pPr marL="0" indent="0">
              <a:buNone/>
            </a:pP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1800" dirty="0">
                <a:solidFill>
                  <a:schemeClr val="bg1">
                    <a:lumMod val="50000"/>
                  </a:schemeClr>
                </a:solidFill>
              </a:rPr>
              <a:t>Task Force actions and proposals: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Some new guidance included and currently being developed further to address comments raised (subject to TF views in paragraphs 60-62 of the Issues Paper)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‘Not knowing’ is not a misstatement, but may be a reason for one occurring or not being detected  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Guidance on considering materiality in planning and performing the engagement allocated to phase 2</a:t>
            </a:r>
          </a:p>
          <a:p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GB" dirty="0"/>
              <a:t>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173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Comments and Questions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A36CF0B-1EC6-4C44-A8A4-ED53ABECB75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64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36" y="547211"/>
            <a:ext cx="11690699" cy="533400"/>
          </a:xfrm>
        </p:spPr>
        <p:txBody>
          <a:bodyPr/>
          <a:lstStyle/>
          <a:p>
            <a:r>
              <a:rPr lang="en-GB" sz="2000" dirty="0"/>
              <a:t>Question 1 Themes on Assertions (paragraph 40 of CP) and TF proposals to address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417" y="1121382"/>
            <a:ext cx="10972800" cy="5389678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Respondents generally supportive of the guidance on assertions; some concerns about: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Length and complexity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Usefulness to practitioners not familiar with the concept of assertions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Apparent inconsistencies with ISA 315 and ISAE 3410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Whether assertions for an EER engagement should be consistent financial statement assertions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The omission of ‘valuation’ and ‘completeness’ assertions; the need to further explain ‘free from error’ and ‘connectivity’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One respondent considered that introducing the concept of proper application of criteria may imply a ‘fair presentation’ consideration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Task Force proposals: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Focus on practical use of assertions through illustrative examples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Clarify that assertions are categorizations; there may be different ways of categorizing them – as long as all the ‘what can go wrongs’ are addressed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Remove ‘free from error’ as it relates to all assertions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Clarify intention is not to imply the need for fair presentation criteria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GB" dirty="0"/>
              <a:t>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272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36" y="572611"/>
            <a:ext cx="11803464" cy="533400"/>
          </a:xfrm>
        </p:spPr>
        <p:txBody>
          <a:bodyPr/>
          <a:lstStyle/>
          <a:p>
            <a:r>
              <a:rPr lang="en-GB" dirty="0"/>
              <a:t>Question 1 Themes on Narrative and Future-Oriented Information (paragraph 41 of 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4446"/>
            <a:ext cx="10972800" cy="4690067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Respondents generally supportive, but offered some suggestions for further development of guidance: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Emphasize need for strong criteria, and include examples of suitable criteria and procedures to obtain appropriate evidence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Should not create the expectation that all narrative and future-oriented information is capable of being assured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Narrative and future-oriented information should be supported by a sufficient system of internal control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clear definition of ‘narrative information’ needed so it is clear what is ‘other information’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Draw out that a stable history of accurate forecasting provides a stronger evidential basis for a forecast than where there is no such history</a:t>
            </a:r>
          </a:p>
          <a:p>
            <a:pPr lvl="1"/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GB" dirty="0"/>
              <a:t>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254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4078"/>
            <a:ext cx="11684000" cy="533400"/>
          </a:xfrm>
        </p:spPr>
        <p:txBody>
          <a:bodyPr/>
          <a:lstStyle/>
          <a:p>
            <a:r>
              <a:rPr lang="en-GB" dirty="0"/>
              <a:t>TF Proposals to Address Themes Narrative and Future-Oriented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80556"/>
            <a:ext cx="10972800" cy="4251569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Chapters 11 and 12 include draft phase 2 guidance on: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Need for preconditions to be present, including processes to prepare the subject matter information provide a reasonable basis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How subjective statements may be revised 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What constitutes ‘other information’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Further consideration has already been given to the example in paragraph 195 example and changes made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Further examples to illustrate the challenges and considerations for narrative and future-oriented information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38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564078"/>
            <a:ext cx="11178233" cy="533400"/>
          </a:xfrm>
        </p:spPr>
        <p:txBody>
          <a:bodyPr/>
          <a:lstStyle/>
          <a:p>
            <a:r>
              <a:rPr lang="en-GB" dirty="0"/>
              <a:t>Question 2 Themes Relating to Use of Examples and Diagrams, and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Examples and diagrams generally considered useful, and a call for more, and a broader range of, examples, but: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Both financial and non-financial examples would be helpful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Some respondents in favour of an end-to-end case study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Examples should not suggest the only way to approach the requirements 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Examples should illustrate possible courses of action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Terminology: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Avoid introducing new terminology when existing terminology could be used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Some terminology confusing (materiality process, elements, qualities, assertions)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glossary or definitions of new terms would be helpful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41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4078"/>
            <a:ext cx="11684000" cy="533400"/>
          </a:xfrm>
        </p:spPr>
        <p:txBody>
          <a:bodyPr/>
          <a:lstStyle/>
          <a:p>
            <a:r>
              <a:rPr lang="en-GB" dirty="0"/>
              <a:t>TF Proposals to Address Question 2 Themes - Diagrams, Examples and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803070"/>
            <a:ext cx="10972800" cy="4251569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Focus on practical application through the use of more, and a broader range of, examples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Specific comments on diagrams and examples to be considered further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Revisit the terminology used and consider it can be simplified or clarified; consider need for including a glossary once terminology has been reconsidered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269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564078"/>
            <a:ext cx="11178233" cy="533400"/>
          </a:xfrm>
        </p:spPr>
        <p:txBody>
          <a:bodyPr/>
          <a:lstStyle/>
          <a:p>
            <a:r>
              <a:rPr lang="en-GB" dirty="0"/>
              <a:t>Question 3 Themes Relating to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Themes included: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Use innovative ways to present guidance to assist in navigability 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Use a flowchart to help navigate, to link the stages of the engagement, and show the iterative nature of considerations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Some reordering of chapters may be needed (e.g. chapter 8 earlier in the document)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TF proposes to make the guidance more practical and user-friendly by: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Separating main body practical EER-specific guidance from longer examples and background material 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Using a flow diagram to show each stage of the engagement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Using hyperlinks and icons to improve navigation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Considering the ordering of chapters once the combined phase 1 and phase 2 guidance is developed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016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564078"/>
            <a:ext cx="11479685" cy="533400"/>
          </a:xfrm>
        </p:spPr>
        <p:txBody>
          <a:bodyPr/>
          <a:lstStyle/>
          <a:p>
            <a:r>
              <a:rPr lang="en-GB" sz="1800" dirty="0"/>
              <a:t>Questions 4&amp;5 Themes Relating to Potential Conflicts with and Matters not Addressed in the Standard and TF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3801"/>
            <a:ext cx="11252200" cy="5245099"/>
          </a:xfrm>
        </p:spPr>
        <p:txBody>
          <a:bodyPr/>
          <a:lstStyle/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Concern about suggestion of preliminary knowledge needed of an entity’s internal control and implied obligation for practitioner to review the preparer’s ‘materiality process’ (considered under Question 1)</a:t>
            </a:r>
          </a:p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The guidance should not inadvertently suggest new requirements or best practice</a:t>
            </a:r>
          </a:p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Clearly identify matters that are not addressed by the Standard</a:t>
            </a:r>
          </a:p>
          <a:p>
            <a:pPr marL="173038" lvl="1" indent="-173038">
              <a:spcBef>
                <a:spcPts val="1200"/>
              </a:spcBef>
              <a:buFont typeface="Arial"/>
              <a:buChar char="•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Consider amending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Standard for the guidance developed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number of individual comments noted – further consideration to be given to these in drafting phase 2 guidance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Task Force views: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Chapter 1 of the guidance states that it is not intended to introduce new requirements; wording to be carefully reconsidered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It would not be consistent with the guidance being non-authoritative to propose conforming amendments to the standard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078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Most respondents: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Agreed that the additional papers contained further useful information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Supported publication alongside the non-authoritative guidance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Provided additional suggestions for improvement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Task Force proposes to: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Move useful background material from phase 1 guidance to a Supplement, combining with the additional papers in the CP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Clarify intended purpose and audience of the non-authoritative guidance, Appendix and Supplement and improve linkage</a:t>
            </a:r>
          </a:p>
          <a:p>
            <a:pPr lvl="1"/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910085-BBD9-410C-939E-636EB110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572611"/>
            <a:ext cx="11168185" cy="533400"/>
          </a:xfrm>
        </p:spPr>
        <p:txBody>
          <a:bodyPr/>
          <a:lstStyle/>
          <a:p>
            <a:r>
              <a:rPr lang="en-US" dirty="0"/>
              <a:t>Question 6 Themes and Task Force Proposals Relating to Additional Papers </a:t>
            </a:r>
          </a:p>
        </p:txBody>
      </p:sp>
    </p:spTree>
    <p:extLst>
      <p:ext uri="{BB962C8B-B14F-4D97-AF65-F5344CB8AC3E}">
        <p14:creationId xmlns:p14="http://schemas.microsoft.com/office/powerpoint/2010/main" val="3695230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1"/>
            <a:ext cx="10972800" cy="4673599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Various individual stakeholder perspectives noted: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Limited reference to the internal audit function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Greater prescription would assist smaller entities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No particular issues noted regarding developing nations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Ten respondents raised some specific concerns about translation due to complexity of language and new terminology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Task Force:</a:t>
            </a:r>
          </a:p>
          <a:p>
            <a:pPr marL="571500" lvl="1" indent="-342900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Has developed some guidance on using the work of others (chapter 4); further consideration being given to examples to include the use of the work of Internal Audit and others</a:t>
            </a:r>
          </a:p>
          <a:p>
            <a:pPr marL="571500" lvl="1" indent="-342900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Acknowledges the need for scalability; more prescriptive guidance is outside the remit of this project</a:t>
            </a:r>
          </a:p>
          <a:p>
            <a:pPr marL="571500" lvl="1" indent="-342900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Terminology to be revisited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910085-BBD9-410C-939E-636EB110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509111"/>
            <a:ext cx="11168185" cy="533400"/>
          </a:xfrm>
        </p:spPr>
        <p:txBody>
          <a:bodyPr/>
          <a:lstStyle/>
          <a:p>
            <a:r>
              <a:rPr lang="en-US" dirty="0"/>
              <a:t>Question 7 Themes and Task Force Proposals on Other Matters</a:t>
            </a:r>
          </a:p>
        </p:txBody>
      </p:sp>
    </p:spTree>
    <p:extLst>
      <p:ext uri="{BB962C8B-B14F-4D97-AF65-F5344CB8AC3E}">
        <p14:creationId xmlns:p14="http://schemas.microsoft.com/office/powerpoint/2010/main" val="2385254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Comments and Questions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A36CF0B-1EC6-4C44-A8A4-ED53ABECB75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202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 Guidance – First Draft</a:t>
            </a:r>
            <a:endParaRPr lang="en-US" dirty="0"/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14D1141D-20A5-4B27-A969-17D5E2ED7B14}"/>
              </a:ext>
            </a:extLst>
          </p:cNvPr>
          <p:cNvSpPr txBox="1">
            <a:spLocks/>
          </p:cNvSpPr>
          <p:nvPr/>
        </p:nvSpPr>
        <p:spPr>
          <a:xfrm>
            <a:off x="1632685" y="1501529"/>
            <a:ext cx="4945113" cy="28024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GB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EER Assurance House (under construction)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C27439-1B5F-46C7-9D5F-823E7680023B}"/>
              </a:ext>
            </a:extLst>
          </p:cNvPr>
          <p:cNvSpPr/>
          <p:nvPr/>
        </p:nvSpPr>
        <p:spPr>
          <a:xfrm>
            <a:off x="8832808" y="4133096"/>
            <a:ext cx="590432" cy="5385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083981-D94B-4ACE-BF96-9D0EAF6F8564}"/>
              </a:ext>
            </a:extLst>
          </p:cNvPr>
          <p:cNvSpPr/>
          <p:nvPr/>
        </p:nvSpPr>
        <p:spPr>
          <a:xfrm>
            <a:off x="8832808" y="3431243"/>
            <a:ext cx="590432" cy="538500"/>
          </a:xfrm>
          <a:prstGeom prst="rect">
            <a:avLst/>
          </a:prstGeom>
          <a:gradFill>
            <a:gsLst>
              <a:gs pos="0">
                <a:srgbClr val="FF4C03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D187DF-A6A2-45B3-94DD-6FBF174CFF7C}"/>
              </a:ext>
            </a:extLst>
          </p:cNvPr>
          <p:cNvSpPr/>
          <p:nvPr/>
        </p:nvSpPr>
        <p:spPr>
          <a:xfrm>
            <a:off x="9480800" y="2751408"/>
            <a:ext cx="23908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spcBef>
                <a:spcPts val="1200"/>
              </a:spcBef>
            </a:pPr>
            <a:r>
              <a:rPr lang="en-GB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allocated to phase 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C2C4FC-FDE4-4CCD-8802-A0275AFC4049}"/>
              </a:ext>
            </a:extLst>
          </p:cNvPr>
          <p:cNvSpPr/>
          <p:nvPr/>
        </p:nvSpPr>
        <p:spPr>
          <a:xfrm>
            <a:off x="9480800" y="3438883"/>
            <a:ext cx="23908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spcBef>
                <a:spcPts val="1200"/>
              </a:spcBef>
            </a:pPr>
            <a:r>
              <a:rPr lang="en-GB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split between phase 1 and phase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F319E8-9A9E-4B24-8B70-72D2AC2C5487}"/>
              </a:ext>
            </a:extLst>
          </p:cNvPr>
          <p:cNvSpPr/>
          <p:nvPr/>
        </p:nvSpPr>
        <p:spPr>
          <a:xfrm>
            <a:off x="8832808" y="2746121"/>
            <a:ext cx="590432" cy="5385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BF3889-406C-4CD6-AFE8-F3BF4A902068}"/>
              </a:ext>
            </a:extLst>
          </p:cNvPr>
          <p:cNvSpPr/>
          <p:nvPr/>
        </p:nvSpPr>
        <p:spPr>
          <a:xfrm>
            <a:off x="9480800" y="4133096"/>
            <a:ext cx="23908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spcBef>
                <a:spcPts val="1200"/>
              </a:spcBef>
            </a:pPr>
            <a:r>
              <a:rPr lang="en-GB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allocated to phase 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FA55AA-7ABE-4EB1-98EB-00C7C22A3B74}"/>
              </a:ext>
            </a:extLst>
          </p:cNvPr>
          <p:cNvCxnSpPr/>
          <p:nvPr/>
        </p:nvCxnSpPr>
        <p:spPr>
          <a:xfrm flipV="1">
            <a:off x="518134" y="3873584"/>
            <a:ext cx="7060641" cy="52103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7FE2FBB-EB53-4E71-846B-CC493E4D86AC}"/>
              </a:ext>
            </a:extLst>
          </p:cNvPr>
          <p:cNvSpPr/>
          <p:nvPr/>
        </p:nvSpPr>
        <p:spPr>
          <a:xfrm>
            <a:off x="861367" y="5149895"/>
            <a:ext cx="6370990" cy="341087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Exercising Professional Skepticism and Professional Judgment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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98B9CA-F177-4C37-862F-D1760DE2CBC8}"/>
              </a:ext>
            </a:extLst>
          </p:cNvPr>
          <p:cNvSpPr/>
          <p:nvPr/>
        </p:nvSpPr>
        <p:spPr>
          <a:xfrm>
            <a:off x="2166928" y="3151159"/>
            <a:ext cx="1082573" cy="1463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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b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Applying Materiality</a:t>
            </a:r>
            <a:endParaRPr 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F89833-6AF6-429C-A0C3-3639C3B9F89B}"/>
              </a:ext>
            </a:extLst>
          </p:cNvPr>
          <p:cNvSpPr/>
          <p:nvPr/>
        </p:nvSpPr>
        <p:spPr>
          <a:xfrm>
            <a:off x="861367" y="3151159"/>
            <a:ext cx="1082573" cy="1463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</a:t>
            </a:r>
            <a:r>
              <a:rPr lang="en-GB" sz="1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br>
              <a:rPr lang="en-GB" sz="1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Evaluating Suitability of Criteria</a:t>
            </a:r>
            <a:endParaRPr lang="en-US" sz="14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513BE9-B9B7-449C-BC0E-F778214C4D67}"/>
              </a:ext>
            </a:extLst>
          </p:cNvPr>
          <p:cNvSpPr/>
          <p:nvPr/>
        </p:nvSpPr>
        <p:spPr>
          <a:xfrm>
            <a:off x="3472490" y="3151159"/>
            <a:ext cx="1082573" cy="1463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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b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Assertions</a:t>
            </a:r>
            <a:endParaRPr 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D7EF86-965A-461C-AA38-63C06AE37D58}"/>
              </a:ext>
            </a:extLst>
          </p:cNvPr>
          <p:cNvSpPr/>
          <p:nvPr/>
        </p:nvSpPr>
        <p:spPr>
          <a:xfrm>
            <a:off x="4811137" y="3151159"/>
            <a:ext cx="1082573" cy="1463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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b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Maturity in Governance &amp; Internal Control</a:t>
            </a:r>
            <a:endParaRPr lang="en-US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747908-7DB0-4299-978A-73A81E7D7677}"/>
              </a:ext>
            </a:extLst>
          </p:cNvPr>
          <p:cNvSpPr/>
          <p:nvPr/>
        </p:nvSpPr>
        <p:spPr>
          <a:xfrm>
            <a:off x="861367" y="5576732"/>
            <a:ext cx="6370990" cy="341087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Obtaining the Competence Necessary to Perform the Engagement 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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1DEB8ADA-6E63-44B1-B7F9-247B6BADF351}"/>
              </a:ext>
            </a:extLst>
          </p:cNvPr>
          <p:cNvSpPr/>
          <p:nvPr/>
        </p:nvSpPr>
        <p:spPr>
          <a:xfrm>
            <a:off x="861368" y="1908247"/>
            <a:ext cx="6393372" cy="1155708"/>
          </a:xfrm>
          <a:prstGeom prst="triangle">
            <a:avLst>
              <a:gd name="adj" fmla="val 49002"/>
            </a:avLst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C2287A-425A-4011-A4EF-0729287159D8}"/>
              </a:ext>
            </a:extLst>
          </p:cNvPr>
          <p:cNvSpPr txBox="1"/>
          <p:nvPr/>
        </p:nvSpPr>
        <p:spPr>
          <a:xfrm>
            <a:off x="2619734" y="2402093"/>
            <a:ext cx="2796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Communicating Effectively in the Assurance Report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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87C558-CDAE-4A85-B49C-7942BF88552C}"/>
              </a:ext>
            </a:extLst>
          </p:cNvPr>
          <p:cNvSpPr/>
          <p:nvPr/>
        </p:nvSpPr>
        <p:spPr>
          <a:xfrm>
            <a:off x="861367" y="4695570"/>
            <a:ext cx="6370990" cy="370449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Determining the Scope of an EER Assurance Engagement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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15E79D7-70BF-4C6A-951B-9046F1D6E61B}"/>
              </a:ext>
            </a:extLst>
          </p:cNvPr>
          <p:cNvSpPr/>
          <p:nvPr/>
        </p:nvSpPr>
        <p:spPr>
          <a:xfrm>
            <a:off x="6116699" y="3151159"/>
            <a:ext cx="1082573" cy="146364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FF4C03"/>
              </a:gs>
            </a:gsLst>
          </a:gra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 </a:t>
            </a:r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&amp;</a:t>
            </a: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 </a:t>
            </a:r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Addressing Narrative and Future-Oriented Information</a:t>
            </a:r>
          </a:p>
        </p:txBody>
      </p:sp>
    </p:spTree>
    <p:extLst>
      <p:ext uri="{BB962C8B-B14F-4D97-AF65-F5344CB8AC3E}">
        <p14:creationId xmlns:p14="http://schemas.microsoft.com/office/powerpoint/2010/main" val="2763747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564078"/>
            <a:ext cx="11446107" cy="533400"/>
          </a:xfrm>
        </p:spPr>
        <p:txBody>
          <a:bodyPr/>
          <a:lstStyle/>
          <a:p>
            <a:r>
              <a:rPr lang="en-GB" dirty="0"/>
              <a:t>Chapter 3 – paras 13-51: Determining the Scope of an EER Assurance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34638"/>
            <a:ext cx="10972800" cy="4960422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Wide variety in scope of assurance engagements in practice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Meaning of Scope of Assurance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Breadth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Can be an entire report or only part(s) of an EER report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Engagement acceptance linked to preconditions, especially rational purpose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Cherry picking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Increasing breadth – rolling program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Depth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Level of assurance – acceptably low engagement risk – in circumstances of the engagement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Other issues revisited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Other Information – work effort relating to preconditions – assurance readiness engagements</a:t>
            </a:r>
          </a:p>
          <a:p>
            <a:pPr lvl="2"/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032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Comments and Questions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A36CF0B-1EC6-4C44-A8A4-ED53ABECB75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119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 – paras 52-74: Applying Appropriate Skills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88918"/>
            <a:ext cx="8395970" cy="5196444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Diversity, breadth and characteristics of subject matter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Increases complexity </a:t>
            </a:r>
            <a:r>
              <a:rPr lang="en-GB" u="sng" dirty="0">
                <a:solidFill>
                  <a:schemeClr val="bg1">
                    <a:lumMod val="50000"/>
                  </a:schemeClr>
                </a:solidFill>
              </a:rPr>
              <a:t>in some engagements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Drives need for wide range of skills and experience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Competence model different from financial statement audit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Engagement partner – high assurance competence; enough SM competence to take responsibility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Competence considerations in assignment of team may be complex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Assurance competence and subject matter competence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Multi-disciplinary teams – Skills matrix – Competence cube – Quality control</a:t>
            </a:r>
          </a:p>
          <a:p>
            <a:pPr lvl="1"/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B9CEC2-4F67-4E40-8BAB-7B9DECE8EACE}"/>
              </a:ext>
            </a:extLst>
          </p:cNvPr>
          <p:cNvGrpSpPr>
            <a:grpSpLocks noChangeAspect="1"/>
          </p:cNvGrpSpPr>
          <p:nvPr/>
        </p:nvGrpSpPr>
        <p:grpSpPr>
          <a:xfrm>
            <a:off x="9116377" y="2050057"/>
            <a:ext cx="2822664" cy="3470633"/>
            <a:chOff x="0" y="-105072"/>
            <a:chExt cx="4412748" cy="5425785"/>
          </a:xfrm>
        </p:grpSpPr>
        <p:sp>
          <p:nvSpPr>
            <p:cNvPr id="7" name="Text Box 25">
              <a:extLst>
                <a:ext uri="{FF2B5EF4-FFF2-40B4-BE49-F238E27FC236}">
                  <a16:creationId xmlns:a16="http://schemas.microsoft.com/office/drawing/2014/main" id="{055233A8-1C29-4864-9EBE-3D6EF6A35BF3}"/>
                </a:ext>
              </a:extLst>
            </p:cNvPr>
            <p:cNvSpPr txBox="1"/>
            <p:nvPr/>
          </p:nvSpPr>
          <p:spPr>
            <a:xfrm>
              <a:off x="75063" y="-105072"/>
              <a:ext cx="4337685" cy="559671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1000"/>
                </a:spcAft>
              </a:pPr>
              <a:r>
                <a:rPr lang="en-GB" sz="700" b="1" i="1" dirty="0">
                  <a:solidFill>
                    <a:srgbClr val="44546A"/>
                  </a:solidFill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Times New Roman" panose="02020603050405020304" pitchFamily="18" charset="0"/>
                </a:rPr>
                <a:t>Engagement partner and engagement team competence</a:t>
              </a:r>
              <a:endParaRPr lang="en-GB" sz="700" i="1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Yu Mincho" panose="02020400000000000000" pitchFamily="18" charset="-128"/>
                <a:cs typeface="Times New Roman" panose="02020603050405020304" pitchFamily="18" charset="0"/>
              </a:endParaRPr>
            </a:p>
            <a:p>
              <a:pPr algn="just">
                <a:lnSpc>
                  <a:spcPts val="14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en-US" sz="500" dirty="0">
                  <a:effectLst/>
                  <a:latin typeface="Arial" panose="020B0604020202020204" pitchFamily="34" charset="0"/>
                  <a:ea typeface="Yu Mincho" panose="02020400000000000000" pitchFamily="18" charset="-128"/>
                  <a:cs typeface="Times New Roman" panose="02020603050405020304" pitchFamily="18" charset="0"/>
                </a:rPr>
                <a:t> </a:t>
              </a:r>
              <a:endParaRPr lang="en-GB" sz="5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Times New Roman" panose="02020603050405020304" pitchFamily="18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7DE25F-1202-4CD0-B2B2-CB94DA052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20723"/>
              <a:ext cx="4337685" cy="49999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9353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406877-EC18-4FEE-8CC6-6EDAF463CB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90" y="1280556"/>
            <a:ext cx="3482340" cy="49627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Chapter 5 – paras 75-92: Exercising Professional Skepticism and Professional Judgment </a:t>
            </a:r>
            <a:endParaRPr lang="en-GB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10376"/>
            <a:ext cx="8039100" cy="5303124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Many aspects of EER that require PS and PJ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Skills and experience needed to exercise PS and PJ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Professional Skepticism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Attitude of mind – actions taken as a result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Behaviours and skills that support exercise of PS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Impediments to exercise of PS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Professional Judgment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Application of training, knowledge and experience – decisions about courses of action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PJ/PS - Practical examples and icons to flag throughout guidance</a:t>
            </a:r>
          </a:p>
          <a:p>
            <a:pPr lvl="1"/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136" y="6587260"/>
            <a:ext cx="3677264" cy="30441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30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4FEE492A-D2AC-4CB0-BA37-1B1E8AED9F5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38638" y="5121222"/>
            <a:ext cx="427355" cy="443865"/>
          </a:xfrm>
          <a:prstGeom prst="roundRect">
            <a:avLst>
              <a:gd name="adj" fmla="val 5176"/>
            </a:avLst>
          </a:prstGeom>
          <a:solidFill>
            <a:schemeClr val="tx2">
              <a:lumMod val="60000"/>
              <a:lumOff val="40000"/>
            </a:schemeClr>
          </a:solidFill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ts val="14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PS</a:t>
            </a:r>
            <a:endParaRPr lang="en-GB" sz="1000" dirty="0">
              <a:effectLst/>
              <a:latin typeface="Arial" panose="020B060402020202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A7CFA37A-9FFF-4EB4-B2A5-F07D4A9C9F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5514" y="5124789"/>
            <a:ext cx="427355" cy="443864"/>
          </a:xfrm>
          <a:prstGeom prst="roundRect">
            <a:avLst>
              <a:gd name="adj" fmla="val 5176"/>
            </a:avLst>
          </a:prstGeom>
          <a:solidFill>
            <a:schemeClr val="tx2">
              <a:lumMod val="75000"/>
            </a:schemeClr>
          </a:solidFill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ts val="14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PJ</a:t>
            </a:r>
            <a:endParaRPr lang="en-GB" sz="1000" dirty="0">
              <a:effectLst/>
              <a:latin typeface="Arial" panose="020B0604020202020204" pitchFamily="34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769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Comments and Questions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A36CF0B-1EC6-4C44-A8A4-ED53ABECB75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31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435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4078"/>
            <a:ext cx="11074400" cy="533400"/>
          </a:xfrm>
        </p:spPr>
        <p:txBody>
          <a:bodyPr/>
          <a:lstStyle/>
          <a:p>
            <a:r>
              <a:rPr lang="en-US" sz="1600" dirty="0"/>
              <a:t>Chapters 10-12 – paras 93-148: Obtaining Audit Evidence in Respect of Narrative and Future-Oriented Information</a:t>
            </a:r>
            <a:endParaRPr lang="en-GB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3208"/>
            <a:ext cx="10972800" cy="4994712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New Chapter 10 on general aspects evidence and thought process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Evidence needed and sources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Design and performance of procedures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Evaluating sufficiency and appropriateness of evidence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Illustrative example for thought process (quantitative information)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How much evidence is enough?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Limited v reasonable assurance – Not discrete models – Procedures for obtaining evidence essentially the same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Guidance and examples to illustrate application of thought process to narrative and future-oriented information (integrated with guidance in previous Chapters 10 and 11 (now 11 and 12)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724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95" y="575539"/>
            <a:ext cx="10058400" cy="533400"/>
          </a:xfrm>
        </p:spPr>
        <p:txBody>
          <a:bodyPr/>
          <a:lstStyle/>
          <a:p>
            <a:r>
              <a:rPr lang="en-US" sz="2000" dirty="0"/>
              <a:t>Chapter 14 – paras 149-196: Communicating Effectively in the Assurance Report</a:t>
            </a:r>
            <a:endParaRPr lang="en-GB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80556"/>
            <a:ext cx="10972800" cy="5013366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Convey conclusion and its basis to enhance user confidence – Scope and level of assurance obtained - criteria used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Complexity in underlying subject matter of some EER engagements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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impediments to effective communication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Short or Long form choice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Flexibility in including additional information, but needs professional judgment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Required summary of work performed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Additional information may facilitate effective communication and help address expectation gaps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Guidance and examples showing how additional information may enhance effectiveness of communication for each basic element of the assurance report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17404B-B730-4936-B508-15AE9BA4267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156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dirty="0"/>
              <a:t>Comments and Questions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A36CF0B-1EC6-4C44-A8A4-ED53ABECB75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81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B3BA-F5E0-401D-8FA5-55B25704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8DC83-829C-4113-9716-2046EB058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8523383" cy="4251569"/>
          </a:xfrm>
        </p:spPr>
        <p:txBody>
          <a:bodyPr/>
          <a:lstStyle/>
          <a:p>
            <a:r>
              <a:rPr lang="en-GB" sz="2400" dirty="0"/>
              <a:t>Completion of combined phase 1 and 2 guidance</a:t>
            </a:r>
          </a:p>
          <a:p>
            <a:pPr lvl="1"/>
            <a:r>
              <a:rPr lang="en-GB" sz="2400" dirty="0"/>
              <a:t>To be presented to IAASB in December to seek approval of exposure draft </a:t>
            </a:r>
          </a:p>
          <a:p>
            <a:pPr lvl="1"/>
            <a:r>
              <a:rPr lang="en-GB" sz="2400" dirty="0"/>
              <a:t>Exposure draft planned for early 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96C77-A685-49DF-8DC6-391CB589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726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3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AASB_PowerPoint_template_2016_update" id="{84781494-0989-47EE-A3A7-2D255A13323B}" vid="{1A50CD82-07D8-4D3F-9AC1-AB2CFB482A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5534F253E5CD469705343EDC065E1C" ma:contentTypeVersion="8" ma:contentTypeDescription="Create a new document." ma:contentTypeScope="" ma:versionID="9e44815aebb7a0568bea1cee5818ffa4">
  <xsd:schema xmlns:xsd="http://www.w3.org/2001/XMLSchema" xmlns:xs="http://www.w3.org/2001/XMLSchema" xmlns:p="http://schemas.microsoft.com/office/2006/metadata/properties" xmlns:ns3="0a6679bd-afbc-4e9d-9586-e8b9cae1c10d" targetNamespace="http://schemas.microsoft.com/office/2006/metadata/properties" ma:root="true" ma:fieldsID="7518f889024894246abbaf025907505f" ns3:_="">
    <xsd:import namespace="0a6679bd-afbc-4e9d-9586-e8b9cae1c1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6679bd-afbc-4e9d-9586-e8b9cae1c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4A7ACF-7169-4563-B89C-470E013705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E2C9CD-F4FF-418D-9C53-1ACFAB0047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6679bd-afbc-4e9d-9586-e8b9cae1c1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2C7EF-39C2-4BAC-9703-9F781DA1CD85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0a6679bd-afbc-4e9d-9586-e8b9cae1c10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12228</TotalTime>
  <Words>2670</Words>
  <Application>Microsoft Office PowerPoint</Application>
  <PresentationFormat>Widescreen</PresentationFormat>
  <Paragraphs>337</Paragraphs>
  <Slides>36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Arial Narrow</vt:lpstr>
      <vt:lpstr>Calibri</vt:lpstr>
      <vt:lpstr>Calibri Light</vt:lpstr>
      <vt:lpstr>Office Theme</vt:lpstr>
      <vt:lpstr>EER Assurance Engagements Applying ISAE 3000 (Revised) – Non-authoritative Guidance</vt:lpstr>
      <vt:lpstr>Agenda for Today</vt:lpstr>
      <vt:lpstr>Consultation Paper (‘CP’) Responses </vt:lpstr>
      <vt:lpstr>CP Responses – Overarching Themes Relating to Guidance as a Whole</vt:lpstr>
      <vt:lpstr>TF Proposals to Address Overarching Themes Relating to Guidance as a Whole</vt:lpstr>
      <vt:lpstr>Question 1 Themes on Scope of Guidance (paras 9-15 of CP) and TF proposals to address themes</vt:lpstr>
      <vt:lpstr>PowerPoint Presentation</vt:lpstr>
      <vt:lpstr>Question 1 Themes on Preconditions and Internal Control (paras 25 of CP)</vt:lpstr>
      <vt:lpstr>TF Proposals to Address Themes on Preconditions and Internal Control</vt:lpstr>
      <vt:lpstr>Question 1 Themes on Suitability and Availability of Criteria (paragraph 29 of CP)</vt:lpstr>
      <vt:lpstr>TF Proposals to Address Themes on Suitability and Availability of Criteria</vt:lpstr>
      <vt:lpstr>Question 1 Themes on Materiality Process (paragraph 33 of CP)</vt:lpstr>
      <vt:lpstr>TF Proposals to Address Themes on Materiality Process</vt:lpstr>
      <vt:lpstr>Question 1 Themes on Materiality of Misstatements (paragraph 35 of CP) and TF proposals to address</vt:lpstr>
      <vt:lpstr>PowerPoint Presentation</vt:lpstr>
      <vt:lpstr>Question 1 Themes on Assertions (paragraph 40 of CP) and TF proposals to address themes</vt:lpstr>
      <vt:lpstr>Question 1 Themes on Narrative and Future-Oriented Information (paragraph 41 of CP)</vt:lpstr>
      <vt:lpstr>TF Proposals to Address Themes Narrative and Future-Oriented Information</vt:lpstr>
      <vt:lpstr>Question 2 Themes Relating to Use of Examples and Diagrams, and Terminology</vt:lpstr>
      <vt:lpstr>TF Proposals to Address Question 2 Themes - Diagrams, Examples and Terminology</vt:lpstr>
      <vt:lpstr>Question 3 Themes Relating to Structure</vt:lpstr>
      <vt:lpstr>Questions 4&amp;5 Themes Relating to Potential Conflicts with and Matters not Addressed in the Standard and TF views</vt:lpstr>
      <vt:lpstr>Question 6 Themes and Task Force Proposals Relating to Additional Papers </vt:lpstr>
      <vt:lpstr>Question 7 Themes and Task Force Proposals on Other Matters</vt:lpstr>
      <vt:lpstr>PowerPoint Presentation</vt:lpstr>
      <vt:lpstr>Phase 2 Guidance – First Draft</vt:lpstr>
      <vt:lpstr>Chapter 3 – paras 13-51: Determining the Scope of an EER Assurance Engagement</vt:lpstr>
      <vt:lpstr>PowerPoint Presentation</vt:lpstr>
      <vt:lpstr>Chapter 4 – paras 52-74: Applying Appropriate Skills</vt:lpstr>
      <vt:lpstr>Chapter 5 – paras 75-92: Exercising Professional Skepticism and Professional Judgment </vt:lpstr>
      <vt:lpstr>PowerPoint Presentation</vt:lpstr>
      <vt:lpstr>Chapters 10-12 – paras 93-148: Obtaining Audit Evidence in Respect of Narrative and Future-Oriented Information</vt:lpstr>
      <vt:lpstr>Chapter 14 – paras 149-196: Communicating Effectively in the Assurance Report</vt:lpstr>
      <vt:lpstr>PowerPoint Presentation</vt:lpstr>
      <vt:lpstr>Next steps</vt:lpstr>
      <vt:lpstr>PowerPoint Presentation</vt:lpstr>
    </vt:vector>
  </TitlesOfParts>
  <Company>NBA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 Thijs Drupsteen</dc:creator>
  <cp:lastModifiedBy>Pauline Irwin</cp:lastModifiedBy>
  <cp:revision>580</cp:revision>
  <cp:lastPrinted>2019-02-18T15:56:07Z</cp:lastPrinted>
  <dcterms:created xsi:type="dcterms:W3CDTF">2017-11-13T09:28:46Z</dcterms:created>
  <dcterms:modified xsi:type="dcterms:W3CDTF">2019-09-17T15:42:55Z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0x010100765534F253E5CD469705343EDC065E1C</vt:lpwstr>
  </property>
</Properties>
</file>