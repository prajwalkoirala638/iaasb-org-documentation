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427" r:id="rId2"/>
    <p:sldId id="476" r:id="rId3"/>
    <p:sldId id="477" r:id="rId4"/>
    <p:sldId id="478" r:id="rId5"/>
    <p:sldId id="473" r:id="rId6"/>
    <p:sldId id="474" r:id="rId7"/>
    <p:sldId id="468" r:id="rId8"/>
    <p:sldId id="472" r:id="rId9"/>
    <p:sldId id="471" r:id="rId10"/>
    <p:sldId id="452" r:id="rId11"/>
    <p:sldId id="451" r:id="rId12"/>
    <p:sldId id="464" r:id="rId13"/>
    <p:sldId id="465" r:id="rId14"/>
    <p:sldId id="454" r:id="rId15"/>
    <p:sldId id="475" r:id="rId16"/>
    <p:sldId id="453" r:id="rId17"/>
    <p:sldId id="455" r:id="rId18"/>
    <p:sldId id="458" r:id="rId19"/>
    <p:sldId id="456" r:id="rId20"/>
    <p:sldId id="459" r:id="rId21"/>
    <p:sldId id="461" r:id="rId22"/>
    <p:sldId id="460" r:id="rId23"/>
    <p:sldId id="457" r:id="rId24"/>
    <p:sldId id="450" r:id="rId25"/>
    <p:sldId id="462" r:id="rId26"/>
    <p:sldId id="479" r:id="rId27"/>
    <p:sldId id="445" r:id="rId28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rmand Kotze" initials="AK" lastIdx="1" clrIdx="6">
    <p:extLst>
      <p:ext uri="{19B8F6BF-5375-455C-9EA6-DF929625EA0E}">
        <p15:presenceInfo xmlns:p15="http://schemas.microsoft.com/office/powerpoint/2012/main" userId="S-1-5-21-1801674531-1972579041-839522115-13462" providerId="AD"/>
      </p:ext>
    </p:extLst>
  </p:cmAuthor>
  <p:cmAuthor id="1" name="Zietsman, Megan" initials="MZ" lastIdx="39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Natalie Klonaridis" initials="NK" lastIdx="16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  <p:cmAuthor id="4" name="Beverley Bahlmann" initials="BB" lastIdx="26" clrIdx="3">
    <p:extLst>
      <p:ext uri="{19B8F6BF-5375-455C-9EA6-DF929625EA0E}">
        <p15:presenceInfo xmlns:p15="http://schemas.microsoft.com/office/powerpoint/2012/main" userId="S-1-5-21-1801674531-1972579041-839522115-4280" providerId="AD"/>
      </p:ext>
    </p:extLst>
  </p:cmAuthor>
  <p:cmAuthor id="5" name="Brett James" initials="BJ" lastIdx="1" clrIdx="4">
    <p:extLst>
      <p:ext uri="{19B8F6BF-5375-455C-9EA6-DF929625EA0E}">
        <p15:presenceInfo xmlns:p15="http://schemas.microsoft.com/office/powerpoint/2012/main" userId="S-1-5-21-1801674531-1972579041-839522115-7169" providerId="AD"/>
      </p:ext>
    </p:extLst>
  </p:cmAuthor>
  <p:cmAuthor id="6" name="Csilla Molnar" initials="CM" lastIdx="1" clrIdx="5">
    <p:extLst>
      <p:ext uri="{19B8F6BF-5375-455C-9EA6-DF929625EA0E}">
        <p15:presenceInfo xmlns:p15="http://schemas.microsoft.com/office/powerpoint/2012/main" userId="S-1-5-21-1801674531-1972579041-839522115-133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FE"/>
    <a:srgbClr val="118EFF"/>
    <a:srgbClr val="004F96"/>
    <a:srgbClr val="00488A"/>
    <a:srgbClr val="0060B8"/>
    <a:srgbClr val="006DD0"/>
    <a:srgbClr val="2597FF"/>
    <a:srgbClr val="FDFDFD"/>
    <a:srgbClr val="00427E"/>
    <a:srgbClr val="006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31" autoAdjust="0"/>
    <p:restoredTop sz="82504" autoAdjust="0"/>
  </p:normalViewPr>
  <p:slideViewPr>
    <p:cSldViewPr snapToGrid="0" snapToObjects="1">
      <p:cViewPr varScale="1">
        <p:scale>
          <a:sx n="96" d="100"/>
          <a:sy n="96" d="100"/>
        </p:scale>
        <p:origin x="1260" y="90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.Neilson\Desktop\Alastair's%20files\EER%20Challenges%20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.Neilson\Desktop\Alastair's%20files\EER%20Challenges%20Analysi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658227848101266E-2"/>
          <c:y val="7.9463125042867153E-3"/>
          <c:w val="0.97208943818731519"/>
          <c:h val="0.58678172237822623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30462141599388681"/>
          <c:y val="0.63430156559783957"/>
          <c:w val="0.45754476892920032"/>
          <c:h val="0.34427553949649387"/>
        </c:manualLayout>
      </c:layout>
      <c:overlay val="0"/>
      <c:txPr>
        <a:bodyPr/>
        <a:lstStyle/>
        <a:p>
          <a:pPr>
            <a:defRPr sz="800">
              <a:latin typeface="Arial" panose="020B06040202020202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Geographic Areas</a:t>
            </a:r>
          </a:p>
        </c:rich>
      </c:tx>
      <c:layout>
        <c:manualLayout>
          <c:xMode val="edge"/>
          <c:yMode val="edge"/>
          <c:x val="0.22823308874690171"/>
          <c:y val="8.14063985520832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>
                <a:solidFill>
                  <a:schemeClr val="tx1"/>
                </a:solidFill>
              </a:rPr>
              <a:t>Respondents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809487669463008"/>
          <c:y val="0.16618239226506942"/>
          <c:w val="0.33190512330536998"/>
          <c:h val="0.79060502052628034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 dirty="0" smtClean="0"/>
              <a:t> 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9418775699824936E-3"/>
          <c:y val="0.1561944389445874"/>
          <c:w val="0.58550801083688675"/>
          <c:h val="0.80688015445385286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Lbls>
            <c:dLbl>
              <c:idx val="0"/>
              <c:layout>
                <c:manualLayout>
                  <c:x val="-0.10833476045923009"/>
                  <c:y val="2.9005745850607827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6.4442039393113368E-2"/>
                  <c:y val="-0.1715855387759918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1023879915770598"/>
                  <c:y val="-0.12710769519992493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7.4392220061703623E-2"/>
                  <c:y val="-4.4259849243919715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8.4221603806343665E-2"/>
                  <c:y val="4.8355526315109629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4.0321145863116449E-2"/>
                  <c:y val="8.9086933739722762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Sheet1!$B$7:$B$12</c:f>
              <c:strCache>
                <c:ptCount val="6"/>
                <c:pt idx="0">
                  <c:v>Member Bodies and Other Professional Organizations</c:v>
                </c:pt>
                <c:pt idx="1">
                  <c:v>National Auditing Standard Setters</c:v>
                </c:pt>
                <c:pt idx="2">
                  <c:v>Accounting Firms</c:v>
                </c:pt>
                <c:pt idx="3">
                  <c:v>Regulators and Oversight Bodies</c:v>
                </c:pt>
                <c:pt idx="4">
                  <c:v>Individuals and Others</c:v>
                </c:pt>
                <c:pt idx="5">
                  <c:v>Public Sector Organizations</c:v>
                </c:pt>
              </c:strCache>
            </c:strRef>
          </c:cat>
          <c:val>
            <c:numRef>
              <c:f>Sheet1!$C$7:$C$12</c:f>
              <c:numCache>
                <c:formatCode>General</c:formatCode>
                <c:ptCount val="6"/>
                <c:pt idx="0">
                  <c:v>25</c:v>
                </c:pt>
                <c:pt idx="1">
                  <c:v>11</c:v>
                </c:pt>
                <c:pt idx="2">
                  <c:v>11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</c:ser>
        <c:dLbls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58645238941562061"/>
          <c:y val="0.25945800409189362"/>
          <c:w val="0.38034575777426055"/>
          <c:h val="0.62070086177759376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658227848101266E-2"/>
          <c:y val="7.9463125042867153E-3"/>
          <c:w val="0.97208943818731519"/>
          <c:h val="0.58678172237822623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30462141599388681"/>
          <c:y val="0.63430156559783957"/>
          <c:w val="0.45754476892920032"/>
          <c:h val="0.34427553949649387"/>
        </c:manualLayout>
      </c:layout>
      <c:overlay val="0"/>
      <c:txPr>
        <a:bodyPr/>
        <a:lstStyle/>
        <a:p>
          <a:pPr>
            <a:defRPr sz="800">
              <a:latin typeface="Arial" panose="020B06040202020202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Geographic Areas</a:t>
            </a:r>
          </a:p>
        </c:rich>
      </c:tx>
      <c:layout>
        <c:manualLayout>
          <c:xMode val="edge"/>
          <c:yMode val="edge"/>
          <c:x val="0.22823308874690171"/>
          <c:y val="8.14063985520832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>
                <a:solidFill>
                  <a:schemeClr val="tx1"/>
                </a:solidFill>
              </a:rPr>
              <a:t>Respondents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809487669463008"/>
          <c:y val="0.16618239226506942"/>
          <c:w val="0.33190512330536998"/>
          <c:h val="0.79060502052628034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 dirty="0" smtClean="0"/>
              <a:t> 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9521832067167507E-2"/>
          <c:y val="0.15301952149244119"/>
          <c:w val="0.58550801083688675"/>
          <c:h val="0.80688015445385286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Lbls>
            <c:dLbl>
              <c:idx val="0"/>
              <c:layout>
                <c:manualLayout>
                  <c:x val="-8.9544783210637496E-2"/>
                  <c:y val="7.6758127419630895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1114169825145946"/>
                  <c:y val="-0.1049122722809206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5.1148130489734128E-2"/>
                  <c:y val="-0.18108129188641095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9.816930879145308E-2"/>
                  <c:y val="-8.2895463067227573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7.9524140127364959E-2"/>
                  <c:y val="6.0883819738022628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2.6228662926672114E-2"/>
                  <c:y val="9.2261851191868957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Sheet1!$B$5:$B$10</c:f>
              <c:strCache>
                <c:ptCount val="6"/>
                <c:pt idx="0">
                  <c:v>European Union</c:v>
                </c:pt>
                <c:pt idx="1">
                  <c:v>Global</c:v>
                </c:pt>
                <c:pt idx="2">
                  <c:v>North America</c:v>
                </c:pt>
                <c:pt idx="3">
                  <c:v>Asia Pacific</c:v>
                </c:pt>
                <c:pt idx="4">
                  <c:v>Middle East and Africa</c:v>
                </c:pt>
                <c:pt idx="5">
                  <c:v>South America</c:v>
                </c:pt>
              </c:strCache>
            </c:strRef>
          </c:cat>
          <c:val>
            <c:numRef>
              <c:f>Sheet1!$C$5:$C$10</c:f>
              <c:numCache>
                <c:formatCode>General</c:formatCode>
                <c:ptCount val="6"/>
                <c:pt idx="0">
                  <c:v>16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4</c:v>
                </c:pt>
              </c:numCache>
            </c:numRef>
          </c:val>
        </c:ser>
        <c:dLbls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64517106831747217"/>
          <c:y val="0.24242599117008901"/>
          <c:w val="0.29813958103088062"/>
          <c:h val="0.61310518208547093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9" y="0"/>
            <a:ext cx="3011699" cy="461804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9" y="8772668"/>
            <a:ext cx="3011699" cy="461804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9" y="0"/>
            <a:ext cx="3011699" cy="461804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12/19/2018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6" tIns="46243" rIns="92486" bIns="4624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6" tIns="46243" rIns="92486" bIns="4624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9" y="8772668"/>
            <a:ext cx="3011699" cy="461804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07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31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43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68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94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4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46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52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48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5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99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42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35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56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591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53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66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425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717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60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135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831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19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32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742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69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2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F73A935-0AD8-4B38-AD39-55437B5CA1D2}" type="datetime1">
              <a:rPr lang="en-US" smtClean="0"/>
              <a:t>12/19/2018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66248"/>
            <a:ext cx="7893383" cy="1361438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700" i="1" dirty="0" smtClean="0"/>
              <a:t>ISA 315 (Revised)</a:t>
            </a:r>
            <a:r>
              <a:rPr lang="en-US" sz="2700" dirty="0"/>
              <a:t/>
            </a:r>
            <a:br>
              <a:rPr lang="en-US" sz="2700" dirty="0"/>
            </a:br>
            <a:r>
              <a:rPr lang="en-US" sz="2200" dirty="0" smtClean="0"/>
              <a:t>IAASB Meeting – Agenda </a:t>
            </a:r>
            <a:r>
              <a:rPr lang="en-US" sz="2200" smtClean="0"/>
              <a:t>Item 6–A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New York, USA</a:t>
            </a:r>
            <a:br>
              <a:rPr lang="en-US" sz="2200" dirty="0" smtClean="0"/>
            </a:br>
            <a:r>
              <a:rPr lang="en-US" sz="2200" dirty="0" smtClean="0"/>
              <a:t>December 2018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/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0" y="4030807"/>
            <a:ext cx="4732867" cy="374279"/>
          </a:xfrm>
        </p:spPr>
        <p:txBody>
          <a:bodyPr/>
          <a:lstStyle/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Fiona Campbell, Chair of ISA 315 Task Force</a:t>
            </a:r>
          </a:p>
        </p:txBody>
      </p:sp>
    </p:spTree>
    <p:extLst>
      <p:ext uri="{BB962C8B-B14F-4D97-AF65-F5344CB8AC3E}">
        <p14:creationId xmlns:p14="http://schemas.microsoft.com/office/powerpoint/2010/main" val="424254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ISA 315 (Revised) Exposure Draft 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 smtClean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55553"/>
              </p:ext>
            </p:extLst>
          </p:nvPr>
        </p:nvGraphicFramePr>
        <p:xfrm>
          <a:off x="372284" y="1668700"/>
          <a:ext cx="3091886" cy="2832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616"/>
                <a:gridCol w="835270"/>
              </a:tblGrid>
              <a:tr h="27208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413293">
                <a:tc>
                  <a:txBody>
                    <a:bodyPr/>
                    <a:lstStyle/>
                    <a:p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Bodies and Other Professional</a:t>
                      </a:r>
                      <a:r>
                        <a:rPr lang="en-US" sz="11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Organizations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13293">
                <a:tc>
                  <a:txBody>
                    <a:bodyPr/>
                    <a:lstStyle/>
                    <a:p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 Auditing Standard</a:t>
                      </a:r>
                      <a:r>
                        <a:rPr lang="en-US" sz="11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Setters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86355">
                <a:tc>
                  <a:txBody>
                    <a:bodyPr/>
                    <a:lstStyle/>
                    <a:p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Accounting Firms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13293">
                <a:tc>
                  <a:txBody>
                    <a:bodyPr/>
                    <a:lstStyle/>
                    <a:p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Regulators and</a:t>
                      </a:r>
                      <a:r>
                        <a:rPr lang="en-US" sz="11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Oversight Authorities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6935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Individuals and Others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13293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Public Sector Organizations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6397731" y="1292377"/>
          <a:ext cx="2096148" cy="3432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/>
          <p:nvPr>
            <p:extLst/>
          </p:nvPr>
        </p:nvGraphicFramePr>
        <p:xfrm>
          <a:off x="5337387" y="1049867"/>
          <a:ext cx="3718559" cy="3858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/>
          </p:nvPr>
        </p:nvGraphicFramePr>
        <p:xfrm>
          <a:off x="5152748" y="1164462"/>
          <a:ext cx="3806613" cy="3424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908590"/>
              </p:ext>
            </p:extLst>
          </p:nvPr>
        </p:nvGraphicFramePr>
        <p:xfrm>
          <a:off x="3648809" y="846470"/>
          <a:ext cx="5407138" cy="4000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8979" y="1133923"/>
            <a:ext cx="341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Respondents by type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35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ISA 315 (Revised) Exposure Draft 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 smtClean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750710"/>
              </p:ext>
            </p:extLst>
          </p:nvPr>
        </p:nvGraphicFramePr>
        <p:xfrm>
          <a:off x="372284" y="1668700"/>
          <a:ext cx="3091886" cy="2761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616"/>
                <a:gridCol w="835270"/>
              </a:tblGrid>
              <a:tr h="272089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413293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</a:t>
                      </a:r>
                      <a:r>
                        <a:rPr lang="en-US" sz="11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Union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13293">
                <a:tc>
                  <a:txBody>
                    <a:bodyPr/>
                    <a:lstStyle/>
                    <a:p>
                      <a:r>
                        <a:rPr lang="en-US" sz="11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Global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86355">
                <a:tc>
                  <a:txBody>
                    <a:bodyPr/>
                    <a:lstStyle/>
                    <a:p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North America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13293">
                <a:tc>
                  <a:txBody>
                    <a:bodyPr/>
                    <a:lstStyle/>
                    <a:p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Asia</a:t>
                      </a:r>
                      <a:r>
                        <a:rPr lang="en-US" sz="11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Pacific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6935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r>
                        <a:rPr lang="en-US" sz="11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East and Africa</a:t>
                      </a:r>
                      <a:endParaRPr lang="en-US" sz="11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13293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South</a:t>
                      </a:r>
                      <a:r>
                        <a:rPr lang="en-US" sz="11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America</a:t>
                      </a:r>
                      <a:endParaRPr lang="en-US" sz="11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6397731" y="1292377"/>
          <a:ext cx="2096148" cy="3432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/>
          <p:nvPr>
            <p:extLst/>
          </p:nvPr>
        </p:nvGraphicFramePr>
        <p:xfrm>
          <a:off x="5337387" y="1049867"/>
          <a:ext cx="3718559" cy="3858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/>
          </p:nvPr>
        </p:nvGraphicFramePr>
        <p:xfrm>
          <a:off x="5249333" y="1133923"/>
          <a:ext cx="3806613" cy="3424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718958"/>
              </p:ext>
            </p:extLst>
          </p:nvPr>
        </p:nvGraphicFramePr>
        <p:xfrm>
          <a:off x="3648808" y="742229"/>
          <a:ext cx="5407138" cy="4054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2707" y="1140544"/>
            <a:ext cx="3988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Respondents by geographic location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75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Overal</a:t>
            </a:r>
            <a:r>
              <a:rPr lang="en-US" b="1" dirty="0"/>
              <a:t>l</a:t>
            </a:r>
            <a:r>
              <a:rPr lang="en-US" b="1" dirty="0" smtClean="0"/>
              <a:t> </a:t>
            </a:r>
            <a:r>
              <a:rPr lang="en-US" b="1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022380" cy="3188677"/>
          </a:xfrm>
        </p:spPr>
        <p:txBody>
          <a:bodyPr/>
          <a:lstStyle/>
          <a:p>
            <a:pPr marL="346075" indent="-346075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Broad concern about the complexity and length of the proposed standard; as well as scalability</a:t>
            </a:r>
          </a:p>
          <a:p>
            <a:pPr marL="346075" indent="-346075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But support for many individual aspects of the enhanced requirements and application material, although mixed views about some of the changes proposed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72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High-Level </a:t>
            </a:r>
            <a:r>
              <a:rPr lang="en-US" b="1" dirty="0" smtClean="0"/>
              <a:t>Summary—Areas of Concern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94" y="910701"/>
            <a:ext cx="8229600" cy="3832284"/>
          </a:xfrm>
        </p:spPr>
        <p:txBody>
          <a:bodyPr/>
          <a:lstStyle/>
          <a:p>
            <a:pPr marL="346075" indent="-346075">
              <a:lnSpc>
                <a:spcPts val="2580"/>
              </a:lnSpc>
              <a:spcBef>
                <a:spcPts val="600"/>
              </a:spcBef>
            </a:pPr>
            <a:r>
              <a:rPr lang="en-US" sz="2000" dirty="0" smtClean="0"/>
              <a:t>Complexity and understandability raised by a number of the respondents</a:t>
            </a:r>
            <a:endParaRPr lang="en-US" sz="2000" dirty="0"/>
          </a:p>
          <a:p>
            <a:pPr marL="346075" indent="-346075">
              <a:lnSpc>
                <a:spcPts val="2580"/>
              </a:lnSpc>
              <a:spcBef>
                <a:spcPts val="600"/>
              </a:spcBef>
            </a:pPr>
            <a:r>
              <a:rPr lang="en-US" sz="2000" dirty="0"/>
              <a:t>Mixed views on scalability, but </a:t>
            </a:r>
            <a:r>
              <a:rPr lang="en-US" sz="2000" dirty="0" smtClean="0"/>
              <a:t>many suggestions of areas </a:t>
            </a:r>
            <a:r>
              <a:rPr lang="en-US" sz="2000" dirty="0"/>
              <a:t>for further </a:t>
            </a:r>
            <a:r>
              <a:rPr lang="en-US" sz="2000" dirty="0" smtClean="0"/>
              <a:t>consideration</a:t>
            </a:r>
          </a:p>
          <a:p>
            <a:pPr marL="694944" lvl="1" indent="-346075">
              <a:lnSpc>
                <a:spcPts val="258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 smtClean="0"/>
              <a:t>Including examples </a:t>
            </a:r>
            <a:r>
              <a:rPr lang="en-US" sz="2000" dirty="0"/>
              <a:t>of “scaling up” for audits of complex </a:t>
            </a:r>
            <a:r>
              <a:rPr lang="en-US" sz="2000" dirty="0" smtClean="0"/>
              <a:t>entities</a:t>
            </a:r>
          </a:p>
          <a:p>
            <a:pPr marL="341313" indent="-341313">
              <a:lnSpc>
                <a:spcPts val="2580"/>
              </a:lnSpc>
            </a:pPr>
            <a:r>
              <a:rPr lang="en-US" sz="2150" dirty="0" smtClean="0"/>
              <a:t>Some aspects of understanding the system of internal control</a:t>
            </a:r>
          </a:p>
          <a:p>
            <a:pPr marL="694944" lvl="1" indent="-342900">
              <a:lnSpc>
                <a:spcPts val="2580"/>
              </a:lnSpc>
              <a:spcAft>
                <a:spcPts val="0"/>
              </a:spcAft>
            </a:pPr>
            <a:r>
              <a:rPr lang="en-US" sz="2000" dirty="0" smtClean="0"/>
              <a:t>‘obtaining an understanding’ vs ‘evaluating the design of controls and evaluating whether they have been implemented (D&amp;I) ’</a:t>
            </a:r>
          </a:p>
          <a:p>
            <a:pPr marL="694944" lvl="1" indent="-342900">
              <a:lnSpc>
                <a:spcPts val="2580"/>
              </a:lnSpc>
              <a:spcAft>
                <a:spcPts val="0"/>
              </a:spcAft>
            </a:pPr>
            <a:r>
              <a:rPr lang="en-US" sz="2000" dirty="0" smtClean="0"/>
              <a:t>Work effort related to ‘controls’ in information system versus ‘controls’ in control activities</a:t>
            </a:r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72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High-Level </a:t>
            </a:r>
            <a:r>
              <a:rPr lang="en-US" b="1" dirty="0" smtClean="0"/>
              <a:t>Summary—Areas of Concern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-347472">
              <a:lnSpc>
                <a:spcPts val="2600"/>
              </a:lnSpc>
            </a:pPr>
            <a:r>
              <a:rPr lang="en-US" sz="2000" dirty="0" smtClean="0"/>
              <a:t>Use of “Risks of Material Misstatement’ and flow of standard</a:t>
            </a:r>
          </a:p>
          <a:p>
            <a:pPr marL="694944" lvl="1" indent="-347472">
              <a:lnSpc>
                <a:spcPts val="26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 smtClean="0"/>
              <a:t>Interaction with ‘inherent risk’ and ‘control risk’</a:t>
            </a:r>
          </a:p>
          <a:p>
            <a:pPr marL="694944" lvl="1" indent="-347472">
              <a:lnSpc>
                <a:spcPts val="26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/>
              <a:t>In some cases leads to </a:t>
            </a:r>
            <a:r>
              <a:rPr lang="en-US" sz="2000" dirty="0" smtClean="0"/>
              <a:t>circularity</a:t>
            </a:r>
          </a:p>
          <a:p>
            <a:pPr marL="17145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474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32" y="427437"/>
            <a:ext cx="8229600" cy="403875"/>
          </a:xfrm>
        </p:spPr>
        <p:txBody>
          <a:bodyPr/>
          <a:lstStyle/>
          <a:p>
            <a:r>
              <a:rPr lang="en-US" b="1" dirty="0" smtClean="0"/>
              <a:t>High-Level Summary—Areas Supported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426" y="955317"/>
            <a:ext cx="8229600" cy="406143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Broad support for many of the proposals, in particular:</a:t>
            </a:r>
          </a:p>
          <a:p>
            <a:pPr marL="0" indent="-347472">
              <a:lnSpc>
                <a:spcPts val="2400"/>
              </a:lnSpc>
            </a:pPr>
            <a:r>
              <a:rPr lang="en-US" sz="2000" dirty="0" smtClean="0"/>
              <a:t>Flowcharts</a:t>
            </a:r>
            <a:endParaRPr lang="en-US" sz="2000" dirty="0"/>
          </a:p>
          <a:p>
            <a:pPr marL="0" indent="-347472">
              <a:lnSpc>
                <a:spcPts val="2400"/>
              </a:lnSpc>
            </a:pPr>
            <a:r>
              <a:rPr lang="en-US" sz="2000" dirty="0"/>
              <a:t>Introductory paragraphs</a:t>
            </a:r>
          </a:p>
          <a:p>
            <a:pPr marL="0" indent="-347472">
              <a:lnSpc>
                <a:spcPts val="2400"/>
              </a:lnSpc>
            </a:pPr>
            <a:r>
              <a:rPr lang="en-US" sz="2000" dirty="0" smtClean="0"/>
              <a:t>Separate assessment of inherent risk and control risk</a:t>
            </a:r>
            <a:endParaRPr lang="en-US" sz="2000" dirty="0"/>
          </a:p>
          <a:p>
            <a:pPr marL="0" indent="-347472">
              <a:lnSpc>
                <a:spcPts val="2400"/>
              </a:lnSpc>
            </a:pPr>
            <a:r>
              <a:rPr lang="en-US" sz="2000" dirty="0" smtClean="0"/>
              <a:t>Enhancements for IT considerations</a:t>
            </a:r>
          </a:p>
          <a:p>
            <a:pPr marL="694944" lvl="1" indent="-342900">
              <a:lnSpc>
                <a:spcPts val="216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Support for enhanced requirements</a:t>
            </a:r>
          </a:p>
          <a:p>
            <a:pPr marL="694944" lvl="1" indent="-342900">
              <a:lnSpc>
                <a:spcPts val="216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B</a:t>
            </a:r>
            <a:r>
              <a:rPr lang="en-US" sz="1800" dirty="0" smtClean="0"/>
              <a:t>ut not all application material </a:t>
            </a:r>
            <a:r>
              <a:rPr lang="en-US" sz="1800" dirty="0"/>
              <a:t>necessarily in standard</a:t>
            </a:r>
          </a:p>
          <a:p>
            <a:pPr indent="-347472">
              <a:lnSpc>
                <a:spcPts val="2400"/>
              </a:lnSpc>
            </a:pPr>
            <a:r>
              <a:rPr lang="en-US" sz="2000" dirty="0" smtClean="0"/>
              <a:t>Automated </a:t>
            </a:r>
            <a:r>
              <a:rPr lang="en-US" sz="2000" dirty="0"/>
              <a:t>tools and </a:t>
            </a:r>
            <a:r>
              <a:rPr lang="en-US" sz="2000" dirty="0" smtClean="0"/>
              <a:t>techniques</a:t>
            </a:r>
          </a:p>
          <a:p>
            <a:pPr marL="346075" indent="-346075">
              <a:lnSpc>
                <a:spcPts val="2400"/>
              </a:lnSpc>
            </a:pPr>
            <a:r>
              <a:rPr lang="en-US" sz="2000" dirty="0" smtClean="0"/>
              <a:t>Clarification of, and distinguishing between, direct </a:t>
            </a:r>
            <a:r>
              <a:rPr lang="en-US" sz="2000" dirty="0"/>
              <a:t>and indirect </a:t>
            </a:r>
            <a:r>
              <a:rPr lang="en-US" sz="2000" dirty="0" smtClean="0"/>
              <a:t>controls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21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High-Level Summary—Areas Supported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dirty="0" smtClean="0"/>
              <a:t>Support (cont.)</a:t>
            </a:r>
          </a:p>
          <a:p>
            <a:pPr marL="346075" indent="-346075">
              <a:lnSpc>
                <a:spcPts val="2400"/>
              </a:lnSpc>
            </a:pPr>
            <a:r>
              <a:rPr lang="en-US" sz="2000" dirty="0" smtClean="0"/>
              <a:t>Inherent risk factors</a:t>
            </a:r>
          </a:p>
          <a:p>
            <a:pPr marL="0" indent="-347472">
              <a:lnSpc>
                <a:spcPts val="2400"/>
              </a:lnSpc>
            </a:pPr>
            <a:r>
              <a:rPr lang="en-US" sz="2000" dirty="0" smtClean="0"/>
              <a:t>Spectrum </a:t>
            </a:r>
            <a:r>
              <a:rPr lang="en-US" sz="2000" dirty="0"/>
              <a:t>of </a:t>
            </a:r>
            <a:r>
              <a:rPr lang="en-US" sz="2000" dirty="0" smtClean="0"/>
              <a:t>inherent risk</a:t>
            </a:r>
          </a:p>
          <a:p>
            <a:pPr marL="694944" lvl="1" indent="-346075">
              <a:lnSpc>
                <a:spcPts val="24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 smtClean="0"/>
              <a:t>But more needed in standard?</a:t>
            </a:r>
            <a:endParaRPr lang="en-US" sz="2000" dirty="0"/>
          </a:p>
          <a:p>
            <a:pPr marL="346075" indent="-346075">
              <a:lnSpc>
                <a:spcPts val="2400"/>
              </a:lnSpc>
            </a:pPr>
            <a:r>
              <a:rPr lang="en-US" sz="2000" dirty="0" smtClean="0"/>
              <a:t>Significant classes of transactions, account balances and disclosures, and relevant assertions</a:t>
            </a:r>
            <a:endParaRPr lang="en-US" sz="2000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27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269" y="441635"/>
            <a:ext cx="8229600" cy="403875"/>
          </a:xfrm>
        </p:spPr>
        <p:txBody>
          <a:bodyPr/>
          <a:lstStyle/>
          <a:p>
            <a:r>
              <a:rPr lang="en-US" b="1" dirty="0"/>
              <a:t>High-Level </a:t>
            </a:r>
            <a:r>
              <a:rPr lang="en-US" b="1" dirty="0" smtClean="0"/>
              <a:t>Summary—Mixed Views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269" y="1031222"/>
            <a:ext cx="8229600" cy="3852073"/>
          </a:xfrm>
        </p:spPr>
        <p:txBody>
          <a:bodyPr/>
          <a:lstStyle/>
          <a:p>
            <a:pPr marL="346075" indent="-346075">
              <a:lnSpc>
                <a:spcPts val="1900"/>
              </a:lnSpc>
              <a:spcBef>
                <a:spcPts val="600"/>
              </a:spcBef>
            </a:pPr>
            <a:r>
              <a:rPr lang="en-US" sz="1800" dirty="0" smtClean="0"/>
              <a:t>Addition of obtaining ‘</a:t>
            </a:r>
            <a:r>
              <a:rPr lang="en-US" sz="1800" i="1" dirty="0" smtClean="0"/>
              <a:t>sufficient appropriate audit evidence</a:t>
            </a:r>
            <a:r>
              <a:rPr lang="en-US" sz="1800" dirty="0" smtClean="0"/>
              <a:t>’ as the basis for risk identification and assessment </a:t>
            </a:r>
          </a:p>
          <a:p>
            <a:pPr marL="346075" indent="-346075">
              <a:lnSpc>
                <a:spcPts val="1900"/>
              </a:lnSpc>
              <a:spcBef>
                <a:spcPts val="600"/>
              </a:spcBef>
            </a:pPr>
            <a:r>
              <a:rPr lang="en-US" sz="1800" dirty="0" smtClean="0"/>
              <a:t>Various aspects of ‘controls relevant to the audit’ (e.g., specifying which controls are relevant to the audit; those that are designated in the auditor’s judgment)</a:t>
            </a:r>
          </a:p>
          <a:p>
            <a:pPr marL="346075" indent="-346075">
              <a:lnSpc>
                <a:spcPts val="1900"/>
              </a:lnSpc>
              <a:spcBef>
                <a:spcPts val="600"/>
              </a:spcBef>
            </a:pPr>
            <a:r>
              <a:rPr lang="en-US" sz="1800" dirty="0" smtClean="0"/>
              <a:t>‘Susceptibility to fraud’ as an inherent risk factor</a:t>
            </a:r>
          </a:p>
          <a:p>
            <a:pPr marL="346075" indent="-346075">
              <a:lnSpc>
                <a:spcPts val="1900"/>
              </a:lnSpc>
              <a:spcBef>
                <a:spcPts val="600"/>
              </a:spcBef>
            </a:pPr>
            <a:r>
              <a:rPr lang="en-US" sz="1800" dirty="0" smtClean="0"/>
              <a:t>Enhancements made regarding financial statement level risks</a:t>
            </a:r>
          </a:p>
          <a:p>
            <a:pPr marL="346075" indent="-346075">
              <a:lnSpc>
                <a:spcPts val="1900"/>
              </a:lnSpc>
              <a:spcBef>
                <a:spcPts val="600"/>
              </a:spcBef>
            </a:pPr>
            <a:r>
              <a:rPr lang="en-US" sz="1800" dirty="0" smtClean="0"/>
              <a:t>In definition of relevant assertion – where there is a ‘reasonable possibility of a misstatement’ and how it relates to a possibility that is ‘more than remote’ – view that these are not the same</a:t>
            </a:r>
          </a:p>
          <a:p>
            <a:pPr marL="346075" indent="-346075">
              <a:lnSpc>
                <a:spcPts val="1900"/>
              </a:lnSpc>
              <a:spcBef>
                <a:spcPts val="600"/>
              </a:spcBef>
            </a:pPr>
            <a:r>
              <a:rPr lang="en-US" sz="1800" dirty="0" smtClean="0"/>
              <a:t>Definition of significant risk</a:t>
            </a:r>
          </a:p>
          <a:p>
            <a:pPr marL="346075" indent="-346075">
              <a:lnSpc>
                <a:spcPts val="1900"/>
              </a:lnSpc>
              <a:spcBef>
                <a:spcPts val="600"/>
              </a:spcBef>
            </a:pPr>
            <a:r>
              <a:rPr lang="en-US" sz="1800" dirty="0" smtClean="0"/>
              <a:t>New stand-back and ISA 330 para 18</a:t>
            </a:r>
          </a:p>
          <a:p>
            <a:pPr marL="346075" indent="-346075">
              <a:lnSpc>
                <a:spcPts val="1900"/>
              </a:lnSpc>
              <a:spcBef>
                <a:spcPts val="600"/>
              </a:spcBef>
            </a:pPr>
            <a:r>
              <a:rPr lang="en-US" sz="1800" dirty="0" smtClean="0"/>
              <a:t>Effective date after finalization of standard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Introductory </a:t>
            </a:r>
            <a:r>
              <a:rPr lang="en-US" b="1" dirty="0"/>
              <a:t>P</a:t>
            </a:r>
            <a:r>
              <a:rPr lang="en-US" b="1" dirty="0" smtClean="0"/>
              <a:t>aragraphs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632" y="1015955"/>
            <a:ext cx="8229600" cy="3188677"/>
          </a:xfrm>
        </p:spPr>
        <p:txBody>
          <a:bodyPr/>
          <a:lstStyle/>
          <a:p>
            <a:pPr marL="0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Broadly supported; with some suggestions for changes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</a:t>
            </a:r>
            <a:r>
              <a:rPr lang="en-US" sz="2000" dirty="0" smtClean="0">
                <a:solidFill>
                  <a:srgbClr val="FF0000"/>
                </a:solidFill>
              </a:rPr>
              <a:t>:</a:t>
            </a:r>
          </a:p>
          <a:p>
            <a:pPr marL="0" indent="-347472">
              <a:lnSpc>
                <a:spcPts val="2400"/>
              </a:lnSpc>
            </a:pPr>
            <a:r>
              <a:rPr lang="en-US" sz="2000" dirty="0" smtClean="0"/>
              <a:t>Keep</a:t>
            </a:r>
          </a:p>
          <a:p>
            <a:pPr marL="0" indent="-347472">
              <a:lnSpc>
                <a:spcPts val="2400"/>
              </a:lnSpc>
            </a:pPr>
            <a:r>
              <a:rPr lang="en-US" sz="2000" dirty="0" smtClean="0"/>
              <a:t>Work through suggested changes</a:t>
            </a:r>
          </a:p>
          <a:p>
            <a:pPr marL="346075" indent="-346075">
              <a:lnSpc>
                <a:spcPts val="2400"/>
              </a:lnSpc>
            </a:pPr>
            <a:r>
              <a:rPr lang="en-US" sz="2000" dirty="0" smtClean="0"/>
              <a:t>Look at specific issues that need to be better articulated in standard – e.g. spectrum of risk</a:t>
            </a:r>
          </a:p>
          <a:p>
            <a:pPr marL="346075" indent="-346075">
              <a:lnSpc>
                <a:spcPts val="2400"/>
              </a:lnSpc>
            </a:pPr>
            <a:r>
              <a:rPr lang="en-US" sz="2000" dirty="0" smtClean="0"/>
              <a:t>Making stronger link to what is in the standard (consistency in way matters articulated in introductory paragraphs)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70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Flowcharts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366" y="948345"/>
            <a:ext cx="8509183" cy="4049104"/>
          </a:xfrm>
        </p:spPr>
        <p:txBody>
          <a:bodyPr/>
          <a:lstStyle/>
          <a:p>
            <a:pPr marL="346075" indent="-346075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Broad support for keeping the flowcharts– in particular as show iterative nature of standard</a:t>
            </a:r>
          </a:p>
          <a:p>
            <a:pPr marL="694944" lvl="1" indent="-347472">
              <a:lnSpc>
                <a:spcPts val="22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However was noted that the need for flowcharts shows that the standard is complex</a:t>
            </a:r>
          </a:p>
          <a:p>
            <a:pPr marL="341313" indent="-341313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Mixed views about where the flowcharts should be presented (in standard or elsewhere?)</a:t>
            </a:r>
          </a:p>
          <a:p>
            <a:pPr marL="0" indent="0">
              <a:lnSpc>
                <a:spcPts val="2200"/>
              </a:lnSpc>
              <a:spcBef>
                <a:spcPts val="600"/>
              </a:spcBef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</a:t>
            </a:r>
          </a:p>
          <a:p>
            <a:pPr marL="341313" indent="-341313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Agree to keep these as respondents found them helpful</a:t>
            </a:r>
          </a:p>
          <a:p>
            <a:pPr marL="341313" indent="-341313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However, not enough support for including in standard – to consider where these can be presented  (e.g., non-authoritative guidance; website)</a:t>
            </a:r>
          </a:p>
          <a:p>
            <a:pPr marL="341313" indent="-341313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Specific matters to be clarified or added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800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Complexity and Length of Standard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151" y="982615"/>
            <a:ext cx="8229600" cy="3686029"/>
          </a:xfrm>
        </p:spPr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</a:t>
            </a:r>
          </a:p>
          <a:p>
            <a:pPr marL="341313" indent="-341313">
              <a:lnSpc>
                <a:spcPts val="2000"/>
              </a:lnSpc>
            </a:pPr>
            <a:r>
              <a:rPr lang="en-US" sz="2000" dirty="0" smtClean="0"/>
              <a:t>Task </a:t>
            </a:r>
            <a:r>
              <a:rPr lang="en-US" sz="2000" dirty="0"/>
              <a:t>F</a:t>
            </a:r>
            <a:r>
              <a:rPr lang="en-US" sz="2000" dirty="0" smtClean="0"/>
              <a:t>orce to reconsider the application material</a:t>
            </a:r>
          </a:p>
          <a:p>
            <a:pPr marL="694944" lvl="1" indent="-347472">
              <a:lnSpc>
                <a:spcPts val="2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Long sentences and paragraphs</a:t>
            </a:r>
          </a:p>
          <a:p>
            <a:pPr marL="694944" lvl="1" indent="-347472">
              <a:lnSpc>
                <a:spcPts val="2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Use of language that is more understandable – consider technical way some requirements described</a:t>
            </a:r>
          </a:p>
          <a:p>
            <a:pPr marL="694944" lvl="1" indent="-347472">
              <a:lnSpc>
                <a:spcPts val="2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What can be moved to Appendix / non-authoritative guidance </a:t>
            </a:r>
          </a:p>
          <a:p>
            <a:pPr marL="694944" lvl="1" indent="-347472">
              <a:lnSpc>
                <a:spcPts val="2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Possible Q&amp;A’s to help clarify intent</a:t>
            </a:r>
          </a:p>
          <a:p>
            <a:pPr marL="341313" indent="-341313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Consider guidance to explain WHY doing various aspects – make the links to why certain procedures are required</a:t>
            </a:r>
          </a:p>
          <a:p>
            <a:pPr marL="694944" lvl="1" indent="-347472">
              <a:lnSpc>
                <a:spcPts val="2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Understanding the components of internal control</a:t>
            </a:r>
          </a:p>
          <a:p>
            <a:pPr marL="694944" lvl="1" indent="-347472">
              <a:lnSpc>
                <a:spcPts val="2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Understanding the 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258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Scalability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896" y="1035690"/>
            <a:ext cx="8229600" cy="3188677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</a:rPr>
              <a:t>Task Force Views</a:t>
            </a:r>
          </a:p>
          <a:p>
            <a:pPr marL="346075" indent="-346075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For all areas where we do have scalability for ‘simple’ adding in the more complex examples to help emphasize the scalability on both sides</a:t>
            </a:r>
          </a:p>
          <a:p>
            <a:pPr marL="346075" indent="-346075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Consider whether want to revert to separate paragraphs for scalability, or consider how this can be better ‘signposted’ in the standard</a:t>
            </a:r>
          </a:p>
          <a:p>
            <a:pPr marL="346075" indent="-346075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Reconsider documentation requirements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153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Sufficient Appropriate Audit Evidence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Mixed views from respondents</a:t>
            </a:r>
          </a:p>
          <a:p>
            <a:pPr marL="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Relook at revising to rearticulate the concept </a:t>
            </a:r>
          </a:p>
          <a:p>
            <a:pPr marL="694944" lvl="1" indent="-342900">
              <a:lnSpc>
                <a:spcPts val="24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Without referring to sufficient appropriate audit evidence but making clear that audit evidence is obtained through risk assessment procedures to provide an appropriate basis for the risk assessment</a:t>
            </a:r>
            <a:r>
              <a:rPr lang="en-US" sz="1800" dirty="0"/>
              <a:t>  </a:t>
            </a: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842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Information Technology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2799"/>
            <a:ext cx="8229600" cy="3667877"/>
          </a:xfrm>
        </p:spPr>
        <p:txBody>
          <a:bodyPr/>
          <a:lstStyle/>
          <a:p>
            <a:pPr marL="341313" indent="-341313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Respondents broadly supportive of the enhancements to reflect the auditor’s considerations relating to IT</a:t>
            </a:r>
          </a:p>
          <a:p>
            <a:pPr marL="694944" lvl="1" indent="-347472">
              <a:lnSpc>
                <a:spcPts val="24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 smtClean="0"/>
              <a:t>Various suggestions for further changes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Questions about whether all the supporting guidance needed in the standard</a:t>
            </a:r>
          </a:p>
          <a:p>
            <a:pPr marL="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/>
              <a:t>Further consideration given to the clarifications and other changes suggested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/>
              <a:t>Further consideration whether some of the guidance can be moved to an Appendix to ISA 315 (Revised)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035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Automated Tools and Techniques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52" y="916831"/>
            <a:ext cx="8229600" cy="3966464"/>
          </a:xfrm>
        </p:spPr>
        <p:txBody>
          <a:bodyPr/>
          <a:lstStyle/>
          <a:p>
            <a:pPr marL="347472" indent="-347472">
              <a:lnSpc>
                <a:spcPts val="1800"/>
              </a:lnSpc>
              <a:spcBef>
                <a:spcPts val="600"/>
              </a:spcBef>
            </a:pPr>
            <a:r>
              <a:rPr lang="en-US" sz="1800" dirty="0" smtClean="0"/>
              <a:t>Broad support for enhancements</a:t>
            </a:r>
          </a:p>
          <a:p>
            <a:pPr marL="694944" lvl="1" indent="-347472">
              <a:lnSpc>
                <a:spcPts val="18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500" dirty="0" smtClean="0"/>
              <a:t>Further suggestions related to matters outside scope of this project (i.e., related to evidence / ISA 500)</a:t>
            </a:r>
          </a:p>
          <a:p>
            <a:pPr marL="694944" lvl="1" indent="-347472">
              <a:lnSpc>
                <a:spcPts val="18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500" dirty="0" smtClean="0"/>
              <a:t>Limited suggestions to require use of DA</a:t>
            </a:r>
          </a:p>
          <a:p>
            <a:pPr marL="0" indent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800" i="1" dirty="0" smtClean="0">
                <a:solidFill>
                  <a:srgbClr val="FF0000"/>
                </a:solidFill>
              </a:rPr>
              <a:t>Task Force Views:</a:t>
            </a:r>
          </a:p>
          <a:p>
            <a:pPr marL="341313" indent="-341313">
              <a:lnSpc>
                <a:spcPts val="1800"/>
              </a:lnSpc>
              <a:spcBef>
                <a:spcPts val="600"/>
              </a:spcBef>
            </a:pPr>
            <a:r>
              <a:rPr lang="en-US" sz="1800" dirty="0" smtClean="0"/>
              <a:t>Consider suggested clarifications</a:t>
            </a:r>
          </a:p>
          <a:p>
            <a:pPr marL="694944" lvl="1" indent="-346075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tabLst>
                <a:tab pos="341313" algn="l"/>
              </a:tabLst>
            </a:pPr>
            <a:r>
              <a:rPr lang="en-US" sz="1500" dirty="0"/>
              <a:t>C</a:t>
            </a:r>
            <a:r>
              <a:rPr lang="en-US" sz="1600" dirty="0" smtClean="0"/>
              <a:t>larify </a:t>
            </a:r>
            <a:r>
              <a:rPr lang="en-US" sz="1600" dirty="0"/>
              <a:t>that usage automates risk assessment procedures, not supplemental</a:t>
            </a:r>
            <a:endParaRPr lang="en-US" sz="1500" dirty="0" smtClean="0"/>
          </a:p>
          <a:p>
            <a:pPr marL="341313" indent="-341313">
              <a:lnSpc>
                <a:spcPts val="1800"/>
              </a:lnSpc>
              <a:spcBef>
                <a:spcPts val="600"/>
              </a:spcBef>
            </a:pPr>
            <a:r>
              <a:rPr lang="en-US" sz="1800" dirty="0"/>
              <a:t>Not sufficient support for requiring use of DA  (not all auditors would use DA)</a:t>
            </a:r>
          </a:p>
          <a:p>
            <a:pPr marL="341313" indent="-341313">
              <a:lnSpc>
                <a:spcPts val="1800"/>
              </a:lnSpc>
              <a:spcBef>
                <a:spcPts val="600"/>
              </a:spcBef>
            </a:pPr>
            <a:r>
              <a:rPr lang="en-US" sz="1800" dirty="0" smtClean="0"/>
              <a:t>Coordinate with Data Analytics Working Group in relation to responses relating to ‘non-ISA 315 aspects’; also a possible FAQ:</a:t>
            </a:r>
          </a:p>
          <a:p>
            <a:pPr marL="694944" lvl="1" indent="-34290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500" dirty="0" smtClean="0"/>
              <a:t>How to use DA when performing risk assessment procedures (current example);</a:t>
            </a:r>
          </a:p>
          <a:p>
            <a:pPr marL="694944" lvl="1" indent="-34290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500" dirty="0" smtClean="0"/>
              <a:t>Clarifying in relation to current standards (ISA 330 and ISA 500) (i.e., what is a risk assessment procedure and when it becomes a further audit procedure)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438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Professional Skepticism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416" y="963328"/>
            <a:ext cx="8229600" cy="3825760"/>
          </a:xfrm>
        </p:spPr>
        <p:txBody>
          <a:bodyPr/>
          <a:lstStyle/>
          <a:p>
            <a:pPr marL="346075" indent="-346075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Largely supportive</a:t>
            </a:r>
          </a:p>
          <a:p>
            <a:pPr marL="694944" lvl="1" indent="-347472">
              <a:lnSpc>
                <a:spcPts val="24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 smtClean="0"/>
              <a:t>Various other suggestions for enhancements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/>
              <a:t>Observations </a:t>
            </a:r>
            <a:r>
              <a:rPr lang="en-US" sz="2000" dirty="0" smtClean="0"/>
              <a:t>that </a:t>
            </a:r>
            <a:r>
              <a:rPr lang="en-US" sz="2000" dirty="0"/>
              <a:t>automated tools and techniques </a:t>
            </a:r>
            <a:r>
              <a:rPr lang="en-US" sz="2000" dirty="0" smtClean="0"/>
              <a:t>better facilitate professional skepticism – enhance understanding of information </a:t>
            </a:r>
          </a:p>
          <a:p>
            <a:pPr marL="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Will further consider suggestions for other </a:t>
            </a:r>
            <a:r>
              <a:rPr lang="en-US" sz="2000" smtClean="0"/>
              <a:t>areas where </a:t>
            </a:r>
            <a:r>
              <a:rPr lang="en-US" sz="2000" dirty="0" smtClean="0"/>
              <a:t>enhancements can be made</a:t>
            </a:r>
          </a:p>
          <a:p>
            <a:pPr marL="694944" lvl="1" indent="-347472">
              <a:lnSpc>
                <a:spcPts val="24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 smtClean="0"/>
              <a:t>Including similar to paragraph 17 of ISA 540 to consider different sources of evidence for contradictory information 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Further consider how can guide documentation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85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Components of Internal Control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632" y="884387"/>
            <a:ext cx="8416924" cy="3998908"/>
          </a:xfrm>
        </p:spPr>
        <p:txBody>
          <a:bodyPr/>
          <a:lstStyle/>
          <a:p>
            <a:pPr marL="347472" indent="-347472">
              <a:lnSpc>
                <a:spcPts val="2000"/>
              </a:lnSpc>
              <a:spcBef>
                <a:spcPts val="600"/>
              </a:spcBef>
            </a:pPr>
            <a:r>
              <a:rPr lang="en-US" sz="1600" dirty="0" smtClean="0"/>
              <a:t>Broad support for distinguishing indirect and direct controls</a:t>
            </a:r>
          </a:p>
          <a:p>
            <a:pPr marL="347472" indent="-347472">
              <a:lnSpc>
                <a:spcPts val="2000"/>
              </a:lnSpc>
              <a:spcBef>
                <a:spcPts val="600"/>
              </a:spcBef>
            </a:pPr>
            <a:r>
              <a:rPr lang="en-US" sz="1600" dirty="0" smtClean="0"/>
              <a:t>Still various areas where further clarification sought</a:t>
            </a:r>
          </a:p>
          <a:p>
            <a:pPr marL="694944" lvl="1" indent="-347472">
              <a:lnSpc>
                <a:spcPts val="2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smtClean="0"/>
              <a:t>In particular distinguishing the “information system component” from the “control activities component”</a:t>
            </a:r>
          </a:p>
          <a:p>
            <a:pPr marL="347472" indent="-347472">
              <a:lnSpc>
                <a:spcPts val="2000"/>
              </a:lnSpc>
              <a:spcBef>
                <a:spcPts val="600"/>
              </a:spcBef>
            </a:pPr>
            <a:r>
              <a:rPr lang="en-US" sz="1600" dirty="0" smtClean="0"/>
              <a:t>Further consideration needed about what is ‘controls relevant to the audit’ and related work effort</a:t>
            </a:r>
          </a:p>
          <a:p>
            <a:pPr marL="347472" indent="-347472">
              <a:lnSpc>
                <a:spcPts val="2000"/>
              </a:lnSpc>
              <a:spcBef>
                <a:spcPts val="600"/>
              </a:spcBef>
            </a:pPr>
            <a:r>
              <a:rPr lang="en-US" sz="1600" dirty="0" smtClean="0"/>
              <a:t>Various concerns raised regarding specific ‘controls relevant to the audit (e.g., those designated that are in the auditor’s judgment; journal entries)</a:t>
            </a:r>
          </a:p>
          <a:p>
            <a:pPr marL="0" indent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1600" i="1" dirty="0" smtClean="0">
                <a:solidFill>
                  <a:srgbClr val="FF0000"/>
                </a:solidFill>
              </a:rPr>
              <a:t>Task Force Views</a:t>
            </a:r>
          </a:p>
          <a:p>
            <a:pPr marL="347472" indent="-347472">
              <a:lnSpc>
                <a:spcPts val="2000"/>
              </a:lnSpc>
              <a:spcBef>
                <a:spcPts val="600"/>
              </a:spcBef>
            </a:pPr>
            <a:r>
              <a:rPr lang="en-US" sz="1600" dirty="0" smtClean="0"/>
              <a:t>Clarify how control activities are different from the other components, in particular the information system – retain the five components but explain better </a:t>
            </a:r>
          </a:p>
          <a:p>
            <a:pPr marL="347472" indent="-347472">
              <a:lnSpc>
                <a:spcPts val="2000"/>
              </a:lnSpc>
              <a:spcBef>
                <a:spcPts val="600"/>
              </a:spcBef>
            </a:pPr>
            <a:r>
              <a:rPr lang="en-US" sz="1600" dirty="0" smtClean="0"/>
              <a:t>Clarify concept </a:t>
            </a:r>
            <a:r>
              <a:rPr lang="en-US" sz="1600" dirty="0"/>
              <a:t>of information system controls relevant to </a:t>
            </a:r>
            <a:r>
              <a:rPr lang="en-US" sz="1600" dirty="0" smtClean="0"/>
              <a:t>financial reporting</a:t>
            </a:r>
          </a:p>
          <a:p>
            <a:pPr marL="347472" indent="-347472">
              <a:lnSpc>
                <a:spcPts val="2000"/>
              </a:lnSpc>
              <a:spcBef>
                <a:spcPts val="600"/>
              </a:spcBef>
            </a:pPr>
            <a:r>
              <a:rPr lang="en-US" sz="1600" dirty="0" smtClean="0"/>
              <a:t>Further consider ‘controls relevant to the audit’ and how the requirements are structured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151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Separate Inherent and Control </a:t>
            </a:r>
            <a:r>
              <a:rPr lang="en-US" b="1" dirty="0"/>
              <a:t>R</a:t>
            </a:r>
            <a:r>
              <a:rPr lang="en-US" b="1" dirty="0" smtClean="0"/>
              <a:t>isk Assessment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160527" cy="3188677"/>
          </a:xfrm>
        </p:spPr>
        <p:txBody>
          <a:bodyPr/>
          <a:lstStyle/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Significant support for the separate assessments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Some confusion noted about how the separate assessments are related to identified and assessed risks of material misstatement</a:t>
            </a:r>
          </a:p>
          <a:p>
            <a:pPr marL="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Views: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/>
              <a:t>Leave as separate but further consideration related to how each of these assessments is articulated in the </a:t>
            </a:r>
            <a:r>
              <a:rPr lang="en-US" sz="2000" dirty="0" smtClean="0"/>
              <a:t>standard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Clarify how </a:t>
            </a:r>
            <a:r>
              <a:rPr lang="en-US" sz="2000" dirty="0"/>
              <a:t>separate assessments </a:t>
            </a:r>
            <a:r>
              <a:rPr lang="en-US" sz="2000" dirty="0" smtClean="0"/>
              <a:t>are related </a:t>
            </a:r>
            <a:r>
              <a:rPr lang="en-US" sz="2000" dirty="0"/>
              <a:t>to identified and assessed </a:t>
            </a:r>
            <a:r>
              <a:rPr lang="en-US" sz="2000" dirty="0" smtClean="0"/>
              <a:t>risks of material misstatement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934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Inherent Risk Factors (IRFs)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367" y="954924"/>
            <a:ext cx="8229600" cy="4042525"/>
          </a:xfrm>
        </p:spPr>
        <p:txBody>
          <a:bodyPr/>
          <a:lstStyle/>
          <a:p>
            <a:pPr marL="347472" indent="-347472">
              <a:lnSpc>
                <a:spcPts val="1800"/>
              </a:lnSpc>
              <a:spcBef>
                <a:spcPts val="600"/>
              </a:spcBef>
            </a:pPr>
            <a:r>
              <a:rPr lang="en-US" sz="1600" dirty="0" smtClean="0"/>
              <a:t>Broadly supported by respondents</a:t>
            </a:r>
          </a:p>
          <a:p>
            <a:pPr marL="347472" indent="-347472">
              <a:lnSpc>
                <a:spcPts val="1800"/>
              </a:lnSpc>
              <a:spcBef>
                <a:spcPts val="600"/>
              </a:spcBef>
            </a:pPr>
            <a:r>
              <a:rPr lang="en-US" sz="1600" dirty="0" smtClean="0"/>
              <a:t>Further clarification needed regarding interaction between the IRFs</a:t>
            </a:r>
          </a:p>
          <a:p>
            <a:pPr marL="347472" indent="-347472">
              <a:lnSpc>
                <a:spcPts val="1800"/>
              </a:lnSpc>
              <a:spcBef>
                <a:spcPts val="600"/>
              </a:spcBef>
            </a:pPr>
            <a:r>
              <a:rPr lang="en-US" sz="1600" dirty="0" smtClean="0"/>
              <a:t>Mixed views about including ‘quantitative’ aspects</a:t>
            </a:r>
          </a:p>
          <a:p>
            <a:pPr marL="347472" indent="-347472">
              <a:lnSpc>
                <a:spcPts val="1800"/>
              </a:lnSpc>
              <a:spcBef>
                <a:spcPts val="600"/>
              </a:spcBef>
            </a:pPr>
            <a:r>
              <a:rPr lang="en-US" sz="1600" dirty="0" smtClean="0"/>
              <a:t>Concern expressed by various respondents about ‘susceptibility to fraud’ as an IRF</a:t>
            </a:r>
          </a:p>
          <a:p>
            <a:pPr marL="694944" lvl="1" indent="-347472">
              <a:lnSpc>
                <a:spcPts val="18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smtClean="0"/>
              <a:t>Various suggestions about how fraud could be presented in ISA 315 (Revised)</a:t>
            </a:r>
          </a:p>
          <a:p>
            <a:pPr marL="347472" indent="-347472">
              <a:lnSpc>
                <a:spcPts val="1800"/>
              </a:lnSpc>
              <a:spcBef>
                <a:spcPts val="600"/>
              </a:spcBef>
            </a:pPr>
            <a:r>
              <a:rPr lang="en-US" sz="1600" dirty="0" smtClean="0"/>
              <a:t>Limited suggestions to require determination of IRF’s in risk assessment process</a:t>
            </a:r>
          </a:p>
          <a:p>
            <a:pPr marL="4763" indent="-4763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600" i="1" dirty="0" smtClean="0">
                <a:solidFill>
                  <a:srgbClr val="FF0000"/>
                </a:solidFill>
              </a:rPr>
              <a:t>Task Force Views:</a:t>
            </a:r>
          </a:p>
          <a:p>
            <a:pPr marL="347472" indent="-347472">
              <a:lnSpc>
                <a:spcPts val="1800"/>
              </a:lnSpc>
              <a:spcBef>
                <a:spcPts val="600"/>
              </a:spcBef>
            </a:pPr>
            <a:r>
              <a:rPr lang="en-US" sz="1600" dirty="0" smtClean="0"/>
              <a:t>Initial thinking is no specific requirement for determining IRF’s</a:t>
            </a:r>
          </a:p>
          <a:p>
            <a:pPr marL="347472" indent="-347472">
              <a:lnSpc>
                <a:spcPts val="1800"/>
              </a:lnSpc>
              <a:spcBef>
                <a:spcPts val="600"/>
              </a:spcBef>
            </a:pPr>
            <a:r>
              <a:rPr lang="en-US" sz="1600" dirty="0" smtClean="0"/>
              <a:t>Further consideration needed about how fraud is addressed in ISA 315 (Revised), including whether to keep as an inherent risk factor</a:t>
            </a:r>
          </a:p>
          <a:p>
            <a:pPr marL="694944" lvl="1" indent="-347472">
              <a:lnSpc>
                <a:spcPts val="18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/>
              <a:t>Possible FAQ to identify factors that drive fraud characteristics (i.e., behavioral aspects) to support susceptibility to fraud as an IRF (if keep)</a:t>
            </a:r>
          </a:p>
          <a:p>
            <a:pPr marL="347472" indent="-347472">
              <a:lnSpc>
                <a:spcPts val="1800"/>
              </a:lnSpc>
              <a:spcBef>
                <a:spcPts val="600"/>
              </a:spcBef>
            </a:pPr>
            <a:r>
              <a:rPr lang="en-US" sz="1600" dirty="0" smtClean="0"/>
              <a:t>Clarify various aspects relating to IRF’s and how they interact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026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Financial Statement Risks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210" y="1048847"/>
            <a:ext cx="8229600" cy="3344733"/>
          </a:xfrm>
        </p:spPr>
        <p:txBody>
          <a:bodyPr/>
          <a:lstStyle/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Broadly supportive of new material explaining financial statement risks</a:t>
            </a:r>
          </a:p>
          <a:p>
            <a:pPr marL="694944" lvl="1" indent="-347472">
              <a:lnSpc>
                <a:spcPts val="24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 smtClean="0"/>
              <a:t>More guidance needed about how impacts assertion level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Further clarification needed about interaction between financial statement level risks and indirect controls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Some comments that additional guidance adds complexity to the standard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Views:</a:t>
            </a:r>
          </a:p>
          <a:p>
            <a:pPr marL="347472" indent="-347472">
              <a:lnSpc>
                <a:spcPts val="2400"/>
              </a:lnSpc>
              <a:spcBef>
                <a:spcPts val="600"/>
              </a:spcBef>
            </a:pPr>
            <a:r>
              <a:rPr lang="en-US" sz="2000" dirty="0" smtClean="0"/>
              <a:t>Task Force to further consider areas of further clarification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39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Identifying and Assessing Risks of Material Misstatement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524" y="910673"/>
            <a:ext cx="8229600" cy="3898123"/>
          </a:xfrm>
        </p:spPr>
        <p:txBody>
          <a:bodyPr/>
          <a:lstStyle/>
          <a:p>
            <a:pPr marL="347472" indent="-347472">
              <a:lnSpc>
                <a:spcPts val="1600"/>
              </a:lnSpc>
              <a:spcBef>
                <a:spcPts val="600"/>
              </a:spcBef>
            </a:pPr>
            <a:r>
              <a:rPr lang="en-US" dirty="0" smtClean="0"/>
              <a:t>Suggestions for clarifications related to the spectrum of inherent risk</a:t>
            </a:r>
          </a:p>
          <a:p>
            <a:pPr marL="694944" lvl="1" indent="-347472">
              <a:lnSpc>
                <a:spcPts val="16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smtClean="0"/>
              <a:t>Further explaining the spectrum of inherent risk within the standard – more than in the introductory paragraphs</a:t>
            </a:r>
          </a:p>
          <a:p>
            <a:pPr marL="694944" lvl="1" indent="-347472">
              <a:lnSpc>
                <a:spcPts val="16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smtClean="0"/>
              <a:t>Further questions about spectrum of inherent risk and significant risk (do you need both?)</a:t>
            </a:r>
          </a:p>
          <a:p>
            <a:pPr marL="694944" lvl="1" indent="-347472">
              <a:lnSpc>
                <a:spcPts val="16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smtClean="0"/>
              <a:t>Articulation of where a risk may fall on the spectrum of inherent risk (i.e., where a risk ‘exists’)</a:t>
            </a:r>
          </a:p>
          <a:p>
            <a:pPr marL="694944" lvl="1" indent="-347472">
              <a:lnSpc>
                <a:spcPts val="16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smtClean="0"/>
              <a:t>‘close  to the upper end’ needs further clarification</a:t>
            </a:r>
          </a:p>
          <a:p>
            <a:pPr marL="347472" indent="-347472">
              <a:lnSpc>
                <a:spcPts val="1600"/>
              </a:lnSpc>
              <a:spcBef>
                <a:spcPts val="600"/>
              </a:spcBef>
            </a:pPr>
            <a:r>
              <a:rPr lang="en-US" dirty="0" smtClean="0"/>
              <a:t>Generally supportive of retaining concept of significant risk – drives consistency of identification of significant risks</a:t>
            </a:r>
          </a:p>
          <a:p>
            <a:pPr marL="694944" lvl="1" indent="-347472">
              <a:lnSpc>
                <a:spcPts val="16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smtClean="0"/>
              <a:t>On balance though should be those misstatements where magnitude </a:t>
            </a:r>
            <a:r>
              <a:rPr lang="en-US" u="sng" dirty="0" smtClean="0"/>
              <a:t>AND</a:t>
            </a:r>
            <a:r>
              <a:rPr lang="en-US" dirty="0" smtClean="0"/>
              <a:t> likelihood is very high</a:t>
            </a:r>
          </a:p>
          <a:p>
            <a:pPr marL="347472" indent="-347472">
              <a:lnSpc>
                <a:spcPts val="1600"/>
              </a:lnSpc>
              <a:spcBef>
                <a:spcPts val="600"/>
              </a:spcBef>
            </a:pPr>
            <a:r>
              <a:rPr lang="en-US" dirty="0" smtClean="0"/>
              <a:t>Various aspects of significant risks need to be clarified</a:t>
            </a:r>
          </a:p>
          <a:p>
            <a:pPr marL="694944" lvl="1" indent="-347472">
              <a:lnSpc>
                <a:spcPts val="16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smtClean="0"/>
              <a:t>For example are there situations where there would not be a significant risk</a:t>
            </a:r>
          </a:p>
          <a:p>
            <a:pPr marL="347472" indent="-347472">
              <a:lnSpc>
                <a:spcPts val="1600"/>
              </a:lnSpc>
              <a:spcBef>
                <a:spcPts val="600"/>
              </a:spcBef>
            </a:pPr>
            <a:r>
              <a:rPr lang="en-US" dirty="0" smtClean="0"/>
              <a:t>Views that ‘reasonable possibility’ is not the same as ‘more than remote’ in definition of relevant assertion </a:t>
            </a:r>
          </a:p>
          <a:p>
            <a:pPr marL="347472" indent="-347472">
              <a:lnSpc>
                <a:spcPts val="1600"/>
              </a:lnSpc>
              <a:spcBef>
                <a:spcPts val="600"/>
              </a:spcBef>
              <a:buNone/>
            </a:pPr>
            <a:r>
              <a:rPr lang="en-US" i="1" dirty="0">
                <a:solidFill>
                  <a:srgbClr val="FF0000"/>
                </a:solidFill>
              </a:rPr>
              <a:t>Task Force Views:</a:t>
            </a:r>
          </a:p>
          <a:p>
            <a:pPr marL="347472" indent="-347472">
              <a:lnSpc>
                <a:spcPts val="1600"/>
              </a:lnSpc>
              <a:spcBef>
                <a:spcPts val="600"/>
              </a:spcBef>
            </a:pPr>
            <a:r>
              <a:rPr lang="en-US" dirty="0"/>
              <a:t>Task Force to further consider areas of further clarification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32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Assessing Control Risk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59" y="934520"/>
            <a:ext cx="8229600" cy="3954897"/>
          </a:xfrm>
        </p:spPr>
        <p:txBody>
          <a:bodyPr/>
          <a:lstStyle/>
          <a:p>
            <a:pPr marL="347472" indent="-347472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Concern about assessing control risk based on D&amp;I</a:t>
            </a:r>
          </a:p>
          <a:p>
            <a:pPr marL="347472" indent="-347472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Concern about presumed expectation of control risk at maximum unless intend to test operating effectiveness of controls</a:t>
            </a:r>
          </a:p>
          <a:p>
            <a:pPr marL="0" indent="0">
              <a:lnSpc>
                <a:spcPts val="2200"/>
              </a:lnSpc>
              <a:spcBef>
                <a:spcPts val="600"/>
              </a:spcBef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</a:t>
            </a:r>
          </a:p>
          <a:p>
            <a:pPr marL="347472" indent="-347472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Clarify aspects of control risk assessment based on areas of concern noted</a:t>
            </a:r>
          </a:p>
          <a:p>
            <a:pPr marL="694944" lvl="1" indent="-347472">
              <a:lnSpc>
                <a:spcPts val="22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D&amp;I and how it impacts control risk assessment</a:t>
            </a:r>
          </a:p>
          <a:p>
            <a:pPr marL="694944" lvl="1" indent="-347472">
              <a:lnSpc>
                <a:spcPts val="22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Including further clarification about ‘expected’ operating effectiveness of controls to reduce control risk from maximum (and make link to testing controls in ISA 330 to confirm initial expectation)</a:t>
            </a:r>
          </a:p>
          <a:p>
            <a:pPr marL="347472" indent="-347472">
              <a:lnSpc>
                <a:spcPts val="2200"/>
              </a:lnSpc>
              <a:spcBef>
                <a:spcPts val="600"/>
              </a:spcBef>
            </a:pPr>
            <a:r>
              <a:rPr lang="en-US" sz="2000" dirty="0" smtClean="0"/>
              <a:t>Q&amp;A to clarify various aspects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768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Stand-Back &amp; ISA 330 Para.18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631" y="867083"/>
            <a:ext cx="8229600" cy="3922005"/>
          </a:xfrm>
        </p:spPr>
        <p:txBody>
          <a:bodyPr/>
          <a:lstStyle/>
          <a:p>
            <a:pPr marL="347472" indent="-347472">
              <a:lnSpc>
                <a:spcPts val="2160"/>
              </a:lnSpc>
              <a:spcBef>
                <a:spcPts val="600"/>
              </a:spcBef>
            </a:pPr>
            <a:r>
              <a:rPr lang="en-US" sz="2000" dirty="0" smtClean="0"/>
              <a:t>Mixed views</a:t>
            </a:r>
          </a:p>
          <a:p>
            <a:pPr marL="694944" lvl="1" indent="-347472">
              <a:lnSpc>
                <a:spcPts val="216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Support for keeping both, as well as one or the other</a:t>
            </a:r>
          </a:p>
          <a:p>
            <a:pPr marL="694944" lvl="1" indent="-347472">
              <a:lnSpc>
                <a:spcPts val="216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Questions whether need either if do robust risk assessment</a:t>
            </a:r>
          </a:p>
          <a:p>
            <a:pPr marL="347472" indent="-347472">
              <a:lnSpc>
                <a:spcPts val="2160"/>
              </a:lnSpc>
              <a:spcBef>
                <a:spcPts val="600"/>
              </a:spcBef>
            </a:pPr>
            <a:r>
              <a:rPr lang="en-US" sz="2000" dirty="0" smtClean="0"/>
              <a:t>Some comments about introduction of ‘qualitatively material’ to ISA 330.18</a:t>
            </a:r>
          </a:p>
          <a:p>
            <a:pPr marL="4763" indent="-4763">
              <a:lnSpc>
                <a:spcPts val="2160"/>
              </a:lnSpc>
              <a:spcBef>
                <a:spcPts val="600"/>
              </a:spcBef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Task Force Views</a:t>
            </a:r>
          </a:p>
          <a:p>
            <a:pPr marL="347472" indent="-347472">
              <a:lnSpc>
                <a:spcPts val="2160"/>
              </a:lnSpc>
              <a:spcBef>
                <a:spcPts val="600"/>
              </a:spcBef>
            </a:pPr>
            <a:r>
              <a:rPr lang="en-US" sz="2000" dirty="0" smtClean="0"/>
              <a:t>On balance keep both</a:t>
            </a:r>
          </a:p>
          <a:p>
            <a:pPr marL="347472" indent="-347472">
              <a:lnSpc>
                <a:spcPts val="2160"/>
              </a:lnSpc>
              <a:spcBef>
                <a:spcPts val="600"/>
              </a:spcBef>
            </a:pPr>
            <a:r>
              <a:rPr lang="en-US" sz="2000" dirty="0" smtClean="0"/>
              <a:t>Some clarifications needed</a:t>
            </a:r>
          </a:p>
          <a:p>
            <a:pPr marL="694944" lvl="1" indent="-347472">
              <a:lnSpc>
                <a:spcPts val="216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Some confusion – may need a decision tree</a:t>
            </a:r>
          </a:p>
          <a:p>
            <a:pPr marL="347472" indent="-347472">
              <a:lnSpc>
                <a:spcPts val="2160"/>
              </a:lnSpc>
              <a:spcBef>
                <a:spcPts val="600"/>
              </a:spcBef>
            </a:pPr>
            <a:r>
              <a:rPr lang="en-US" sz="2000" dirty="0" smtClean="0"/>
              <a:t>If 330.18 retained need to delete qualitative but add to application material to make clear that both quantitative and qualitative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828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Other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475" y="989642"/>
            <a:ext cx="8229600" cy="3549466"/>
          </a:xfrm>
        </p:spPr>
        <p:txBody>
          <a:bodyPr/>
          <a:lstStyle/>
          <a:p>
            <a:pPr marL="347472" indent="-347472">
              <a:lnSpc>
                <a:spcPts val="2300"/>
              </a:lnSpc>
              <a:spcBef>
                <a:spcPts val="600"/>
              </a:spcBef>
            </a:pPr>
            <a:r>
              <a:rPr lang="en-US" sz="1800" i="1" dirty="0" smtClean="0"/>
              <a:t>Translations</a:t>
            </a:r>
          </a:p>
          <a:p>
            <a:pPr marL="694944" lvl="1" indent="-347472">
              <a:lnSpc>
                <a:spcPts val="23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Length and complexity will make it difficult to translate</a:t>
            </a:r>
          </a:p>
          <a:p>
            <a:pPr marL="694944" lvl="1" indent="-347472">
              <a:lnSpc>
                <a:spcPts val="23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Comments about specific terminology:</a:t>
            </a:r>
          </a:p>
          <a:p>
            <a:pPr marL="1041400" lvl="2" indent="-347472">
              <a:lnSpc>
                <a:spcPts val="2300"/>
              </a:lnSpc>
              <a:spcBef>
                <a:spcPts val="600"/>
              </a:spcBef>
            </a:pPr>
            <a:r>
              <a:rPr lang="en-US" sz="1800" dirty="0" smtClean="0"/>
              <a:t>Terminology not consistent with other ISAs - nuanced distinctions, new terms, spectrum of risk, more than remote, close to the upper end, stand-back, certain sentence structures – can be challenging when translating</a:t>
            </a:r>
          </a:p>
          <a:p>
            <a:pPr marL="347472" indent="-347472">
              <a:lnSpc>
                <a:spcPts val="2300"/>
              </a:lnSpc>
              <a:spcBef>
                <a:spcPts val="600"/>
              </a:spcBef>
            </a:pPr>
            <a:r>
              <a:rPr lang="en-US" sz="1800" i="1" dirty="0" smtClean="0"/>
              <a:t>Effective date</a:t>
            </a:r>
          </a:p>
          <a:p>
            <a:pPr marL="694944" lvl="1" indent="-342900">
              <a:lnSpc>
                <a:spcPts val="2300"/>
              </a:lnSpc>
              <a:spcBef>
                <a:spcPts val="600"/>
              </a:spcBef>
              <a:spcAft>
                <a:spcPts val="0"/>
              </a:spcAft>
              <a:tabLst>
                <a:tab pos="684213" algn="l"/>
              </a:tabLst>
            </a:pPr>
            <a:r>
              <a:rPr lang="en-US" sz="1800" dirty="0" smtClean="0"/>
              <a:t>Mixed </a:t>
            </a:r>
            <a:r>
              <a:rPr lang="en-US" sz="1800" dirty="0"/>
              <a:t>views, not shorter than 18 months but various comments that should be </a:t>
            </a:r>
            <a:r>
              <a:rPr lang="en-US" sz="1800" dirty="0" smtClean="0"/>
              <a:t>longer, i.e</a:t>
            </a:r>
            <a:r>
              <a:rPr lang="en-US" sz="1800" dirty="0"/>
              <a:t>., 24 months</a:t>
            </a:r>
          </a:p>
          <a:p>
            <a:pPr lvl="1"/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09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356" y="1200150"/>
            <a:ext cx="3189288" cy="31892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6247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69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17448</TotalTime>
  <Words>1941</Words>
  <Application>Microsoft Office PowerPoint</Application>
  <PresentationFormat>On-screen Show (16:9)</PresentationFormat>
  <Paragraphs>278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MS PGothic</vt:lpstr>
      <vt:lpstr>Arial</vt:lpstr>
      <vt:lpstr>Arial Narrow</vt:lpstr>
      <vt:lpstr>Calibri</vt:lpstr>
      <vt:lpstr>Times New Roman</vt:lpstr>
      <vt:lpstr>Office Theme</vt:lpstr>
      <vt:lpstr>ISA 315 (Revised) IAASB Meeting – Agenda Item 6–A New York, USA December 2018  </vt:lpstr>
      <vt:lpstr>ISA 315 (Revised) Exposure Draft </vt:lpstr>
      <vt:lpstr>ISA 315 (Revised) Exposure Draft </vt:lpstr>
      <vt:lpstr>Overall Summary</vt:lpstr>
      <vt:lpstr>High-Level Summary—Areas of Concern</vt:lpstr>
      <vt:lpstr>High-Level Summary—Areas of Concern</vt:lpstr>
      <vt:lpstr>High-Level Summary—Areas Supported</vt:lpstr>
      <vt:lpstr>High-Level Summary—Areas Supported</vt:lpstr>
      <vt:lpstr>High-Level Summary—Mixed Views</vt:lpstr>
      <vt:lpstr>Introductory Paragraphs</vt:lpstr>
      <vt:lpstr>Flowcharts</vt:lpstr>
      <vt:lpstr>Complexity and Length of Standard</vt:lpstr>
      <vt:lpstr>Scalability</vt:lpstr>
      <vt:lpstr>Sufficient Appropriate Audit Evidence</vt:lpstr>
      <vt:lpstr>Information Technology</vt:lpstr>
      <vt:lpstr>Automated Tools and Techniques</vt:lpstr>
      <vt:lpstr>Professional Skepticism</vt:lpstr>
      <vt:lpstr>Components of Internal Control</vt:lpstr>
      <vt:lpstr>Separate Inherent and Control Risk Assessment</vt:lpstr>
      <vt:lpstr>Inherent Risk Factors (IRFs)</vt:lpstr>
      <vt:lpstr>Financial Statement Risks</vt:lpstr>
      <vt:lpstr>Identifying and Assessing Risks of Material Misstatement</vt:lpstr>
      <vt:lpstr>Assessing Control Risk</vt:lpstr>
      <vt:lpstr>Stand-Back &amp; ISA 330 Para.18</vt:lpstr>
      <vt:lpstr>Other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Armand Kotze</cp:lastModifiedBy>
  <cp:revision>440</cp:revision>
  <cp:lastPrinted>2017-10-05T15:12:27Z</cp:lastPrinted>
  <dcterms:created xsi:type="dcterms:W3CDTF">2016-11-09T14:56:20Z</dcterms:created>
  <dcterms:modified xsi:type="dcterms:W3CDTF">2018-12-19T15:52:04Z</dcterms:modified>
</cp:coreProperties>
</file>