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48" r:id="rId1"/>
  </p:sldMasterIdLst>
  <p:notesMasterIdLst>
    <p:notesMasterId r:id="rId18"/>
  </p:notesMasterIdLst>
  <p:handoutMasterIdLst>
    <p:handoutMasterId r:id="rId19"/>
  </p:handoutMasterIdLst>
  <p:sldIdLst>
    <p:sldId id="299" r:id="rId2"/>
    <p:sldId id="295" r:id="rId3"/>
    <p:sldId id="318" r:id="rId4"/>
    <p:sldId id="332" r:id="rId5"/>
    <p:sldId id="308" r:id="rId6"/>
    <p:sldId id="319" r:id="rId7"/>
    <p:sldId id="320" r:id="rId8"/>
    <p:sldId id="321" r:id="rId9"/>
    <p:sldId id="322" r:id="rId10"/>
    <p:sldId id="323" r:id="rId11"/>
    <p:sldId id="324" r:id="rId12"/>
    <p:sldId id="326" r:id="rId13"/>
    <p:sldId id="327" r:id="rId14"/>
    <p:sldId id="328" r:id="rId15"/>
    <p:sldId id="329" r:id="rId16"/>
    <p:sldId id="259" r:id="rId17"/>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15"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Schuyler Simms" initials="SS" lastIdx="17" clrIdx="2"/>
  <p:cmAuthor id="4" name="Schuyler Simms" initials="SSS" lastIdx="15" clrIdx="3">
    <p:extLst>
      <p:ext uri="{19B8F6BF-5375-455C-9EA6-DF929625EA0E}">
        <p15:presenceInfo xmlns:p15="http://schemas.microsoft.com/office/powerpoint/2012/main" userId="Schuyler Simms" providerId="None"/>
      </p:ext>
    </p:extLst>
  </p:cmAuthor>
  <p:cmAuthor id="5" name="BJ" initials="BJ" lastIdx="3" clrIdx="4">
    <p:extLst>
      <p:ext uri="{19B8F6BF-5375-455C-9EA6-DF929625EA0E}">
        <p15:presenceInfo xmlns:p15="http://schemas.microsoft.com/office/powerpoint/2012/main" userId="BJ" providerId="None"/>
      </p:ext>
    </p:extLst>
  </p:cmAuthor>
  <p:cmAuthor id="6" name="Megan Zietsman" initials="MZ" lastIdx="4" clrIdx="5">
    <p:extLst>
      <p:ext uri="{19B8F6BF-5375-455C-9EA6-DF929625EA0E}">
        <p15:presenceInfo xmlns:p15="http://schemas.microsoft.com/office/powerpoint/2012/main" userId="Megan Ziets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90" autoAdjust="0"/>
  </p:normalViewPr>
  <p:slideViewPr>
    <p:cSldViewPr snapToGrid="0" snapToObjects="1">
      <p:cViewPr varScale="1">
        <p:scale>
          <a:sx n="95" d="100"/>
          <a:sy n="95" d="100"/>
        </p:scale>
        <p:origin x="1046" y="67"/>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09FA5A-8928-44FA-A4D4-EE3767623CD6}"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9754A5C0-304C-43B8-BEEA-9BA1E393CD85}">
      <dgm:prSet phldrT="[Text]">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b="1" dirty="0"/>
            <a:t>LEADERSHIP RESPONSIBILITY  </a:t>
          </a:r>
        </a:p>
        <a:p>
          <a:r>
            <a:rPr lang="en-US" dirty="0"/>
            <a:t>EP is responsible for achieving quality at the engagement level</a:t>
          </a:r>
        </a:p>
      </dgm:t>
    </dgm:pt>
    <dgm:pt modelId="{FB97D14D-DF57-4804-ACA0-F3400DB0C0C4}" type="parTrans" cxnId="{F722F859-EC8D-4FEF-B148-3C44EA24DC3F}">
      <dgm:prSet/>
      <dgm:spPr/>
      <dgm:t>
        <a:bodyPr/>
        <a:lstStyle/>
        <a:p>
          <a:endParaRPr lang="en-US"/>
        </a:p>
      </dgm:t>
    </dgm:pt>
    <dgm:pt modelId="{96FC4171-DFA6-4422-AF25-C9CE6D950B12}" type="sibTrans" cxnId="{F722F859-EC8D-4FEF-B148-3C44EA24DC3F}">
      <dgm:prSet>
        <dgm:style>
          <a:lnRef idx="2">
            <a:schemeClr val="accent3">
              <a:shade val="50000"/>
            </a:schemeClr>
          </a:lnRef>
          <a:fillRef idx="1">
            <a:schemeClr val="accent3"/>
          </a:fillRef>
          <a:effectRef idx="0">
            <a:schemeClr val="accent3"/>
          </a:effectRef>
          <a:fontRef idx="minor">
            <a:schemeClr val="lt1"/>
          </a:fontRef>
        </dgm:style>
      </dgm:prSet>
      <dgm:spPr/>
      <dgm:t>
        <a:bodyPr/>
        <a:lstStyle/>
        <a:p>
          <a:endParaRPr lang="en-US" dirty="0"/>
        </a:p>
      </dgm:t>
    </dgm:pt>
    <dgm:pt modelId="{A070B378-9203-4806-89FC-842579F32A48}">
      <dgm:prSet phldrT="[Text]" custT="1">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sz="1200" b="1" dirty="0"/>
            <a:t>DIRECTION, SUPERVISION, AND REVIEWS </a:t>
          </a:r>
        </a:p>
        <a:p>
          <a:r>
            <a:rPr lang="en-US" sz="1200" b="0" dirty="0"/>
            <a:t>EP is responsible for nature, timing, and extent, in view of engagement circumstances</a:t>
          </a:r>
        </a:p>
      </dgm:t>
    </dgm:pt>
    <dgm:pt modelId="{33E490D6-6FB3-4140-B90C-8AE32CF631AE}" type="parTrans" cxnId="{7E2521C1-EA78-4B1F-B45B-FD30385FD06A}">
      <dgm:prSet/>
      <dgm:spPr/>
      <dgm:t>
        <a:bodyPr/>
        <a:lstStyle/>
        <a:p>
          <a:endParaRPr lang="en-US"/>
        </a:p>
      </dgm:t>
    </dgm:pt>
    <dgm:pt modelId="{76EC97C8-A7C3-47A7-9A24-81883887B29D}" type="sibTrans" cxnId="{7E2521C1-EA78-4B1F-B45B-FD30385FD06A}">
      <dgm:prSet>
        <dgm:style>
          <a:lnRef idx="2">
            <a:schemeClr val="accent3">
              <a:shade val="50000"/>
            </a:schemeClr>
          </a:lnRef>
          <a:fillRef idx="1">
            <a:schemeClr val="accent3"/>
          </a:fillRef>
          <a:effectRef idx="0">
            <a:schemeClr val="accent3"/>
          </a:effectRef>
          <a:fontRef idx="minor">
            <a:schemeClr val="lt1"/>
          </a:fontRef>
        </dgm:style>
      </dgm:prSet>
      <dgm:spPr/>
      <dgm:t>
        <a:bodyPr/>
        <a:lstStyle/>
        <a:p>
          <a:endParaRPr lang="en-US" dirty="0"/>
        </a:p>
      </dgm:t>
    </dgm:pt>
    <dgm:pt modelId="{3A6C5AC2-19B5-4DDA-AF7C-1A0D19FFF0E9}">
      <dgm:prSet phldrT="[Text]" custT="1">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sz="1200" b="1" dirty="0"/>
            <a:t>STANDBACK</a:t>
          </a:r>
        </a:p>
        <a:p>
          <a:r>
            <a:rPr lang="en-US" sz="1000" dirty="0"/>
            <a:t>EP </a:t>
          </a:r>
          <a:r>
            <a:rPr lang="en-US" sz="1200" b="0" dirty="0"/>
            <a:t>shall be satisfied that involvement has been sufficient and appropriate to provide basis for taking overall responsibility</a:t>
          </a:r>
        </a:p>
      </dgm:t>
    </dgm:pt>
    <dgm:pt modelId="{DC085D7B-0BF9-4956-9DAA-59B3B20BF3ED}" type="parTrans" cxnId="{01FAAC1B-120E-43A6-94C5-349A40F5AD46}">
      <dgm:prSet/>
      <dgm:spPr/>
      <dgm:t>
        <a:bodyPr/>
        <a:lstStyle/>
        <a:p>
          <a:endParaRPr lang="en-US"/>
        </a:p>
      </dgm:t>
    </dgm:pt>
    <dgm:pt modelId="{82A54C6E-BA91-4EFB-829A-528EADEEB14C}" type="sibTrans" cxnId="{01FAAC1B-120E-43A6-94C5-349A40F5AD46}">
      <dgm:prSet>
        <dgm:style>
          <a:lnRef idx="2">
            <a:schemeClr val="accent3">
              <a:shade val="50000"/>
            </a:schemeClr>
          </a:lnRef>
          <a:fillRef idx="1">
            <a:schemeClr val="accent3"/>
          </a:fillRef>
          <a:effectRef idx="0">
            <a:schemeClr val="accent3"/>
          </a:effectRef>
          <a:fontRef idx="minor">
            <a:schemeClr val="lt1"/>
          </a:fontRef>
        </dgm:style>
      </dgm:prSet>
      <dgm:spPr/>
      <dgm:t>
        <a:bodyPr/>
        <a:lstStyle/>
        <a:p>
          <a:endParaRPr lang="en-US" dirty="0"/>
        </a:p>
      </dgm:t>
    </dgm:pt>
    <dgm:pt modelId="{5D311C4A-432A-4D7D-BBD3-F2EA7BA82FE9}" type="pres">
      <dgm:prSet presAssocID="{D509FA5A-8928-44FA-A4D4-EE3767623CD6}" presName="Name0" presStyleCnt="0">
        <dgm:presLayoutVars>
          <dgm:dir/>
          <dgm:resizeHandles val="exact"/>
        </dgm:presLayoutVars>
      </dgm:prSet>
      <dgm:spPr/>
      <dgm:t>
        <a:bodyPr/>
        <a:lstStyle/>
        <a:p>
          <a:endParaRPr lang="en-US"/>
        </a:p>
      </dgm:t>
    </dgm:pt>
    <dgm:pt modelId="{1A2F8AF6-DDD4-41A8-B8C0-650D7622CF33}" type="pres">
      <dgm:prSet presAssocID="{9754A5C0-304C-43B8-BEEA-9BA1E393CD85}" presName="node" presStyleLbl="node1" presStyleIdx="0" presStyleCnt="3" custScaleX="127897" custRadScaleRad="82001" custRadScaleInc="-1840">
        <dgm:presLayoutVars>
          <dgm:bulletEnabled val="1"/>
        </dgm:presLayoutVars>
      </dgm:prSet>
      <dgm:spPr/>
      <dgm:t>
        <a:bodyPr/>
        <a:lstStyle/>
        <a:p>
          <a:endParaRPr lang="en-US"/>
        </a:p>
      </dgm:t>
    </dgm:pt>
    <dgm:pt modelId="{A4C3F0A0-0195-4F44-920E-D31C3604F801}" type="pres">
      <dgm:prSet presAssocID="{96FC4171-DFA6-4422-AF25-C9CE6D950B12}" presName="sibTrans" presStyleLbl="sibTrans2D1" presStyleIdx="0" presStyleCnt="3" custLinFactNeighborX="51305" custLinFactNeighborY="12224"/>
      <dgm:spPr/>
      <dgm:t>
        <a:bodyPr/>
        <a:lstStyle/>
        <a:p>
          <a:endParaRPr lang="en-US"/>
        </a:p>
      </dgm:t>
    </dgm:pt>
    <dgm:pt modelId="{AA08AA17-613D-4BF0-A289-561F4DC4484A}" type="pres">
      <dgm:prSet presAssocID="{96FC4171-DFA6-4422-AF25-C9CE6D950B12}" presName="connectorText" presStyleLbl="sibTrans2D1" presStyleIdx="0" presStyleCnt="3"/>
      <dgm:spPr/>
      <dgm:t>
        <a:bodyPr/>
        <a:lstStyle/>
        <a:p>
          <a:endParaRPr lang="en-US"/>
        </a:p>
      </dgm:t>
    </dgm:pt>
    <dgm:pt modelId="{A4BBDCF9-3714-4276-B777-4986805499CA}" type="pres">
      <dgm:prSet presAssocID="{A070B378-9203-4806-89FC-842579F32A48}" presName="node" presStyleLbl="node1" presStyleIdx="1" presStyleCnt="3" custScaleX="112280" custRadScaleRad="85144" custRadScaleInc="-33207">
        <dgm:presLayoutVars>
          <dgm:bulletEnabled val="1"/>
        </dgm:presLayoutVars>
      </dgm:prSet>
      <dgm:spPr/>
      <dgm:t>
        <a:bodyPr/>
        <a:lstStyle/>
        <a:p>
          <a:endParaRPr lang="en-US"/>
        </a:p>
      </dgm:t>
    </dgm:pt>
    <dgm:pt modelId="{946783BD-19D9-415F-958A-A4114F7D43D6}" type="pres">
      <dgm:prSet presAssocID="{76EC97C8-A7C3-47A7-9A24-81883887B29D}" presName="sibTrans" presStyleLbl="sibTrans2D1" presStyleIdx="1" presStyleCnt="3"/>
      <dgm:spPr/>
      <dgm:t>
        <a:bodyPr/>
        <a:lstStyle/>
        <a:p>
          <a:endParaRPr lang="en-US"/>
        </a:p>
      </dgm:t>
    </dgm:pt>
    <dgm:pt modelId="{B9918852-876F-4C10-852E-416AA625FD1F}" type="pres">
      <dgm:prSet presAssocID="{76EC97C8-A7C3-47A7-9A24-81883887B29D}" presName="connectorText" presStyleLbl="sibTrans2D1" presStyleIdx="1" presStyleCnt="3"/>
      <dgm:spPr/>
      <dgm:t>
        <a:bodyPr/>
        <a:lstStyle/>
        <a:p>
          <a:endParaRPr lang="en-US"/>
        </a:p>
      </dgm:t>
    </dgm:pt>
    <dgm:pt modelId="{E354E9EF-01DC-4B39-AB53-C2B7A9259458}" type="pres">
      <dgm:prSet presAssocID="{3A6C5AC2-19B5-4DDA-AF7C-1A0D19FFF0E9}" presName="node" presStyleLbl="node1" presStyleIdx="2" presStyleCnt="3" custScaleX="112236" custRadScaleRad="87954" custRadScaleInc="33240">
        <dgm:presLayoutVars>
          <dgm:bulletEnabled val="1"/>
        </dgm:presLayoutVars>
      </dgm:prSet>
      <dgm:spPr/>
      <dgm:t>
        <a:bodyPr/>
        <a:lstStyle/>
        <a:p>
          <a:endParaRPr lang="en-US"/>
        </a:p>
      </dgm:t>
    </dgm:pt>
    <dgm:pt modelId="{F5BF8060-6437-4F60-A34E-E3562C4067E6}" type="pres">
      <dgm:prSet presAssocID="{82A54C6E-BA91-4EFB-829A-528EADEEB14C}" presName="sibTrans" presStyleLbl="sibTrans2D1" presStyleIdx="2" presStyleCnt="3" custLinFactNeighborX="-70540" custLinFactNeighborY="10073"/>
      <dgm:spPr/>
      <dgm:t>
        <a:bodyPr/>
        <a:lstStyle/>
        <a:p>
          <a:endParaRPr lang="en-US"/>
        </a:p>
      </dgm:t>
    </dgm:pt>
    <dgm:pt modelId="{4C4BE840-A51E-407C-A0A0-FAEAC90F6B55}" type="pres">
      <dgm:prSet presAssocID="{82A54C6E-BA91-4EFB-829A-528EADEEB14C}" presName="connectorText" presStyleLbl="sibTrans2D1" presStyleIdx="2" presStyleCnt="3"/>
      <dgm:spPr/>
      <dgm:t>
        <a:bodyPr/>
        <a:lstStyle/>
        <a:p>
          <a:endParaRPr lang="en-US"/>
        </a:p>
      </dgm:t>
    </dgm:pt>
  </dgm:ptLst>
  <dgm:cxnLst>
    <dgm:cxn modelId="{B6E56E1E-B1E8-402B-A384-175032C102B0}" type="presOf" srcId="{D509FA5A-8928-44FA-A4D4-EE3767623CD6}" destId="{5D311C4A-432A-4D7D-BBD3-F2EA7BA82FE9}" srcOrd="0" destOrd="0" presId="urn:microsoft.com/office/officeart/2005/8/layout/cycle7"/>
    <dgm:cxn modelId="{E5D7F0A4-546D-4CF0-9C5F-640A6494B1B8}" type="presOf" srcId="{9754A5C0-304C-43B8-BEEA-9BA1E393CD85}" destId="{1A2F8AF6-DDD4-41A8-B8C0-650D7622CF33}" srcOrd="0" destOrd="0" presId="urn:microsoft.com/office/officeart/2005/8/layout/cycle7"/>
    <dgm:cxn modelId="{59BEAF36-A7B7-4689-8455-7C4261AB9390}" type="presOf" srcId="{76EC97C8-A7C3-47A7-9A24-81883887B29D}" destId="{B9918852-876F-4C10-852E-416AA625FD1F}" srcOrd="1" destOrd="0" presId="urn:microsoft.com/office/officeart/2005/8/layout/cycle7"/>
    <dgm:cxn modelId="{69FAEDC9-47A7-42D2-A115-324E2F93C97B}" type="presOf" srcId="{82A54C6E-BA91-4EFB-829A-528EADEEB14C}" destId="{F5BF8060-6437-4F60-A34E-E3562C4067E6}" srcOrd="0" destOrd="0" presId="urn:microsoft.com/office/officeart/2005/8/layout/cycle7"/>
    <dgm:cxn modelId="{02C133B3-126B-40BC-9D97-AA2F604824B9}" type="presOf" srcId="{3A6C5AC2-19B5-4DDA-AF7C-1A0D19FFF0E9}" destId="{E354E9EF-01DC-4B39-AB53-C2B7A9259458}" srcOrd="0" destOrd="0" presId="urn:microsoft.com/office/officeart/2005/8/layout/cycle7"/>
    <dgm:cxn modelId="{6D6B79EA-60C1-4307-A7B8-BC4D77C67675}" type="presOf" srcId="{76EC97C8-A7C3-47A7-9A24-81883887B29D}" destId="{946783BD-19D9-415F-958A-A4114F7D43D6}" srcOrd="0" destOrd="0" presId="urn:microsoft.com/office/officeart/2005/8/layout/cycle7"/>
    <dgm:cxn modelId="{5B9E35E0-E3F8-4DB0-93E1-E95C8C5B0E6D}" type="presOf" srcId="{82A54C6E-BA91-4EFB-829A-528EADEEB14C}" destId="{4C4BE840-A51E-407C-A0A0-FAEAC90F6B55}" srcOrd="1" destOrd="0" presId="urn:microsoft.com/office/officeart/2005/8/layout/cycle7"/>
    <dgm:cxn modelId="{0BFB481E-46F2-4C21-B8E5-284EDC997241}" type="presOf" srcId="{A070B378-9203-4806-89FC-842579F32A48}" destId="{A4BBDCF9-3714-4276-B777-4986805499CA}" srcOrd="0" destOrd="0" presId="urn:microsoft.com/office/officeart/2005/8/layout/cycle7"/>
    <dgm:cxn modelId="{01FAAC1B-120E-43A6-94C5-349A40F5AD46}" srcId="{D509FA5A-8928-44FA-A4D4-EE3767623CD6}" destId="{3A6C5AC2-19B5-4DDA-AF7C-1A0D19FFF0E9}" srcOrd="2" destOrd="0" parTransId="{DC085D7B-0BF9-4956-9DAA-59B3B20BF3ED}" sibTransId="{82A54C6E-BA91-4EFB-829A-528EADEEB14C}"/>
    <dgm:cxn modelId="{F722F859-EC8D-4FEF-B148-3C44EA24DC3F}" srcId="{D509FA5A-8928-44FA-A4D4-EE3767623CD6}" destId="{9754A5C0-304C-43B8-BEEA-9BA1E393CD85}" srcOrd="0" destOrd="0" parTransId="{FB97D14D-DF57-4804-ACA0-F3400DB0C0C4}" sibTransId="{96FC4171-DFA6-4422-AF25-C9CE6D950B12}"/>
    <dgm:cxn modelId="{44C332F1-2113-42BF-ABEC-ACBCEBE3A048}" type="presOf" srcId="{96FC4171-DFA6-4422-AF25-C9CE6D950B12}" destId="{AA08AA17-613D-4BF0-A289-561F4DC4484A}" srcOrd="1" destOrd="0" presId="urn:microsoft.com/office/officeart/2005/8/layout/cycle7"/>
    <dgm:cxn modelId="{1AACB6DE-667A-4342-BEA9-1B3DA8793C8E}" type="presOf" srcId="{96FC4171-DFA6-4422-AF25-C9CE6D950B12}" destId="{A4C3F0A0-0195-4F44-920E-D31C3604F801}" srcOrd="0" destOrd="0" presId="urn:microsoft.com/office/officeart/2005/8/layout/cycle7"/>
    <dgm:cxn modelId="{7E2521C1-EA78-4B1F-B45B-FD30385FD06A}" srcId="{D509FA5A-8928-44FA-A4D4-EE3767623CD6}" destId="{A070B378-9203-4806-89FC-842579F32A48}" srcOrd="1" destOrd="0" parTransId="{33E490D6-6FB3-4140-B90C-8AE32CF631AE}" sibTransId="{76EC97C8-A7C3-47A7-9A24-81883887B29D}"/>
    <dgm:cxn modelId="{A8DCD414-5392-44AE-B7C2-1AEF140C2A76}" type="presParOf" srcId="{5D311C4A-432A-4D7D-BBD3-F2EA7BA82FE9}" destId="{1A2F8AF6-DDD4-41A8-B8C0-650D7622CF33}" srcOrd="0" destOrd="0" presId="urn:microsoft.com/office/officeart/2005/8/layout/cycle7"/>
    <dgm:cxn modelId="{1F5FC2F0-0BF1-4E4B-AA29-E47C69D718CA}" type="presParOf" srcId="{5D311C4A-432A-4D7D-BBD3-F2EA7BA82FE9}" destId="{A4C3F0A0-0195-4F44-920E-D31C3604F801}" srcOrd="1" destOrd="0" presId="urn:microsoft.com/office/officeart/2005/8/layout/cycle7"/>
    <dgm:cxn modelId="{3A834315-0693-4800-92E4-9062EF2101E8}" type="presParOf" srcId="{A4C3F0A0-0195-4F44-920E-D31C3604F801}" destId="{AA08AA17-613D-4BF0-A289-561F4DC4484A}" srcOrd="0" destOrd="0" presId="urn:microsoft.com/office/officeart/2005/8/layout/cycle7"/>
    <dgm:cxn modelId="{DD39F2AE-76E3-40AF-892E-B7E8F80E4FFA}" type="presParOf" srcId="{5D311C4A-432A-4D7D-BBD3-F2EA7BA82FE9}" destId="{A4BBDCF9-3714-4276-B777-4986805499CA}" srcOrd="2" destOrd="0" presId="urn:microsoft.com/office/officeart/2005/8/layout/cycle7"/>
    <dgm:cxn modelId="{D5409BF4-8ED1-47E7-AC7F-FF15323A25C6}" type="presParOf" srcId="{5D311C4A-432A-4D7D-BBD3-F2EA7BA82FE9}" destId="{946783BD-19D9-415F-958A-A4114F7D43D6}" srcOrd="3" destOrd="0" presId="urn:microsoft.com/office/officeart/2005/8/layout/cycle7"/>
    <dgm:cxn modelId="{BAAAA681-26E1-4F58-A3D0-5682C706A360}" type="presParOf" srcId="{946783BD-19D9-415F-958A-A4114F7D43D6}" destId="{B9918852-876F-4C10-852E-416AA625FD1F}" srcOrd="0" destOrd="0" presId="urn:microsoft.com/office/officeart/2005/8/layout/cycle7"/>
    <dgm:cxn modelId="{95DCA53F-E5CD-4277-8659-A29D8512E785}" type="presParOf" srcId="{5D311C4A-432A-4D7D-BBD3-F2EA7BA82FE9}" destId="{E354E9EF-01DC-4B39-AB53-C2B7A9259458}" srcOrd="4" destOrd="0" presId="urn:microsoft.com/office/officeart/2005/8/layout/cycle7"/>
    <dgm:cxn modelId="{9842BC84-B7DF-4FA4-8AF5-841CECC08040}" type="presParOf" srcId="{5D311C4A-432A-4D7D-BBD3-F2EA7BA82FE9}" destId="{F5BF8060-6437-4F60-A34E-E3562C4067E6}" srcOrd="5" destOrd="0" presId="urn:microsoft.com/office/officeart/2005/8/layout/cycle7"/>
    <dgm:cxn modelId="{004F41AC-CC37-447C-B13D-174BEAA30E45}" type="presParOf" srcId="{F5BF8060-6437-4F60-A34E-E3562C4067E6}" destId="{4C4BE840-A51E-407C-A0A0-FAEAC90F6B55}"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6/20/2018</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6/20/2018</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a:t>
            </a:fld>
            <a:endParaRPr lang="en-US" sz="1200" dirty="0"/>
          </a:p>
        </p:txBody>
      </p:sp>
    </p:spTree>
    <p:extLst>
      <p:ext uri="{BB962C8B-B14F-4D97-AF65-F5344CB8AC3E}">
        <p14:creationId xmlns:p14="http://schemas.microsoft.com/office/powerpoint/2010/main" val="1199486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366" indent="-287833">
              <a:defRPr sz="2400">
                <a:solidFill>
                  <a:schemeClr val="tx1"/>
                </a:solidFill>
                <a:latin typeface="Arial" charset="0"/>
                <a:ea typeface="ヒラギノ角ゴ Pro W3" charset="0"/>
                <a:cs typeface="ヒラギノ角ゴ Pro W3" charset="0"/>
              </a:defRPr>
            </a:lvl2pPr>
            <a:lvl3pPr marL="1151332" indent="-230267">
              <a:defRPr sz="2400">
                <a:solidFill>
                  <a:schemeClr val="tx1"/>
                </a:solidFill>
                <a:latin typeface="Arial" charset="0"/>
                <a:ea typeface="ヒラギノ角ゴ Pro W3" charset="0"/>
                <a:cs typeface="ヒラギノ角ゴ Pro W3" charset="0"/>
              </a:defRPr>
            </a:lvl3pPr>
            <a:lvl4pPr marL="1611865" indent="-230267">
              <a:defRPr sz="2400">
                <a:solidFill>
                  <a:schemeClr val="tx1"/>
                </a:solidFill>
                <a:latin typeface="Arial" charset="0"/>
                <a:ea typeface="ヒラギノ角ゴ Pro W3" charset="0"/>
                <a:cs typeface="ヒラギノ角ゴ Pro W3" charset="0"/>
              </a:defRPr>
            </a:lvl4pPr>
            <a:lvl5pPr marL="2072398" indent="-230267">
              <a:defRPr sz="2400">
                <a:solidFill>
                  <a:schemeClr val="tx1"/>
                </a:solidFill>
                <a:latin typeface="Arial" charset="0"/>
                <a:ea typeface="ヒラギノ角ゴ Pro W3" charset="0"/>
                <a:cs typeface="ヒラギノ角ゴ Pro W3" charset="0"/>
              </a:defRPr>
            </a:lvl5pPr>
            <a:lvl6pPr marL="2532930" indent="-230267"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463" indent="-230267"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3997" indent="-230267"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529" indent="-230267"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3</a:t>
            </a:fld>
            <a:endParaRPr lang="en-US" sz="1200" dirty="0"/>
          </a:p>
        </p:txBody>
      </p:sp>
    </p:spTree>
    <p:extLst>
      <p:ext uri="{BB962C8B-B14F-4D97-AF65-F5344CB8AC3E}">
        <p14:creationId xmlns:p14="http://schemas.microsoft.com/office/powerpoint/2010/main" val="204100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4</a:t>
            </a:fld>
            <a:endParaRPr lang="en-US" sz="1200" dirty="0"/>
          </a:p>
        </p:txBody>
      </p:sp>
    </p:spTree>
    <p:extLst>
      <p:ext uri="{BB962C8B-B14F-4D97-AF65-F5344CB8AC3E}">
        <p14:creationId xmlns:p14="http://schemas.microsoft.com/office/powerpoint/2010/main" val="721030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5</a:t>
            </a:fld>
            <a:endParaRPr lang="en-US" sz="1200" dirty="0"/>
          </a:p>
        </p:txBody>
      </p:sp>
    </p:spTree>
    <p:extLst>
      <p:ext uri="{BB962C8B-B14F-4D97-AF65-F5344CB8AC3E}">
        <p14:creationId xmlns:p14="http://schemas.microsoft.com/office/powerpoint/2010/main" val="1399052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6</a:t>
            </a:fld>
            <a:endParaRPr lang="en-US" sz="1200" dirty="0"/>
          </a:p>
        </p:txBody>
      </p:sp>
    </p:spTree>
    <p:extLst>
      <p:ext uri="{BB962C8B-B14F-4D97-AF65-F5344CB8AC3E}">
        <p14:creationId xmlns:p14="http://schemas.microsoft.com/office/powerpoint/2010/main" val="3874017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7</a:t>
            </a:fld>
            <a:endParaRPr lang="en-US" sz="1200" dirty="0"/>
          </a:p>
        </p:txBody>
      </p:sp>
    </p:spTree>
    <p:extLst>
      <p:ext uri="{BB962C8B-B14F-4D97-AF65-F5344CB8AC3E}">
        <p14:creationId xmlns:p14="http://schemas.microsoft.com/office/powerpoint/2010/main" val="2042854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8</a:t>
            </a:fld>
            <a:endParaRPr lang="en-US" sz="1200" dirty="0"/>
          </a:p>
        </p:txBody>
      </p:sp>
    </p:spTree>
    <p:extLst>
      <p:ext uri="{BB962C8B-B14F-4D97-AF65-F5344CB8AC3E}">
        <p14:creationId xmlns:p14="http://schemas.microsoft.com/office/powerpoint/2010/main" val="1796824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9</a:t>
            </a:fld>
            <a:endParaRPr lang="en-US" sz="1200" dirty="0"/>
          </a:p>
        </p:txBody>
      </p:sp>
    </p:spTree>
    <p:extLst>
      <p:ext uri="{BB962C8B-B14F-4D97-AF65-F5344CB8AC3E}">
        <p14:creationId xmlns:p14="http://schemas.microsoft.com/office/powerpoint/2010/main" val="1277593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10</a:t>
            </a:fld>
            <a:endParaRPr lang="en-US" sz="1200" dirty="0"/>
          </a:p>
        </p:txBody>
      </p:sp>
    </p:spTree>
    <p:extLst>
      <p:ext uri="{BB962C8B-B14F-4D97-AF65-F5344CB8AC3E}">
        <p14:creationId xmlns:p14="http://schemas.microsoft.com/office/powerpoint/2010/main" val="4183342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11</a:t>
            </a:fld>
            <a:endParaRPr lang="en-US" sz="1200" dirty="0"/>
          </a:p>
        </p:txBody>
      </p:sp>
    </p:spTree>
    <p:extLst>
      <p:ext uri="{BB962C8B-B14F-4D97-AF65-F5344CB8AC3E}">
        <p14:creationId xmlns:p14="http://schemas.microsoft.com/office/powerpoint/2010/main" val="170612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12</a:t>
            </a:fld>
            <a:endParaRPr lang="en-US" sz="1200" dirty="0"/>
          </a:p>
        </p:txBody>
      </p:sp>
    </p:spTree>
    <p:extLst>
      <p:ext uri="{BB962C8B-B14F-4D97-AF65-F5344CB8AC3E}">
        <p14:creationId xmlns:p14="http://schemas.microsoft.com/office/powerpoint/2010/main" val="3309376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13</a:t>
            </a:fld>
            <a:endParaRPr lang="en-US" sz="1200" dirty="0"/>
          </a:p>
        </p:txBody>
      </p:sp>
    </p:spTree>
    <p:extLst>
      <p:ext uri="{BB962C8B-B14F-4D97-AF65-F5344CB8AC3E}">
        <p14:creationId xmlns:p14="http://schemas.microsoft.com/office/powerpoint/2010/main" val="1047576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14</a:t>
            </a:fld>
            <a:endParaRPr lang="en-US" sz="1200" dirty="0"/>
          </a:p>
        </p:txBody>
      </p:sp>
    </p:spTree>
    <p:extLst>
      <p:ext uri="{BB962C8B-B14F-4D97-AF65-F5344CB8AC3E}">
        <p14:creationId xmlns:p14="http://schemas.microsoft.com/office/powerpoint/2010/main" val="1395562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15</a:t>
            </a:fld>
            <a:endParaRPr lang="en-US" sz="1200" dirty="0"/>
          </a:p>
        </p:txBody>
      </p:sp>
    </p:spTree>
    <p:extLst>
      <p:ext uri="{BB962C8B-B14F-4D97-AF65-F5344CB8AC3E}">
        <p14:creationId xmlns:p14="http://schemas.microsoft.com/office/powerpoint/2010/main" val="42067423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289E18CF-C690-4C5C-8392-CD967FC1C437}" type="datetime1">
              <a:rPr lang="en-US" smtClean="0"/>
              <a:t>6/20/2018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ctrTitle"/>
          </p:nvPr>
        </p:nvSpPr>
        <p:spPr/>
        <p:txBody>
          <a:bodyPr/>
          <a:lstStyle/>
          <a:p>
            <a:r>
              <a:rPr lang="en-US" dirty="0"/>
              <a:t>Quality Management at the Engagement Level</a:t>
            </a:r>
            <a:br>
              <a:rPr lang="en-US" dirty="0"/>
            </a:br>
            <a:r>
              <a:rPr lang="en-US" dirty="0"/>
              <a:t>Proposed Draft ISA 220 (Revised)</a:t>
            </a:r>
          </a:p>
        </p:txBody>
      </p:sp>
      <p:sp>
        <p:nvSpPr>
          <p:cNvPr id="13" name="Subtitle 12"/>
          <p:cNvSpPr>
            <a:spLocks noGrp="1"/>
          </p:cNvSpPr>
          <p:nvPr>
            <p:ph type="subTitle" idx="1"/>
          </p:nvPr>
        </p:nvSpPr>
        <p:spPr/>
        <p:txBody>
          <a:bodyPr/>
          <a:lstStyle/>
          <a:p>
            <a:r>
              <a:rPr lang="en-US" dirty="0"/>
              <a:t>Megan Zietsman, Task Force Chair </a:t>
            </a:r>
          </a:p>
          <a:p>
            <a:r>
              <a:rPr lang="en-US" dirty="0"/>
              <a:t>IAASB Meeting, New York, USA</a:t>
            </a:r>
          </a:p>
          <a:p>
            <a:r>
              <a:rPr lang="en-US" dirty="0"/>
              <a:t>Agenda Item 6</a:t>
            </a:r>
          </a:p>
          <a:p>
            <a:r>
              <a:rPr lang="en-US" dirty="0"/>
              <a:t>June 20, 2018</a:t>
            </a:r>
          </a:p>
        </p:txBody>
      </p:sp>
    </p:spTree>
    <p:extLst>
      <p:ext uri="{BB962C8B-B14F-4D97-AF65-F5344CB8AC3E}">
        <p14:creationId xmlns:p14="http://schemas.microsoft.com/office/powerpoint/2010/main" val="1258625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a:t>Proposed Revisions to ISA 220 – Addressing Key Matters of Public Interest</a:t>
            </a:r>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921488"/>
            <a:ext cx="8229600" cy="3886888"/>
          </a:xfrm>
        </p:spPr>
        <p:txBody>
          <a:bodyPr/>
          <a:lstStyle/>
          <a:p>
            <a:pPr marL="347472" indent="-347472"/>
            <a:r>
              <a:rPr lang="en-US" sz="1800" dirty="0">
                <a:solidFill>
                  <a:schemeClr val="tx1">
                    <a:lumMod val="65000"/>
                    <a:lumOff val="35000"/>
                  </a:schemeClr>
                </a:solidFill>
              </a:rPr>
              <a:t>Addressing and encouraging appropriate exercise of professional skepticism</a:t>
            </a:r>
          </a:p>
          <a:p>
            <a:pPr marL="347472" indent="-347472"/>
            <a:r>
              <a:rPr lang="en-US" sz="1800" dirty="0">
                <a:solidFill>
                  <a:schemeClr val="tx1">
                    <a:lumMod val="65000"/>
                    <a:lumOff val="35000"/>
                  </a:schemeClr>
                </a:solidFill>
              </a:rPr>
              <a:t>Clarifying the engagement partner’s (EP’s) role and responsibilities</a:t>
            </a:r>
          </a:p>
          <a:p>
            <a:pPr marL="347472" indent="-347472"/>
            <a:r>
              <a:rPr lang="en-US" sz="1800" dirty="0">
                <a:solidFill>
                  <a:schemeClr val="tx1">
                    <a:lumMod val="65000"/>
                    <a:lumOff val="35000"/>
                  </a:schemeClr>
                </a:solidFill>
              </a:rPr>
              <a:t>Reliance on firm or network firm quality management processes and procedures</a:t>
            </a:r>
          </a:p>
          <a:p>
            <a:pPr marL="347472" indent="-347472"/>
            <a:r>
              <a:rPr lang="en-US" sz="1800" dirty="0">
                <a:solidFill>
                  <a:schemeClr val="tx1">
                    <a:lumMod val="65000"/>
                    <a:lumOff val="35000"/>
                  </a:schemeClr>
                </a:solidFill>
              </a:rPr>
              <a:t>Addressing audit delivery models</a:t>
            </a:r>
          </a:p>
          <a:p>
            <a:pPr marL="347472" lvl="0" indent="-347472"/>
            <a:r>
              <a:rPr lang="en-US" sz="1800" dirty="0">
                <a:solidFill>
                  <a:schemeClr val="tx1">
                    <a:lumMod val="65000"/>
                    <a:lumOff val="35000"/>
                  </a:schemeClr>
                </a:solidFill>
              </a:rPr>
              <a:t>Other matters:</a:t>
            </a:r>
          </a:p>
          <a:p>
            <a:pPr marL="694944" lvl="1" indent="-347472"/>
            <a:r>
              <a:rPr lang="en-US" sz="1650" dirty="0">
                <a:solidFill>
                  <a:schemeClr val="tx1">
                    <a:lumMod val="65000"/>
                    <a:lumOff val="35000"/>
                  </a:schemeClr>
                </a:solidFill>
              </a:rPr>
              <a:t>Required understanding for accepting or continuing an engagement (e.g., access issues); </a:t>
            </a:r>
          </a:p>
          <a:p>
            <a:pPr marL="694944" lvl="1" indent="-347472"/>
            <a:r>
              <a:rPr lang="en-US" sz="1650" dirty="0">
                <a:solidFill>
                  <a:schemeClr val="tx1">
                    <a:lumMod val="65000"/>
                    <a:lumOff val="35000"/>
                  </a:schemeClr>
                </a:solidFill>
              </a:rPr>
              <a:t>Interaction of firm quality management with managing quality at the engagement level; and </a:t>
            </a:r>
          </a:p>
          <a:p>
            <a:pPr marL="694944" lvl="1" indent="-347472"/>
            <a:r>
              <a:rPr lang="en-US" sz="1650" dirty="0">
                <a:solidFill>
                  <a:schemeClr val="tx1">
                    <a:lumMod val="65000"/>
                    <a:lumOff val="35000"/>
                  </a:schemeClr>
                </a:solidFill>
              </a:rPr>
              <a:t>Ongoing two-way communication.</a:t>
            </a:r>
          </a:p>
        </p:txBody>
      </p:sp>
    </p:spTree>
    <p:extLst>
      <p:ext uri="{BB962C8B-B14F-4D97-AF65-F5344CB8AC3E}">
        <p14:creationId xmlns:p14="http://schemas.microsoft.com/office/powerpoint/2010/main" val="2795862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5563" y="427437"/>
            <a:ext cx="8774533" cy="403875"/>
          </a:xfrm>
        </p:spPr>
        <p:txBody>
          <a:bodyPr/>
          <a:lstStyle/>
          <a:p>
            <a:r>
              <a:rPr lang="en-US" dirty="0"/>
              <a:t>Proposed Revisions to ISA 220 – EP’s Responsibility for Quality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066589919"/>
              </p:ext>
            </p:extLst>
          </p:nvPr>
        </p:nvGraphicFramePr>
        <p:xfrm>
          <a:off x="395288" y="982663"/>
          <a:ext cx="8404225" cy="37830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Donut 8"/>
          <p:cNvSpPr/>
          <p:nvPr/>
        </p:nvSpPr>
        <p:spPr>
          <a:xfrm>
            <a:off x="155275" y="831312"/>
            <a:ext cx="8824823" cy="3999480"/>
          </a:xfrm>
          <a:prstGeom prst="donut">
            <a:avLst>
              <a:gd name="adj" fmla="val 7524"/>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schemeClr val="tx1"/>
              </a:solidFill>
            </a:endParaRPr>
          </a:p>
        </p:txBody>
      </p:sp>
      <p:sp>
        <p:nvSpPr>
          <p:cNvPr id="12" name="Rectangle 11"/>
          <p:cNvSpPr/>
          <p:nvPr/>
        </p:nvSpPr>
        <p:spPr>
          <a:xfrm>
            <a:off x="155274" y="982663"/>
            <a:ext cx="8824823" cy="4312188"/>
          </a:xfrm>
          <a:prstGeom prst="rect">
            <a:avLst/>
          </a:prstGeom>
          <a:noFill/>
        </p:spPr>
        <p:txBody>
          <a:bodyPr wrap="square" lIns="91440" tIns="45720" rIns="91440" bIns="45720">
            <a:prstTxWarp prst="textArchUp">
              <a:avLst/>
            </a:prstTxWarp>
            <a:spAutoFit/>
          </a:bodyPr>
          <a:lstStyle/>
          <a:p>
            <a:pPr algn="ctr"/>
            <a:r>
              <a:rPr lang="en-US" sz="2300" b="0" cap="none" spc="0" dirty="0">
                <a:ln w="0"/>
                <a:solidFill>
                  <a:schemeClr val="tx1"/>
                </a:solidFill>
                <a:effectLst>
                  <a:outerShdw blurRad="38100" dist="19050" dir="2700000" algn="tl" rotWithShape="0">
                    <a:schemeClr val="dk1">
                      <a:alpha val="40000"/>
                    </a:schemeClr>
                  </a:outerShdw>
                </a:effectLst>
              </a:rPr>
              <a:t>Sufficient and appropriate involvement throughout the engagement </a:t>
            </a:r>
          </a:p>
        </p:txBody>
      </p:sp>
      <p:sp>
        <p:nvSpPr>
          <p:cNvPr id="7" name="Slide Number Placeholder 5"/>
          <p:cNvSpPr>
            <a:spLocks noGrp="1"/>
          </p:cNvSpPr>
          <p:nvPr>
            <p:ph type="sldNum" sz="quarter" idx="12"/>
          </p:nvPr>
        </p:nvSpPr>
        <p:spPr>
          <a:xfrm>
            <a:off x="5928852" y="4883295"/>
            <a:ext cx="2757948" cy="228309"/>
          </a:xfrm>
        </p:spPr>
        <p:txBody>
          <a:bodyPr/>
          <a:lstStyle/>
          <a:p>
            <a:r>
              <a:rPr lang="en-US" dirty="0">
                <a:latin typeface="Arial" panose="020B0604020202020204" pitchFamily="34" charset="0"/>
                <a:cs typeface="MS PGothic" charset="0"/>
              </a:rPr>
              <a:t>Page 3</a:t>
            </a:r>
          </a:p>
        </p:txBody>
      </p:sp>
    </p:spTree>
    <p:extLst>
      <p:ext uri="{BB962C8B-B14F-4D97-AF65-F5344CB8AC3E}">
        <p14:creationId xmlns:p14="http://schemas.microsoft.com/office/powerpoint/2010/main" val="3453985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a:t>Proposed Revisions to ISA 220 – Scalability </a:t>
            </a:r>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921488"/>
            <a:ext cx="8229600" cy="3886888"/>
          </a:xfrm>
        </p:spPr>
        <p:txBody>
          <a:bodyPr/>
          <a:lstStyle/>
          <a:p>
            <a:pPr marL="347472" indent="-347472"/>
            <a:r>
              <a:rPr lang="en-US" sz="1800" dirty="0">
                <a:solidFill>
                  <a:schemeClr val="tx1">
                    <a:lumMod val="65000"/>
                    <a:lumOff val="35000"/>
                  </a:schemeClr>
                </a:solidFill>
              </a:rPr>
              <a:t>Revisions to requirements proposed that emphasize a “tailored approach” to quality management at the engagement level that is responsive to the nature and circumstances of the audit engagement (Engagement Resources, Direction, Supervision and Review, and Taking Overall Responsibility for Achieving Quality) </a:t>
            </a:r>
          </a:p>
          <a:p>
            <a:pPr marL="347472" indent="-347472"/>
            <a:r>
              <a:rPr lang="en-US" sz="1800" dirty="0">
                <a:solidFill>
                  <a:schemeClr val="tx1">
                    <a:lumMod val="65000"/>
                    <a:lumOff val="35000"/>
                  </a:schemeClr>
                </a:solidFill>
              </a:rPr>
              <a:t>Application material proposed that recognizes considerations specific to smaller practitioners in relation to:</a:t>
            </a:r>
          </a:p>
          <a:p>
            <a:pPr marL="694944" lvl="1" indent="-347472"/>
            <a:r>
              <a:rPr lang="en-US" sz="1650" dirty="0">
                <a:solidFill>
                  <a:schemeClr val="tx1">
                    <a:lumMod val="65000"/>
                    <a:lumOff val="35000"/>
                  </a:schemeClr>
                </a:solidFill>
              </a:rPr>
              <a:t>How the firm’s responses to quality risks, including policies or procedures, may be less formal in a smaller firm, and consequently, the risks this may pose; and</a:t>
            </a:r>
          </a:p>
          <a:p>
            <a:pPr marL="694944" lvl="1" indent="-347472"/>
            <a:r>
              <a:rPr lang="en-US" sz="1650" dirty="0">
                <a:solidFill>
                  <a:schemeClr val="tx1">
                    <a:lumMod val="65000"/>
                    <a:lumOff val="35000"/>
                  </a:schemeClr>
                </a:solidFill>
              </a:rPr>
              <a:t>Some sections of the ISA may not be relevant if the audit is carried out entirely by the EP</a:t>
            </a:r>
          </a:p>
        </p:txBody>
      </p:sp>
    </p:spTree>
    <p:extLst>
      <p:ext uri="{BB962C8B-B14F-4D97-AF65-F5344CB8AC3E}">
        <p14:creationId xmlns:p14="http://schemas.microsoft.com/office/powerpoint/2010/main" val="1558400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Proposed ISA 220 (Revised)—Introduction and Objective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15277807"/>
              </p:ext>
            </p:extLst>
          </p:nvPr>
        </p:nvGraphicFramePr>
        <p:xfrm>
          <a:off x="403225" y="2358672"/>
          <a:ext cx="8229600" cy="2326742"/>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326742">
                <a:tc>
                  <a:txBody>
                    <a:bodyPr/>
                    <a:lstStyle/>
                    <a:p>
                      <a:pPr marL="0" algn="l" defTabSz="342900" rtl="0" eaLnBrk="1" latinLnBrk="0" hangingPunct="1"/>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a:t>
                      </a:r>
                      <a:r>
                        <a:rPr lang="en-US" sz="1600" u="sng" kern="1200" baseline="0" dirty="0">
                          <a:solidFill>
                            <a:schemeClr val="tx1">
                              <a:lumMod val="65000"/>
                              <a:lumOff val="35000"/>
                            </a:schemeClr>
                          </a:solidFill>
                          <a:latin typeface="Arial" panose="020B0604020202020204" pitchFamily="34" charset="0"/>
                          <a:ea typeface="+mn-ea"/>
                          <a:cs typeface="Arial" panose="020B0604020202020204" pitchFamily="34" charset="0"/>
                        </a:rPr>
                        <a:t>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Revised intro paras</a:t>
                      </a:r>
                      <a:r>
                        <a:rPr lang="en-US" sz="16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 highlighted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the importance of applying professional judgment and professional skepticism in achieving quality at the engagement level.</a:t>
                      </a:r>
                    </a:p>
                    <a:p>
                      <a:pPr>
                        <a:spcBef>
                          <a:spcPts val="60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Matters for IAASB Consideration </a:t>
                      </a:r>
                    </a:p>
                    <a:p>
                      <a:pPr marL="342900" indent="-342900">
                        <a:spcBef>
                          <a:spcPts val="600"/>
                        </a:spcBef>
                        <a:buFont typeface="+mj-lt"/>
                        <a:buAutoNum type="arabicParenR"/>
                      </a:pPr>
                      <a:r>
                        <a:rPr lang="en-US" sz="1600" dirty="0">
                          <a:solidFill>
                            <a:schemeClr val="tx1">
                              <a:lumMod val="65000"/>
                              <a:lumOff val="35000"/>
                            </a:schemeClr>
                          </a:solidFill>
                          <a:latin typeface="Arial" panose="020B0604020202020204" pitchFamily="34" charset="0"/>
                          <a:cs typeface="Arial" panose="020B0604020202020204" pitchFamily="34" charset="0"/>
                        </a:rPr>
                        <a:t>The IAASB is asked to share its views on whether the revised introductory paragraphs 1−4B have been clarified based on Board feedback? </a:t>
                      </a:r>
                    </a:p>
                    <a:p>
                      <a:pPr marL="342900" indent="-342900" algn="l" defTabSz="342900" rtl="0" eaLnBrk="1" latinLnBrk="0" hangingPunct="1">
                        <a:spcBef>
                          <a:spcPts val="600"/>
                        </a:spcBef>
                        <a:buFont typeface="+mj-lt"/>
                        <a:buAutoNum type="arabicParenR"/>
                      </a:pPr>
                      <a:r>
                        <a:rPr lang="en-US" sz="1600" kern="1200" dirty="0">
                          <a:solidFill>
                            <a:schemeClr val="tx1">
                              <a:lumMod val="65000"/>
                              <a:lumOff val="35000"/>
                            </a:schemeClr>
                          </a:solidFill>
                          <a:latin typeface="Arial" panose="020B0604020202020204" pitchFamily="34" charset="0"/>
                          <a:ea typeface="+mn-ea"/>
                          <a:cs typeface="Arial" panose="020B0604020202020204" pitchFamily="34" charset="0"/>
                        </a:rPr>
                        <a:t>The IAASB is asked to share its views on the objective (see paragraph 6 of Agenda Item 6–A).</a:t>
                      </a: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graphicFrame>
        <p:nvGraphicFramePr>
          <p:cNvPr id="8" name="Content Placeholder 3"/>
          <p:cNvGraphicFramePr>
            <a:graphicFrameLocks/>
          </p:cNvGraphicFramePr>
          <p:nvPr>
            <p:extLst>
              <p:ext uri="{D42A27DB-BD31-4B8C-83A1-F6EECF244321}">
                <p14:modId xmlns:p14="http://schemas.microsoft.com/office/powerpoint/2010/main" val="2943897736"/>
              </p:ext>
            </p:extLst>
          </p:nvPr>
        </p:nvGraphicFramePr>
        <p:xfrm>
          <a:off x="1053148" y="980085"/>
          <a:ext cx="6929754" cy="1229814"/>
        </p:xfrm>
        <a:graphic>
          <a:graphicData uri="http://schemas.openxmlformats.org/drawingml/2006/table">
            <a:tbl>
              <a:tblPr firstRow="1" bandRow="1">
                <a:tableStyleId>{F5AB1C69-6EDB-4FF4-983F-18BD219EF322}</a:tableStyleId>
              </a:tblPr>
              <a:tblGrid>
                <a:gridCol w="3559174">
                  <a:extLst>
                    <a:ext uri="{9D8B030D-6E8A-4147-A177-3AD203B41FA5}">
                      <a16:colId xmlns="" xmlns:a16="http://schemas.microsoft.com/office/drawing/2014/main" val="20000"/>
                    </a:ext>
                  </a:extLst>
                </a:gridCol>
                <a:gridCol w="1524000">
                  <a:extLst>
                    <a:ext uri="{9D8B030D-6E8A-4147-A177-3AD203B41FA5}">
                      <a16:colId xmlns="" xmlns:a16="http://schemas.microsoft.com/office/drawing/2014/main" val="20001"/>
                    </a:ext>
                  </a:extLst>
                </a:gridCol>
                <a:gridCol w="1846580">
                  <a:extLst>
                    <a:ext uri="{9D8B030D-6E8A-4147-A177-3AD203B41FA5}">
                      <a16:colId xmlns="" xmlns:a16="http://schemas.microsoft.com/office/drawing/2014/main" val="20002"/>
                    </a:ext>
                  </a:extLst>
                </a:gridCol>
              </a:tblGrid>
              <a:tr h="587390">
                <a:tc>
                  <a:txBody>
                    <a:bodyPr/>
                    <a:lstStyle/>
                    <a:p>
                      <a:pPr algn="ctr"/>
                      <a:r>
                        <a:rPr lang="en-US" sz="1800" dirty="0"/>
                        <a:t>Section</a:t>
                      </a:r>
                    </a:p>
                  </a:txBody>
                  <a:tcPr marL="44167" marR="44167" marT="22089" marB="22089"/>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a:t>Paragraph(s) </a:t>
                      </a:r>
                    </a:p>
                  </a:txBody>
                  <a:tcPr marL="44167" marR="44167" marT="22089" marB="22089"/>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a:t>Application Material</a:t>
                      </a:r>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Introduction</a:t>
                      </a:r>
                    </a:p>
                  </a:txBody>
                  <a:tcPr marL="44167" marR="44167" marT="22089" marB="22089"/>
                </a:tc>
                <a:tc>
                  <a:txBody>
                    <a:bodyPr/>
                    <a:lstStyle/>
                    <a:p>
                      <a:pPr algn="ctr"/>
                      <a:r>
                        <a:rPr lang="en-US" sz="1800" dirty="0"/>
                        <a:t>  1–4B </a:t>
                      </a:r>
                    </a:p>
                  </a:txBody>
                  <a:tcPr marL="44167" marR="44167" marT="22089" marB="22089"/>
                </a:tc>
                <a:tc>
                  <a:txBody>
                    <a:bodyPr/>
                    <a:lstStyle/>
                    <a:p>
                      <a:pPr marL="0" algn="ctr" defTabSz="342900" rtl="0" eaLnBrk="1" latinLnBrk="0" hangingPunct="1"/>
                      <a:r>
                        <a:rPr lang="en-US" sz="1800" kern="1200" dirty="0"/>
                        <a:t>A0–A2F </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Objective</a:t>
                      </a:r>
                    </a:p>
                  </a:txBody>
                  <a:tcPr marL="44167" marR="44167" marT="22089" marB="22089"/>
                </a:tc>
                <a:tc>
                  <a:txBody>
                    <a:bodyPr/>
                    <a:lstStyle/>
                    <a:p>
                      <a:pPr algn="ctr"/>
                      <a:r>
                        <a:rPr lang="en-US" sz="1800" dirty="0"/>
                        <a:t>  6</a:t>
                      </a:r>
                    </a:p>
                  </a:txBody>
                  <a:tcPr marL="44167" marR="44167" marT="22089" marB="22089"/>
                </a:tc>
                <a:tc>
                  <a:txBody>
                    <a:bodyPr/>
                    <a:lstStyle/>
                    <a:p>
                      <a:pPr algn="ctr"/>
                      <a:r>
                        <a:rPr lang="en-US" sz="1800" kern="1200" dirty="0"/>
                        <a:t>None</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384968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283575" cy="403875"/>
          </a:xfrm>
        </p:spPr>
        <p:txBody>
          <a:bodyPr/>
          <a:lstStyle/>
          <a:p>
            <a:r>
              <a:rPr lang="en-US" dirty="0"/>
              <a:t>Proposed ISA 220 (Revised)—Definitions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08897748"/>
              </p:ext>
            </p:extLst>
          </p:nvPr>
        </p:nvGraphicFramePr>
        <p:xfrm>
          <a:off x="430212" y="1981750"/>
          <a:ext cx="8229600" cy="2847340"/>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pPr>
                        <a:spcBef>
                          <a:spcPts val="450"/>
                        </a:spcBef>
                      </a:pPr>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a:t>
                      </a:r>
                      <a:r>
                        <a:rPr lang="en-US" sz="1600" u="sng" kern="1200" baseline="0" dirty="0">
                          <a:solidFill>
                            <a:schemeClr val="tx1">
                              <a:lumMod val="65000"/>
                              <a:lumOff val="35000"/>
                            </a:schemeClr>
                          </a:solidFill>
                          <a:latin typeface="Arial" panose="020B0604020202020204" pitchFamily="34" charset="0"/>
                          <a:ea typeface="+mn-ea"/>
                          <a:cs typeface="Arial" panose="020B0604020202020204" pitchFamily="34" charset="0"/>
                        </a:rPr>
                        <a:t>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Proposed</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revisions to the definitions of EP and engagement team.</a:t>
                      </a:r>
                      <a:endParaRPr lang="en-US" sz="1600" u="sng" dirty="0">
                        <a:solidFill>
                          <a:schemeClr val="tx1">
                            <a:lumMod val="65000"/>
                            <a:lumOff val="35000"/>
                          </a:schemeClr>
                        </a:solidFill>
                        <a:latin typeface="Arial" panose="020B0604020202020204" pitchFamily="34" charset="0"/>
                        <a:cs typeface="Arial" panose="020B0604020202020204" pitchFamily="34" charset="0"/>
                      </a:endParaRP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Matters for IAASB Consideration </a:t>
                      </a:r>
                    </a:p>
                    <a:p>
                      <a:pPr marL="342900" indent="-342900">
                        <a:spcBef>
                          <a:spcPts val="450"/>
                        </a:spcBef>
                        <a:buFont typeface="+mj-lt"/>
                        <a:buAutoNum type="arabicParenR" startAt="3"/>
                      </a:pPr>
                      <a:r>
                        <a:rPr lang="en-US" sz="1600" dirty="0">
                          <a:solidFill>
                            <a:schemeClr val="tx1">
                              <a:lumMod val="65000"/>
                              <a:lumOff val="35000"/>
                            </a:schemeClr>
                          </a:solidFill>
                          <a:latin typeface="Arial" panose="020B0604020202020204" pitchFamily="34" charset="0"/>
                          <a:cs typeface="Arial" panose="020B0604020202020204" pitchFamily="34" charset="0"/>
                        </a:rPr>
                        <a:t>The IAASB is asked: </a:t>
                      </a:r>
                    </a:p>
                    <a:p>
                      <a:pPr marL="742950" lvl="1" indent="-346075">
                        <a:spcBef>
                          <a:spcPts val="450"/>
                        </a:spcBef>
                        <a:buFont typeface="+mj-lt"/>
                        <a:buAutoNum type="romanLcPeriod"/>
                      </a:pPr>
                      <a:r>
                        <a:rPr lang="en-US" sz="1600" dirty="0">
                          <a:solidFill>
                            <a:schemeClr val="tx1">
                              <a:lumMod val="65000"/>
                              <a:lumOff val="35000"/>
                            </a:schemeClr>
                          </a:solidFill>
                          <a:latin typeface="Arial" panose="020B0604020202020204" pitchFamily="34" charset="0"/>
                          <a:cs typeface="Arial" panose="020B0604020202020204" pitchFamily="34" charset="0"/>
                        </a:rPr>
                        <a:t>Whether it agrees with the recommendations of the Task Force in connection with the definition of EP and engagement team in paragraphs 7(a) and 7(d) in Agenda Item 6–A, respectively, and the related application material at A2G–A2J; and </a:t>
                      </a:r>
                    </a:p>
                    <a:p>
                      <a:pPr marL="742950" lvl="1" indent="-346075">
                        <a:spcBef>
                          <a:spcPts val="450"/>
                        </a:spcBef>
                        <a:buFont typeface="+mj-lt"/>
                        <a:buAutoNum type="romanLcPeriod"/>
                      </a:pPr>
                      <a:r>
                        <a:rPr lang="en-US" sz="1600" dirty="0">
                          <a:solidFill>
                            <a:schemeClr val="tx1">
                              <a:lumMod val="65000"/>
                              <a:lumOff val="35000"/>
                            </a:schemeClr>
                          </a:solidFill>
                          <a:latin typeface="Arial" panose="020B0604020202020204" pitchFamily="34" charset="0"/>
                          <a:cs typeface="Arial" panose="020B0604020202020204" pitchFamily="34" charset="0"/>
                        </a:rPr>
                        <a:t>Whether there are any unintended consequences that should be considered. </a:t>
                      </a:r>
                    </a:p>
                    <a:p>
                      <a:pPr marL="400050" lvl="0" indent="-400050">
                        <a:spcBef>
                          <a:spcPts val="450"/>
                        </a:spcBef>
                        <a:buFont typeface="+mj-lt"/>
                        <a:buAutoNum type="arabicParenR" startAt="3"/>
                      </a:pPr>
                      <a:r>
                        <a:rPr lang="en-US" sz="1600" dirty="0">
                          <a:solidFill>
                            <a:schemeClr val="tx1">
                              <a:lumMod val="65000"/>
                              <a:lumOff val="35000"/>
                            </a:schemeClr>
                          </a:solidFill>
                          <a:latin typeface="Arial" panose="020B0604020202020204" pitchFamily="34" charset="0"/>
                          <a:cs typeface="Arial" panose="020B0604020202020204" pitchFamily="34" charset="0"/>
                        </a:rPr>
                        <a:t>Whether there are views about the other definitions and related application material.</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2740735296"/>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t>7</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A2G–A2L</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858311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619" y="427437"/>
            <a:ext cx="9094381" cy="403875"/>
          </a:xfrm>
        </p:spPr>
        <p:txBody>
          <a:bodyPr/>
          <a:lstStyle/>
          <a:p>
            <a:r>
              <a:rPr lang="en-US" dirty="0"/>
              <a:t>Proposed ISA 220 (Revised)—Leadership Responsibilities for Achieving Quality on Audits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9783120"/>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pPr>
                        <a:spcBef>
                          <a:spcPts val="450"/>
                        </a:spcBef>
                      </a:pPr>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a:t>
                      </a:r>
                      <a:r>
                        <a:rPr lang="en-US" sz="1600" u="sng" kern="1200" baseline="0" dirty="0">
                          <a:solidFill>
                            <a:schemeClr val="tx1">
                              <a:lumMod val="65000"/>
                              <a:lumOff val="35000"/>
                            </a:schemeClr>
                          </a:solidFill>
                          <a:latin typeface="Arial" panose="020B0604020202020204" pitchFamily="34" charset="0"/>
                          <a:ea typeface="+mn-ea"/>
                          <a:cs typeface="Arial" panose="020B0604020202020204" pitchFamily="34" charset="0"/>
                        </a:rPr>
                        <a:t>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Elevation of 8A and 8B.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Emphasize the EP’s responsibility for creating an environment that emphasizes the firm’s cultural values and behaviors, and for management</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of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quality</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a:t>
                      </a:r>
                      <a:r>
                        <a:rPr lang="en-US" sz="1600" b="1" u="sng" kern="1200" baseline="0" dirty="0">
                          <a:solidFill>
                            <a:schemeClr val="tx1">
                              <a:lumMod val="65000"/>
                              <a:lumOff val="35000"/>
                            </a:schemeClr>
                          </a:solidFill>
                          <a:latin typeface="Arial" panose="020B0604020202020204" pitchFamily="34" charset="0"/>
                          <a:ea typeface="+mn-ea"/>
                          <a:cs typeface="Arial" panose="020B0604020202020204" pitchFamily="34" charset="0"/>
                        </a:rPr>
                        <a:t>and</a:t>
                      </a:r>
                      <a:r>
                        <a:rPr lang="en-US" sz="1600" b="1"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acknowledge the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EP’s sufficient and appropriate involvement</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in the audit engagement is the</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basis for the EP determining the appropriateness of the judgments and conclusions.</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AM to focus on impediments to professional skepticism.</a:t>
                      </a:r>
                      <a:endPar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endParaRP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5"/>
                      </a:pPr>
                      <a:r>
                        <a:rPr lang="en-US" sz="1600" dirty="0">
                          <a:solidFill>
                            <a:schemeClr val="tx1">
                              <a:lumMod val="65000"/>
                              <a:lumOff val="35000"/>
                            </a:schemeClr>
                          </a:solidFill>
                          <a:latin typeface="Arial" panose="020B0604020202020204" pitchFamily="34" charset="0"/>
                          <a:cs typeface="Arial" panose="020B0604020202020204" pitchFamily="34" charset="0"/>
                        </a:rPr>
                        <a:t>What are the IAASB views on paragraphs 8–8B and the related application material at A3A–A3J in Agenda Item 6–A?</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1865941077"/>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solidFill>
                            <a:schemeClr val="dk1"/>
                          </a:solidFill>
                          <a:latin typeface="+mn-lt"/>
                          <a:ea typeface="+mn-ea"/>
                          <a:cs typeface="+mn-cs"/>
                        </a:rPr>
                        <a:t>8</a:t>
                      </a:r>
                      <a:r>
                        <a:rPr lang="en-US" sz="1800" kern="1200" dirty="0"/>
                        <a:t>–8B</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A3A–A3J</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753036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8856" y="427437"/>
            <a:ext cx="8995144" cy="403875"/>
          </a:xfrm>
        </p:spPr>
        <p:txBody>
          <a:bodyPr/>
          <a:lstStyle/>
          <a:p>
            <a:r>
              <a:rPr lang="en-US" dirty="0"/>
              <a:t>Proposed ISA 220 (Revised)—Relevant Ethical Requirements, Including Independence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41675382"/>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pPr>
                        <a:spcBef>
                          <a:spcPts val="450"/>
                        </a:spcBef>
                      </a:pPr>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a:t>
                      </a:r>
                      <a:r>
                        <a:rPr lang="en-US" sz="1600" u="sng" kern="1200" baseline="0" dirty="0">
                          <a:solidFill>
                            <a:schemeClr val="tx1">
                              <a:lumMod val="65000"/>
                              <a:lumOff val="35000"/>
                            </a:schemeClr>
                          </a:solidFill>
                          <a:latin typeface="Arial" panose="020B0604020202020204" pitchFamily="34" charset="0"/>
                          <a:ea typeface="+mn-ea"/>
                          <a:cs typeface="Arial" panose="020B0604020202020204" pitchFamily="34" charset="0"/>
                        </a:rPr>
                        <a:t>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Focus on requiring EP to understand relevant ethical requirements and firm’s related policies and procedures and focus on being satisfied they have been addressed prior to dating the auditor’s report</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Alignment with ISQC 1. </a:t>
                      </a: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6"/>
                      </a:pPr>
                      <a:r>
                        <a:rPr lang="en-US" sz="1600" dirty="0">
                          <a:solidFill>
                            <a:schemeClr val="tx1">
                              <a:lumMod val="65000"/>
                              <a:lumOff val="35000"/>
                            </a:schemeClr>
                          </a:solidFill>
                          <a:latin typeface="Arial" panose="020B0604020202020204" pitchFamily="34" charset="0"/>
                          <a:cs typeface="Arial" panose="020B0604020202020204" pitchFamily="34" charset="0"/>
                        </a:rPr>
                        <a:t>The IAASB is asked for its views on paragraphs 9–10A and A4–A7 of Agenda Item 6–A?</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3802126206"/>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solidFill>
                            <a:schemeClr val="dk1"/>
                          </a:solidFill>
                          <a:latin typeface="+mn-lt"/>
                          <a:ea typeface="+mn-ea"/>
                          <a:cs typeface="+mn-cs"/>
                        </a:rPr>
                        <a:t>9</a:t>
                      </a:r>
                      <a:r>
                        <a:rPr lang="en-US" sz="1800" kern="1200" dirty="0"/>
                        <a:t>–10A</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A4–A7</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587682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5944" y="427437"/>
            <a:ext cx="8988056" cy="403875"/>
          </a:xfrm>
        </p:spPr>
        <p:txBody>
          <a:bodyPr/>
          <a:lstStyle/>
          <a:p>
            <a:r>
              <a:rPr lang="en-US" sz="1450" dirty="0"/>
              <a:t>Proposed ISA 220 (Revised)—Acceptance and Continuance of Client Relationships and Audit Engagements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23937600"/>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Included additional application material that describes how information obtained by the firm through its acceptance and continuance procedures may be relevant in planning and performing the audit engagement.</a:t>
                      </a: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7"/>
                      </a:pPr>
                      <a:r>
                        <a:rPr lang="en-US" sz="1600" dirty="0">
                          <a:solidFill>
                            <a:schemeClr val="tx1">
                              <a:lumMod val="65000"/>
                              <a:lumOff val="35000"/>
                            </a:schemeClr>
                          </a:solidFill>
                          <a:latin typeface="Arial" panose="020B0604020202020204" pitchFamily="34" charset="0"/>
                          <a:cs typeface="Arial" panose="020B0604020202020204" pitchFamily="34" charset="0"/>
                        </a:rPr>
                        <a:t>What are the IAASB views on paragraphs 12–13A and the related application material at A7A– A9 in Agenda Item 6–A?</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725968420"/>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t>12–13A</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A7A–A9</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3596640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a:t>Proposed ISA 220 (Revised)—Engagement Resources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19217032"/>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Requiring the EP to take appropriate action when insufficient or inappropriate resources are provided by the firm</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and within the application material, describing what appropriate actions the EP would take in these circumstances. Focus on project management. Ongoing coordination with DAWG.</a:t>
                      </a: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8"/>
                      </a:pPr>
                      <a:r>
                        <a:rPr lang="en-US" sz="1600" dirty="0">
                          <a:solidFill>
                            <a:schemeClr val="tx1">
                              <a:lumMod val="65000"/>
                              <a:lumOff val="35000"/>
                            </a:schemeClr>
                          </a:solidFill>
                          <a:latin typeface="Arial" panose="020B0604020202020204" pitchFamily="34" charset="0"/>
                          <a:cs typeface="Arial" panose="020B0604020202020204" pitchFamily="34" charset="0"/>
                        </a:rPr>
                        <a:t>What are the IAASB views on paragraphs 14–14C and the related application material at A9A– A12 in Agenda Item 6–A?</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628097735"/>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t>14–14C</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A9A–A12</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3624373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sz="1600" dirty="0"/>
              <a:t>Proposed ISA 220 (Revised)—Engagement Performance – Direction, Supervision, and Review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4965444"/>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Changes from December 2017 IAASB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Clarified which audit documentation needs to be reviewed by the EP, taking into account what the engagement quality control reviewer will be required to review and related to areas involving significant judgments. </a:t>
                      </a: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9"/>
                      </a:pPr>
                      <a:r>
                        <a:rPr lang="en-US" sz="1600" dirty="0">
                          <a:solidFill>
                            <a:schemeClr val="tx1">
                              <a:lumMod val="65000"/>
                              <a:lumOff val="35000"/>
                            </a:schemeClr>
                          </a:solidFill>
                          <a:latin typeface="Arial" panose="020B0604020202020204" pitchFamily="34" charset="0"/>
                          <a:cs typeface="Arial" panose="020B0604020202020204" pitchFamily="34" charset="0"/>
                        </a:rPr>
                        <a:t>What are the IAASB views on paragraphs 15–17C and the related application material at A12A– A19E in Agenda Item 6–A? </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2030383492"/>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t>15–17C</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A12A–A19E</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318339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a:t>Proposed ISA 220 (Revised)—Taking Overall Responsibility for Achieving Quality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13318524"/>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 from December 2017 IAASB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Linked the stand back (“</a:t>
                      </a:r>
                      <a:r>
                        <a:rPr lang="en-US" sz="16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taking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overall</a:t>
                      </a:r>
                      <a:r>
                        <a:rPr lang="en-US" sz="1600" u="none" kern="1200" baseline="0" dirty="0">
                          <a:solidFill>
                            <a:schemeClr val="tx1">
                              <a:lumMod val="65000"/>
                              <a:lumOff val="35000"/>
                            </a:schemeClr>
                          </a:solidFill>
                          <a:latin typeface="Arial" panose="020B0604020202020204" pitchFamily="34" charset="0"/>
                          <a:ea typeface="+mn-ea"/>
                          <a:cs typeface="Arial" panose="020B0604020202020204" pitchFamily="34" charset="0"/>
                        </a:rPr>
                        <a:t> responsibility for achieving </a:t>
                      </a:r>
                      <a:r>
                        <a:rPr lang="en-US" sz="1600" u="none" kern="1200" baseline="0" dirty="0" smtClean="0">
                          <a:solidFill>
                            <a:schemeClr val="tx1">
                              <a:lumMod val="65000"/>
                              <a:lumOff val="35000"/>
                            </a:schemeClr>
                          </a:solidFill>
                          <a:latin typeface="Arial" panose="020B0604020202020204" pitchFamily="34" charset="0"/>
                          <a:ea typeface="+mn-ea"/>
                          <a:cs typeface="Arial" panose="020B0604020202020204" pitchFamily="34" charset="0"/>
                        </a:rPr>
                        <a:t>quality”)</a:t>
                      </a:r>
                      <a:r>
                        <a:rPr lang="en-US" sz="16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 </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with the EP’s involvement throughout the audit.</a:t>
                      </a: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10"/>
                      </a:pPr>
                      <a:r>
                        <a:rPr lang="en-US" sz="1600" dirty="0">
                          <a:solidFill>
                            <a:schemeClr val="tx1">
                              <a:lumMod val="65000"/>
                              <a:lumOff val="35000"/>
                            </a:schemeClr>
                          </a:solidFill>
                          <a:latin typeface="Arial" panose="020B0604020202020204" pitchFamily="34" charset="0"/>
                          <a:cs typeface="Arial" panose="020B0604020202020204" pitchFamily="34" charset="0"/>
                        </a:rPr>
                        <a:t>What views does the IAASB have on paragraph 23A and A35A–A35B?</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3264803262"/>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t>23A</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A35A–A35B</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898330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a:t>Proposed ISA 220 (Revised)—Other Sections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5534180"/>
              </p:ext>
            </p:extLst>
          </p:nvPr>
        </p:nvGraphicFramePr>
        <p:xfrm>
          <a:off x="403225" y="2902435"/>
          <a:ext cx="8229600" cy="1658679"/>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1658679">
                <a:tc>
                  <a:txBody>
                    <a:bodyPr/>
                    <a:lstStyle/>
                    <a:p>
                      <a:pPr>
                        <a:spcBef>
                          <a:spcPts val="450"/>
                        </a:spcBef>
                      </a:pPr>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Keys Change from December 2017 IAASB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Limited amendments, primarily changes to align with ISQC 1</a:t>
                      </a:r>
                      <a:endParaRPr lang="en-US" sz="1600" u="sng" dirty="0">
                        <a:solidFill>
                          <a:schemeClr val="tx1">
                            <a:lumMod val="65000"/>
                            <a:lumOff val="35000"/>
                          </a:schemeClr>
                        </a:solidFill>
                        <a:latin typeface="Arial" panose="020B0604020202020204" pitchFamily="34" charset="0"/>
                        <a:cs typeface="Arial" panose="020B0604020202020204" pitchFamily="34" charset="0"/>
                      </a:endParaRP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11"/>
                      </a:pPr>
                      <a:r>
                        <a:rPr lang="en-US" sz="1600" dirty="0">
                          <a:solidFill>
                            <a:schemeClr val="tx1">
                              <a:lumMod val="65000"/>
                              <a:lumOff val="35000"/>
                            </a:schemeClr>
                          </a:solidFill>
                          <a:latin typeface="Arial" panose="020B0604020202020204" pitchFamily="34" charset="0"/>
                          <a:cs typeface="Arial" panose="020B0604020202020204" pitchFamily="34" charset="0"/>
                        </a:rPr>
                        <a:t>Does the IAASB have views on paragraphs 18–23 and A21–A35?</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4145066714"/>
              </p:ext>
            </p:extLst>
          </p:nvPr>
        </p:nvGraphicFramePr>
        <p:xfrm>
          <a:off x="1053148" y="980085"/>
          <a:ext cx="6929754" cy="1866810"/>
        </p:xfrm>
        <a:graphic>
          <a:graphicData uri="http://schemas.openxmlformats.org/drawingml/2006/table">
            <a:tbl>
              <a:tblPr firstRow="1" bandRow="1">
                <a:tableStyleId>{F5AB1C69-6EDB-4FF4-983F-18BD219EF322}</a:tableStyleId>
              </a:tblPr>
              <a:tblGrid>
                <a:gridCol w="3559174">
                  <a:extLst>
                    <a:ext uri="{9D8B030D-6E8A-4147-A177-3AD203B41FA5}">
                      <a16:colId xmlns="" xmlns:a16="http://schemas.microsoft.com/office/drawing/2014/main" val="20000"/>
                    </a:ext>
                  </a:extLst>
                </a:gridCol>
                <a:gridCol w="1524000">
                  <a:extLst>
                    <a:ext uri="{9D8B030D-6E8A-4147-A177-3AD203B41FA5}">
                      <a16:colId xmlns="" xmlns:a16="http://schemas.microsoft.com/office/drawing/2014/main" val="20001"/>
                    </a:ext>
                  </a:extLst>
                </a:gridCol>
                <a:gridCol w="1846580">
                  <a:extLst>
                    <a:ext uri="{9D8B030D-6E8A-4147-A177-3AD203B41FA5}">
                      <a16:colId xmlns="" xmlns:a16="http://schemas.microsoft.com/office/drawing/2014/main" val="20002"/>
                    </a:ext>
                  </a:extLst>
                </a:gridCol>
              </a:tblGrid>
              <a:tr h="587390">
                <a:tc>
                  <a:txBody>
                    <a:bodyPr/>
                    <a:lstStyle/>
                    <a:p>
                      <a:pPr algn="ctr"/>
                      <a:r>
                        <a:rPr lang="en-US" sz="1800" dirty="0"/>
                        <a:t>Section</a:t>
                      </a:r>
                    </a:p>
                  </a:txBody>
                  <a:tcPr marL="44167" marR="44167" marT="22089" marB="22089"/>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a:t>Paragraph(s) </a:t>
                      </a:r>
                    </a:p>
                  </a:txBody>
                  <a:tcPr marL="44167" marR="44167" marT="22089" marB="22089"/>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a:t>Application Material</a:t>
                      </a:r>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Consultation</a:t>
                      </a:r>
                    </a:p>
                  </a:txBody>
                  <a:tcPr marL="44167" marR="44167" marT="22089" marB="22089"/>
                </a:tc>
                <a:tc>
                  <a:txBody>
                    <a:bodyPr/>
                    <a:lstStyle/>
                    <a:p>
                      <a:pPr algn="ctr"/>
                      <a:r>
                        <a:rPr lang="en-US" sz="1800" dirty="0"/>
                        <a:t>  18</a:t>
                      </a:r>
                    </a:p>
                  </a:txBody>
                  <a:tcPr marL="44167" marR="44167" marT="22089" marB="22089"/>
                </a:tc>
                <a:tc>
                  <a:txBody>
                    <a:bodyPr/>
                    <a:lstStyle/>
                    <a:p>
                      <a:pPr marL="0" algn="ctr" defTabSz="342900" rtl="0" eaLnBrk="1" latinLnBrk="0" hangingPunct="1"/>
                      <a:r>
                        <a:rPr lang="en-US" sz="1800" kern="1200" dirty="0"/>
                        <a:t>A21–A22 </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Engagement Quality Control Review</a:t>
                      </a:r>
                    </a:p>
                  </a:txBody>
                  <a:tcPr marL="44167" marR="44167" marT="22089" marB="22089"/>
                </a:tc>
                <a:tc>
                  <a:txBody>
                    <a:bodyPr/>
                    <a:lstStyle/>
                    <a:p>
                      <a:pPr algn="ctr"/>
                      <a:r>
                        <a:rPr lang="en-US" sz="1800" dirty="0"/>
                        <a:t>  19</a:t>
                      </a:r>
                    </a:p>
                  </a:txBody>
                  <a:tcPr marL="44167" marR="44167" marT="22089" marB="22089"/>
                </a:tc>
                <a:tc>
                  <a:txBody>
                    <a:bodyPr/>
                    <a:lstStyle/>
                    <a:p>
                      <a:pPr algn="ctr"/>
                      <a:r>
                        <a:rPr lang="en-US" sz="1800" kern="1200" dirty="0"/>
                        <a:t>A23–A25A</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r h="241458">
                <a:tc>
                  <a:txBody>
                    <a:bodyPr/>
                    <a:lstStyle/>
                    <a:p>
                      <a:r>
                        <a:rPr lang="en-US" sz="1800" dirty="0"/>
                        <a:t>Differences of Opinion</a:t>
                      </a:r>
                    </a:p>
                  </a:txBody>
                  <a:tcPr marL="44167" marR="44167" marT="22089" marB="22089"/>
                </a:tc>
                <a:tc>
                  <a:txBody>
                    <a:bodyPr/>
                    <a:lstStyle/>
                    <a:p>
                      <a:pPr algn="ctr"/>
                      <a:r>
                        <a:rPr lang="en-US" sz="1800" dirty="0"/>
                        <a:t>22–22A </a:t>
                      </a:r>
                    </a:p>
                  </a:txBody>
                  <a:tcPr marL="44167" marR="44167" marT="22089" marB="22089"/>
                </a:tc>
                <a:tc>
                  <a:txBody>
                    <a:bodyPr/>
                    <a:lstStyle/>
                    <a:p>
                      <a:pPr algn="ctr"/>
                      <a:r>
                        <a:rPr lang="en-US" sz="1800" kern="1200" dirty="0">
                          <a:solidFill>
                            <a:schemeClr val="dk1"/>
                          </a:solidFill>
                          <a:latin typeface="+mn-lt"/>
                          <a:ea typeface="+mn-ea"/>
                          <a:cs typeface="+mn-cs"/>
                        </a:rPr>
                        <a:t>A32A–A32B</a:t>
                      </a:r>
                    </a:p>
                  </a:txBody>
                  <a:tcPr marL="44167" marR="44167" marT="22089" marB="22089"/>
                </a:tc>
                <a:extLst>
                  <a:ext uri="{0D108BD9-81ED-4DB2-BD59-A6C34878D82A}">
                    <a16:rowId xmlns="" xmlns:a16="http://schemas.microsoft.com/office/drawing/2014/main" val="10003"/>
                  </a:ext>
                </a:extLst>
              </a:tr>
              <a:tr h="241458">
                <a:tc>
                  <a:txBody>
                    <a:bodyPr/>
                    <a:lstStyle/>
                    <a:p>
                      <a:r>
                        <a:rPr lang="en-US" sz="1800" dirty="0"/>
                        <a:t>Monitoring and Remediation</a:t>
                      </a:r>
                    </a:p>
                  </a:txBody>
                  <a:tcPr marL="44167" marR="44167" marT="22089" marB="22089"/>
                </a:tc>
                <a:tc>
                  <a:txBody>
                    <a:bodyPr/>
                    <a:lstStyle/>
                    <a:p>
                      <a:pPr algn="ctr"/>
                      <a:r>
                        <a:rPr lang="en-US" sz="1800" dirty="0"/>
                        <a:t>23</a:t>
                      </a:r>
                    </a:p>
                  </a:txBody>
                  <a:tcPr marL="44167" marR="44167" marT="22089" marB="22089"/>
                </a:tc>
                <a:tc>
                  <a:txBody>
                    <a:bodyPr/>
                    <a:lstStyle/>
                    <a:p>
                      <a:pPr algn="ctr"/>
                      <a:r>
                        <a:rPr lang="en-US" sz="1800" kern="1200" dirty="0">
                          <a:solidFill>
                            <a:schemeClr val="dk1"/>
                          </a:solidFill>
                          <a:latin typeface="+mn-lt"/>
                          <a:ea typeface="+mn-ea"/>
                          <a:cs typeface="+mn-cs"/>
                        </a:rPr>
                        <a:t>A33–A35 </a:t>
                      </a:r>
                    </a:p>
                  </a:txBody>
                  <a:tcPr marL="44167" marR="44167" marT="22089" marB="22089"/>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3018474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a:t>Proposed ISA 220 (Revised)—Documentation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79753891"/>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r>
                        <a:rPr lang="en-US" sz="1600" u="sng" kern="1200" dirty="0">
                          <a:solidFill>
                            <a:schemeClr val="tx1">
                              <a:lumMod val="65000"/>
                              <a:lumOff val="35000"/>
                            </a:schemeClr>
                          </a:solidFill>
                          <a:latin typeface="Arial" panose="020B0604020202020204" pitchFamily="34" charset="0"/>
                          <a:ea typeface="+mn-ea"/>
                          <a:cs typeface="Arial" panose="020B0604020202020204" pitchFamily="34" charset="0"/>
                        </a:rPr>
                        <a:t>Key Change from December 2017 IAASB Meeting</a:t>
                      </a:r>
                      <a:r>
                        <a:rPr lang="en-US" sz="1600" u="none" kern="1200" dirty="0">
                          <a:solidFill>
                            <a:schemeClr val="tx1">
                              <a:lumMod val="65000"/>
                              <a:lumOff val="35000"/>
                            </a:schemeClr>
                          </a:solidFill>
                          <a:latin typeface="Arial" panose="020B0604020202020204" pitchFamily="34" charset="0"/>
                          <a:ea typeface="+mn-ea"/>
                          <a:cs typeface="Arial" panose="020B0604020202020204" pitchFamily="34" charset="0"/>
                        </a:rPr>
                        <a:t>: Limited amendments, including requiring audit documentation to include how the results of conclusions from consultations were implemented. </a:t>
                      </a:r>
                    </a:p>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12"/>
                      </a:pPr>
                      <a:r>
                        <a:rPr lang="en-US" sz="1600" dirty="0">
                          <a:solidFill>
                            <a:schemeClr val="tx1">
                              <a:lumMod val="65000"/>
                              <a:lumOff val="35000"/>
                            </a:schemeClr>
                          </a:solidFill>
                          <a:latin typeface="Arial" panose="020B0604020202020204" pitchFamily="34" charset="0"/>
                          <a:cs typeface="Arial" panose="020B0604020202020204" pitchFamily="34" charset="0"/>
                        </a:rPr>
                        <a:t>Does the IAASB have views on paragraph 24 and A35C–A36?</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9315187"/>
              </p:ext>
            </p:extLst>
          </p:nvPr>
        </p:nvGraphicFramePr>
        <p:xfrm>
          <a:off x="1811020" y="972052"/>
          <a:ext cx="5521960" cy="955494"/>
        </p:xfrm>
        <a:graphic>
          <a:graphicData uri="http://schemas.openxmlformats.org/drawingml/2006/table">
            <a:tbl>
              <a:tblPr firstRow="1" bandRow="1">
                <a:tableStyleId>{F5AB1C69-6EDB-4FF4-983F-18BD219EF322}</a:tableStyleId>
              </a:tblPr>
              <a:tblGrid>
                <a:gridCol w="2760980">
                  <a:extLst>
                    <a:ext uri="{9D8B030D-6E8A-4147-A177-3AD203B41FA5}">
                      <a16:colId xmlns="" xmlns:a16="http://schemas.microsoft.com/office/drawing/2014/main" val="20000"/>
                    </a:ext>
                  </a:extLst>
                </a:gridCol>
                <a:gridCol w="2760980">
                  <a:extLst>
                    <a:ext uri="{9D8B030D-6E8A-4147-A177-3AD203B41FA5}">
                      <a16:colId xmlns="" xmlns:a16="http://schemas.microsoft.com/office/drawing/2014/main" val="20001"/>
                    </a:ext>
                  </a:extLst>
                </a:gridCol>
              </a:tblGrid>
              <a:tr h="310989">
                <a:tc gridSpan="2">
                  <a:txBody>
                    <a:bodyPr/>
                    <a:lstStyle/>
                    <a:p>
                      <a:pPr algn="ctr"/>
                      <a:r>
                        <a:rPr lang="en-US" sz="1800" dirty="0"/>
                        <a:t>Proposed ISA 220 (Revised) – Agenda Item 6–A </a:t>
                      </a:r>
                    </a:p>
                  </a:txBody>
                  <a:tcPr marL="44167" marR="44167" marT="22089" marB="22089"/>
                </a:tc>
                <a:tc hMerge="1">
                  <a:txBody>
                    <a:bodyPr/>
                    <a:lstStyle/>
                    <a:p>
                      <a:pPr algn="ctr"/>
                      <a:endParaRPr lang="en-US" sz="1800" dirty="0"/>
                    </a:p>
                  </a:txBody>
                  <a:tcPr marL="44167" marR="44167" marT="22089" marB="22089"/>
                </a:tc>
                <a:extLst>
                  <a:ext uri="{0D108BD9-81ED-4DB2-BD59-A6C34878D82A}">
                    <a16:rowId xmlns="" xmlns:a16="http://schemas.microsoft.com/office/drawing/2014/main" val="10000"/>
                  </a:ext>
                </a:extLst>
              </a:tr>
              <a:tr h="241458">
                <a:tc>
                  <a:txBody>
                    <a:bodyPr/>
                    <a:lstStyle/>
                    <a:p>
                      <a:r>
                        <a:rPr lang="en-US" sz="1800" dirty="0"/>
                        <a:t>  Paragraph(s)</a:t>
                      </a:r>
                    </a:p>
                  </a:txBody>
                  <a:tcPr marL="44167" marR="44167" marT="22089" marB="22089"/>
                </a:tc>
                <a:tc>
                  <a:txBody>
                    <a:bodyPr/>
                    <a:lstStyle/>
                    <a:p>
                      <a:pPr marL="0" algn="ctr" defTabSz="342900" rtl="0" eaLnBrk="1" latinLnBrk="0" hangingPunct="1"/>
                      <a:r>
                        <a:rPr lang="en-US" sz="1800" kern="1200" dirty="0"/>
                        <a:t>24</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1"/>
                  </a:ext>
                </a:extLst>
              </a:tr>
              <a:tr h="241458">
                <a:tc>
                  <a:txBody>
                    <a:bodyPr/>
                    <a:lstStyle/>
                    <a:p>
                      <a:r>
                        <a:rPr lang="en-US" sz="1800" dirty="0"/>
                        <a:t>  Application Material</a:t>
                      </a:r>
                    </a:p>
                  </a:txBody>
                  <a:tcPr marL="44167" marR="44167" marT="22089" marB="22089"/>
                </a:tc>
                <a:tc>
                  <a:txBody>
                    <a:bodyPr/>
                    <a:lstStyle/>
                    <a:p>
                      <a:pPr algn="ctr"/>
                      <a:r>
                        <a:rPr lang="en-US" sz="1800" kern="1200" dirty="0"/>
                        <a:t>A35C–A36</a:t>
                      </a:r>
                      <a:endParaRPr lang="en-US" sz="1800" kern="1200" dirty="0">
                        <a:solidFill>
                          <a:schemeClr val="dk1"/>
                        </a:solidFill>
                        <a:latin typeface="+mn-lt"/>
                        <a:ea typeface="+mn-ea"/>
                        <a:cs typeface="+mn-cs"/>
                      </a:endParaRPr>
                    </a:p>
                  </a:txBody>
                  <a:tcPr marL="44167" marR="44167" marT="22089" marB="22089"/>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261112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a:t>Proposed ISA 220 (Revised)—Other Matters Discussed by the Task Force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275843"/>
              </p:ext>
            </p:extLst>
          </p:nvPr>
        </p:nvGraphicFramePr>
        <p:xfrm>
          <a:off x="403225" y="2254103"/>
          <a:ext cx="8229600" cy="2445488"/>
        </p:xfrm>
        <a:graphic>
          <a:graphicData uri="http://schemas.openxmlformats.org/drawingml/2006/table">
            <a:tbl>
              <a:tblPr firstRow="1" bandRow="1">
                <a:tableStyleId>{5940675A-B579-460E-94D1-54222C63F5DA}</a:tableStyleId>
              </a:tblPr>
              <a:tblGrid>
                <a:gridCol w="8229600">
                  <a:extLst>
                    <a:ext uri="{9D8B030D-6E8A-4147-A177-3AD203B41FA5}">
                      <a16:colId xmlns="" xmlns:a16="http://schemas.microsoft.com/office/drawing/2014/main" val="20000"/>
                    </a:ext>
                  </a:extLst>
                </a:gridCol>
              </a:tblGrid>
              <a:tr h="2445488">
                <a:tc>
                  <a:txBody>
                    <a:bodyPr/>
                    <a:lstStyle/>
                    <a:p>
                      <a:pPr>
                        <a:spcBef>
                          <a:spcPts val="450"/>
                        </a:spcBef>
                      </a:pPr>
                      <a:r>
                        <a:rPr lang="en-US" sz="1600"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13"/>
                      </a:pPr>
                      <a:r>
                        <a:rPr lang="en-US" sz="1600" dirty="0">
                          <a:solidFill>
                            <a:schemeClr val="tx1">
                              <a:lumMod val="65000"/>
                              <a:lumOff val="35000"/>
                            </a:schemeClr>
                          </a:solidFill>
                          <a:latin typeface="Arial" panose="020B0604020202020204" pitchFamily="34" charset="0"/>
                          <a:cs typeface="Arial" panose="020B0604020202020204" pitchFamily="34" charset="0"/>
                        </a:rPr>
                        <a:t>Does the IAASB support the view held by a majority of the Task Force that national law or regulation is the proper place for requirements on: </a:t>
                      </a:r>
                    </a:p>
                    <a:p>
                      <a:pPr marL="742950" lvl="1" indent="-400050">
                        <a:spcBef>
                          <a:spcPts val="450"/>
                        </a:spcBef>
                        <a:buFont typeface="+mj-lt"/>
                        <a:buAutoNum type="romanLcPeriod"/>
                      </a:pPr>
                      <a:r>
                        <a:rPr lang="en-US" sz="1600" dirty="0">
                          <a:solidFill>
                            <a:schemeClr val="tx1">
                              <a:lumMod val="65000"/>
                              <a:lumOff val="35000"/>
                            </a:schemeClr>
                          </a:solidFill>
                          <a:latin typeface="Arial" panose="020B0604020202020204" pitchFamily="34" charset="0"/>
                          <a:cs typeface="Arial" panose="020B0604020202020204" pitchFamily="34" charset="0"/>
                        </a:rPr>
                        <a:t>Who signs the auditor’s report in that jurisdiction; and </a:t>
                      </a:r>
                    </a:p>
                    <a:p>
                      <a:pPr marL="742950" lvl="1" indent="-400050">
                        <a:spcBef>
                          <a:spcPts val="450"/>
                        </a:spcBef>
                        <a:buFont typeface="+mj-lt"/>
                        <a:buAutoNum type="romanLcPeriod"/>
                      </a:pPr>
                      <a:r>
                        <a:rPr lang="en-US" sz="1600" dirty="0">
                          <a:solidFill>
                            <a:schemeClr val="tx1">
                              <a:lumMod val="65000"/>
                              <a:lumOff val="35000"/>
                            </a:schemeClr>
                          </a:solidFill>
                          <a:latin typeface="Arial" panose="020B0604020202020204" pitchFamily="34" charset="0"/>
                          <a:cs typeface="Arial" panose="020B0604020202020204" pitchFamily="34" charset="0"/>
                        </a:rPr>
                        <a:t>Such individual’s responsibilities. </a:t>
                      </a:r>
                    </a:p>
                    <a:p>
                      <a:pPr marL="342900" lvl="1" indent="0">
                        <a:spcBef>
                          <a:spcPts val="450"/>
                        </a:spcBef>
                        <a:buFont typeface="+mj-lt"/>
                        <a:buNone/>
                      </a:pPr>
                      <a:r>
                        <a:rPr lang="en-US" sz="1600" dirty="0">
                          <a:solidFill>
                            <a:schemeClr val="tx1">
                              <a:lumMod val="65000"/>
                              <a:lumOff val="35000"/>
                            </a:schemeClr>
                          </a:solidFill>
                          <a:latin typeface="Arial" panose="020B0604020202020204" pitchFamily="34" charset="0"/>
                          <a:cs typeface="Arial" panose="020B0604020202020204" pitchFamily="34" charset="0"/>
                        </a:rPr>
                        <a:t>If not, does the IAASB believe that a project should be considered to explore this issue further?</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sp>
        <p:nvSpPr>
          <p:cNvPr id="6" name="Content Placeholder 1"/>
          <p:cNvSpPr txBox="1">
            <a:spLocks/>
          </p:cNvSpPr>
          <p:nvPr/>
        </p:nvSpPr>
        <p:spPr>
          <a:xfrm>
            <a:off x="332792" y="1078301"/>
            <a:ext cx="8229600" cy="737191"/>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347472" indent="-347472"/>
            <a:r>
              <a:rPr lang="en-US" sz="1800" dirty="0">
                <a:solidFill>
                  <a:schemeClr val="tx1">
                    <a:lumMod val="65000"/>
                    <a:lumOff val="35000"/>
                  </a:schemeClr>
                </a:solidFill>
              </a:rPr>
              <a:t>Circumstances When an Individual Other Than the EP Signs the Auditor’s Report, Instead of, or in Addition to the EP</a:t>
            </a:r>
          </a:p>
        </p:txBody>
      </p:sp>
    </p:spTree>
    <p:extLst>
      <p:ext uri="{BB962C8B-B14F-4D97-AF65-F5344CB8AC3E}">
        <p14:creationId xmlns:p14="http://schemas.microsoft.com/office/powerpoint/2010/main" val="3334375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9432</TotalTime>
  <Words>1390</Words>
  <Application>Microsoft Office PowerPoint</Application>
  <PresentationFormat>On-screen Show (16:9)</PresentationFormat>
  <Paragraphs>170</Paragraphs>
  <Slides>16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MS PGothic</vt:lpstr>
      <vt:lpstr>MS PGothic</vt:lpstr>
      <vt:lpstr>Arial</vt:lpstr>
      <vt:lpstr>Arial Narrow</vt:lpstr>
      <vt:lpstr>Calibri</vt:lpstr>
      <vt:lpstr>Times New Roman</vt:lpstr>
      <vt:lpstr>ヒラギノ角ゴ Pro W3</vt:lpstr>
      <vt:lpstr>Office Theme</vt:lpstr>
      <vt:lpstr>Quality Management at the Engagement Level Proposed Draft ISA 220 (Revised)</vt:lpstr>
      <vt:lpstr>Proposed Revisions to ISA 220 – Addressing Key Matters of Public Interest</vt:lpstr>
      <vt:lpstr>Proposed Revisions to ISA 220 – EP’s Responsibility for Quality </vt:lpstr>
      <vt:lpstr>Proposed Revisions to ISA 220 – Scalability </vt:lpstr>
      <vt:lpstr>Proposed ISA 220 (Revised)—Introduction and Objective  </vt:lpstr>
      <vt:lpstr>Proposed ISA 220 (Revised)—Definitions</vt:lpstr>
      <vt:lpstr>Proposed ISA 220 (Revised)—Leadership Responsibilities for Achieving Quality on Audits </vt:lpstr>
      <vt:lpstr>Proposed ISA 220 (Revised)—Relevant Ethical Requirements, Including Independence </vt:lpstr>
      <vt:lpstr>Proposed ISA 220 (Revised)—Acceptance and Continuance of Client Relationships and Audit Engagements</vt:lpstr>
      <vt:lpstr>Proposed ISA 220 (Revised)—Engagement Resources </vt:lpstr>
      <vt:lpstr>Proposed ISA 220 (Revised)—Engagement Performance – Direction, Supervision, and Review</vt:lpstr>
      <vt:lpstr>Proposed ISA 220 (Revised)—Taking Overall Responsibility for Achieving Quality </vt:lpstr>
      <vt:lpstr>Proposed ISA 220 (Revised)—Other Sections</vt:lpstr>
      <vt:lpstr>Proposed ISA 220 (Revised)—Documentation</vt:lpstr>
      <vt:lpstr>Proposed ISA 220 (Revised)—Other Matters Discussed by the Task Force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Schuyler Simms</cp:lastModifiedBy>
  <cp:revision>144</cp:revision>
  <cp:lastPrinted>2016-03-04T17:09:52Z</cp:lastPrinted>
  <dcterms:created xsi:type="dcterms:W3CDTF">2016-11-09T14:56:20Z</dcterms:created>
  <dcterms:modified xsi:type="dcterms:W3CDTF">2018-06-20T12:34:23Z</dcterms:modified>
</cp:coreProperties>
</file>