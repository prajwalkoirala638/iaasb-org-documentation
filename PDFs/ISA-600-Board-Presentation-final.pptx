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6.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6.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 id="2147483672" r:id="rId2"/>
    <p:sldMasterId id="2147483696" r:id="rId3"/>
    <p:sldMasterId id="2147483708" r:id="rId4"/>
    <p:sldMasterId id="2147483816" r:id="rId5"/>
    <p:sldMasterId id="2147483844" r:id="rId6"/>
    <p:sldMasterId id="2147483856" r:id="rId7"/>
  </p:sldMasterIdLst>
  <p:notesMasterIdLst>
    <p:notesMasterId r:id="rId42"/>
  </p:notesMasterIdLst>
  <p:sldIdLst>
    <p:sldId id="271" r:id="rId8"/>
    <p:sldId id="553" r:id="rId9"/>
    <p:sldId id="524" r:id="rId10"/>
    <p:sldId id="346" r:id="rId11"/>
    <p:sldId id="526" r:id="rId12"/>
    <p:sldId id="551" r:id="rId13"/>
    <p:sldId id="550" r:id="rId14"/>
    <p:sldId id="545" r:id="rId15"/>
    <p:sldId id="543" r:id="rId16"/>
    <p:sldId id="546" r:id="rId17"/>
    <p:sldId id="544" r:id="rId18"/>
    <p:sldId id="522" r:id="rId19"/>
    <p:sldId id="531" r:id="rId20"/>
    <p:sldId id="533" r:id="rId21"/>
    <p:sldId id="554" r:id="rId22"/>
    <p:sldId id="535" r:id="rId23"/>
    <p:sldId id="536" r:id="rId24"/>
    <p:sldId id="534" r:id="rId25"/>
    <p:sldId id="530" r:id="rId26"/>
    <p:sldId id="499" r:id="rId27"/>
    <p:sldId id="540" r:id="rId28"/>
    <p:sldId id="542" r:id="rId29"/>
    <p:sldId id="537" r:id="rId30"/>
    <p:sldId id="539" r:id="rId31"/>
    <p:sldId id="552" r:id="rId32"/>
    <p:sldId id="528" r:id="rId33"/>
    <p:sldId id="520" r:id="rId34"/>
    <p:sldId id="515" r:id="rId35"/>
    <p:sldId id="547" r:id="rId36"/>
    <p:sldId id="548" r:id="rId37"/>
    <p:sldId id="549" r:id="rId38"/>
    <p:sldId id="529" r:id="rId39"/>
    <p:sldId id="491" r:id="rId40"/>
    <p:sldId id="394" r:id="rId4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gan Zietsman" initials="MZ" lastIdx="62" clrIdx="0">
    <p:extLst>
      <p:ext uri="{19B8F6BF-5375-455C-9EA6-DF929625EA0E}">
        <p15:presenceInfo xmlns:p15="http://schemas.microsoft.com/office/powerpoint/2012/main" userId="Megan Zietsman" providerId="None"/>
      </p:ext>
    </p:extLst>
  </p:cmAuthor>
  <p:cmAuthor id="2" name="Dan Montgomery" initials="DM" lastIdx="43" clrIdx="1">
    <p:extLst>
      <p:ext uri="{19B8F6BF-5375-455C-9EA6-DF929625EA0E}">
        <p15:presenceInfo xmlns:p15="http://schemas.microsoft.com/office/powerpoint/2012/main" userId="8ba5e3d143c5e0b2" providerId="Windows Live"/>
      </p:ext>
    </p:extLst>
  </p:cmAuthor>
  <p:cmAuthor id="3" name="Natalie Klonaridis" initials="NK" lastIdx="14" clrIdx="2">
    <p:extLst>
      <p:ext uri="{19B8F6BF-5375-455C-9EA6-DF929625EA0E}">
        <p15:presenceInfo xmlns:p15="http://schemas.microsoft.com/office/powerpoint/2012/main" userId="S-1-5-21-1801674531-1972579041-839522115-13323" providerId="AD"/>
      </p:ext>
    </p:extLst>
  </p:cmAuthor>
  <p:cmAuthor id="4" name="James Grosvenor" initials="JG" lastIdx="2" clrIdx="3">
    <p:extLst>
      <p:ext uri="{19B8F6BF-5375-455C-9EA6-DF929625EA0E}">
        <p15:presenceInfo xmlns:p15="http://schemas.microsoft.com/office/powerpoint/2012/main" userId="S-1-5-21-1801674531-1972579041-839522115-17641" providerId="AD"/>
      </p:ext>
    </p:extLst>
  </p:cmAuthor>
  <p:cmAuthor id="5" name="BJ" initials="BJ" lastIdx="4" clrIdx="4">
    <p:extLst>
      <p:ext uri="{19B8F6BF-5375-455C-9EA6-DF929625EA0E}">
        <p15:presenceInfo xmlns:p15="http://schemas.microsoft.com/office/powerpoint/2012/main" userId="B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0F3"/>
    <a:srgbClr val="00B3EB"/>
    <a:srgbClr val="00A6E3"/>
    <a:srgbClr val="009ADB"/>
    <a:srgbClr val="008FD3"/>
    <a:srgbClr val="0083CA"/>
    <a:srgbClr val="0079C2"/>
    <a:srgbClr val="006EBA"/>
    <a:srgbClr val="0064B2"/>
    <a:srgbClr val="005BAA"/>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94271" autoAdjust="0"/>
  </p:normalViewPr>
  <p:slideViewPr>
    <p:cSldViewPr snapToGrid="0">
      <p:cViewPr varScale="1">
        <p:scale>
          <a:sx n="81" d="100"/>
          <a:sy n="81" d="100"/>
        </p:scale>
        <p:origin x="667" y="58"/>
      </p:cViewPr>
      <p:guideLst/>
    </p:cSldViewPr>
  </p:slideViewPr>
  <p:outlineViewPr>
    <p:cViewPr>
      <p:scale>
        <a:sx n="33" d="100"/>
        <a:sy n="33" d="100"/>
      </p:scale>
      <p:origin x="0" y="-1978"/>
    </p:cViewPr>
  </p:outlineViewPr>
  <p:notesTextViewPr>
    <p:cViewPr>
      <p:scale>
        <a:sx n="1" d="1"/>
        <a:sy n="1" d="1"/>
      </p:scale>
      <p:origin x="0" y="0"/>
    </p:cViewPr>
  </p:notesTextViewPr>
  <p:notesViewPr>
    <p:cSldViewPr snapToGrid="0">
      <p:cViewPr varScale="1">
        <p:scale>
          <a:sx n="64" d="100"/>
          <a:sy n="64" d="100"/>
        </p:scale>
        <p:origin x="3158"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dgm:t>
        <a:bodyPr/>
        <a:lstStyle/>
        <a:p>
          <a:pPr algn="ctr"/>
          <a:r>
            <a:rPr lang="en-US" sz="2000" b="1" dirty="0">
              <a:solidFill>
                <a:prstClr val="white"/>
              </a:solidFill>
              <a:latin typeface="Arial" panose="020B0604020202020204" pitchFamily="34" charset="0"/>
              <a:ea typeface="+mn-ea"/>
              <a:cs typeface="Arial" panose="020B0604020202020204" pitchFamily="34" charset="0"/>
            </a:rPr>
            <a:t>Outreach</a:t>
          </a:r>
          <a:endParaRPr lang="en-US" sz="2000" b="1" dirty="0">
            <a:latin typeface="Arial" panose="020B0604020202020204" pitchFamily="34" charset="0"/>
            <a:cs typeface="Arial" panose="020B0604020202020204" pitchFamily="34" charset="0"/>
          </a:endParaRP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14D66D36-AC0A-4928-9000-4FBB86066A19}">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Scope and Structure of the Standard </a:t>
          </a: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74618AA-21E5-4F09-BF54-725CAD3C33E7}">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Access to People and Information at the Component Level</a:t>
          </a:r>
        </a:p>
      </dgm:t>
    </dgm:pt>
    <dgm:pt modelId="{65EE6D9E-4C3D-44FD-85A5-F145A789F888}" type="parTrans" cxnId="{0ADE6BBE-E781-4357-9B40-CD3A6E9697D5}">
      <dgm:prSet/>
      <dgm:spPr/>
      <dgm:t>
        <a:bodyPr/>
        <a:lstStyle/>
        <a:p>
          <a:endParaRPr lang="en-US"/>
        </a:p>
      </dgm:t>
    </dgm:pt>
    <dgm:pt modelId="{08ECE219-19ED-4756-BF73-0E3709BAE153}" type="sibTrans" cxnId="{0ADE6BBE-E781-4357-9B40-CD3A6E9697D5}">
      <dgm:prSet/>
      <dgm:spPr/>
      <dgm:t>
        <a:bodyPr/>
        <a:lstStyle/>
        <a:p>
          <a:endParaRPr lang="en-US"/>
        </a:p>
      </dgm:t>
    </dgm:pt>
    <dgm:pt modelId="{A5BD026F-2805-40CC-AA14-C9BC34269A8E}">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Materiality Considerations in a Group Audit</a:t>
          </a:r>
        </a:p>
      </dgm:t>
    </dgm:pt>
    <dgm:pt modelId="{F944E1C6-691E-4A7F-BB16-B01DEF304DA8}" type="parTrans" cxnId="{76CD69FB-3731-4A79-ADC6-9A30A8BC177A}">
      <dgm:prSet/>
      <dgm:spPr/>
      <dgm:t>
        <a:bodyPr/>
        <a:lstStyle/>
        <a:p>
          <a:endParaRPr lang="en-US"/>
        </a:p>
      </dgm:t>
    </dgm:pt>
    <dgm:pt modelId="{CB9B0435-6412-44AD-92ED-307256DF9A57}" type="sibTrans" cxnId="{76CD69FB-3731-4A79-ADC6-9A30A8BC177A}">
      <dgm:prSet/>
      <dgm:spPr/>
      <dgm:t>
        <a:bodyPr/>
        <a:lstStyle/>
        <a:p>
          <a:endParaRPr lang="en-US"/>
        </a:p>
      </dgm:t>
    </dgm:pt>
    <dgm:pt modelId="{0E09C629-9E32-4B16-8FEC-E632EA63CB2C}">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Way Forward</a:t>
          </a:r>
        </a:p>
      </dgm:t>
    </dgm:pt>
    <dgm:pt modelId="{D2126EC3-1973-4062-9CFF-4930CEE9687A}" type="parTrans" cxnId="{96B106B0-19A6-494D-B313-EC8C67C0D8B3}">
      <dgm:prSet/>
      <dgm:spPr/>
      <dgm:t>
        <a:bodyPr/>
        <a:lstStyle/>
        <a:p>
          <a:endParaRPr lang="en-US"/>
        </a:p>
      </dgm:t>
    </dgm:pt>
    <dgm:pt modelId="{B23AAD5A-4463-41BE-8931-17A0C4D8788B}" type="sibTrans" cxnId="{96B106B0-19A6-494D-B313-EC8C67C0D8B3}">
      <dgm:prSet/>
      <dgm:spPr/>
      <dgm:t>
        <a:bodyPr/>
        <a:lstStyle/>
        <a:p>
          <a:endParaRPr lang="en-US"/>
        </a:p>
      </dgm:t>
    </dgm:pt>
    <dgm:pt modelId="{7FDC520C-6A3E-423F-8805-3D7CBC6F2C86}">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Group-Wide Controls</a:t>
          </a:r>
        </a:p>
      </dgm:t>
    </dgm:pt>
    <dgm:pt modelId="{CD22D45F-58C6-43D0-B7B4-4E595E2C84F9}" type="parTrans" cxnId="{F856F23E-389D-441F-A823-BE4A96624C09}">
      <dgm:prSet/>
      <dgm:spPr/>
      <dgm:t>
        <a:bodyPr/>
        <a:lstStyle/>
        <a:p>
          <a:endParaRPr lang="en-US"/>
        </a:p>
      </dgm:t>
    </dgm:pt>
    <dgm:pt modelId="{49FE6B82-E423-4085-9E38-632EEAECEC13}" type="sibTrans" cxnId="{F856F23E-389D-441F-A823-BE4A96624C09}">
      <dgm:prSet/>
      <dgm:spPr/>
      <dgm:t>
        <a:bodyPr/>
        <a:lstStyle/>
        <a:p>
          <a:endParaRPr lang="en-US"/>
        </a:p>
      </dgm:t>
    </dgm:pt>
    <dgm:pt modelId="{FD1A6FB9-1A37-4DFB-BA82-6FDC6D6CFEB5}">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GEP Review of the Overall Group Audit Strategy and Plan</a:t>
          </a:r>
        </a:p>
      </dgm:t>
    </dgm:pt>
    <dgm:pt modelId="{BB5AF9F4-8796-423F-8C12-5CD9A855344B}" type="parTrans" cxnId="{0B1638D1-3981-44AA-83D4-F03D70D34A55}">
      <dgm:prSet/>
      <dgm:spPr/>
      <dgm:t>
        <a:bodyPr/>
        <a:lstStyle/>
        <a:p>
          <a:endParaRPr lang="en-US"/>
        </a:p>
      </dgm:t>
    </dgm:pt>
    <dgm:pt modelId="{B6C2AEC8-8197-41B4-8AE3-DBC9EE32D38A}" type="sibTrans" cxnId="{0B1638D1-3981-44AA-83D4-F03D70D34A55}">
      <dgm:prSet/>
      <dgm:spPr/>
      <dgm:t>
        <a:bodyPr/>
        <a:lstStyle/>
        <a:p>
          <a:endParaRPr lang="en-US"/>
        </a:p>
      </dgm:t>
    </dgm:pt>
    <dgm:pt modelId="{6F8E706C-12FB-479B-BA61-CAB1220EA329}">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Stand Back Requirements</a:t>
          </a:r>
        </a:p>
      </dgm:t>
    </dgm:pt>
    <dgm:pt modelId="{2FB9B4DE-1F16-475D-8520-A8DDFAF696CE}" type="parTrans" cxnId="{2FD72ABD-71A8-460A-970E-30222B5BAA35}">
      <dgm:prSet/>
      <dgm:spPr/>
      <dgm:t>
        <a:bodyPr/>
        <a:lstStyle/>
        <a:p>
          <a:endParaRPr lang="en-US"/>
        </a:p>
      </dgm:t>
    </dgm:pt>
    <dgm:pt modelId="{22B5114A-81E7-477D-812B-920D27B09CE3}" type="sibTrans" cxnId="{2FD72ABD-71A8-460A-970E-30222B5BAA35}">
      <dgm:prSet/>
      <dgm:spPr/>
      <dgm:t>
        <a:bodyPr/>
        <a:lstStyle/>
        <a:p>
          <a:endParaRPr lang="en-US"/>
        </a:p>
      </dgm:t>
    </dgm:pt>
    <dgm:pt modelId="{BB72EA33-3C32-4D97-B5A0-AC299928D816}">
      <dgm:prSet phldrT="[Text]" custT="1"/>
      <dgm:spPr/>
      <dgm:t>
        <a:bodyPr/>
        <a:lstStyle/>
        <a:p>
          <a:pPr algn="ctr"/>
          <a:r>
            <a:rPr lang="en-US" sz="2000" b="1" dirty="0">
              <a:latin typeface="Arial" panose="020B0604020202020204" pitchFamily="34" charset="0"/>
              <a:cs typeface="Arial" panose="020B0604020202020204" pitchFamily="34" charset="0"/>
            </a:rPr>
            <a:t>Public Interest Issues</a:t>
          </a:r>
        </a:p>
      </dgm:t>
    </dgm:pt>
    <dgm:pt modelId="{2E09D87B-B4FB-4824-A717-0DF42A4CB061}" type="parTrans" cxnId="{020EA95D-A8D4-4A53-A43E-703D7E2F0695}">
      <dgm:prSet/>
      <dgm:spPr/>
      <dgm:t>
        <a:bodyPr/>
        <a:lstStyle/>
        <a:p>
          <a:endParaRPr lang="en-US"/>
        </a:p>
      </dgm:t>
    </dgm:pt>
    <dgm:pt modelId="{F6665C15-7A66-4DB7-AA9F-21356D09FE88}" type="sibTrans" cxnId="{020EA95D-A8D4-4A53-A43E-703D7E2F0695}">
      <dgm:prSet/>
      <dgm:spPr/>
      <dgm:t>
        <a:bodyPr/>
        <a:lstStyle/>
        <a:p>
          <a:endParaRPr lang="en-US"/>
        </a:p>
      </dgm:t>
    </dgm:pt>
    <dgm:pt modelId="{0EA191A2-1494-40D6-B46E-C080F82E3FD4}">
      <dgm:prSet phldrT="[Text]" custT="1"/>
      <dgm:spPr/>
      <dgm:t>
        <a:bodyPr/>
        <a:lstStyle/>
        <a:p>
          <a:pPr algn="ctr"/>
          <a:r>
            <a:rPr lang="en-US" sz="2000" b="1" dirty="0">
              <a:latin typeface="Arial" panose="020B0604020202020204" pitchFamily="34" charset="0"/>
              <a:cs typeface="Arial" panose="020B0604020202020204" pitchFamily="34" charset="0"/>
            </a:rPr>
            <a:t>CAG</a:t>
          </a:r>
        </a:p>
      </dgm:t>
    </dgm:pt>
    <dgm:pt modelId="{E81A552A-9526-427B-8A6B-1EA4C7A50729}" type="parTrans" cxnId="{48BDDAC9-D352-4BDA-AB88-629CE9BC295F}">
      <dgm:prSet/>
      <dgm:spPr/>
      <dgm:t>
        <a:bodyPr/>
        <a:lstStyle/>
        <a:p>
          <a:endParaRPr lang="en-US"/>
        </a:p>
      </dgm:t>
    </dgm:pt>
    <dgm:pt modelId="{669D6FF4-DA72-4F4E-8CDD-E5033AE29D24}" type="sibTrans" cxnId="{48BDDAC9-D352-4BDA-AB88-629CE9BC295F}">
      <dgm:prSet/>
      <dgm:spPr/>
      <dgm:t>
        <a:bodyPr/>
        <a:lstStyle/>
        <a:p>
          <a:endParaRPr lang="en-US"/>
        </a:p>
      </dgm:t>
    </dgm:pt>
    <dgm:pt modelId="{E9BF94AF-89F9-4F44-81DC-B0742AE9C350}">
      <dgm:prSet phldrT="[Text]" custT="1"/>
      <dgm:spPr/>
      <dgm:t>
        <a:bodyPr/>
        <a:lstStyle/>
        <a:p>
          <a:pPr marL="0" lvl="0" indent="0" algn="ctr" defTabSz="889000">
            <a:lnSpc>
              <a:spcPct val="90000"/>
            </a:lnSpc>
            <a:spcBef>
              <a:spcPct val="0"/>
            </a:spcBef>
            <a:spcAft>
              <a:spcPct val="35000"/>
            </a:spcAft>
          </a:pPr>
          <a:r>
            <a:rPr lang="en-US" sz="2000" b="1" kern="1200" dirty="0">
              <a:solidFill>
                <a:prstClr val="white"/>
              </a:solidFill>
              <a:latin typeface="Arial" panose="020B0604020202020204" pitchFamily="34" charset="0"/>
              <a:ea typeface="+mn-ea"/>
              <a:cs typeface="Arial" panose="020B0604020202020204" pitchFamily="34" charset="0"/>
            </a:rPr>
            <a:t>Proposed Revisions to Agenda Item 9-B</a:t>
          </a:r>
        </a:p>
      </dgm:t>
    </dgm:pt>
    <dgm:pt modelId="{788E1908-6B2F-4A69-89E8-849B1883A55E}" type="parTrans" cxnId="{377D442E-4779-4F77-BA40-9155C3D0F643}">
      <dgm:prSet/>
      <dgm:spPr/>
      <dgm:t>
        <a:bodyPr/>
        <a:lstStyle/>
        <a:p>
          <a:endParaRPr lang="en-US"/>
        </a:p>
      </dgm:t>
    </dgm:pt>
    <dgm:pt modelId="{91F6DC90-80B3-47C7-8B60-ECCD7F58F824}" type="sibTrans" cxnId="{377D442E-4779-4F77-BA40-9155C3D0F643}">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11">
        <dgm:presLayoutVars>
          <dgm:bulletEnabled val="1"/>
        </dgm:presLayoutVars>
      </dgm:prSet>
      <dgm:spPr/>
    </dgm:pt>
    <dgm:pt modelId="{9DAE9A92-88E4-43E3-AD24-4850C1F1D53D}" type="pres">
      <dgm:prSet presAssocID="{DC6BC910-A94E-4716-881B-63FEF61AA658}" presName="sibTrans" presStyleCnt="0"/>
      <dgm:spPr/>
    </dgm:pt>
    <dgm:pt modelId="{3A9FC268-DD87-4D61-9881-0955E409D69D}" type="pres">
      <dgm:prSet presAssocID="{0EA191A2-1494-40D6-B46E-C080F82E3FD4}" presName="node" presStyleLbl="node1" presStyleIdx="1" presStyleCnt="11">
        <dgm:presLayoutVars>
          <dgm:bulletEnabled val="1"/>
        </dgm:presLayoutVars>
      </dgm:prSet>
      <dgm:spPr/>
    </dgm:pt>
    <dgm:pt modelId="{DFD256B9-2CA6-4CCB-AEC9-423326C7246E}" type="pres">
      <dgm:prSet presAssocID="{669D6FF4-DA72-4F4E-8CDD-E5033AE29D24}" presName="sibTrans" presStyleCnt="0"/>
      <dgm:spPr/>
    </dgm:pt>
    <dgm:pt modelId="{DEC4533F-1AC0-45C4-9DC7-148111D64DC4}" type="pres">
      <dgm:prSet presAssocID="{BB72EA33-3C32-4D97-B5A0-AC299928D816}" presName="node" presStyleLbl="node1" presStyleIdx="2" presStyleCnt="11">
        <dgm:presLayoutVars>
          <dgm:bulletEnabled val="1"/>
        </dgm:presLayoutVars>
      </dgm:prSet>
      <dgm:spPr/>
    </dgm:pt>
    <dgm:pt modelId="{B02CAC59-C987-418C-9F58-6EDD590BE866}" type="pres">
      <dgm:prSet presAssocID="{F6665C15-7A66-4DB7-AA9F-21356D09FE88}" presName="sibTrans" presStyleCnt="0"/>
      <dgm:spPr/>
    </dgm:pt>
    <dgm:pt modelId="{BDC979B9-F275-4001-B4D0-E79E9420E96E}" type="pres">
      <dgm:prSet presAssocID="{14D66D36-AC0A-4928-9000-4FBB86066A19}" presName="node" presStyleLbl="node1" presStyleIdx="3" presStyleCnt="11">
        <dgm:presLayoutVars>
          <dgm:bulletEnabled val="1"/>
        </dgm:presLayoutVars>
      </dgm:prSet>
      <dgm:spPr/>
    </dgm:pt>
    <dgm:pt modelId="{B5AE5AAF-6707-4BE8-B4BD-062A88DEDA97}" type="pres">
      <dgm:prSet presAssocID="{847B85FB-DC48-4CB2-843E-B4BCDD265C1E}" presName="sibTrans" presStyleCnt="0"/>
      <dgm:spPr/>
    </dgm:pt>
    <dgm:pt modelId="{6A493A84-DB72-47A1-AF63-4D5E4CDE9BBA}" type="pres">
      <dgm:prSet presAssocID="{874618AA-21E5-4F09-BF54-725CAD3C33E7}" presName="node" presStyleLbl="node1" presStyleIdx="4" presStyleCnt="11">
        <dgm:presLayoutVars>
          <dgm:bulletEnabled val="1"/>
        </dgm:presLayoutVars>
      </dgm:prSet>
      <dgm:spPr/>
    </dgm:pt>
    <dgm:pt modelId="{4F4B310A-F1C5-417F-9F6A-B06511CA6D50}" type="pres">
      <dgm:prSet presAssocID="{08ECE219-19ED-4756-BF73-0E3709BAE153}" presName="sibTrans" presStyleCnt="0"/>
      <dgm:spPr/>
    </dgm:pt>
    <dgm:pt modelId="{83953664-D8C4-4D61-8A9A-72E35732FA67}" type="pres">
      <dgm:prSet presAssocID="{7FDC520C-6A3E-423F-8805-3D7CBC6F2C86}" presName="node" presStyleLbl="node1" presStyleIdx="5" presStyleCnt="11">
        <dgm:presLayoutVars>
          <dgm:bulletEnabled val="1"/>
        </dgm:presLayoutVars>
      </dgm:prSet>
      <dgm:spPr/>
    </dgm:pt>
    <dgm:pt modelId="{CC4795C0-C57C-44FD-9E37-E47AD0B67273}" type="pres">
      <dgm:prSet presAssocID="{49FE6B82-E423-4085-9E38-632EEAECEC13}" presName="sibTrans" presStyleCnt="0"/>
      <dgm:spPr/>
    </dgm:pt>
    <dgm:pt modelId="{E31008F0-A367-4EAB-8E35-63646F849610}" type="pres">
      <dgm:prSet presAssocID="{FD1A6FB9-1A37-4DFB-BA82-6FDC6D6CFEB5}" presName="node" presStyleLbl="node1" presStyleIdx="6" presStyleCnt="11">
        <dgm:presLayoutVars>
          <dgm:bulletEnabled val="1"/>
        </dgm:presLayoutVars>
      </dgm:prSet>
      <dgm:spPr/>
    </dgm:pt>
    <dgm:pt modelId="{1ADD9AAC-93A9-4051-8C41-25C0AE9E5696}" type="pres">
      <dgm:prSet presAssocID="{B6C2AEC8-8197-41B4-8AE3-DBC9EE32D38A}" presName="sibTrans" presStyleCnt="0"/>
      <dgm:spPr/>
    </dgm:pt>
    <dgm:pt modelId="{8AAA8EAB-1A29-4293-9FDE-46D600BCFD3D}" type="pres">
      <dgm:prSet presAssocID="{E9BF94AF-89F9-4F44-81DC-B0742AE9C350}" presName="node" presStyleLbl="node1" presStyleIdx="7" presStyleCnt="11">
        <dgm:presLayoutVars>
          <dgm:bulletEnabled val="1"/>
        </dgm:presLayoutVars>
      </dgm:prSet>
      <dgm:spPr/>
    </dgm:pt>
    <dgm:pt modelId="{337BF11E-7D82-47AE-BF85-9161BD7D65F6}" type="pres">
      <dgm:prSet presAssocID="{91F6DC90-80B3-47C7-8B60-ECCD7F58F824}" presName="sibTrans" presStyleCnt="0"/>
      <dgm:spPr/>
    </dgm:pt>
    <dgm:pt modelId="{54E987B1-6509-4D37-BCCB-2B22C709B142}" type="pres">
      <dgm:prSet presAssocID="{A5BD026F-2805-40CC-AA14-C9BC34269A8E}" presName="node" presStyleLbl="node1" presStyleIdx="8" presStyleCnt="11">
        <dgm:presLayoutVars>
          <dgm:bulletEnabled val="1"/>
        </dgm:presLayoutVars>
      </dgm:prSet>
      <dgm:spPr/>
    </dgm:pt>
    <dgm:pt modelId="{9A6BB58F-60F1-4A0F-886D-E4A6954A7FCD}" type="pres">
      <dgm:prSet presAssocID="{CB9B0435-6412-44AD-92ED-307256DF9A57}" presName="sibTrans" presStyleCnt="0"/>
      <dgm:spPr/>
    </dgm:pt>
    <dgm:pt modelId="{9E95DFE9-35CB-4AAD-9F8E-6A5460E50698}" type="pres">
      <dgm:prSet presAssocID="{6F8E706C-12FB-479B-BA61-CAB1220EA329}" presName="node" presStyleLbl="node1" presStyleIdx="9" presStyleCnt="11">
        <dgm:presLayoutVars>
          <dgm:bulletEnabled val="1"/>
        </dgm:presLayoutVars>
      </dgm:prSet>
      <dgm:spPr/>
    </dgm:pt>
    <dgm:pt modelId="{308E6068-ACBB-4291-A6EC-4737A6EB9413}" type="pres">
      <dgm:prSet presAssocID="{22B5114A-81E7-477D-812B-920D27B09CE3}" presName="sibTrans" presStyleCnt="0"/>
      <dgm:spPr/>
    </dgm:pt>
    <dgm:pt modelId="{6775609E-5BA8-44A9-8647-E9594983C06D}" type="pres">
      <dgm:prSet presAssocID="{0E09C629-9E32-4B16-8FEC-E632EA63CB2C}" presName="node" presStyleLbl="node1" presStyleIdx="10" presStyleCnt="11">
        <dgm:presLayoutVars>
          <dgm:bulletEnabled val="1"/>
        </dgm:presLayoutVars>
      </dgm:prSet>
      <dgm:spPr/>
    </dgm:pt>
  </dgm:ptLst>
  <dgm:cxnLst>
    <dgm:cxn modelId="{97936F00-A28B-4490-9280-8A23D7407434}" type="presOf" srcId="{A5BD026F-2805-40CC-AA14-C9BC34269A8E}" destId="{54E987B1-6509-4D37-BCCB-2B22C709B142}" srcOrd="0" destOrd="0" presId="urn:microsoft.com/office/officeart/2005/8/layout/default"/>
    <dgm:cxn modelId="{569AA11C-FC9F-4257-A69E-FD66652B5DC7}" type="presOf" srcId="{E9BF94AF-89F9-4F44-81DC-B0742AE9C350}" destId="{8AAA8EAB-1A29-4293-9FDE-46D600BCFD3D}" srcOrd="0" destOrd="0" presId="urn:microsoft.com/office/officeart/2005/8/layout/default"/>
    <dgm:cxn modelId="{377D442E-4779-4F77-BA40-9155C3D0F643}" srcId="{62E99C36-7D1C-4387-AF44-E7FCB3F4E37E}" destId="{E9BF94AF-89F9-4F44-81DC-B0742AE9C350}" srcOrd="7" destOrd="0" parTransId="{788E1908-6B2F-4A69-89E8-849B1883A55E}" sibTransId="{91F6DC90-80B3-47C7-8B60-ECCD7F58F824}"/>
    <dgm:cxn modelId="{F856F23E-389D-441F-A823-BE4A96624C09}" srcId="{62E99C36-7D1C-4387-AF44-E7FCB3F4E37E}" destId="{7FDC520C-6A3E-423F-8805-3D7CBC6F2C86}" srcOrd="5" destOrd="0" parTransId="{CD22D45F-58C6-43D0-B7B4-4E595E2C84F9}" sibTransId="{49FE6B82-E423-4085-9E38-632EEAECEC13}"/>
    <dgm:cxn modelId="{1023335D-4231-42CE-836C-1E2643AD1591}" type="presOf" srcId="{BB72EA33-3C32-4D97-B5A0-AC299928D816}" destId="{DEC4533F-1AC0-45C4-9DC7-148111D64DC4}" srcOrd="0" destOrd="0" presId="urn:microsoft.com/office/officeart/2005/8/layout/default"/>
    <dgm:cxn modelId="{020EA95D-A8D4-4A53-A43E-703D7E2F0695}" srcId="{62E99C36-7D1C-4387-AF44-E7FCB3F4E37E}" destId="{BB72EA33-3C32-4D97-B5A0-AC299928D816}" srcOrd="2" destOrd="0" parTransId="{2E09D87B-B4FB-4824-A717-0DF42A4CB061}" sibTransId="{F6665C15-7A66-4DB7-AA9F-21356D09FE88}"/>
    <dgm:cxn modelId="{C1EA6960-D01B-4872-AF8D-E46506D1E362}" srcId="{62E99C36-7D1C-4387-AF44-E7FCB3F4E37E}" destId="{78C749C1-C883-4DFB-9C5B-4E3228FCEF81}" srcOrd="0" destOrd="0" parTransId="{C652904B-26BE-45F0-9E8B-D5236E1D1B4C}" sibTransId="{DC6BC910-A94E-4716-881B-63FEF61AA658}"/>
    <dgm:cxn modelId="{1BD7F253-246C-44DE-B0DF-D3D86882A1AD}" type="presOf" srcId="{62E99C36-7D1C-4387-AF44-E7FCB3F4E37E}" destId="{83E5B1CA-B483-457E-A8F0-C5E51F759FA7}" srcOrd="0" destOrd="0" presId="urn:microsoft.com/office/officeart/2005/8/layout/default"/>
    <dgm:cxn modelId="{5ADB3F59-43F8-4E21-84F5-1C39DB98297D}" type="presOf" srcId="{7FDC520C-6A3E-423F-8805-3D7CBC6F2C86}" destId="{83953664-D8C4-4D61-8A9A-72E35732FA6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C99F19E-FDBC-4ABD-A738-66DC2923359B}" type="presOf" srcId="{0EA191A2-1494-40D6-B46E-C080F82E3FD4}" destId="{3A9FC268-DD87-4D61-9881-0955E409D69D}" srcOrd="0" destOrd="0" presId="urn:microsoft.com/office/officeart/2005/8/layout/default"/>
    <dgm:cxn modelId="{2F7D42A4-98C4-47DA-B5E5-B062F27B7299}" type="presOf" srcId="{0E09C629-9E32-4B16-8FEC-E632EA63CB2C}" destId="{6775609E-5BA8-44A9-8647-E9594983C06D}" srcOrd="0" destOrd="0" presId="urn:microsoft.com/office/officeart/2005/8/layout/default"/>
    <dgm:cxn modelId="{9D5061A6-3419-41B3-B557-D56C3D7DB54E}" srcId="{62E99C36-7D1C-4387-AF44-E7FCB3F4E37E}" destId="{14D66D36-AC0A-4928-9000-4FBB86066A19}" srcOrd="3" destOrd="0" parTransId="{D84F1B13-CA57-44A0-965B-0D9B2DF84F4E}" sibTransId="{847B85FB-DC48-4CB2-843E-B4BCDD265C1E}"/>
    <dgm:cxn modelId="{1E4CD7AE-6115-46C3-B4AA-94E4CE09548F}" type="presOf" srcId="{874618AA-21E5-4F09-BF54-725CAD3C33E7}" destId="{6A493A84-DB72-47A1-AF63-4D5E4CDE9BBA}" srcOrd="0" destOrd="0" presId="urn:microsoft.com/office/officeart/2005/8/layout/default"/>
    <dgm:cxn modelId="{96B106B0-19A6-494D-B313-EC8C67C0D8B3}" srcId="{62E99C36-7D1C-4387-AF44-E7FCB3F4E37E}" destId="{0E09C629-9E32-4B16-8FEC-E632EA63CB2C}" srcOrd="10" destOrd="0" parTransId="{D2126EC3-1973-4062-9CFF-4930CEE9687A}" sibTransId="{B23AAD5A-4463-41BE-8931-17A0C4D8788B}"/>
    <dgm:cxn modelId="{2FD72ABD-71A8-460A-970E-30222B5BAA35}" srcId="{62E99C36-7D1C-4387-AF44-E7FCB3F4E37E}" destId="{6F8E706C-12FB-479B-BA61-CAB1220EA329}" srcOrd="9" destOrd="0" parTransId="{2FB9B4DE-1F16-475D-8520-A8DDFAF696CE}" sibTransId="{22B5114A-81E7-477D-812B-920D27B09CE3}"/>
    <dgm:cxn modelId="{0ADE6BBE-E781-4357-9B40-CD3A6E9697D5}" srcId="{62E99C36-7D1C-4387-AF44-E7FCB3F4E37E}" destId="{874618AA-21E5-4F09-BF54-725CAD3C33E7}" srcOrd="4" destOrd="0" parTransId="{65EE6D9E-4C3D-44FD-85A5-F145A789F888}" sibTransId="{08ECE219-19ED-4756-BF73-0E3709BAE153}"/>
    <dgm:cxn modelId="{48BDDAC9-D352-4BDA-AB88-629CE9BC295F}" srcId="{62E99C36-7D1C-4387-AF44-E7FCB3F4E37E}" destId="{0EA191A2-1494-40D6-B46E-C080F82E3FD4}" srcOrd="1" destOrd="0" parTransId="{E81A552A-9526-427B-8A6B-1EA4C7A50729}" sibTransId="{669D6FF4-DA72-4F4E-8CDD-E5033AE29D24}"/>
    <dgm:cxn modelId="{0B1638D1-3981-44AA-83D4-F03D70D34A55}" srcId="{62E99C36-7D1C-4387-AF44-E7FCB3F4E37E}" destId="{FD1A6FB9-1A37-4DFB-BA82-6FDC6D6CFEB5}" srcOrd="6" destOrd="0" parTransId="{BB5AF9F4-8796-423F-8C12-5CD9A855344B}" sibTransId="{B6C2AEC8-8197-41B4-8AE3-DBC9EE32D38A}"/>
    <dgm:cxn modelId="{C833D5EA-8935-4206-AEBF-390DFC09060E}" type="presOf" srcId="{78C749C1-C883-4DFB-9C5B-4E3228FCEF81}" destId="{5D04C2F2-ACCF-4728-B8D6-6CAE4BD0793D}" srcOrd="0" destOrd="0" presId="urn:microsoft.com/office/officeart/2005/8/layout/default"/>
    <dgm:cxn modelId="{E92EA1F3-CFFE-4438-88AB-0F55F269181C}" type="presOf" srcId="{FD1A6FB9-1A37-4DFB-BA82-6FDC6D6CFEB5}" destId="{E31008F0-A367-4EAB-8E35-63646F849610}" srcOrd="0" destOrd="0" presId="urn:microsoft.com/office/officeart/2005/8/layout/default"/>
    <dgm:cxn modelId="{76CD69FB-3731-4A79-ADC6-9A30A8BC177A}" srcId="{62E99C36-7D1C-4387-AF44-E7FCB3F4E37E}" destId="{A5BD026F-2805-40CC-AA14-C9BC34269A8E}" srcOrd="8" destOrd="0" parTransId="{F944E1C6-691E-4A7F-BB16-B01DEF304DA8}" sibTransId="{CB9B0435-6412-44AD-92ED-307256DF9A57}"/>
    <dgm:cxn modelId="{EEDC89FB-E40F-4D12-868F-1998DFEA39CD}" type="presOf" srcId="{6F8E706C-12FB-479B-BA61-CAB1220EA329}" destId="{9E95DFE9-35CB-4AAD-9F8E-6A5460E50698}"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 modelId="{EFF3CFDF-8643-4EF1-A281-46DA456553A9}" type="presParOf" srcId="{83E5B1CA-B483-457E-A8F0-C5E51F759FA7}" destId="{9DAE9A92-88E4-43E3-AD24-4850C1F1D53D}" srcOrd="1" destOrd="0" presId="urn:microsoft.com/office/officeart/2005/8/layout/default"/>
    <dgm:cxn modelId="{D023B537-6DB6-41F6-B894-0904D64C6841}" type="presParOf" srcId="{83E5B1CA-B483-457E-A8F0-C5E51F759FA7}" destId="{3A9FC268-DD87-4D61-9881-0955E409D69D}" srcOrd="2" destOrd="0" presId="urn:microsoft.com/office/officeart/2005/8/layout/default"/>
    <dgm:cxn modelId="{F5997B04-3715-4F07-9F84-9F55E11615E2}" type="presParOf" srcId="{83E5B1CA-B483-457E-A8F0-C5E51F759FA7}" destId="{DFD256B9-2CA6-4CCB-AEC9-423326C7246E}" srcOrd="3" destOrd="0" presId="urn:microsoft.com/office/officeart/2005/8/layout/default"/>
    <dgm:cxn modelId="{4084603F-851F-4FA9-A3ED-CF3311784724}" type="presParOf" srcId="{83E5B1CA-B483-457E-A8F0-C5E51F759FA7}" destId="{DEC4533F-1AC0-45C4-9DC7-148111D64DC4}" srcOrd="4" destOrd="0" presId="urn:microsoft.com/office/officeart/2005/8/layout/default"/>
    <dgm:cxn modelId="{215FF1BE-BD35-42AC-98FF-AF1CC6DCB435}" type="presParOf" srcId="{83E5B1CA-B483-457E-A8F0-C5E51F759FA7}" destId="{B02CAC59-C987-418C-9F58-6EDD590BE866}" srcOrd="5" destOrd="0" presId="urn:microsoft.com/office/officeart/2005/8/layout/default"/>
    <dgm:cxn modelId="{FDDA5D00-FD4A-4B9C-A30E-BEB89A6F2D3F}" type="presParOf" srcId="{83E5B1CA-B483-457E-A8F0-C5E51F759FA7}" destId="{BDC979B9-F275-4001-B4D0-E79E9420E96E}" srcOrd="6" destOrd="0" presId="urn:microsoft.com/office/officeart/2005/8/layout/default"/>
    <dgm:cxn modelId="{89F990D5-7128-4C84-BA35-2BAF4EAC5D91}" type="presParOf" srcId="{83E5B1CA-B483-457E-A8F0-C5E51F759FA7}" destId="{B5AE5AAF-6707-4BE8-B4BD-062A88DEDA97}" srcOrd="7" destOrd="0" presId="urn:microsoft.com/office/officeart/2005/8/layout/default"/>
    <dgm:cxn modelId="{14B148F7-EA79-40F3-911B-14BE053E0216}" type="presParOf" srcId="{83E5B1CA-B483-457E-A8F0-C5E51F759FA7}" destId="{6A493A84-DB72-47A1-AF63-4D5E4CDE9BBA}" srcOrd="8" destOrd="0" presId="urn:microsoft.com/office/officeart/2005/8/layout/default"/>
    <dgm:cxn modelId="{89C1F43F-1BA9-4B8A-9037-314B124F2789}" type="presParOf" srcId="{83E5B1CA-B483-457E-A8F0-C5E51F759FA7}" destId="{4F4B310A-F1C5-417F-9F6A-B06511CA6D50}" srcOrd="9" destOrd="0" presId="urn:microsoft.com/office/officeart/2005/8/layout/default"/>
    <dgm:cxn modelId="{13E4BF86-AE5C-42DB-9E85-971283D31964}" type="presParOf" srcId="{83E5B1CA-B483-457E-A8F0-C5E51F759FA7}" destId="{83953664-D8C4-4D61-8A9A-72E35732FA67}" srcOrd="10" destOrd="0" presId="urn:microsoft.com/office/officeart/2005/8/layout/default"/>
    <dgm:cxn modelId="{1F2B213C-7B3B-44AB-9A89-EB19D54E561A}" type="presParOf" srcId="{83E5B1CA-B483-457E-A8F0-C5E51F759FA7}" destId="{CC4795C0-C57C-44FD-9E37-E47AD0B67273}" srcOrd="11" destOrd="0" presId="urn:microsoft.com/office/officeart/2005/8/layout/default"/>
    <dgm:cxn modelId="{3F140E7A-74BC-47E0-9242-FFB863EDE373}" type="presParOf" srcId="{83E5B1CA-B483-457E-A8F0-C5E51F759FA7}" destId="{E31008F0-A367-4EAB-8E35-63646F849610}" srcOrd="12" destOrd="0" presId="urn:microsoft.com/office/officeart/2005/8/layout/default"/>
    <dgm:cxn modelId="{4AAC6211-E0A2-4760-B512-CED9E75BC7C4}" type="presParOf" srcId="{83E5B1CA-B483-457E-A8F0-C5E51F759FA7}" destId="{1ADD9AAC-93A9-4051-8C41-25C0AE9E5696}" srcOrd="13" destOrd="0" presId="urn:microsoft.com/office/officeart/2005/8/layout/default"/>
    <dgm:cxn modelId="{35DCF5A2-7035-4508-AA64-69073CB6D2B6}" type="presParOf" srcId="{83E5B1CA-B483-457E-A8F0-C5E51F759FA7}" destId="{8AAA8EAB-1A29-4293-9FDE-46D600BCFD3D}" srcOrd="14" destOrd="0" presId="urn:microsoft.com/office/officeart/2005/8/layout/default"/>
    <dgm:cxn modelId="{28F22B7C-22D7-4DC4-9C57-344B950B4331}" type="presParOf" srcId="{83E5B1CA-B483-457E-A8F0-C5E51F759FA7}" destId="{337BF11E-7D82-47AE-BF85-9161BD7D65F6}" srcOrd="15" destOrd="0" presId="urn:microsoft.com/office/officeart/2005/8/layout/default"/>
    <dgm:cxn modelId="{61559EE9-0905-419A-8EBD-CEE70B39431F}" type="presParOf" srcId="{83E5B1CA-B483-457E-A8F0-C5E51F759FA7}" destId="{54E987B1-6509-4D37-BCCB-2B22C709B142}" srcOrd="16" destOrd="0" presId="urn:microsoft.com/office/officeart/2005/8/layout/default"/>
    <dgm:cxn modelId="{C17A20B2-48D1-4B8C-BC5E-6554A7A84396}" type="presParOf" srcId="{83E5B1CA-B483-457E-A8F0-C5E51F759FA7}" destId="{9A6BB58F-60F1-4A0F-886D-E4A6954A7FCD}" srcOrd="17" destOrd="0" presId="urn:microsoft.com/office/officeart/2005/8/layout/default"/>
    <dgm:cxn modelId="{FCFA4CF6-96ED-44D6-9A91-522056544369}" type="presParOf" srcId="{83E5B1CA-B483-457E-A8F0-C5E51F759FA7}" destId="{9E95DFE9-35CB-4AAD-9F8E-6A5460E50698}" srcOrd="18" destOrd="0" presId="urn:microsoft.com/office/officeart/2005/8/layout/default"/>
    <dgm:cxn modelId="{19790BCA-B96E-49AD-92E3-7DA7DB690E3E}" type="presParOf" srcId="{83E5B1CA-B483-457E-A8F0-C5E51F759FA7}" destId="{308E6068-ACBB-4291-A6EC-4737A6EB9413}" srcOrd="19" destOrd="0" presId="urn:microsoft.com/office/officeart/2005/8/layout/default"/>
    <dgm:cxn modelId="{DE56E2D6-9D56-478F-B177-8375781222E8}" type="presParOf" srcId="{83E5B1CA-B483-457E-A8F0-C5E51F759FA7}" destId="{6775609E-5BA8-44A9-8647-E9594983C06D}" srcOrd="2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a:solidFill>
          <a:srgbClr val="005BAA"/>
        </a:solidFill>
      </dgm:spPr>
      <dgm:t>
        <a:bodyPr/>
        <a:lstStyle/>
        <a:p>
          <a:pPr algn="ctr"/>
          <a:r>
            <a:rPr lang="en-US" sz="4000" b="1" dirty="0">
              <a:latin typeface="Arial" panose="020B0604020202020204" pitchFamily="34" charset="0"/>
              <a:cs typeface="Arial" panose="020B0604020202020204" pitchFamily="34" charset="0"/>
            </a:rPr>
            <a:t>Outreach</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1" custScaleX="57955" custScaleY="48296" custLinFactNeighborX="276" custLinFactNeighborY="-613">
        <dgm:presLayoutVars>
          <dgm:bulletEnabled val="1"/>
        </dgm:presLayoutVars>
      </dgm:prSet>
      <dgm:spPr/>
    </dgm:pt>
  </dgm:ptLst>
  <dgm:cxnLst>
    <dgm:cxn modelId="{C1EA6960-D01B-4872-AF8D-E46506D1E362}" srcId="{62E99C36-7D1C-4387-AF44-E7FCB3F4E37E}" destId="{78C749C1-C883-4DFB-9C5B-4E3228FCEF81}" srcOrd="0" destOrd="0" parTransId="{C652904B-26BE-45F0-9E8B-D5236E1D1B4C}" sibTransId="{DC6BC910-A94E-4716-881B-63FEF61AA658}"/>
    <dgm:cxn modelId="{1BD7F253-246C-44DE-B0DF-D3D86882A1AD}" type="presOf" srcId="{62E99C36-7D1C-4387-AF44-E7FCB3F4E37E}" destId="{83E5B1CA-B483-457E-A8F0-C5E51F759FA7}" srcOrd="0" destOrd="0" presId="urn:microsoft.com/office/officeart/2005/8/layout/default"/>
    <dgm:cxn modelId="{C833D5EA-8935-4206-AEBF-390DFC09060E}" type="presOf" srcId="{78C749C1-C883-4DFB-9C5B-4E3228FCEF81}" destId="{5D04C2F2-ACCF-4728-B8D6-6CAE4BD0793D}"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a:solidFill>
          <a:srgbClr val="0064B2"/>
        </a:solidFill>
      </dgm:spPr>
      <dgm:t>
        <a:bodyPr/>
        <a:lstStyle/>
        <a:p>
          <a:pPr algn="ctr"/>
          <a:r>
            <a:rPr lang="en-US" sz="4000" b="1" dirty="0">
              <a:latin typeface="Arial" panose="020B0604020202020204" pitchFamily="34" charset="0"/>
              <a:cs typeface="Arial" panose="020B0604020202020204" pitchFamily="34" charset="0"/>
            </a:rPr>
            <a:t>CAG</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1" custScaleX="57955" custScaleY="48296" custLinFactNeighborX="276" custLinFactNeighborY="-613">
        <dgm:presLayoutVars>
          <dgm:bulletEnabled val="1"/>
        </dgm:presLayoutVars>
      </dgm:prSet>
      <dgm:spPr/>
    </dgm:pt>
  </dgm:ptLst>
  <dgm:cxnLst>
    <dgm:cxn modelId="{C1EA6960-D01B-4872-AF8D-E46506D1E362}" srcId="{62E99C36-7D1C-4387-AF44-E7FCB3F4E37E}" destId="{78C749C1-C883-4DFB-9C5B-4E3228FCEF81}" srcOrd="0" destOrd="0" parTransId="{C652904B-26BE-45F0-9E8B-D5236E1D1B4C}" sibTransId="{DC6BC910-A94E-4716-881B-63FEF61AA658}"/>
    <dgm:cxn modelId="{1BD7F253-246C-44DE-B0DF-D3D86882A1AD}" type="presOf" srcId="{62E99C36-7D1C-4387-AF44-E7FCB3F4E37E}" destId="{83E5B1CA-B483-457E-A8F0-C5E51F759FA7}" srcOrd="0" destOrd="0" presId="urn:microsoft.com/office/officeart/2005/8/layout/default"/>
    <dgm:cxn modelId="{C833D5EA-8935-4206-AEBF-390DFC09060E}" type="presOf" srcId="{78C749C1-C883-4DFB-9C5B-4E3228FCEF81}" destId="{5D04C2F2-ACCF-4728-B8D6-6CAE4BD0793D}"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78C749C1-C883-4DFB-9C5B-4E3228FCEF81}">
      <dgm:prSet phldrT="[Text]" custT="1"/>
      <dgm:spPr>
        <a:solidFill>
          <a:srgbClr val="006EBA"/>
        </a:solidFill>
      </dgm:spPr>
      <dgm:t>
        <a:bodyPr/>
        <a:lstStyle/>
        <a:p>
          <a:pPr algn="ctr"/>
          <a:r>
            <a:rPr lang="en-US" sz="4000" b="1" dirty="0">
              <a:latin typeface="Arial" panose="020B0604020202020204" pitchFamily="34" charset="0"/>
              <a:cs typeface="Arial" panose="020B0604020202020204" pitchFamily="34" charset="0"/>
            </a:rPr>
            <a:t>Public Interest Issues</a:t>
          </a:r>
        </a:p>
      </dgm:t>
    </dgm:pt>
    <dgm:pt modelId="{C652904B-26BE-45F0-9E8B-D5236E1D1B4C}" type="parTrans" cxnId="{C1EA6960-D01B-4872-AF8D-E46506D1E362}">
      <dgm:prSet/>
      <dgm:spPr/>
      <dgm:t>
        <a:bodyPr/>
        <a:lstStyle/>
        <a:p>
          <a:endParaRPr lang="en-US"/>
        </a:p>
      </dgm:t>
    </dgm:pt>
    <dgm:pt modelId="{DC6BC910-A94E-4716-881B-63FEF61AA658}" type="sibTrans" cxnId="{C1EA6960-D01B-4872-AF8D-E46506D1E362}">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5D04C2F2-ACCF-4728-B8D6-6CAE4BD0793D}" type="pres">
      <dgm:prSet presAssocID="{78C749C1-C883-4DFB-9C5B-4E3228FCEF81}" presName="node" presStyleLbl="node1" presStyleIdx="0" presStyleCnt="1" custScaleX="57955" custScaleY="48296" custLinFactNeighborX="276" custLinFactNeighborY="-613">
        <dgm:presLayoutVars>
          <dgm:bulletEnabled val="1"/>
        </dgm:presLayoutVars>
      </dgm:prSet>
      <dgm:spPr/>
    </dgm:pt>
  </dgm:ptLst>
  <dgm:cxnLst>
    <dgm:cxn modelId="{C1EA6960-D01B-4872-AF8D-E46506D1E362}" srcId="{62E99C36-7D1C-4387-AF44-E7FCB3F4E37E}" destId="{78C749C1-C883-4DFB-9C5B-4E3228FCEF81}" srcOrd="0" destOrd="0" parTransId="{C652904B-26BE-45F0-9E8B-D5236E1D1B4C}" sibTransId="{DC6BC910-A94E-4716-881B-63FEF61AA658}"/>
    <dgm:cxn modelId="{1BD7F253-246C-44DE-B0DF-D3D86882A1AD}" type="presOf" srcId="{62E99C36-7D1C-4387-AF44-E7FCB3F4E37E}" destId="{83E5B1CA-B483-457E-A8F0-C5E51F759FA7}" srcOrd="0" destOrd="0" presId="urn:microsoft.com/office/officeart/2005/8/layout/default"/>
    <dgm:cxn modelId="{C833D5EA-8935-4206-AEBF-390DFC09060E}" type="presOf" srcId="{78C749C1-C883-4DFB-9C5B-4E3228FCEF81}" destId="{5D04C2F2-ACCF-4728-B8D6-6CAE4BD0793D}" srcOrd="0" destOrd="0" presId="urn:microsoft.com/office/officeart/2005/8/layout/default"/>
    <dgm:cxn modelId="{B8F4E35C-674C-4CE5-A49E-15B0A234489C}" type="presParOf" srcId="{83E5B1CA-B483-457E-A8F0-C5E51F759FA7}" destId="{5D04C2F2-ACCF-4728-B8D6-6CAE4BD0793D}"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4E57C338-51D3-4B1F-B4F8-9C66609F5D9E}">
      <dgm:prSet phldrT="[Text]" custT="1"/>
      <dgm:spPr>
        <a:solidFill>
          <a:srgbClr val="0079C2"/>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Scope and Structure of the Standard</a:t>
          </a: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DB9B51CC-1A90-42FA-858E-E568DD86B563}" type="pres">
      <dgm:prSet presAssocID="{4E57C338-51D3-4B1F-B4F8-9C66609F5D9E}" presName="node" presStyleLbl="node1" presStyleIdx="0" presStyleCnt="1" custScaleX="57955" custScaleY="48296" custLinFactNeighborX="542">
        <dgm:presLayoutVars>
          <dgm:bulletEnabled val="1"/>
        </dgm:presLayoutVars>
      </dgm:prSet>
      <dgm:spPr/>
    </dgm:pt>
  </dgm:ptLst>
  <dgm:cxnLst>
    <dgm:cxn modelId="{BB8F9127-6199-4C01-BC50-348447405C04}" srcId="{62E99C36-7D1C-4387-AF44-E7FCB3F4E37E}" destId="{4E57C338-51D3-4B1F-B4F8-9C66609F5D9E}" srcOrd="0" destOrd="0" parTransId="{ADC42DB5-B686-4B81-9DDE-65AA6D8D786E}" sibTransId="{41425E7F-A94C-4EE9-8688-3D40A29C50CF}"/>
    <dgm:cxn modelId="{1BD7F253-246C-44DE-B0DF-D3D86882A1AD}" type="presOf" srcId="{62E99C36-7D1C-4387-AF44-E7FCB3F4E37E}" destId="{83E5B1CA-B483-457E-A8F0-C5E51F759FA7}" srcOrd="0" destOrd="0" presId="urn:microsoft.com/office/officeart/2005/8/layout/default"/>
    <dgm:cxn modelId="{7D07A8FB-32A6-4C4D-B439-CA2E080666EC}" type="presOf" srcId="{4E57C338-51D3-4B1F-B4F8-9C66609F5D9E}" destId="{DB9B51CC-1A90-42FA-858E-E568DD86B563}" srcOrd="0" destOrd="0" presId="urn:microsoft.com/office/officeart/2005/8/layout/default"/>
    <dgm:cxn modelId="{CA3613F7-52C0-4260-9E77-7FF4C08A6950}" type="presParOf" srcId="{83E5B1CA-B483-457E-A8F0-C5E51F759FA7}" destId="{DB9B51CC-1A90-42FA-858E-E568DD86B563}"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23C10384-9BC7-46EF-904D-2876B5DCF9A1}">
      <dgm:prSet phldrT="[Text]" custT="1"/>
      <dgm:spPr/>
      <dgm:t>
        <a:bodyPr/>
        <a:lstStyle/>
        <a:p>
          <a:pPr>
            <a:buNone/>
          </a:pPr>
          <a:r>
            <a:rPr lang="en-US" sz="3200" b="1" dirty="0">
              <a:solidFill>
                <a:prstClr val="white"/>
              </a:solidFill>
              <a:latin typeface="Arial" panose="020B0604020202020204" pitchFamily="34" charset="0"/>
              <a:ea typeface="+mn-ea"/>
              <a:cs typeface="Arial" panose="020B0604020202020204" pitchFamily="34" charset="0"/>
            </a:rPr>
            <a:t>Key foundational standards: ISA 220, 230, 240, 315 (Revised), 320, 330</a:t>
          </a:r>
        </a:p>
      </dgm:t>
    </dgm:pt>
    <dgm:pt modelId="{7494D11E-4DF9-4BDC-9B9C-980CB32C2657}" type="sibTrans" cxnId="{23152366-5C3E-4F30-8FF2-CEF86D4949C9}">
      <dgm:prSet/>
      <dgm:spPr/>
      <dgm:t>
        <a:bodyPr/>
        <a:lstStyle/>
        <a:p>
          <a:endParaRPr lang="en-US"/>
        </a:p>
      </dgm:t>
    </dgm:pt>
    <dgm:pt modelId="{019E19BD-3CCF-407E-B9C2-23C87AC9307E}" type="parTrans" cxnId="{23152366-5C3E-4F30-8FF2-CEF86D4949C9}">
      <dgm:prSet/>
      <dgm:spPr/>
      <dgm:t>
        <a:bodyPr/>
        <a:lstStyle/>
        <a:p>
          <a:endParaRPr lang="en-US"/>
        </a:p>
      </dgm:t>
    </dgm:pt>
    <dgm:pt modelId="{78136F33-E5CC-4FDD-9EC0-9C8671FB5CC3}">
      <dgm:prSet phldrT="[Text]" custT="1"/>
      <dgm:spPr/>
      <dgm:t>
        <a:bodyPr/>
        <a:lstStyle/>
        <a:p>
          <a:pPr>
            <a:buNone/>
          </a:pPr>
          <a:r>
            <a:rPr lang="en-US" sz="3600" b="1" dirty="0">
              <a:solidFill>
                <a:prstClr val="white"/>
              </a:solidFill>
              <a:latin typeface="Arial" panose="020B0604020202020204" pitchFamily="34" charset="0"/>
              <a:ea typeface="+mn-ea"/>
              <a:cs typeface="Arial" panose="020B0604020202020204" pitchFamily="34" charset="0"/>
            </a:rPr>
            <a:t>ISA 600</a:t>
          </a:r>
        </a:p>
      </dgm:t>
    </dgm:pt>
    <dgm:pt modelId="{B17BC53E-5E4A-457C-825D-73B8253CE357}" type="sibTrans" cxnId="{EE12FF6F-2360-4388-8A93-D9DD8E9BAC88}">
      <dgm:prSet/>
      <dgm:spPr/>
      <dgm:t>
        <a:bodyPr/>
        <a:lstStyle/>
        <a:p>
          <a:endParaRPr lang="en-US"/>
        </a:p>
      </dgm:t>
    </dgm:pt>
    <dgm:pt modelId="{59AC0802-C6E7-486A-AA81-AE8B6ADE8CAB}" type="parTrans" cxnId="{EE12FF6F-2360-4388-8A93-D9DD8E9BAC88}">
      <dgm:prSet/>
      <dgm:spPr/>
      <dgm:t>
        <a:bodyPr/>
        <a:lstStyle/>
        <a:p>
          <a:endParaRPr lang="en-US"/>
        </a:p>
      </dgm:t>
    </dgm:pt>
    <dgm:pt modelId="{6F8E706C-12FB-479B-BA61-CAB1220EA329}">
      <dgm:prSet phldrT="[Text]" custT="1"/>
      <dgm:spPr/>
      <dgm: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Stand Back Requirements</a:t>
          </a:r>
        </a:p>
      </dgm:t>
    </dgm:pt>
    <dgm:pt modelId="{22B5114A-81E7-477D-812B-920D27B09CE3}" type="sibTrans" cxnId="{2FD72ABD-71A8-460A-970E-30222B5BAA35}">
      <dgm:prSet/>
      <dgm:spPr/>
      <dgm:t>
        <a:bodyPr/>
        <a:lstStyle/>
        <a:p>
          <a:endParaRPr lang="en-US"/>
        </a:p>
      </dgm:t>
    </dgm:pt>
    <dgm:pt modelId="{2FB9B4DE-1F16-475D-8520-A8DDFAF696CE}" type="parTrans" cxnId="{2FD72ABD-71A8-460A-970E-30222B5BAA35}">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9E95DFE9-35CB-4AAD-9F8E-6A5460E50698}" type="pres">
      <dgm:prSet presAssocID="{6F8E706C-12FB-479B-BA61-CAB1220EA329}" presName="node" presStyleLbl="node1" presStyleIdx="0" presStyleCnt="3" custScaleY="217362">
        <dgm:presLayoutVars>
          <dgm:bulletEnabled val="1"/>
        </dgm:presLayoutVars>
      </dgm:prSet>
      <dgm:spPr/>
    </dgm:pt>
    <dgm:pt modelId="{8F2C1D39-2454-43AD-91C8-329E25478A8F}" type="pres">
      <dgm:prSet presAssocID="{22B5114A-81E7-477D-812B-920D27B09CE3}" presName="sibTrans" presStyleCnt="0"/>
      <dgm:spPr/>
    </dgm:pt>
    <dgm:pt modelId="{0C2E22BD-49C5-435C-8238-FF71C97D5991}" type="pres">
      <dgm:prSet presAssocID="{23C10384-9BC7-46EF-904D-2876B5DCF9A1}" presName="node" presStyleLbl="node1" presStyleIdx="1" presStyleCnt="3" custScaleY="217362" custLinFactNeighborX="0" custLinFactNeighborY="48">
        <dgm:presLayoutVars>
          <dgm:bulletEnabled val="1"/>
        </dgm:presLayoutVars>
      </dgm:prSet>
      <dgm:spPr/>
    </dgm:pt>
    <dgm:pt modelId="{CA11673A-A5BD-44C7-B695-348576025877}" type="pres">
      <dgm:prSet presAssocID="{7494D11E-4DF9-4BDC-9B9C-980CB32C2657}" presName="sibTrans" presStyleCnt="0"/>
      <dgm:spPr/>
    </dgm:pt>
    <dgm:pt modelId="{2C7DEE11-A1BD-4733-9D18-27FDCCB1D019}" type="pres">
      <dgm:prSet presAssocID="{78136F33-E5CC-4FDD-9EC0-9C8671FB5CC3}" presName="node" presStyleLbl="node1" presStyleIdx="2" presStyleCnt="3" custScaleY="217362">
        <dgm:presLayoutVars>
          <dgm:bulletEnabled val="1"/>
        </dgm:presLayoutVars>
      </dgm:prSet>
      <dgm:spPr/>
    </dgm:pt>
  </dgm:ptLst>
  <dgm:cxnLst>
    <dgm:cxn modelId="{43CBEA1A-1AE0-496A-A0B7-963F5B7988BD}" type="presOf" srcId="{78136F33-E5CC-4FDD-9EC0-9C8671FB5CC3}" destId="{2C7DEE11-A1BD-4733-9D18-27FDCCB1D019}" srcOrd="0" destOrd="0" presId="urn:microsoft.com/office/officeart/2005/8/layout/default"/>
    <dgm:cxn modelId="{23152366-5C3E-4F30-8FF2-CEF86D4949C9}" srcId="{62E99C36-7D1C-4387-AF44-E7FCB3F4E37E}" destId="{23C10384-9BC7-46EF-904D-2876B5DCF9A1}" srcOrd="1" destOrd="0" parTransId="{019E19BD-3CCF-407E-B9C2-23C87AC9307E}" sibTransId="{7494D11E-4DF9-4BDC-9B9C-980CB32C2657}"/>
    <dgm:cxn modelId="{EE12FF6F-2360-4388-8A93-D9DD8E9BAC88}" srcId="{62E99C36-7D1C-4387-AF44-E7FCB3F4E37E}" destId="{78136F33-E5CC-4FDD-9EC0-9C8671FB5CC3}" srcOrd="2" destOrd="0" parTransId="{59AC0802-C6E7-486A-AA81-AE8B6ADE8CAB}" sibTransId="{B17BC53E-5E4A-457C-825D-73B8253CE357}"/>
    <dgm:cxn modelId="{1BD7F253-246C-44DE-B0DF-D3D86882A1AD}" type="presOf" srcId="{62E99C36-7D1C-4387-AF44-E7FCB3F4E37E}" destId="{83E5B1CA-B483-457E-A8F0-C5E51F759FA7}" srcOrd="0" destOrd="0" presId="urn:microsoft.com/office/officeart/2005/8/layout/default"/>
    <dgm:cxn modelId="{29C4AB88-3D36-4A72-B8AF-481BACD5C48E}" type="presOf" srcId="{23C10384-9BC7-46EF-904D-2876B5DCF9A1}" destId="{0C2E22BD-49C5-435C-8238-FF71C97D5991}" srcOrd="0" destOrd="0" presId="urn:microsoft.com/office/officeart/2005/8/layout/default"/>
    <dgm:cxn modelId="{2FD72ABD-71A8-460A-970E-30222B5BAA35}" srcId="{62E99C36-7D1C-4387-AF44-E7FCB3F4E37E}" destId="{6F8E706C-12FB-479B-BA61-CAB1220EA329}" srcOrd="0" destOrd="0" parTransId="{2FB9B4DE-1F16-475D-8520-A8DDFAF696CE}" sibTransId="{22B5114A-81E7-477D-812B-920D27B09CE3}"/>
    <dgm:cxn modelId="{EEDC89FB-E40F-4D12-868F-1998DFEA39CD}" type="presOf" srcId="{6F8E706C-12FB-479B-BA61-CAB1220EA329}" destId="{9E95DFE9-35CB-4AAD-9F8E-6A5460E50698}" srcOrd="0" destOrd="0" presId="urn:microsoft.com/office/officeart/2005/8/layout/default"/>
    <dgm:cxn modelId="{FCFA4CF6-96ED-44D6-9A91-522056544369}" type="presParOf" srcId="{83E5B1CA-B483-457E-A8F0-C5E51F759FA7}" destId="{9E95DFE9-35CB-4AAD-9F8E-6A5460E50698}" srcOrd="0" destOrd="0" presId="urn:microsoft.com/office/officeart/2005/8/layout/default"/>
    <dgm:cxn modelId="{5383C78D-7D4A-48AF-92C7-B960A4D4F410}" type="presParOf" srcId="{83E5B1CA-B483-457E-A8F0-C5E51F759FA7}" destId="{8F2C1D39-2454-43AD-91C8-329E25478A8F}" srcOrd="1" destOrd="0" presId="urn:microsoft.com/office/officeart/2005/8/layout/default"/>
    <dgm:cxn modelId="{1E7FB629-7FFC-4D3D-8A3F-5262A12E9755}" type="presParOf" srcId="{83E5B1CA-B483-457E-A8F0-C5E51F759FA7}" destId="{0C2E22BD-49C5-435C-8238-FF71C97D5991}" srcOrd="2" destOrd="0" presId="urn:microsoft.com/office/officeart/2005/8/layout/default"/>
    <dgm:cxn modelId="{A997761B-37CD-4028-BAE1-756DC0FC0CEF}" type="presParOf" srcId="{83E5B1CA-B483-457E-A8F0-C5E51F759FA7}" destId="{CA11673A-A5BD-44C7-B695-348576025877}" srcOrd="3" destOrd="0" presId="urn:microsoft.com/office/officeart/2005/8/layout/default"/>
    <dgm:cxn modelId="{027DF627-E7CE-45EC-9060-8B79C888F203}" type="presParOf" srcId="{83E5B1CA-B483-457E-A8F0-C5E51F759FA7}" destId="{2C7DEE11-A1BD-4733-9D18-27FDCCB1D019}"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4E57C338-51D3-4B1F-B4F8-9C66609F5D9E}">
      <dgm:prSet phldrT="[Text]" custT="1"/>
      <dgm:spPr>
        <a:solidFill>
          <a:srgbClr val="0083CA"/>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Access to People and Information at the Component Level</a:t>
          </a:r>
          <a:endParaRPr lang="en-US" sz="4000" b="1" kern="1200" dirty="0">
            <a:latin typeface="Arial" panose="020B0604020202020204" pitchFamily="34" charset="0"/>
            <a:cs typeface="Arial" panose="020B0604020202020204" pitchFamily="34" charset="0"/>
          </a:endParaRPr>
        </a:p>
      </dgm:t>
    </dgm:pt>
    <dgm:pt modelId="{ADC42DB5-B686-4B81-9DDE-65AA6D8D786E}" type="parTrans" cxnId="{BB8F9127-6199-4C01-BC50-348447405C04}">
      <dgm:prSet/>
      <dgm:spPr/>
      <dgm:t>
        <a:bodyPr/>
        <a:lstStyle/>
        <a:p>
          <a:endParaRPr lang="en-US"/>
        </a:p>
      </dgm:t>
    </dgm:pt>
    <dgm:pt modelId="{41425E7F-A94C-4EE9-8688-3D40A29C50CF}" type="sibTrans" cxnId="{BB8F9127-6199-4C01-BC50-348447405C04}">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DB9B51CC-1A90-42FA-858E-E568DD86B563}" type="pres">
      <dgm:prSet presAssocID="{4E57C338-51D3-4B1F-B4F8-9C66609F5D9E}" presName="node" presStyleLbl="node1" presStyleIdx="0" presStyleCnt="1" custScaleX="57955" custScaleY="48296" custLinFactNeighborX="542">
        <dgm:presLayoutVars>
          <dgm:bulletEnabled val="1"/>
        </dgm:presLayoutVars>
      </dgm:prSet>
      <dgm:spPr/>
    </dgm:pt>
  </dgm:ptLst>
  <dgm:cxnLst>
    <dgm:cxn modelId="{BB8F9127-6199-4C01-BC50-348447405C04}" srcId="{62E99C36-7D1C-4387-AF44-E7FCB3F4E37E}" destId="{4E57C338-51D3-4B1F-B4F8-9C66609F5D9E}" srcOrd="0" destOrd="0" parTransId="{ADC42DB5-B686-4B81-9DDE-65AA6D8D786E}" sibTransId="{41425E7F-A94C-4EE9-8688-3D40A29C50CF}"/>
    <dgm:cxn modelId="{1BD7F253-246C-44DE-B0DF-D3D86882A1AD}" type="presOf" srcId="{62E99C36-7D1C-4387-AF44-E7FCB3F4E37E}" destId="{83E5B1CA-B483-457E-A8F0-C5E51F759FA7}" srcOrd="0" destOrd="0" presId="urn:microsoft.com/office/officeart/2005/8/layout/default"/>
    <dgm:cxn modelId="{7D07A8FB-32A6-4C4D-B439-CA2E080666EC}" type="presOf" srcId="{4E57C338-51D3-4B1F-B4F8-9C66609F5D9E}" destId="{DB9B51CC-1A90-42FA-858E-E568DD86B563}" srcOrd="0" destOrd="0" presId="urn:microsoft.com/office/officeart/2005/8/layout/default"/>
    <dgm:cxn modelId="{CA3613F7-52C0-4260-9E77-7FF4C08A6950}" type="presParOf" srcId="{83E5B1CA-B483-457E-A8F0-C5E51F759FA7}" destId="{DB9B51CC-1A90-42FA-858E-E568DD86B563}"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D66D36-AC0A-4928-9000-4FBB86066A19}">
      <dgm:prSet phldrT="[Text]" custT="1"/>
      <dgm:spPr>
        <a:solidFill>
          <a:srgbClr val="008FD3"/>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Group-Wide Controls</a:t>
          </a:r>
          <a:endParaRPr lang="en-US" sz="4000" b="1" kern="1200" dirty="0">
            <a:latin typeface="Arial" panose="020B0604020202020204" pitchFamily="34" charset="0"/>
            <a:cs typeface="Arial" panose="020B0604020202020204" pitchFamily="34" charset="0"/>
          </a:endParaRP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BDC979B9-F275-4001-B4D0-E79E9420E96E}" type="pres">
      <dgm:prSet presAssocID="{14D66D36-AC0A-4928-9000-4FBB86066A19}"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0" destOrd="0" parTransId="{D84F1B13-CA57-44A0-965B-0D9B2DF84F4E}" sibTransId="{847B85FB-DC48-4CB2-843E-B4BCDD265C1E}"/>
    <dgm:cxn modelId="{FDDA5D00-FD4A-4B9C-A30E-BEB89A6F2D3F}" type="presParOf" srcId="{83E5B1CA-B483-457E-A8F0-C5E51F759FA7}" destId="{BDC979B9-F275-4001-B4D0-E79E9420E96E}"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D66D36-AC0A-4928-9000-4FBB86066A19}">
      <dgm:prSet phldrT="[Text]" custT="1"/>
      <dgm:spPr>
        <a:solidFill>
          <a:srgbClr val="009ADB"/>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Group Engagement Partner Review of the Overall Group Audit Strategy and Plan</a:t>
          </a:r>
          <a:endParaRPr lang="en-US" sz="4000" b="1" kern="1200" dirty="0">
            <a:latin typeface="Arial" panose="020B0604020202020204" pitchFamily="34" charset="0"/>
            <a:cs typeface="Arial" panose="020B0604020202020204" pitchFamily="34" charset="0"/>
          </a:endParaRP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BDC979B9-F275-4001-B4D0-E79E9420E96E}" type="pres">
      <dgm:prSet presAssocID="{14D66D36-AC0A-4928-9000-4FBB86066A19}"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0" destOrd="0" parTransId="{D84F1B13-CA57-44A0-965B-0D9B2DF84F4E}" sibTransId="{847B85FB-DC48-4CB2-843E-B4BCDD265C1E}"/>
    <dgm:cxn modelId="{FDDA5D00-FD4A-4B9C-A30E-BEB89A6F2D3F}" type="presParOf" srcId="{83E5B1CA-B483-457E-A8F0-C5E51F759FA7}" destId="{BDC979B9-F275-4001-B4D0-E79E9420E96E}"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D66D36-AC0A-4928-9000-4FBB86066A19}">
      <dgm:prSet phldrT="[Text]" custT="1"/>
      <dgm:spPr>
        <a:solidFill>
          <a:srgbClr val="00A6E3"/>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Proposed Revisions to Agenda Item 9-B</a:t>
          </a:r>
          <a:endParaRPr lang="en-US" sz="4000" b="1" kern="1200" dirty="0">
            <a:latin typeface="Arial" panose="020B0604020202020204" pitchFamily="34" charset="0"/>
            <a:cs typeface="Arial" panose="020B0604020202020204" pitchFamily="34" charset="0"/>
          </a:endParaRP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BDC979B9-F275-4001-B4D0-E79E9420E96E}" type="pres">
      <dgm:prSet presAssocID="{14D66D36-AC0A-4928-9000-4FBB86066A19}" presName="node" presStyleLbl="node1" presStyleIdx="0" presStyleCnt="1" custScaleX="57955" custScaleY="48296" custLinFactNeighborX="267">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0" destOrd="0" parTransId="{D84F1B13-CA57-44A0-965B-0D9B2DF84F4E}" sibTransId="{847B85FB-DC48-4CB2-843E-B4BCDD265C1E}"/>
    <dgm:cxn modelId="{FDDA5D00-FD4A-4B9C-A30E-BEB89A6F2D3F}" type="presParOf" srcId="{83E5B1CA-B483-457E-A8F0-C5E51F759FA7}" destId="{BDC979B9-F275-4001-B4D0-E79E9420E96E}"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D66D36-AC0A-4928-9000-4FBB86066A19}">
      <dgm:prSet phldrT="[Text]" custT="1"/>
      <dgm:spPr>
        <a:solidFill>
          <a:srgbClr val="00A6E3"/>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Materiality Considerations in a Group Audit</a:t>
          </a:r>
          <a:endParaRPr lang="en-US" sz="4000" b="1" kern="1200" dirty="0">
            <a:latin typeface="Arial" panose="020B0604020202020204" pitchFamily="34" charset="0"/>
            <a:cs typeface="Arial" panose="020B0604020202020204" pitchFamily="34" charset="0"/>
          </a:endParaRP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BDC979B9-F275-4001-B4D0-E79E9420E96E}" type="pres">
      <dgm:prSet presAssocID="{14D66D36-AC0A-4928-9000-4FBB86066A19}"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0" destOrd="0" parTransId="{D84F1B13-CA57-44A0-965B-0D9B2DF84F4E}" sibTransId="{847B85FB-DC48-4CB2-843E-B4BCDD265C1E}"/>
    <dgm:cxn modelId="{FDDA5D00-FD4A-4B9C-A30E-BEB89A6F2D3F}" type="presParOf" srcId="{83E5B1CA-B483-457E-A8F0-C5E51F759FA7}" destId="{BDC979B9-F275-4001-B4D0-E79E9420E96E}"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D66D36-AC0A-4928-9000-4FBB86066A19}">
      <dgm:prSet phldrT="[Text]" custT="1"/>
      <dgm:spPr>
        <a:solidFill>
          <a:srgbClr val="00B3EB"/>
        </a:solidFill>
      </dgm:spPr>
      <dgm:t>
        <a:bodyPr/>
        <a:lstStyle/>
        <a:p>
          <a:r>
            <a:rPr lang="en-US" sz="4000" b="1" kern="1200" dirty="0">
              <a:solidFill>
                <a:prstClr val="white"/>
              </a:solidFill>
              <a:latin typeface="Arial" panose="020B0604020202020204" pitchFamily="34" charset="0"/>
              <a:ea typeface="+mn-ea"/>
              <a:cs typeface="Arial" panose="020B0604020202020204" pitchFamily="34" charset="0"/>
            </a:rPr>
            <a:t>Stand Back Requirements</a:t>
          </a:r>
          <a:endParaRPr lang="en-US" sz="4000" b="1" kern="1200" dirty="0">
            <a:latin typeface="Arial" panose="020B0604020202020204" pitchFamily="34" charset="0"/>
            <a:cs typeface="Arial" panose="020B0604020202020204" pitchFamily="34" charset="0"/>
          </a:endParaRPr>
        </a:p>
      </dgm:t>
    </dgm:pt>
    <dgm:pt modelId="{D84F1B13-CA57-44A0-965B-0D9B2DF84F4E}" type="parTrans" cxnId="{9D5061A6-3419-41B3-B557-D56C3D7DB54E}">
      <dgm:prSet/>
      <dgm:spPr/>
      <dgm:t>
        <a:bodyPr/>
        <a:lstStyle/>
        <a:p>
          <a:endParaRPr lang="en-US"/>
        </a:p>
      </dgm:t>
    </dgm:pt>
    <dgm:pt modelId="{847B85FB-DC48-4CB2-843E-B4BCDD265C1E}" type="sibTrans" cxnId="{9D5061A6-3419-41B3-B557-D56C3D7DB54E}">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BDC979B9-F275-4001-B4D0-E79E9420E96E}" type="pres">
      <dgm:prSet presAssocID="{14D66D36-AC0A-4928-9000-4FBB86066A19}"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A6FBDC7B-DAB0-4BA2-BB48-ADDDA35EB5D3}" type="presOf" srcId="{14D66D36-AC0A-4928-9000-4FBB86066A19}" destId="{BDC979B9-F275-4001-B4D0-E79E9420E96E}" srcOrd="0" destOrd="0" presId="urn:microsoft.com/office/officeart/2005/8/layout/default"/>
    <dgm:cxn modelId="{9D5061A6-3419-41B3-B557-D56C3D7DB54E}" srcId="{62E99C36-7D1C-4387-AF44-E7FCB3F4E37E}" destId="{14D66D36-AC0A-4928-9000-4FBB86066A19}" srcOrd="0" destOrd="0" parTransId="{D84F1B13-CA57-44A0-965B-0D9B2DF84F4E}" sibTransId="{847B85FB-DC48-4CB2-843E-B4BCDD265C1E}"/>
    <dgm:cxn modelId="{FDDA5D00-FD4A-4B9C-A30E-BEB89A6F2D3F}" type="presParOf" srcId="{83E5B1CA-B483-457E-A8F0-C5E51F759FA7}" destId="{BDC979B9-F275-4001-B4D0-E79E9420E96E}"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874618AA-21E5-4F09-BF54-725CAD3C33E7}">
      <dgm:prSet phldrT="[Text]" custT="1"/>
      <dgm:spPr>
        <a:solidFill>
          <a:srgbClr val="00C0F3"/>
        </a:solidFill>
      </dgm:spPr>
      <dgm:t>
        <a:bodyPr/>
        <a:lstStyle/>
        <a:p>
          <a:r>
            <a:rPr lang="en-US" sz="4000" b="1" dirty="0">
              <a:latin typeface="Arial" panose="020B0604020202020204" pitchFamily="34" charset="0"/>
              <a:cs typeface="Arial" panose="020B0604020202020204" pitchFamily="34" charset="0"/>
            </a:rPr>
            <a:t>Way Forward</a:t>
          </a:r>
        </a:p>
      </dgm:t>
    </dgm:pt>
    <dgm:pt modelId="{65EE6D9E-4C3D-44FD-85A5-F145A789F888}" type="parTrans" cxnId="{0ADE6BBE-E781-4357-9B40-CD3A6E9697D5}">
      <dgm:prSet/>
      <dgm:spPr/>
      <dgm:t>
        <a:bodyPr/>
        <a:lstStyle/>
        <a:p>
          <a:endParaRPr lang="en-US"/>
        </a:p>
      </dgm:t>
    </dgm:pt>
    <dgm:pt modelId="{08ECE219-19ED-4756-BF73-0E3709BAE153}" type="sibTrans" cxnId="{0ADE6BBE-E781-4357-9B40-CD3A6E9697D5}">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6A493A84-DB72-47A1-AF63-4D5E4CDE9BBA}" type="pres">
      <dgm:prSet presAssocID="{874618AA-21E5-4F09-BF54-725CAD3C33E7}"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1E4CD7AE-6115-46C3-B4AA-94E4CE09548F}" type="presOf" srcId="{874618AA-21E5-4F09-BF54-725CAD3C33E7}" destId="{6A493A84-DB72-47A1-AF63-4D5E4CDE9BBA}" srcOrd="0" destOrd="0" presId="urn:microsoft.com/office/officeart/2005/8/layout/default"/>
    <dgm:cxn modelId="{0ADE6BBE-E781-4357-9B40-CD3A6E9697D5}" srcId="{62E99C36-7D1C-4387-AF44-E7FCB3F4E37E}" destId="{874618AA-21E5-4F09-BF54-725CAD3C33E7}" srcOrd="0" destOrd="0" parTransId="{65EE6D9E-4C3D-44FD-85A5-F145A789F888}" sibTransId="{08ECE219-19ED-4756-BF73-0E3709BAE153}"/>
    <dgm:cxn modelId="{14B148F7-EA79-40F3-911B-14BE053E0216}" type="presParOf" srcId="{83E5B1CA-B483-457E-A8F0-C5E51F759FA7}" destId="{6A493A84-DB72-47A1-AF63-4D5E4CDE9BBA}"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293097" y="1020"/>
          <a:ext cx="2432142" cy="145928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Outreach</a:t>
          </a:r>
          <a:endParaRPr lang="en-US" sz="2000" b="1" kern="1200" dirty="0">
            <a:latin typeface="Arial" panose="020B0604020202020204" pitchFamily="34" charset="0"/>
            <a:cs typeface="Arial" panose="020B0604020202020204" pitchFamily="34" charset="0"/>
          </a:endParaRPr>
        </a:p>
      </dsp:txBody>
      <dsp:txXfrm>
        <a:off x="293097" y="1020"/>
        <a:ext cx="2432142" cy="1459285"/>
      </dsp:txXfrm>
    </dsp:sp>
    <dsp:sp modelId="{3A9FC268-DD87-4D61-9881-0955E409D69D}">
      <dsp:nvSpPr>
        <dsp:cNvPr id="0" name=""/>
        <dsp:cNvSpPr/>
      </dsp:nvSpPr>
      <dsp:spPr>
        <a:xfrm>
          <a:off x="2968453" y="1020"/>
          <a:ext cx="2432142" cy="1459285"/>
        </a:xfrm>
        <a:prstGeom prst="rect">
          <a:avLst/>
        </a:prstGeom>
        <a:solidFill>
          <a:schemeClr val="accent3">
            <a:hueOff val="-91737"/>
            <a:satOff val="0"/>
            <a:lumOff val="1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CAG</a:t>
          </a:r>
        </a:p>
      </dsp:txBody>
      <dsp:txXfrm>
        <a:off x="2968453" y="1020"/>
        <a:ext cx="2432142" cy="1459285"/>
      </dsp:txXfrm>
    </dsp:sp>
    <dsp:sp modelId="{DEC4533F-1AC0-45C4-9DC7-148111D64DC4}">
      <dsp:nvSpPr>
        <dsp:cNvPr id="0" name=""/>
        <dsp:cNvSpPr/>
      </dsp:nvSpPr>
      <dsp:spPr>
        <a:xfrm>
          <a:off x="5643810" y="1020"/>
          <a:ext cx="2432142" cy="1459285"/>
        </a:xfrm>
        <a:prstGeom prst="rect">
          <a:avLst/>
        </a:prstGeom>
        <a:solidFill>
          <a:schemeClr val="accent3">
            <a:hueOff val="-183474"/>
            <a:satOff val="0"/>
            <a:lumOff val="28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Public Interest Issues</a:t>
          </a:r>
        </a:p>
      </dsp:txBody>
      <dsp:txXfrm>
        <a:off x="5643810" y="1020"/>
        <a:ext cx="2432142" cy="1459285"/>
      </dsp:txXfrm>
    </dsp:sp>
    <dsp:sp modelId="{BDC979B9-F275-4001-B4D0-E79E9420E96E}">
      <dsp:nvSpPr>
        <dsp:cNvPr id="0" name=""/>
        <dsp:cNvSpPr/>
      </dsp:nvSpPr>
      <dsp:spPr>
        <a:xfrm>
          <a:off x="8319166" y="1020"/>
          <a:ext cx="2432142" cy="1459285"/>
        </a:xfrm>
        <a:prstGeom prst="rect">
          <a:avLst/>
        </a:prstGeom>
        <a:solidFill>
          <a:schemeClr val="accent3">
            <a:hueOff val="-275211"/>
            <a:satOff val="0"/>
            <a:lumOff val="4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Scope and Structure of the Standard </a:t>
          </a:r>
        </a:p>
      </dsp:txBody>
      <dsp:txXfrm>
        <a:off x="8319166" y="1020"/>
        <a:ext cx="2432142" cy="1459285"/>
      </dsp:txXfrm>
    </dsp:sp>
    <dsp:sp modelId="{6A493A84-DB72-47A1-AF63-4D5E4CDE9BBA}">
      <dsp:nvSpPr>
        <dsp:cNvPr id="0" name=""/>
        <dsp:cNvSpPr/>
      </dsp:nvSpPr>
      <dsp:spPr>
        <a:xfrm>
          <a:off x="293097" y="1703519"/>
          <a:ext cx="2432142" cy="1459285"/>
        </a:xfrm>
        <a:prstGeom prst="rect">
          <a:avLst/>
        </a:prstGeom>
        <a:solidFill>
          <a:schemeClr val="accent3">
            <a:hueOff val="-366948"/>
            <a:satOff val="0"/>
            <a:lumOff val="5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Access to People and Information at the Component Level</a:t>
          </a:r>
        </a:p>
      </dsp:txBody>
      <dsp:txXfrm>
        <a:off x="293097" y="1703519"/>
        <a:ext cx="2432142" cy="1459285"/>
      </dsp:txXfrm>
    </dsp:sp>
    <dsp:sp modelId="{83953664-D8C4-4D61-8A9A-72E35732FA67}">
      <dsp:nvSpPr>
        <dsp:cNvPr id="0" name=""/>
        <dsp:cNvSpPr/>
      </dsp:nvSpPr>
      <dsp:spPr>
        <a:xfrm>
          <a:off x="2968453" y="1703519"/>
          <a:ext cx="2432142" cy="1459285"/>
        </a:xfrm>
        <a:prstGeom prst="rect">
          <a:avLst/>
        </a:prstGeom>
        <a:solidFill>
          <a:schemeClr val="accent3">
            <a:hueOff val="-458685"/>
            <a:satOff val="0"/>
            <a:lumOff val="7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Group-Wide Controls</a:t>
          </a:r>
        </a:p>
      </dsp:txBody>
      <dsp:txXfrm>
        <a:off x="2968453" y="1703519"/>
        <a:ext cx="2432142" cy="1459285"/>
      </dsp:txXfrm>
    </dsp:sp>
    <dsp:sp modelId="{E31008F0-A367-4EAB-8E35-63646F849610}">
      <dsp:nvSpPr>
        <dsp:cNvPr id="0" name=""/>
        <dsp:cNvSpPr/>
      </dsp:nvSpPr>
      <dsp:spPr>
        <a:xfrm>
          <a:off x="5643810" y="1703519"/>
          <a:ext cx="2432142" cy="1459285"/>
        </a:xfrm>
        <a:prstGeom prst="rect">
          <a:avLst/>
        </a:prstGeom>
        <a:solidFill>
          <a:schemeClr val="accent3">
            <a:hueOff val="-550422"/>
            <a:satOff val="0"/>
            <a:lumOff val="8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GEP Review of the Overall Group Audit Strategy and Plan</a:t>
          </a:r>
        </a:p>
      </dsp:txBody>
      <dsp:txXfrm>
        <a:off x="5643810" y="1703519"/>
        <a:ext cx="2432142" cy="1459285"/>
      </dsp:txXfrm>
    </dsp:sp>
    <dsp:sp modelId="{8AAA8EAB-1A29-4293-9FDE-46D600BCFD3D}">
      <dsp:nvSpPr>
        <dsp:cNvPr id="0" name=""/>
        <dsp:cNvSpPr/>
      </dsp:nvSpPr>
      <dsp:spPr>
        <a:xfrm>
          <a:off x="8319166" y="1703519"/>
          <a:ext cx="2432142" cy="1459285"/>
        </a:xfrm>
        <a:prstGeom prst="rect">
          <a:avLst/>
        </a:prstGeom>
        <a:solidFill>
          <a:schemeClr val="accent3">
            <a:hueOff val="-642159"/>
            <a:satOff val="0"/>
            <a:lumOff val="100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Proposed Revisions to Agenda Item 9-B</a:t>
          </a:r>
        </a:p>
      </dsp:txBody>
      <dsp:txXfrm>
        <a:off x="8319166" y="1703519"/>
        <a:ext cx="2432142" cy="1459285"/>
      </dsp:txXfrm>
    </dsp:sp>
    <dsp:sp modelId="{54E987B1-6509-4D37-BCCB-2B22C709B142}">
      <dsp:nvSpPr>
        <dsp:cNvPr id="0" name=""/>
        <dsp:cNvSpPr/>
      </dsp:nvSpPr>
      <dsp:spPr>
        <a:xfrm>
          <a:off x="1630775" y="3406019"/>
          <a:ext cx="2432142" cy="1459285"/>
        </a:xfrm>
        <a:prstGeom prst="rect">
          <a:avLst/>
        </a:prstGeom>
        <a:solidFill>
          <a:schemeClr val="accent3">
            <a:hueOff val="-733896"/>
            <a:satOff val="0"/>
            <a:lumOff val="11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Materiality Considerations in a Group Audit</a:t>
          </a:r>
        </a:p>
      </dsp:txBody>
      <dsp:txXfrm>
        <a:off x="1630775" y="3406019"/>
        <a:ext cx="2432142" cy="1459285"/>
      </dsp:txXfrm>
    </dsp:sp>
    <dsp:sp modelId="{9E95DFE9-35CB-4AAD-9F8E-6A5460E50698}">
      <dsp:nvSpPr>
        <dsp:cNvPr id="0" name=""/>
        <dsp:cNvSpPr/>
      </dsp:nvSpPr>
      <dsp:spPr>
        <a:xfrm>
          <a:off x="4306131" y="3406019"/>
          <a:ext cx="2432142" cy="1459285"/>
        </a:xfrm>
        <a:prstGeom prst="rect">
          <a:avLst/>
        </a:prstGeom>
        <a:solidFill>
          <a:schemeClr val="accent3">
            <a:hueOff val="-825633"/>
            <a:satOff val="0"/>
            <a:lumOff val="12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Stand Back Requirements</a:t>
          </a:r>
        </a:p>
      </dsp:txBody>
      <dsp:txXfrm>
        <a:off x="4306131" y="3406019"/>
        <a:ext cx="2432142" cy="1459285"/>
      </dsp:txXfrm>
    </dsp:sp>
    <dsp:sp modelId="{6775609E-5BA8-44A9-8647-E9594983C06D}">
      <dsp:nvSpPr>
        <dsp:cNvPr id="0" name=""/>
        <dsp:cNvSpPr/>
      </dsp:nvSpPr>
      <dsp:spPr>
        <a:xfrm>
          <a:off x="6981488" y="3406019"/>
          <a:ext cx="2432142" cy="1459285"/>
        </a:xfrm>
        <a:prstGeom prst="rect">
          <a:avLst/>
        </a:prstGeom>
        <a:solidFill>
          <a:schemeClr val="accent3">
            <a:hueOff val="-917370"/>
            <a:satOff val="0"/>
            <a:lumOff val="1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Way Forward</a:t>
          </a:r>
        </a:p>
      </dsp:txBody>
      <dsp:txXfrm>
        <a:off x="6981488" y="3406019"/>
        <a:ext cx="2432142" cy="14592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2352292" y="792339"/>
          <a:ext cx="6400785" cy="3200403"/>
        </a:xfrm>
        <a:prstGeom prst="rect">
          <a:avLst/>
        </a:prstGeom>
        <a:solidFill>
          <a:srgbClr val="005BA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Outreach</a:t>
          </a:r>
        </a:p>
      </dsp:txBody>
      <dsp:txXfrm>
        <a:off x="2352292" y="792339"/>
        <a:ext cx="6400785" cy="32004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2352292" y="792339"/>
          <a:ext cx="6400785" cy="3200403"/>
        </a:xfrm>
        <a:prstGeom prst="rect">
          <a:avLst/>
        </a:prstGeom>
        <a:solidFill>
          <a:srgbClr val="0064B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CAG</a:t>
          </a:r>
        </a:p>
      </dsp:txBody>
      <dsp:txXfrm>
        <a:off x="2352292" y="792339"/>
        <a:ext cx="6400785" cy="32004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4C2F2-ACCF-4728-B8D6-6CAE4BD0793D}">
      <dsp:nvSpPr>
        <dsp:cNvPr id="0" name=""/>
        <dsp:cNvSpPr/>
      </dsp:nvSpPr>
      <dsp:spPr>
        <a:xfrm>
          <a:off x="2352292" y="792339"/>
          <a:ext cx="6400785" cy="3200403"/>
        </a:xfrm>
        <a:prstGeom prst="rect">
          <a:avLst/>
        </a:prstGeom>
        <a:solidFill>
          <a:srgbClr val="006EB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Public Interest Issues</a:t>
          </a:r>
        </a:p>
      </dsp:txBody>
      <dsp:txXfrm>
        <a:off x="2352292" y="792339"/>
        <a:ext cx="6400785" cy="32004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B51CC-1A90-42FA-858E-E568DD86B563}">
      <dsp:nvSpPr>
        <dsp:cNvPr id="0" name=""/>
        <dsp:cNvSpPr/>
      </dsp:nvSpPr>
      <dsp:spPr>
        <a:xfrm>
          <a:off x="2381670" y="832960"/>
          <a:ext cx="6400785" cy="3200403"/>
        </a:xfrm>
        <a:prstGeom prst="rect">
          <a:avLst/>
        </a:prstGeom>
        <a:solidFill>
          <a:srgbClr val="0079C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Scope and Structure of the Standard</a:t>
          </a:r>
        </a:p>
      </dsp:txBody>
      <dsp:txXfrm>
        <a:off x="2381670" y="832960"/>
        <a:ext cx="6400785" cy="32004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5DFE9-35CB-4AAD-9F8E-6A5460E50698}">
      <dsp:nvSpPr>
        <dsp:cNvPr id="0" name=""/>
        <dsp:cNvSpPr/>
      </dsp:nvSpPr>
      <dsp:spPr>
        <a:xfrm>
          <a:off x="0" y="130724"/>
          <a:ext cx="3352799" cy="4372627"/>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prstClr val="white"/>
              </a:solidFill>
              <a:latin typeface="Arial" panose="020B0604020202020204" pitchFamily="34" charset="0"/>
              <a:ea typeface="+mn-ea"/>
              <a:cs typeface="Arial" panose="020B0604020202020204" pitchFamily="34" charset="0"/>
            </a:rPr>
            <a:t>Stand Back Requirements</a:t>
          </a:r>
        </a:p>
      </dsp:txBody>
      <dsp:txXfrm>
        <a:off x="0" y="130724"/>
        <a:ext cx="3352799" cy="4372627"/>
      </dsp:txXfrm>
    </dsp:sp>
    <dsp:sp modelId="{0C2E22BD-49C5-435C-8238-FF71C97D5991}">
      <dsp:nvSpPr>
        <dsp:cNvPr id="0" name=""/>
        <dsp:cNvSpPr/>
      </dsp:nvSpPr>
      <dsp:spPr>
        <a:xfrm>
          <a:off x="3688080" y="131689"/>
          <a:ext cx="3352799" cy="4372627"/>
        </a:xfrm>
        <a:prstGeom prst="rect">
          <a:avLst/>
        </a:prstGeom>
        <a:solidFill>
          <a:schemeClr val="accent3">
            <a:hueOff val="-458685"/>
            <a:satOff val="0"/>
            <a:lumOff val="7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prstClr val="white"/>
              </a:solidFill>
              <a:latin typeface="Arial" panose="020B0604020202020204" pitchFamily="34" charset="0"/>
              <a:ea typeface="+mn-ea"/>
              <a:cs typeface="Arial" panose="020B0604020202020204" pitchFamily="34" charset="0"/>
            </a:rPr>
            <a:t>Key foundational standards: ISA 220, 230, 240, 315 (Revised), 320, 330</a:t>
          </a:r>
        </a:p>
      </dsp:txBody>
      <dsp:txXfrm>
        <a:off x="3688080" y="131689"/>
        <a:ext cx="3352799" cy="4372627"/>
      </dsp:txXfrm>
    </dsp:sp>
    <dsp:sp modelId="{2C7DEE11-A1BD-4733-9D18-27FDCCB1D019}">
      <dsp:nvSpPr>
        <dsp:cNvPr id="0" name=""/>
        <dsp:cNvSpPr/>
      </dsp:nvSpPr>
      <dsp:spPr>
        <a:xfrm>
          <a:off x="7376160" y="130724"/>
          <a:ext cx="3352799" cy="4372627"/>
        </a:xfrm>
        <a:prstGeom prst="rect">
          <a:avLst/>
        </a:prstGeom>
        <a:solidFill>
          <a:schemeClr val="accent3">
            <a:hueOff val="-917370"/>
            <a:satOff val="0"/>
            <a:lumOff val="1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prstClr val="white"/>
              </a:solidFill>
              <a:latin typeface="Arial" panose="020B0604020202020204" pitchFamily="34" charset="0"/>
              <a:ea typeface="+mn-ea"/>
              <a:cs typeface="Arial" panose="020B0604020202020204" pitchFamily="34" charset="0"/>
            </a:rPr>
            <a:t>ISA 600</a:t>
          </a:r>
        </a:p>
      </dsp:txBody>
      <dsp:txXfrm>
        <a:off x="7376160" y="130724"/>
        <a:ext cx="3352799" cy="43726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B51CC-1A90-42FA-858E-E568DD86B563}">
      <dsp:nvSpPr>
        <dsp:cNvPr id="0" name=""/>
        <dsp:cNvSpPr/>
      </dsp:nvSpPr>
      <dsp:spPr>
        <a:xfrm>
          <a:off x="2381670" y="832960"/>
          <a:ext cx="6400785" cy="3200403"/>
        </a:xfrm>
        <a:prstGeom prst="rect">
          <a:avLst/>
        </a:prstGeom>
        <a:solidFill>
          <a:srgbClr val="0083C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Access to People and Information at the Component Level</a:t>
          </a:r>
          <a:endParaRPr lang="en-US" sz="4000" b="1" kern="1200" dirty="0">
            <a:latin typeface="Arial" panose="020B0604020202020204" pitchFamily="34" charset="0"/>
            <a:cs typeface="Arial" panose="020B0604020202020204" pitchFamily="34" charset="0"/>
          </a:endParaRPr>
        </a:p>
      </dsp:txBody>
      <dsp:txXfrm>
        <a:off x="2381670" y="832960"/>
        <a:ext cx="6400785" cy="320040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979B9-F275-4001-B4D0-E79E9420E96E}">
      <dsp:nvSpPr>
        <dsp:cNvPr id="0" name=""/>
        <dsp:cNvSpPr/>
      </dsp:nvSpPr>
      <dsp:spPr>
        <a:xfrm>
          <a:off x="2321810" y="832960"/>
          <a:ext cx="6400785" cy="3200403"/>
        </a:xfrm>
        <a:prstGeom prst="rect">
          <a:avLst/>
        </a:prstGeom>
        <a:solidFill>
          <a:srgbClr val="008FD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Group-Wide Controls</a:t>
          </a:r>
          <a:endParaRPr lang="en-US" sz="4000" b="1" kern="1200" dirty="0">
            <a:latin typeface="Arial" panose="020B0604020202020204" pitchFamily="34" charset="0"/>
            <a:cs typeface="Arial" panose="020B0604020202020204" pitchFamily="34" charset="0"/>
          </a:endParaRPr>
        </a:p>
      </dsp:txBody>
      <dsp:txXfrm>
        <a:off x="2321810" y="832960"/>
        <a:ext cx="6400785" cy="32004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979B9-F275-4001-B4D0-E79E9420E96E}">
      <dsp:nvSpPr>
        <dsp:cNvPr id="0" name=""/>
        <dsp:cNvSpPr/>
      </dsp:nvSpPr>
      <dsp:spPr>
        <a:xfrm>
          <a:off x="2321810" y="832960"/>
          <a:ext cx="6400785" cy="3200403"/>
        </a:xfrm>
        <a:prstGeom prst="rect">
          <a:avLst/>
        </a:prstGeom>
        <a:solidFill>
          <a:srgbClr val="009AD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Group Engagement Partner Review of the Overall Group Audit Strategy and Plan</a:t>
          </a:r>
          <a:endParaRPr lang="en-US" sz="4000" b="1" kern="1200" dirty="0">
            <a:latin typeface="Arial" panose="020B0604020202020204" pitchFamily="34" charset="0"/>
            <a:cs typeface="Arial" panose="020B0604020202020204" pitchFamily="34" charset="0"/>
          </a:endParaRPr>
        </a:p>
      </dsp:txBody>
      <dsp:txXfrm>
        <a:off x="2321810" y="832960"/>
        <a:ext cx="6400785" cy="320040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979B9-F275-4001-B4D0-E79E9420E96E}">
      <dsp:nvSpPr>
        <dsp:cNvPr id="0" name=""/>
        <dsp:cNvSpPr/>
      </dsp:nvSpPr>
      <dsp:spPr>
        <a:xfrm>
          <a:off x="2351298" y="832960"/>
          <a:ext cx="6400785" cy="3200403"/>
        </a:xfrm>
        <a:prstGeom prst="rect">
          <a:avLst/>
        </a:prstGeom>
        <a:solidFill>
          <a:srgbClr val="00A6E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Proposed Revisions to Agenda Item 9-B</a:t>
          </a:r>
          <a:endParaRPr lang="en-US" sz="4000" b="1" kern="1200" dirty="0">
            <a:latin typeface="Arial" panose="020B0604020202020204" pitchFamily="34" charset="0"/>
            <a:cs typeface="Arial" panose="020B0604020202020204" pitchFamily="34" charset="0"/>
          </a:endParaRPr>
        </a:p>
      </dsp:txBody>
      <dsp:txXfrm>
        <a:off x="2351298" y="832960"/>
        <a:ext cx="6400785" cy="32004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979B9-F275-4001-B4D0-E79E9420E96E}">
      <dsp:nvSpPr>
        <dsp:cNvPr id="0" name=""/>
        <dsp:cNvSpPr/>
      </dsp:nvSpPr>
      <dsp:spPr>
        <a:xfrm>
          <a:off x="2321810" y="832960"/>
          <a:ext cx="6400785" cy="3200403"/>
        </a:xfrm>
        <a:prstGeom prst="rect">
          <a:avLst/>
        </a:prstGeom>
        <a:solidFill>
          <a:srgbClr val="00A6E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Materiality Considerations in a Group Audit</a:t>
          </a:r>
          <a:endParaRPr lang="en-US" sz="4000" b="1" kern="1200" dirty="0">
            <a:latin typeface="Arial" panose="020B0604020202020204" pitchFamily="34" charset="0"/>
            <a:cs typeface="Arial" panose="020B0604020202020204" pitchFamily="34" charset="0"/>
          </a:endParaRPr>
        </a:p>
      </dsp:txBody>
      <dsp:txXfrm>
        <a:off x="2321810" y="832960"/>
        <a:ext cx="6400785" cy="320040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979B9-F275-4001-B4D0-E79E9420E96E}">
      <dsp:nvSpPr>
        <dsp:cNvPr id="0" name=""/>
        <dsp:cNvSpPr/>
      </dsp:nvSpPr>
      <dsp:spPr>
        <a:xfrm>
          <a:off x="2321810" y="832960"/>
          <a:ext cx="6400785" cy="3200403"/>
        </a:xfrm>
        <a:prstGeom prst="rect">
          <a:avLst/>
        </a:prstGeom>
        <a:solidFill>
          <a:srgbClr val="00B3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Stand Back Requirements</a:t>
          </a:r>
          <a:endParaRPr lang="en-US" sz="4000" b="1" kern="1200" dirty="0">
            <a:latin typeface="Arial" panose="020B0604020202020204" pitchFamily="34" charset="0"/>
            <a:cs typeface="Arial" panose="020B0604020202020204" pitchFamily="34" charset="0"/>
          </a:endParaRPr>
        </a:p>
      </dsp:txBody>
      <dsp:txXfrm>
        <a:off x="2321810" y="832960"/>
        <a:ext cx="6400785" cy="320040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93A84-DB72-47A1-AF63-4D5E4CDE9BBA}">
      <dsp:nvSpPr>
        <dsp:cNvPr id="0" name=""/>
        <dsp:cNvSpPr/>
      </dsp:nvSpPr>
      <dsp:spPr>
        <a:xfrm>
          <a:off x="2321810" y="832960"/>
          <a:ext cx="6400785" cy="3200403"/>
        </a:xfrm>
        <a:prstGeom prst="rect">
          <a:avLst/>
        </a:prstGeom>
        <a:solidFill>
          <a:srgbClr val="00C0F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Way Forward</a:t>
          </a:r>
        </a:p>
      </dsp:txBody>
      <dsp:txXfrm>
        <a:off x="2321810" y="832960"/>
        <a:ext cx="6400785" cy="32004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39" cy="466435"/>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70940" y="0"/>
            <a:ext cx="3037839" cy="466435"/>
          </a:xfrm>
          <a:prstGeom prst="rect">
            <a:avLst/>
          </a:prstGeom>
        </p:spPr>
        <p:txBody>
          <a:bodyPr vert="horz" lIns="92492" tIns="46246" rIns="92492" bIns="46246" rtlCol="0"/>
          <a:lstStyle>
            <a:lvl1pPr algn="r">
              <a:defRPr sz="1200"/>
            </a:lvl1pPr>
          </a:lstStyle>
          <a:p>
            <a:fld id="{8217F18B-FBA3-4F6B-97D9-EA188CD16FE5}" type="datetimeFigureOut">
              <a:rPr lang="en-US" smtClean="0"/>
              <a:t>9/18/2019</a:t>
            </a:fld>
            <a:endParaRPr lang="en-US" dirty="0"/>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8"/>
            <a:ext cx="3037839" cy="46643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39" cy="466434"/>
          </a:xfrm>
          <a:prstGeom prst="rect">
            <a:avLst/>
          </a:prstGeom>
        </p:spPr>
        <p:txBody>
          <a:bodyPr vert="horz" lIns="92492" tIns="46246" rIns="92492" bIns="46246" rtlCol="0" anchor="b"/>
          <a:lstStyle>
            <a:lvl1pPr algn="r">
              <a:defRPr sz="1200"/>
            </a:lvl1pPr>
          </a:lstStyle>
          <a:p>
            <a:fld id="{BAD342E5-AFF1-4E5D-BEDB-B5261E7DADB0}" type="slidenum">
              <a:rPr lang="en-US" smtClean="0"/>
              <a:t>‹#›</a:t>
            </a:fld>
            <a:endParaRPr lang="en-US" dirty="0"/>
          </a:p>
        </p:txBody>
      </p:sp>
    </p:spTree>
    <p:extLst>
      <p:ext uri="{BB962C8B-B14F-4D97-AF65-F5344CB8AC3E}">
        <p14:creationId xmlns:p14="http://schemas.microsoft.com/office/powerpoint/2010/main" val="3754479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4</a:t>
            </a:fld>
            <a:endParaRPr lang="en-US" dirty="0"/>
          </a:p>
        </p:txBody>
      </p:sp>
    </p:spTree>
    <p:extLst>
      <p:ext uri="{BB962C8B-B14F-4D97-AF65-F5344CB8AC3E}">
        <p14:creationId xmlns:p14="http://schemas.microsoft.com/office/powerpoint/2010/main" val="108541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5</a:t>
            </a:fld>
            <a:endParaRPr lang="en-US" dirty="0"/>
          </a:p>
        </p:txBody>
      </p:sp>
    </p:spTree>
    <p:extLst>
      <p:ext uri="{BB962C8B-B14F-4D97-AF65-F5344CB8AC3E}">
        <p14:creationId xmlns:p14="http://schemas.microsoft.com/office/powerpoint/2010/main" val="4289205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9</a:t>
            </a:fld>
            <a:endParaRPr lang="en-US" dirty="0"/>
          </a:p>
        </p:txBody>
      </p:sp>
    </p:spTree>
    <p:extLst>
      <p:ext uri="{BB962C8B-B14F-4D97-AF65-F5344CB8AC3E}">
        <p14:creationId xmlns:p14="http://schemas.microsoft.com/office/powerpoint/2010/main" val="187178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11</a:t>
            </a:fld>
            <a:endParaRPr lang="en-US" dirty="0"/>
          </a:p>
        </p:txBody>
      </p:sp>
    </p:spTree>
    <p:extLst>
      <p:ext uri="{BB962C8B-B14F-4D97-AF65-F5344CB8AC3E}">
        <p14:creationId xmlns:p14="http://schemas.microsoft.com/office/powerpoint/2010/main" val="3660681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14</a:t>
            </a:fld>
            <a:endParaRPr lang="en-US" dirty="0"/>
          </a:p>
        </p:txBody>
      </p:sp>
    </p:spTree>
    <p:extLst>
      <p:ext uri="{BB962C8B-B14F-4D97-AF65-F5344CB8AC3E}">
        <p14:creationId xmlns:p14="http://schemas.microsoft.com/office/powerpoint/2010/main" val="2960701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15</a:t>
            </a:fld>
            <a:endParaRPr lang="en-US" dirty="0"/>
          </a:p>
        </p:txBody>
      </p:sp>
    </p:spTree>
    <p:extLst>
      <p:ext uri="{BB962C8B-B14F-4D97-AF65-F5344CB8AC3E}">
        <p14:creationId xmlns:p14="http://schemas.microsoft.com/office/powerpoint/2010/main" val="2963779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18</a:t>
            </a:fld>
            <a:endParaRPr lang="en-US" dirty="0"/>
          </a:p>
        </p:txBody>
      </p:sp>
    </p:spTree>
    <p:extLst>
      <p:ext uri="{BB962C8B-B14F-4D97-AF65-F5344CB8AC3E}">
        <p14:creationId xmlns:p14="http://schemas.microsoft.com/office/powerpoint/2010/main" val="290466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address all situations in the standard</a:t>
            </a:r>
          </a:p>
        </p:txBody>
      </p:sp>
      <p:sp>
        <p:nvSpPr>
          <p:cNvPr id="4" name="Slide Number Placeholder 3"/>
          <p:cNvSpPr>
            <a:spLocks noGrp="1"/>
          </p:cNvSpPr>
          <p:nvPr>
            <p:ph type="sldNum" sz="quarter" idx="5"/>
          </p:nvPr>
        </p:nvSpPr>
        <p:spPr/>
        <p:txBody>
          <a:bodyPr/>
          <a:lstStyle/>
          <a:p>
            <a:fld id="{BAD342E5-AFF1-4E5D-BEDB-B5261E7DADB0}" type="slidenum">
              <a:rPr lang="en-US" smtClean="0"/>
              <a:t>19</a:t>
            </a:fld>
            <a:endParaRPr lang="en-US" dirty="0"/>
          </a:p>
        </p:txBody>
      </p:sp>
    </p:spTree>
    <p:extLst>
      <p:ext uri="{BB962C8B-B14F-4D97-AF65-F5344CB8AC3E}">
        <p14:creationId xmlns:p14="http://schemas.microsoft.com/office/powerpoint/2010/main" val="1933976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21</a:t>
            </a:fld>
            <a:endParaRPr lang="en-US" dirty="0"/>
          </a:p>
        </p:txBody>
      </p:sp>
    </p:spTree>
    <p:extLst>
      <p:ext uri="{BB962C8B-B14F-4D97-AF65-F5344CB8AC3E}">
        <p14:creationId xmlns:p14="http://schemas.microsoft.com/office/powerpoint/2010/main" val="990329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23</a:t>
            </a:fld>
            <a:endParaRPr lang="en-US" dirty="0"/>
          </a:p>
        </p:txBody>
      </p:sp>
    </p:spTree>
    <p:extLst>
      <p:ext uri="{BB962C8B-B14F-4D97-AF65-F5344CB8AC3E}">
        <p14:creationId xmlns:p14="http://schemas.microsoft.com/office/powerpoint/2010/main" val="1071857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D342E5-AFF1-4E5D-BEDB-B5261E7DADB0}" type="slidenum">
              <a:rPr lang="en-US" smtClean="0"/>
              <a:t>24</a:t>
            </a:fld>
            <a:endParaRPr lang="en-US" dirty="0"/>
          </a:p>
        </p:txBody>
      </p:sp>
    </p:spTree>
    <p:extLst>
      <p:ext uri="{BB962C8B-B14F-4D97-AF65-F5344CB8AC3E}">
        <p14:creationId xmlns:p14="http://schemas.microsoft.com/office/powerpoint/2010/main" val="2505656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pPr marL="171450" indent="-171450">
              <a:buFontTx/>
              <a:buChar char="-"/>
            </a:pPr>
            <a:r>
              <a:rPr lang="en-US" sz="1200" dirty="0"/>
              <a:t>315 drafting approach</a:t>
            </a:r>
          </a:p>
          <a:p>
            <a:pPr marL="171450" indent="-171450">
              <a:buFontTx/>
              <a:buChar char="-"/>
            </a:pPr>
            <a:r>
              <a:rPr lang="en-US" sz="1200" dirty="0"/>
              <a:t>Definition engagement team – refer to discussion 220. Liaison with 220 TF and IESBA</a:t>
            </a:r>
          </a:p>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25</a:t>
            </a:fld>
            <a:endParaRPr lang="en-US" dirty="0"/>
          </a:p>
        </p:txBody>
      </p:sp>
    </p:spTree>
    <p:extLst>
      <p:ext uri="{BB962C8B-B14F-4D97-AF65-F5344CB8AC3E}">
        <p14:creationId xmlns:p14="http://schemas.microsoft.com/office/powerpoint/2010/main" val="396849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26</a:t>
            </a:fld>
            <a:endParaRPr lang="en-US" dirty="0"/>
          </a:p>
        </p:txBody>
      </p:sp>
    </p:spTree>
    <p:extLst>
      <p:ext uri="{BB962C8B-B14F-4D97-AF65-F5344CB8AC3E}">
        <p14:creationId xmlns:p14="http://schemas.microsoft.com/office/powerpoint/2010/main" val="3864165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29</a:t>
            </a:fld>
            <a:endParaRPr lang="en-US" dirty="0"/>
          </a:p>
        </p:txBody>
      </p:sp>
    </p:spTree>
    <p:extLst>
      <p:ext uri="{BB962C8B-B14F-4D97-AF65-F5344CB8AC3E}">
        <p14:creationId xmlns:p14="http://schemas.microsoft.com/office/powerpoint/2010/main" val="3803211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0320" y="4290353"/>
            <a:ext cx="6209761" cy="4539615"/>
          </a:xfrm>
        </p:spPr>
        <p:txBody>
          <a:bodyPr>
            <a:noAutofit/>
          </a:bodyPr>
          <a:lstStyle/>
          <a:p>
            <a:endParaRPr lang="en-US" sz="1200" dirty="0"/>
          </a:p>
        </p:txBody>
      </p:sp>
      <p:sp>
        <p:nvSpPr>
          <p:cNvPr id="4" name="Slide Number Placeholder 3"/>
          <p:cNvSpPr>
            <a:spLocks noGrp="1"/>
          </p:cNvSpPr>
          <p:nvPr>
            <p:ph type="sldNum" sz="quarter" idx="10"/>
          </p:nvPr>
        </p:nvSpPr>
        <p:spPr/>
        <p:txBody>
          <a:bodyPr/>
          <a:lstStyle/>
          <a:p>
            <a:fld id="{FE31F99D-8DB6-499A-A5BE-D707899593CB}" type="slidenum">
              <a:rPr lang="en-US" smtClean="0"/>
              <a:t>32</a:t>
            </a:fld>
            <a:endParaRPr lang="en-US" dirty="0"/>
          </a:p>
        </p:txBody>
      </p:sp>
    </p:spTree>
    <p:extLst>
      <p:ext uri="{BB962C8B-B14F-4D97-AF65-F5344CB8AC3E}">
        <p14:creationId xmlns:p14="http://schemas.microsoft.com/office/powerpoint/2010/main" val="2865629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4D410189-AC31-7546-878A-F48FDE4A29F5}" type="slidenum">
              <a:rPr lang="en-US" smtClean="0"/>
              <a:t>33</a:t>
            </a:fld>
            <a:endParaRPr lang="en-US" dirty="0"/>
          </a:p>
        </p:txBody>
      </p:sp>
    </p:spTree>
    <p:extLst>
      <p:ext uri="{BB962C8B-B14F-4D97-AF65-F5344CB8AC3E}">
        <p14:creationId xmlns:p14="http://schemas.microsoft.com/office/powerpoint/2010/main" val="3462723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829BED-9370-4C69-8B19-DF5364062FE8}"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94524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880B73-8C76-4707-80F8-3963866B81ED}"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261726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9C273B-D08E-4382-AC60-9B5464EA60A9}"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647387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E95696-183B-49B5-AC88-D34FC4452DEE}"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0045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E62864-BFD7-472A-B17C-B9A242BBF5D0}" type="datetime1">
              <a:rPr lang="en-US" smtClean="0"/>
              <a:t>9/18/2019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510159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60A0F75-C365-4794-9298-176CBB056E2F}" type="datetime1">
              <a:rPr lang="en-US" smtClean="0"/>
              <a:t>9/18/2019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89776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7030E-23EE-4B6F-A577-FFA754F6F221}" type="datetime1">
              <a:rPr lang="en-US" smtClean="0"/>
              <a:t>9/18/2019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54709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B20F4-4371-48A2-A1C5-564A141E18FA}"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697943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1EE5E0-6B3C-4B70-BA81-DF7E8E12A50B}"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49217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2743C-A172-4B79-957C-A37D69B35244}"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2928709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8D5299-30FF-4207-93B4-7A9215AAF387}"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4054880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8BEC16-5153-4444-ADE5-376764F9317A}"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68506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905138"/>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A7036-7F39-45B7-B8E7-90186E26FD34}"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84063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6F55C-F0A0-40C2-92AA-13448C1B6DE2}"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242855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B41662-97DA-482D-BB44-A5E7E1463580}"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710906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ED3B72-01DD-4123-ABCF-B71DC3DF9A35}" type="datetime1">
              <a:rPr lang="en-US" smtClean="0"/>
              <a:t>9/18/2019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05614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F0D7D7D-1F9A-439A-9B1F-FAD176DAAE95}" type="datetime1">
              <a:rPr lang="en-US" smtClean="0"/>
              <a:t>9/18/2019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790547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3D415-7CDF-4724-8022-A789958CE2B4}" type="datetime1">
              <a:rPr lang="en-US" smtClean="0"/>
              <a:t>9/18/2019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4902619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2148A9-3F54-4B3A-97B0-C24F2AA0F49B}"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274560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325935-DE68-40A0-AD95-3EF9318A5653}"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5918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905138"/>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EBD7C1-6C21-4A0C-AB04-28957353C253}"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56050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CAAA40-D496-4BA5-94BC-EC2395AF4BA1}"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5228141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A74FA47-1DBD-4C30-88B4-1AA2876CD950}"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561723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ECB669-7C2F-4EE4-B944-62950FE6507F}"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4036111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DAF38-C557-41C9-8FF5-BEDE134E17EE}"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237058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C56C26-B280-45A4-847B-175DFD0A3F0F}"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65965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0D1335-23B7-4ACE-8A39-51D3C834FF8A}" type="datetime1">
              <a:rPr lang="en-US" smtClean="0"/>
              <a:t>9/18/2019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0215636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ECC56E5-0DA9-479C-BCFC-7EE8D0DE2A8E}" type="datetime1">
              <a:rPr lang="en-US" smtClean="0"/>
              <a:t>9/18/2019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7932712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F7FDF-1E42-4280-A018-ACBA192297BC}" type="datetime1">
              <a:rPr lang="en-US" smtClean="0"/>
              <a:t>9/18/2019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769613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5003-1A61-4041-91CF-BE3D4D09EBF1}"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3240726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0D7D3B-67DA-40FC-B2AC-DA938EAA2F72}"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080413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817F13-E155-42CD-A20C-B277FF788E23}"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614248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F6321-C77C-49CA-83B2-29284D793B25}"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47860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394849E-A96C-479D-999D-26024B301EF2}"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048297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B7697-44BE-464F-8981-C5EF3A124C23}"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3610688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C57D8D-BF23-4BCF-8EBC-861A1B1DE27C}"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2391578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A52379-2070-4859-82B4-0B6BF96F6750}"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77323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1E5070-400A-40B5-8F3B-79E375432C4D}" type="datetime1">
              <a:rPr lang="en-US" smtClean="0"/>
              <a:t>9/18/2019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4139450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A3935FA3-A859-46EE-9DBA-3396054253CC}" type="datetime1">
              <a:rPr lang="en-US" smtClean="0"/>
              <a:t>9/18/2019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760239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604EDA-4DB0-43F1-8DF2-E50A41E978FD}" type="datetime1">
              <a:rPr lang="en-US" smtClean="0"/>
              <a:t>9/18/2019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6788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F60095-03E6-49D1-8FE2-66640AD7D839}"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6189847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2D9738-EE9C-4FC1-8835-2C036BE91A2B}" type="datetime1">
              <a:rPr lang="en-US" smtClean="0"/>
              <a:t>9/18/2019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67808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961346-6166-4BF4-867B-66F542385138}"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70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45F4C4-52B4-4181-878C-D87ACB1BAF46}" type="datetime1">
              <a:rPr lang="en-US" smtClean="0"/>
              <a:t>9/18/2019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568767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18469548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726091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8847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83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7167016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3886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9457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26382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6723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2377278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25424211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6598489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3392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502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23050198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6522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86930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00182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5007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8114799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a:t>Click to edit Master subtitle style</a:t>
            </a:r>
            <a:endParaRPr lang="en-US" dirty="0"/>
          </a:p>
        </p:txBody>
      </p:sp>
      <p:sp>
        <p:nvSpPr>
          <p:cNvPr id="5" name="Slide Number Placeholder 3"/>
          <p:cNvSpPr>
            <a:spLocks noGrp="1"/>
          </p:cNvSpPr>
          <p:nvPr>
            <p:ph type="sldNum" sz="quarter" idx="12"/>
          </p:nvPr>
        </p:nvSpPr>
        <p:spPr>
          <a:xfrm>
            <a:off x="11044499" y="6326390"/>
            <a:ext cx="852032" cy="335775"/>
          </a:xfrm>
        </p:spPr>
        <p:txBody>
          <a:bodyPr/>
          <a:lstStyle/>
          <a:p>
            <a:fld id="{605F50E8-FD69-1B47-8B62-FEC05D161593}" type="slidenum">
              <a:rPr lang="en-US" smtClean="0"/>
              <a:pPr/>
              <a:t>‹#›</a:t>
            </a:fld>
            <a:endParaRPr lang="en-US" dirty="0"/>
          </a:p>
        </p:txBody>
      </p:sp>
    </p:spTree>
    <p:extLst>
      <p:ext uri="{BB962C8B-B14F-4D97-AF65-F5344CB8AC3E}">
        <p14:creationId xmlns:p14="http://schemas.microsoft.com/office/powerpoint/2010/main" val="16111330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168D7C-8822-4144-868B-B6EFA480259D}" type="datetime1">
              <a:rPr lang="en-US" smtClean="0">
                <a:solidFill>
                  <a:prstClr val="black">
                    <a:tint val="75000"/>
                  </a:prstClr>
                </a:solidFill>
              </a:rPr>
              <a:pPr/>
              <a:t>9/18/2019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3854553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EBFDA1-892D-475D-A681-5E1B87AA4CC5}" type="datetime1">
              <a:rPr lang="en-US" smtClean="0">
                <a:solidFill>
                  <a:prstClr val="black">
                    <a:tint val="75000"/>
                  </a:prstClr>
                </a:solidFill>
              </a:rPr>
              <a:pPr/>
              <a:t>9/18/2019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449520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9B08FF-86A9-489B-9293-6DAA81CF5589}" type="datetime1">
              <a:rPr lang="en-US" smtClean="0">
                <a:solidFill>
                  <a:prstClr val="black">
                    <a:tint val="75000"/>
                  </a:prstClr>
                </a:solidFill>
              </a:rPr>
              <a:pPr/>
              <a:t>9/18/2019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136665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E77F70-787D-4334-ABBD-4BEE84081B9F}" type="datetime1">
              <a:rPr lang="en-US" smtClean="0">
                <a:solidFill>
                  <a:prstClr val="black">
                    <a:tint val="75000"/>
                  </a:prstClr>
                </a:solidFill>
              </a:rPr>
              <a:pPr/>
              <a:t>9/18/2019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972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C84004-8839-470E-98FD-2398CB003887}" type="datetime1">
              <a:rPr lang="en-US" smtClean="0">
                <a:solidFill>
                  <a:prstClr val="black">
                    <a:tint val="75000"/>
                  </a:prstClr>
                </a:solidFill>
              </a:rPr>
              <a:pPr/>
              <a:t>9/18/2019</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708305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0DBE43-71DC-4CB5-9DC9-86D083825D16}" type="datetime1">
              <a:rPr lang="en-US" smtClean="0">
                <a:solidFill>
                  <a:prstClr val="black">
                    <a:tint val="75000"/>
                  </a:prstClr>
                </a:solidFill>
              </a:rPr>
              <a:pPr/>
              <a:t>9/18/2019</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177282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46410-D2D8-4C53-8D73-7FAB926DC67E}" type="datetime1">
              <a:rPr lang="en-US" smtClean="0">
                <a:solidFill>
                  <a:prstClr val="black">
                    <a:tint val="75000"/>
                  </a:prstClr>
                </a:solidFill>
              </a:rPr>
              <a:pPr/>
              <a:t>9/18/2019</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272534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867214-0AB1-49E6-A7A9-395C2525D2CB}" type="datetime1">
              <a:rPr lang="en-US" smtClean="0">
                <a:solidFill>
                  <a:prstClr val="black">
                    <a:tint val="75000"/>
                  </a:prstClr>
                </a:solidFill>
              </a:rPr>
              <a:pPr/>
              <a:t>9/18/2019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704958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15EC8-B9E7-4675-8613-1CB4C2CB4986}" type="datetime1">
              <a:rPr lang="en-US" smtClean="0">
                <a:solidFill>
                  <a:prstClr val="black">
                    <a:tint val="75000"/>
                  </a:prstClr>
                </a:solidFill>
              </a:rPr>
              <a:pPr/>
              <a:t>9/18/2019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24605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7143D-A714-4C9D-9075-7EC3BC78008B}" type="datetime1">
              <a:rPr lang="en-US" smtClean="0">
                <a:solidFill>
                  <a:prstClr val="black">
                    <a:tint val="75000"/>
                  </a:prstClr>
                </a:solidFill>
              </a:rPr>
              <a:pPr/>
              <a:t>9/18/2019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443438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2B81AF-C2C2-42FA-ACA9-4469AE76468E}" type="datetime1">
              <a:rPr lang="en-US" smtClean="0">
                <a:solidFill>
                  <a:prstClr val="black">
                    <a:tint val="75000"/>
                  </a:prstClr>
                </a:solidFill>
              </a:rPr>
              <a:pPr/>
              <a:t>9/18/2019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0776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2" name="Picture 1"/>
          <p:cNvPicPr>
            <a:picLocks noChangeAspect="1"/>
          </p:cNvPicPr>
          <p:nvPr userDrawn="1"/>
        </p:nvPicPr>
        <p:blipFill rotWithShape="1">
          <a:blip r:embed="rId3" cstate="print">
            <a:extLst>
              <a:ext uri="{28A0092B-C50C-407E-A947-70E740481C1C}">
                <a14:useLocalDpi xmlns:a14="http://schemas.microsoft.com/office/drawing/2010/main" val="0"/>
              </a:ext>
            </a:extLst>
          </a:blip>
          <a:srcRect l="-76"/>
          <a:stretch/>
        </p:blipFill>
        <p:spPr>
          <a:xfrm>
            <a:off x="-16934" y="-35429"/>
            <a:ext cx="12208935" cy="3207007"/>
          </a:xfrm>
          <a:prstGeom prst="rect">
            <a:avLst/>
          </a:prstGeom>
        </p:spPr>
      </p:pic>
    </p:spTree>
    <p:extLst>
      <p:ext uri="{BB962C8B-B14F-4D97-AF65-F5344CB8AC3E}">
        <p14:creationId xmlns:p14="http://schemas.microsoft.com/office/powerpoint/2010/main" val="1773064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18" Type="http://schemas.openxmlformats.org/officeDocument/2006/relationships/image" Target="../media/image8.png"/><Relationship Id="rId3" Type="http://schemas.openxmlformats.org/officeDocument/2006/relationships/slideLayout" Target="../slideLayouts/slideLayout36.xml"/><Relationship Id="rId21" Type="http://schemas.openxmlformats.org/officeDocument/2006/relationships/hyperlink" Target="http://www.iaasb.org/" TargetMode="Externa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7.png"/><Relationship Id="rId2" Type="http://schemas.openxmlformats.org/officeDocument/2006/relationships/slideLayout" Target="../slideLayouts/slideLayout35.xml"/><Relationship Id="rId16" Type="http://schemas.openxmlformats.org/officeDocument/2006/relationships/image" Target="../media/image6.png"/><Relationship Id="rId20" Type="http://schemas.openxmlformats.org/officeDocument/2006/relationships/hyperlink" Target="mailto:permissions@ifac.org" TargetMode="Externa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5.png"/><Relationship Id="rId10" Type="http://schemas.openxmlformats.org/officeDocument/2006/relationships/slideLayout" Target="../slideLayouts/slideLayout43.xml"/><Relationship Id="rId19" Type="http://schemas.openxmlformats.org/officeDocument/2006/relationships/hyperlink" Target="http://www.ifac.org/about-ifac/translations-permissions" TargetMode="Externa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4.png"/><Relationship Id="rId22" Type="http://schemas.openxmlformats.org/officeDocument/2006/relationships/image" Target="../media/image9.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image" Target="../media/image10.jpeg"/><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theme" Target="../theme/theme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image" Target="../media/image10.jpeg"/><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theme" Target="../theme/theme7.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856EE5-B36E-4704-9EC0-BD21A5BAD421}" type="datetime1">
              <a:rPr lang="en-US" smtClean="0"/>
              <a:t>9/18/2019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1BF3E-DF8B-49A5-8A7B-7F8F24820CAC}" type="slidenum">
              <a:rPr lang="en-US" smtClean="0"/>
              <a:t>‹#›</a:t>
            </a:fld>
            <a:endParaRPr lang="en-US" dirty="0"/>
          </a:p>
        </p:txBody>
      </p:sp>
      <p:graphicFrame>
        <p:nvGraphicFramePr>
          <p:cNvPr id="7" name="Table 6"/>
          <p:cNvGraphicFramePr>
            <a:graphicFrameLocks noGrp="1"/>
          </p:cNvGraphicFramePr>
          <p:nvPr userDrawn="1">
            <p:extLst>
              <p:ext uri="{D42A27DB-BD31-4B8C-83A1-F6EECF244321}">
                <p14:modId xmlns:p14="http://schemas.microsoft.com/office/powerpoint/2010/main" val="168878278"/>
              </p:ext>
            </p:extLst>
          </p:nvPr>
        </p:nvGraphicFramePr>
        <p:xfrm>
          <a:off x="838200" y="291549"/>
          <a:ext cx="10515600" cy="5910468"/>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5910468">
                <a:tc>
                  <a:txBody>
                    <a:bodyPr/>
                    <a:lstStyle/>
                    <a:p>
                      <a:endParaRPr lang="en-US" dirty="0"/>
                    </a:p>
                  </a:txBody>
                  <a:tcPr marL="121920" marR="121920">
                    <a:lnL w="28575" cap="flat" cmpd="sng" algn="ctr">
                      <a:solidFill>
                        <a:srgbClr val="F08714"/>
                      </a:solidFill>
                      <a:prstDash val="solid"/>
                      <a:round/>
                      <a:headEnd type="none" w="med" len="med"/>
                      <a:tailEnd type="none" w="med" len="med"/>
                    </a:lnL>
                    <a:lnR w="28575" cap="flat" cmpd="sng" algn="ctr">
                      <a:solidFill>
                        <a:srgbClr val="F08714"/>
                      </a:solidFill>
                      <a:prstDash val="solid"/>
                      <a:round/>
                      <a:headEnd type="none" w="med" len="med"/>
                      <a:tailEnd type="none" w="med" len="med"/>
                    </a:lnR>
                    <a:lnT w="28575" cap="flat" cmpd="sng" algn="ctr">
                      <a:solidFill>
                        <a:srgbClr val="F08714"/>
                      </a:solidFill>
                      <a:prstDash val="solid"/>
                      <a:round/>
                      <a:headEnd type="none" w="med" len="med"/>
                      <a:tailEnd type="none" w="med" len="med"/>
                    </a:lnT>
                    <a:lnB w="28575" cap="flat" cmpd="sng" algn="ctr">
                      <a:solidFill>
                        <a:srgbClr val="F08714"/>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9" name="Picture 8"/>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18755993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B8EE7-8247-42AD-8E12-DC9551FCB683}" type="datetime1">
              <a:rPr lang="en-US" smtClean="0"/>
              <a:t>9/18/2019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05DAD2-EBD2-4248-A1BE-DE5C530C13EE}" type="slidenum">
              <a:rPr lang="en-US" smtClean="0"/>
              <a:t>‹#›</a:t>
            </a:fld>
            <a:endParaRPr lang="en-US" dirty="0"/>
          </a:p>
        </p:txBody>
      </p:sp>
      <p:sp>
        <p:nvSpPr>
          <p:cNvPr id="8" name="Rectangle 7"/>
          <p:cNvSpPr/>
          <p:nvPr userDrawn="1"/>
        </p:nvSpPr>
        <p:spPr>
          <a:xfrm>
            <a:off x="0" y="633845"/>
            <a:ext cx="12192000" cy="447208"/>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9"/>
          <p:cNvPicPr>
            <a:picLocks noChangeAspect="1"/>
          </p:cNvPicPr>
          <p:nvPr userDrawn="1"/>
        </p:nvPicPr>
        <p:blipFill>
          <a:blip r:embed="rId13">
            <a:extLst>
              <a:ext uri="{28A0092B-C50C-407E-A947-70E740481C1C}">
                <a14:useLocalDpi xmlns:a14="http://schemas.microsoft.com/office/drawing/2010/main"/>
              </a:ext>
            </a:extLst>
          </a:blip>
          <a:stretch>
            <a:fillRect/>
          </a:stretch>
        </p:blipFill>
        <p:spPr>
          <a:xfrm>
            <a:off x="0" y="1"/>
            <a:ext cx="12192000" cy="633844"/>
          </a:xfrm>
          <a:prstGeom prst="rect">
            <a:avLst/>
          </a:prstGeom>
        </p:spPr>
      </p:pic>
      <p:sp>
        <p:nvSpPr>
          <p:cNvPr id="11" name="Rectangle 10"/>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1"/>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3" name="Picture 12"/>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6520143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C6B8DE-675F-4831-9241-FE2F5CAD1845}" type="datetime1">
              <a:rPr lang="en-US" smtClean="0"/>
              <a:t>9/18/2019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05E96D-C2D6-4C1C-BEE1-8F30C6DF7FED}" type="slidenum">
              <a:rPr lang="en-US" smtClean="0"/>
              <a:t>‹#›</a:t>
            </a:fld>
            <a:endParaRPr lang="en-US" dirty="0"/>
          </a:p>
        </p:txBody>
      </p:sp>
      <p:pic>
        <p:nvPicPr>
          <p:cNvPr id="8" name="Picture 7"/>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39353254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C7CB0-694A-4CF9-A877-F97EB51B4CF3}" type="datetime1">
              <a:rPr lang="en-US" smtClean="0"/>
              <a:t>9/18/2019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7A7E9-A6B9-48E9-BF8E-B5EFD8DCE520}" type="slidenum">
              <a:rPr lang="en-US" smtClean="0"/>
              <a:t>‹#›</a:t>
            </a:fld>
            <a:endParaRPr lang="en-US" dirty="0"/>
          </a:p>
        </p:txBody>
      </p:sp>
      <p:pic>
        <p:nvPicPr>
          <p:cNvPr id="10" name="Picture 9"/>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172746" y="5520048"/>
            <a:ext cx="770407" cy="193152"/>
          </a:xfrm>
          <a:prstGeom prst="rect">
            <a:avLst/>
          </a:prstGeom>
        </p:spPr>
      </p:pic>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3024003" y="5527362"/>
            <a:ext cx="583308" cy="193152"/>
          </a:xfrm>
          <a:prstGeom prst="rect">
            <a:avLst/>
          </a:prstGeom>
        </p:spPr>
      </p:pic>
      <p:pic>
        <p:nvPicPr>
          <p:cNvPr id="12" name="Picture 11"/>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573723" y="5517394"/>
            <a:ext cx="770407" cy="193152"/>
          </a:xfrm>
          <a:prstGeom prst="rect">
            <a:avLst/>
          </a:prstGeom>
        </p:spPr>
      </p:pic>
      <p:pic>
        <p:nvPicPr>
          <p:cNvPr id="13" name="Picture 12"/>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501197" y="5520048"/>
            <a:ext cx="770407" cy="234424"/>
          </a:xfrm>
          <a:prstGeom prst="rect">
            <a:avLst/>
          </a:prstGeom>
        </p:spPr>
      </p:pic>
      <p:pic>
        <p:nvPicPr>
          <p:cNvPr id="14" name="Picture 13"/>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238015" y="5520048"/>
            <a:ext cx="770407" cy="193152"/>
          </a:xfrm>
          <a:prstGeom prst="rect">
            <a:avLst/>
          </a:prstGeom>
        </p:spPr>
      </p:pic>
      <p:pic>
        <p:nvPicPr>
          <p:cNvPr id="15" name="Picture 14"/>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9780285" y="5516924"/>
            <a:ext cx="770407" cy="193152"/>
          </a:xfrm>
          <a:prstGeom prst="rect">
            <a:avLst/>
          </a:prstGeom>
        </p:spPr>
      </p:pic>
      <p:sp>
        <p:nvSpPr>
          <p:cNvPr id="16" name="Rectangle 15"/>
          <p:cNvSpPr/>
          <p:nvPr userDrawn="1"/>
        </p:nvSpPr>
        <p:spPr>
          <a:xfrm>
            <a:off x="931335" y="5827229"/>
            <a:ext cx="10837333"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9"/>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20"/>
              </a:rPr>
              <a:t>permissions@ifac.org</a:t>
            </a:r>
            <a:r>
              <a:rPr lang="en-US" sz="900" dirty="0">
                <a:effectLst/>
                <a:latin typeface="Arial" panose="020B0604020202020204" pitchFamily="34" charset="0"/>
                <a:ea typeface="Calibri" panose="020F0502020204030204" pitchFamily="34" charset="0"/>
              </a:rPr>
              <a:t>.</a:t>
            </a:r>
            <a:endParaRPr lang="en-US" sz="900" dirty="0"/>
          </a:p>
        </p:txBody>
      </p:sp>
      <p:sp>
        <p:nvSpPr>
          <p:cNvPr id="17" name="Rectangle 16"/>
          <p:cNvSpPr/>
          <p:nvPr userDrawn="1"/>
        </p:nvSpPr>
        <p:spPr>
          <a:xfrm>
            <a:off x="5139681" y="4870068"/>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21"/>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pic>
        <p:nvPicPr>
          <p:cNvPr id="18" name="Picture 17"/>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3581399" y="2461794"/>
            <a:ext cx="4326783" cy="759918"/>
          </a:xfrm>
          <a:prstGeom prst="rect">
            <a:avLst/>
          </a:prstGeom>
        </p:spPr>
      </p:pic>
      <p:sp>
        <p:nvSpPr>
          <p:cNvPr id="19" name="Rectangle 18"/>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20" name="Rectangle 19"/>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78069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9/18/2019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306908377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9/18/2019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2741929745"/>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3E7E7A-EFDA-4F96-BA3A-43C7E3A490FB}" type="datetime1">
              <a:rPr lang="en-US" smtClean="0">
                <a:solidFill>
                  <a:prstClr val="black">
                    <a:tint val="75000"/>
                  </a:prstClr>
                </a:solidFill>
              </a:rPr>
              <a:pPr/>
              <a:t>9/18/2019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graphicFrame>
        <p:nvGraphicFramePr>
          <p:cNvPr id="8" name="Table 7"/>
          <p:cNvGraphicFramePr>
            <a:graphicFrameLocks noGrp="1"/>
          </p:cNvGraphicFramePr>
          <p:nvPr userDrawn="1"/>
        </p:nvGraphicFramePr>
        <p:xfrm>
          <a:off x="838200" y="1225605"/>
          <a:ext cx="2006600" cy="1291473"/>
        </p:xfrm>
        <a:graphic>
          <a:graphicData uri="http://schemas.openxmlformats.org/drawingml/2006/table">
            <a:tbl>
              <a:tblPr firstRow="1" bandRow="1">
                <a:tableStyleId>{7E9639D4-E3E2-4D34-9284-5A2195B3D0D7}</a:tableStyleId>
              </a:tblPr>
              <a:tblGrid>
                <a:gridCol w="2006600">
                  <a:extLst>
                    <a:ext uri="{9D8B030D-6E8A-4147-A177-3AD203B41FA5}">
                      <a16:colId xmlns:a16="http://schemas.microsoft.com/office/drawing/2014/main" val="20000"/>
                    </a:ext>
                  </a:extLst>
                </a:gridCol>
              </a:tblGrid>
              <a:tr h="233017">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38100" cap="flat" cmpd="sng" algn="ctr">
                      <a:solidFill>
                        <a:srgbClr val="F08714"/>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15397">
                <a:tc>
                  <a:txBody>
                    <a:bodyPr/>
                    <a:lstStyle/>
                    <a:p>
                      <a:endParaRPr lang="en-US" dirty="0"/>
                    </a:p>
                  </a:txBody>
                  <a:tcPr marL="121920" marR="121920">
                    <a:lnL w="38100" cap="flat" cmpd="sng" algn="ctr">
                      <a:solidFill>
                        <a:srgbClr val="F08714"/>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3059">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6350" cap="flat" cmpd="sng" algn="ctr">
                      <a:noFill/>
                      <a:prstDash val="solid"/>
                      <a:miter lim="800000"/>
                    </a:lnT>
                    <a:lnB w="38100" cap="flat" cmpd="sng" algn="ctr">
                      <a:solidFill>
                        <a:srgbClr val="F0871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
        <p:nvSpPr>
          <p:cNvPr id="12" name="Rectangle 11"/>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
        <p:nvSpPr>
          <p:cNvPr id="13" name="Rectangle 12"/>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Tree>
    <p:extLst>
      <p:ext uri="{BB962C8B-B14F-4D97-AF65-F5344CB8AC3E}">
        <p14:creationId xmlns:p14="http://schemas.microsoft.com/office/powerpoint/2010/main" val="387049740"/>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4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4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4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4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4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4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48.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1.xml"/><Relationship Id="rId1" Type="http://schemas.openxmlformats.org/officeDocument/2006/relationships/slideLayout" Target="../slideLayouts/slideLayout48.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3.xml"/><Relationship Id="rId1" Type="http://schemas.openxmlformats.org/officeDocument/2006/relationships/slideLayout" Target="../slideLayouts/slideLayout48.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4.xml"/><Relationship Id="rId1" Type="http://schemas.openxmlformats.org/officeDocument/2006/relationships/slideLayout" Target="../slideLayouts/slideLayout48.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5.xml"/><Relationship Id="rId1" Type="http://schemas.openxmlformats.org/officeDocument/2006/relationships/slideLayout" Target="../slideLayouts/slideLayout48.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6.xml"/><Relationship Id="rId1" Type="http://schemas.openxmlformats.org/officeDocument/2006/relationships/slideLayout" Target="../slideLayouts/slideLayout48.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914401" y="3424965"/>
            <a:ext cx="10524511" cy="1156000"/>
          </a:xfrm>
        </p:spPr>
        <p:txBody>
          <a:bodyPr>
            <a:normAutofit/>
          </a:bodyPr>
          <a:lstStyle/>
          <a:p>
            <a:r>
              <a:rPr lang="en-US" sz="4000" b="1" dirty="0">
                <a:solidFill>
                  <a:schemeClr val="tx1">
                    <a:lumMod val="65000"/>
                    <a:lumOff val="35000"/>
                  </a:schemeClr>
                </a:solidFill>
              </a:rPr>
              <a:t>ISA 600 – Group Audits</a:t>
            </a:r>
          </a:p>
        </p:txBody>
      </p:sp>
      <p:sp>
        <p:nvSpPr>
          <p:cNvPr id="3" name="Subtitle 2"/>
          <p:cNvSpPr>
            <a:spLocks noGrp="1"/>
          </p:cNvSpPr>
          <p:nvPr>
            <p:ph type="subTitle" idx="1"/>
          </p:nvPr>
        </p:nvSpPr>
        <p:spPr>
          <a:xfrm>
            <a:off x="914401" y="4769225"/>
            <a:ext cx="6831104" cy="1408055"/>
          </a:xfrm>
        </p:spPr>
        <p:txBody>
          <a:bodyPr>
            <a:normAutofit/>
          </a:bodyPr>
          <a:lstStyle/>
          <a:p>
            <a:pPr>
              <a:spcBef>
                <a:spcPts val="800"/>
              </a:spcBef>
            </a:pPr>
            <a:r>
              <a:rPr lang="en-US" sz="2400" b="1" dirty="0"/>
              <a:t>Len </a:t>
            </a:r>
            <a:r>
              <a:rPr lang="en-US" sz="2400" b="1" dirty="0" err="1"/>
              <a:t>Jui</a:t>
            </a:r>
            <a:r>
              <a:rPr lang="en-US" sz="2400" b="1" dirty="0"/>
              <a:t>, IAASB Member and Task Force Chair</a:t>
            </a:r>
          </a:p>
          <a:p>
            <a:pPr>
              <a:spcBef>
                <a:spcPts val="800"/>
              </a:spcBef>
            </a:pPr>
            <a:r>
              <a:rPr lang="en-US" sz="2400" b="1" dirty="0"/>
              <a:t>IAASB Meeting September 2019</a:t>
            </a:r>
          </a:p>
          <a:p>
            <a:pPr>
              <a:spcBef>
                <a:spcPts val="800"/>
              </a:spcBef>
            </a:pPr>
            <a:r>
              <a:rPr lang="en-US" sz="2400" b="1" dirty="0"/>
              <a:t>Agenda Item 9</a:t>
            </a: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Task Force Members and Staff</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36879" y="1567543"/>
            <a:ext cx="11646033" cy="4722045"/>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Task Force members</a:t>
            </a:r>
          </a:p>
          <a:p>
            <a:pPr marL="694944" lvl="1" indent="-347472">
              <a:spcBef>
                <a:spcPts val="300"/>
              </a:spcBef>
              <a:spcAft>
                <a:spcPts val="300"/>
              </a:spcAft>
            </a:pPr>
            <a:r>
              <a:rPr lang="en-US" sz="2000" dirty="0"/>
              <a:t>Len </a:t>
            </a:r>
            <a:r>
              <a:rPr lang="en-US" sz="2000" dirty="0" err="1"/>
              <a:t>Jui</a:t>
            </a:r>
            <a:r>
              <a:rPr lang="en-US" sz="2000" dirty="0"/>
              <a:t>, Task Force Chair (supported by Susan Jones)</a:t>
            </a:r>
          </a:p>
          <a:p>
            <a:pPr marL="694944" lvl="1" indent="-347472">
              <a:spcBef>
                <a:spcPts val="300"/>
              </a:spcBef>
              <a:spcAft>
                <a:spcPts val="300"/>
              </a:spcAft>
            </a:pPr>
            <a:r>
              <a:rPr lang="en-US" sz="2000" dirty="0"/>
              <a:t>Robert Dohrer</a:t>
            </a:r>
          </a:p>
          <a:p>
            <a:pPr marL="694944" lvl="1" indent="-347472">
              <a:spcBef>
                <a:spcPts val="300"/>
              </a:spcBef>
              <a:spcAft>
                <a:spcPts val="300"/>
              </a:spcAft>
            </a:pPr>
            <a:r>
              <a:rPr lang="en-US" sz="2000" dirty="0"/>
              <a:t>Rich Sharko (supported by Jamie Shannon)</a:t>
            </a:r>
          </a:p>
          <a:p>
            <a:pPr marL="694944" lvl="1" indent="-347472">
              <a:spcBef>
                <a:spcPts val="300"/>
              </a:spcBef>
              <a:spcAft>
                <a:spcPts val="300"/>
              </a:spcAft>
            </a:pPr>
            <a:r>
              <a:rPr lang="en-US" sz="2000" dirty="0"/>
              <a:t>Wolf </a:t>
            </a:r>
            <a:r>
              <a:rPr lang="en-US" sz="2000" dirty="0" err="1"/>
              <a:t>Böhm</a:t>
            </a:r>
            <a:endParaRPr lang="en-US" sz="2000" dirty="0"/>
          </a:p>
          <a:p>
            <a:pPr marL="694944" lvl="1" indent="-347472">
              <a:spcBef>
                <a:spcPts val="300"/>
              </a:spcBef>
              <a:spcAft>
                <a:spcPts val="300"/>
              </a:spcAft>
            </a:pPr>
            <a:r>
              <a:rPr lang="en-US" sz="2000" dirty="0"/>
              <a:t>Josephine Jackson</a:t>
            </a:r>
          </a:p>
          <a:p>
            <a:pPr marL="694944" lvl="1" indent="-347472">
              <a:spcBef>
                <a:spcPts val="300"/>
              </a:spcBef>
              <a:spcAft>
                <a:spcPts val="300"/>
              </a:spcAft>
            </a:pPr>
            <a:r>
              <a:rPr lang="en-US" sz="2000" dirty="0"/>
              <a:t>Dora Burzenski (Correspondent member)</a:t>
            </a:r>
          </a:p>
          <a:p>
            <a:pPr marL="347472" lvl="1" indent="-347472">
              <a:spcBef>
                <a:spcPts val="300"/>
              </a:spcBef>
              <a:spcAft>
                <a:spcPts val="300"/>
              </a:spcAft>
              <a:buFont typeface="Arial"/>
              <a:buChar char="•"/>
            </a:pPr>
            <a:r>
              <a:rPr lang="en-US" sz="2400" dirty="0"/>
              <a:t>Staff</a:t>
            </a:r>
          </a:p>
          <a:p>
            <a:pPr marL="694944" lvl="1" indent="-347472">
              <a:spcBef>
                <a:spcPts val="300"/>
              </a:spcBef>
              <a:spcAft>
                <a:spcPts val="300"/>
              </a:spcAft>
            </a:pPr>
            <a:r>
              <a:rPr lang="en-US" sz="2000" dirty="0"/>
              <a:t>Jasper van den Hout</a:t>
            </a:r>
          </a:p>
          <a:p>
            <a:pPr marL="694944" lvl="1" indent="-347472">
              <a:spcBef>
                <a:spcPts val="300"/>
              </a:spcBef>
              <a:spcAft>
                <a:spcPts val="300"/>
              </a:spcAft>
            </a:pPr>
            <a:r>
              <a:rPr lang="en-US" sz="2000" dirty="0"/>
              <a:t>Dan Montgomery</a:t>
            </a:r>
            <a:endParaRPr lang="en-US" sz="2400" dirty="0">
              <a:solidFill>
                <a:srgbClr val="FF0000"/>
              </a:solidFill>
            </a:endParaRPr>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146520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48640" y="568411"/>
            <a:ext cx="11643360" cy="531048"/>
          </a:xfrm>
        </p:spPr>
        <p:txBody>
          <a:bodyPr/>
          <a:lstStyle/>
          <a:p>
            <a:pPr marL="347472"/>
            <a:r>
              <a:rPr lang="en-US" sz="2400" b="1" dirty="0">
                <a:ln w="0"/>
              </a:rPr>
              <a:t>Objectives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3</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548641" y="1950720"/>
            <a:ext cx="5652770" cy="4338868"/>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sz="2800" dirty="0"/>
              <a:t>Obtain the Board’s views on</a:t>
            </a:r>
          </a:p>
          <a:p>
            <a:pPr lvl="1"/>
            <a:r>
              <a:rPr lang="en-US" sz="2400" dirty="0"/>
              <a:t>Key public interest issues</a:t>
            </a:r>
          </a:p>
          <a:p>
            <a:pPr lvl="1"/>
            <a:r>
              <a:rPr lang="en-US" sz="2400" dirty="0"/>
              <a:t>The proposed revisions to ISA 600 (as presented in </a:t>
            </a:r>
            <a:r>
              <a:rPr lang="en-US" sz="2400" b="1" dirty="0"/>
              <a:t>Agenda Item 9-B</a:t>
            </a:r>
            <a:r>
              <a:rPr lang="en-US" sz="2400" dirty="0"/>
              <a:t>)</a:t>
            </a:r>
          </a:p>
          <a:p>
            <a:pPr lvl="1"/>
            <a:r>
              <a:rPr lang="en-US" sz="2400" dirty="0"/>
              <a:t>The proposed approach for certain aspects of the standard, including materiality considerations and ‘stand back’ requirements</a:t>
            </a:r>
          </a:p>
        </p:txBody>
      </p:sp>
      <p:sp>
        <p:nvSpPr>
          <p:cNvPr id="8" name="Content Placeholder 2">
            <a:extLst>
              <a:ext uri="{FF2B5EF4-FFF2-40B4-BE49-F238E27FC236}">
                <a16:creationId xmlns:a16="http://schemas.microsoft.com/office/drawing/2014/main" id="{0A962E3C-3575-4F9A-828A-A3A429055D70}"/>
              </a:ext>
            </a:extLst>
          </p:cNvPr>
          <p:cNvSpPr txBox="1">
            <a:spLocks/>
          </p:cNvSpPr>
          <p:nvPr/>
        </p:nvSpPr>
        <p:spPr>
          <a:xfrm>
            <a:off x="238799" y="3647440"/>
            <a:ext cx="11844115" cy="3958634"/>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867978" lvl="2" indent="-347472">
              <a:spcAft>
                <a:spcPts val="300"/>
              </a:spcAft>
            </a:pPr>
            <a:endParaRPr lang="en-US" dirty="0"/>
          </a:p>
          <a:p>
            <a:pPr marL="694944" lvl="1" indent="-347472">
              <a:lnSpc>
                <a:spcPts val="2400"/>
              </a:lnSpc>
              <a:spcAft>
                <a:spcPts val="300"/>
              </a:spcAft>
            </a:pPr>
            <a:endParaRPr lang="en-US" dirty="0"/>
          </a:p>
          <a:p>
            <a:pPr marL="347472" lvl="1" indent="0">
              <a:lnSpc>
                <a:spcPts val="2400"/>
              </a:lnSpc>
              <a:spcBef>
                <a:spcPts val="300"/>
              </a:spcBef>
              <a:spcAft>
                <a:spcPts val="300"/>
              </a:spcAft>
              <a:buFont typeface="Arial"/>
              <a:buNone/>
            </a:pPr>
            <a:endParaRPr lang="en-US" dirty="0"/>
          </a:p>
        </p:txBody>
      </p:sp>
      <p:pic>
        <p:nvPicPr>
          <p:cNvPr id="3" name="Picture 2" descr="A close up of a necklace&#10;&#10;Description automatically generated">
            <a:extLst>
              <a:ext uri="{FF2B5EF4-FFF2-40B4-BE49-F238E27FC236}">
                <a16:creationId xmlns:a16="http://schemas.microsoft.com/office/drawing/2014/main" id="{E6EC40C0-D2E7-47DA-9C46-BE91CE0D51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5777" y="1950720"/>
            <a:ext cx="5652770" cy="3708559"/>
          </a:xfrm>
          <a:prstGeom prst="rect">
            <a:avLst/>
          </a:prstGeom>
        </p:spPr>
      </p:pic>
    </p:spTree>
    <p:extLst>
      <p:ext uri="{BB962C8B-B14F-4D97-AF65-F5344CB8AC3E}">
        <p14:creationId xmlns:p14="http://schemas.microsoft.com/office/powerpoint/2010/main" val="1690667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400" b="1" dirty="0"/>
              <a:t>Overview</a:t>
            </a: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947958448"/>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4</a:t>
            </a:fld>
            <a:endParaRPr lang="en-US" sz="900" dirty="0">
              <a:solidFill>
                <a:srgbClr val="808080"/>
              </a:solidFill>
              <a:latin typeface="Arial" panose="020B0604020202020204" pitchFamily="34" charset="0"/>
            </a:endParaRPr>
          </a:p>
        </p:txBody>
      </p:sp>
    </p:spTree>
    <p:extLst>
      <p:ext uri="{BB962C8B-B14F-4D97-AF65-F5344CB8AC3E}">
        <p14:creationId xmlns:p14="http://schemas.microsoft.com/office/powerpoint/2010/main" val="711969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17261479"/>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5</a:t>
            </a:fld>
            <a:endParaRPr lang="en-US" sz="900" dirty="0">
              <a:solidFill>
                <a:srgbClr val="808080"/>
              </a:solidFill>
              <a:latin typeface="Arial" panose="020B0604020202020204" pitchFamily="34" charset="0"/>
            </a:endParaRPr>
          </a:p>
        </p:txBody>
      </p:sp>
    </p:spTree>
    <p:extLst>
      <p:ext uri="{BB962C8B-B14F-4D97-AF65-F5344CB8AC3E}">
        <p14:creationId xmlns:p14="http://schemas.microsoft.com/office/powerpoint/2010/main" val="953473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Outreach</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6</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36879" y="1436915"/>
            <a:ext cx="11646033" cy="4852674"/>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IOSCO C1 Auditing Subcommittee</a:t>
            </a:r>
          </a:p>
          <a:p>
            <a:pPr marL="694944" lvl="1" indent="-347472">
              <a:spcBef>
                <a:spcPts val="300"/>
              </a:spcBef>
              <a:spcAft>
                <a:spcPts val="300"/>
              </a:spcAft>
            </a:pPr>
            <a:r>
              <a:rPr lang="en-US" sz="2000" dirty="0"/>
              <a:t>Supportive of direction of the risk-based approach but will further consider the details</a:t>
            </a:r>
          </a:p>
          <a:p>
            <a:pPr marL="694944" lvl="1" indent="-347472">
              <a:spcBef>
                <a:spcPts val="300"/>
              </a:spcBef>
              <a:spcAft>
                <a:spcPts val="300"/>
              </a:spcAft>
            </a:pPr>
            <a:r>
              <a:rPr lang="en-US" sz="2000" dirty="0"/>
              <a:t>Would like further discussion about how comments raised on ITC have been addressed</a:t>
            </a:r>
          </a:p>
          <a:p>
            <a:pPr marL="1042416" lvl="2" indent="-347472">
              <a:spcBef>
                <a:spcPts val="300"/>
              </a:spcBef>
              <a:spcAft>
                <a:spcPts val="300"/>
              </a:spcAft>
            </a:pPr>
            <a:r>
              <a:rPr lang="en-US" sz="1800" dirty="0"/>
              <a:t>Call scheduled for September 23</a:t>
            </a:r>
          </a:p>
          <a:p>
            <a:pPr marL="694944" lvl="1" indent="-347472">
              <a:spcBef>
                <a:spcPts val="300"/>
              </a:spcBef>
              <a:spcAft>
                <a:spcPts val="300"/>
              </a:spcAft>
            </a:pPr>
            <a:r>
              <a:rPr lang="en-US" sz="2000" dirty="0"/>
              <a:t>Highlighted importance of robust documentation requirements</a:t>
            </a:r>
          </a:p>
          <a:p>
            <a:pPr marL="347472" lvl="1" indent="-347472">
              <a:spcBef>
                <a:spcPts val="300"/>
              </a:spcBef>
              <a:spcAft>
                <a:spcPts val="300"/>
              </a:spcAft>
              <a:buFont typeface="Arial"/>
              <a:buChar char="•"/>
            </a:pPr>
            <a:r>
              <a:rPr lang="en-US" sz="2400" dirty="0"/>
              <a:t>IFIAR Standards Coordination Working Group</a:t>
            </a:r>
          </a:p>
          <a:p>
            <a:pPr marL="694944" lvl="1" indent="-347472">
              <a:spcBef>
                <a:spcPts val="300"/>
              </a:spcBef>
              <a:spcAft>
                <a:spcPts val="300"/>
              </a:spcAft>
            </a:pPr>
            <a:r>
              <a:rPr lang="en-US" sz="2000" dirty="0"/>
              <a:t>Support for enhancing linkages with other standards</a:t>
            </a:r>
          </a:p>
          <a:p>
            <a:pPr marL="694944" lvl="1" indent="-347472">
              <a:spcBef>
                <a:spcPts val="300"/>
              </a:spcBef>
              <a:spcAft>
                <a:spcPts val="300"/>
              </a:spcAft>
            </a:pPr>
            <a:r>
              <a:rPr lang="en-US" sz="2000" dirty="0"/>
              <a:t>E</a:t>
            </a:r>
            <a:r>
              <a:rPr lang="en-US" dirty="0"/>
              <a:t>ffect of removal of concept of significant component but referring to 'financially significant’</a:t>
            </a:r>
          </a:p>
          <a:p>
            <a:pPr marL="1042416" lvl="2" indent="-347472">
              <a:spcBef>
                <a:spcPts val="300"/>
              </a:spcBef>
              <a:spcAft>
                <a:spcPts val="300"/>
              </a:spcAft>
            </a:pPr>
            <a:r>
              <a:rPr lang="en-US" sz="1800" dirty="0"/>
              <a:t>Will this change behavior?</a:t>
            </a:r>
          </a:p>
          <a:p>
            <a:pPr marL="694944" lvl="1" indent="-347472">
              <a:spcBef>
                <a:spcPts val="300"/>
              </a:spcBef>
              <a:spcAft>
                <a:spcPts val="300"/>
              </a:spcAft>
            </a:pPr>
            <a:r>
              <a:rPr lang="en-US" sz="2000" dirty="0"/>
              <a:t>Use of engagement partner / engagement team throughout the standard</a:t>
            </a:r>
          </a:p>
          <a:p>
            <a:pPr marL="694944" lvl="1" indent="-347472">
              <a:spcBef>
                <a:spcPts val="300"/>
              </a:spcBef>
              <a:spcAft>
                <a:spcPts val="300"/>
              </a:spcAft>
            </a:pPr>
            <a:r>
              <a:rPr lang="en-US" sz="2000" dirty="0"/>
              <a:t>Scope of standard: will standard apply to a fund-of-funds?</a:t>
            </a:r>
          </a:p>
          <a:p>
            <a:pPr marL="694944" lvl="1" indent="-347472">
              <a:spcBef>
                <a:spcPts val="300"/>
              </a:spcBef>
              <a:spcAft>
                <a:spcPts val="300"/>
              </a:spcAft>
            </a:pPr>
            <a:r>
              <a:rPr lang="en-US" sz="2000" dirty="0"/>
              <a:t>Access issues: clarify what consequences are when there are access issues</a:t>
            </a:r>
          </a:p>
          <a:p>
            <a:pPr marL="1042416" lvl="2" indent="-347472">
              <a:spcBef>
                <a:spcPts val="300"/>
              </a:spcBef>
              <a:spcAft>
                <a:spcPts val="300"/>
              </a:spcAft>
            </a:pPr>
            <a:r>
              <a:rPr lang="en-US" sz="1800" dirty="0"/>
              <a:t>Importance of obtaining sufficient audit documentation </a:t>
            </a:r>
          </a:p>
          <a:p>
            <a:pPr marL="347472" lvl="1" indent="-347472">
              <a:spcBef>
                <a:spcPts val="300"/>
              </a:spcBef>
              <a:spcAft>
                <a:spcPts val="300"/>
              </a:spcAft>
              <a:buFont typeface="Arial"/>
              <a:buChar char="•"/>
            </a:pPr>
            <a:endParaRPr lang="en-US" sz="2400" dirty="0">
              <a:solidFill>
                <a:srgbClr val="FF0000"/>
              </a:solidFill>
            </a:endParaRPr>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4186837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Outreach</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7</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36879" y="1452879"/>
            <a:ext cx="11646033" cy="4836709"/>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INTOSAI Financial Audit Subcommittee </a:t>
            </a:r>
          </a:p>
          <a:p>
            <a:pPr marL="694944" lvl="1" indent="-347472">
              <a:spcBef>
                <a:spcPts val="300"/>
              </a:spcBef>
              <a:spcAft>
                <a:spcPts val="300"/>
              </a:spcAft>
            </a:pPr>
            <a:r>
              <a:rPr lang="en-US" sz="2000" dirty="0"/>
              <a:t>Supportive of the risk-based approach and general direction</a:t>
            </a:r>
          </a:p>
          <a:p>
            <a:pPr marL="694944" lvl="1" indent="-347472">
              <a:spcBef>
                <a:spcPts val="300"/>
              </a:spcBef>
              <a:spcAft>
                <a:spcPts val="300"/>
              </a:spcAft>
            </a:pPr>
            <a:r>
              <a:rPr lang="en-US" dirty="0"/>
              <a:t>Various </a:t>
            </a:r>
            <a:r>
              <a:rPr lang="en-US" sz="2000" dirty="0"/>
              <a:t>suggestions for enhancements / clarifications</a:t>
            </a:r>
          </a:p>
          <a:p>
            <a:pPr marL="1042416" lvl="2" indent="-347472">
              <a:spcBef>
                <a:spcPts val="300"/>
              </a:spcBef>
              <a:spcAft>
                <a:spcPts val="300"/>
              </a:spcAft>
            </a:pPr>
            <a:r>
              <a:rPr lang="en-US" sz="1800" dirty="0"/>
              <a:t>Auditing a group with many non-significant components</a:t>
            </a:r>
          </a:p>
          <a:p>
            <a:pPr marL="1042416" lvl="2" indent="-347472">
              <a:spcBef>
                <a:spcPts val="300"/>
              </a:spcBef>
              <a:spcAft>
                <a:spcPts val="300"/>
              </a:spcAft>
            </a:pPr>
            <a:r>
              <a:rPr lang="en-US" sz="1800" dirty="0"/>
              <a:t>Significant components – not clear how new concept should be applied</a:t>
            </a:r>
          </a:p>
          <a:p>
            <a:pPr marL="1042416" lvl="2" indent="-347472">
              <a:spcBef>
                <a:spcPts val="300"/>
              </a:spcBef>
              <a:spcAft>
                <a:spcPts val="300"/>
              </a:spcAft>
            </a:pPr>
            <a:r>
              <a:rPr lang="en-US" sz="1800" dirty="0"/>
              <a:t>Component auditors from non-network firms</a:t>
            </a:r>
          </a:p>
          <a:p>
            <a:pPr marL="1042416" lvl="2" indent="-347472">
              <a:spcBef>
                <a:spcPts val="300"/>
              </a:spcBef>
              <a:spcAft>
                <a:spcPts val="300"/>
              </a:spcAft>
            </a:pPr>
            <a:r>
              <a:rPr lang="en-US" sz="1800" dirty="0"/>
              <a:t>Communicating KAM by the GET</a:t>
            </a:r>
          </a:p>
          <a:p>
            <a:pPr marL="347472" lvl="1" indent="-347472">
              <a:spcBef>
                <a:spcPts val="300"/>
              </a:spcBef>
              <a:spcAft>
                <a:spcPts val="300"/>
              </a:spcAft>
              <a:buFont typeface="Arial"/>
              <a:buChar char="•"/>
            </a:pPr>
            <a:r>
              <a:rPr lang="en-US" sz="2400" dirty="0"/>
              <a:t>Basel Committee on Banking Supervision</a:t>
            </a:r>
          </a:p>
          <a:p>
            <a:pPr marL="694944" lvl="1" indent="-347472">
              <a:spcBef>
                <a:spcPts val="300"/>
              </a:spcBef>
              <a:spcAft>
                <a:spcPts val="300"/>
              </a:spcAft>
            </a:pPr>
            <a:r>
              <a:rPr lang="en-US" sz="2000" dirty="0"/>
              <a:t>Supportive of direction of the risk-based approach</a:t>
            </a:r>
          </a:p>
          <a:p>
            <a:pPr marL="694944" lvl="1" indent="-347472">
              <a:spcBef>
                <a:spcPts val="300"/>
              </a:spcBef>
              <a:spcAft>
                <a:spcPts val="300"/>
              </a:spcAft>
            </a:pPr>
            <a:r>
              <a:rPr lang="en-US" sz="2000" dirty="0"/>
              <a:t>Further clarify that group engagement partner is responsible for QM in a group audit</a:t>
            </a:r>
          </a:p>
          <a:p>
            <a:pPr marL="694944" lvl="1" indent="-347472">
              <a:spcBef>
                <a:spcPts val="300"/>
              </a:spcBef>
              <a:spcAft>
                <a:spcPts val="300"/>
              </a:spcAft>
            </a:pPr>
            <a:r>
              <a:rPr lang="en-US" sz="2000" dirty="0"/>
              <a:t>Clarify that engagement team should consider local GAAP/ GAAS</a:t>
            </a:r>
          </a:p>
          <a:p>
            <a:pPr marL="694944" lvl="1" indent="-347472">
              <a:spcBef>
                <a:spcPts val="300"/>
              </a:spcBef>
              <a:spcAft>
                <a:spcPts val="300"/>
              </a:spcAft>
            </a:pPr>
            <a:r>
              <a:rPr lang="en-US" sz="2000" dirty="0"/>
              <a:t>Highlight the importance of two-way communication between GET and component auditors</a:t>
            </a:r>
          </a:p>
          <a:p>
            <a:pPr marL="694944" lvl="1" indent="-347472">
              <a:spcBef>
                <a:spcPts val="300"/>
              </a:spcBef>
              <a:spcAft>
                <a:spcPts val="300"/>
              </a:spcAft>
            </a:pPr>
            <a:r>
              <a:rPr lang="en-US" sz="2000" dirty="0"/>
              <a:t>Supported enhanced understanding of internal control</a:t>
            </a:r>
          </a:p>
          <a:p>
            <a:pPr marL="347472" lvl="1" indent="-347472">
              <a:spcBef>
                <a:spcPts val="300"/>
              </a:spcBef>
              <a:spcAft>
                <a:spcPts val="300"/>
              </a:spcAft>
              <a:buFont typeface="Arial"/>
              <a:buChar char="•"/>
            </a:pPr>
            <a:endParaRPr lang="en-US" sz="2400" dirty="0">
              <a:solidFill>
                <a:srgbClr val="FF0000"/>
              </a:solidFill>
            </a:endParaRPr>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388439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Outreach and Work Performed Since June Board Meeting</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8</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36879" y="1452879"/>
            <a:ext cx="11646033" cy="4836709"/>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Upcoming outreach</a:t>
            </a:r>
          </a:p>
          <a:p>
            <a:pPr marL="694944" lvl="1" indent="-347472">
              <a:spcBef>
                <a:spcPts val="300"/>
              </a:spcBef>
              <a:spcAft>
                <a:spcPts val="300"/>
              </a:spcAft>
            </a:pPr>
            <a:r>
              <a:rPr lang="en-US" sz="2000" dirty="0"/>
              <a:t>IOSCO Committee 1 Auditing Subcommittee</a:t>
            </a:r>
          </a:p>
          <a:p>
            <a:pPr marL="694944" lvl="1" indent="-347472">
              <a:spcBef>
                <a:spcPts val="300"/>
              </a:spcBef>
              <a:spcAft>
                <a:spcPts val="300"/>
              </a:spcAft>
            </a:pPr>
            <a:r>
              <a:rPr lang="en-US" sz="2000" dirty="0"/>
              <a:t>IAASB Chair, Deputy Chair, Technical Director and ISA 600 TF Chair to meet with IOSCO Committee 1 in person</a:t>
            </a:r>
          </a:p>
          <a:p>
            <a:pPr marL="694944" lvl="1" indent="-347472">
              <a:spcBef>
                <a:spcPts val="300"/>
              </a:spcBef>
              <a:spcAft>
                <a:spcPts val="300"/>
              </a:spcAft>
            </a:pPr>
            <a:r>
              <a:rPr lang="en-US" sz="2000" dirty="0"/>
              <a:t>IFAC’s Small and Medium Practices Committee</a:t>
            </a:r>
          </a:p>
          <a:p>
            <a:pPr marL="694944" lvl="1" indent="-347472">
              <a:spcBef>
                <a:spcPts val="300"/>
              </a:spcBef>
              <a:spcAft>
                <a:spcPts val="300"/>
              </a:spcAft>
            </a:pPr>
            <a:r>
              <a:rPr lang="en-US" sz="2000" dirty="0"/>
              <a:t>Forum of Firms</a:t>
            </a:r>
          </a:p>
          <a:p>
            <a:pPr marL="694944" lvl="1" indent="-347472">
              <a:spcBef>
                <a:spcPts val="300"/>
              </a:spcBef>
              <a:spcAft>
                <a:spcPts val="300"/>
              </a:spcAft>
            </a:pPr>
            <a:r>
              <a:rPr lang="en-US" sz="2000" dirty="0"/>
              <a:t>Global Public Policy Committee</a:t>
            </a:r>
          </a:p>
          <a:p>
            <a:pPr marL="694944" lvl="1" indent="-347472">
              <a:spcBef>
                <a:spcPts val="300"/>
              </a:spcBef>
              <a:spcAft>
                <a:spcPts val="300"/>
              </a:spcAft>
            </a:pPr>
            <a:r>
              <a:rPr lang="en-US" sz="2000" dirty="0"/>
              <a:t>Others</a:t>
            </a:r>
          </a:p>
          <a:p>
            <a:pPr marL="347472" lvl="1" indent="-347472">
              <a:spcBef>
                <a:spcPts val="300"/>
              </a:spcBef>
              <a:spcAft>
                <a:spcPts val="300"/>
              </a:spcAft>
              <a:buFont typeface="Arial"/>
              <a:buChar char="•"/>
            </a:pPr>
            <a:r>
              <a:rPr lang="en-US" sz="2400" dirty="0"/>
              <a:t>Task force meetings and coordination since the June Board meeting</a:t>
            </a:r>
          </a:p>
          <a:p>
            <a:pPr marL="694944" lvl="1" indent="-347472">
              <a:spcBef>
                <a:spcPts val="300"/>
              </a:spcBef>
              <a:spcAft>
                <a:spcPts val="300"/>
              </a:spcAft>
            </a:pPr>
            <a:r>
              <a:rPr lang="en-US" sz="2000" dirty="0"/>
              <a:t>Task force meetings: one physical meeting and three teleconferences</a:t>
            </a:r>
          </a:p>
          <a:p>
            <a:pPr marL="694944" lvl="1" indent="-347472">
              <a:spcBef>
                <a:spcPts val="300"/>
              </a:spcBef>
              <a:spcAft>
                <a:spcPts val="300"/>
              </a:spcAft>
            </a:pPr>
            <a:r>
              <a:rPr lang="en-US" sz="2000" dirty="0"/>
              <a:t>Coordination meetings: two quality management coordination teleconferences, call with IESBA staff and liaison members, joint call and meeting with ISA 220 TF Chair and Staff</a:t>
            </a:r>
          </a:p>
          <a:p>
            <a:pPr marL="694944" lvl="1" indent="-347472">
              <a:spcBef>
                <a:spcPts val="300"/>
              </a:spcBef>
              <a:spcAft>
                <a:spcPts val="300"/>
              </a:spcAft>
            </a:pPr>
            <a:endParaRPr lang="en-US" sz="2400" dirty="0">
              <a:solidFill>
                <a:srgbClr val="FF0000"/>
              </a:solidFill>
            </a:endParaRPr>
          </a:p>
          <a:p>
            <a:pPr marL="347472" lvl="1" indent="-347472">
              <a:spcBef>
                <a:spcPts val="300"/>
              </a:spcBef>
              <a:spcAft>
                <a:spcPts val="300"/>
              </a:spcAft>
              <a:buFont typeface="Arial"/>
              <a:buChar char="•"/>
            </a:pPr>
            <a:endParaRPr lang="en-US" sz="2400" dirty="0">
              <a:solidFill>
                <a:srgbClr val="FF0000"/>
              </a:solidFill>
            </a:endParaRPr>
          </a:p>
          <a:p>
            <a:pPr marL="694944" lvl="1" indent="-347472">
              <a:spcBef>
                <a:spcPts val="300"/>
              </a:spcBef>
              <a:spcAft>
                <a:spcPts val="300"/>
              </a:spcAft>
            </a:pPr>
            <a:endParaRPr lang="en-US" dirty="0"/>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814524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1647409198"/>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a:solidFill>
                  <a:srgbClr val="808080"/>
                </a:solidFill>
                <a:latin typeface="Arial" panose="020B0604020202020204" pitchFamily="34" charset="0"/>
              </a:rPr>
              <a:pPr algn="r"/>
              <a:t>9</a:t>
            </a:fld>
            <a:r>
              <a:rPr lang="en-US" sz="900" dirty="0">
                <a:solidFill>
                  <a:srgbClr val="808080"/>
                </a:solidFill>
                <a:latin typeface="Arial" panose="020B0604020202020204" pitchFamily="34" charset="0"/>
              </a:rPr>
              <a:t>  </a:t>
            </a:r>
          </a:p>
        </p:txBody>
      </p:sp>
    </p:spTree>
    <p:extLst>
      <p:ext uri="{BB962C8B-B14F-4D97-AF65-F5344CB8AC3E}">
        <p14:creationId xmlns:p14="http://schemas.microsoft.com/office/powerpoint/2010/main" val="1227213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Consultative Advisory Group</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36879" y="1402673"/>
            <a:ext cx="11646033" cy="4886916"/>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Standard should be principles-based</a:t>
            </a:r>
          </a:p>
          <a:p>
            <a:pPr marL="347472" lvl="1" indent="-347472">
              <a:spcBef>
                <a:spcPts val="300"/>
              </a:spcBef>
              <a:spcAft>
                <a:spcPts val="300"/>
              </a:spcAft>
              <a:buFont typeface="Arial"/>
              <a:buChar char="•"/>
            </a:pPr>
            <a:r>
              <a:rPr lang="en-US" sz="2400" dirty="0"/>
              <a:t>Support for the risk-based approach</a:t>
            </a:r>
          </a:p>
          <a:p>
            <a:pPr marL="694944" lvl="1" indent="-347472">
              <a:spcBef>
                <a:spcPts val="300"/>
              </a:spcBef>
              <a:spcAft>
                <a:spcPts val="300"/>
              </a:spcAft>
            </a:pPr>
            <a:r>
              <a:rPr lang="en-US" sz="2000" dirty="0"/>
              <a:t>Involvement of component auditors important to identify RoMM</a:t>
            </a:r>
          </a:p>
          <a:p>
            <a:pPr marL="347472" lvl="1" indent="-347472">
              <a:spcBef>
                <a:spcPts val="300"/>
              </a:spcBef>
              <a:spcAft>
                <a:spcPts val="300"/>
              </a:spcAft>
              <a:buFont typeface="Arial"/>
              <a:buChar char="•"/>
            </a:pPr>
            <a:r>
              <a:rPr lang="en-US" sz="2400" dirty="0"/>
              <a:t>Scope of the standard needs further clarification</a:t>
            </a:r>
          </a:p>
          <a:p>
            <a:pPr marL="694944" lvl="1" indent="-347472">
              <a:spcBef>
                <a:spcPts val="300"/>
              </a:spcBef>
              <a:spcAft>
                <a:spcPts val="300"/>
              </a:spcAft>
            </a:pPr>
            <a:r>
              <a:rPr lang="en-US" sz="2000" dirty="0"/>
              <a:t>Shared service centers do not always neatly fit into the proposed definition of a component</a:t>
            </a:r>
          </a:p>
          <a:p>
            <a:pPr marL="347472" lvl="1" indent="-347472">
              <a:spcBef>
                <a:spcPts val="300"/>
              </a:spcBef>
              <a:spcAft>
                <a:spcPts val="300"/>
              </a:spcAft>
              <a:buFont typeface="Arial"/>
              <a:buChar char="•"/>
            </a:pPr>
            <a:r>
              <a:rPr lang="en-US" sz="2400" dirty="0"/>
              <a:t>Access issues: clarify the consequences (e.g., possible scope limitation)</a:t>
            </a:r>
          </a:p>
          <a:p>
            <a:pPr marL="347472" lvl="1" indent="-347472">
              <a:spcBef>
                <a:spcPts val="300"/>
              </a:spcBef>
              <a:spcAft>
                <a:spcPts val="300"/>
              </a:spcAft>
              <a:buFont typeface="Arial"/>
              <a:buChar char="•"/>
            </a:pPr>
            <a:r>
              <a:rPr lang="en-US" sz="2400" dirty="0"/>
              <a:t>Materiality: support for not making broader changes to ISA 320 and including guidance about aggregation risk</a:t>
            </a:r>
          </a:p>
          <a:p>
            <a:pPr marL="347472" lvl="1" indent="-347472">
              <a:spcBef>
                <a:spcPts val="300"/>
              </a:spcBef>
              <a:spcAft>
                <a:spcPts val="300"/>
              </a:spcAft>
              <a:buFont typeface="Arial"/>
              <a:buChar char="•"/>
            </a:pPr>
            <a:r>
              <a:rPr lang="en-US" sz="2400" dirty="0"/>
              <a:t>Support for many proposals, including:</a:t>
            </a:r>
          </a:p>
          <a:p>
            <a:pPr marL="694944" lvl="1" indent="-347472">
              <a:spcBef>
                <a:spcPts val="300"/>
              </a:spcBef>
              <a:spcAft>
                <a:spcPts val="300"/>
              </a:spcAft>
            </a:pPr>
            <a:r>
              <a:rPr lang="en-US" sz="2000" dirty="0"/>
              <a:t>Stand back requirements</a:t>
            </a:r>
          </a:p>
          <a:p>
            <a:pPr marL="694944" lvl="1" indent="-347472">
              <a:spcBef>
                <a:spcPts val="300"/>
              </a:spcBef>
              <a:spcAft>
                <a:spcPts val="300"/>
              </a:spcAft>
            </a:pPr>
            <a:r>
              <a:rPr lang="en-US" sz="2000" dirty="0"/>
              <a:t>Deleting the definition of ‘significant component’</a:t>
            </a:r>
          </a:p>
          <a:p>
            <a:pPr marL="347472" lvl="1" indent="0">
              <a:spcBef>
                <a:spcPts val="300"/>
              </a:spcBef>
              <a:spcAft>
                <a:spcPts val="300"/>
              </a:spcAft>
              <a:buNone/>
            </a:pPr>
            <a:endParaRPr lang="en-US" sz="2000" dirty="0"/>
          </a:p>
          <a:p>
            <a:pPr marL="694944" lvl="1" indent="-347472">
              <a:spcBef>
                <a:spcPts val="300"/>
              </a:spcBef>
              <a:spcAft>
                <a:spcPts val="300"/>
              </a:spcAft>
            </a:pPr>
            <a:endParaRPr lang="en-US" sz="2200" dirty="0"/>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1400142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667" b="1" dirty="0"/>
              <a:t> </a:t>
            </a:r>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132820832"/>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11</a:t>
            </a:fld>
            <a:endParaRPr lang="en-US" sz="9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677748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ln w="0"/>
              </a:rPr>
              <a:t>Public Interest Issues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12</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36879" y="1452879"/>
            <a:ext cx="11646033" cy="4836709"/>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Discussed with the Board in June 2019</a:t>
            </a:r>
          </a:p>
          <a:p>
            <a:pPr marL="347472" lvl="1" indent="-347472">
              <a:spcBef>
                <a:spcPts val="300"/>
              </a:spcBef>
              <a:spcAft>
                <a:spcPts val="300"/>
              </a:spcAft>
              <a:buFont typeface="Arial"/>
              <a:buChar char="•"/>
            </a:pPr>
            <a:r>
              <a:rPr lang="en-US" sz="2400" dirty="0"/>
              <a:t>Updated based on input from the Board and PIOB</a:t>
            </a:r>
          </a:p>
          <a:p>
            <a:pPr marL="694944" lvl="1" indent="-347472">
              <a:spcBef>
                <a:spcPts val="300"/>
              </a:spcBef>
              <a:spcAft>
                <a:spcPts val="300"/>
              </a:spcAft>
            </a:pPr>
            <a:r>
              <a:rPr lang="en-US" sz="2000" dirty="0"/>
              <a:t>Key public interest issues are aligned with public interest issues included in the project proposal. </a:t>
            </a:r>
          </a:p>
          <a:p>
            <a:pPr marL="694944" lvl="1" indent="-347472">
              <a:spcBef>
                <a:spcPts val="300"/>
              </a:spcBef>
              <a:spcAft>
                <a:spcPts val="300"/>
              </a:spcAft>
            </a:pPr>
            <a:r>
              <a:rPr lang="en-US" sz="2000" dirty="0"/>
              <a:t>Task Force added two categories</a:t>
            </a:r>
          </a:p>
          <a:p>
            <a:pPr marL="1042416" lvl="2" indent="-347472">
              <a:spcBef>
                <a:spcPts val="300"/>
              </a:spcBef>
              <a:spcAft>
                <a:spcPts val="300"/>
              </a:spcAft>
            </a:pPr>
            <a:r>
              <a:rPr lang="en-US" sz="1800" dirty="0"/>
              <a:t>Fostering an appropriately independent and challenging skeptical mindset of the auditor</a:t>
            </a:r>
          </a:p>
          <a:p>
            <a:pPr marL="1042416" lvl="2" indent="-347472">
              <a:spcBef>
                <a:spcPts val="300"/>
              </a:spcBef>
              <a:spcAft>
                <a:spcPts val="300"/>
              </a:spcAft>
            </a:pPr>
            <a:r>
              <a:rPr lang="en-US" sz="1800" dirty="0"/>
              <a:t>Reinforcing the need for robust communication and interactions during the audit</a:t>
            </a:r>
            <a:endParaRPr lang="en-US" dirty="0"/>
          </a:p>
          <a:p>
            <a:pPr marL="694944" lvl="1" indent="-347472">
              <a:lnSpc>
                <a:spcPts val="2400"/>
              </a:lnSpc>
              <a:spcBef>
                <a:spcPts val="300"/>
              </a:spcBef>
              <a:spcAft>
                <a:spcPts val="300"/>
              </a:spcAft>
            </a:pPr>
            <a:r>
              <a:rPr lang="en-US" sz="2000" dirty="0"/>
              <a:t>Enhanced the wording in several places to address comments</a:t>
            </a:r>
          </a:p>
          <a:p>
            <a:pPr marL="347472" lvl="1" indent="-347472">
              <a:spcBef>
                <a:spcPts val="300"/>
              </a:spcBef>
              <a:spcAft>
                <a:spcPts val="300"/>
              </a:spcAft>
              <a:buFont typeface="Arial"/>
              <a:buChar char="•"/>
            </a:pPr>
            <a:r>
              <a:rPr lang="en-US" sz="2400" dirty="0"/>
              <a:t>Support from CAG, IOSCO, IFIAR and INTOSAI</a:t>
            </a:r>
          </a:p>
          <a:p>
            <a:pPr marL="347472" lvl="1" indent="-347472">
              <a:spcBef>
                <a:spcPts val="300"/>
              </a:spcBef>
              <a:spcAft>
                <a:spcPts val="300"/>
              </a:spcAft>
              <a:buFont typeface="Arial"/>
              <a:buChar char="•"/>
            </a:pPr>
            <a:endParaRPr lang="en-US" sz="2400" dirty="0"/>
          </a:p>
          <a:p>
            <a:pPr marL="347472" lvl="1" indent="0">
              <a:lnSpc>
                <a:spcPts val="2400"/>
              </a:lnSpc>
              <a:spcBef>
                <a:spcPts val="300"/>
              </a:spcBef>
              <a:spcAft>
                <a:spcPts val="300"/>
              </a:spcAft>
              <a:buFont typeface="Arial"/>
              <a:buNone/>
            </a:pPr>
            <a:endParaRPr lang="en-US" dirty="0"/>
          </a:p>
        </p:txBody>
      </p:sp>
    </p:spTree>
    <p:extLst>
      <p:ext uri="{BB962C8B-B14F-4D97-AF65-F5344CB8AC3E}">
        <p14:creationId xmlns:p14="http://schemas.microsoft.com/office/powerpoint/2010/main" val="1297860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13</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2219417"/>
            <a:ext cx="11203029" cy="2791972"/>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1</a:t>
            </a:r>
          </a:p>
          <a:p>
            <a:pPr marL="0" indent="0">
              <a:buNone/>
            </a:pPr>
            <a:r>
              <a:rPr lang="en-US" sz="3200" dirty="0">
                <a:solidFill>
                  <a:schemeClr val="accent3"/>
                </a:solidFill>
                <a:latin typeface="Arial" panose="020B0604020202020204" pitchFamily="34" charset="0"/>
                <a:cs typeface="Arial" panose="020B0604020202020204" pitchFamily="34" charset="0"/>
              </a:rPr>
              <a:t>The IAASB is asked for its views on the enhancements to the key public interest issues.</a:t>
            </a:r>
          </a:p>
        </p:txBody>
      </p:sp>
    </p:spTree>
    <p:extLst>
      <p:ext uri="{BB962C8B-B14F-4D97-AF65-F5344CB8AC3E}">
        <p14:creationId xmlns:p14="http://schemas.microsoft.com/office/powerpoint/2010/main" val="1196776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009692794"/>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14</a:t>
            </a:fld>
            <a:endParaRPr lang="en-US" sz="900" dirty="0">
              <a:solidFill>
                <a:srgbClr val="808080"/>
              </a:solidFill>
              <a:latin typeface="Arial" panose="020B0604020202020204" pitchFamily="34" charset="0"/>
            </a:endParaRPr>
          </a:p>
        </p:txBody>
      </p:sp>
    </p:spTree>
    <p:extLst>
      <p:ext uri="{BB962C8B-B14F-4D97-AF65-F5344CB8AC3E}">
        <p14:creationId xmlns:p14="http://schemas.microsoft.com/office/powerpoint/2010/main" val="628497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A09D6E-E118-4148-8EA1-5AC4A04F6729}"/>
              </a:ext>
            </a:extLst>
          </p:cNvPr>
          <p:cNvSpPr txBox="1">
            <a:spLocks noGrp="1"/>
          </p:cNvSpPr>
          <p:nvPr>
            <p:ph type="title"/>
          </p:nvPr>
        </p:nvSpPr>
        <p:spPr>
          <a:xfrm>
            <a:off x="457203" y="569384"/>
            <a:ext cx="11734797"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400" b="1" dirty="0"/>
              <a:t>Special Considerations</a:t>
            </a:r>
            <a:endParaRPr lang="en-US" sz="2667" b="1" dirty="0"/>
          </a:p>
        </p:txBody>
      </p:sp>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1632227806"/>
              </p:ext>
            </p:extLst>
          </p:nvPr>
        </p:nvGraphicFramePr>
        <p:xfrm>
          <a:off x="731520" y="1492089"/>
          <a:ext cx="10728960" cy="4634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15</a:t>
            </a:fld>
            <a:endParaRPr lang="en-US" sz="900" dirty="0">
              <a:solidFill>
                <a:srgbClr val="808080"/>
              </a:solidFill>
              <a:latin typeface="Arial" panose="020B0604020202020204" pitchFamily="34" charset="0"/>
            </a:endParaRPr>
          </a:p>
        </p:txBody>
      </p:sp>
      <p:pic>
        <p:nvPicPr>
          <p:cNvPr id="3" name="Picture 2">
            <a:extLst>
              <a:ext uri="{FF2B5EF4-FFF2-40B4-BE49-F238E27FC236}">
                <a16:creationId xmlns:a16="http://schemas.microsoft.com/office/drawing/2014/main" id="{8F99E467-C428-4B61-AC26-CDF1247ADE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1520" y="1661461"/>
            <a:ext cx="3371604" cy="4295331"/>
          </a:xfrm>
          <a:prstGeom prst="rect">
            <a:avLst/>
          </a:prstGeom>
        </p:spPr>
      </p:pic>
      <p:sp>
        <p:nvSpPr>
          <p:cNvPr id="4" name="Arrow: Right 3">
            <a:extLst>
              <a:ext uri="{FF2B5EF4-FFF2-40B4-BE49-F238E27FC236}">
                <a16:creationId xmlns:a16="http://schemas.microsoft.com/office/drawing/2014/main" id="{E4726318-06C3-4560-B588-93354595E8A8}"/>
              </a:ext>
            </a:extLst>
          </p:cNvPr>
          <p:cNvSpPr/>
          <p:nvPr/>
        </p:nvSpPr>
        <p:spPr>
          <a:xfrm>
            <a:off x="3837925" y="3429696"/>
            <a:ext cx="848412" cy="94503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262BC038-25AB-4D9E-AAE8-5D898EDC43B2}"/>
              </a:ext>
            </a:extLst>
          </p:cNvPr>
          <p:cNvSpPr/>
          <p:nvPr/>
        </p:nvSpPr>
        <p:spPr>
          <a:xfrm>
            <a:off x="7611495" y="3428999"/>
            <a:ext cx="848412" cy="94503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2084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Scope and Structure of the Standard</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16</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347886" y="1282631"/>
            <a:ext cx="11844114" cy="4836709"/>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indent="-347472">
              <a:spcBef>
                <a:spcPts val="300"/>
              </a:spcBef>
              <a:spcAft>
                <a:spcPts val="300"/>
              </a:spcAft>
            </a:pPr>
            <a:r>
              <a:rPr lang="en-US" sz="2400" dirty="0"/>
              <a:t>Unique factors in a group audit – driving the special considerations</a:t>
            </a:r>
          </a:p>
          <a:p>
            <a:pPr marL="694944" lvl="1" indent="-347472">
              <a:spcBef>
                <a:spcPts val="300"/>
              </a:spcBef>
              <a:spcAft>
                <a:spcPts val="300"/>
              </a:spcAft>
            </a:pPr>
            <a:r>
              <a:rPr lang="en-US" sz="2000" dirty="0"/>
              <a:t>An entity with more than one component</a:t>
            </a:r>
          </a:p>
          <a:p>
            <a:pPr marL="1042416" lvl="2" indent="-347472">
              <a:spcBef>
                <a:spcPts val="300"/>
              </a:spcBef>
              <a:spcAft>
                <a:spcPts val="300"/>
              </a:spcAft>
            </a:pPr>
            <a:r>
              <a:rPr lang="en-US" sz="1800" dirty="0"/>
              <a:t>Already in extant definition of group: ‘… </a:t>
            </a:r>
            <a:r>
              <a:rPr lang="en-US" sz="1800" i="1" u="sng" dirty="0"/>
              <a:t>A group always has more than one component’</a:t>
            </a:r>
            <a:endParaRPr lang="en-US" sz="1800" dirty="0"/>
          </a:p>
          <a:p>
            <a:pPr marL="1042416" lvl="2" indent="-347472">
              <a:spcBef>
                <a:spcPts val="300"/>
              </a:spcBef>
              <a:spcAft>
                <a:spcPts val="300"/>
              </a:spcAft>
            </a:pPr>
            <a:r>
              <a:rPr lang="en-US" sz="1800" dirty="0"/>
              <a:t>Clarified what is in the scope of this standard – i.e., what is a group</a:t>
            </a:r>
          </a:p>
          <a:p>
            <a:pPr marL="1389888" lvl="3" indent="-347472">
              <a:spcBef>
                <a:spcPts val="300"/>
              </a:spcBef>
              <a:spcAft>
                <a:spcPts val="300"/>
              </a:spcAft>
            </a:pPr>
            <a:r>
              <a:rPr lang="en-US" sz="1600" dirty="0">
                <a:solidFill>
                  <a:schemeClr val="tx1">
                    <a:lumMod val="65000"/>
                    <a:lumOff val="35000"/>
                  </a:schemeClr>
                </a:solidFill>
                <a:latin typeface="Arial" panose="020B0604020202020204" pitchFamily="34" charset="0"/>
                <a:cs typeface="Arial" panose="020B0604020202020204" pitchFamily="34" charset="0"/>
              </a:rPr>
              <a:t>Enhanced definitions of group financial statements and component (which affect the scope and applicability of the standard)</a:t>
            </a:r>
          </a:p>
          <a:p>
            <a:pPr marL="1389888" lvl="3" indent="-347472">
              <a:spcBef>
                <a:spcPts val="300"/>
              </a:spcBef>
              <a:spcAft>
                <a:spcPts val="300"/>
              </a:spcAft>
            </a:pPr>
            <a:r>
              <a:rPr lang="en-US" sz="1600" dirty="0">
                <a:solidFill>
                  <a:schemeClr val="tx1">
                    <a:lumMod val="65000"/>
                    <a:lumOff val="35000"/>
                  </a:schemeClr>
                </a:solidFill>
                <a:latin typeface="Arial" panose="020B0604020202020204" pitchFamily="34" charset="0"/>
                <a:cs typeface="Arial" panose="020B0604020202020204" pitchFamily="34" charset="0"/>
              </a:rPr>
              <a:t>Added application material to further describe the ‘consolidation process’</a:t>
            </a:r>
          </a:p>
          <a:p>
            <a:pPr marL="694944" lvl="1" indent="-347472">
              <a:spcBef>
                <a:spcPts val="300"/>
              </a:spcBef>
              <a:spcAft>
                <a:spcPts val="300"/>
              </a:spcAft>
            </a:pPr>
            <a:r>
              <a:rPr lang="en-US" sz="2000" dirty="0"/>
              <a:t>The involvement of component auditors</a:t>
            </a:r>
          </a:p>
          <a:p>
            <a:pPr marL="1042416" lvl="2" indent="-347472">
              <a:spcBef>
                <a:spcPts val="300"/>
              </a:spcBef>
              <a:spcAft>
                <a:spcPts val="300"/>
              </a:spcAft>
            </a:pPr>
            <a:r>
              <a:rPr lang="en-US" sz="1800" dirty="0"/>
              <a:t>Component auditors may be involved, and if so, special considerations relate to</a:t>
            </a:r>
          </a:p>
          <a:p>
            <a:pPr marL="1389888" lvl="3" indent="-347472">
              <a:spcBef>
                <a:spcPts val="300"/>
              </a:spcBef>
              <a:spcAft>
                <a:spcPts val="300"/>
              </a:spcAft>
            </a:pPr>
            <a:r>
              <a:rPr lang="en-US" sz="1600" dirty="0">
                <a:solidFill>
                  <a:schemeClr val="tx1">
                    <a:lumMod val="65000"/>
                    <a:lumOff val="35000"/>
                  </a:schemeClr>
                </a:solidFill>
                <a:latin typeface="Arial" panose="020B0604020202020204" pitchFamily="34" charset="0"/>
                <a:cs typeface="Arial" panose="020B0604020202020204" pitchFamily="34" charset="0"/>
              </a:rPr>
              <a:t>Communications with, and involvement in the work of, component auditors</a:t>
            </a:r>
          </a:p>
          <a:p>
            <a:pPr marL="1389888" lvl="3" indent="-347472">
              <a:spcBef>
                <a:spcPts val="300"/>
              </a:spcBef>
              <a:spcAft>
                <a:spcPts val="300"/>
              </a:spcAft>
            </a:pPr>
            <a:r>
              <a:rPr lang="en-US" sz="1600" dirty="0">
                <a:solidFill>
                  <a:schemeClr val="tx1">
                    <a:lumMod val="65000"/>
                    <a:lumOff val="35000"/>
                  </a:schemeClr>
                </a:solidFill>
                <a:latin typeface="Arial" panose="020B0604020202020204" pitchFamily="34" charset="0"/>
                <a:cs typeface="Arial" panose="020B0604020202020204" pitchFamily="34" charset="0"/>
              </a:rPr>
              <a:t>Applying the requirements of ISA 220 (Revised) with respect to relevant ethical requirements and the competence and capabilities of the engagement team</a:t>
            </a:r>
          </a:p>
          <a:p>
            <a:pPr marL="1389888" lvl="3" indent="-347472">
              <a:spcBef>
                <a:spcPts val="300"/>
              </a:spcBef>
              <a:spcAft>
                <a:spcPts val="300"/>
              </a:spcAft>
            </a:pPr>
            <a:r>
              <a:rPr lang="en-US" sz="1600" dirty="0">
                <a:solidFill>
                  <a:schemeClr val="tx1">
                    <a:lumMod val="65000"/>
                    <a:lumOff val="35000"/>
                  </a:schemeClr>
                </a:solidFill>
                <a:latin typeface="Arial" panose="020B0604020202020204" pitchFamily="34" charset="0"/>
                <a:cs typeface="Arial" panose="020B0604020202020204" pitchFamily="34" charset="0"/>
              </a:rPr>
              <a:t>Communications with, and involvement in the work of, component auditors (including access issues, if any)</a:t>
            </a:r>
            <a:endParaRPr lang="en-US" sz="1600" b="1" dirty="0">
              <a:solidFill>
                <a:schemeClr val="tx1">
                  <a:lumMod val="65000"/>
                  <a:lumOff val="35000"/>
                </a:schemeClr>
              </a:solidFill>
              <a:latin typeface="Arial" panose="020B0604020202020204" pitchFamily="34" charset="0"/>
              <a:cs typeface="Arial" panose="020B0604020202020204" pitchFamily="34" charset="0"/>
            </a:endParaRPr>
          </a:p>
          <a:p>
            <a:pPr marL="347472" indent="-347472">
              <a:spcBef>
                <a:spcPts val="300"/>
              </a:spcBef>
              <a:spcAft>
                <a:spcPts val="300"/>
              </a:spcAft>
            </a:pPr>
            <a:r>
              <a:rPr lang="en-US" sz="2400" dirty="0"/>
              <a:t>Changed structure – placed all requirements related to using the work of component auditors in one section</a:t>
            </a:r>
          </a:p>
        </p:txBody>
      </p:sp>
    </p:spTree>
    <p:extLst>
      <p:ext uri="{BB962C8B-B14F-4D97-AF65-F5344CB8AC3E}">
        <p14:creationId xmlns:p14="http://schemas.microsoft.com/office/powerpoint/2010/main" val="3330955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17</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1633491"/>
            <a:ext cx="11203029" cy="4351686"/>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2800" b="1" dirty="0">
                <a:solidFill>
                  <a:schemeClr val="accent3"/>
                </a:solidFill>
                <a:latin typeface="Arial" panose="020B0604020202020204" pitchFamily="34" charset="0"/>
                <a:cs typeface="Arial" panose="020B0604020202020204" pitchFamily="34" charset="0"/>
              </a:rPr>
              <a:t>Question 2</a:t>
            </a:r>
          </a:p>
          <a:p>
            <a:pPr marL="0" indent="0">
              <a:buNone/>
            </a:pPr>
            <a:r>
              <a:rPr lang="en-US" sz="2800" dirty="0">
                <a:solidFill>
                  <a:schemeClr val="accent3"/>
                </a:solidFill>
                <a:latin typeface="Arial" panose="020B0604020202020204" pitchFamily="34" charset="0"/>
                <a:cs typeface="Arial" panose="020B0604020202020204" pitchFamily="34" charset="0"/>
              </a:rPr>
              <a:t>The IAASB is asked for its views on</a:t>
            </a:r>
          </a:p>
          <a:p>
            <a:pPr marL="514350" indent="-514350">
              <a:buAutoNum type="alphaLcParenBoth"/>
            </a:pPr>
            <a:r>
              <a:rPr lang="en-US" sz="2800" dirty="0">
                <a:solidFill>
                  <a:schemeClr val="accent3"/>
                </a:solidFill>
                <a:latin typeface="Arial" panose="020B0604020202020204" pitchFamily="34" charset="0"/>
                <a:cs typeface="Arial" panose="020B0604020202020204" pitchFamily="34" charset="0"/>
              </a:rPr>
              <a:t>The special considerations in an audit of group financial statements, including in relation to the scope of the standard, as discussed in paragraphs 10-23 of </a:t>
            </a:r>
            <a:r>
              <a:rPr lang="en-US" sz="2800" b="1" dirty="0">
                <a:solidFill>
                  <a:schemeClr val="accent3"/>
                </a:solidFill>
                <a:latin typeface="Arial" panose="020B0604020202020204" pitchFamily="34" charset="0"/>
                <a:cs typeface="Arial" panose="020B0604020202020204" pitchFamily="34" charset="0"/>
              </a:rPr>
              <a:t>Agenda Item 9</a:t>
            </a:r>
            <a:r>
              <a:rPr lang="en-US" sz="2800" dirty="0">
                <a:solidFill>
                  <a:schemeClr val="accent3"/>
                </a:solidFill>
                <a:latin typeface="Arial" panose="020B0604020202020204" pitchFamily="34" charset="0"/>
                <a:cs typeface="Arial" panose="020B0604020202020204" pitchFamily="34" charset="0"/>
              </a:rPr>
              <a:t>, and </a:t>
            </a:r>
          </a:p>
          <a:p>
            <a:pPr marL="514350" indent="-514350">
              <a:buAutoNum type="alphaLcParenBoth"/>
            </a:pPr>
            <a:r>
              <a:rPr lang="en-US" sz="2800" dirty="0">
                <a:solidFill>
                  <a:schemeClr val="accent3"/>
                </a:solidFill>
                <a:latin typeface="Arial" panose="020B0604020202020204" pitchFamily="34" charset="0"/>
                <a:cs typeface="Arial" panose="020B0604020202020204" pitchFamily="34" charset="0"/>
              </a:rPr>
              <a:t>The proposed structure of the standard as illustrated in Appendix 3 of </a:t>
            </a:r>
            <a:r>
              <a:rPr lang="en-US" sz="2800" b="1" dirty="0">
                <a:solidFill>
                  <a:schemeClr val="accent3"/>
                </a:solidFill>
                <a:latin typeface="Arial" panose="020B0604020202020204" pitchFamily="34" charset="0"/>
                <a:cs typeface="Arial" panose="020B0604020202020204" pitchFamily="34" charset="0"/>
              </a:rPr>
              <a:t>Agenda Item 9</a:t>
            </a:r>
            <a:endParaRPr lang="en-US" sz="2800" dirty="0">
              <a:solidFill>
                <a:schemeClr val="accent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00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1465454049"/>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18</a:t>
            </a:fld>
            <a:endParaRPr lang="en-US" sz="9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897708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Access Issues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19</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38799" y="1317105"/>
            <a:ext cx="11844114" cy="4335550"/>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ts val="300"/>
              </a:spcBef>
              <a:spcAft>
                <a:spcPts val="300"/>
              </a:spcAft>
              <a:buNone/>
            </a:pPr>
            <a:endParaRPr lang="en-US" sz="2300" i="1" dirty="0">
              <a:highlight>
                <a:srgbClr val="FFFF00"/>
              </a:highlight>
            </a:endParaRPr>
          </a:p>
          <a:p>
            <a:pPr marL="347472" indent="-347472">
              <a:spcBef>
                <a:spcPts val="300"/>
              </a:spcBef>
              <a:spcAft>
                <a:spcPts val="300"/>
              </a:spcAft>
            </a:pPr>
            <a:endParaRPr lang="en-US" sz="2400" dirty="0">
              <a:highlight>
                <a:srgbClr val="FFFF00"/>
              </a:highlight>
            </a:endParaRPr>
          </a:p>
          <a:p>
            <a:pPr marL="347472" indent="-347472">
              <a:spcBef>
                <a:spcPts val="300"/>
              </a:spcBef>
              <a:spcAft>
                <a:spcPts val="300"/>
              </a:spcAft>
            </a:pPr>
            <a:endParaRPr lang="en-US" sz="2400" dirty="0">
              <a:highlight>
                <a:srgbClr val="FFFF00"/>
              </a:highlight>
            </a:endParaRPr>
          </a:p>
          <a:p>
            <a:pPr marL="347472" indent="-347472">
              <a:spcBef>
                <a:spcPts val="300"/>
              </a:spcBef>
              <a:spcAft>
                <a:spcPts val="300"/>
              </a:spcAft>
            </a:pPr>
            <a:endParaRPr lang="en-US" sz="2400" dirty="0">
              <a:highlight>
                <a:srgbClr val="FFFF00"/>
              </a:highlight>
            </a:endParaRPr>
          </a:p>
          <a:p>
            <a:pPr marL="347472" indent="-347472">
              <a:spcBef>
                <a:spcPts val="300"/>
              </a:spcBef>
              <a:spcAft>
                <a:spcPts val="300"/>
              </a:spcAft>
            </a:pPr>
            <a:endParaRPr lang="en-US" sz="2400" dirty="0">
              <a:highlight>
                <a:srgbClr val="FFFF00"/>
              </a:highlight>
            </a:endParaRPr>
          </a:p>
          <a:p>
            <a:pPr marL="347472" indent="-347472">
              <a:spcBef>
                <a:spcPts val="300"/>
              </a:spcBef>
              <a:spcAft>
                <a:spcPts val="300"/>
              </a:spcAft>
            </a:pPr>
            <a:endParaRPr lang="en-US" sz="2400" dirty="0">
              <a:highlight>
                <a:srgbClr val="FFFF00"/>
              </a:highlight>
            </a:endParaRPr>
          </a:p>
          <a:p>
            <a:pPr marL="347472" indent="-347472">
              <a:spcBef>
                <a:spcPts val="300"/>
              </a:spcBef>
              <a:spcAft>
                <a:spcPts val="300"/>
              </a:spcAft>
            </a:pPr>
            <a:endParaRPr lang="en-US" sz="1800" dirty="0">
              <a:highlight>
                <a:srgbClr val="FFFF00"/>
              </a:highlight>
            </a:endParaRPr>
          </a:p>
          <a:p>
            <a:pPr marL="347472" indent="-347472">
              <a:spcBef>
                <a:spcPts val="300"/>
              </a:spcBef>
              <a:spcAft>
                <a:spcPts val="300"/>
              </a:spcAft>
            </a:pPr>
            <a:endParaRPr lang="en-US" sz="2400" dirty="0">
              <a:highlight>
                <a:srgbClr val="FFFF00"/>
              </a:highlight>
            </a:endParaRPr>
          </a:p>
          <a:p>
            <a:pPr marL="347472" indent="-347472">
              <a:spcBef>
                <a:spcPts val="300"/>
              </a:spcBef>
              <a:spcAft>
                <a:spcPts val="300"/>
              </a:spcAft>
            </a:pPr>
            <a:endParaRPr lang="en-US" sz="2400" dirty="0"/>
          </a:p>
          <a:p>
            <a:pPr marL="347472" indent="-347472">
              <a:spcBef>
                <a:spcPts val="300"/>
              </a:spcBef>
              <a:spcAft>
                <a:spcPts val="300"/>
              </a:spcAft>
            </a:pPr>
            <a:r>
              <a:rPr lang="en-US" sz="2400" dirty="0"/>
              <a:t>Task Force enhanced application material -- will consider whether more is needed</a:t>
            </a:r>
            <a:endParaRPr lang="en-US" dirty="0"/>
          </a:p>
        </p:txBody>
      </p:sp>
      <p:sp>
        <p:nvSpPr>
          <p:cNvPr id="8" name="Content Placeholder 2">
            <a:extLst>
              <a:ext uri="{FF2B5EF4-FFF2-40B4-BE49-F238E27FC236}">
                <a16:creationId xmlns:a16="http://schemas.microsoft.com/office/drawing/2014/main" id="{0A962E3C-3575-4F9A-828A-A3A429055D70}"/>
              </a:ext>
            </a:extLst>
          </p:cNvPr>
          <p:cNvSpPr txBox="1">
            <a:spLocks/>
          </p:cNvSpPr>
          <p:nvPr/>
        </p:nvSpPr>
        <p:spPr>
          <a:xfrm>
            <a:off x="238799" y="3647440"/>
            <a:ext cx="11844115" cy="3958634"/>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867978" lvl="2" indent="-347472">
              <a:spcAft>
                <a:spcPts val="300"/>
              </a:spcAft>
            </a:pPr>
            <a:endParaRPr lang="en-US" dirty="0"/>
          </a:p>
          <a:p>
            <a:pPr marL="694944" lvl="1" indent="-347472">
              <a:lnSpc>
                <a:spcPts val="2400"/>
              </a:lnSpc>
              <a:spcAft>
                <a:spcPts val="300"/>
              </a:spcAft>
            </a:pPr>
            <a:endParaRPr lang="en-US" dirty="0"/>
          </a:p>
          <a:p>
            <a:pPr marL="347472" lvl="1" indent="0">
              <a:lnSpc>
                <a:spcPts val="2400"/>
              </a:lnSpc>
              <a:spcBef>
                <a:spcPts val="300"/>
              </a:spcBef>
              <a:spcAft>
                <a:spcPts val="300"/>
              </a:spcAft>
              <a:buFont typeface="Arial"/>
              <a:buNone/>
            </a:pPr>
            <a:endParaRPr lang="en-US" dirty="0"/>
          </a:p>
        </p:txBody>
      </p:sp>
      <p:graphicFrame>
        <p:nvGraphicFramePr>
          <p:cNvPr id="3" name="Table 2">
            <a:extLst>
              <a:ext uri="{FF2B5EF4-FFF2-40B4-BE49-F238E27FC236}">
                <a16:creationId xmlns:a16="http://schemas.microsoft.com/office/drawing/2014/main" id="{E5057E12-2980-4926-B650-7B020325BDA6}"/>
              </a:ext>
            </a:extLst>
          </p:cNvPr>
          <p:cNvGraphicFramePr>
            <a:graphicFrameLocks noGrp="1"/>
          </p:cNvGraphicFramePr>
          <p:nvPr>
            <p:extLst>
              <p:ext uri="{D42A27DB-BD31-4B8C-83A1-F6EECF244321}">
                <p14:modId xmlns:p14="http://schemas.microsoft.com/office/powerpoint/2010/main" val="3987832552"/>
              </p:ext>
            </p:extLst>
          </p:nvPr>
        </p:nvGraphicFramePr>
        <p:xfrm>
          <a:off x="526473" y="1351280"/>
          <a:ext cx="11139054" cy="3718560"/>
        </p:xfrm>
        <a:graphic>
          <a:graphicData uri="http://schemas.openxmlformats.org/drawingml/2006/table">
            <a:tbl>
              <a:tblPr firstRow="1" bandRow="1">
                <a:tableStyleId>{F5AB1C69-6EDB-4FF4-983F-18BD219EF322}</a:tableStyleId>
              </a:tblPr>
              <a:tblGrid>
                <a:gridCol w="11139054">
                  <a:extLst>
                    <a:ext uri="{9D8B030D-6E8A-4147-A177-3AD203B41FA5}">
                      <a16:colId xmlns:a16="http://schemas.microsoft.com/office/drawing/2014/main" val="1455789252"/>
                    </a:ext>
                  </a:extLst>
                </a:gridCol>
              </a:tblGrid>
              <a:tr h="370840">
                <a:tc>
                  <a:txBody>
                    <a:bodyPr/>
                    <a:lstStyle/>
                    <a:p>
                      <a:r>
                        <a:rPr lang="en-US" sz="2000" dirty="0">
                          <a:latin typeface="Arial" panose="020B0604020202020204" pitchFamily="34" charset="0"/>
                          <a:cs typeface="Arial" panose="020B0604020202020204" pitchFamily="34" charset="0"/>
                        </a:rPr>
                        <a:t>Identified access issues</a:t>
                      </a:r>
                    </a:p>
                  </a:txBody>
                  <a:tcPr/>
                </a:tc>
                <a:extLst>
                  <a:ext uri="{0D108BD9-81ED-4DB2-BD59-A6C34878D82A}">
                    <a16:rowId xmlns:a16="http://schemas.microsoft.com/office/drawing/2014/main" val="2291806449"/>
                  </a:ext>
                </a:extLst>
              </a:tr>
              <a:tr h="370840">
                <a:tc>
                  <a:txBody>
                    <a:bodyPr/>
                    <a:lstStyle/>
                    <a:p>
                      <a:r>
                        <a:rPr lang="en-US" sz="2000" u="sng" dirty="0">
                          <a:solidFill>
                            <a:schemeClr val="tx1">
                              <a:lumMod val="65000"/>
                              <a:lumOff val="35000"/>
                            </a:schemeClr>
                          </a:solidFill>
                          <a:latin typeface="Arial" panose="020B0604020202020204" pitchFamily="34" charset="0"/>
                          <a:cs typeface="Arial" panose="020B0604020202020204" pitchFamily="34" charset="0"/>
                        </a:rPr>
                        <a:t>Access to people</a:t>
                      </a:r>
                    </a:p>
                    <a:p>
                      <a:pPr marL="285750" indent="-285750">
                        <a:buFont typeface="Arial" panose="020B0604020202020204" pitchFamily="34" charset="0"/>
                        <a:buChar char="•"/>
                      </a:pPr>
                      <a:r>
                        <a:rPr lang="en-US" sz="2000" kern="1200" dirty="0">
                          <a:solidFill>
                            <a:schemeClr val="tx1">
                              <a:lumMod val="65000"/>
                              <a:lumOff val="35000"/>
                            </a:schemeClr>
                          </a:solidFill>
                          <a:effectLst/>
                          <a:latin typeface="Arial" panose="020B0604020202020204" pitchFamily="34" charset="0"/>
                          <a:ea typeface="+mn-ea"/>
                          <a:cs typeface="Arial" panose="020B0604020202020204" pitchFamily="34" charset="0"/>
                        </a:rPr>
                        <a:t>Unable to access component auditor </a:t>
                      </a:r>
                    </a:p>
                    <a:p>
                      <a:pPr marL="285750" indent="-285750">
                        <a:buFont typeface="Arial" panose="020B0604020202020204" pitchFamily="34" charset="0"/>
                        <a:buChar char="•"/>
                      </a:pPr>
                      <a:r>
                        <a:rPr lang="en-US" sz="2000" kern="1200" dirty="0">
                          <a:solidFill>
                            <a:schemeClr val="tx1">
                              <a:lumMod val="65000"/>
                              <a:lumOff val="35000"/>
                            </a:schemeClr>
                          </a:solidFill>
                          <a:effectLst/>
                          <a:latin typeface="Arial" panose="020B0604020202020204" pitchFamily="34" charset="0"/>
                          <a:ea typeface="+mn-ea"/>
                          <a:cs typeface="Arial" panose="020B0604020202020204" pitchFamily="34" charset="0"/>
                        </a:rPr>
                        <a:t>Unable to access (component) TCWG, (component) management</a:t>
                      </a:r>
                      <a:endParaRPr lang="en-US" sz="2000" dirty="0">
                        <a:solidFill>
                          <a:schemeClr val="tx1">
                            <a:lumMod val="65000"/>
                            <a:lumOff val="35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97411217"/>
                  </a:ext>
                </a:extLst>
              </a:tr>
              <a:tr h="370840">
                <a:tc>
                  <a:txBody>
                    <a:bodyPr/>
                    <a:lstStyle/>
                    <a:p>
                      <a:r>
                        <a:rPr lang="en-US" sz="2000" b="0" i="0" u="sng" kern="1200" dirty="0">
                          <a:solidFill>
                            <a:schemeClr val="tx1">
                              <a:lumMod val="65000"/>
                              <a:lumOff val="35000"/>
                            </a:schemeClr>
                          </a:solidFill>
                          <a:effectLst/>
                          <a:latin typeface="Arial" panose="020B0604020202020204" pitchFamily="34" charset="0"/>
                          <a:ea typeface="+mn-ea"/>
                          <a:cs typeface="Arial" panose="020B0604020202020204" pitchFamily="34" charset="0"/>
                        </a:rPr>
                        <a:t>Access to information</a:t>
                      </a:r>
                    </a:p>
                    <a:p>
                      <a:pPr marL="342900" indent="-342900">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Audit work papers need to be kept in component jurisdiction </a:t>
                      </a:r>
                    </a:p>
                    <a:p>
                      <a:pPr marL="342900" indent="-342900">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Audit work papers are not allowed to be shared electronically</a:t>
                      </a:r>
                    </a:p>
                    <a:p>
                      <a:pPr marL="342900" indent="-342900">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Restrictions to travel to a country</a:t>
                      </a:r>
                    </a:p>
                    <a:p>
                      <a:pPr marL="342900" indent="-342900" algn="l" defTabSz="457189" rtl="0" eaLnBrk="1" latinLnBrk="0" hangingPunct="1">
                        <a:buFont typeface="Arial" panose="020B0604020202020204" pitchFamily="34" charset="0"/>
                        <a:buChar char="•"/>
                      </a:pPr>
                      <a:r>
                        <a:rPr lang="en-US" sz="2000" kern="1200" dirty="0">
                          <a:solidFill>
                            <a:schemeClr val="tx1">
                              <a:lumMod val="65000"/>
                              <a:lumOff val="35000"/>
                            </a:schemeClr>
                          </a:solidFill>
                          <a:latin typeface="Arial" panose="020B0604020202020204" pitchFamily="34" charset="0"/>
                          <a:ea typeface="+mn-ea"/>
                          <a:cs typeface="Arial" panose="020B0604020202020204" pitchFamily="34" charset="0"/>
                        </a:rPr>
                        <a:t>Access component auditor’s audit work papers is restricted because of war, other unrest or outbreaks of infectious diseases</a:t>
                      </a:r>
                      <a:endParaRPr lang="en-US" sz="2000" dirty="0">
                        <a:solidFill>
                          <a:schemeClr val="tx1">
                            <a:lumMod val="65000"/>
                            <a:lumOff val="35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5578799"/>
                  </a:ext>
                </a:extLst>
              </a:tr>
              <a:tr h="370840">
                <a:tc>
                  <a:txBody>
                    <a:bodyPr/>
                    <a:lstStyle/>
                    <a:p>
                      <a:r>
                        <a:rPr lang="en-US" sz="2000" i="0" u="sng" kern="1200" dirty="0">
                          <a:solidFill>
                            <a:schemeClr val="tx1">
                              <a:lumMod val="65000"/>
                              <a:lumOff val="35000"/>
                            </a:schemeClr>
                          </a:solidFill>
                          <a:effectLst/>
                          <a:latin typeface="Arial" panose="020B0604020202020204" pitchFamily="34" charset="0"/>
                          <a:ea typeface="+mn-ea"/>
                          <a:cs typeface="Arial" panose="020B0604020202020204" pitchFamily="34" charset="0"/>
                        </a:rPr>
                        <a:t>Access issues for regulators</a:t>
                      </a:r>
                      <a:endParaRPr lang="en-US" sz="2000" i="0" u="sng" dirty="0">
                        <a:solidFill>
                          <a:schemeClr val="tx1">
                            <a:lumMod val="65000"/>
                            <a:lumOff val="35000"/>
                          </a:schemeClr>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94605141"/>
                  </a:ext>
                </a:extLst>
              </a:tr>
            </a:tbl>
          </a:graphicData>
        </a:graphic>
      </p:graphicFrame>
      <p:sp>
        <p:nvSpPr>
          <p:cNvPr id="2" name="Rectangle 1">
            <a:extLst>
              <a:ext uri="{FF2B5EF4-FFF2-40B4-BE49-F238E27FC236}">
                <a16:creationId xmlns:a16="http://schemas.microsoft.com/office/drawing/2014/main" id="{29DCCB90-DE31-42A3-9A53-83DAC930A284}"/>
              </a:ext>
            </a:extLst>
          </p:cNvPr>
          <p:cNvSpPr/>
          <p:nvPr/>
        </p:nvSpPr>
        <p:spPr>
          <a:xfrm>
            <a:off x="526473" y="5686830"/>
            <a:ext cx="10760363" cy="646331"/>
          </a:xfrm>
          <a:prstGeom prst="rect">
            <a:avLst/>
          </a:prstGeom>
        </p:spPr>
        <p:txBody>
          <a:bodyPr wrap="square">
            <a:spAutoFit/>
          </a:bodyPr>
          <a:lstStyle/>
          <a:p>
            <a:pPr algn="ctr">
              <a:spcBef>
                <a:spcPts val="300"/>
              </a:spcBef>
              <a:spcAft>
                <a:spcPts val="300"/>
              </a:spcAft>
            </a:pPr>
            <a:r>
              <a:rPr lang="en-US" i="1" dirty="0"/>
              <a:t>“ISA 600 (Revised) can’t enforce access to people and information, but it can help by developing guidance for situations where access to people or information is restricted”</a:t>
            </a:r>
          </a:p>
        </p:txBody>
      </p:sp>
    </p:spTree>
    <p:extLst>
      <p:ext uri="{BB962C8B-B14F-4D97-AF65-F5344CB8AC3E}">
        <p14:creationId xmlns:p14="http://schemas.microsoft.com/office/powerpoint/2010/main" val="3134234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20</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2089879"/>
            <a:ext cx="11203029" cy="3281112"/>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3</a:t>
            </a:r>
          </a:p>
          <a:p>
            <a:pPr marL="0" indent="0">
              <a:buNone/>
            </a:pPr>
            <a:r>
              <a:rPr lang="en-US" sz="3200" dirty="0">
                <a:solidFill>
                  <a:schemeClr val="accent3"/>
                </a:solidFill>
                <a:latin typeface="Arial" panose="020B0604020202020204" pitchFamily="34" charset="0"/>
                <a:cs typeface="Arial" panose="020B0604020202020204" pitchFamily="34" charset="0"/>
              </a:rPr>
              <a:t>The IAASB is asked for its views on how the Task Force has addressed the issues related to access to people and information</a:t>
            </a:r>
          </a:p>
        </p:txBody>
      </p:sp>
    </p:spTree>
    <p:extLst>
      <p:ext uri="{BB962C8B-B14F-4D97-AF65-F5344CB8AC3E}">
        <p14:creationId xmlns:p14="http://schemas.microsoft.com/office/powerpoint/2010/main" val="2451385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449591663"/>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21</a:t>
            </a:fld>
            <a:endParaRPr lang="en-US" sz="900" dirty="0">
              <a:solidFill>
                <a:srgbClr val="808080"/>
              </a:solidFill>
              <a:latin typeface="Arial" panose="020B0604020202020204" pitchFamily="34" charset="0"/>
            </a:endParaRPr>
          </a:p>
        </p:txBody>
      </p:sp>
      <p:sp>
        <p:nvSpPr>
          <p:cNvPr id="3" name="Title 2">
            <a:extLst>
              <a:ext uri="{FF2B5EF4-FFF2-40B4-BE49-F238E27FC236}">
                <a16:creationId xmlns:a16="http://schemas.microsoft.com/office/drawing/2014/main" id="{A8FFBB12-6351-413E-AD7E-BF2A5AA9267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88426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22</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2020469"/>
            <a:ext cx="11203029" cy="3569581"/>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4</a:t>
            </a:r>
          </a:p>
          <a:p>
            <a:pPr marL="0" indent="0">
              <a:buNone/>
            </a:pPr>
            <a:r>
              <a:rPr lang="en-US" sz="3200" dirty="0">
                <a:solidFill>
                  <a:schemeClr val="accent3"/>
                </a:solidFill>
                <a:latin typeface="Arial" panose="020B0604020202020204" pitchFamily="34" charset="0"/>
                <a:cs typeface="Arial" panose="020B0604020202020204" pitchFamily="34" charset="0"/>
              </a:rPr>
              <a:t>The IAASB is asked for its views on the Task Force’s proposal to delete the definition of group-wide controls as discussed in paragraph 29 in </a:t>
            </a:r>
            <a:r>
              <a:rPr lang="en-US" sz="3200" b="1" dirty="0">
                <a:solidFill>
                  <a:schemeClr val="accent3"/>
                </a:solidFill>
                <a:latin typeface="Arial" panose="020B0604020202020204" pitchFamily="34" charset="0"/>
                <a:cs typeface="Arial" panose="020B0604020202020204" pitchFamily="34" charset="0"/>
              </a:rPr>
              <a:t>Agenda Item 9</a:t>
            </a:r>
            <a:endParaRPr lang="en-US" sz="3200" dirty="0">
              <a:solidFill>
                <a:schemeClr val="accent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51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228138402"/>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23</a:t>
            </a:fld>
            <a:endParaRPr lang="en-US" sz="900" dirty="0">
              <a:solidFill>
                <a:srgbClr val="808080"/>
              </a:solidFill>
              <a:latin typeface="Arial" panose="020B0604020202020204" pitchFamily="34" charset="0"/>
            </a:endParaRPr>
          </a:p>
        </p:txBody>
      </p:sp>
      <p:sp>
        <p:nvSpPr>
          <p:cNvPr id="3" name="Title 2">
            <a:extLst>
              <a:ext uri="{FF2B5EF4-FFF2-40B4-BE49-F238E27FC236}">
                <a16:creationId xmlns:a16="http://schemas.microsoft.com/office/drawing/2014/main" id="{A8FFBB12-6351-413E-AD7E-BF2A5AA9267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640110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24</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2020469"/>
            <a:ext cx="11203029" cy="3954203"/>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3200" b="1" dirty="0">
                <a:solidFill>
                  <a:schemeClr val="accent3"/>
                </a:solidFill>
                <a:latin typeface="Arial" panose="020B0604020202020204" pitchFamily="34" charset="0"/>
                <a:cs typeface="Arial" panose="020B0604020202020204" pitchFamily="34" charset="0"/>
              </a:rPr>
              <a:t>Question 5</a:t>
            </a:r>
          </a:p>
          <a:p>
            <a:pPr marL="0" indent="0">
              <a:buNone/>
            </a:pPr>
            <a:r>
              <a:rPr lang="en-US" sz="3200" dirty="0">
                <a:solidFill>
                  <a:schemeClr val="accent3"/>
                </a:solidFill>
                <a:latin typeface="Arial" panose="020B0604020202020204" pitchFamily="34" charset="0"/>
                <a:cs typeface="Arial" panose="020B0604020202020204" pitchFamily="34" charset="0"/>
              </a:rPr>
              <a:t>The IAASB is asked for its views on the requirement for the group engagement partner to review the overall audit strategy and group audit plan, including the alternative of amending ISA 300 to extend the requirement for engagement partner review of the audit strategy and plan to all audits of financial statements. </a:t>
            </a:r>
          </a:p>
        </p:txBody>
      </p:sp>
    </p:spTree>
    <p:extLst>
      <p:ext uri="{BB962C8B-B14F-4D97-AF65-F5344CB8AC3E}">
        <p14:creationId xmlns:p14="http://schemas.microsoft.com/office/powerpoint/2010/main" val="3312980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420707331"/>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25</a:t>
            </a:fld>
            <a:endParaRPr lang="en-US" sz="900" dirty="0">
              <a:solidFill>
                <a:srgbClr val="808080"/>
              </a:solidFill>
              <a:latin typeface="Arial" panose="020B0604020202020204" pitchFamily="34" charset="0"/>
            </a:endParaRPr>
          </a:p>
        </p:txBody>
      </p:sp>
      <p:sp>
        <p:nvSpPr>
          <p:cNvPr id="3" name="Title 2">
            <a:extLst>
              <a:ext uri="{FF2B5EF4-FFF2-40B4-BE49-F238E27FC236}">
                <a16:creationId xmlns:a16="http://schemas.microsoft.com/office/drawing/2014/main" id="{A8FFBB12-6351-413E-AD7E-BF2A5AA92679}"/>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4284847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3017339985"/>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a:solidFill>
                  <a:srgbClr val="808080"/>
                </a:solidFill>
                <a:latin typeface="Arial" panose="020B0604020202020204" pitchFamily="34" charset="0"/>
              </a:rPr>
              <a:pPr algn="r"/>
              <a:t>26</a:t>
            </a:fld>
            <a:r>
              <a:rPr lang="en-US" sz="900" dirty="0">
                <a:solidFill>
                  <a:srgbClr val="808080"/>
                </a:solidFill>
                <a:latin typeface="Arial" panose="020B0604020202020204" pitchFamily="34" charset="0"/>
              </a:rPr>
              <a:t> </a:t>
            </a:r>
          </a:p>
        </p:txBody>
      </p:sp>
      <p:sp>
        <p:nvSpPr>
          <p:cNvPr id="3" name="Title 2">
            <a:extLst>
              <a:ext uri="{FF2B5EF4-FFF2-40B4-BE49-F238E27FC236}">
                <a16:creationId xmlns:a16="http://schemas.microsoft.com/office/drawing/2014/main" id="{A8FFBB12-6351-413E-AD7E-BF2A5AA92679}"/>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559992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Materiality </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27</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38799" y="1452881"/>
            <a:ext cx="11629150" cy="4740042"/>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Task Force had preliminary discussions</a:t>
            </a:r>
          </a:p>
          <a:p>
            <a:pPr marL="694944" lvl="1" indent="-347472">
              <a:spcBef>
                <a:spcPts val="300"/>
              </a:spcBef>
              <a:spcAft>
                <a:spcPts val="300"/>
              </a:spcAft>
            </a:pPr>
            <a:r>
              <a:rPr lang="en-US" sz="2000" dirty="0"/>
              <a:t>IAASB had previously concluded not to make broader changes to ISA 320, </a:t>
            </a:r>
            <a:r>
              <a:rPr lang="en-US" sz="2000" i="1" dirty="0"/>
              <a:t>Materiality in Planning and Performing an Audit</a:t>
            </a:r>
          </a:p>
          <a:p>
            <a:pPr marL="347472" lvl="1" indent="-347472">
              <a:spcBef>
                <a:spcPts val="300"/>
              </a:spcBef>
              <a:spcAft>
                <a:spcPts val="300"/>
              </a:spcAft>
              <a:buFont typeface="Arial"/>
              <a:buChar char="•"/>
            </a:pPr>
            <a:r>
              <a:rPr lang="en-US" sz="2400" dirty="0"/>
              <a:t>Matters raised by respondents to the ITC</a:t>
            </a:r>
          </a:p>
          <a:p>
            <a:pPr marL="694944" lvl="1" indent="-347472">
              <a:spcBef>
                <a:spcPts val="300"/>
              </a:spcBef>
              <a:spcAft>
                <a:spcPts val="300"/>
              </a:spcAft>
            </a:pPr>
            <a:r>
              <a:rPr lang="en-US" sz="2000" dirty="0"/>
              <a:t>Concept of aggregation risk is not well understood</a:t>
            </a:r>
          </a:p>
          <a:p>
            <a:pPr marL="694944" lvl="1" indent="-347472">
              <a:spcBef>
                <a:spcPts val="300"/>
              </a:spcBef>
              <a:spcAft>
                <a:spcPts val="300"/>
              </a:spcAft>
            </a:pPr>
            <a:r>
              <a:rPr lang="en-US" sz="2000" dirty="0"/>
              <a:t>Guidance needed on applying the concepts of ‘component materiality’ and ‘component performance materiality’ </a:t>
            </a:r>
          </a:p>
          <a:p>
            <a:pPr marL="347472" lvl="1" indent="-347472">
              <a:spcBef>
                <a:spcPts val="300"/>
              </a:spcBef>
              <a:spcAft>
                <a:spcPts val="300"/>
              </a:spcAft>
              <a:buFont typeface="Arial"/>
              <a:buChar char="•"/>
            </a:pPr>
            <a:r>
              <a:rPr lang="en-US" sz="2400" dirty="0"/>
              <a:t>Task Force proposes to</a:t>
            </a:r>
          </a:p>
          <a:p>
            <a:pPr marL="694944" lvl="1" indent="-347472">
              <a:spcBef>
                <a:spcPts val="300"/>
              </a:spcBef>
              <a:spcAft>
                <a:spcPts val="300"/>
              </a:spcAft>
            </a:pPr>
            <a:r>
              <a:rPr lang="en-US" sz="2000" dirty="0"/>
              <a:t>Clarify and strengthen the requirements or application material </a:t>
            </a:r>
          </a:p>
          <a:p>
            <a:pPr marL="694944" lvl="1" indent="-347472">
              <a:spcBef>
                <a:spcPts val="300"/>
              </a:spcBef>
              <a:spcAft>
                <a:spcPts val="300"/>
              </a:spcAft>
            </a:pPr>
            <a:r>
              <a:rPr lang="en-US" sz="2000" dirty="0"/>
              <a:t>Provide additional guidance outside of the standard</a:t>
            </a:r>
          </a:p>
          <a:p>
            <a:pPr marL="1042416" lvl="2" indent="-347472">
              <a:spcBef>
                <a:spcPts val="300"/>
              </a:spcBef>
              <a:spcAft>
                <a:spcPts val="300"/>
              </a:spcAft>
            </a:pPr>
            <a:r>
              <a:rPr lang="en-US" sz="1800" dirty="0"/>
              <a:t>Practical examples, FAQs, Staff guidance</a:t>
            </a:r>
          </a:p>
          <a:p>
            <a:pPr marL="694944" lvl="1" indent="-347472">
              <a:spcBef>
                <a:spcPts val="300"/>
              </a:spcBef>
              <a:spcAft>
                <a:spcPts val="300"/>
              </a:spcAft>
            </a:pPr>
            <a:r>
              <a:rPr lang="en-US" sz="2000" dirty="0"/>
              <a:t>Update terminology as needed in view of the risk-based approach</a:t>
            </a:r>
            <a:r>
              <a:rPr lang="en-US" dirty="0"/>
              <a:t> </a:t>
            </a:r>
          </a:p>
        </p:txBody>
      </p:sp>
    </p:spTree>
    <p:extLst>
      <p:ext uri="{BB962C8B-B14F-4D97-AF65-F5344CB8AC3E}">
        <p14:creationId xmlns:p14="http://schemas.microsoft.com/office/powerpoint/2010/main" val="316781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28</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1504524"/>
            <a:ext cx="11203029" cy="4785065"/>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2800" b="1" dirty="0">
                <a:solidFill>
                  <a:schemeClr val="accent3"/>
                </a:solidFill>
                <a:latin typeface="Arial" panose="020B0604020202020204" pitchFamily="34" charset="0"/>
                <a:cs typeface="Arial" panose="020B0604020202020204" pitchFamily="34" charset="0"/>
              </a:rPr>
              <a:t>Question 6</a:t>
            </a:r>
          </a:p>
          <a:p>
            <a:pPr marL="0" indent="0">
              <a:buNone/>
            </a:pPr>
            <a:r>
              <a:rPr lang="en-US" sz="2400" dirty="0">
                <a:solidFill>
                  <a:schemeClr val="accent3"/>
                </a:solidFill>
                <a:latin typeface="Arial" panose="020B0604020202020204" pitchFamily="34" charset="0"/>
                <a:cs typeface="Arial" panose="020B0604020202020204" pitchFamily="34" charset="0"/>
              </a:rPr>
              <a:t>The IAASB is asked for its views on the following: </a:t>
            </a:r>
          </a:p>
          <a:p>
            <a:pPr marL="0" indent="-457200">
              <a:buNone/>
            </a:pPr>
            <a:r>
              <a:rPr lang="en-US" sz="2400" dirty="0">
                <a:solidFill>
                  <a:schemeClr val="accent3"/>
                </a:solidFill>
                <a:latin typeface="Arial" panose="020B0604020202020204" pitchFamily="34" charset="0"/>
                <a:cs typeface="Arial" panose="020B0604020202020204" pitchFamily="34" charset="0"/>
              </a:rPr>
              <a:t>a) 	How the concept of aggregation risk could most appropriately be 	addressed in the revised standard; </a:t>
            </a:r>
          </a:p>
          <a:p>
            <a:pPr marL="0" indent="-457200">
              <a:buNone/>
            </a:pPr>
            <a:r>
              <a:rPr lang="en-US" sz="2400" dirty="0">
                <a:solidFill>
                  <a:schemeClr val="accent3"/>
                </a:solidFill>
                <a:latin typeface="Arial" panose="020B0604020202020204" pitchFamily="34" charset="0"/>
                <a:cs typeface="Arial" panose="020B0604020202020204" pitchFamily="34" charset="0"/>
              </a:rPr>
              <a:t>b) 	Whether additional guidance should be included in the revised standard 	regarding the determination of component materiality, component 	performance materiality and the clearly trivial threshold, or whether such 	guidance can be provided outside of the standard; </a:t>
            </a:r>
          </a:p>
          <a:p>
            <a:pPr marL="0" indent="-457200">
              <a:buNone/>
            </a:pPr>
            <a:r>
              <a:rPr lang="en-US" sz="2400" dirty="0">
                <a:solidFill>
                  <a:schemeClr val="accent3"/>
                </a:solidFill>
                <a:latin typeface="Arial" panose="020B0604020202020204" pitchFamily="34" charset="0"/>
                <a:cs typeface="Arial" panose="020B0604020202020204" pitchFamily="34" charset="0"/>
              </a:rPr>
              <a:t>c) 	If there is a view that additional guidance should be included in the revised 	standard, the nature of such guidance. </a:t>
            </a:r>
          </a:p>
        </p:txBody>
      </p:sp>
    </p:spTree>
    <p:extLst>
      <p:ext uri="{BB962C8B-B14F-4D97-AF65-F5344CB8AC3E}">
        <p14:creationId xmlns:p14="http://schemas.microsoft.com/office/powerpoint/2010/main" val="521072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128706325"/>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smtClean="0">
                <a:solidFill>
                  <a:srgbClr val="808080"/>
                </a:solidFill>
                <a:latin typeface="Arial" panose="020B0604020202020204" pitchFamily="34" charset="0"/>
              </a:rPr>
              <a:pPr algn="r"/>
              <a:t>29</a:t>
            </a:fld>
            <a:endParaRPr lang="en-US" sz="900" dirty="0">
              <a:solidFill>
                <a:srgbClr val="808080"/>
              </a:solidFill>
              <a:latin typeface="Arial" panose="020B0604020202020204" pitchFamily="34" charset="0"/>
            </a:endParaRPr>
          </a:p>
        </p:txBody>
      </p:sp>
      <p:sp>
        <p:nvSpPr>
          <p:cNvPr id="3" name="Title 2">
            <a:extLst>
              <a:ext uri="{FF2B5EF4-FFF2-40B4-BE49-F238E27FC236}">
                <a16:creationId xmlns:a16="http://schemas.microsoft.com/office/drawing/2014/main" id="{A8FFBB12-6351-413E-AD7E-BF2A5AA9267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35688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Stand Back Requirements</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30</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238799" y="1452881"/>
            <a:ext cx="11629150" cy="5058180"/>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347472">
              <a:spcBef>
                <a:spcPts val="300"/>
              </a:spcBef>
              <a:spcAft>
                <a:spcPts val="300"/>
              </a:spcAft>
              <a:buFont typeface="Arial"/>
              <a:buChar char="•"/>
            </a:pPr>
            <a:r>
              <a:rPr lang="en-US" sz="2400" dirty="0"/>
              <a:t>Task Force had preliminary discussions</a:t>
            </a:r>
          </a:p>
          <a:p>
            <a:pPr marL="347472" lvl="1" indent="-347472">
              <a:spcBef>
                <a:spcPts val="300"/>
              </a:spcBef>
              <a:spcAft>
                <a:spcPts val="300"/>
              </a:spcAft>
              <a:buFont typeface="Arial"/>
              <a:buChar char="•"/>
            </a:pPr>
            <a:r>
              <a:rPr lang="en-US" sz="2400" dirty="0"/>
              <a:t>Task Force proposes to have a stand back requirement that would: </a:t>
            </a:r>
          </a:p>
          <a:p>
            <a:pPr marL="694944" lvl="1" indent="-347472">
              <a:spcBef>
                <a:spcPts val="300"/>
              </a:spcBef>
              <a:spcAft>
                <a:spcPts val="300"/>
              </a:spcAft>
            </a:pPr>
            <a:r>
              <a:rPr lang="en-US" sz="2200" dirty="0"/>
              <a:t>Be linked to the stand back requirement in ISA 330 </a:t>
            </a:r>
          </a:p>
          <a:p>
            <a:pPr marL="694944" lvl="1" indent="-347472">
              <a:spcBef>
                <a:spcPts val="300"/>
              </a:spcBef>
              <a:spcAft>
                <a:spcPts val="300"/>
              </a:spcAft>
            </a:pPr>
            <a:r>
              <a:rPr lang="en-US" sz="2200" dirty="0"/>
              <a:t>Address the group engagement team’s evaluation of whether SAAE has been obtained to provide a basis for the opinion on the group financial statements</a:t>
            </a:r>
          </a:p>
          <a:p>
            <a:pPr marL="694944" lvl="1" indent="-347472">
              <a:spcBef>
                <a:spcPts val="300"/>
              </a:spcBef>
              <a:spcAft>
                <a:spcPts val="300"/>
              </a:spcAft>
            </a:pPr>
            <a:r>
              <a:rPr lang="en-US" sz="2200" dirty="0"/>
              <a:t>Encompass whether sufficient work has been done in responding to assessed RoMM, including in the work done by component auditors</a:t>
            </a:r>
          </a:p>
          <a:p>
            <a:pPr marL="694944" lvl="1" indent="-347472">
              <a:spcBef>
                <a:spcPts val="300"/>
              </a:spcBef>
              <a:spcAft>
                <a:spcPts val="300"/>
              </a:spcAft>
            </a:pPr>
            <a:r>
              <a:rPr lang="en-US" sz="2200" dirty="0"/>
              <a:t>Guidance to consider whether sufficient work has been done at components that are individually financially significant, including a reference to paragraph 18 of ISA 330 </a:t>
            </a:r>
          </a:p>
          <a:p>
            <a:pPr marL="410789" indent="-347472">
              <a:spcBef>
                <a:spcPts val="300"/>
              </a:spcBef>
              <a:spcAft>
                <a:spcPts val="300"/>
              </a:spcAft>
            </a:pPr>
            <a:r>
              <a:rPr lang="en-US" sz="2400" dirty="0"/>
              <a:t>Task Force also will discuss stand back requirements relating to</a:t>
            </a:r>
          </a:p>
          <a:p>
            <a:pPr marL="694944" lvl="1" indent="-347472">
              <a:spcBef>
                <a:spcPts val="300"/>
              </a:spcBef>
              <a:spcAft>
                <a:spcPts val="300"/>
              </a:spcAft>
            </a:pPr>
            <a:r>
              <a:rPr lang="en-US" sz="2000" dirty="0"/>
              <a:t>Component auditor’s communication (extant paragraph 42)</a:t>
            </a:r>
          </a:p>
          <a:p>
            <a:pPr marL="694944" lvl="1" indent="-347472">
              <a:spcBef>
                <a:spcPts val="300"/>
              </a:spcBef>
              <a:spcAft>
                <a:spcPts val="300"/>
              </a:spcAft>
            </a:pPr>
            <a:r>
              <a:rPr lang="en-US" sz="2000" dirty="0"/>
              <a:t>Adequacy of component auditor’s work (extant paragraph 43)</a:t>
            </a:r>
          </a:p>
        </p:txBody>
      </p:sp>
    </p:spTree>
    <p:extLst>
      <p:ext uri="{BB962C8B-B14F-4D97-AF65-F5344CB8AC3E}">
        <p14:creationId xmlns:p14="http://schemas.microsoft.com/office/powerpoint/2010/main" val="198263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b="1" dirty="0"/>
              <a:t>Matter for IAASB Consideration</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31</a:t>
            </a:fld>
            <a:endParaRPr lang="en-US" dirty="0">
              <a:latin typeface="Arial" panose="020B0604020202020204" pitchFamily="34" charset="0"/>
              <a:cs typeface="Arial" panose="020B0604020202020204" pitchFamily="34" charset="0"/>
            </a:endParaRPr>
          </a:p>
        </p:txBody>
      </p:sp>
      <p:sp>
        <p:nvSpPr>
          <p:cNvPr id="5" name="Content Placeholder 6">
            <a:extLst>
              <a:ext uri="{FF2B5EF4-FFF2-40B4-BE49-F238E27FC236}">
                <a16:creationId xmlns:a16="http://schemas.microsoft.com/office/drawing/2014/main" id="{8502C6ED-5046-46D5-854E-3DE0EBBC44C6}"/>
              </a:ext>
            </a:extLst>
          </p:cNvPr>
          <p:cNvSpPr txBox="1">
            <a:spLocks/>
          </p:cNvSpPr>
          <p:nvPr/>
        </p:nvSpPr>
        <p:spPr>
          <a:xfrm>
            <a:off x="494485" y="1639338"/>
            <a:ext cx="11203029" cy="4434160"/>
          </a:xfrm>
          <a:prstGeom prst="roundRect">
            <a:avLst/>
          </a:prstGeom>
          <a:ln w="127000" cap="flat" cmpd="sng" algn="ctr">
            <a:solidFill>
              <a:schemeClr val="accent3"/>
            </a:solidFill>
            <a:prstDash val="solid"/>
          </a:ln>
        </p:spPr>
        <p:style>
          <a:lnRef idx="2">
            <a:schemeClr val="dk1"/>
          </a:lnRef>
          <a:fillRef idx="1">
            <a:schemeClr val="lt1"/>
          </a:fillRef>
          <a:effectRef idx="0">
            <a:schemeClr val="dk1"/>
          </a:effectRef>
          <a:fontRef idx="minor">
            <a:schemeClr val="dk1"/>
          </a:fontRef>
        </p:style>
        <p:txBody>
          <a:bodyPr rtlCol="0" anchor="ctr"/>
          <a:lstStyle>
            <a:lvl1pPr marL="173034" indent="-173034" algn="l" defTabSz="457189" rtl="0" eaLnBrk="1" latinLnBrk="0" hangingPunct="1">
              <a:spcBef>
                <a:spcPts val="1200"/>
              </a:spcBef>
              <a:buFont typeface="Arial"/>
              <a:buChar char="•"/>
              <a:defRPr sz="2000" kern="1200">
                <a:solidFill>
                  <a:schemeClr val="dk1"/>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chemeClr val="dk1"/>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chemeClr val="dk1"/>
                </a:solidFill>
                <a:latin typeface="+mn-lt"/>
                <a:ea typeface="+mn-ea"/>
                <a:cs typeface="+mn-cs"/>
              </a:defRPr>
            </a:lvl3pPr>
            <a:lvl4pPr marL="1600160" indent="-228594" algn="l" defTabSz="457189" rtl="0" eaLnBrk="1" latinLnBrk="0" hangingPunct="1">
              <a:spcBef>
                <a:spcPct val="20000"/>
              </a:spcBef>
              <a:buFont typeface="Arial"/>
              <a:buChar char="–"/>
              <a:defRPr sz="1400" kern="1200">
                <a:solidFill>
                  <a:schemeClr val="dk1"/>
                </a:solidFill>
                <a:latin typeface="+mn-lt"/>
                <a:ea typeface="+mn-ea"/>
                <a:cs typeface="+mn-cs"/>
              </a:defRPr>
            </a:lvl4pPr>
            <a:lvl5pPr marL="2057349" indent="-228594" algn="l" defTabSz="457189" rtl="0" eaLnBrk="1" latinLnBrk="0" hangingPunct="1">
              <a:spcBef>
                <a:spcPct val="20000"/>
              </a:spcBef>
              <a:buFont typeface="Arial"/>
              <a:buChar char="»"/>
              <a:defRPr sz="1400" kern="1200">
                <a:solidFill>
                  <a:schemeClr val="dk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91440" indent="0">
              <a:spcBef>
                <a:spcPts val="800"/>
              </a:spcBef>
              <a:buFont typeface="Arial"/>
              <a:buNone/>
            </a:pPr>
            <a:r>
              <a:rPr lang="en-US" sz="2800" b="1" dirty="0">
                <a:solidFill>
                  <a:schemeClr val="accent3"/>
                </a:solidFill>
                <a:latin typeface="Arial" panose="020B0604020202020204" pitchFamily="34" charset="0"/>
                <a:cs typeface="Arial" panose="020B0604020202020204" pitchFamily="34" charset="0"/>
              </a:rPr>
              <a:t>Question 7</a:t>
            </a:r>
          </a:p>
          <a:p>
            <a:pPr marL="0" indent="0">
              <a:buNone/>
            </a:pPr>
            <a:r>
              <a:rPr lang="en-US" sz="3200" dirty="0">
                <a:solidFill>
                  <a:schemeClr val="accent3"/>
                </a:solidFill>
                <a:latin typeface="Arial" panose="020B0604020202020204" pitchFamily="34" charset="0"/>
                <a:cs typeface="Arial" panose="020B0604020202020204" pitchFamily="34" charset="0"/>
              </a:rPr>
              <a:t>The IAASB is asked for its views on the Task Force’s preliminary suggestion for the stand-back requirement and related application material as described in paragraphs 46–52 in </a:t>
            </a:r>
            <a:r>
              <a:rPr lang="en-US" sz="3200" b="1" dirty="0">
                <a:solidFill>
                  <a:schemeClr val="accent3"/>
                </a:solidFill>
                <a:latin typeface="Arial" panose="020B0604020202020204" pitchFamily="34" charset="0"/>
                <a:cs typeface="Arial" panose="020B0604020202020204" pitchFamily="34" charset="0"/>
              </a:rPr>
              <a:t>Agenda Item 9</a:t>
            </a:r>
            <a:r>
              <a:rPr lang="en-US" sz="3200" dirty="0">
                <a:solidFill>
                  <a:schemeClr val="accent3"/>
                </a:solidFill>
                <a:latin typeface="Arial" panose="020B0604020202020204" pitchFamily="34" charset="0"/>
                <a:cs typeface="Arial" panose="020B0604020202020204" pitchFamily="34" charset="0"/>
              </a:rPr>
              <a:t>. Does the IAASB have further suggestions for the related application material, particularly with respect to the sufficiency of work done at financially significant components?</a:t>
            </a:r>
          </a:p>
        </p:txBody>
      </p:sp>
    </p:spTree>
    <p:extLst>
      <p:ext uri="{BB962C8B-B14F-4D97-AF65-F5344CB8AC3E}">
        <p14:creationId xmlns:p14="http://schemas.microsoft.com/office/powerpoint/2010/main" val="668903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2884676282"/>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a:solidFill>
                  <a:srgbClr val="808080"/>
                </a:solidFill>
                <a:latin typeface="Arial" panose="020B0604020202020204" pitchFamily="34" charset="0"/>
              </a:rPr>
              <a:pPr algn="r"/>
              <a:t>32</a:t>
            </a:fld>
            <a:r>
              <a:rPr lang="en-US" sz="900" dirty="0">
                <a:solidFill>
                  <a:srgbClr val="808080"/>
                </a:solidFill>
                <a:latin typeface="Arial" panose="020B0604020202020204" pitchFamily="34" charset="0"/>
              </a:rPr>
              <a:t> </a:t>
            </a:r>
          </a:p>
        </p:txBody>
      </p:sp>
    </p:spTree>
    <p:extLst>
      <p:ext uri="{BB962C8B-B14F-4D97-AF65-F5344CB8AC3E}">
        <p14:creationId xmlns:p14="http://schemas.microsoft.com/office/powerpoint/2010/main" val="7879157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rPr>
              <a:t>Page </a:t>
            </a:r>
            <a:fld id="{95158037-59F0-9C4B-B231-1C776117AADA}" type="slidenum">
              <a:rPr lang="en-US">
                <a:latin typeface="Arial" panose="020B0604020202020204" pitchFamily="34" charset="0"/>
              </a:rPr>
              <a:pPr algn="r"/>
              <a:t>33</a:t>
            </a:fld>
            <a:r>
              <a:rPr lang="en-US" dirty="0">
                <a:latin typeface="Arial" panose="020B0604020202020204" pitchFamily="34" charset="0"/>
              </a:rPr>
              <a:t> </a:t>
            </a:r>
            <a:endParaRPr lang="en-US" dirty="0">
              <a:latin typeface="Arial" panose="020B0604020202020204" pitchFamily="34" charset="0"/>
              <a:cs typeface="Arial" panose="020B0604020202020204" pitchFamily="34" charset="0"/>
            </a:endParaRPr>
          </a:p>
        </p:txBody>
      </p:sp>
      <p:sp>
        <p:nvSpPr>
          <p:cNvPr id="5" name="Content Placeholder 1"/>
          <p:cNvSpPr>
            <a:spLocks noGrp="1"/>
          </p:cNvSpPr>
          <p:nvPr>
            <p:ph idx="1"/>
          </p:nvPr>
        </p:nvSpPr>
        <p:spPr>
          <a:xfrm>
            <a:off x="306397" y="1108416"/>
            <a:ext cx="10978387" cy="5203021"/>
          </a:xfrm>
        </p:spPr>
        <p:txBody>
          <a:bodyPr/>
          <a:lstStyle/>
          <a:p>
            <a:pPr marL="463284" indent="-463284" algn="just">
              <a:spcBef>
                <a:spcPts val="400"/>
              </a:spcBef>
              <a:buNone/>
            </a:pPr>
            <a:endParaRPr lang="en-US" sz="533" dirty="0"/>
          </a:p>
          <a:p>
            <a:pPr marL="1863" indent="0" algn="just">
              <a:spcBef>
                <a:spcPts val="800"/>
              </a:spcBef>
              <a:buNone/>
            </a:pPr>
            <a:endParaRPr lang="en-US" sz="2267" dirty="0">
              <a:solidFill>
                <a:schemeClr val="tx1">
                  <a:lumMod val="65000"/>
                  <a:lumOff val="35000"/>
                </a:schemeClr>
              </a:solidFill>
            </a:endParaRPr>
          </a:p>
          <a:p>
            <a:pPr marL="1863" indent="0" algn="just">
              <a:spcBef>
                <a:spcPts val="800"/>
              </a:spcBef>
              <a:buNone/>
            </a:pPr>
            <a:endParaRPr lang="en-US" sz="2267" dirty="0">
              <a:solidFill>
                <a:schemeClr val="tx1">
                  <a:lumMod val="65000"/>
                  <a:lumOff val="35000"/>
                </a:schemeClr>
              </a:solidFill>
            </a:endParaRPr>
          </a:p>
        </p:txBody>
      </p:sp>
      <p:grpSp>
        <p:nvGrpSpPr>
          <p:cNvPr id="8" name="Group 7"/>
          <p:cNvGrpSpPr/>
          <p:nvPr/>
        </p:nvGrpSpPr>
        <p:grpSpPr>
          <a:xfrm>
            <a:off x="588386" y="2704088"/>
            <a:ext cx="10148073" cy="3494855"/>
            <a:chOff x="-28575" y="1898650"/>
            <a:chExt cx="10108775" cy="4327213"/>
          </a:xfrm>
          <a:solidFill>
            <a:schemeClr val="tx1">
              <a:lumMod val="75000"/>
              <a:lumOff val="25000"/>
            </a:schemeClr>
          </a:solidFill>
        </p:grpSpPr>
        <p:sp>
          <p:nvSpPr>
            <p:cNvPr id="9" name="Freeform 5"/>
            <p:cNvSpPr>
              <a:spLocks/>
            </p:cNvSpPr>
            <p:nvPr/>
          </p:nvSpPr>
          <p:spPr bwMode="auto">
            <a:xfrm>
              <a:off x="2997859" y="2152650"/>
              <a:ext cx="4335475" cy="3467099"/>
            </a:xfrm>
            <a:custGeom>
              <a:avLst/>
              <a:gdLst>
                <a:gd name="T0" fmla="*/ 522 w 1204"/>
                <a:gd name="T1" fmla="*/ 1077 h 1205"/>
                <a:gd name="T2" fmla="*/ 463 w 1204"/>
                <a:gd name="T3" fmla="*/ 602 h 1205"/>
                <a:gd name="T4" fmla="*/ 692 w 1204"/>
                <a:gd name="T5" fmla="*/ 106 h 1205"/>
                <a:gd name="T6" fmla="*/ 268 w 1204"/>
                <a:gd name="T7" fmla="*/ 0 h 1205"/>
                <a:gd name="T8" fmla="*/ 237 w 1204"/>
                <a:gd name="T9" fmla="*/ 28 h 1205"/>
                <a:gd name="T10" fmla="*/ 616 w 1204"/>
                <a:gd name="T11" fmla="*/ 123 h 1205"/>
                <a:gd name="T12" fmla="*/ 718 w 1204"/>
                <a:gd name="T13" fmla="*/ 427 h 1205"/>
                <a:gd name="T14" fmla="*/ 26 w 1204"/>
                <a:gd name="T15" fmla="*/ 845 h 1205"/>
                <a:gd name="T16" fmla="*/ 475 w 1204"/>
                <a:gd name="T17" fmla="*/ 1205 h 1205"/>
                <a:gd name="T18" fmla="*/ 662 w 1204"/>
                <a:gd name="T19" fmla="*/ 1119 h 1205"/>
                <a:gd name="T20" fmla="*/ 522 w 1204"/>
                <a:gd name="T21" fmla="*/ 1077 h 1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4" h="1205">
                  <a:moveTo>
                    <a:pt x="522" y="1077"/>
                  </a:moveTo>
                  <a:cubicBezTo>
                    <a:pt x="0" y="897"/>
                    <a:pt x="260" y="682"/>
                    <a:pt x="463" y="602"/>
                  </a:cubicBezTo>
                  <a:cubicBezTo>
                    <a:pt x="666" y="522"/>
                    <a:pt x="1204" y="330"/>
                    <a:pt x="692" y="106"/>
                  </a:cubicBezTo>
                  <a:cubicBezTo>
                    <a:pt x="692" y="106"/>
                    <a:pt x="513" y="40"/>
                    <a:pt x="268" y="0"/>
                  </a:cubicBezTo>
                  <a:cubicBezTo>
                    <a:pt x="237" y="28"/>
                    <a:pt x="237" y="28"/>
                    <a:pt x="237" y="28"/>
                  </a:cubicBezTo>
                  <a:cubicBezTo>
                    <a:pt x="415" y="59"/>
                    <a:pt x="519" y="90"/>
                    <a:pt x="616" y="123"/>
                  </a:cubicBezTo>
                  <a:cubicBezTo>
                    <a:pt x="774" y="177"/>
                    <a:pt x="930" y="311"/>
                    <a:pt x="718" y="427"/>
                  </a:cubicBezTo>
                  <a:cubicBezTo>
                    <a:pt x="506" y="543"/>
                    <a:pt x="44" y="661"/>
                    <a:pt x="26" y="845"/>
                  </a:cubicBezTo>
                  <a:cubicBezTo>
                    <a:pt x="13" y="972"/>
                    <a:pt x="185" y="1108"/>
                    <a:pt x="475" y="1205"/>
                  </a:cubicBezTo>
                  <a:cubicBezTo>
                    <a:pt x="662" y="1119"/>
                    <a:pt x="662" y="1119"/>
                    <a:pt x="662" y="1119"/>
                  </a:cubicBezTo>
                  <a:cubicBezTo>
                    <a:pt x="613" y="1106"/>
                    <a:pt x="566" y="1092"/>
                    <a:pt x="522" y="1077"/>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sp>
          <p:nvSpPr>
            <p:cNvPr id="10" name="Freeform 6"/>
            <p:cNvSpPr>
              <a:spLocks/>
            </p:cNvSpPr>
            <p:nvPr/>
          </p:nvSpPr>
          <p:spPr bwMode="auto">
            <a:xfrm>
              <a:off x="-28575" y="1898650"/>
              <a:ext cx="1481138" cy="87313"/>
            </a:xfrm>
            <a:custGeom>
              <a:avLst/>
              <a:gdLst>
                <a:gd name="T0" fmla="*/ 0 w 515"/>
                <a:gd name="T1" fmla="*/ 2 h 30"/>
                <a:gd name="T2" fmla="*/ 0 w 515"/>
                <a:gd name="T3" fmla="*/ 23 h 30"/>
                <a:gd name="T4" fmla="*/ 504 w 515"/>
                <a:gd name="T5" fmla="*/ 30 h 30"/>
                <a:gd name="T6" fmla="*/ 515 w 515"/>
                <a:gd name="T7" fmla="*/ 18 h 30"/>
                <a:gd name="T8" fmla="*/ 0 w 515"/>
                <a:gd name="T9" fmla="*/ 2 h 30"/>
              </a:gdLst>
              <a:ahLst/>
              <a:cxnLst>
                <a:cxn ang="0">
                  <a:pos x="T0" y="T1"/>
                </a:cxn>
                <a:cxn ang="0">
                  <a:pos x="T2" y="T3"/>
                </a:cxn>
                <a:cxn ang="0">
                  <a:pos x="T4" y="T5"/>
                </a:cxn>
                <a:cxn ang="0">
                  <a:pos x="T6" y="T7"/>
                </a:cxn>
                <a:cxn ang="0">
                  <a:pos x="T8" y="T9"/>
                </a:cxn>
              </a:cxnLst>
              <a:rect l="0" t="0" r="r" b="b"/>
              <a:pathLst>
                <a:path w="515" h="30">
                  <a:moveTo>
                    <a:pt x="0" y="2"/>
                  </a:moveTo>
                  <a:cubicBezTo>
                    <a:pt x="0" y="23"/>
                    <a:pt x="0" y="23"/>
                    <a:pt x="0" y="23"/>
                  </a:cubicBezTo>
                  <a:cubicBezTo>
                    <a:pt x="0" y="23"/>
                    <a:pt x="200" y="14"/>
                    <a:pt x="504" y="30"/>
                  </a:cubicBezTo>
                  <a:cubicBezTo>
                    <a:pt x="515" y="18"/>
                    <a:pt x="515" y="18"/>
                    <a:pt x="515" y="18"/>
                  </a:cubicBezTo>
                  <a:cubicBezTo>
                    <a:pt x="323" y="7"/>
                    <a:pt x="138" y="0"/>
                    <a:pt x="0" y="2"/>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sp>
          <p:nvSpPr>
            <p:cNvPr id="11" name="Freeform 7"/>
            <p:cNvSpPr>
              <a:spLocks/>
            </p:cNvSpPr>
            <p:nvPr/>
          </p:nvSpPr>
          <p:spPr bwMode="auto">
            <a:xfrm>
              <a:off x="1581150" y="1958975"/>
              <a:ext cx="2414437" cy="294488"/>
            </a:xfrm>
            <a:custGeom>
              <a:avLst/>
              <a:gdLst>
                <a:gd name="T0" fmla="*/ 595 w 725"/>
                <a:gd name="T1" fmla="*/ 43 h 86"/>
                <a:gd name="T2" fmla="*/ 13 w 725"/>
                <a:gd name="T3" fmla="*/ 0 h 86"/>
                <a:gd name="T4" fmla="*/ 0 w 725"/>
                <a:gd name="T5" fmla="*/ 12 h 86"/>
                <a:gd name="T6" fmla="*/ 298 w 725"/>
                <a:gd name="T7" fmla="*/ 36 h 86"/>
                <a:gd name="T8" fmla="*/ 695 w 725"/>
                <a:gd name="T9" fmla="*/ 86 h 86"/>
                <a:gd name="T10" fmla="*/ 725 w 725"/>
                <a:gd name="T11" fmla="*/ 58 h 86"/>
                <a:gd name="T12" fmla="*/ 595 w 725"/>
                <a:gd name="T13" fmla="*/ 43 h 86"/>
              </a:gdLst>
              <a:ahLst/>
              <a:cxnLst>
                <a:cxn ang="0">
                  <a:pos x="T0" y="T1"/>
                </a:cxn>
                <a:cxn ang="0">
                  <a:pos x="T2" y="T3"/>
                </a:cxn>
                <a:cxn ang="0">
                  <a:pos x="T4" y="T5"/>
                </a:cxn>
                <a:cxn ang="0">
                  <a:pos x="T6" y="T7"/>
                </a:cxn>
                <a:cxn ang="0">
                  <a:pos x="T8" y="T9"/>
                </a:cxn>
                <a:cxn ang="0">
                  <a:pos x="T10" y="T11"/>
                </a:cxn>
                <a:cxn ang="0">
                  <a:pos x="T12" y="T13"/>
                </a:cxn>
              </a:cxnLst>
              <a:rect l="0" t="0" r="r" b="b"/>
              <a:pathLst>
                <a:path w="725" h="86">
                  <a:moveTo>
                    <a:pt x="595" y="43"/>
                  </a:moveTo>
                  <a:cubicBezTo>
                    <a:pt x="430" y="28"/>
                    <a:pt x="220" y="12"/>
                    <a:pt x="13" y="0"/>
                  </a:cubicBezTo>
                  <a:cubicBezTo>
                    <a:pt x="0" y="12"/>
                    <a:pt x="0" y="12"/>
                    <a:pt x="0" y="12"/>
                  </a:cubicBezTo>
                  <a:cubicBezTo>
                    <a:pt x="92" y="18"/>
                    <a:pt x="192" y="25"/>
                    <a:pt x="298" y="36"/>
                  </a:cubicBezTo>
                  <a:cubicBezTo>
                    <a:pt x="461" y="53"/>
                    <a:pt x="590" y="69"/>
                    <a:pt x="695" y="86"/>
                  </a:cubicBezTo>
                  <a:cubicBezTo>
                    <a:pt x="725" y="58"/>
                    <a:pt x="725" y="58"/>
                    <a:pt x="725" y="58"/>
                  </a:cubicBezTo>
                  <a:cubicBezTo>
                    <a:pt x="683" y="52"/>
                    <a:pt x="639" y="47"/>
                    <a:pt x="595" y="43"/>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sp>
          <p:nvSpPr>
            <p:cNvPr id="12" name="Freeform 8"/>
            <p:cNvSpPr>
              <a:spLocks/>
            </p:cNvSpPr>
            <p:nvPr/>
          </p:nvSpPr>
          <p:spPr bwMode="auto">
            <a:xfrm>
              <a:off x="4719423" y="5370199"/>
              <a:ext cx="5360777" cy="855664"/>
            </a:xfrm>
            <a:custGeom>
              <a:avLst/>
              <a:gdLst>
                <a:gd name="T0" fmla="*/ 1775 w 1775"/>
                <a:gd name="T1" fmla="*/ 213 h 297"/>
                <a:gd name="T2" fmla="*/ 1443 w 1775"/>
                <a:gd name="T3" fmla="*/ 57 h 297"/>
                <a:gd name="T4" fmla="*/ 1397 w 1775"/>
                <a:gd name="T5" fmla="*/ 95 h 297"/>
                <a:gd name="T6" fmla="*/ 205 w 1775"/>
                <a:gd name="T7" fmla="*/ 0 h 297"/>
                <a:gd name="T8" fmla="*/ 0 w 1775"/>
                <a:gd name="T9" fmla="*/ 93 h 297"/>
                <a:gd name="T10" fmla="*/ 309 w 1775"/>
                <a:gd name="T11" fmla="*/ 153 h 297"/>
                <a:gd name="T12" fmla="*/ 1225 w 1775"/>
                <a:gd name="T13" fmla="*/ 235 h 297"/>
                <a:gd name="T14" fmla="*/ 1153 w 1775"/>
                <a:gd name="T15" fmla="*/ 297 h 297"/>
                <a:gd name="T16" fmla="*/ 1775 w 1775"/>
                <a:gd name="T17" fmla="*/ 21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5" h="297">
                  <a:moveTo>
                    <a:pt x="1775" y="213"/>
                  </a:moveTo>
                  <a:cubicBezTo>
                    <a:pt x="1443" y="57"/>
                    <a:pt x="1443" y="57"/>
                    <a:pt x="1443" y="57"/>
                  </a:cubicBezTo>
                  <a:cubicBezTo>
                    <a:pt x="1397" y="95"/>
                    <a:pt x="1397" y="95"/>
                    <a:pt x="1397" y="95"/>
                  </a:cubicBezTo>
                  <a:cubicBezTo>
                    <a:pt x="1397" y="95"/>
                    <a:pt x="730" y="100"/>
                    <a:pt x="205" y="0"/>
                  </a:cubicBezTo>
                  <a:cubicBezTo>
                    <a:pt x="0" y="93"/>
                    <a:pt x="0" y="93"/>
                    <a:pt x="0" y="93"/>
                  </a:cubicBezTo>
                  <a:cubicBezTo>
                    <a:pt x="95" y="117"/>
                    <a:pt x="198" y="138"/>
                    <a:pt x="309" y="153"/>
                  </a:cubicBezTo>
                  <a:cubicBezTo>
                    <a:pt x="859" y="229"/>
                    <a:pt x="1225" y="235"/>
                    <a:pt x="1225" y="235"/>
                  </a:cubicBezTo>
                  <a:cubicBezTo>
                    <a:pt x="1153" y="297"/>
                    <a:pt x="1153" y="297"/>
                    <a:pt x="1153" y="297"/>
                  </a:cubicBezTo>
                  <a:lnTo>
                    <a:pt x="1775" y="213"/>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351" dirty="0"/>
            </a:p>
          </p:txBody>
        </p:sp>
      </p:grpSp>
      <p:grpSp>
        <p:nvGrpSpPr>
          <p:cNvPr id="13" name="Group 12"/>
          <p:cNvGrpSpPr/>
          <p:nvPr/>
        </p:nvGrpSpPr>
        <p:grpSpPr>
          <a:xfrm>
            <a:off x="1611893" y="1323318"/>
            <a:ext cx="1022999" cy="1466789"/>
            <a:chOff x="6285507" y="4056652"/>
            <a:chExt cx="1361612" cy="1952296"/>
          </a:xfrm>
        </p:grpSpPr>
        <p:grpSp>
          <p:nvGrpSpPr>
            <p:cNvPr id="14" name="Group 13"/>
            <p:cNvGrpSpPr/>
            <p:nvPr/>
          </p:nvGrpSpPr>
          <p:grpSpPr>
            <a:xfrm>
              <a:off x="6285507" y="4056652"/>
              <a:ext cx="1361612" cy="1952296"/>
              <a:chOff x="5808789" y="2272281"/>
              <a:chExt cx="1993536" cy="2858355"/>
            </a:xfrm>
          </p:grpSpPr>
          <p:sp>
            <p:nvSpPr>
              <p:cNvPr id="16" name="Rectangle 1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17" name="Group 16"/>
              <p:cNvGrpSpPr/>
              <p:nvPr/>
            </p:nvGrpSpPr>
            <p:grpSpPr>
              <a:xfrm>
                <a:off x="5808789" y="2272281"/>
                <a:ext cx="1993536" cy="1989348"/>
                <a:chOff x="8140701" y="1890712"/>
                <a:chExt cx="1511300" cy="1508125"/>
              </a:xfrm>
            </p:grpSpPr>
            <p:sp>
              <p:nvSpPr>
                <p:cNvPr id="1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1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15" name="TextBox 14"/>
            <p:cNvSpPr txBox="1"/>
            <p:nvPr/>
          </p:nvSpPr>
          <p:spPr>
            <a:xfrm>
              <a:off x="6371735" y="4462752"/>
              <a:ext cx="1189156" cy="614476"/>
            </a:xfrm>
            <a:prstGeom prst="rect">
              <a:avLst/>
            </a:prstGeom>
            <a:noFill/>
          </p:spPr>
          <p:txBody>
            <a:bodyPr wrap="square" rtlCol="0" anchor="ctr">
              <a:spAutoFit/>
            </a:bodyPr>
            <a:lstStyle/>
            <a:p>
              <a:pPr algn="ctr"/>
              <a:r>
                <a:rPr lang="en-US" sz="1200" b="1" kern="0" dirty="0">
                  <a:latin typeface="Arial" panose="020B0604020202020204" pitchFamily="34" charset="0"/>
                  <a:cs typeface="Arial" panose="020B0604020202020204" pitchFamily="34" charset="0"/>
                </a:rPr>
                <a:t>Dec </a:t>
              </a:r>
            </a:p>
            <a:p>
              <a:pPr algn="ctr"/>
              <a:r>
                <a:rPr lang="en-US" sz="1200" b="1" kern="0" dirty="0">
                  <a:latin typeface="Arial" panose="020B0604020202020204" pitchFamily="34" charset="0"/>
                  <a:cs typeface="Arial" panose="020B0604020202020204" pitchFamily="34" charset="0"/>
                </a:rPr>
                <a:t>2019</a:t>
              </a:r>
              <a:endParaRPr lang="en-US" sz="1200" b="1" dirty="0"/>
            </a:p>
          </p:txBody>
        </p:sp>
      </p:grpSp>
      <p:grpSp>
        <p:nvGrpSpPr>
          <p:cNvPr id="23" name="Group 22"/>
          <p:cNvGrpSpPr/>
          <p:nvPr/>
        </p:nvGrpSpPr>
        <p:grpSpPr>
          <a:xfrm>
            <a:off x="4602153" y="1343381"/>
            <a:ext cx="1361612" cy="1756561"/>
            <a:chOff x="6285507" y="4056652"/>
            <a:chExt cx="1361612" cy="1952296"/>
          </a:xfrm>
        </p:grpSpPr>
        <p:grpSp>
          <p:nvGrpSpPr>
            <p:cNvPr id="24" name="Group 23"/>
            <p:cNvGrpSpPr/>
            <p:nvPr/>
          </p:nvGrpSpPr>
          <p:grpSpPr>
            <a:xfrm>
              <a:off x="6285507" y="4056652"/>
              <a:ext cx="1361612" cy="1952296"/>
              <a:chOff x="5808789" y="2272281"/>
              <a:chExt cx="1993536" cy="2858355"/>
            </a:xfrm>
          </p:grpSpPr>
          <p:sp>
            <p:nvSpPr>
              <p:cNvPr id="26" name="Rectangle 25"/>
              <p:cNvSpPr/>
              <p:nvPr/>
            </p:nvSpPr>
            <p:spPr>
              <a:xfrm>
                <a:off x="6718887" y="4188899"/>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27" name="Group 26"/>
              <p:cNvGrpSpPr/>
              <p:nvPr/>
            </p:nvGrpSpPr>
            <p:grpSpPr>
              <a:xfrm>
                <a:off x="5808789" y="2272281"/>
                <a:ext cx="1993536" cy="1989348"/>
                <a:chOff x="8140701" y="1890712"/>
                <a:chExt cx="1511300" cy="1508125"/>
              </a:xfrm>
            </p:grpSpPr>
            <p:sp>
              <p:nvSpPr>
                <p:cNvPr id="28" name="Freeform 25"/>
                <p:cNvSpPr>
                  <a:spLocks/>
                </p:cNvSpPr>
                <p:nvPr/>
              </p:nvSpPr>
              <p:spPr bwMode="auto">
                <a:xfrm>
                  <a:off x="8140701" y="1890712"/>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29" name="Freeform 26"/>
                <p:cNvSpPr>
                  <a:spLocks noEditPoints="1"/>
                </p:cNvSpPr>
                <p:nvPr/>
              </p:nvSpPr>
              <p:spPr bwMode="auto">
                <a:xfrm>
                  <a:off x="8283576" y="2033588"/>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25" name="TextBox 24"/>
            <p:cNvSpPr txBox="1"/>
            <p:nvPr/>
          </p:nvSpPr>
          <p:spPr>
            <a:xfrm>
              <a:off x="6371735" y="4513436"/>
              <a:ext cx="1189155" cy="513109"/>
            </a:xfrm>
            <a:prstGeom prst="rect">
              <a:avLst/>
            </a:prstGeom>
            <a:noFill/>
          </p:spPr>
          <p:txBody>
            <a:bodyPr wrap="square" rtlCol="0" anchor="ctr">
              <a:spAutoFit/>
            </a:bodyPr>
            <a:lstStyle/>
            <a:p>
              <a:pPr algn="ctr"/>
              <a:r>
                <a:rPr lang="en-US" sz="1200" b="1" dirty="0">
                  <a:latin typeface="Arial" panose="020B0604020202020204" pitchFamily="34" charset="0"/>
                  <a:cs typeface="Arial" panose="020B0604020202020204" pitchFamily="34" charset="0"/>
                </a:rPr>
                <a:t>March       2020</a:t>
              </a:r>
            </a:p>
          </p:txBody>
        </p:sp>
      </p:grpSp>
      <p:grpSp>
        <p:nvGrpSpPr>
          <p:cNvPr id="30" name="Group 29"/>
          <p:cNvGrpSpPr/>
          <p:nvPr/>
        </p:nvGrpSpPr>
        <p:grpSpPr>
          <a:xfrm>
            <a:off x="5655267" y="1409528"/>
            <a:ext cx="5884256" cy="1174015"/>
            <a:chOff x="4017265" y="443715"/>
            <a:chExt cx="1708668" cy="2625658"/>
          </a:xfrm>
        </p:grpSpPr>
        <p:sp>
          <p:nvSpPr>
            <p:cNvPr id="31" name="TextBox 30"/>
            <p:cNvSpPr txBox="1"/>
            <p:nvPr/>
          </p:nvSpPr>
          <p:spPr>
            <a:xfrm>
              <a:off x="4017265" y="2312205"/>
              <a:ext cx="1708668" cy="757168"/>
            </a:xfrm>
            <a:prstGeom prst="rect">
              <a:avLst/>
            </a:prstGeom>
            <a:noFill/>
          </p:spPr>
          <p:txBody>
            <a:bodyPr wrap="square" rtlCol="0">
              <a:spAutoFit/>
            </a:bodyPr>
            <a:lstStyle/>
            <a:p>
              <a:endParaRPr lang="en-US" sz="1600" dirty="0">
                <a:solidFill>
                  <a:schemeClr val="tx1">
                    <a:lumMod val="75000"/>
                    <a:lumOff val="25000"/>
                  </a:schemeClr>
                </a:solidFill>
              </a:endParaRPr>
            </a:p>
          </p:txBody>
        </p:sp>
        <p:sp>
          <p:nvSpPr>
            <p:cNvPr id="32" name="TextBox 31"/>
            <p:cNvSpPr txBox="1"/>
            <p:nvPr/>
          </p:nvSpPr>
          <p:spPr>
            <a:xfrm>
              <a:off x="4111358" y="443715"/>
              <a:ext cx="662292" cy="1583171"/>
            </a:xfrm>
            <a:prstGeom prst="rect">
              <a:avLst/>
            </a:prstGeom>
            <a:noFill/>
          </p:spPr>
          <p:txBody>
            <a:bodyPr wrap="square" rtlCol="0">
              <a:spAutoFit/>
            </a:bodyPr>
            <a:lstStyle/>
            <a:p>
              <a:r>
                <a:rPr lang="en-US" sz="2000" dirty="0">
                  <a:solidFill>
                    <a:schemeClr val="tx1">
                      <a:lumMod val="75000"/>
                      <a:lumOff val="25000"/>
                    </a:schemeClr>
                  </a:solidFill>
                  <a:latin typeface="Arial" panose="020B0604020202020204" pitchFamily="34" charset="0"/>
                  <a:cs typeface="Arial" panose="020B0604020202020204" pitchFamily="34" charset="0"/>
                </a:rPr>
                <a:t>Approval of Exposure Draft</a:t>
              </a:r>
              <a:endParaRPr lang="en-US" sz="2400" b="1" dirty="0">
                <a:solidFill>
                  <a:schemeClr val="tx1">
                    <a:lumMod val="75000"/>
                    <a:lumOff val="25000"/>
                  </a:schemeClr>
                </a:solidFill>
                <a:latin typeface="Arial" panose="020B0604020202020204" pitchFamily="34" charset="0"/>
                <a:cs typeface="Arial" panose="020B0604020202020204" pitchFamily="34" charset="0"/>
              </a:endParaRPr>
            </a:p>
          </p:txBody>
        </p:sp>
      </p:grpSp>
      <p:grpSp>
        <p:nvGrpSpPr>
          <p:cNvPr id="43" name="Group 42"/>
          <p:cNvGrpSpPr/>
          <p:nvPr/>
        </p:nvGrpSpPr>
        <p:grpSpPr>
          <a:xfrm>
            <a:off x="4684598" y="3363037"/>
            <a:ext cx="1647551" cy="2346381"/>
            <a:chOff x="6311305" y="4035018"/>
            <a:chExt cx="1361612" cy="1939157"/>
          </a:xfrm>
        </p:grpSpPr>
        <p:grpSp>
          <p:nvGrpSpPr>
            <p:cNvPr id="44" name="Group 43"/>
            <p:cNvGrpSpPr/>
            <p:nvPr/>
          </p:nvGrpSpPr>
          <p:grpSpPr>
            <a:xfrm>
              <a:off x="6311305" y="4035018"/>
              <a:ext cx="1361612" cy="1939157"/>
              <a:chOff x="5846560" y="2240606"/>
              <a:chExt cx="1993536" cy="2839118"/>
            </a:xfrm>
          </p:grpSpPr>
          <p:sp>
            <p:nvSpPr>
              <p:cNvPr id="46" name="Rectangle 45"/>
              <p:cNvSpPr/>
              <p:nvPr/>
            </p:nvSpPr>
            <p:spPr>
              <a:xfrm>
                <a:off x="6749128" y="4137987"/>
                <a:ext cx="191914" cy="941737"/>
              </a:xfrm>
              <a:prstGeom prst="rect">
                <a:avLst/>
              </a:prstGeom>
              <a:gradFill>
                <a:gsLst>
                  <a:gs pos="0">
                    <a:sysClr val="windowText" lastClr="000000">
                      <a:lumMod val="75000"/>
                      <a:lumOff val="25000"/>
                      <a:shade val="30000"/>
                      <a:satMod val="115000"/>
                    </a:sysClr>
                  </a:gs>
                  <a:gs pos="50000">
                    <a:sysClr val="window" lastClr="FFFFFF"/>
                  </a:gs>
                  <a:gs pos="100000">
                    <a:sysClr val="windowText" lastClr="000000">
                      <a:lumMod val="75000"/>
                      <a:lumOff val="25000"/>
                      <a:shade val="100000"/>
                      <a:satMod val="115000"/>
                    </a:sysClr>
                  </a:gs>
                </a:gsLst>
                <a:lin ang="0" scaled="0"/>
              </a:gradFill>
              <a:ln w="25400" cap="flat" cmpd="sng" algn="ctr">
                <a:noFill/>
                <a:prstDash val="solid"/>
              </a:ln>
              <a:effectLst/>
            </p:spPr>
            <p:txBody>
              <a:bodyPr rtlCol="0" anchor="ctr"/>
              <a:lstStyle/>
              <a:p>
                <a:pPr algn="ctr" defTabSz="914377">
                  <a:defRPr/>
                </a:pPr>
                <a:endParaRPr lang="en-US" sz="2400" kern="0" dirty="0">
                  <a:solidFill>
                    <a:prstClr val="white"/>
                  </a:solidFill>
                  <a:latin typeface="Calibri"/>
                </a:endParaRPr>
              </a:p>
            </p:txBody>
          </p:sp>
          <p:grpSp>
            <p:nvGrpSpPr>
              <p:cNvPr id="47" name="Group 46"/>
              <p:cNvGrpSpPr/>
              <p:nvPr/>
            </p:nvGrpSpPr>
            <p:grpSpPr>
              <a:xfrm>
                <a:off x="5846560" y="2240606"/>
                <a:ext cx="1993536" cy="1989348"/>
                <a:chOff x="8169335" y="1866699"/>
                <a:chExt cx="1511300" cy="1508125"/>
              </a:xfrm>
            </p:grpSpPr>
            <p:sp>
              <p:nvSpPr>
                <p:cNvPr id="48" name="Freeform 25"/>
                <p:cNvSpPr>
                  <a:spLocks/>
                </p:cNvSpPr>
                <p:nvPr/>
              </p:nvSpPr>
              <p:spPr bwMode="auto">
                <a:xfrm>
                  <a:off x="8169335" y="1866699"/>
                  <a:ext cx="1511300" cy="1508125"/>
                </a:xfrm>
                <a:custGeom>
                  <a:avLst/>
                  <a:gdLst>
                    <a:gd name="T0" fmla="*/ 385 w 402"/>
                    <a:gd name="T1" fmla="*/ 171 h 401"/>
                    <a:gd name="T2" fmla="*/ 385 w 402"/>
                    <a:gd name="T3" fmla="*/ 231 h 401"/>
                    <a:gd name="T4" fmla="*/ 231 w 402"/>
                    <a:gd name="T5" fmla="*/ 385 h 401"/>
                    <a:gd name="T6" fmla="*/ 171 w 402"/>
                    <a:gd name="T7" fmla="*/ 385 h 401"/>
                    <a:gd name="T8" fmla="*/ 17 w 402"/>
                    <a:gd name="T9" fmla="*/ 231 h 401"/>
                    <a:gd name="T10" fmla="*/ 17 w 402"/>
                    <a:gd name="T11" fmla="*/ 171 h 401"/>
                    <a:gd name="T12" fmla="*/ 171 w 402"/>
                    <a:gd name="T13" fmla="*/ 17 h 401"/>
                    <a:gd name="T14" fmla="*/ 231 w 402"/>
                    <a:gd name="T15" fmla="*/ 17 h 401"/>
                    <a:gd name="T16" fmla="*/ 385 w 402"/>
                    <a:gd name="T17" fmla="*/ 17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401">
                      <a:moveTo>
                        <a:pt x="385" y="171"/>
                      </a:moveTo>
                      <a:cubicBezTo>
                        <a:pt x="402" y="187"/>
                        <a:pt x="402" y="214"/>
                        <a:pt x="385" y="231"/>
                      </a:cubicBezTo>
                      <a:cubicBezTo>
                        <a:pt x="231" y="385"/>
                        <a:pt x="231" y="385"/>
                        <a:pt x="231" y="385"/>
                      </a:cubicBezTo>
                      <a:cubicBezTo>
                        <a:pt x="214" y="401"/>
                        <a:pt x="187" y="401"/>
                        <a:pt x="171" y="385"/>
                      </a:cubicBezTo>
                      <a:cubicBezTo>
                        <a:pt x="17" y="231"/>
                        <a:pt x="17" y="231"/>
                        <a:pt x="17" y="231"/>
                      </a:cubicBezTo>
                      <a:cubicBezTo>
                        <a:pt x="0" y="214"/>
                        <a:pt x="0" y="187"/>
                        <a:pt x="17" y="171"/>
                      </a:cubicBezTo>
                      <a:cubicBezTo>
                        <a:pt x="171" y="17"/>
                        <a:pt x="171" y="17"/>
                        <a:pt x="171" y="17"/>
                      </a:cubicBezTo>
                      <a:cubicBezTo>
                        <a:pt x="187" y="0"/>
                        <a:pt x="214" y="0"/>
                        <a:pt x="231" y="17"/>
                      </a:cubicBezTo>
                      <a:lnTo>
                        <a:pt x="385" y="171"/>
                      </a:lnTo>
                      <a:close/>
                    </a:path>
                  </a:pathLst>
                </a:custGeom>
                <a:solidFill>
                  <a:srgbClr val="F1C96C">
                    <a:lumMod val="75000"/>
                  </a:srgb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sp>
              <p:nvSpPr>
                <p:cNvPr id="49" name="Freeform 26"/>
                <p:cNvSpPr>
                  <a:spLocks noEditPoints="1"/>
                </p:cNvSpPr>
                <p:nvPr/>
              </p:nvSpPr>
              <p:spPr bwMode="auto">
                <a:xfrm>
                  <a:off x="8305356" y="2033901"/>
                  <a:ext cx="1225550" cy="1227138"/>
                </a:xfrm>
                <a:custGeom>
                  <a:avLst/>
                  <a:gdLst>
                    <a:gd name="T0" fmla="*/ 323 w 326"/>
                    <a:gd name="T1" fmla="*/ 157 h 326"/>
                    <a:gd name="T2" fmla="*/ 169 w 326"/>
                    <a:gd name="T3" fmla="*/ 2 h 326"/>
                    <a:gd name="T4" fmla="*/ 163 w 326"/>
                    <a:gd name="T5" fmla="*/ 0 h 326"/>
                    <a:gd name="T6" fmla="*/ 157 w 326"/>
                    <a:gd name="T7" fmla="*/ 2 h 326"/>
                    <a:gd name="T8" fmla="*/ 3 w 326"/>
                    <a:gd name="T9" fmla="*/ 157 h 326"/>
                    <a:gd name="T10" fmla="*/ 0 w 326"/>
                    <a:gd name="T11" fmla="*/ 163 h 326"/>
                    <a:gd name="T12" fmla="*/ 3 w 326"/>
                    <a:gd name="T13" fmla="*/ 169 h 326"/>
                    <a:gd name="T14" fmla="*/ 157 w 326"/>
                    <a:gd name="T15" fmla="*/ 323 h 326"/>
                    <a:gd name="T16" fmla="*/ 163 w 326"/>
                    <a:gd name="T17" fmla="*/ 326 h 326"/>
                    <a:gd name="T18" fmla="*/ 169 w 326"/>
                    <a:gd name="T19" fmla="*/ 323 h 326"/>
                    <a:gd name="T20" fmla="*/ 323 w 326"/>
                    <a:gd name="T21" fmla="*/ 169 h 326"/>
                    <a:gd name="T22" fmla="*/ 326 w 326"/>
                    <a:gd name="T23" fmla="*/ 163 h 326"/>
                    <a:gd name="T24" fmla="*/ 323 w 326"/>
                    <a:gd name="T25" fmla="*/ 157 h 326"/>
                    <a:gd name="T26" fmla="*/ 306 w 326"/>
                    <a:gd name="T27" fmla="*/ 168 h 326"/>
                    <a:gd name="T28" fmla="*/ 168 w 326"/>
                    <a:gd name="T29" fmla="*/ 306 h 326"/>
                    <a:gd name="T30" fmla="*/ 163 w 326"/>
                    <a:gd name="T31" fmla="*/ 308 h 326"/>
                    <a:gd name="T32" fmla="*/ 157 w 326"/>
                    <a:gd name="T33" fmla="*/ 306 h 326"/>
                    <a:gd name="T34" fmla="*/ 20 w 326"/>
                    <a:gd name="T35" fmla="*/ 168 h 326"/>
                    <a:gd name="T36" fmla="*/ 17 w 326"/>
                    <a:gd name="T37" fmla="*/ 163 h 326"/>
                    <a:gd name="T38" fmla="*/ 20 w 326"/>
                    <a:gd name="T39" fmla="*/ 157 h 326"/>
                    <a:gd name="T40" fmla="*/ 157 w 326"/>
                    <a:gd name="T41" fmla="*/ 19 h 326"/>
                    <a:gd name="T42" fmla="*/ 163 w 326"/>
                    <a:gd name="T43" fmla="*/ 17 h 326"/>
                    <a:gd name="T44" fmla="*/ 168 w 326"/>
                    <a:gd name="T45" fmla="*/ 19 h 326"/>
                    <a:gd name="T46" fmla="*/ 306 w 326"/>
                    <a:gd name="T47" fmla="*/ 157 h 326"/>
                    <a:gd name="T48" fmla="*/ 309 w 326"/>
                    <a:gd name="T49" fmla="*/ 163 h 326"/>
                    <a:gd name="T50" fmla="*/ 306 w 326"/>
                    <a:gd name="T51" fmla="*/ 16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6" h="326">
                      <a:moveTo>
                        <a:pt x="323" y="157"/>
                      </a:moveTo>
                      <a:cubicBezTo>
                        <a:pt x="169" y="2"/>
                        <a:pt x="169" y="2"/>
                        <a:pt x="169" y="2"/>
                      </a:cubicBezTo>
                      <a:cubicBezTo>
                        <a:pt x="167" y="0"/>
                        <a:pt x="164" y="0"/>
                        <a:pt x="163" y="0"/>
                      </a:cubicBezTo>
                      <a:cubicBezTo>
                        <a:pt x="162" y="0"/>
                        <a:pt x="159" y="0"/>
                        <a:pt x="157" y="2"/>
                      </a:cubicBezTo>
                      <a:cubicBezTo>
                        <a:pt x="3" y="157"/>
                        <a:pt x="3" y="157"/>
                        <a:pt x="3" y="157"/>
                      </a:cubicBezTo>
                      <a:cubicBezTo>
                        <a:pt x="1" y="158"/>
                        <a:pt x="0" y="160"/>
                        <a:pt x="0" y="163"/>
                      </a:cubicBezTo>
                      <a:cubicBezTo>
                        <a:pt x="0" y="165"/>
                        <a:pt x="1" y="167"/>
                        <a:pt x="3" y="169"/>
                      </a:cubicBezTo>
                      <a:cubicBezTo>
                        <a:pt x="157" y="323"/>
                        <a:pt x="157" y="323"/>
                        <a:pt x="157" y="323"/>
                      </a:cubicBezTo>
                      <a:cubicBezTo>
                        <a:pt x="159" y="325"/>
                        <a:pt x="162" y="326"/>
                        <a:pt x="163" y="326"/>
                      </a:cubicBezTo>
                      <a:cubicBezTo>
                        <a:pt x="164" y="326"/>
                        <a:pt x="167" y="325"/>
                        <a:pt x="169" y="323"/>
                      </a:cubicBezTo>
                      <a:cubicBezTo>
                        <a:pt x="323" y="169"/>
                        <a:pt x="323" y="169"/>
                        <a:pt x="323" y="169"/>
                      </a:cubicBezTo>
                      <a:cubicBezTo>
                        <a:pt x="325" y="167"/>
                        <a:pt x="326" y="164"/>
                        <a:pt x="326" y="163"/>
                      </a:cubicBezTo>
                      <a:cubicBezTo>
                        <a:pt x="326" y="161"/>
                        <a:pt x="325" y="159"/>
                        <a:pt x="323" y="157"/>
                      </a:cubicBezTo>
                      <a:close/>
                      <a:moveTo>
                        <a:pt x="306" y="168"/>
                      </a:moveTo>
                      <a:cubicBezTo>
                        <a:pt x="168" y="306"/>
                        <a:pt x="168" y="306"/>
                        <a:pt x="168" y="306"/>
                      </a:cubicBezTo>
                      <a:cubicBezTo>
                        <a:pt x="167" y="308"/>
                        <a:pt x="164" y="308"/>
                        <a:pt x="163" y="308"/>
                      </a:cubicBezTo>
                      <a:cubicBezTo>
                        <a:pt x="162" y="308"/>
                        <a:pt x="159" y="308"/>
                        <a:pt x="157" y="306"/>
                      </a:cubicBezTo>
                      <a:cubicBezTo>
                        <a:pt x="20" y="168"/>
                        <a:pt x="20" y="168"/>
                        <a:pt x="20" y="168"/>
                      </a:cubicBezTo>
                      <a:cubicBezTo>
                        <a:pt x="18" y="167"/>
                        <a:pt x="17" y="165"/>
                        <a:pt x="17" y="163"/>
                      </a:cubicBezTo>
                      <a:cubicBezTo>
                        <a:pt x="17" y="161"/>
                        <a:pt x="18" y="159"/>
                        <a:pt x="20" y="157"/>
                      </a:cubicBezTo>
                      <a:cubicBezTo>
                        <a:pt x="157" y="19"/>
                        <a:pt x="157" y="19"/>
                        <a:pt x="157" y="19"/>
                      </a:cubicBezTo>
                      <a:cubicBezTo>
                        <a:pt x="159" y="17"/>
                        <a:pt x="162" y="17"/>
                        <a:pt x="163" y="17"/>
                      </a:cubicBezTo>
                      <a:cubicBezTo>
                        <a:pt x="164" y="17"/>
                        <a:pt x="167" y="17"/>
                        <a:pt x="168" y="19"/>
                      </a:cubicBezTo>
                      <a:cubicBezTo>
                        <a:pt x="306" y="157"/>
                        <a:pt x="306" y="157"/>
                        <a:pt x="306" y="157"/>
                      </a:cubicBezTo>
                      <a:cubicBezTo>
                        <a:pt x="308" y="159"/>
                        <a:pt x="309" y="161"/>
                        <a:pt x="309" y="163"/>
                      </a:cubicBezTo>
                      <a:cubicBezTo>
                        <a:pt x="309" y="164"/>
                        <a:pt x="308" y="166"/>
                        <a:pt x="306" y="168"/>
                      </a:cubicBezTo>
                      <a:close/>
                    </a:path>
                  </a:pathLst>
                </a:custGeom>
                <a:solidFill>
                  <a:sysClr val="windowText" lastClr="000000">
                    <a:lumMod val="85000"/>
                    <a:lumOff val="15000"/>
                  </a:sysClr>
                </a:solidFill>
                <a:ln>
                  <a:noFill/>
                </a:ln>
              </p:spPr>
              <p:txBody>
                <a:bodyPr vert="horz" wrap="square" lIns="91440" tIns="45720" rIns="91440" bIns="45720" numCol="1" anchor="t" anchorCtr="0" compatLnSpc="1">
                  <a:prstTxWarp prst="textNoShape">
                    <a:avLst/>
                  </a:prstTxWarp>
                </a:bodyPr>
                <a:lstStyle/>
                <a:p>
                  <a:pPr defTabSz="914377">
                    <a:defRPr/>
                  </a:pPr>
                  <a:endParaRPr lang="en-US" sz="2400" kern="0" dirty="0">
                    <a:solidFill>
                      <a:prstClr val="black"/>
                    </a:solidFill>
                  </a:endParaRPr>
                </a:p>
              </p:txBody>
            </p:sp>
          </p:grpSp>
        </p:grpSp>
        <p:sp>
          <p:nvSpPr>
            <p:cNvPr id="45" name="TextBox 44"/>
            <p:cNvSpPr txBox="1"/>
            <p:nvPr/>
          </p:nvSpPr>
          <p:spPr>
            <a:xfrm>
              <a:off x="6397532" y="4528623"/>
              <a:ext cx="1189156" cy="483285"/>
            </a:xfrm>
            <a:prstGeom prst="rect">
              <a:avLst/>
            </a:prstGeom>
            <a:noFill/>
          </p:spPr>
          <p:txBody>
            <a:bodyPr wrap="square" rtlCol="0" anchor="ctr">
              <a:spAutoFit/>
            </a:bodyPr>
            <a:lstStyle/>
            <a:p>
              <a:pPr algn="ctr"/>
              <a:r>
                <a:rPr lang="en-US" sz="1600" b="1" kern="0" dirty="0">
                  <a:latin typeface="Arial" panose="020B0604020202020204" pitchFamily="34" charset="0"/>
                  <a:cs typeface="Arial" panose="020B0604020202020204" pitchFamily="34" charset="0"/>
                </a:rPr>
                <a:t>April/May  2020</a:t>
              </a:r>
            </a:p>
          </p:txBody>
        </p:sp>
      </p:grpSp>
      <p:grpSp>
        <p:nvGrpSpPr>
          <p:cNvPr id="50" name="Group 49"/>
          <p:cNvGrpSpPr/>
          <p:nvPr/>
        </p:nvGrpSpPr>
        <p:grpSpPr>
          <a:xfrm>
            <a:off x="4941463" y="4096659"/>
            <a:ext cx="3112615" cy="1223889"/>
            <a:chOff x="4027695" y="2057401"/>
            <a:chExt cx="2372881" cy="2071605"/>
          </a:xfrm>
        </p:grpSpPr>
        <p:sp>
          <p:nvSpPr>
            <p:cNvPr id="51" name="TextBox 50"/>
            <p:cNvSpPr txBox="1"/>
            <p:nvPr/>
          </p:nvSpPr>
          <p:spPr>
            <a:xfrm>
              <a:off x="4027695" y="2057401"/>
              <a:ext cx="1708668" cy="455607"/>
            </a:xfrm>
            <a:prstGeom prst="rect">
              <a:avLst/>
            </a:prstGeom>
            <a:noFill/>
          </p:spPr>
          <p:txBody>
            <a:bodyPr wrap="square" rtlCol="0">
              <a:spAutoFit/>
            </a:bodyPr>
            <a:lstStyle/>
            <a:p>
              <a:endParaRPr lang="en-US" sz="1600" kern="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52" name="TextBox 51"/>
            <p:cNvSpPr txBox="1"/>
            <p:nvPr/>
          </p:nvSpPr>
          <p:spPr>
            <a:xfrm>
              <a:off x="4838291" y="2930809"/>
              <a:ext cx="1562285" cy="1198197"/>
            </a:xfrm>
            <a:prstGeom prst="rect">
              <a:avLst/>
            </a:prstGeom>
            <a:noFill/>
          </p:spPr>
          <p:txBody>
            <a:bodyPr wrap="square" rtlCol="0">
              <a:spAutoFit/>
            </a:bodyPr>
            <a:lstStyle/>
            <a:p>
              <a:r>
                <a:rPr lang="en-US" sz="2000" dirty="0">
                  <a:solidFill>
                    <a:schemeClr val="tx1">
                      <a:lumMod val="75000"/>
                      <a:lumOff val="25000"/>
                    </a:schemeClr>
                  </a:solidFill>
                  <a:latin typeface="Arial" panose="020B0604020202020204" pitchFamily="34" charset="0"/>
                  <a:cs typeface="Arial" panose="020B0604020202020204" pitchFamily="34" charset="0"/>
                </a:rPr>
                <a:t>Publication of Exposure Draft</a:t>
              </a:r>
            </a:p>
          </p:txBody>
        </p:sp>
      </p:grpSp>
      <p:sp>
        <p:nvSpPr>
          <p:cNvPr id="53" name="Title 1">
            <a:extLst>
              <a:ext uri="{FF2B5EF4-FFF2-40B4-BE49-F238E27FC236}">
                <a16:creationId xmlns:a16="http://schemas.microsoft.com/office/drawing/2014/main" id="{B215E862-CC3F-4208-96F8-EF3141D7BC13}"/>
              </a:ext>
            </a:extLst>
          </p:cNvPr>
          <p:cNvSpPr txBox="1">
            <a:spLocks/>
          </p:cNvSpPr>
          <p:nvPr/>
        </p:nvSpPr>
        <p:spPr>
          <a:xfrm>
            <a:off x="0" y="569384"/>
            <a:ext cx="12192000" cy="539749"/>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463284">
              <a:lnSpc>
                <a:spcPts val="3200"/>
              </a:lnSpc>
            </a:pPr>
            <a:r>
              <a:rPr lang="en-US" sz="2400" b="1" dirty="0"/>
              <a:t>Way Forward</a:t>
            </a:r>
          </a:p>
        </p:txBody>
      </p:sp>
      <p:sp>
        <p:nvSpPr>
          <p:cNvPr id="2" name="Rectangle 1">
            <a:extLst>
              <a:ext uri="{FF2B5EF4-FFF2-40B4-BE49-F238E27FC236}">
                <a16:creationId xmlns:a16="http://schemas.microsoft.com/office/drawing/2014/main" id="{0DC1A3A9-0884-4336-BB93-8FD2C47E70D5}"/>
              </a:ext>
            </a:extLst>
          </p:cNvPr>
          <p:cNvSpPr/>
          <p:nvPr/>
        </p:nvSpPr>
        <p:spPr>
          <a:xfrm>
            <a:off x="922573" y="2815345"/>
            <a:ext cx="2564678" cy="707886"/>
          </a:xfrm>
          <a:prstGeom prst="rect">
            <a:avLst/>
          </a:prstGeom>
        </p:spPr>
        <p:txBody>
          <a:bodyPr wrap="square">
            <a:spAutoFit/>
          </a:bodyPr>
          <a:lstStyle/>
          <a:p>
            <a:r>
              <a:rPr lang="en-US" sz="2000" dirty="0">
                <a:solidFill>
                  <a:schemeClr val="tx1">
                    <a:lumMod val="75000"/>
                    <a:lumOff val="25000"/>
                  </a:schemeClr>
                </a:solidFill>
                <a:latin typeface="Arial" panose="020B0604020202020204" pitchFamily="34" charset="0"/>
                <a:cs typeface="Arial" panose="020B0604020202020204" pitchFamily="34" charset="0"/>
              </a:rPr>
              <a:t>Present full draft to IAASB</a:t>
            </a:r>
          </a:p>
        </p:txBody>
      </p:sp>
    </p:spTree>
    <p:extLst>
      <p:ext uri="{BB962C8B-B14F-4D97-AF65-F5344CB8AC3E}">
        <p14:creationId xmlns:p14="http://schemas.microsoft.com/office/powerpoint/2010/main" val="1183467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16753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6.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7.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9385</TotalTime>
  <Words>1665</Words>
  <Application>Microsoft Office PowerPoint</Application>
  <PresentationFormat>Widescreen</PresentationFormat>
  <Paragraphs>259</Paragraphs>
  <Slides>34</Slides>
  <Notes>17</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34</vt:i4>
      </vt:variant>
    </vt:vector>
  </HeadingPairs>
  <TitlesOfParts>
    <vt:vector size="45" baseType="lpstr">
      <vt:lpstr>Arial</vt:lpstr>
      <vt:lpstr>Arial Narrow</vt:lpstr>
      <vt:lpstr>Calibri</vt:lpstr>
      <vt:lpstr>Calibri Light</vt:lpstr>
      <vt:lpstr>1_Custom Design</vt:lpstr>
      <vt:lpstr>Custom Design</vt:lpstr>
      <vt:lpstr>2_Custom Design</vt:lpstr>
      <vt:lpstr>3_Custom Design</vt:lpstr>
      <vt:lpstr>4_Office Theme</vt:lpstr>
      <vt:lpstr>Office Theme</vt:lpstr>
      <vt:lpstr>1_Office Theme</vt:lpstr>
      <vt:lpstr>ISA 600 – Group Audits</vt:lpstr>
      <vt:lpstr>Task Force Members and Staff</vt:lpstr>
      <vt:lpstr>Objectives</vt:lpstr>
      <vt:lpstr>Overview </vt:lpstr>
      <vt:lpstr> </vt:lpstr>
      <vt:lpstr>Outreach</vt:lpstr>
      <vt:lpstr>Outreach</vt:lpstr>
      <vt:lpstr>Outreach and Work Performed Since June Board Meeting</vt:lpstr>
      <vt:lpstr> </vt:lpstr>
      <vt:lpstr>Consultative Advisory Group</vt:lpstr>
      <vt:lpstr> </vt:lpstr>
      <vt:lpstr>Public Interest Issues</vt:lpstr>
      <vt:lpstr>Matter for IAASB Consideration</vt:lpstr>
      <vt:lpstr>PowerPoint Presentation</vt:lpstr>
      <vt:lpstr>Special Considerations</vt:lpstr>
      <vt:lpstr>Scope and Structure of the Standard</vt:lpstr>
      <vt:lpstr>Matter for IAASB Consideration</vt:lpstr>
      <vt:lpstr>PowerPoint Presentation</vt:lpstr>
      <vt:lpstr>Access Issues</vt:lpstr>
      <vt:lpstr>Matter for IAASB Consideration</vt:lpstr>
      <vt:lpstr>PowerPoint Presentation</vt:lpstr>
      <vt:lpstr>Matter for IAASB Consideration</vt:lpstr>
      <vt:lpstr>PowerPoint Presentation</vt:lpstr>
      <vt:lpstr>Matter for IAASB Consideration</vt:lpstr>
      <vt:lpstr>PowerPoint Presentation</vt:lpstr>
      <vt:lpstr>PowerPoint Presentation</vt:lpstr>
      <vt:lpstr>Materiality </vt:lpstr>
      <vt:lpstr>Matter for IAASB Consideration</vt:lpstr>
      <vt:lpstr>PowerPoint Presentation</vt:lpstr>
      <vt:lpstr>Stand Back Requirements</vt:lpstr>
      <vt:lpstr>Matter for IAASB Consideration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Armand Kotze</dc:creator>
  <cp:lastModifiedBy>Jasper van den Hout</cp:lastModifiedBy>
  <cp:revision>737</cp:revision>
  <cp:lastPrinted>2019-08-30T14:32:21Z</cp:lastPrinted>
  <dcterms:created xsi:type="dcterms:W3CDTF">2018-10-18T19:25:41Z</dcterms:created>
  <dcterms:modified xsi:type="dcterms:W3CDTF">2019-09-18T19:43:32Z</dcterms:modified>
</cp:coreProperties>
</file>