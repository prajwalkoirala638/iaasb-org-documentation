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6.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 id="2147483672" r:id="rId2"/>
    <p:sldMasterId id="2147483696" r:id="rId3"/>
    <p:sldMasterId id="2147483708" r:id="rId4"/>
    <p:sldMasterId id="2147483816" r:id="rId5"/>
    <p:sldMasterId id="2147483844" r:id="rId6"/>
    <p:sldMasterId id="2147483856" r:id="rId7"/>
  </p:sldMasterIdLst>
  <p:notesMasterIdLst>
    <p:notesMasterId r:id="rId30"/>
  </p:notesMasterIdLst>
  <p:sldIdLst>
    <p:sldId id="419" r:id="rId8"/>
    <p:sldId id="524" r:id="rId9"/>
    <p:sldId id="346" r:id="rId10"/>
    <p:sldId id="526" r:id="rId11"/>
    <p:sldId id="531" r:id="rId12"/>
    <p:sldId id="532" r:id="rId13"/>
    <p:sldId id="384" r:id="rId14"/>
    <p:sldId id="521" r:id="rId15"/>
    <p:sldId id="522" r:id="rId16"/>
    <p:sldId id="527" r:id="rId17"/>
    <p:sldId id="510" r:id="rId18"/>
    <p:sldId id="523" r:id="rId19"/>
    <p:sldId id="530" r:id="rId20"/>
    <p:sldId id="499" r:id="rId21"/>
    <p:sldId id="528" r:id="rId22"/>
    <p:sldId id="520" r:id="rId23"/>
    <p:sldId id="515" r:id="rId24"/>
    <p:sldId id="529" r:id="rId25"/>
    <p:sldId id="519" r:id="rId26"/>
    <p:sldId id="491" r:id="rId27"/>
    <p:sldId id="518" r:id="rId28"/>
    <p:sldId id="394" r:id="rId29"/>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Jasper van den Hout" initials="JvdH" lastIdx="1" clrIdx="6">
    <p:extLst>
      <p:ext uri="{19B8F6BF-5375-455C-9EA6-DF929625EA0E}">
        <p15:presenceInfo xmlns:p15="http://schemas.microsoft.com/office/powerpoint/2012/main" userId="S::JaspervandenHout@iaasb.org::055bbbd2-5046-47f6-8263-b7d8da73be0a" providerId="AD"/>
      </p:ext>
    </p:extLst>
  </p:cmAuthor>
  <p:cmAuthor id="1" name="Megan Zietsman" initials="MZ" lastIdx="62" clrIdx="0">
    <p:extLst>
      <p:ext uri="{19B8F6BF-5375-455C-9EA6-DF929625EA0E}">
        <p15:presenceInfo xmlns:p15="http://schemas.microsoft.com/office/powerpoint/2012/main" userId="Megan Zietsman" providerId="None"/>
      </p:ext>
    </p:extLst>
  </p:cmAuthor>
  <p:cmAuthor id="2" name="Dan Montgomery" initials="DM" lastIdx="2" clrIdx="1">
    <p:extLst>
      <p:ext uri="{19B8F6BF-5375-455C-9EA6-DF929625EA0E}">
        <p15:presenceInfo xmlns:p15="http://schemas.microsoft.com/office/powerpoint/2012/main" userId="8ba5e3d143c5e0b2" providerId="Windows Live"/>
      </p:ext>
    </p:extLst>
  </p:cmAuthor>
  <p:cmAuthor id="3" name="Natalie Klonaridis" initials="NK" lastIdx="14" clrIdx="2">
    <p:extLst>
      <p:ext uri="{19B8F6BF-5375-455C-9EA6-DF929625EA0E}">
        <p15:presenceInfo xmlns:p15="http://schemas.microsoft.com/office/powerpoint/2012/main" userId="S-1-5-21-1801674531-1972579041-839522115-13323" providerId="AD"/>
      </p:ext>
    </p:extLst>
  </p:cmAuthor>
  <p:cmAuthor id="4" name="James Grosvenor" initials="JG" lastIdx="2" clrIdx="3">
    <p:extLst>
      <p:ext uri="{19B8F6BF-5375-455C-9EA6-DF929625EA0E}">
        <p15:presenceInfo xmlns:p15="http://schemas.microsoft.com/office/powerpoint/2012/main" userId="S-1-5-21-1801674531-1972579041-839522115-17641" providerId="AD"/>
      </p:ext>
    </p:extLst>
  </p:cmAuthor>
  <p:cmAuthor id="5" name="BJ" initials="BJ" lastIdx="4" clrIdx="4">
    <p:extLst>
      <p:ext uri="{19B8F6BF-5375-455C-9EA6-DF929625EA0E}">
        <p15:presenceInfo xmlns:p15="http://schemas.microsoft.com/office/powerpoint/2012/main" userId="BJ" providerId="None"/>
      </p:ext>
    </p:extLst>
  </p:cmAuthor>
  <p:cmAuthor id="6" name="Willie Botha" initials="WB" lastIdx="2" clrIdx="5">
    <p:extLst>
      <p:ext uri="{19B8F6BF-5375-455C-9EA6-DF929625EA0E}">
        <p15:presenceInfo xmlns:p15="http://schemas.microsoft.com/office/powerpoint/2012/main" userId="S::WillieBotha@iaasb.org::1d64e684-352d-424c-a1f4-5d6d7c4ec4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3E1"/>
    <a:srgbClr val="0089CF"/>
    <a:srgbClr val="0071BC"/>
    <a:srgbClr val="005BAA"/>
    <a:srgbClr val="0079C2"/>
    <a:srgbClr val="009ADB"/>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87304" autoAdjust="0"/>
  </p:normalViewPr>
  <p:slideViewPr>
    <p:cSldViewPr snapToGrid="0">
      <p:cViewPr varScale="1">
        <p:scale>
          <a:sx n="75" d="100"/>
          <a:sy n="75" d="100"/>
        </p:scale>
        <p:origin x="88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AC2-405B-8B34-29DD970700C5}"/>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AC2-405B-8B34-29DD970700C5}"/>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4AC2-405B-8B34-29DD970700C5}"/>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4AC2-405B-8B34-29DD970700C5}"/>
              </c:ext>
            </c:extLst>
          </c:dPt>
          <c:dPt>
            <c:idx val="4"/>
            <c:bubble3D val="0"/>
            <c:explosion val="1"/>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4AC2-405B-8B34-29DD970700C5}"/>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4AC2-405B-8B34-29DD970700C5}"/>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F-4AC2-405B-8B34-29DD970700C5}"/>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Sheet1!$A$2:$A$6</c:f>
              <c:strCache>
                <c:ptCount val="5"/>
                <c:pt idx="0">
                  <c:v>Regulators and Oversight Authorities </c:v>
                </c:pt>
                <c:pt idx="1">
                  <c:v>National Auditing Standard Setters</c:v>
                </c:pt>
                <c:pt idx="2">
                  <c:v>Accounting Firms </c:v>
                </c:pt>
                <c:pt idx="3">
                  <c:v>Member Bodies and Other Professional Organizations</c:v>
                </c:pt>
                <c:pt idx="4">
                  <c:v>Academics</c:v>
                </c:pt>
              </c:strCache>
            </c:strRef>
          </c:cat>
          <c:val>
            <c:numRef>
              <c:f>Sheet1!$B$2:$B$6</c:f>
              <c:numCache>
                <c:formatCode>General</c:formatCode>
                <c:ptCount val="5"/>
                <c:pt idx="0">
                  <c:v>8</c:v>
                </c:pt>
                <c:pt idx="1">
                  <c:v>9</c:v>
                </c:pt>
                <c:pt idx="2">
                  <c:v>9</c:v>
                </c:pt>
                <c:pt idx="3">
                  <c:v>15</c:v>
                </c:pt>
                <c:pt idx="4">
                  <c:v>1</c:v>
                </c:pt>
              </c:numCache>
            </c:numRef>
          </c:val>
          <c:extLst>
            <c:ext xmlns:c16="http://schemas.microsoft.com/office/drawing/2014/chart" uri="{C3380CC4-5D6E-409C-BE32-E72D297353CC}">
              <c16:uniqueId val="{00000010-4AC2-405B-8B34-29DD970700C5}"/>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78C749C1-C883-4DFB-9C5B-4E3228FCEF81}">
      <dgm:prSet phldrT="[Text]" custT="1"/>
      <dgm:spPr/>
      <dgm:t>
        <a:bodyPr/>
        <a:lstStyle/>
        <a:p>
          <a:pPr algn="ctr"/>
          <a:r>
            <a:rPr lang="en-US" sz="2000" b="1" dirty="0">
              <a:latin typeface="Arial" panose="020B0604020202020204" pitchFamily="34" charset="0"/>
              <a:cs typeface="Arial" panose="020B0604020202020204" pitchFamily="34" charset="0"/>
            </a:rPr>
            <a:t>CAG Discussion</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4E57C338-51D3-4B1F-B4F8-9C66609F5D9E}">
      <dgm:prSet phldrT="[Text]" custT="1"/>
      <dgm:spPr>
        <a:solidFill>
          <a:srgbClr val="0089CF"/>
        </a:solidFill>
      </dgm:spPr>
      <dgm:t>
        <a:bodyPr/>
        <a:lstStyle/>
        <a:p>
          <a:r>
            <a:rPr lang="en-US" sz="2000" b="1" dirty="0">
              <a:latin typeface="Arial" panose="020B0604020202020204" pitchFamily="34" charset="0"/>
              <a:cs typeface="Arial" panose="020B0604020202020204" pitchFamily="34" charset="0"/>
            </a:rPr>
            <a:t>Draft Strategy</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for 2020–2023</a:t>
          </a: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14D66D36-AC0A-4928-9000-4FBB86066A19}">
      <dgm:prSet phldrT="[Text]" custT="1"/>
      <dgm:spPr/>
      <dgm:t>
        <a:bodyPr/>
        <a:lstStyle/>
        <a:p>
          <a:r>
            <a:rPr lang="en-US" sz="2000" b="1" dirty="0">
              <a:latin typeface="Arial" panose="020B0604020202020204" pitchFamily="34" charset="0"/>
              <a:cs typeface="Arial" panose="020B0604020202020204" pitchFamily="34" charset="0"/>
            </a:rPr>
            <a:t>Draft Work Plan</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for 2021–2022</a:t>
          </a: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74618AA-21E5-4F09-BF54-725CAD3C33E7}">
      <dgm:prSet phldrT="[Text]" custT="1"/>
      <dgm:spPr/>
      <dgm:t>
        <a:bodyPr/>
        <a:lstStyle/>
        <a:p>
          <a:r>
            <a:rPr lang="en-US" sz="2000" b="1" dirty="0">
              <a:latin typeface="Arial" panose="020B0604020202020204" pitchFamily="34" charset="0"/>
              <a:cs typeface="Arial" panose="020B0604020202020204" pitchFamily="34" charset="0"/>
            </a:rPr>
            <a:t>Draft Framework for Activities and Way Forward</a:t>
          </a:r>
        </a:p>
      </dgm:t>
    </dgm:pt>
    <dgm:pt modelId="{65EE6D9E-4C3D-44FD-85A5-F145A789F888}" type="parTrans" cxnId="{0ADE6BBE-E781-4357-9B40-CD3A6E9697D5}">
      <dgm:prSet/>
      <dgm:spPr/>
      <dgm:t>
        <a:bodyPr/>
        <a:lstStyle/>
        <a:p>
          <a:endParaRPr lang="en-US"/>
        </a:p>
      </dgm:t>
    </dgm:pt>
    <dgm:pt modelId="{08ECE219-19ED-4756-BF73-0E3709BAE153}" type="sibTrans" cxnId="{0ADE6BBE-E781-4357-9B40-CD3A6E9697D5}">
      <dgm:prSet/>
      <dgm:spPr/>
      <dgm:t>
        <a:bodyPr/>
        <a:lstStyle/>
        <a:p>
          <a:endParaRPr lang="en-US"/>
        </a:p>
      </dgm:t>
    </dgm:pt>
    <dgm:pt modelId="{72D3EE24-1F74-4243-A293-74BF3CD3E942}">
      <dgm:prSet phldrT="[Text]" custT="1"/>
      <dgm:spPr/>
      <dgm:t>
        <a:bodyPr/>
        <a:lstStyle/>
        <a:p>
          <a:pPr algn="ctr"/>
          <a:r>
            <a:rPr lang="en-US" sz="2000" b="1">
              <a:latin typeface="Arial" panose="020B0604020202020204" pitchFamily="34" charset="0"/>
              <a:cs typeface="Arial" panose="020B0604020202020204" pitchFamily="34" charset="0"/>
            </a:rPr>
            <a:t>High-level </a:t>
          </a:r>
          <a:r>
            <a:rPr lang="en-US" sz="2000" b="1" dirty="0">
              <a:latin typeface="Arial" panose="020B0604020202020204" pitchFamily="34" charset="0"/>
              <a:cs typeface="Arial" panose="020B0604020202020204" pitchFamily="34" charset="0"/>
            </a:rPr>
            <a:t>Summary of Respondents’ Comments</a:t>
          </a:r>
        </a:p>
      </dgm:t>
    </dgm:pt>
    <dgm:pt modelId="{1A8E9281-9EB6-4F49-BC14-81FF13F77BB5}" type="parTrans" cxnId="{52D1F93F-141A-4DBD-9536-68DA58E68E69}">
      <dgm:prSet/>
      <dgm:spPr/>
    </dgm:pt>
    <dgm:pt modelId="{A76F51DA-3CB9-4ADD-A928-04525CB121EF}" type="sibTrans" cxnId="{52D1F93F-141A-4DBD-9536-68DA58E68E69}">
      <dgm:prSet/>
      <dgm:spPr/>
    </dgm:pt>
    <dgm:pt modelId="{83E5B1CA-B483-457E-A8F0-C5E51F759FA7}" type="pres">
      <dgm:prSet presAssocID="{62E99C36-7D1C-4387-AF44-E7FCB3F4E37E}" presName="diagram" presStyleCnt="0">
        <dgm:presLayoutVars>
          <dgm:dir/>
          <dgm:resizeHandles val="exact"/>
        </dgm:presLayoutVars>
      </dgm:prSet>
      <dgm:spPr/>
    </dgm:pt>
    <dgm:pt modelId="{5D04C2F2-ACCF-4728-B8D6-6CAE4BD0793D}" type="pres">
      <dgm:prSet presAssocID="{78C749C1-C883-4DFB-9C5B-4E3228FCEF81}" presName="node" presStyleLbl="node1" presStyleIdx="0" presStyleCnt="5">
        <dgm:presLayoutVars>
          <dgm:bulletEnabled val="1"/>
        </dgm:presLayoutVars>
      </dgm:prSet>
      <dgm:spPr/>
    </dgm:pt>
    <dgm:pt modelId="{9DAE9A92-88E4-43E3-AD24-4850C1F1D53D}" type="pres">
      <dgm:prSet presAssocID="{DC6BC910-A94E-4716-881B-63FEF61AA658}" presName="sibTrans" presStyleCnt="0"/>
      <dgm:spPr/>
    </dgm:pt>
    <dgm:pt modelId="{44EEA960-A4B1-47E3-8A2F-FB38CA21A06F}" type="pres">
      <dgm:prSet presAssocID="{72D3EE24-1F74-4243-A293-74BF3CD3E942}" presName="node" presStyleLbl="node1" presStyleIdx="1" presStyleCnt="5">
        <dgm:presLayoutVars>
          <dgm:bulletEnabled val="1"/>
        </dgm:presLayoutVars>
      </dgm:prSet>
      <dgm:spPr/>
    </dgm:pt>
    <dgm:pt modelId="{6AC7DE37-9564-4742-9ED4-A9359D2CB708}" type="pres">
      <dgm:prSet presAssocID="{A76F51DA-3CB9-4ADD-A928-04525CB121EF}" presName="sibTrans" presStyleCnt="0"/>
      <dgm:spPr/>
    </dgm:pt>
    <dgm:pt modelId="{DB9B51CC-1A90-42FA-858E-E568DD86B563}" type="pres">
      <dgm:prSet presAssocID="{4E57C338-51D3-4B1F-B4F8-9C66609F5D9E}" presName="node" presStyleLbl="node1" presStyleIdx="2" presStyleCnt="5">
        <dgm:presLayoutVars>
          <dgm:bulletEnabled val="1"/>
        </dgm:presLayoutVars>
      </dgm:prSet>
      <dgm:spPr/>
    </dgm:pt>
    <dgm:pt modelId="{C903028C-6FBE-46B4-8053-A39EE25BD57C}" type="pres">
      <dgm:prSet presAssocID="{41425E7F-A94C-4EE9-8688-3D40A29C50CF}" presName="sibTrans" presStyleCnt="0"/>
      <dgm:spPr/>
    </dgm:pt>
    <dgm:pt modelId="{BDC979B9-F275-4001-B4D0-E79E9420E96E}" type="pres">
      <dgm:prSet presAssocID="{14D66D36-AC0A-4928-9000-4FBB86066A19}" presName="node" presStyleLbl="node1" presStyleIdx="3" presStyleCnt="5">
        <dgm:presLayoutVars>
          <dgm:bulletEnabled val="1"/>
        </dgm:presLayoutVars>
      </dgm:prSet>
      <dgm:spPr/>
    </dgm:pt>
    <dgm:pt modelId="{B5AE5AAF-6707-4BE8-B4BD-062A88DEDA97}" type="pres">
      <dgm:prSet presAssocID="{847B85FB-DC48-4CB2-843E-B4BCDD265C1E}" presName="sibTrans" presStyleCnt="0"/>
      <dgm:spPr/>
    </dgm:pt>
    <dgm:pt modelId="{6A493A84-DB72-47A1-AF63-4D5E4CDE9BBA}" type="pres">
      <dgm:prSet presAssocID="{874618AA-21E5-4F09-BF54-725CAD3C33E7}" presName="node" presStyleLbl="node1" presStyleIdx="4" presStyleCnt="5">
        <dgm:presLayoutVars>
          <dgm:bulletEnabled val="1"/>
        </dgm:presLayoutVars>
      </dgm:prSet>
      <dgm:spPr/>
    </dgm:pt>
  </dgm:ptLst>
  <dgm:cxnLst>
    <dgm:cxn modelId="{BB8F9127-6199-4C01-BC50-348447405C04}" srcId="{62E99C36-7D1C-4387-AF44-E7FCB3F4E37E}" destId="{4E57C338-51D3-4B1F-B4F8-9C66609F5D9E}" srcOrd="2" destOrd="0" parTransId="{ADC42DB5-B686-4B81-9DDE-65AA6D8D786E}" sibTransId="{41425E7F-A94C-4EE9-8688-3D40A29C50CF}"/>
    <dgm:cxn modelId="{52D1F93F-141A-4DBD-9536-68DA58E68E69}" srcId="{62E99C36-7D1C-4387-AF44-E7FCB3F4E37E}" destId="{72D3EE24-1F74-4243-A293-74BF3CD3E942}" srcOrd="1" destOrd="0" parTransId="{1A8E9281-9EB6-4F49-BC14-81FF13F77BB5}" sibTransId="{A76F51DA-3CB9-4ADD-A928-04525CB121EF}"/>
    <dgm:cxn modelId="{C1EA6960-D01B-4872-AF8D-E46506D1E362}" srcId="{62E99C36-7D1C-4387-AF44-E7FCB3F4E37E}" destId="{78C749C1-C883-4DFB-9C5B-4E3228FCEF81}" srcOrd="0" destOrd="0" parTransId="{C652904B-26BE-45F0-9E8B-D5236E1D1B4C}" sibTransId="{DC6BC910-A94E-4716-881B-63FEF61AA658}"/>
    <dgm:cxn modelId="{D593B566-FE67-4093-B5C5-EDC8DB1EFBAA}" type="presOf" srcId="{72D3EE24-1F74-4243-A293-74BF3CD3E942}" destId="{44EEA960-A4B1-47E3-8A2F-FB38CA21A06F}" srcOrd="0" destOrd="0" presId="urn:microsoft.com/office/officeart/2005/8/layout/default"/>
    <dgm:cxn modelId="{1BD7F253-246C-44DE-B0DF-D3D86882A1AD}" type="presOf" srcId="{62E99C36-7D1C-4387-AF44-E7FCB3F4E37E}" destId="{83E5B1CA-B483-457E-A8F0-C5E51F759FA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D5061A6-3419-41B3-B557-D56C3D7DB54E}" srcId="{62E99C36-7D1C-4387-AF44-E7FCB3F4E37E}" destId="{14D66D36-AC0A-4928-9000-4FBB86066A19}" srcOrd="3" destOrd="0" parTransId="{D84F1B13-CA57-44A0-965B-0D9B2DF84F4E}" sibTransId="{847B85FB-DC48-4CB2-843E-B4BCDD265C1E}"/>
    <dgm:cxn modelId="{1E4CD7AE-6115-46C3-B4AA-94E4CE09548F}" type="presOf" srcId="{874618AA-21E5-4F09-BF54-725CAD3C33E7}" destId="{6A493A84-DB72-47A1-AF63-4D5E4CDE9BBA}" srcOrd="0" destOrd="0" presId="urn:microsoft.com/office/officeart/2005/8/layout/default"/>
    <dgm:cxn modelId="{0ADE6BBE-E781-4357-9B40-CD3A6E9697D5}" srcId="{62E99C36-7D1C-4387-AF44-E7FCB3F4E37E}" destId="{874618AA-21E5-4F09-BF54-725CAD3C33E7}" srcOrd="4" destOrd="0" parTransId="{65EE6D9E-4C3D-44FD-85A5-F145A789F888}" sibTransId="{08ECE219-19ED-4756-BF73-0E3709BAE153}"/>
    <dgm:cxn modelId="{C833D5EA-8935-4206-AEBF-390DFC09060E}" type="presOf" srcId="{78C749C1-C883-4DFB-9C5B-4E3228FCEF81}" destId="{5D04C2F2-ACCF-4728-B8D6-6CAE4BD0793D}" srcOrd="0" destOrd="0" presId="urn:microsoft.com/office/officeart/2005/8/layout/default"/>
    <dgm:cxn modelId="{7D07A8FB-32A6-4C4D-B439-CA2E080666EC}" type="presOf" srcId="{4E57C338-51D3-4B1F-B4F8-9C66609F5D9E}" destId="{DB9B51CC-1A90-42FA-858E-E568DD86B563}" srcOrd="0" destOrd="0" presId="urn:microsoft.com/office/officeart/2005/8/layout/default"/>
    <dgm:cxn modelId="{B8F4E35C-674C-4CE5-A49E-15B0A234489C}" type="presParOf" srcId="{83E5B1CA-B483-457E-A8F0-C5E51F759FA7}" destId="{5D04C2F2-ACCF-4728-B8D6-6CAE4BD0793D}" srcOrd="0" destOrd="0" presId="urn:microsoft.com/office/officeart/2005/8/layout/default"/>
    <dgm:cxn modelId="{EFF3CFDF-8643-4EF1-A281-46DA456553A9}" type="presParOf" srcId="{83E5B1CA-B483-457E-A8F0-C5E51F759FA7}" destId="{9DAE9A92-88E4-43E3-AD24-4850C1F1D53D}" srcOrd="1" destOrd="0" presId="urn:microsoft.com/office/officeart/2005/8/layout/default"/>
    <dgm:cxn modelId="{2E65E515-D072-4C18-8824-2D8F025D7A23}" type="presParOf" srcId="{83E5B1CA-B483-457E-A8F0-C5E51F759FA7}" destId="{44EEA960-A4B1-47E3-8A2F-FB38CA21A06F}" srcOrd="2" destOrd="0" presId="urn:microsoft.com/office/officeart/2005/8/layout/default"/>
    <dgm:cxn modelId="{1954F602-782E-4214-95A9-F5A137A1D37A}" type="presParOf" srcId="{83E5B1CA-B483-457E-A8F0-C5E51F759FA7}" destId="{6AC7DE37-9564-4742-9ED4-A9359D2CB708}" srcOrd="3" destOrd="0" presId="urn:microsoft.com/office/officeart/2005/8/layout/default"/>
    <dgm:cxn modelId="{CA3613F7-52C0-4260-9E77-7FF4C08A6950}" type="presParOf" srcId="{83E5B1CA-B483-457E-A8F0-C5E51F759FA7}" destId="{DB9B51CC-1A90-42FA-858E-E568DD86B563}" srcOrd="4" destOrd="0" presId="urn:microsoft.com/office/officeart/2005/8/layout/default"/>
    <dgm:cxn modelId="{6555E0EE-FC00-4EA0-A2E1-A0499D30E8A3}" type="presParOf" srcId="{83E5B1CA-B483-457E-A8F0-C5E51F759FA7}" destId="{C903028C-6FBE-46B4-8053-A39EE25BD57C}" srcOrd="5" destOrd="0" presId="urn:microsoft.com/office/officeart/2005/8/layout/default"/>
    <dgm:cxn modelId="{FDDA5D00-FD4A-4B9C-A30E-BEB89A6F2D3F}" type="presParOf" srcId="{83E5B1CA-B483-457E-A8F0-C5E51F759FA7}" destId="{BDC979B9-F275-4001-B4D0-E79E9420E96E}" srcOrd="6" destOrd="0" presId="urn:microsoft.com/office/officeart/2005/8/layout/default"/>
    <dgm:cxn modelId="{89F990D5-7128-4C84-BA35-2BAF4EAC5D91}" type="presParOf" srcId="{83E5B1CA-B483-457E-A8F0-C5E51F759FA7}" destId="{B5AE5AAF-6707-4BE8-B4BD-062A88DEDA97}" srcOrd="7" destOrd="0" presId="urn:microsoft.com/office/officeart/2005/8/layout/default"/>
    <dgm:cxn modelId="{14B148F7-EA79-40F3-911B-14BE053E0216}" type="presParOf" srcId="{83E5B1CA-B483-457E-A8F0-C5E51F759FA7}" destId="{6A493A84-DB72-47A1-AF63-4D5E4CDE9BBA}"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78C749C1-C883-4DFB-9C5B-4E3228FCEF81}">
      <dgm:prSet phldrT="[Text]" custT="1"/>
      <dgm:spPr>
        <a:solidFill>
          <a:srgbClr val="005BAA"/>
        </a:solidFill>
      </dgm:spPr>
      <dgm:t>
        <a:bodyPr/>
        <a:lstStyle/>
        <a:p>
          <a:pPr algn="ctr"/>
          <a:r>
            <a:rPr lang="en-US" sz="4000" b="1" dirty="0">
              <a:latin typeface="Arial" panose="020B0604020202020204" pitchFamily="34" charset="0"/>
              <a:cs typeface="Arial" panose="020B0604020202020204" pitchFamily="34" charset="0"/>
            </a:rPr>
            <a:t>CAG Discussion</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5D04C2F2-ACCF-4728-B8D6-6CAE4BD0793D}" type="pres">
      <dgm:prSet presAssocID="{78C749C1-C883-4DFB-9C5B-4E3228FCEF81}" presName="node" presStyleLbl="node1" presStyleIdx="0" presStyleCnt="1" custScaleX="57955" custScaleY="48296" custLinFactNeighborX="276" custLinFactNeighborY="-613">
        <dgm:presLayoutVars>
          <dgm:bulletEnabled val="1"/>
        </dgm:presLayoutVars>
      </dgm:prSet>
      <dgm:spPr/>
    </dgm:pt>
  </dgm:ptLst>
  <dgm:cxnLst>
    <dgm:cxn modelId="{C1EA6960-D01B-4872-AF8D-E46506D1E362}" srcId="{62E99C36-7D1C-4387-AF44-E7FCB3F4E37E}" destId="{78C749C1-C883-4DFB-9C5B-4E3228FCEF81}" srcOrd="0" destOrd="0" parTransId="{C652904B-26BE-45F0-9E8B-D5236E1D1B4C}" sibTransId="{DC6BC910-A94E-4716-881B-63FEF61AA658}"/>
    <dgm:cxn modelId="{1BD7F253-246C-44DE-B0DF-D3D86882A1AD}" type="presOf" srcId="{62E99C36-7D1C-4387-AF44-E7FCB3F4E37E}" destId="{83E5B1CA-B483-457E-A8F0-C5E51F759FA7}" srcOrd="0" destOrd="0" presId="urn:microsoft.com/office/officeart/2005/8/layout/default"/>
    <dgm:cxn modelId="{C833D5EA-8935-4206-AEBF-390DFC09060E}" type="presOf" srcId="{78C749C1-C883-4DFB-9C5B-4E3228FCEF81}" destId="{5D04C2F2-ACCF-4728-B8D6-6CAE4BD0793D}" srcOrd="0" destOrd="0" presId="urn:microsoft.com/office/officeart/2005/8/layout/default"/>
    <dgm:cxn modelId="{B8F4E35C-674C-4CE5-A49E-15B0A234489C}" type="presParOf" srcId="{83E5B1CA-B483-457E-A8F0-C5E51F759FA7}" destId="{5D04C2F2-ACCF-4728-B8D6-6CAE4BD0793D}"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78C749C1-C883-4DFB-9C5B-4E3228FCEF81}">
      <dgm:prSet phldrT="[Text]" custT="1"/>
      <dgm:spPr>
        <a:solidFill>
          <a:srgbClr val="0071BC"/>
        </a:solidFill>
      </dgm:spPr>
      <dgm:t>
        <a:bodyPr/>
        <a:lstStyle/>
        <a:p>
          <a:pPr algn="ctr"/>
          <a:r>
            <a:rPr lang="en-US" sz="4000" b="1" dirty="0">
              <a:latin typeface="Arial" panose="020B0604020202020204" pitchFamily="34" charset="0"/>
              <a:cs typeface="Arial" panose="020B0604020202020204" pitchFamily="34" charset="0"/>
            </a:rPr>
            <a:t>High-level Summary of Respondents’ Comments</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5D04C2F2-ACCF-4728-B8D6-6CAE4BD0793D}" type="pres">
      <dgm:prSet presAssocID="{78C749C1-C883-4DFB-9C5B-4E3228FCEF81}" presName="node" presStyleLbl="node1" presStyleIdx="0" presStyleCnt="1" custScaleX="57955" custScaleY="48296" custLinFactNeighborX="276" custLinFactNeighborY="-613">
        <dgm:presLayoutVars>
          <dgm:bulletEnabled val="1"/>
        </dgm:presLayoutVars>
      </dgm:prSet>
      <dgm:spPr/>
    </dgm:pt>
  </dgm:ptLst>
  <dgm:cxnLst>
    <dgm:cxn modelId="{C1EA6960-D01B-4872-AF8D-E46506D1E362}" srcId="{62E99C36-7D1C-4387-AF44-E7FCB3F4E37E}" destId="{78C749C1-C883-4DFB-9C5B-4E3228FCEF81}" srcOrd="0" destOrd="0" parTransId="{C652904B-26BE-45F0-9E8B-D5236E1D1B4C}" sibTransId="{DC6BC910-A94E-4716-881B-63FEF61AA658}"/>
    <dgm:cxn modelId="{1BD7F253-246C-44DE-B0DF-D3D86882A1AD}" type="presOf" srcId="{62E99C36-7D1C-4387-AF44-E7FCB3F4E37E}" destId="{83E5B1CA-B483-457E-A8F0-C5E51F759FA7}" srcOrd="0" destOrd="0" presId="urn:microsoft.com/office/officeart/2005/8/layout/default"/>
    <dgm:cxn modelId="{C833D5EA-8935-4206-AEBF-390DFC09060E}" type="presOf" srcId="{78C749C1-C883-4DFB-9C5B-4E3228FCEF81}" destId="{5D04C2F2-ACCF-4728-B8D6-6CAE4BD0793D}" srcOrd="0" destOrd="0" presId="urn:microsoft.com/office/officeart/2005/8/layout/default"/>
    <dgm:cxn modelId="{B8F4E35C-674C-4CE5-A49E-15B0A234489C}" type="presParOf" srcId="{83E5B1CA-B483-457E-A8F0-C5E51F759FA7}" destId="{5D04C2F2-ACCF-4728-B8D6-6CAE4BD0793D}"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4E57C338-51D3-4B1F-B4F8-9C66609F5D9E}">
      <dgm:prSet phldrT="[Text]" custT="1"/>
      <dgm:spPr>
        <a:solidFill>
          <a:srgbClr val="0089CF"/>
        </a:solidFill>
      </dgm:spPr>
      <dgm:t>
        <a:bodyPr/>
        <a:lstStyle/>
        <a:p>
          <a:r>
            <a:rPr lang="en-US" sz="4000" b="1" dirty="0">
              <a:latin typeface="Arial" panose="020B0604020202020204" pitchFamily="34" charset="0"/>
              <a:cs typeface="Arial" panose="020B0604020202020204" pitchFamily="34" charset="0"/>
            </a:rPr>
            <a:t>Draft Strategy for    2020–2023</a:t>
          </a: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DB9B51CC-1A90-42FA-858E-E568DD86B563}" type="pres">
      <dgm:prSet presAssocID="{4E57C338-51D3-4B1F-B4F8-9C66609F5D9E}" presName="node" presStyleLbl="node1" presStyleIdx="0" presStyleCnt="1" custScaleX="57955" custScaleY="48296" custLinFactNeighborX="542">
        <dgm:presLayoutVars>
          <dgm:bulletEnabled val="1"/>
        </dgm:presLayoutVars>
      </dgm:prSet>
      <dgm:spPr/>
    </dgm:pt>
  </dgm:ptLst>
  <dgm:cxnLst>
    <dgm:cxn modelId="{BB8F9127-6199-4C01-BC50-348447405C04}" srcId="{62E99C36-7D1C-4387-AF44-E7FCB3F4E37E}" destId="{4E57C338-51D3-4B1F-B4F8-9C66609F5D9E}" srcOrd="0" destOrd="0" parTransId="{ADC42DB5-B686-4B81-9DDE-65AA6D8D786E}" sibTransId="{41425E7F-A94C-4EE9-8688-3D40A29C50CF}"/>
    <dgm:cxn modelId="{1BD7F253-246C-44DE-B0DF-D3D86882A1AD}" type="presOf" srcId="{62E99C36-7D1C-4387-AF44-E7FCB3F4E37E}" destId="{83E5B1CA-B483-457E-A8F0-C5E51F759FA7}" srcOrd="0" destOrd="0" presId="urn:microsoft.com/office/officeart/2005/8/layout/default"/>
    <dgm:cxn modelId="{7D07A8FB-32A6-4C4D-B439-CA2E080666EC}" type="presOf" srcId="{4E57C338-51D3-4B1F-B4F8-9C66609F5D9E}" destId="{DB9B51CC-1A90-42FA-858E-E568DD86B563}" srcOrd="0" destOrd="0" presId="urn:microsoft.com/office/officeart/2005/8/layout/default"/>
    <dgm:cxn modelId="{CA3613F7-52C0-4260-9E77-7FF4C08A6950}" type="presParOf" srcId="{83E5B1CA-B483-457E-A8F0-C5E51F759FA7}" destId="{DB9B51CC-1A90-42FA-858E-E568DD86B563}"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4D66D36-AC0A-4928-9000-4FBB86066A19}">
      <dgm:prSet phldrT="[Text]" custT="1"/>
      <dgm:spPr>
        <a:solidFill>
          <a:srgbClr val="00A3E1"/>
        </a:solidFill>
      </dgm:spPr>
      <dgm:t>
        <a:bodyPr/>
        <a:lstStyle/>
        <a:p>
          <a:r>
            <a:rPr lang="en-US" sz="4000" b="1" dirty="0">
              <a:latin typeface="Arial" panose="020B0604020202020204" pitchFamily="34" charset="0"/>
              <a:cs typeface="Arial" panose="020B0604020202020204" pitchFamily="34" charset="0"/>
            </a:rPr>
            <a:t>Draft Work Plan for 2021–2022</a:t>
          </a: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BDC979B9-F275-4001-B4D0-E79E9420E96E}" type="pres">
      <dgm:prSet presAssocID="{14D66D36-AC0A-4928-9000-4FBB86066A19}"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D5061A6-3419-41B3-B557-D56C3D7DB54E}" srcId="{62E99C36-7D1C-4387-AF44-E7FCB3F4E37E}" destId="{14D66D36-AC0A-4928-9000-4FBB86066A19}" srcOrd="0" destOrd="0" parTransId="{D84F1B13-CA57-44A0-965B-0D9B2DF84F4E}" sibTransId="{847B85FB-DC48-4CB2-843E-B4BCDD265C1E}"/>
    <dgm:cxn modelId="{FDDA5D00-FD4A-4B9C-A30E-BEB89A6F2D3F}" type="presParOf" srcId="{83E5B1CA-B483-457E-A8F0-C5E51F759FA7}" destId="{BDC979B9-F275-4001-B4D0-E79E9420E96E}"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874618AA-21E5-4F09-BF54-725CAD3C33E7}">
      <dgm:prSet phldrT="[Text]" custT="1"/>
      <dgm:spPr>
        <a:solidFill>
          <a:schemeClr val="bg2"/>
        </a:solidFill>
      </dgm:spPr>
      <dgm:t>
        <a:bodyPr/>
        <a:lstStyle/>
        <a:p>
          <a:r>
            <a:rPr lang="en-US" sz="4000" b="1" dirty="0">
              <a:latin typeface="Arial" panose="020B0604020202020204" pitchFamily="34" charset="0"/>
              <a:cs typeface="Arial" panose="020B0604020202020204" pitchFamily="34" charset="0"/>
            </a:rPr>
            <a:t>Draft Framework for Activities and Way Forward</a:t>
          </a:r>
        </a:p>
      </dgm:t>
    </dgm:pt>
    <dgm:pt modelId="{65EE6D9E-4C3D-44FD-85A5-F145A789F888}" type="parTrans" cxnId="{0ADE6BBE-E781-4357-9B40-CD3A6E9697D5}">
      <dgm:prSet/>
      <dgm:spPr/>
      <dgm:t>
        <a:bodyPr/>
        <a:lstStyle/>
        <a:p>
          <a:endParaRPr lang="en-US"/>
        </a:p>
      </dgm:t>
    </dgm:pt>
    <dgm:pt modelId="{08ECE219-19ED-4756-BF73-0E3709BAE153}" type="sibTrans" cxnId="{0ADE6BBE-E781-4357-9B40-CD3A6E9697D5}">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6A493A84-DB72-47A1-AF63-4D5E4CDE9BBA}" type="pres">
      <dgm:prSet presAssocID="{874618AA-21E5-4F09-BF54-725CAD3C33E7}"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1E4CD7AE-6115-46C3-B4AA-94E4CE09548F}" type="presOf" srcId="{874618AA-21E5-4F09-BF54-725CAD3C33E7}" destId="{6A493A84-DB72-47A1-AF63-4D5E4CDE9BBA}" srcOrd="0" destOrd="0" presId="urn:microsoft.com/office/officeart/2005/8/layout/default"/>
    <dgm:cxn modelId="{0ADE6BBE-E781-4357-9B40-CD3A6E9697D5}" srcId="{62E99C36-7D1C-4387-AF44-E7FCB3F4E37E}" destId="{874618AA-21E5-4F09-BF54-725CAD3C33E7}" srcOrd="0" destOrd="0" parTransId="{65EE6D9E-4C3D-44FD-85A5-F145A789F888}" sibTransId="{08ECE219-19ED-4756-BF73-0E3709BAE153}"/>
    <dgm:cxn modelId="{14B148F7-EA79-40F3-911B-14BE053E0216}" type="presParOf" srcId="{83E5B1CA-B483-457E-A8F0-C5E51F759FA7}" destId="{6A493A84-DB72-47A1-AF63-4D5E4CDE9BBA}"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4C2F2-ACCF-4728-B8D6-6CAE4BD0793D}">
      <dsp:nvSpPr>
        <dsp:cNvPr id="0" name=""/>
        <dsp:cNvSpPr/>
      </dsp:nvSpPr>
      <dsp:spPr>
        <a:xfrm>
          <a:off x="0" y="189767"/>
          <a:ext cx="3451376" cy="2070826"/>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CAG Discussion</a:t>
          </a:r>
        </a:p>
      </dsp:txBody>
      <dsp:txXfrm>
        <a:off x="0" y="189767"/>
        <a:ext cx="3451376" cy="2070826"/>
      </dsp:txXfrm>
    </dsp:sp>
    <dsp:sp modelId="{44EEA960-A4B1-47E3-8A2F-FB38CA21A06F}">
      <dsp:nvSpPr>
        <dsp:cNvPr id="0" name=""/>
        <dsp:cNvSpPr/>
      </dsp:nvSpPr>
      <dsp:spPr>
        <a:xfrm>
          <a:off x="3796514" y="189767"/>
          <a:ext cx="3451376" cy="2070826"/>
        </a:xfrm>
        <a:prstGeom prst="rect">
          <a:avLst/>
        </a:prstGeom>
        <a:solidFill>
          <a:schemeClr val="accent3">
            <a:hueOff val="-229343"/>
            <a:satOff val="0"/>
            <a:lumOff val="35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Arial" panose="020B0604020202020204" pitchFamily="34" charset="0"/>
              <a:cs typeface="Arial" panose="020B0604020202020204" pitchFamily="34" charset="0"/>
            </a:rPr>
            <a:t>High-level </a:t>
          </a:r>
          <a:r>
            <a:rPr lang="en-US" sz="2000" b="1" kern="1200" dirty="0">
              <a:latin typeface="Arial" panose="020B0604020202020204" pitchFamily="34" charset="0"/>
              <a:cs typeface="Arial" panose="020B0604020202020204" pitchFamily="34" charset="0"/>
            </a:rPr>
            <a:t>Summary of Respondents’ Comments</a:t>
          </a:r>
        </a:p>
      </dsp:txBody>
      <dsp:txXfrm>
        <a:off x="3796514" y="189767"/>
        <a:ext cx="3451376" cy="2070826"/>
      </dsp:txXfrm>
    </dsp:sp>
    <dsp:sp modelId="{DB9B51CC-1A90-42FA-858E-E568DD86B563}">
      <dsp:nvSpPr>
        <dsp:cNvPr id="0" name=""/>
        <dsp:cNvSpPr/>
      </dsp:nvSpPr>
      <dsp:spPr>
        <a:xfrm>
          <a:off x="7593029" y="189767"/>
          <a:ext cx="3451376" cy="2070826"/>
        </a:xfrm>
        <a:prstGeom prst="rect">
          <a:avLst/>
        </a:prstGeom>
        <a:solidFill>
          <a:srgbClr val="0089C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Draft Strategy</a:t>
          </a:r>
          <a:br>
            <a:rPr lang="en-US" sz="2000" b="1" kern="1200" dirty="0">
              <a:latin typeface="Arial" panose="020B0604020202020204" pitchFamily="34" charset="0"/>
              <a:cs typeface="Arial" panose="020B0604020202020204" pitchFamily="34" charset="0"/>
            </a:rPr>
          </a:br>
          <a:r>
            <a:rPr lang="en-US" sz="2000" b="1" kern="1200" dirty="0">
              <a:latin typeface="Arial" panose="020B0604020202020204" pitchFamily="34" charset="0"/>
              <a:cs typeface="Arial" panose="020B0604020202020204" pitchFamily="34" charset="0"/>
            </a:rPr>
            <a:t>for 2020–2023</a:t>
          </a:r>
        </a:p>
      </dsp:txBody>
      <dsp:txXfrm>
        <a:off x="7593029" y="189767"/>
        <a:ext cx="3451376" cy="2070826"/>
      </dsp:txXfrm>
    </dsp:sp>
    <dsp:sp modelId="{BDC979B9-F275-4001-B4D0-E79E9420E96E}">
      <dsp:nvSpPr>
        <dsp:cNvPr id="0" name=""/>
        <dsp:cNvSpPr/>
      </dsp:nvSpPr>
      <dsp:spPr>
        <a:xfrm>
          <a:off x="1898257" y="2605731"/>
          <a:ext cx="3451376" cy="2070826"/>
        </a:xfrm>
        <a:prstGeom prst="rect">
          <a:avLst/>
        </a:prstGeom>
        <a:solidFill>
          <a:schemeClr val="accent3">
            <a:hueOff val="-688028"/>
            <a:satOff val="0"/>
            <a:lumOff val="107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Draft Work Plan</a:t>
          </a:r>
          <a:br>
            <a:rPr lang="en-US" sz="2000" b="1" kern="1200" dirty="0">
              <a:latin typeface="Arial" panose="020B0604020202020204" pitchFamily="34" charset="0"/>
              <a:cs typeface="Arial" panose="020B0604020202020204" pitchFamily="34" charset="0"/>
            </a:rPr>
          </a:br>
          <a:r>
            <a:rPr lang="en-US" sz="2000" b="1" kern="1200" dirty="0">
              <a:latin typeface="Arial" panose="020B0604020202020204" pitchFamily="34" charset="0"/>
              <a:cs typeface="Arial" panose="020B0604020202020204" pitchFamily="34" charset="0"/>
            </a:rPr>
            <a:t>for 2021–2022</a:t>
          </a:r>
        </a:p>
      </dsp:txBody>
      <dsp:txXfrm>
        <a:off x="1898257" y="2605731"/>
        <a:ext cx="3451376" cy="2070826"/>
      </dsp:txXfrm>
    </dsp:sp>
    <dsp:sp modelId="{6A493A84-DB72-47A1-AF63-4D5E4CDE9BBA}">
      <dsp:nvSpPr>
        <dsp:cNvPr id="0" name=""/>
        <dsp:cNvSpPr/>
      </dsp:nvSpPr>
      <dsp:spPr>
        <a:xfrm>
          <a:off x="5694771" y="2605731"/>
          <a:ext cx="3451376" cy="2070826"/>
        </a:xfrm>
        <a:prstGeom prst="rect">
          <a:avLst/>
        </a:prstGeom>
        <a:solidFill>
          <a:schemeClr val="accent3">
            <a:hueOff val="-917370"/>
            <a:satOff val="0"/>
            <a:lumOff val="1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Draft Framework for Activities and Way Forward</a:t>
          </a:r>
        </a:p>
      </dsp:txBody>
      <dsp:txXfrm>
        <a:off x="5694771" y="2605731"/>
        <a:ext cx="3451376" cy="20708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4C2F2-ACCF-4728-B8D6-6CAE4BD0793D}">
      <dsp:nvSpPr>
        <dsp:cNvPr id="0" name=""/>
        <dsp:cNvSpPr/>
      </dsp:nvSpPr>
      <dsp:spPr>
        <a:xfrm>
          <a:off x="2352292" y="792339"/>
          <a:ext cx="6400785" cy="3200403"/>
        </a:xfrm>
        <a:prstGeom prst="rect">
          <a:avLst/>
        </a:prstGeom>
        <a:solidFill>
          <a:srgbClr val="005BA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CAG Discussion</a:t>
          </a:r>
        </a:p>
      </dsp:txBody>
      <dsp:txXfrm>
        <a:off x="2352292" y="792339"/>
        <a:ext cx="6400785" cy="32004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4C2F2-ACCF-4728-B8D6-6CAE4BD0793D}">
      <dsp:nvSpPr>
        <dsp:cNvPr id="0" name=""/>
        <dsp:cNvSpPr/>
      </dsp:nvSpPr>
      <dsp:spPr>
        <a:xfrm>
          <a:off x="2352292" y="792339"/>
          <a:ext cx="6400785" cy="3200403"/>
        </a:xfrm>
        <a:prstGeom prst="rect">
          <a:avLst/>
        </a:prstGeom>
        <a:solidFill>
          <a:srgbClr val="0071B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High-level Summary of Respondents’ Comments</a:t>
          </a:r>
        </a:p>
      </dsp:txBody>
      <dsp:txXfrm>
        <a:off x="2352292" y="792339"/>
        <a:ext cx="6400785" cy="32004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B51CC-1A90-42FA-858E-E568DD86B563}">
      <dsp:nvSpPr>
        <dsp:cNvPr id="0" name=""/>
        <dsp:cNvSpPr/>
      </dsp:nvSpPr>
      <dsp:spPr>
        <a:xfrm>
          <a:off x="2381670" y="832960"/>
          <a:ext cx="6400785" cy="3200403"/>
        </a:xfrm>
        <a:prstGeom prst="rect">
          <a:avLst/>
        </a:prstGeom>
        <a:solidFill>
          <a:srgbClr val="0089C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Draft Strategy for    2020–2023</a:t>
          </a:r>
        </a:p>
      </dsp:txBody>
      <dsp:txXfrm>
        <a:off x="2381670" y="832960"/>
        <a:ext cx="6400785" cy="32004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979B9-F275-4001-B4D0-E79E9420E96E}">
      <dsp:nvSpPr>
        <dsp:cNvPr id="0" name=""/>
        <dsp:cNvSpPr/>
      </dsp:nvSpPr>
      <dsp:spPr>
        <a:xfrm>
          <a:off x="2321810" y="832960"/>
          <a:ext cx="6400785" cy="3200403"/>
        </a:xfrm>
        <a:prstGeom prst="rect">
          <a:avLst/>
        </a:prstGeom>
        <a:solidFill>
          <a:srgbClr val="00A3E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Draft Work Plan for 2021–2022</a:t>
          </a:r>
        </a:p>
      </dsp:txBody>
      <dsp:txXfrm>
        <a:off x="2321810" y="832960"/>
        <a:ext cx="6400785" cy="32004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93A84-DB72-47A1-AF63-4D5E4CDE9BBA}">
      <dsp:nvSpPr>
        <dsp:cNvPr id="0" name=""/>
        <dsp:cNvSpPr/>
      </dsp:nvSpPr>
      <dsp:spPr>
        <a:xfrm>
          <a:off x="2321810" y="832960"/>
          <a:ext cx="6400785" cy="3200403"/>
        </a:xfrm>
        <a:prstGeom prst="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Draft Framework for Activities and Way Forward</a:t>
          </a:r>
        </a:p>
      </dsp:txBody>
      <dsp:txXfrm>
        <a:off x="2321810" y="832960"/>
        <a:ext cx="6400785" cy="320040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8217F18B-FBA3-4F6B-97D9-EA188CD16FE5}" type="datetimeFigureOut">
              <a:rPr lang="en-US" smtClean="0"/>
              <a:t>9/15/2019</a:t>
            </a:fld>
            <a:endParaRPr lang="en-US" dirty="0"/>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BAD342E5-AFF1-4E5D-BEDB-B5261E7DADB0}" type="slidenum">
              <a:rPr lang="en-US" smtClean="0"/>
              <a:t>‹#›</a:t>
            </a:fld>
            <a:endParaRPr lang="en-US" dirty="0"/>
          </a:p>
        </p:txBody>
      </p:sp>
    </p:spTree>
    <p:extLst>
      <p:ext uri="{BB962C8B-B14F-4D97-AF65-F5344CB8AC3E}">
        <p14:creationId xmlns:p14="http://schemas.microsoft.com/office/powerpoint/2010/main" val="3754479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3</a:t>
            </a:fld>
            <a:endParaRPr lang="en-US" dirty="0"/>
          </a:p>
        </p:txBody>
      </p:sp>
    </p:spTree>
    <p:extLst>
      <p:ext uri="{BB962C8B-B14F-4D97-AF65-F5344CB8AC3E}">
        <p14:creationId xmlns:p14="http://schemas.microsoft.com/office/powerpoint/2010/main" val="108541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4</a:t>
            </a:fld>
            <a:endParaRPr lang="en-US" dirty="0"/>
          </a:p>
        </p:txBody>
      </p:sp>
    </p:spTree>
    <p:extLst>
      <p:ext uri="{BB962C8B-B14F-4D97-AF65-F5344CB8AC3E}">
        <p14:creationId xmlns:p14="http://schemas.microsoft.com/office/powerpoint/2010/main" val="4289205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6</a:t>
            </a:fld>
            <a:endParaRPr lang="en-US" dirty="0"/>
          </a:p>
        </p:txBody>
      </p:sp>
    </p:spTree>
    <p:extLst>
      <p:ext uri="{BB962C8B-B14F-4D97-AF65-F5344CB8AC3E}">
        <p14:creationId xmlns:p14="http://schemas.microsoft.com/office/powerpoint/2010/main" val="2064252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4225276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10</a:t>
            </a:fld>
            <a:endParaRPr lang="en-US" dirty="0"/>
          </a:p>
        </p:txBody>
      </p:sp>
    </p:spTree>
    <p:extLst>
      <p:ext uri="{BB962C8B-B14F-4D97-AF65-F5344CB8AC3E}">
        <p14:creationId xmlns:p14="http://schemas.microsoft.com/office/powerpoint/2010/main" val="4005051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15</a:t>
            </a:fld>
            <a:endParaRPr lang="en-US" dirty="0"/>
          </a:p>
        </p:txBody>
      </p:sp>
    </p:spTree>
    <p:extLst>
      <p:ext uri="{BB962C8B-B14F-4D97-AF65-F5344CB8AC3E}">
        <p14:creationId xmlns:p14="http://schemas.microsoft.com/office/powerpoint/2010/main" val="3864165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18</a:t>
            </a:fld>
            <a:endParaRPr lang="en-US" dirty="0"/>
          </a:p>
        </p:txBody>
      </p:sp>
    </p:spTree>
    <p:extLst>
      <p:ext uri="{BB962C8B-B14F-4D97-AF65-F5344CB8AC3E}">
        <p14:creationId xmlns:p14="http://schemas.microsoft.com/office/powerpoint/2010/main" val="2865629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D342E5-AFF1-4E5D-BEDB-B5261E7DADB0}" type="slidenum">
              <a:rPr lang="en-US" smtClean="0"/>
              <a:t>19</a:t>
            </a:fld>
            <a:endParaRPr lang="en-US" dirty="0"/>
          </a:p>
        </p:txBody>
      </p:sp>
    </p:spTree>
    <p:extLst>
      <p:ext uri="{BB962C8B-B14F-4D97-AF65-F5344CB8AC3E}">
        <p14:creationId xmlns:p14="http://schemas.microsoft.com/office/powerpoint/2010/main" val="3439289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4D410189-AC31-7546-878A-F48FDE4A29F5}" type="slidenum">
              <a:rPr lang="en-US" smtClean="0"/>
              <a:t>20</a:t>
            </a:fld>
            <a:endParaRPr lang="en-US" dirty="0"/>
          </a:p>
        </p:txBody>
      </p:sp>
    </p:spTree>
    <p:extLst>
      <p:ext uri="{BB962C8B-B14F-4D97-AF65-F5344CB8AC3E}">
        <p14:creationId xmlns:p14="http://schemas.microsoft.com/office/powerpoint/2010/main" val="3462723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iaasb.org/" TargetMode="External"/><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9.png"/><Relationship Id="rId11" Type="http://schemas.openxmlformats.org/officeDocument/2006/relationships/hyperlink" Target="mailto:permissions@ifac.org" TargetMode="External"/><Relationship Id="rId5" Type="http://schemas.openxmlformats.org/officeDocument/2006/relationships/image" Target="../media/image18.png"/><Relationship Id="rId10" Type="http://schemas.openxmlformats.org/officeDocument/2006/relationships/hyperlink" Target="http://www.ifac.org/about-ifac/translations-permissions" TargetMode="External"/><Relationship Id="rId4" Type="http://schemas.openxmlformats.org/officeDocument/2006/relationships/image" Target="../media/image17.png"/><Relationship Id="rId9" Type="http://schemas.openxmlformats.org/officeDocument/2006/relationships/image" Target="../media/image2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iaasb.org/" TargetMode="External"/><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9.png"/><Relationship Id="rId11" Type="http://schemas.openxmlformats.org/officeDocument/2006/relationships/hyperlink" Target="mailto:permissions@ifac.org" TargetMode="External"/><Relationship Id="rId5" Type="http://schemas.openxmlformats.org/officeDocument/2006/relationships/image" Target="../media/image18.png"/><Relationship Id="rId10" Type="http://schemas.openxmlformats.org/officeDocument/2006/relationships/hyperlink" Target="http://www.ifac.org/about-ifac/translations-permissions" TargetMode="External"/><Relationship Id="rId4" Type="http://schemas.openxmlformats.org/officeDocument/2006/relationships/image" Target="../media/image17.png"/><Relationship Id="rId9" Type="http://schemas.openxmlformats.org/officeDocument/2006/relationships/image" Target="../media/image2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829BED-9370-4C69-8B19-DF5364062FE8}"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945244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880B73-8C76-4707-80F8-3963866B81ED}"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261726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9C273B-D08E-4382-AC60-9B5464EA60A9}"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647387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E95696-183B-49B5-AC88-D34FC4452DEE}"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00450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E62864-BFD7-472A-B17C-B9A242BBF5D0}" type="datetime1">
              <a:rPr lang="en-US" smtClean="0"/>
              <a:t>9/15/2019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510159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60A0F75-C365-4794-9298-176CBB056E2F}" type="datetime1">
              <a:rPr lang="en-US" smtClean="0"/>
              <a:t>9/15/2019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897768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B7030E-23EE-4B6F-A577-FFA754F6F221}" type="datetime1">
              <a:rPr lang="en-US" smtClean="0"/>
              <a:t>9/15/2019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54709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B20F4-4371-48A2-A1C5-564A141E18FA}"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697943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1EE5E0-6B3C-4B70-BA81-DF7E8E12A50B}"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492175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2743C-A172-4B79-957C-A37D69B35244}"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2928709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8D5299-30FF-4207-93B4-7A9215AAF387}"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4054880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8BEC16-5153-4444-ADE5-376764F9317A}"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685067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905138"/>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6A7036-7F39-45B7-B8E7-90186E26FD34}"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84063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F6F55C-F0A0-40C2-92AA-13448C1B6DE2}"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242855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B41662-97DA-482D-BB44-A5E7E1463580}"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710906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ED3B72-01DD-4123-ABCF-B71DC3DF9A35}" type="datetime1">
              <a:rPr lang="en-US" smtClean="0"/>
              <a:t>9/15/2019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05614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F0D7D7D-1F9A-439A-9B1F-FAD176DAAE95}" type="datetime1">
              <a:rPr lang="en-US" smtClean="0"/>
              <a:t>9/15/2019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790547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3D415-7CDF-4724-8022-A789958CE2B4}" type="datetime1">
              <a:rPr lang="en-US" smtClean="0"/>
              <a:t>9/15/2019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4902619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2148A9-3F54-4B3A-97B0-C24F2AA0F49B}"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274560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325935-DE68-40A0-AD95-3EF9318A5653}"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59180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905138"/>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EBD7C1-6C21-4A0C-AB04-28957353C253}"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56050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CAAA40-D496-4BA5-94BC-EC2395AF4BA1}"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5228141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A74FA47-1DBD-4C30-88B4-1AA2876CD950}"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561723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ECB669-7C2F-4EE4-B944-62950FE6507F}"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4036111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DAF38-C557-41C9-8FF5-BEDE134E17EE}"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2370580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C56C26-B280-45A4-847B-175DFD0A3F0F}"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65965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0D1335-23B7-4ACE-8A39-51D3C834FF8A}" type="datetime1">
              <a:rPr lang="en-US" smtClean="0"/>
              <a:t>9/15/2019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0215636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ECC56E5-0DA9-479C-BCFC-7EE8D0DE2A8E}" type="datetime1">
              <a:rPr lang="en-US" smtClean="0"/>
              <a:t>9/15/2019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7932712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F7FDF-1E42-4280-A018-ACBA192297BC}" type="datetime1">
              <a:rPr lang="en-US" smtClean="0"/>
              <a:t>9/15/2019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769613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5003-1A61-4041-91CF-BE3D4D09EBF1}"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3240726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0D7D3B-67DA-40FC-B2AC-DA938EAA2F72}"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0804130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817F13-E155-42CD-A20C-B277FF788E23}"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614248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0F6321-C77C-49CA-83B2-29284D793B25}"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47860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394849E-A96C-479D-999D-26024B301EF2}"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048297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B7697-44BE-464F-8981-C5EF3A124C23}"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3610688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C57D8D-BF23-4BCF-8EBC-861A1B1DE27C}"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2391578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A52379-2070-4859-82B4-0B6BF96F6750}"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773237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1E5070-400A-40B5-8F3B-79E375432C4D}" type="datetime1">
              <a:rPr lang="en-US" smtClean="0"/>
              <a:t>9/15/2019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4139450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A3935FA3-A859-46EE-9DBA-3396054253CC}" type="datetime1">
              <a:rPr lang="en-US" smtClean="0"/>
              <a:t>9/15/2019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7602396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604EDA-4DB0-43F1-8DF2-E50A41E978FD}" type="datetime1">
              <a:rPr lang="en-US" smtClean="0"/>
              <a:t>9/15/2019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6788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F60095-03E6-49D1-8FE2-66640AD7D839}"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6189847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2D9738-EE9C-4FC1-8835-2C036BE91A2B}" type="datetime1">
              <a:rPr lang="en-US" smtClean="0"/>
              <a:t>9/15/2019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67808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961346-6166-4BF4-867B-66F542385138}"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70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45F4C4-52B4-4181-878C-D87ACB1BAF46}" type="datetime1">
              <a:rPr lang="en-US" smtClean="0"/>
              <a:t>9/15/2019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568767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18469548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2726091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8847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72483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Tree>
    <p:extLst>
      <p:ext uri="{BB962C8B-B14F-4D97-AF65-F5344CB8AC3E}">
        <p14:creationId xmlns:p14="http://schemas.microsoft.com/office/powerpoint/2010/main" val="7167016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3886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9457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26382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6723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12377278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25424211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26598489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3392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724502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Tree>
    <p:extLst>
      <p:ext uri="{BB962C8B-B14F-4D97-AF65-F5344CB8AC3E}">
        <p14:creationId xmlns:p14="http://schemas.microsoft.com/office/powerpoint/2010/main" val="23050198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26522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86930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00182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85007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18114799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en-US"/>
              <a:t>Click to edit Master subtitle style</a:t>
            </a:r>
            <a:endParaRPr lang="en-US" dirty="0"/>
          </a:p>
        </p:txBody>
      </p:sp>
      <p:sp>
        <p:nvSpPr>
          <p:cNvPr id="5" name="Slide Number Placeholder 3"/>
          <p:cNvSpPr>
            <a:spLocks noGrp="1"/>
          </p:cNvSpPr>
          <p:nvPr>
            <p:ph type="sldNum" sz="quarter" idx="12"/>
          </p:nvPr>
        </p:nvSpPr>
        <p:spPr>
          <a:xfrm>
            <a:off x="11044499" y="6326390"/>
            <a:ext cx="852032" cy="335775"/>
          </a:xfrm>
        </p:spPr>
        <p:txBody>
          <a:bodyPr/>
          <a:lstStyle/>
          <a:p>
            <a:fld id="{605F50E8-FD69-1B47-8B62-FEC05D161593}" type="slidenum">
              <a:rPr lang="en-US" smtClean="0"/>
              <a:pPr/>
              <a:t>‹#›</a:t>
            </a:fld>
            <a:endParaRPr lang="en-US" dirty="0"/>
          </a:p>
        </p:txBody>
      </p:sp>
    </p:spTree>
    <p:extLst>
      <p:ext uri="{BB962C8B-B14F-4D97-AF65-F5344CB8AC3E}">
        <p14:creationId xmlns:p14="http://schemas.microsoft.com/office/powerpoint/2010/main" val="16111330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168D7C-8822-4144-868B-B6EFA480259D}" type="datetime1">
              <a:rPr lang="en-US" smtClean="0">
                <a:solidFill>
                  <a:prstClr val="black">
                    <a:tint val="75000"/>
                  </a:prstClr>
                </a:solidFill>
              </a:rPr>
              <a:pPr/>
              <a:t>9/15/2019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3854553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EBFDA1-892D-475D-A681-5E1B87AA4CC5}" type="datetime1">
              <a:rPr lang="en-US" smtClean="0">
                <a:solidFill>
                  <a:prstClr val="black">
                    <a:tint val="75000"/>
                  </a:prstClr>
                </a:solidFill>
              </a:rPr>
              <a:pPr/>
              <a:t>9/15/2019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449520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9B08FF-86A9-489B-9293-6DAA81CF5589}" type="datetime1">
              <a:rPr lang="en-US" smtClean="0">
                <a:solidFill>
                  <a:prstClr val="black">
                    <a:tint val="75000"/>
                  </a:prstClr>
                </a:solidFill>
              </a:rPr>
              <a:pPr/>
              <a:t>9/15/2019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136665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E77F70-787D-4334-ABBD-4BEE84081B9F}" type="datetime1">
              <a:rPr lang="en-US" smtClean="0">
                <a:solidFill>
                  <a:prstClr val="black">
                    <a:tint val="75000"/>
                  </a:prstClr>
                </a:solidFill>
              </a:rPr>
              <a:pPr/>
              <a:t>9/15/2019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972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C84004-8839-470E-98FD-2398CB003887}" type="datetime1">
              <a:rPr lang="en-US" smtClean="0">
                <a:solidFill>
                  <a:prstClr val="black">
                    <a:tint val="75000"/>
                  </a:prstClr>
                </a:solidFill>
              </a:rPr>
              <a:pPr/>
              <a:t>9/15/2019</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708305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0DBE43-71DC-4CB5-9DC9-86D083825D16}" type="datetime1">
              <a:rPr lang="en-US" smtClean="0">
                <a:solidFill>
                  <a:prstClr val="black">
                    <a:tint val="75000"/>
                  </a:prstClr>
                </a:solidFill>
              </a:rPr>
              <a:pPr/>
              <a:t>9/15/2019</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177282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46410-D2D8-4C53-8D73-7FAB926DC67E}" type="datetime1">
              <a:rPr lang="en-US" smtClean="0">
                <a:solidFill>
                  <a:prstClr val="black">
                    <a:tint val="75000"/>
                  </a:prstClr>
                </a:solidFill>
              </a:rPr>
              <a:pPr/>
              <a:t>9/15/2019</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2725341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867214-0AB1-49E6-A7A9-395C2525D2CB}" type="datetime1">
              <a:rPr lang="en-US" smtClean="0">
                <a:solidFill>
                  <a:prstClr val="black">
                    <a:tint val="75000"/>
                  </a:prstClr>
                </a:solidFill>
              </a:rPr>
              <a:pPr/>
              <a:t>9/15/2019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704958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15EC8-B9E7-4675-8613-1CB4C2CB4986}" type="datetime1">
              <a:rPr lang="en-US" smtClean="0">
                <a:solidFill>
                  <a:prstClr val="black">
                    <a:tint val="75000"/>
                  </a:prstClr>
                </a:solidFill>
              </a:rPr>
              <a:pPr/>
              <a:t>9/15/2019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24605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7143D-A714-4C9D-9075-7EC3BC78008B}" type="datetime1">
              <a:rPr lang="en-US" smtClean="0">
                <a:solidFill>
                  <a:prstClr val="black">
                    <a:tint val="75000"/>
                  </a:prstClr>
                </a:solidFill>
              </a:rPr>
              <a:pPr/>
              <a:t>9/15/2019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443438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2B81AF-C2C2-42FA-ACA9-4469AE76468E}" type="datetime1">
              <a:rPr lang="en-US" smtClean="0">
                <a:solidFill>
                  <a:prstClr val="black">
                    <a:tint val="75000"/>
                  </a:prstClr>
                </a:solidFill>
              </a:rPr>
              <a:pPr/>
              <a:t>9/15/2019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077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png"/><Relationship Id="rId18" Type="http://schemas.openxmlformats.org/officeDocument/2006/relationships/image" Target="../media/image8.png"/><Relationship Id="rId3" Type="http://schemas.openxmlformats.org/officeDocument/2006/relationships/slideLayout" Target="../slideLayouts/slideLayout36.xml"/><Relationship Id="rId21" Type="http://schemas.openxmlformats.org/officeDocument/2006/relationships/hyperlink" Target="http://www.iaasb.org/" TargetMode="Externa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7.png"/><Relationship Id="rId2" Type="http://schemas.openxmlformats.org/officeDocument/2006/relationships/slideLayout" Target="../slideLayouts/slideLayout35.xml"/><Relationship Id="rId16" Type="http://schemas.openxmlformats.org/officeDocument/2006/relationships/image" Target="../media/image6.png"/><Relationship Id="rId20" Type="http://schemas.openxmlformats.org/officeDocument/2006/relationships/hyperlink" Target="mailto:permissions@ifac.org" TargetMode="Externa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5.png"/><Relationship Id="rId10" Type="http://schemas.openxmlformats.org/officeDocument/2006/relationships/slideLayout" Target="../slideLayouts/slideLayout43.xml"/><Relationship Id="rId19" Type="http://schemas.openxmlformats.org/officeDocument/2006/relationships/hyperlink" Target="http://www.ifac.org/about-ifac/translations-permissions" TargetMode="Externa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4.png"/><Relationship Id="rId22" Type="http://schemas.openxmlformats.org/officeDocument/2006/relationships/image" Target="../media/image9.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image" Target="../media/image10.jpeg"/><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theme" Target="../theme/theme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image" Target="../media/image10.jpeg"/><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image" Target="../media/image1.jpeg"/><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theme" Target="../theme/theme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856EE5-B36E-4704-9EC0-BD21A5BAD421}" type="datetime1">
              <a:rPr lang="en-US" smtClean="0"/>
              <a:t>9/15/2019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1BF3E-DF8B-49A5-8A7B-7F8F24820CAC}" type="slidenum">
              <a:rPr lang="en-US" smtClean="0"/>
              <a:t>‹#›</a:t>
            </a:fld>
            <a:endParaRPr lang="en-US" dirty="0"/>
          </a:p>
        </p:txBody>
      </p:sp>
      <p:graphicFrame>
        <p:nvGraphicFramePr>
          <p:cNvPr id="7" name="Table 6"/>
          <p:cNvGraphicFramePr>
            <a:graphicFrameLocks noGrp="1"/>
          </p:cNvGraphicFramePr>
          <p:nvPr userDrawn="1">
            <p:extLst>
              <p:ext uri="{D42A27DB-BD31-4B8C-83A1-F6EECF244321}">
                <p14:modId xmlns:p14="http://schemas.microsoft.com/office/powerpoint/2010/main" val="168878278"/>
              </p:ext>
            </p:extLst>
          </p:nvPr>
        </p:nvGraphicFramePr>
        <p:xfrm>
          <a:off x="838200" y="291549"/>
          <a:ext cx="10515600" cy="5910468"/>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5910468">
                <a:tc>
                  <a:txBody>
                    <a:bodyPr/>
                    <a:lstStyle/>
                    <a:p>
                      <a:endParaRPr lang="en-US" dirty="0"/>
                    </a:p>
                  </a:txBody>
                  <a:tcPr marL="121920" marR="121920">
                    <a:lnL w="28575" cap="flat" cmpd="sng" algn="ctr">
                      <a:solidFill>
                        <a:srgbClr val="F08714"/>
                      </a:solidFill>
                      <a:prstDash val="solid"/>
                      <a:round/>
                      <a:headEnd type="none" w="med" len="med"/>
                      <a:tailEnd type="none" w="med" len="med"/>
                    </a:lnL>
                    <a:lnR w="28575" cap="flat" cmpd="sng" algn="ctr">
                      <a:solidFill>
                        <a:srgbClr val="F08714"/>
                      </a:solidFill>
                      <a:prstDash val="solid"/>
                      <a:round/>
                      <a:headEnd type="none" w="med" len="med"/>
                      <a:tailEnd type="none" w="med" len="med"/>
                    </a:lnR>
                    <a:lnT w="28575" cap="flat" cmpd="sng" algn="ctr">
                      <a:solidFill>
                        <a:srgbClr val="F08714"/>
                      </a:solidFill>
                      <a:prstDash val="solid"/>
                      <a:round/>
                      <a:headEnd type="none" w="med" len="med"/>
                      <a:tailEnd type="none" w="med" len="med"/>
                    </a:lnT>
                    <a:lnB w="28575" cap="flat" cmpd="sng" algn="ctr">
                      <a:solidFill>
                        <a:srgbClr val="F08714"/>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9" name="Picture 8"/>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18755993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B8EE7-8247-42AD-8E12-DC9551FCB683}" type="datetime1">
              <a:rPr lang="en-US" smtClean="0"/>
              <a:t>9/15/2019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05DAD2-EBD2-4248-A1BE-DE5C530C13EE}" type="slidenum">
              <a:rPr lang="en-US" smtClean="0"/>
              <a:t>‹#›</a:t>
            </a:fld>
            <a:endParaRPr lang="en-US" dirty="0"/>
          </a:p>
        </p:txBody>
      </p:sp>
      <p:sp>
        <p:nvSpPr>
          <p:cNvPr id="8" name="Rectangle 7"/>
          <p:cNvSpPr/>
          <p:nvPr userDrawn="1"/>
        </p:nvSpPr>
        <p:spPr>
          <a:xfrm>
            <a:off x="0" y="633845"/>
            <a:ext cx="12192000" cy="447208"/>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0" name="Picture 9"/>
          <p:cNvPicPr>
            <a:picLocks noChangeAspect="1"/>
          </p:cNvPicPr>
          <p:nvPr userDrawn="1"/>
        </p:nvPicPr>
        <p:blipFill>
          <a:blip r:embed="rId13">
            <a:extLst>
              <a:ext uri="{28A0092B-C50C-407E-A947-70E740481C1C}">
                <a14:useLocalDpi xmlns:a14="http://schemas.microsoft.com/office/drawing/2010/main"/>
              </a:ext>
            </a:extLst>
          </a:blip>
          <a:stretch>
            <a:fillRect/>
          </a:stretch>
        </p:blipFill>
        <p:spPr>
          <a:xfrm>
            <a:off x="0" y="1"/>
            <a:ext cx="12192000" cy="633844"/>
          </a:xfrm>
          <a:prstGeom prst="rect">
            <a:avLst/>
          </a:prstGeom>
        </p:spPr>
      </p:pic>
      <p:sp>
        <p:nvSpPr>
          <p:cNvPr id="11" name="Rectangle 10"/>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12" name="Rectangle 11"/>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3" name="Picture 12"/>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6520143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C6B8DE-675F-4831-9241-FE2F5CAD1845}" type="datetime1">
              <a:rPr lang="en-US" smtClean="0"/>
              <a:t>9/15/2019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05E96D-C2D6-4C1C-BEE1-8F30C6DF7FED}" type="slidenum">
              <a:rPr lang="en-US" smtClean="0"/>
              <a:t>‹#›</a:t>
            </a:fld>
            <a:endParaRPr lang="en-US" dirty="0"/>
          </a:p>
        </p:txBody>
      </p:sp>
      <p:pic>
        <p:nvPicPr>
          <p:cNvPr id="8" name="Picture 7"/>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39353254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9C7CB0-694A-4CF9-A877-F97EB51B4CF3}" type="datetime1">
              <a:rPr lang="en-US" smtClean="0"/>
              <a:t>9/15/2019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7A7E9-A6B9-48E9-BF8E-B5EFD8DCE520}" type="slidenum">
              <a:rPr lang="en-US" smtClean="0"/>
              <a:t>‹#›</a:t>
            </a:fld>
            <a:endParaRPr lang="en-US" dirty="0"/>
          </a:p>
        </p:txBody>
      </p:sp>
      <p:pic>
        <p:nvPicPr>
          <p:cNvPr id="10" name="Picture 9"/>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172746" y="5520048"/>
            <a:ext cx="770407" cy="193152"/>
          </a:xfrm>
          <a:prstGeom prst="rect">
            <a:avLst/>
          </a:prstGeom>
        </p:spPr>
      </p:pic>
      <p:pic>
        <p:nvPicPr>
          <p:cNvPr id="11" name="Picture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3024003" y="5527362"/>
            <a:ext cx="583308" cy="193152"/>
          </a:xfrm>
          <a:prstGeom prst="rect">
            <a:avLst/>
          </a:prstGeom>
        </p:spPr>
      </p:pic>
      <p:pic>
        <p:nvPicPr>
          <p:cNvPr id="12" name="Picture 11"/>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573723" y="5517394"/>
            <a:ext cx="770407" cy="193152"/>
          </a:xfrm>
          <a:prstGeom prst="rect">
            <a:avLst/>
          </a:prstGeom>
        </p:spPr>
      </p:pic>
      <p:pic>
        <p:nvPicPr>
          <p:cNvPr id="13" name="Picture 12"/>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501197" y="5520048"/>
            <a:ext cx="770407" cy="234424"/>
          </a:xfrm>
          <a:prstGeom prst="rect">
            <a:avLst/>
          </a:prstGeom>
        </p:spPr>
      </p:pic>
      <p:pic>
        <p:nvPicPr>
          <p:cNvPr id="14" name="Picture 13"/>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238015" y="5520048"/>
            <a:ext cx="770407" cy="193152"/>
          </a:xfrm>
          <a:prstGeom prst="rect">
            <a:avLst/>
          </a:prstGeom>
        </p:spPr>
      </p:pic>
      <p:pic>
        <p:nvPicPr>
          <p:cNvPr id="15" name="Picture 14"/>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9780285" y="5516924"/>
            <a:ext cx="770407" cy="193152"/>
          </a:xfrm>
          <a:prstGeom prst="rect">
            <a:avLst/>
          </a:prstGeom>
        </p:spPr>
      </p:pic>
      <p:sp>
        <p:nvSpPr>
          <p:cNvPr id="16" name="Rectangle 15"/>
          <p:cNvSpPr/>
          <p:nvPr userDrawn="1"/>
        </p:nvSpPr>
        <p:spPr>
          <a:xfrm>
            <a:off x="931335" y="5827229"/>
            <a:ext cx="10837333"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9"/>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20"/>
              </a:rPr>
              <a:t>permissions@ifac.org</a:t>
            </a:r>
            <a:r>
              <a:rPr lang="en-US" sz="900" dirty="0">
                <a:effectLst/>
                <a:latin typeface="Arial" panose="020B0604020202020204" pitchFamily="34" charset="0"/>
                <a:ea typeface="Calibri" panose="020F0502020204030204" pitchFamily="34" charset="0"/>
              </a:rPr>
              <a:t>.</a:t>
            </a:r>
            <a:endParaRPr lang="en-US" sz="900" dirty="0"/>
          </a:p>
        </p:txBody>
      </p:sp>
      <p:sp>
        <p:nvSpPr>
          <p:cNvPr id="17" name="Rectangle 16"/>
          <p:cNvSpPr/>
          <p:nvPr userDrawn="1"/>
        </p:nvSpPr>
        <p:spPr>
          <a:xfrm>
            <a:off x="5139681" y="4870068"/>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21"/>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pic>
        <p:nvPicPr>
          <p:cNvPr id="18" name="Picture 17"/>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3581399" y="2461794"/>
            <a:ext cx="4326783" cy="759918"/>
          </a:xfrm>
          <a:prstGeom prst="rect">
            <a:avLst/>
          </a:prstGeom>
        </p:spPr>
      </p:pic>
      <p:sp>
        <p:nvSpPr>
          <p:cNvPr id="19" name="Rectangle 18"/>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20" name="Rectangle 19"/>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78069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9/15/2019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11" name="Picture 10" descr="IAASB Logo with FullName.jpg"/>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3069083777"/>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9/15/2019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11" name="Picture 10" descr="IAASB Logo with FullName.jpg"/>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2741929745"/>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3E7E7A-EFDA-4F96-BA3A-43C7E3A490FB}" type="datetime1">
              <a:rPr lang="en-US" smtClean="0">
                <a:solidFill>
                  <a:prstClr val="black">
                    <a:tint val="75000"/>
                  </a:prstClr>
                </a:solidFill>
              </a:rPr>
              <a:pPr/>
              <a:t>9/15/2019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graphicFrame>
        <p:nvGraphicFramePr>
          <p:cNvPr id="8" name="Table 7"/>
          <p:cNvGraphicFramePr>
            <a:graphicFrameLocks noGrp="1"/>
          </p:cNvGraphicFramePr>
          <p:nvPr userDrawn="1"/>
        </p:nvGraphicFramePr>
        <p:xfrm>
          <a:off x="838200" y="1225605"/>
          <a:ext cx="2006600" cy="1291473"/>
        </p:xfrm>
        <a:graphic>
          <a:graphicData uri="http://schemas.openxmlformats.org/drawingml/2006/table">
            <a:tbl>
              <a:tblPr firstRow="1" bandRow="1">
                <a:tableStyleId>{7E9639D4-E3E2-4D34-9284-5A2195B3D0D7}</a:tableStyleId>
              </a:tblPr>
              <a:tblGrid>
                <a:gridCol w="2006600">
                  <a:extLst>
                    <a:ext uri="{9D8B030D-6E8A-4147-A177-3AD203B41FA5}">
                      <a16:colId xmlns:a16="http://schemas.microsoft.com/office/drawing/2014/main" val="20000"/>
                    </a:ext>
                  </a:extLst>
                </a:gridCol>
              </a:tblGrid>
              <a:tr h="233017">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38100" cap="flat" cmpd="sng" algn="ctr">
                      <a:solidFill>
                        <a:srgbClr val="F08714"/>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15397">
                <a:tc>
                  <a:txBody>
                    <a:bodyPr/>
                    <a:lstStyle/>
                    <a:p>
                      <a:endParaRPr lang="en-US" dirty="0"/>
                    </a:p>
                  </a:txBody>
                  <a:tcPr marL="121920" marR="121920">
                    <a:lnL w="38100" cap="flat" cmpd="sng" algn="ctr">
                      <a:solidFill>
                        <a:srgbClr val="F08714"/>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43059">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6350" cap="flat" cmpd="sng" algn="ctr">
                      <a:noFill/>
                      <a:prstDash val="solid"/>
                      <a:miter lim="800000"/>
                    </a:lnT>
                    <a:lnB w="38100" cap="flat" cmpd="sng" algn="ctr">
                      <a:solidFill>
                        <a:srgbClr val="F0871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pic>
        <p:nvPicPr>
          <p:cNvPr id="11" name="Picture 10"/>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
        <p:nvSpPr>
          <p:cNvPr id="12" name="Rectangle 11"/>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
        <p:nvSpPr>
          <p:cNvPr id="13" name="Rectangle 12"/>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Tree>
    <p:extLst>
      <p:ext uri="{BB962C8B-B14F-4D97-AF65-F5344CB8AC3E}">
        <p14:creationId xmlns:p14="http://schemas.microsoft.com/office/powerpoint/2010/main" val="387049740"/>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6.xml"/></Relationships>
</file>

<file path=ppt/slides/_rels/slide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4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4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4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4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875782" y="1543017"/>
            <a:ext cx="9096557" cy="954107"/>
          </a:xfrm>
          <a:prstGeom prst="rect">
            <a:avLst/>
          </a:prstGeom>
          <a:noFill/>
        </p:spPr>
        <p:txBody>
          <a:bodyPr wrap="square" rtlCol="0">
            <a:spAutoFit/>
          </a:bodyPr>
          <a:lstStyle/>
          <a:p>
            <a:r>
              <a:rPr lang="en-US" sz="2800" b="1" dirty="0">
                <a:solidFill>
                  <a:prstClr val="white"/>
                </a:solidFill>
                <a:latin typeface="Arial" panose="020B0604020202020204" pitchFamily="34" charset="0"/>
                <a:cs typeface="Arial" panose="020B0604020202020204" pitchFamily="34" charset="0"/>
              </a:rPr>
              <a:t>IAASB’s Strategy for 2020‒2023 and Work Plan for 2020‒2021</a:t>
            </a:r>
          </a:p>
        </p:txBody>
      </p:sp>
      <p:sp>
        <p:nvSpPr>
          <p:cNvPr id="5" name="TextBox 4"/>
          <p:cNvSpPr txBox="1"/>
          <p:nvPr/>
        </p:nvSpPr>
        <p:spPr>
          <a:xfrm>
            <a:off x="932570" y="3892804"/>
            <a:ext cx="7782060" cy="2031325"/>
          </a:xfrm>
          <a:prstGeom prst="rect">
            <a:avLst/>
          </a:prstGeom>
          <a:noFill/>
        </p:spPr>
        <p:txBody>
          <a:bodyPr wrap="square" rtlCol="0">
            <a:spAutoFit/>
          </a:bodyPr>
          <a:lstStyle/>
          <a:p>
            <a:r>
              <a:rPr lang="en-US" b="1" dirty="0">
                <a:solidFill>
                  <a:prstClr val="white"/>
                </a:solidFill>
                <a:latin typeface="Arial" panose="020B0604020202020204" pitchFamily="34" charset="0"/>
                <a:cs typeface="Arial" panose="020B0604020202020204" pitchFamily="34" charset="0"/>
              </a:rPr>
              <a:t>Presented by:</a:t>
            </a:r>
          </a:p>
          <a:p>
            <a:r>
              <a:rPr lang="en-US" b="1" dirty="0">
                <a:solidFill>
                  <a:prstClr val="white"/>
                </a:solidFill>
                <a:latin typeface="Arial" panose="020B0604020202020204" pitchFamily="34" charset="0"/>
                <a:cs typeface="Arial" panose="020B0604020202020204" pitchFamily="34" charset="0"/>
              </a:rPr>
              <a:t>Tom Seidenstein, IAASB Chair</a:t>
            </a:r>
          </a:p>
          <a:p>
            <a:r>
              <a:rPr lang="en-US" b="1" dirty="0">
                <a:solidFill>
                  <a:prstClr val="white"/>
                </a:solidFill>
                <a:latin typeface="Arial" panose="020B0604020202020204" pitchFamily="34" charset="0"/>
                <a:cs typeface="Arial" panose="020B0604020202020204" pitchFamily="34" charset="0"/>
              </a:rPr>
              <a:t>Willie Botha, IAASB Technical Director </a:t>
            </a:r>
          </a:p>
          <a:p>
            <a:r>
              <a:rPr lang="en-US" b="1" dirty="0">
                <a:solidFill>
                  <a:prstClr val="white"/>
                </a:solidFill>
                <a:latin typeface="Arial" panose="020B0604020202020204" pitchFamily="34" charset="0"/>
                <a:cs typeface="Arial" panose="020B0604020202020204" pitchFamily="34" charset="0"/>
              </a:rPr>
              <a:t>Beverley Bahlmann, IAASB Deputy Director</a:t>
            </a:r>
          </a:p>
          <a:p>
            <a:endParaRPr lang="en-US" b="1" dirty="0">
              <a:solidFill>
                <a:prstClr val="white"/>
              </a:solidFill>
              <a:latin typeface="Arial" panose="020B0604020202020204" pitchFamily="34" charset="0"/>
              <a:cs typeface="Arial" panose="020B0604020202020204" pitchFamily="34" charset="0"/>
            </a:endParaRPr>
          </a:p>
          <a:p>
            <a:endParaRPr lang="en-US" b="1" dirty="0">
              <a:solidFill>
                <a:prstClr val="white"/>
              </a:solidFill>
              <a:latin typeface="Arial" panose="020B0604020202020204" pitchFamily="34" charset="0"/>
              <a:cs typeface="Arial" panose="020B0604020202020204" pitchFamily="34" charset="0"/>
            </a:endParaRPr>
          </a:p>
          <a:p>
            <a:r>
              <a:rPr lang="en-US" b="1" dirty="0">
                <a:solidFill>
                  <a:prstClr val="white"/>
                </a:solidFill>
                <a:latin typeface="Arial" panose="020B0604020202020204" pitchFamily="34" charset="0"/>
                <a:cs typeface="Arial" panose="020B0604020202020204" pitchFamily="34" charset="0"/>
              </a:rPr>
              <a:t>IAASB Meeting September 2019</a:t>
            </a:r>
          </a:p>
        </p:txBody>
      </p:sp>
    </p:spTree>
    <p:extLst>
      <p:ext uri="{BB962C8B-B14F-4D97-AF65-F5344CB8AC3E}">
        <p14:creationId xmlns:p14="http://schemas.microsoft.com/office/powerpoint/2010/main" val="1898823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48640" y="568411"/>
            <a:ext cx="11643360" cy="531048"/>
          </a:xfrm>
        </p:spPr>
        <p:txBody>
          <a:bodyPr/>
          <a:lstStyle/>
          <a:p>
            <a:pPr marL="347472"/>
            <a:r>
              <a:rPr lang="en-US" sz="2400" b="1" dirty="0">
                <a:ln w="0"/>
              </a:rPr>
              <a:t>Objective</a:t>
            </a:r>
            <a:endParaRPr lang="en-US" sz="2400" b="1" dirty="0"/>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3779520" y="1950720"/>
            <a:ext cx="8303393" cy="433886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457189" indent="-457189" algn="just">
              <a:spcBef>
                <a:spcPts val="800"/>
              </a:spcBef>
              <a:buFont typeface="Arial" panose="020B0604020202020204" pitchFamily="34" charset="0"/>
              <a:buChar char="•"/>
            </a:pPr>
            <a:r>
              <a:rPr lang="en-CA" sz="3200" dirty="0"/>
              <a:t>Obtain </a:t>
            </a:r>
            <a:r>
              <a:rPr lang="en-US" sz="3200" dirty="0"/>
              <a:t>the Board’s views on the proposed draft of the</a:t>
            </a:r>
            <a:endParaRPr lang="en-CA" sz="3200" dirty="0"/>
          </a:p>
          <a:p>
            <a:pPr marL="914377" lvl="1" indent="-457189" algn="just">
              <a:spcBef>
                <a:spcPts val="800"/>
              </a:spcBef>
              <a:buFont typeface="Arial" panose="020B0604020202020204" pitchFamily="34" charset="0"/>
              <a:buChar char="̶"/>
            </a:pPr>
            <a:r>
              <a:rPr lang="en-US" sz="3200" dirty="0"/>
              <a:t>IAASB’s Strategy for 2020–2023</a:t>
            </a:r>
          </a:p>
          <a:p>
            <a:pPr marL="914377" lvl="1" indent="-457189" algn="just">
              <a:spcBef>
                <a:spcPts val="800"/>
              </a:spcBef>
              <a:buFont typeface="Arial" panose="020B0604020202020204" pitchFamily="34" charset="0"/>
              <a:buChar char="̶"/>
            </a:pPr>
            <a:r>
              <a:rPr lang="en-US" sz="3200" dirty="0"/>
              <a:t>Work Plan for 2020–2021</a:t>
            </a:r>
            <a:endParaRPr lang="en-CA" sz="3200" dirty="0"/>
          </a:p>
          <a:p>
            <a:pPr marL="347472"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
        <p:nvSpPr>
          <p:cNvPr id="8" name="Content Placeholder 2">
            <a:extLst>
              <a:ext uri="{FF2B5EF4-FFF2-40B4-BE49-F238E27FC236}">
                <a16:creationId xmlns:a16="http://schemas.microsoft.com/office/drawing/2014/main" id="{0A962E3C-3575-4F9A-828A-A3A429055D70}"/>
              </a:ext>
            </a:extLst>
          </p:cNvPr>
          <p:cNvSpPr txBox="1">
            <a:spLocks/>
          </p:cNvSpPr>
          <p:nvPr/>
        </p:nvSpPr>
        <p:spPr>
          <a:xfrm>
            <a:off x="238799" y="3647440"/>
            <a:ext cx="11844115" cy="3958634"/>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867978" lvl="2" indent="-347472">
              <a:spcAft>
                <a:spcPts val="300"/>
              </a:spcAft>
            </a:pPr>
            <a:endParaRPr lang="en-US" dirty="0"/>
          </a:p>
          <a:p>
            <a:pPr marL="694944" lvl="1" indent="-347472">
              <a:lnSpc>
                <a:spcPts val="2400"/>
              </a:lnSpc>
              <a:spcAft>
                <a:spcPts val="300"/>
              </a:spcAft>
            </a:pPr>
            <a:endParaRPr lang="en-US" dirty="0"/>
          </a:p>
          <a:p>
            <a:pPr marL="347472" lvl="1" indent="0">
              <a:lnSpc>
                <a:spcPts val="2400"/>
              </a:lnSpc>
              <a:spcBef>
                <a:spcPts val="300"/>
              </a:spcBef>
              <a:spcAft>
                <a:spcPts val="300"/>
              </a:spcAft>
              <a:buFont typeface="Arial"/>
              <a:buNone/>
            </a:pPr>
            <a:endParaRPr lang="en-US" dirty="0"/>
          </a:p>
        </p:txBody>
      </p:sp>
      <p:pic>
        <p:nvPicPr>
          <p:cNvPr id="7" name="Picture 6" descr="A picture containing indoor&#10;&#10;Description automatically generated">
            <a:extLst>
              <a:ext uri="{FF2B5EF4-FFF2-40B4-BE49-F238E27FC236}">
                <a16:creationId xmlns:a16="http://schemas.microsoft.com/office/drawing/2014/main" id="{73F53D3A-BF3A-4D07-A7B0-64FE68A77E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387582">
            <a:off x="368828" y="1757679"/>
            <a:ext cx="3579481" cy="4322113"/>
          </a:xfrm>
          <a:prstGeom prst="rect">
            <a:avLst/>
          </a:prstGeom>
        </p:spPr>
      </p:pic>
      <p:sp>
        <p:nvSpPr>
          <p:cNvPr id="11" name="Slide Number Placeholder 5">
            <a:extLst>
              <a:ext uri="{FF2B5EF4-FFF2-40B4-BE49-F238E27FC236}">
                <a16:creationId xmlns:a16="http://schemas.microsoft.com/office/drawing/2014/main" id="{F0E54AFE-B801-416D-A4ED-B24023041403}"/>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2</a:t>
            </a:fld>
            <a:r>
              <a:rPr lang="en-US" dirty="0">
                <a:latin typeface="Arial" panose="020B0604020202020204" pitchFamily="34" charset="0"/>
              </a:rPr>
              <a:t>  |</a:t>
            </a:r>
          </a:p>
        </p:txBody>
      </p:sp>
    </p:spTree>
    <p:extLst>
      <p:ext uri="{BB962C8B-B14F-4D97-AF65-F5344CB8AC3E}">
        <p14:creationId xmlns:p14="http://schemas.microsoft.com/office/powerpoint/2010/main" val="1690667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400" b="1" dirty="0"/>
              <a:t>Overview</a:t>
            </a:r>
            <a:r>
              <a:rPr lang="en-US" sz="2667" b="1" dirty="0"/>
              <a:t> </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800041751"/>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179A269F-7D1F-4796-BA71-397BC8A360D8}"/>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3</a:t>
            </a:fld>
            <a:r>
              <a:rPr lang="en-US" dirty="0">
                <a:latin typeface="Arial" panose="020B0604020202020204" pitchFamily="34" charset="0"/>
              </a:rPr>
              <a:t>  |</a:t>
            </a:r>
          </a:p>
        </p:txBody>
      </p:sp>
    </p:spTree>
    <p:extLst>
      <p:ext uri="{BB962C8B-B14F-4D97-AF65-F5344CB8AC3E}">
        <p14:creationId xmlns:p14="http://schemas.microsoft.com/office/powerpoint/2010/main" val="71196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667" b="1" dirty="0"/>
              <a:t> </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62823968"/>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358304A6-2E46-4941-86D2-1020234CA98A}"/>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4</a:t>
            </a:fld>
            <a:r>
              <a:rPr lang="en-US" dirty="0">
                <a:latin typeface="Arial" panose="020B0604020202020204" pitchFamily="34" charset="0"/>
              </a:rPr>
              <a:t>  |</a:t>
            </a:r>
          </a:p>
        </p:txBody>
      </p:sp>
    </p:spTree>
    <p:extLst>
      <p:ext uri="{BB962C8B-B14F-4D97-AF65-F5344CB8AC3E}">
        <p14:creationId xmlns:p14="http://schemas.microsoft.com/office/powerpoint/2010/main" val="953473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A90C4-1690-4C35-AF6A-2293CB652CBE}"/>
              </a:ext>
            </a:extLst>
          </p:cNvPr>
          <p:cNvSpPr>
            <a:spLocks noGrp="1"/>
          </p:cNvSpPr>
          <p:nvPr>
            <p:ph type="title"/>
          </p:nvPr>
        </p:nvSpPr>
        <p:spPr/>
        <p:txBody>
          <a:bodyPr/>
          <a:lstStyle/>
          <a:p>
            <a:r>
              <a:rPr lang="en-US" dirty="0"/>
              <a:t>CAG Discussion</a:t>
            </a:r>
          </a:p>
        </p:txBody>
      </p:sp>
      <p:sp>
        <p:nvSpPr>
          <p:cNvPr id="4" name="Slide Number Placeholder 5">
            <a:extLst>
              <a:ext uri="{FF2B5EF4-FFF2-40B4-BE49-F238E27FC236}">
                <a16:creationId xmlns:a16="http://schemas.microsoft.com/office/drawing/2014/main" id="{E3130419-FA21-44C8-8C81-9DEE8BA05B6B}"/>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5</a:t>
            </a:fld>
            <a:r>
              <a:rPr lang="en-US" dirty="0">
                <a:latin typeface="Arial" panose="020B0604020202020204" pitchFamily="34" charset="0"/>
              </a:rPr>
              <a:t>  |</a:t>
            </a:r>
          </a:p>
        </p:txBody>
      </p:sp>
      <p:sp>
        <p:nvSpPr>
          <p:cNvPr id="5" name="Content Placeholder 2">
            <a:extLst>
              <a:ext uri="{FF2B5EF4-FFF2-40B4-BE49-F238E27FC236}">
                <a16:creationId xmlns:a16="http://schemas.microsoft.com/office/drawing/2014/main" id="{901E9449-5361-4946-8F2B-E6C7BDA1A5D9}"/>
              </a:ext>
            </a:extLst>
          </p:cNvPr>
          <p:cNvSpPr txBox="1">
            <a:spLocks/>
          </p:cNvSpPr>
          <p:nvPr/>
        </p:nvSpPr>
        <p:spPr>
          <a:xfrm>
            <a:off x="358046" y="1270000"/>
            <a:ext cx="11844114" cy="4958093"/>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indent="-347472">
              <a:lnSpc>
                <a:spcPts val="2800"/>
              </a:lnSpc>
              <a:spcBef>
                <a:spcPts val="300"/>
              </a:spcBef>
              <a:spcAft>
                <a:spcPts val="300"/>
              </a:spcAft>
            </a:pPr>
            <a:r>
              <a:rPr lang="en-US" sz="2400" dirty="0"/>
              <a:t>Strategy for 2020–2023</a:t>
            </a:r>
          </a:p>
          <a:p>
            <a:pPr marL="694944" lvl="1" indent="-347472">
              <a:lnSpc>
                <a:spcPts val="2800"/>
              </a:lnSpc>
              <a:spcBef>
                <a:spcPts val="300"/>
              </a:spcBef>
              <a:spcAft>
                <a:spcPts val="300"/>
              </a:spcAft>
            </a:pPr>
            <a:r>
              <a:rPr lang="en-US" sz="2000" dirty="0"/>
              <a:t>Support for focus on technology</a:t>
            </a:r>
          </a:p>
          <a:p>
            <a:pPr marL="1042416" lvl="2" indent="-347472">
              <a:lnSpc>
                <a:spcPts val="2800"/>
              </a:lnSpc>
              <a:spcBef>
                <a:spcPts val="300"/>
              </a:spcBef>
              <a:spcAft>
                <a:spcPts val="300"/>
              </a:spcAft>
            </a:pPr>
            <a:r>
              <a:rPr lang="en-US" sz="1800" dirty="0"/>
              <a:t>Have more IT specialists in IAASB and CAG</a:t>
            </a:r>
          </a:p>
          <a:p>
            <a:pPr marL="694944" lvl="1" indent="-347472">
              <a:lnSpc>
                <a:spcPts val="2800"/>
              </a:lnSpc>
              <a:spcBef>
                <a:spcPts val="300"/>
              </a:spcBef>
              <a:spcAft>
                <a:spcPts val="300"/>
              </a:spcAft>
            </a:pPr>
            <a:r>
              <a:rPr lang="en-US" sz="2000" dirty="0"/>
              <a:t>Support for LCE project</a:t>
            </a:r>
          </a:p>
          <a:p>
            <a:pPr marL="694944" lvl="1" indent="-347472">
              <a:lnSpc>
                <a:spcPts val="2800"/>
              </a:lnSpc>
              <a:spcBef>
                <a:spcPts val="300"/>
              </a:spcBef>
              <a:spcAft>
                <a:spcPts val="300"/>
              </a:spcAft>
            </a:pPr>
            <a:r>
              <a:rPr lang="en-US" sz="2000" dirty="0"/>
              <a:t>Include clear targets and describe available resources</a:t>
            </a:r>
          </a:p>
          <a:p>
            <a:pPr marL="1042416" lvl="2" indent="-347472">
              <a:lnSpc>
                <a:spcPts val="2800"/>
              </a:lnSpc>
              <a:spcBef>
                <a:spcPts val="300"/>
              </a:spcBef>
              <a:spcAft>
                <a:spcPts val="300"/>
              </a:spcAft>
            </a:pPr>
            <a:r>
              <a:rPr lang="en-US" sz="1800" dirty="0"/>
              <a:t>Manage expectations about how long different activities take</a:t>
            </a:r>
          </a:p>
          <a:p>
            <a:pPr marL="347472" indent="-347472">
              <a:lnSpc>
                <a:spcPts val="2800"/>
              </a:lnSpc>
              <a:spcBef>
                <a:spcPts val="300"/>
              </a:spcBef>
              <a:spcAft>
                <a:spcPts val="300"/>
              </a:spcAft>
            </a:pPr>
            <a:r>
              <a:rPr lang="en-US" sz="2400" dirty="0"/>
              <a:t>Work Plan for 2020–2021</a:t>
            </a:r>
          </a:p>
          <a:p>
            <a:pPr marL="694944" lvl="1" indent="-347472">
              <a:lnSpc>
                <a:spcPts val="2800"/>
              </a:lnSpc>
              <a:spcBef>
                <a:spcPts val="300"/>
              </a:spcBef>
              <a:spcAft>
                <a:spcPts val="300"/>
              </a:spcAft>
            </a:pPr>
            <a:r>
              <a:rPr lang="en-US" sz="2000" dirty="0"/>
              <a:t> Support for developing Framework for Activities</a:t>
            </a:r>
          </a:p>
          <a:p>
            <a:pPr marL="1042416" lvl="2" indent="-347472">
              <a:lnSpc>
                <a:spcPts val="2800"/>
              </a:lnSpc>
              <a:spcBef>
                <a:spcPts val="300"/>
              </a:spcBef>
              <a:spcAft>
                <a:spcPts val="300"/>
              </a:spcAft>
            </a:pPr>
            <a:r>
              <a:rPr lang="en-US" sz="1800" dirty="0"/>
              <a:t>Describe scope implementation activities clearly – Implementation may lead to new standard setting act. </a:t>
            </a:r>
          </a:p>
          <a:p>
            <a:pPr marL="1042416" lvl="2" indent="-347472">
              <a:lnSpc>
                <a:spcPts val="2800"/>
              </a:lnSpc>
              <a:spcBef>
                <a:spcPts val="300"/>
              </a:spcBef>
              <a:spcAft>
                <a:spcPts val="300"/>
              </a:spcAft>
            </a:pPr>
            <a:r>
              <a:rPr lang="en-US" sz="1800" dirty="0"/>
              <a:t>Research phase important for understanding issues (e.g. can issue be solved by standard setting or not)</a:t>
            </a:r>
            <a:endParaRPr lang="en-US" sz="2000" dirty="0"/>
          </a:p>
          <a:p>
            <a:pPr marL="694944" lvl="1" indent="-347472">
              <a:lnSpc>
                <a:spcPts val="2800"/>
              </a:lnSpc>
              <a:spcBef>
                <a:spcPts val="300"/>
              </a:spcBef>
              <a:spcAft>
                <a:spcPts val="300"/>
              </a:spcAft>
            </a:pPr>
            <a:r>
              <a:rPr lang="en-US" sz="2000" dirty="0"/>
              <a:t>What factors influence the selection of new activities?</a:t>
            </a:r>
          </a:p>
          <a:p>
            <a:pPr marL="1042416" lvl="2" indent="-347472">
              <a:lnSpc>
                <a:spcPts val="2800"/>
              </a:lnSpc>
              <a:spcBef>
                <a:spcPts val="300"/>
              </a:spcBef>
              <a:spcAft>
                <a:spcPts val="300"/>
              </a:spcAft>
            </a:pPr>
            <a:r>
              <a:rPr lang="en-US" sz="1800" dirty="0"/>
              <a:t>Balance needs of all stakeholders </a:t>
            </a:r>
          </a:p>
          <a:p>
            <a:pPr marL="347472" lvl="1" indent="0">
              <a:lnSpc>
                <a:spcPts val="2400"/>
              </a:lnSpc>
              <a:spcBef>
                <a:spcPts val="300"/>
              </a:spcBef>
              <a:spcAft>
                <a:spcPts val="300"/>
              </a:spcAft>
              <a:buFont typeface="Arial"/>
              <a:buNone/>
            </a:pPr>
            <a:endParaRPr lang="en-US" dirty="0"/>
          </a:p>
        </p:txBody>
      </p:sp>
    </p:spTree>
    <p:extLst>
      <p:ext uri="{BB962C8B-B14F-4D97-AF65-F5344CB8AC3E}">
        <p14:creationId xmlns:p14="http://schemas.microsoft.com/office/powerpoint/2010/main" val="1758172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667" b="1" dirty="0"/>
              <a:t> </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058932918"/>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358304A6-2E46-4941-86D2-1020234CA98A}"/>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6</a:t>
            </a:fld>
            <a:r>
              <a:rPr lang="en-US" dirty="0">
                <a:latin typeface="Arial" panose="020B0604020202020204" pitchFamily="34" charset="0"/>
              </a:rPr>
              <a:t>  |</a:t>
            </a:r>
          </a:p>
        </p:txBody>
      </p:sp>
    </p:spTree>
    <p:extLst>
      <p:ext uri="{BB962C8B-B14F-4D97-AF65-F5344CB8AC3E}">
        <p14:creationId xmlns:p14="http://schemas.microsoft.com/office/powerpoint/2010/main" val="1596430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9277-2921-4F89-BA1C-A5E8BE8850D9}"/>
              </a:ext>
            </a:extLst>
          </p:cNvPr>
          <p:cNvSpPr>
            <a:spLocks noGrp="1"/>
          </p:cNvSpPr>
          <p:nvPr>
            <p:ph type="title"/>
          </p:nvPr>
        </p:nvSpPr>
        <p:spPr/>
        <p:txBody>
          <a:bodyPr/>
          <a:lstStyle/>
          <a:p>
            <a:r>
              <a:rPr lang="en-US" dirty="0"/>
              <a:t>Consultation Paper – Responses</a:t>
            </a:r>
          </a:p>
        </p:txBody>
      </p:sp>
      <p:sp>
        <p:nvSpPr>
          <p:cNvPr id="3" name="Content Placeholder 2"/>
          <p:cNvSpPr>
            <a:spLocks noGrp="1"/>
          </p:cNvSpPr>
          <p:nvPr>
            <p:ph idx="1"/>
          </p:nvPr>
        </p:nvSpPr>
        <p:spPr>
          <a:xfrm>
            <a:off x="609600" y="1564640"/>
            <a:ext cx="4186517" cy="4522893"/>
          </a:xfrm>
        </p:spPr>
        <p:txBody>
          <a:bodyPr/>
          <a:lstStyle/>
          <a:p>
            <a:r>
              <a:rPr lang="en-US" sz="2400" dirty="0">
                <a:solidFill>
                  <a:schemeClr val="tx1">
                    <a:lumMod val="65000"/>
                    <a:lumOff val="35000"/>
                  </a:schemeClr>
                </a:solidFill>
              </a:rPr>
              <a:t>Consultation was open for 120 days </a:t>
            </a:r>
          </a:p>
          <a:p>
            <a:r>
              <a:rPr lang="en-US" sz="2400" dirty="0">
                <a:solidFill>
                  <a:schemeClr val="tx1">
                    <a:lumMod val="65000"/>
                    <a:lumOff val="35000"/>
                  </a:schemeClr>
                </a:solidFill>
              </a:rPr>
              <a:t>45 respondents, including</a:t>
            </a:r>
          </a:p>
          <a:p>
            <a:pPr lvl="1"/>
            <a:r>
              <a:rPr lang="en-US" sz="2133" dirty="0">
                <a:solidFill>
                  <a:schemeClr val="tx1">
                    <a:lumMod val="65000"/>
                    <a:lumOff val="35000"/>
                  </a:schemeClr>
                </a:solidFill>
              </a:rPr>
              <a:t>4 Monitoring Group member (BCBS, IAIS, IFIAR, IOSCO)</a:t>
            </a:r>
          </a:p>
          <a:p>
            <a:pPr lvl="1"/>
            <a:r>
              <a:rPr lang="en-US" sz="2133" dirty="0">
                <a:solidFill>
                  <a:schemeClr val="tx1">
                    <a:lumMod val="65000"/>
                    <a:lumOff val="35000"/>
                  </a:schemeClr>
                </a:solidFill>
              </a:rPr>
              <a:t>15 global organizations</a:t>
            </a:r>
          </a:p>
          <a:p>
            <a:pPr marL="173034" lvl="1" indent="-173034">
              <a:spcBef>
                <a:spcPts val="1200"/>
              </a:spcBef>
              <a:buFont typeface="Arial"/>
              <a:buChar char="•"/>
            </a:pPr>
            <a:r>
              <a:rPr lang="en-US" sz="2400" dirty="0">
                <a:solidFill>
                  <a:schemeClr val="tx1">
                    <a:lumMod val="65000"/>
                    <a:lumOff val="35000"/>
                  </a:schemeClr>
                </a:solidFill>
              </a:rPr>
              <a:t>79 responses to last year’s Strategy Survey (37 excluding responses from individuals)</a:t>
            </a:r>
          </a:p>
        </p:txBody>
      </p:sp>
      <p:graphicFrame>
        <p:nvGraphicFramePr>
          <p:cNvPr id="6" name="Chart 5"/>
          <p:cNvGraphicFramePr/>
          <p:nvPr>
            <p:extLst>
              <p:ext uri="{D42A27DB-BD31-4B8C-83A1-F6EECF244321}">
                <p14:modId xmlns:p14="http://schemas.microsoft.com/office/powerpoint/2010/main" val="2493844380"/>
              </p:ext>
            </p:extLst>
          </p:nvPr>
        </p:nvGraphicFramePr>
        <p:xfrm>
          <a:off x="5161281" y="1564641"/>
          <a:ext cx="6532879" cy="4522892"/>
        </p:xfrm>
        <a:graphic>
          <a:graphicData uri="http://schemas.openxmlformats.org/drawingml/2006/chart">
            <c:chart xmlns:c="http://schemas.openxmlformats.org/drawingml/2006/chart" xmlns:r="http://schemas.openxmlformats.org/officeDocument/2006/relationships" r:id="rId3"/>
          </a:graphicData>
        </a:graphic>
      </p:graphicFrame>
      <p:sp>
        <p:nvSpPr>
          <p:cNvPr id="7" name="Slide Number Placeholder 5">
            <a:extLst>
              <a:ext uri="{FF2B5EF4-FFF2-40B4-BE49-F238E27FC236}">
                <a16:creationId xmlns:a16="http://schemas.microsoft.com/office/drawing/2014/main" id="{A48D3887-3C17-4F1B-A317-3F386D76DCE7}"/>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7</a:t>
            </a:fld>
            <a:r>
              <a:rPr lang="en-US" dirty="0">
                <a:latin typeface="Arial" panose="020B0604020202020204" pitchFamily="34" charset="0"/>
              </a:rPr>
              <a:t>  |</a:t>
            </a:r>
          </a:p>
        </p:txBody>
      </p:sp>
    </p:spTree>
    <p:extLst>
      <p:ext uri="{BB962C8B-B14F-4D97-AF65-F5344CB8AC3E}">
        <p14:creationId xmlns:p14="http://schemas.microsoft.com/office/powerpoint/2010/main" val="2788982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sz="2400" b="1" dirty="0">
                <a:ln w="0"/>
              </a:rPr>
              <a:t>High-Level Summary of Respondent’s Comments</a:t>
            </a:r>
            <a:endParaRPr lang="en-US" sz="2400" b="1" dirty="0"/>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347886" y="1452880"/>
            <a:ext cx="11844114" cy="4836709"/>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indent="-347472">
              <a:lnSpc>
                <a:spcPts val="2800"/>
              </a:lnSpc>
              <a:spcBef>
                <a:spcPts val="300"/>
              </a:spcBef>
              <a:spcAft>
                <a:spcPts val="300"/>
              </a:spcAft>
            </a:pPr>
            <a:r>
              <a:rPr lang="en-US" sz="2400" dirty="0"/>
              <a:t>Overall support for Strategy and Work Plan and proposals, specifically </a:t>
            </a:r>
          </a:p>
          <a:p>
            <a:pPr marL="694944" lvl="1" indent="-347472">
              <a:lnSpc>
                <a:spcPts val="2800"/>
              </a:lnSpc>
              <a:spcBef>
                <a:spcPts val="300"/>
              </a:spcBef>
              <a:spcAft>
                <a:spcPts val="300"/>
              </a:spcAft>
            </a:pPr>
            <a:r>
              <a:rPr lang="en-US" sz="2000" dirty="0"/>
              <a:t>Progressing and completing major audit quality initiatives (QM, ISA 600)</a:t>
            </a:r>
          </a:p>
          <a:p>
            <a:pPr marL="1042416" lvl="2" indent="-347472">
              <a:lnSpc>
                <a:spcPts val="2800"/>
              </a:lnSpc>
              <a:spcBef>
                <a:spcPts val="300"/>
              </a:spcBef>
              <a:spcAft>
                <a:spcPts val="300"/>
              </a:spcAft>
            </a:pPr>
            <a:r>
              <a:rPr lang="en-US" sz="1800" dirty="0"/>
              <a:t>Including implementation support</a:t>
            </a:r>
          </a:p>
          <a:p>
            <a:pPr marL="694944" lvl="1" indent="-347472">
              <a:lnSpc>
                <a:spcPts val="2800"/>
              </a:lnSpc>
              <a:spcBef>
                <a:spcPts val="300"/>
              </a:spcBef>
              <a:spcAft>
                <a:spcPts val="300"/>
              </a:spcAft>
            </a:pPr>
            <a:r>
              <a:rPr lang="en-US" sz="2000" dirty="0"/>
              <a:t>Prioritizing future actions related to audit evidence and evolving technologies</a:t>
            </a:r>
          </a:p>
          <a:p>
            <a:pPr marL="694944" lvl="1" indent="-347472">
              <a:lnSpc>
                <a:spcPts val="2800"/>
              </a:lnSpc>
              <a:spcBef>
                <a:spcPts val="300"/>
              </a:spcBef>
              <a:spcAft>
                <a:spcPts val="300"/>
              </a:spcAft>
            </a:pPr>
            <a:r>
              <a:rPr lang="en-US" sz="2000" dirty="0"/>
              <a:t>Developing Framework for Activities</a:t>
            </a:r>
          </a:p>
          <a:p>
            <a:pPr marL="694944" lvl="1" indent="-347472">
              <a:lnSpc>
                <a:spcPts val="2800"/>
              </a:lnSpc>
              <a:spcBef>
                <a:spcPts val="300"/>
              </a:spcBef>
              <a:spcAft>
                <a:spcPts val="300"/>
              </a:spcAft>
            </a:pPr>
            <a:r>
              <a:rPr lang="en-US" sz="2000" dirty="0"/>
              <a:t>Enhancing coordination with IESBA</a:t>
            </a:r>
          </a:p>
          <a:p>
            <a:pPr marL="694944" lvl="1" indent="-347472">
              <a:lnSpc>
                <a:spcPts val="2800"/>
              </a:lnSpc>
              <a:spcBef>
                <a:spcPts val="300"/>
              </a:spcBef>
              <a:spcAft>
                <a:spcPts val="300"/>
              </a:spcAft>
            </a:pPr>
            <a:r>
              <a:rPr lang="en-US" sz="2000" dirty="0"/>
              <a:t>Expanding collaboration with NSS</a:t>
            </a:r>
          </a:p>
          <a:p>
            <a:pPr marL="347472" indent="-347472">
              <a:lnSpc>
                <a:spcPts val="2800"/>
              </a:lnSpc>
              <a:spcBef>
                <a:spcPts val="300"/>
              </a:spcBef>
              <a:spcAft>
                <a:spcPts val="300"/>
              </a:spcAft>
            </a:pPr>
            <a:r>
              <a:rPr lang="en-US" sz="2400" dirty="0"/>
              <a:t>However, conflicting views in some areas</a:t>
            </a:r>
          </a:p>
          <a:p>
            <a:pPr marL="694944" lvl="1" indent="-347472">
              <a:lnSpc>
                <a:spcPts val="2800"/>
              </a:lnSpc>
              <a:spcBef>
                <a:spcPts val="300"/>
              </a:spcBef>
              <a:spcAft>
                <a:spcPts val="300"/>
              </a:spcAft>
            </a:pPr>
            <a:r>
              <a:rPr lang="en-US" sz="2000" dirty="0"/>
              <a:t>Support work on LCE vs. focus on PIEs</a:t>
            </a:r>
          </a:p>
          <a:p>
            <a:pPr marL="694944" lvl="1" indent="-347472">
              <a:lnSpc>
                <a:spcPts val="2800"/>
              </a:lnSpc>
              <a:spcBef>
                <a:spcPts val="300"/>
              </a:spcBef>
              <a:spcAft>
                <a:spcPts val="300"/>
              </a:spcAft>
            </a:pPr>
            <a:r>
              <a:rPr lang="en-US" sz="2000" dirty="0"/>
              <a:t>Speed up vs. slow down standard setting, reflecting need to absorb major standards</a:t>
            </a:r>
          </a:p>
          <a:p>
            <a:pPr marL="694944" lvl="1" indent="-347472">
              <a:lnSpc>
                <a:spcPts val="2800"/>
              </a:lnSpc>
              <a:spcBef>
                <a:spcPts val="300"/>
              </a:spcBef>
              <a:spcAft>
                <a:spcPts val="300"/>
              </a:spcAft>
            </a:pPr>
            <a:r>
              <a:rPr lang="en-US" sz="2000" dirty="0"/>
              <a:t>Period with limited or no new projects vs. start new major projects</a:t>
            </a:r>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
        <p:nvSpPr>
          <p:cNvPr id="5" name="Slide Number Placeholder 5">
            <a:extLst>
              <a:ext uri="{FF2B5EF4-FFF2-40B4-BE49-F238E27FC236}">
                <a16:creationId xmlns:a16="http://schemas.microsoft.com/office/drawing/2014/main" id="{0E7443EC-7AAF-4439-8EC4-7259E170AE82}"/>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8</a:t>
            </a:fld>
            <a:r>
              <a:rPr lang="en-US" dirty="0">
                <a:latin typeface="Arial" panose="020B0604020202020204" pitchFamily="34" charset="0"/>
              </a:rPr>
              <a:t>  |</a:t>
            </a:r>
          </a:p>
        </p:txBody>
      </p:sp>
    </p:spTree>
    <p:extLst>
      <p:ext uri="{BB962C8B-B14F-4D97-AF65-F5344CB8AC3E}">
        <p14:creationId xmlns:p14="http://schemas.microsoft.com/office/powerpoint/2010/main" val="2387265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sz="2400" b="1" dirty="0">
                <a:ln w="0"/>
              </a:rPr>
              <a:t>High-Level Summary of Respondent’s Comments</a:t>
            </a:r>
            <a:endParaRPr lang="en-US" sz="2400" b="1" dirty="0"/>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60833" y="1386905"/>
            <a:ext cx="11844114" cy="4836709"/>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800" dirty="0"/>
              <a:t>Overarching Suggestions</a:t>
            </a:r>
          </a:p>
          <a:p>
            <a:pPr marL="694944" lvl="1" indent="-347472">
              <a:spcBef>
                <a:spcPts val="300"/>
              </a:spcBef>
              <a:spcAft>
                <a:spcPts val="300"/>
              </a:spcAft>
            </a:pPr>
            <a:r>
              <a:rPr lang="en-US" sz="2400" dirty="0"/>
              <a:t>Enhance linkages between sections</a:t>
            </a:r>
          </a:p>
          <a:p>
            <a:pPr marL="1042416" lvl="2" indent="-347472">
              <a:spcBef>
                <a:spcPts val="300"/>
              </a:spcBef>
              <a:spcAft>
                <a:spcPts val="300"/>
              </a:spcAft>
            </a:pPr>
            <a:r>
              <a:rPr lang="en-US" sz="2000" dirty="0"/>
              <a:t>Linkages between Work Plan and Strategy</a:t>
            </a:r>
          </a:p>
          <a:p>
            <a:pPr marL="1389888" lvl="3" indent="-347472">
              <a:spcBef>
                <a:spcPts val="300"/>
              </a:spcBef>
              <a:spcAft>
                <a:spcPts val="300"/>
              </a:spcAft>
            </a:pPr>
            <a:r>
              <a:rPr lang="en-US" sz="1800" dirty="0">
                <a:solidFill>
                  <a:schemeClr val="tx1">
                    <a:lumMod val="65000"/>
                    <a:lumOff val="35000"/>
                  </a:schemeClr>
                </a:solidFill>
                <a:latin typeface="Arial" panose="020B0604020202020204" pitchFamily="34" charset="0"/>
                <a:cs typeface="Arial" panose="020B0604020202020204" pitchFamily="34" charset="0"/>
              </a:rPr>
              <a:t>Describe how strategic drivers correspond to work planned</a:t>
            </a:r>
          </a:p>
          <a:p>
            <a:pPr marL="1389888" lvl="3" indent="-347472">
              <a:spcBef>
                <a:spcPts val="300"/>
              </a:spcBef>
              <a:spcAft>
                <a:spcPts val="300"/>
              </a:spcAft>
            </a:pPr>
            <a:r>
              <a:rPr lang="en-US" sz="1800" dirty="0">
                <a:solidFill>
                  <a:schemeClr val="tx1">
                    <a:lumMod val="65000"/>
                    <a:lumOff val="35000"/>
                  </a:schemeClr>
                </a:solidFill>
                <a:latin typeface="Arial" panose="020B0604020202020204" pitchFamily="34" charset="0"/>
                <a:cs typeface="Arial" panose="020B0604020202020204" pitchFamily="34" charset="0"/>
              </a:rPr>
              <a:t>Linked Framework for Activities to detailed work plan (description of projects and work streams)</a:t>
            </a:r>
          </a:p>
          <a:p>
            <a:pPr marL="1042416" lvl="2" indent="-347472">
              <a:spcBef>
                <a:spcPts val="300"/>
              </a:spcBef>
              <a:spcAft>
                <a:spcPts val="300"/>
              </a:spcAft>
            </a:pPr>
            <a:r>
              <a:rPr lang="en-US" sz="2000" dirty="0"/>
              <a:t>Linkages between goal, keys to success and stakeholder value proposition</a:t>
            </a:r>
          </a:p>
          <a:p>
            <a:pPr marL="1389888" lvl="3" indent="-347472">
              <a:spcBef>
                <a:spcPts val="300"/>
              </a:spcBef>
              <a:spcAft>
                <a:spcPts val="300"/>
              </a:spcAft>
            </a:pPr>
            <a:r>
              <a:rPr lang="en-US" sz="1800" dirty="0">
                <a:solidFill>
                  <a:schemeClr val="tx1">
                    <a:lumMod val="65000"/>
                    <a:lumOff val="35000"/>
                  </a:schemeClr>
                </a:solidFill>
                <a:latin typeface="Arial" panose="020B0604020202020204" pitchFamily="34" charset="0"/>
                <a:cs typeface="Arial" panose="020B0604020202020204" pitchFamily="34" charset="0"/>
              </a:rPr>
              <a:t>Added diagram – see next slide</a:t>
            </a:r>
          </a:p>
          <a:p>
            <a:pPr marL="694944" lvl="1" indent="-347472">
              <a:spcBef>
                <a:spcPts val="300"/>
              </a:spcBef>
              <a:spcAft>
                <a:spcPts val="300"/>
              </a:spcAft>
            </a:pPr>
            <a:r>
              <a:rPr lang="en-US" sz="2400" dirty="0"/>
              <a:t>Explain who IAASB’s stakeholders are; clarify needs of stakeholders need to be balanced</a:t>
            </a:r>
          </a:p>
          <a:p>
            <a:pPr marL="1042416" lvl="2" indent="-347472">
              <a:spcBef>
                <a:spcPts val="300"/>
              </a:spcBef>
              <a:spcAft>
                <a:spcPts val="300"/>
              </a:spcAft>
            </a:pPr>
            <a:r>
              <a:rPr lang="en-US" sz="2000" dirty="0"/>
              <a:t>Added appendix to Strategy with overview of key stakeholders, without singling too many out </a:t>
            </a:r>
          </a:p>
          <a:p>
            <a:pPr marL="1389888" lvl="3" indent="-347472">
              <a:spcBef>
                <a:spcPts val="300"/>
              </a:spcBef>
              <a:spcAft>
                <a:spcPts val="300"/>
              </a:spcAft>
            </a:pPr>
            <a:r>
              <a:rPr lang="en-US" sz="1800" dirty="0">
                <a:solidFill>
                  <a:schemeClr val="tx1">
                    <a:lumMod val="65000"/>
                    <a:lumOff val="35000"/>
                  </a:schemeClr>
                </a:solidFill>
                <a:latin typeface="Arial" panose="020B0604020202020204" pitchFamily="34" charset="0"/>
                <a:cs typeface="Arial" panose="020B0604020202020204" pitchFamily="34" charset="0"/>
              </a:rPr>
              <a:t>Appendix also explains needs of stakeholders need to be balanced</a:t>
            </a:r>
          </a:p>
          <a:p>
            <a:pPr marL="1042416" lvl="2" indent="-347472">
              <a:spcBef>
                <a:spcPts val="300"/>
              </a:spcBef>
              <a:spcAft>
                <a:spcPts val="300"/>
              </a:spcAft>
            </a:pPr>
            <a:r>
              <a:rPr lang="en-US" sz="2000" dirty="0"/>
              <a:t>Added appendix to Work Plan setting out the IAASB’s regular outreach activities</a:t>
            </a:r>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
        <p:nvSpPr>
          <p:cNvPr id="5" name="Slide Number Placeholder 5">
            <a:extLst>
              <a:ext uri="{FF2B5EF4-FFF2-40B4-BE49-F238E27FC236}">
                <a16:creationId xmlns:a16="http://schemas.microsoft.com/office/drawing/2014/main" id="{180FD75D-2197-4FE4-A58E-A5886FD69BDA}"/>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9</a:t>
            </a:fld>
            <a:r>
              <a:rPr lang="en-US" dirty="0">
                <a:latin typeface="Arial" panose="020B0604020202020204" pitchFamily="34" charset="0"/>
              </a:rPr>
              <a:t>  |</a:t>
            </a:r>
          </a:p>
        </p:txBody>
      </p:sp>
    </p:spTree>
    <p:extLst>
      <p:ext uri="{BB962C8B-B14F-4D97-AF65-F5344CB8AC3E}">
        <p14:creationId xmlns:p14="http://schemas.microsoft.com/office/powerpoint/2010/main" val="1297860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404896508"/>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5">
            <a:extLst>
              <a:ext uri="{FF2B5EF4-FFF2-40B4-BE49-F238E27FC236}">
                <a16:creationId xmlns:a16="http://schemas.microsoft.com/office/drawing/2014/main" id="{81D6ED8D-5EC9-420A-ADC0-C1FBEF7673AF}"/>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10</a:t>
            </a:fld>
            <a:r>
              <a:rPr lang="en-US" dirty="0">
                <a:latin typeface="Arial" panose="020B0604020202020204" pitchFamily="34" charset="0"/>
              </a:rPr>
              <a:t>  |</a:t>
            </a:r>
          </a:p>
        </p:txBody>
      </p:sp>
    </p:spTree>
    <p:extLst>
      <p:ext uri="{BB962C8B-B14F-4D97-AF65-F5344CB8AC3E}">
        <p14:creationId xmlns:p14="http://schemas.microsoft.com/office/powerpoint/2010/main" val="1481592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A7E7B113-2093-475D-B83E-3C48AAD48B9C}"/>
              </a:ext>
            </a:extLst>
          </p:cNvPr>
          <p:cNvGrpSpPr/>
          <p:nvPr/>
        </p:nvGrpSpPr>
        <p:grpSpPr>
          <a:xfrm>
            <a:off x="3344024" y="1283399"/>
            <a:ext cx="5243513" cy="5031675"/>
            <a:chOff x="3344837" y="2076733"/>
            <a:chExt cx="4572001" cy="4572001"/>
          </a:xfrm>
        </p:grpSpPr>
        <p:sp>
          <p:nvSpPr>
            <p:cNvPr id="42" name="Block Arc 41">
              <a:extLst>
                <a:ext uri="{FF2B5EF4-FFF2-40B4-BE49-F238E27FC236}">
                  <a16:creationId xmlns:a16="http://schemas.microsoft.com/office/drawing/2014/main" id="{3FAC3EE8-B5C7-42AB-8523-53C18A17F381}"/>
                </a:ext>
              </a:extLst>
            </p:cNvPr>
            <p:cNvSpPr/>
            <p:nvPr/>
          </p:nvSpPr>
          <p:spPr>
            <a:xfrm>
              <a:off x="3344837" y="2076733"/>
              <a:ext cx="4572000" cy="4572000"/>
            </a:xfrm>
            <a:prstGeom prst="blockArc">
              <a:avLst>
                <a:gd name="adj1" fmla="val 10152943"/>
                <a:gd name="adj2" fmla="val 17600710"/>
                <a:gd name="adj3" fmla="val 15603"/>
              </a:avLst>
            </a:prstGeom>
            <a:solidFill>
              <a:srgbClr val="0070C0"/>
            </a:solidFill>
            <a:ln w="19050">
              <a:noFill/>
            </a:ln>
            <a:effectLst>
              <a:glow rad="685800">
                <a:schemeClr val="accent5">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endParaRPr>
            </a:p>
          </p:txBody>
        </p:sp>
        <p:sp>
          <p:nvSpPr>
            <p:cNvPr id="43" name="Block Arc 42">
              <a:extLst>
                <a:ext uri="{FF2B5EF4-FFF2-40B4-BE49-F238E27FC236}">
                  <a16:creationId xmlns:a16="http://schemas.microsoft.com/office/drawing/2014/main" id="{16F12184-A539-4A7C-897B-2DB0C6FA4C46}"/>
                </a:ext>
              </a:extLst>
            </p:cNvPr>
            <p:cNvSpPr/>
            <p:nvPr/>
          </p:nvSpPr>
          <p:spPr>
            <a:xfrm rot="5400000">
              <a:off x="3344837" y="2076733"/>
              <a:ext cx="4572000" cy="4572000"/>
            </a:xfrm>
            <a:prstGeom prst="blockArc">
              <a:avLst>
                <a:gd name="adj1" fmla="val 12201553"/>
                <a:gd name="adj2" fmla="val 19614602"/>
                <a:gd name="adj3" fmla="val 15601"/>
              </a:avLst>
            </a:prstGeom>
            <a:ln w="19050">
              <a:noFill/>
            </a:ln>
            <a:effectLst>
              <a:glow rad="685800">
                <a:schemeClr val="accent6">
                  <a:alpha val="40000"/>
                </a:schemeClr>
              </a:glo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b="1">
                <a:solidFill>
                  <a:schemeClr val="bg1"/>
                </a:solidFill>
              </a:endParaRPr>
            </a:p>
          </p:txBody>
        </p:sp>
        <p:sp>
          <p:nvSpPr>
            <p:cNvPr id="44" name="Block Arc 43">
              <a:extLst>
                <a:ext uri="{FF2B5EF4-FFF2-40B4-BE49-F238E27FC236}">
                  <a16:creationId xmlns:a16="http://schemas.microsoft.com/office/drawing/2014/main" id="{24FA9203-CCE7-47DB-8155-CA041FA5B97A}"/>
                </a:ext>
              </a:extLst>
            </p:cNvPr>
            <p:cNvSpPr/>
            <p:nvPr/>
          </p:nvSpPr>
          <p:spPr>
            <a:xfrm rot="16200000">
              <a:off x="3344838" y="2076734"/>
              <a:ext cx="4572000" cy="4572000"/>
            </a:xfrm>
            <a:prstGeom prst="blockArc">
              <a:avLst>
                <a:gd name="adj1" fmla="val 8733179"/>
                <a:gd name="adj2" fmla="val 15652327"/>
                <a:gd name="adj3" fmla="val 15604"/>
              </a:avLst>
            </a:prstGeom>
            <a:ln w="19050">
              <a:noFill/>
            </a:ln>
            <a:effectLst>
              <a:glow rad="685800">
                <a:schemeClr val="accent2">
                  <a:lumMod val="75000"/>
                  <a:alpha val="40000"/>
                </a:schemeClr>
              </a:glo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solidFill>
                  <a:schemeClr val="bg1"/>
                </a:solidFill>
              </a:endParaRPr>
            </a:p>
          </p:txBody>
        </p:sp>
      </p:grpSp>
      <p:sp>
        <p:nvSpPr>
          <p:cNvPr id="4" name="Flowchart: Connector 3">
            <a:extLst>
              <a:ext uri="{FF2B5EF4-FFF2-40B4-BE49-F238E27FC236}">
                <a16:creationId xmlns:a16="http://schemas.microsoft.com/office/drawing/2014/main" id="{415F211F-C71F-4942-B33C-EE05675E6D11}"/>
              </a:ext>
            </a:extLst>
          </p:cNvPr>
          <p:cNvSpPr/>
          <p:nvPr/>
        </p:nvSpPr>
        <p:spPr>
          <a:xfrm>
            <a:off x="4124366" y="2071445"/>
            <a:ext cx="3712451" cy="3503156"/>
          </a:xfrm>
          <a:prstGeom prst="flowChartConnector">
            <a:avLst/>
          </a:prstGeom>
          <a:gradFill flip="none" rotWithShape="1">
            <a:gsLst>
              <a:gs pos="20000">
                <a:schemeClr val="accent1">
                  <a:lumMod val="5000"/>
                  <a:lumOff val="95000"/>
                </a:schemeClr>
              </a:gs>
              <a:gs pos="47000">
                <a:schemeClr val="accent1">
                  <a:lumMod val="60000"/>
                  <a:lumOff val="40000"/>
                </a:schemeClr>
              </a:gs>
              <a:gs pos="71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6520"/>
            <a:endParaRPr lang="en-US" sz="1246">
              <a:solidFill>
                <a:prstClr val="white"/>
              </a:solidFill>
              <a:latin typeface="Calibri" panose="020F0502020204030204"/>
            </a:endParaRPr>
          </a:p>
        </p:txBody>
      </p:sp>
      <p:sp>
        <p:nvSpPr>
          <p:cNvPr id="5" name="Flowchart: Connector 4">
            <a:extLst>
              <a:ext uri="{FF2B5EF4-FFF2-40B4-BE49-F238E27FC236}">
                <a16:creationId xmlns:a16="http://schemas.microsoft.com/office/drawing/2014/main" id="{F8710ABA-2F91-4184-8FB2-6B7C9E7EE846}"/>
              </a:ext>
            </a:extLst>
          </p:cNvPr>
          <p:cNvSpPr/>
          <p:nvPr/>
        </p:nvSpPr>
        <p:spPr>
          <a:xfrm>
            <a:off x="5170591" y="3080007"/>
            <a:ext cx="1620002" cy="1600646"/>
          </a:xfrm>
          <a:prstGeom prst="flowChartConnector">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defTabSz="316520"/>
            <a:endParaRPr lang="en-US" sz="1000" b="1" dirty="0">
              <a:solidFill>
                <a:prstClr val="white"/>
              </a:solidFill>
              <a:latin typeface="Arial" panose="020B0604020202020204" pitchFamily="34" charset="0"/>
              <a:cs typeface="Arial" panose="020B0604020202020204" pitchFamily="34" charset="0"/>
            </a:endParaRPr>
          </a:p>
          <a:p>
            <a:pPr algn="ctr" defTabSz="316520"/>
            <a:r>
              <a:rPr lang="en-US" sz="1200" b="1" dirty="0">
                <a:solidFill>
                  <a:prstClr val="white"/>
                </a:solidFill>
                <a:latin typeface="Arial" panose="020B0604020202020204" pitchFamily="34" charset="0"/>
                <a:cs typeface="Arial" panose="020B0604020202020204" pitchFamily="34" charset="0"/>
              </a:rPr>
              <a:t>Our Goal:</a:t>
            </a:r>
          </a:p>
          <a:p>
            <a:pPr algn="ctr" defTabSz="316520"/>
            <a:r>
              <a:rPr lang="en-US" sz="1000" b="1" dirty="0">
                <a:solidFill>
                  <a:prstClr val="white"/>
                </a:solidFill>
                <a:latin typeface="Arial" panose="020B0604020202020204" pitchFamily="34" charset="0"/>
                <a:cs typeface="Arial" panose="020B0604020202020204" pitchFamily="34" charset="0"/>
              </a:rPr>
              <a:t>Robust global standards that are in the public interest, and capable of consistent and proper implementation</a:t>
            </a:r>
          </a:p>
          <a:p>
            <a:pPr marL="342900" indent="-342900" algn="ctr" defTabSz="316520">
              <a:buFont typeface="Arial" panose="020B0604020202020204" pitchFamily="34" charset="0"/>
              <a:buChar char="•"/>
            </a:pPr>
            <a:endParaRPr lang="en-US" sz="900" b="1" dirty="0">
              <a:solidFill>
                <a:prstClr val="white"/>
              </a:solidFill>
              <a:latin typeface="Arial" panose="020B0604020202020204" pitchFamily="34" charset="0"/>
              <a:cs typeface="Arial" panose="020B0604020202020204" pitchFamily="34" charset="0"/>
            </a:endParaRPr>
          </a:p>
          <a:p>
            <a:pPr algn="ctr" defTabSz="316520"/>
            <a:endParaRPr lang="en-US" sz="800" dirty="0">
              <a:solidFill>
                <a:prstClr val="whit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3A99310-D4B7-4AFF-9F52-77969E176BD9}"/>
              </a:ext>
            </a:extLst>
          </p:cNvPr>
          <p:cNvSpPr txBox="1"/>
          <p:nvPr/>
        </p:nvSpPr>
        <p:spPr>
          <a:xfrm>
            <a:off x="5311457" y="2208244"/>
            <a:ext cx="1417005" cy="584775"/>
          </a:xfrm>
          <a:prstGeom prst="rect">
            <a:avLst/>
          </a:prstGeom>
          <a:noFill/>
        </p:spPr>
        <p:txBody>
          <a:bodyPr wrap="square" rtlCol="0">
            <a:spAutoFit/>
          </a:bodyPr>
          <a:lstStyle/>
          <a:p>
            <a:pPr algn="ctr" defTabSz="316520"/>
            <a:r>
              <a:rPr lang="en-US" sz="1600" b="1" dirty="0">
                <a:solidFill>
                  <a:srgbClr val="002060"/>
                </a:solidFill>
                <a:latin typeface="Arial" panose="020B0604020202020204" pitchFamily="34" charset="0"/>
                <a:cs typeface="Arial" panose="020B0604020202020204" pitchFamily="34" charset="0"/>
              </a:rPr>
              <a:t>STRATEGIC DRIVERS</a:t>
            </a:r>
          </a:p>
        </p:txBody>
      </p:sp>
      <p:sp>
        <p:nvSpPr>
          <p:cNvPr id="7" name="Arrow: Up 6">
            <a:extLst>
              <a:ext uri="{FF2B5EF4-FFF2-40B4-BE49-F238E27FC236}">
                <a16:creationId xmlns:a16="http://schemas.microsoft.com/office/drawing/2014/main" id="{8590AE63-49CA-4977-9CF9-B9AD04CB30E7}"/>
              </a:ext>
            </a:extLst>
          </p:cNvPr>
          <p:cNvSpPr/>
          <p:nvPr/>
        </p:nvSpPr>
        <p:spPr>
          <a:xfrm rot="18966155">
            <a:off x="5276249" y="3099824"/>
            <a:ext cx="169303" cy="220830"/>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316520"/>
            <a:endParaRPr lang="en-US" sz="1246">
              <a:solidFill>
                <a:prstClr val="white"/>
              </a:solidFill>
              <a:latin typeface="Calibri" panose="020F0502020204030204"/>
            </a:endParaRPr>
          </a:p>
        </p:txBody>
      </p:sp>
      <p:sp>
        <p:nvSpPr>
          <p:cNvPr id="10" name="Arrow: Up 9">
            <a:extLst>
              <a:ext uri="{FF2B5EF4-FFF2-40B4-BE49-F238E27FC236}">
                <a16:creationId xmlns:a16="http://schemas.microsoft.com/office/drawing/2014/main" id="{DF6A0CBD-CCF0-42F1-87A7-9526025D83FF}"/>
              </a:ext>
            </a:extLst>
          </p:cNvPr>
          <p:cNvSpPr/>
          <p:nvPr/>
        </p:nvSpPr>
        <p:spPr>
          <a:xfrm rot="3162997">
            <a:off x="6541292" y="3144161"/>
            <a:ext cx="169303" cy="220830"/>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316520"/>
            <a:endParaRPr lang="en-US" sz="1246" dirty="0">
              <a:solidFill>
                <a:prstClr val="white"/>
              </a:solidFill>
              <a:latin typeface="Calibri" panose="020F0502020204030204"/>
            </a:endParaRPr>
          </a:p>
        </p:txBody>
      </p:sp>
      <p:sp>
        <p:nvSpPr>
          <p:cNvPr id="20" name="Arrow: Up 19">
            <a:extLst>
              <a:ext uri="{FF2B5EF4-FFF2-40B4-BE49-F238E27FC236}">
                <a16:creationId xmlns:a16="http://schemas.microsoft.com/office/drawing/2014/main" id="{A4C3F512-2E35-4E96-B5CA-2F4891B64758}"/>
              </a:ext>
            </a:extLst>
          </p:cNvPr>
          <p:cNvSpPr/>
          <p:nvPr/>
        </p:nvSpPr>
        <p:spPr>
          <a:xfrm rot="7760631">
            <a:off x="6579963" y="4246079"/>
            <a:ext cx="169303" cy="220830"/>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316520"/>
            <a:endParaRPr lang="en-US" sz="1246" dirty="0">
              <a:solidFill>
                <a:prstClr val="white"/>
              </a:solidFill>
              <a:latin typeface="Calibri" panose="020F0502020204030204"/>
            </a:endParaRPr>
          </a:p>
        </p:txBody>
      </p:sp>
      <p:sp>
        <p:nvSpPr>
          <p:cNvPr id="21" name="Arrow: Up 20">
            <a:extLst>
              <a:ext uri="{FF2B5EF4-FFF2-40B4-BE49-F238E27FC236}">
                <a16:creationId xmlns:a16="http://schemas.microsoft.com/office/drawing/2014/main" id="{CFBCE3DF-C341-47C2-AC1D-7ACFAFA78492}"/>
              </a:ext>
            </a:extLst>
          </p:cNvPr>
          <p:cNvSpPr/>
          <p:nvPr/>
        </p:nvSpPr>
        <p:spPr>
          <a:xfrm rot="13778139">
            <a:off x="5175596" y="4205599"/>
            <a:ext cx="169303" cy="220830"/>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316520"/>
            <a:endParaRPr lang="en-US" sz="1246" dirty="0">
              <a:solidFill>
                <a:prstClr val="white"/>
              </a:solidFill>
              <a:latin typeface="Calibri" panose="020F0502020204030204"/>
            </a:endParaRPr>
          </a:p>
        </p:txBody>
      </p:sp>
      <p:sp>
        <p:nvSpPr>
          <p:cNvPr id="25" name="TextBox 24">
            <a:extLst>
              <a:ext uri="{FF2B5EF4-FFF2-40B4-BE49-F238E27FC236}">
                <a16:creationId xmlns:a16="http://schemas.microsoft.com/office/drawing/2014/main" id="{38E7B07C-857A-4D4A-A148-1471E053B7A2}"/>
              </a:ext>
            </a:extLst>
          </p:cNvPr>
          <p:cNvSpPr txBox="1"/>
          <p:nvPr/>
        </p:nvSpPr>
        <p:spPr>
          <a:xfrm>
            <a:off x="4369021" y="2868408"/>
            <a:ext cx="1229119" cy="261610"/>
          </a:xfrm>
          <a:prstGeom prst="rect">
            <a:avLst/>
          </a:prstGeom>
          <a:noFill/>
        </p:spPr>
        <p:txBody>
          <a:bodyPr wrap="square" rtlCol="0">
            <a:spAutoFit/>
          </a:bodyPr>
          <a:lstStyle/>
          <a:p>
            <a:pPr defTabSz="316520"/>
            <a:r>
              <a:rPr lang="en-US" sz="1100" b="1" dirty="0">
                <a:solidFill>
                  <a:schemeClr val="accent5">
                    <a:lumMod val="50000"/>
                  </a:schemeClr>
                </a:solidFill>
                <a:latin typeface="Arial" panose="020B0604020202020204" pitchFamily="34" charset="0"/>
                <a:cs typeface="Arial" panose="020B0604020202020204" pitchFamily="34" charset="0"/>
              </a:rPr>
              <a:t>TECHNOLOGY</a:t>
            </a:r>
          </a:p>
        </p:txBody>
      </p:sp>
      <p:sp>
        <p:nvSpPr>
          <p:cNvPr id="26" name="TextBox 25">
            <a:extLst>
              <a:ext uri="{FF2B5EF4-FFF2-40B4-BE49-F238E27FC236}">
                <a16:creationId xmlns:a16="http://schemas.microsoft.com/office/drawing/2014/main" id="{E398797B-9EC2-46AA-8470-51AD623F969E}"/>
              </a:ext>
            </a:extLst>
          </p:cNvPr>
          <p:cNvSpPr txBox="1"/>
          <p:nvPr/>
        </p:nvSpPr>
        <p:spPr>
          <a:xfrm>
            <a:off x="5354004" y="4916284"/>
            <a:ext cx="1283311" cy="430887"/>
          </a:xfrm>
          <a:prstGeom prst="rect">
            <a:avLst/>
          </a:prstGeom>
          <a:noFill/>
        </p:spPr>
        <p:txBody>
          <a:bodyPr wrap="square" rtlCol="0">
            <a:spAutoFit/>
          </a:bodyPr>
          <a:lstStyle/>
          <a:p>
            <a:pPr algn="ctr" defTabSz="316520"/>
            <a:r>
              <a:rPr lang="en-US" sz="1100" b="1" dirty="0">
                <a:solidFill>
                  <a:schemeClr val="accent5">
                    <a:lumMod val="50000"/>
                  </a:schemeClr>
                </a:solidFill>
                <a:latin typeface="Arial" panose="020B0604020202020204" pitchFamily="34" charset="0"/>
                <a:cs typeface="Arial" panose="020B0604020202020204" pitchFamily="34" charset="0"/>
              </a:rPr>
              <a:t>SME ENVIRONMENT</a:t>
            </a:r>
          </a:p>
        </p:txBody>
      </p:sp>
      <p:sp>
        <p:nvSpPr>
          <p:cNvPr id="28" name="TextBox 27">
            <a:extLst>
              <a:ext uri="{FF2B5EF4-FFF2-40B4-BE49-F238E27FC236}">
                <a16:creationId xmlns:a16="http://schemas.microsoft.com/office/drawing/2014/main" id="{6008527C-FAED-4959-ADA0-20368C44AE5E}"/>
              </a:ext>
            </a:extLst>
          </p:cNvPr>
          <p:cNvSpPr txBox="1"/>
          <p:nvPr/>
        </p:nvSpPr>
        <p:spPr>
          <a:xfrm>
            <a:off x="6515019" y="2868408"/>
            <a:ext cx="1295641" cy="261610"/>
          </a:xfrm>
          <a:prstGeom prst="rect">
            <a:avLst/>
          </a:prstGeom>
          <a:noFill/>
        </p:spPr>
        <p:txBody>
          <a:bodyPr wrap="square" rtlCol="0">
            <a:spAutoFit/>
          </a:bodyPr>
          <a:lstStyle/>
          <a:p>
            <a:pPr defTabSz="316520"/>
            <a:r>
              <a:rPr lang="en-US" sz="1100" b="1" dirty="0">
                <a:solidFill>
                  <a:schemeClr val="accent5">
                    <a:lumMod val="50000"/>
                  </a:schemeClr>
                </a:solidFill>
                <a:latin typeface="Arial" panose="020B0604020202020204" pitchFamily="34" charset="0"/>
                <a:cs typeface="Arial" panose="020B0604020202020204" pitchFamily="34" charset="0"/>
              </a:rPr>
              <a:t>COMPLEXITY</a:t>
            </a:r>
          </a:p>
        </p:txBody>
      </p:sp>
      <p:sp>
        <p:nvSpPr>
          <p:cNvPr id="31" name="TextBox 30">
            <a:extLst>
              <a:ext uri="{FF2B5EF4-FFF2-40B4-BE49-F238E27FC236}">
                <a16:creationId xmlns:a16="http://schemas.microsoft.com/office/drawing/2014/main" id="{3780F1DC-E664-4ED2-8EA8-90D25AFA3494}"/>
              </a:ext>
            </a:extLst>
          </p:cNvPr>
          <p:cNvSpPr txBox="1"/>
          <p:nvPr/>
        </p:nvSpPr>
        <p:spPr>
          <a:xfrm>
            <a:off x="4095610" y="4141052"/>
            <a:ext cx="1283555" cy="430887"/>
          </a:xfrm>
          <a:prstGeom prst="rect">
            <a:avLst/>
          </a:prstGeom>
          <a:noFill/>
        </p:spPr>
        <p:txBody>
          <a:bodyPr wrap="square" rtlCol="0">
            <a:spAutoFit/>
          </a:bodyPr>
          <a:lstStyle/>
          <a:p>
            <a:pPr algn="ctr" defTabSz="316520"/>
            <a:r>
              <a:rPr lang="en-US" sz="1100" b="1" dirty="0">
                <a:solidFill>
                  <a:schemeClr val="accent5">
                    <a:lumMod val="50000"/>
                  </a:schemeClr>
                </a:solidFill>
                <a:latin typeface="Arial" panose="020B0604020202020204" pitchFamily="34" charset="0"/>
                <a:cs typeface="Arial" panose="020B0604020202020204" pitchFamily="34" charset="0"/>
              </a:rPr>
              <a:t>CONFIDENCE IN AUDITS</a:t>
            </a:r>
          </a:p>
        </p:txBody>
      </p:sp>
      <p:sp>
        <p:nvSpPr>
          <p:cNvPr id="32" name="TextBox 31">
            <a:extLst>
              <a:ext uri="{FF2B5EF4-FFF2-40B4-BE49-F238E27FC236}">
                <a16:creationId xmlns:a16="http://schemas.microsoft.com/office/drawing/2014/main" id="{3F3F12C6-38B0-4C55-A705-58C7F7EB7E8B}"/>
              </a:ext>
            </a:extLst>
          </p:cNvPr>
          <p:cNvSpPr txBox="1"/>
          <p:nvPr/>
        </p:nvSpPr>
        <p:spPr>
          <a:xfrm>
            <a:off x="6637527" y="4141052"/>
            <a:ext cx="1173133" cy="600164"/>
          </a:xfrm>
          <a:prstGeom prst="rect">
            <a:avLst/>
          </a:prstGeom>
          <a:noFill/>
        </p:spPr>
        <p:txBody>
          <a:bodyPr wrap="square" rtlCol="0">
            <a:spAutoFit/>
          </a:bodyPr>
          <a:lstStyle/>
          <a:p>
            <a:pPr algn="ctr" defTabSz="316520"/>
            <a:r>
              <a:rPr lang="en-US" sz="1100" b="1" dirty="0">
                <a:solidFill>
                  <a:schemeClr val="accent5">
                    <a:lumMod val="50000"/>
                  </a:schemeClr>
                </a:solidFill>
                <a:latin typeface="Arial" panose="020B0604020202020204" pitchFamily="34" charset="0"/>
                <a:cs typeface="Arial" panose="020B0604020202020204" pitchFamily="34" charset="0"/>
              </a:rPr>
              <a:t>CHANGING REPORTING NEEDS</a:t>
            </a:r>
          </a:p>
        </p:txBody>
      </p:sp>
      <p:sp>
        <p:nvSpPr>
          <p:cNvPr id="2" name="Title 1">
            <a:extLst>
              <a:ext uri="{FF2B5EF4-FFF2-40B4-BE49-F238E27FC236}">
                <a16:creationId xmlns:a16="http://schemas.microsoft.com/office/drawing/2014/main" id="{E80BD868-5D3C-482A-BD6D-EF6E686B12D0}"/>
              </a:ext>
            </a:extLst>
          </p:cNvPr>
          <p:cNvSpPr>
            <a:spLocks noGrp="1"/>
          </p:cNvSpPr>
          <p:nvPr>
            <p:ph type="title"/>
          </p:nvPr>
        </p:nvSpPr>
        <p:spPr>
          <a:xfrm>
            <a:off x="328840" y="647670"/>
            <a:ext cx="10515600" cy="427958"/>
          </a:xfrm>
        </p:spPr>
        <p:txBody>
          <a:bodyPr/>
          <a:lstStyle/>
          <a:p>
            <a:r>
              <a:rPr lang="en-US" sz="2400" b="1" dirty="0">
                <a:solidFill>
                  <a:schemeClr val="bg1"/>
                </a:solidFill>
                <a:latin typeface="Arial" panose="020B0604020202020204" pitchFamily="34" charset="0"/>
                <a:cs typeface="Arial" panose="020B0604020202020204" pitchFamily="34" charset="0"/>
              </a:rPr>
              <a:t>IAASB’s Goal, Keys to Success and Stakeholder Value Proposition</a:t>
            </a:r>
          </a:p>
        </p:txBody>
      </p:sp>
      <p:sp>
        <p:nvSpPr>
          <p:cNvPr id="12" name="TextBox 11">
            <a:extLst>
              <a:ext uri="{FF2B5EF4-FFF2-40B4-BE49-F238E27FC236}">
                <a16:creationId xmlns:a16="http://schemas.microsoft.com/office/drawing/2014/main" id="{13790A97-23AA-462E-BDDB-50701CED56C1}"/>
              </a:ext>
            </a:extLst>
          </p:cNvPr>
          <p:cNvSpPr txBox="1"/>
          <p:nvPr/>
        </p:nvSpPr>
        <p:spPr>
          <a:xfrm>
            <a:off x="542925" y="1828804"/>
            <a:ext cx="3061540" cy="830997"/>
          </a:xfrm>
          <a:prstGeom prst="rect">
            <a:avLst/>
          </a:prstGeom>
          <a:noFill/>
        </p:spPr>
        <p:txBody>
          <a:bodyPr wrap="square" rtlCol="0">
            <a:spAutoFit/>
          </a:bodyPr>
          <a:lstStyle/>
          <a:p>
            <a:r>
              <a:rPr lang="en-US" sz="1600" b="1" dirty="0">
                <a:solidFill>
                  <a:srgbClr val="002060"/>
                </a:solidFill>
                <a:latin typeface="Arial" panose="020B0604020202020204" pitchFamily="34" charset="0"/>
                <a:cs typeface="Arial" panose="020B0604020202020204" pitchFamily="34" charset="0"/>
              </a:rPr>
              <a:t>Develop and maintain our standards and supporting materials</a:t>
            </a:r>
          </a:p>
        </p:txBody>
      </p:sp>
      <p:sp>
        <p:nvSpPr>
          <p:cNvPr id="47" name="TextBox 46">
            <a:extLst>
              <a:ext uri="{FF2B5EF4-FFF2-40B4-BE49-F238E27FC236}">
                <a16:creationId xmlns:a16="http://schemas.microsoft.com/office/drawing/2014/main" id="{86EAC5EC-841B-4BB6-AFBA-622B45386576}"/>
              </a:ext>
            </a:extLst>
          </p:cNvPr>
          <p:cNvSpPr txBox="1"/>
          <p:nvPr/>
        </p:nvSpPr>
        <p:spPr>
          <a:xfrm>
            <a:off x="9023908" y="2656482"/>
            <a:ext cx="2801155" cy="830997"/>
          </a:xfrm>
          <a:prstGeom prst="rect">
            <a:avLst/>
          </a:prstGeom>
          <a:noFill/>
        </p:spPr>
        <p:txBody>
          <a:bodyPr wrap="square" rtlCol="0">
            <a:spAutoFit/>
          </a:bodyPr>
          <a:lstStyle/>
          <a:p>
            <a:r>
              <a:rPr lang="en-US" sz="1600" b="1" dirty="0">
                <a:solidFill>
                  <a:schemeClr val="accent6"/>
                </a:solidFill>
                <a:latin typeface="Arial" panose="020B0604020202020204" pitchFamily="34" charset="0"/>
                <a:cs typeface="Arial" panose="020B0604020202020204" pitchFamily="34" charset="0"/>
              </a:rPr>
              <a:t>Innovate our ways of working / broaden capabilities and capacity</a:t>
            </a:r>
          </a:p>
        </p:txBody>
      </p:sp>
      <p:sp>
        <p:nvSpPr>
          <p:cNvPr id="48" name="TextBox 47">
            <a:extLst>
              <a:ext uri="{FF2B5EF4-FFF2-40B4-BE49-F238E27FC236}">
                <a16:creationId xmlns:a16="http://schemas.microsoft.com/office/drawing/2014/main" id="{BC27F085-7E15-486C-B98D-DF2568826E2E}"/>
              </a:ext>
            </a:extLst>
          </p:cNvPr>
          <p:cNvSpPr txBox="1"/>
          <p:nvPr/>
        </p:nvSpPr>
        <p:spPr>
          <a:xfrm>
            <a:off x="181903" y="4241772"/>
            <a:ext cx="3355760" cy="584775"/>
          </a:xfrm>
          <a:prstGeom prst="rect">
            <a:avLst/>
          </a:prstGeom>
          <a:noFill/>
        </p:spPr>
        <p:txBody>
          <a:bodyPr wrap="square" rtlCol="0">
            <a:spAutoFit/>
          </a:bodyPr>
          <a:lstStyle/>
          <a:p>
            <a:r>
              <a:rPr lang="en-US" sz="1600" b="1" dirty="0">
                <a:solidFill>
                  <a:schemeClr val="accent2"/>
                </a:solidFill>
                <a:latin typeface="Arial" panose="020B0604020202020204" pitchFamily="34" charset="0"/>
                <a:cs typeface="Arial" panose="020B0604020202020204" pitchFamily="34" charset="0"/>
              </a:rPr>
              <a:t>Maintain and deepen relationships with Stakeholders</a:t>
            </a:r>
          </a:p>
        </p:txBody>
      </p:sp>
      <p:cxnSp>
        <p:nvCxnSpPr>
          <p:cNvPr id="14" name="Straight Arrow Connector 13">
            <a:extLst>
              <a:ext uri="{FF2B5EF4-FFF2-40B4-BE49-F238E27FC236}">
                <a16:creationId xmlns:a16="http://schemas.microsoft.com/office/drawing/2014/main" id="{A5D516A5-4DAE-43F7-8D8C-BFE6F7706C1D}"/>
              </a:ext>
            </a:extLst>
          </p:cNvPr>
          <p:cNvCxnSpPr>
            <a:cxnSpLocks/>
          </p:cNvCxnSpPr>
          <p:nvPr/>
        </p:nvCxnSpPr>
        <p:spPr>
          <a:xfrm flipV="1">
            <a:off x="8142505" y="3629027"/>
            <a:ext cx="3469392" cy="1"/>
          </a:xfrm>
          <a:prstGeom prst="straightConnector1">
            <a:avLst/>
          </a:prstGeom>
          <a:ln w="38100">
            <a:gradFill>
              <a:gsLst>
                <a:gs pos="0">
                  <a:schemeClr val="bg1">
                    <a:lumMod val="85000"/>
                  </a:schemeClr>
                </a:gs>
                <a:gs pos="63000">
                  <a:schemeClr val="bg1">
                    <a:lumMod val="75000"/>
                  </a:schemeClr>
                </a:gs>
                <a:gs pos="83000">
                  <a:schemeClr val="bg1">
                    <a:lumMod val="65000"/>
                  </a:schemeClr>
                </a:gs>
                <a:gs pos="100000">
                  <a:schemeClr val="bg1">
                    <a:lumMod val="50000"/>
                  </a:schemeClr>
                </a:gs>
              </a:gsLst>
              <a:lin ang="5400000" scaled="1"/>
            </a:gra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344F889-C29E-4D47-8D10-7B5AB4216708}"/>
              </a:ext>
            </a:extLst>
          </p:cNvPr>
          <p:cNvCxnSpPr>
            <a:cxnSpLocks/>
          </p:cNvCxnSpPr>
          <p:nvPr/>
        </p:nvCxnSpPr>
        <p:spPr>
          <a:xfrm flipH="1">
            <a:off x="587590" y="2793019"/>
            <a:ext cx="3370048" cy="0"/>
          </a:xfrm>
          <a:prstGeom prst="straightConnector1">
            <a:avLst/>
          </a:prstGeom>
          <a:ln w="38100">
            <a:gradFill>
              <a:gsLst>
                <a:gs pos="0">
                  <a:schemeClr val="bg1">
                    <a:lumMod val="85000"/>
                  </a:schemeClr>
                </a:gs>
                <a:gs pos="63000">
                  <a:schemeClr val="bg1">
                    <a:lumMod val="75000"/>
                  </a:schemeClr>
                </a:gs>
                <a:gs pos="83000">
                  <a:schemeClr val="bg1">
                    <a:lumMod val="65000"/>
                  </a:schemeClr>
                </a:gs>
                <a:gs pos="100000">
                  <a:schemeClr val="bg1">
                    <a:lumMod val="50000"/>
                  </a:schemeClr>
                </a:gs>
              </a:gsLst>
              <a:lin ang="5400000" scaled="1"/>
            </a:gra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6AB3A80-A7A1-4E6F-845C-4A434E9BF160}"/>
              </a:ext>
            </a:extLst>
          </p:cNvPr>
          <p:cNvCxnSpPr>
            <a:cxnSpLocks/>
          </p:cNvCxnSpPr>
          <p:nvPr/>
        </p:nvCxnSpPr>
        <p:spPr>
          <a:xfrm flipH="1">
            <a:off x="181903" y="5073443"/>
            <a:ext cx="4057418" cy="0"/>
          </a:xfrm>
          <a:prstGeom prst="straightConnector1">
            <a:avLst/>
          </a:prstGeom>
          <a:ln w="38100">
            <a:gradFill>
              <a:gsLst>
                <a:gs pos="0">
                  <a:schemeClr val="bg1">
                    <a:lumMod val="85000"/>
                  </a:schemeClr>
                </a:gs>
                <a:gs pos="63000">
                  <a:schemeClr val="bg1">
                    <a:lumMod val="75000"/>
                  </a:schemeClr>
                </a:gs>
                <a:gs pos="83000">
                  <a:schemeClr val="bg1">
                    <a:lumMod val="65000"/>
                  </a:schemeClr>
                </a:gs>
                <a:gs pos="100000">
                  <a:schemeClr val="bg1">
                    <a:lumMod val="50000"/>
                  </a:schemeClr>
                </a:gs>
              </a:gsLst>
              <a:lin ang="5400000" scaled="1"/>
            </a:gradFill>
            <a:headEnd type="oval"/>
            <a:tailEnd type="none"/>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8113D39E-8E8D-4641-B16B-57250A4BF5BF}"/>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11</a:t>
            </a:fld>
            <a:r>
              <a:rPr lang="en-US" dirty="0">
                <a:latin typeface="Arial" panose="020B0604020202020204" pitchFamily="34" charset="0"/>
              </a:rPr>
              <a:t>  |</a:t>
            </a:r>
          </a:p>
        </p:txBody>
      </p:sp>
      <p:sp>
        <p:nvSpPr>
          <p:cNvPr id="29" name="Arrow: Up 28">
            <a:extLst>
              <a:ext uri="{FF2B5EF4-FFF2-40B4-BE49-F238E27FC236}">
                <a16:creationId xmlns:a16="http://schemas.microsoft.com/office/drawing/2014/main" id="{B6AC0867-2974-48AE-AEB0-99D34C2D7A78}"/>
              </a:ext>
            </a:extLst>
          </p:cNvPr>
          <p:cNvSpPr/>
          <p:nvPr/>
        </p:nvSpPr>
        <p:spPr>
          <a:xfrm rot="10800000">
            <a:off x="5895939" y="4680653"/>
            <a:ext cx="169303" cy="220830"/>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316520"/>
            <a:endParaRPr lang="en-US" sz="1246">
              <a:solidFill>
                <a:prstClr val="white"/>
              </a:solidFill>
              <a:latin typeface="Calibri" panose="020F0502020204030204"/>
            </a:endParaRPr>
          </a:p>
        </p:txBody>
      </p:sp>
    </p:spTree>
    <p:extLst>
      <p:ext uri="{BB962C8B-B14F-4D97-AF65-F5344CB8AC3E}">
        <p14:creationId xmlns:p14="http://schemas.microsoft.com/office/powerpoint/2010/main" val="3087933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sz="2400" b="1" dirty="0">
                <a:ln w="0"/>
              </a:rPr>
              <a:t>Strategy – </a:t>
            </a:r>
            <a:r>
              <a:rPr lang="en-US" b="1" dirty="0"/>
              <a:t>Main Changes</a:t>
            </a:r>
            <a:endParaRPr lang="en-US" sz="2400" b="1" dirty="0"/>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38799" y="1452879"/>
            <a:ext cx="11714402" cy="4561841"/>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indent="-347472">
              <a:spcBef>
                <a:spcPts val="300"/>
              </a:spcBef>
              <a:spcAft>
                <a:spcPts val="300"/>
              </a:spcAft>
            </a:pPr>
            <a:r>
              <a:rPr lang="en-US" sz="2400" dirty="0"/>
              <a:t>Our Goal, Keys to Success and Stakeholder Value Proposition</a:t>
            </a:r>
          </a:p>
          <a:p>
            <a:pPr marL="694944" lvl="1" indent="-347472">
              <a:spcBef>
                <a:spcPts val="300"/>
              </a:spcBef>
              <a:spcAft>
                <a:spcPts val="300"/>
              </a:spcAft>
            </a:pPr>
            <a:r>
              <a:rPr lang="en-US" sz="2000" dirty="0"/>
              <a:t>Added explicit reference to ‘Public Interest’ in the goal</a:t>
            </a:r>
          </a:p>
          <a:p>
            <a:pPr marL="694944" lvl="1" indent="-347472">
              <a:spcBef>
                <a:spcPts val="300"/>
              </a:spcBef>
              <a:spcAft>
                <a:spcPts val="300"/>
              </a:spcAft>
            </a:pPr>
            <a:r>
              <a:rPr lang="en-US" sz="2000" dirty="0"/>
              <a:t>Given support, no other significant changes made</a:t>
            </a:r>
          </a:p>
          <a:p>
            <a:pPr marL="347472" indent="-347472">
              <a:spcBef>
                <a:spcPts val="300"/>
              </a:spcBef>
              <a:spcAft>
                <a:spcPts val="300"/>
              </a:spcAft>
            </a:pPr>
            <a:r>
              <a:rPr lang="en-US" sz="2400" dirty="0"/>
              <a:t>Our Opportunities and Challenges – Environmental Drivers </a:t>
            </a:r>
          </a:p>
          <a:p>
            <a:pPr marL="694944" lvl="1" indent="-347472">
              <a:spcBef>
                <a:spcPts val="300"/>
              </a:spcBef>
              <a:spcAft>
                <a:spcPts val="300"/>
              </a:spcAft>
            </a:pPr>
            <a:r>
              <a:rPr lang="en-US" sz="2000" dirty="0"/>
              <a:t>Rearticulated the ‘Environmental Drivers’ as the ‘Strategic Drivers’</a:t>
            </a:r>
          </a:p>
          <a:p>
            <a:pPr marL="694944" lvl="1" indent="-347472">
              <a:spcBef>
                <a:spcPts val="300"/>
              </a:spcBef>
              <a:spcAft>
                <a:spcPts val="300"/>
              </a:spcAft>
            </a:pPr>
            <a:r>
              <a:rPr lang="en-US" sz="2000" dirty="0"/>
              <a:t>Given support, no significant changes made</a:t>
            </a:r>
          </a:p>
          <a:p>
            <a:pPr marL="347472" indent="-347472">
              <a:spcBef>
                <a:spcPts val="300"/>
              </a:spcBef>
              <a:spcAft>
                <a:spcPts val="300"/>
              </a:spcAft>
            </a:pPr>
            <a:r>
              <a:rPr lang="en-US" sz="2400" dirty="0"/>
              <a:t>Strategy and Focus (and Strategic Actions) </a:t>
            </a:r>
          </a:p>
          <a:p>
            <a:pPr marL="694944" lvl="1" indent="-347472">
              <a:spcBef>
                <a:spcPts val="300"/>
              </a:spcBef>
              <a:spcAft>
                <a:spcPts val="300"/>
              </a:spcAft>
            </a:pPr>
            <a:r>
              <a:rPr lang="en-US" sz="2000" dirty="0"/>
              <a:t>Reconstituted the themes as strategic objectives</a:t>
            </a:r>
          </a:p>
          <a:p>
            <a:pPr marL="694944" lvl="1" indent="-347472">
              <a:spcBef>
                <a:spcPts val="300"/>
              </a:spcBef>
              <a:spcAft>
                <a:spcPts val="300"/>
              </a:spcAft>
            </a:pPr>
            <a:r>
              <a:rPr lang="en-US" sz="2000" dirty="0"/>
              <a:t>Reorganized Strategic Actions</a:t>
            </a:r>
          </a:p>
          <a:p>
            <a:pPr marL="1042416" lvl="2" indent="-347472">
              <a:spcBef>
                <a:spcPts val="300"/>
              </a:spcBef>
              <a:spcAft>
                <a:spcPts val="300"/>
              </a:spcAft>
            </a:pPr>
            <a:r>
              <a:rPr lang="en-US" sz="1800" dirty="0"/>
              <a:t>Addresses concerns that strategic actions (themes) overlap</a:t>
            </a:r>
          </a:p>
          <a:p>
            <a:pPr marL="1042416" lvl="2" indent="-347472">
              <a:spcBef>
                <a:spcPts val="300"/>
              </a:spcBef>
              <a:spcAft>
                <a:spcPts val="300"/>
              </a:spcAft>
            </a:pPr>
            <a:r>
              <a:rPr lang="en-US" sz="1800" dirty="0"/>
              <a:t>Combined theme A, B and C from Consultation Paper into one strategic objective (</a:t>
            </a:r>
            <a:r>
              <a:rPr lang="en-US" sz="1800" i="1" dirty="0"/>
              <a:t>develop and maintain the IAASB’s Standards and supporting materials…</a:t>
            </a:r>
            <a:r>
              <a:rPr lang="en-US" sz="1800" dirty="0"/>
              <a:t>)</a:t>
            </a:r>
          </a:p>
          <a:p>
            <a:pPr marL="1042416" lvl="2" indent="-347472">
              <a:spcBef>
                <a:spcPts val="300"/>
              </a:spcBef>
              <a:spcAft>
                <a:spcPts val="300"/>
              </a:spcAft>
            </a:pPr>
            <a:r>
              <a:rPr lang="en-US" sz="1800" dirty="0"/>
              <a:t>Underlying aspects of the themes remain the same</a:t>
            </a:r>
            <a:endParaRPr lang="en-US" sz="2000" dirty="0">
              <a:solidFill>
                <a:schemeClr val="bg1">
                  <a:lumMod val="50000"/>
                </a:schemeClr>
              </a:solidFill>
            </a:endParaRPr>
          </a:p>
          <a:p>
            <a:pPr marL="694944" lvl="1" indent="-347472">
              <a:spcBef>
                <a:spcPts val="300"/>
              </a:spcBef>
              <a:spcAft>
                <a:spcPts val="300"/>
              </a:spcAft>
            </a:pPr>
            <a:endParaRPr lang="en-US" sz="2000" dirty="0">
              <a:solidFill>
                <a:schemeClr val="bg1">
                  <a:lumMod val="50000"/>
                </a:schemeClr>
              </a:solidFill>
            </a:endParaRPr>
          </a:p>
          <a:p>
            <a:pPr marL="694944" lvl="1" indent="-347472">
              <a:spcBef>
                <a:spcPts val="300"/>
              </a:spcBef>
              <a:spcAft>
                <a:spcPts val="300"/>
              </a:spcAft>
            </a:pPr>
            <a:endParaRPr lang="en-US" sz="2000" dirty="0">
              <a:solidFill>
                <a:schemeClr val="bg1">
                  <a:lumMod val="50000"/>
                </a:schemeClr>
              </a:solidFill>
            </a:endParaRPr>
          </a:p>
          <a:p>
            <a:pPr marL="694944" lvl="1" indent="-347472">
              <a:spcBef>
                <a:spcPts val="300"/>
              </a:spcBef>
              <a:spcAft>
                <a:spcPts val="300"/>
              </a:spcAft>
            </a:pPr>
            <a:endParaRPr lang="en-US" sz="2000" dirty="0">
              <a:solidFill>
                <a:schemeClr val="bg1">
                  <a:lumMod val="50000"/>
                </a:schemeClr>
              </a:solidFill>
            </a:endParaRPr>
          </a:p>
          <a:p>
            <a:pPr marL="347472" lvl="1" indent="0">
              <a:lnSpc>
                <a:spcPts val="2400"/>
              </a:lnSpc>
              <a:spcBef>
                <a:spcPts val="300"/>
              </a:spcBef>
              <a:spcAft>
                <a:spcPts val="300"/>
              </a:spcAft>
              <a:buFont typeface="Arial"/>
              <a:buNone/>
            </a:pPr>
            <a:endParaRPr lang="en-US" dirty="0"/>
          </a:p>
        </p:txBody>
      </p:sp>
      <p:sp>
        <p:nvSpPr>
          <p:cNvPr id="8" name="Content Placeholder 2">
            <a:extLst>
              <a:ext uri="{FF2B5EF4-FFF2-40B4-BE49-F238E27FC236}">
                <a16:creationId xmlns:a16="http://schemas.microsoft.com/office/drawing/2014/main" id="{0A962E3C-3575-4F9A-828A-A3A429055D70}"/>
              </a:ext>
            </a:extLst>
          </p:cNvPr>
          <p:cNvSpPr txBox="1">
            <a:spLocks/>
          </p:cNvSpPr>
          <p:nvPr/>
        </p:nvSpPr>
        <p:spPr>
          <a:xfrm>
            <a:off x="238799" y="3647440"/>
            <a:ext cx="11844115" cy="3958634"/>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867978" lvl="2" indent="-347472">
              <a:spcAft>
                <a:spcPts val="300"/>
              </a:spcAft>
            </a:pPr>
            <a:endParaRPr lang="en-US" dirty="0"/>
          </a:p>
          <a:p>
            <a:pPr marL="694944" lvl="1" indent="-347472">
              <a:lnSpc>
                <a:spcPts val="2400"/>
              </a:lnSpc>
              <a:spcAft>
                <a:spcPts val="300"/>
              </a:spcAft>
            </a:pPr>
            <a:endParaRPr lang="en-US" dirty="0"/>
          </a:p>
          <a:p>
            <a:pPr marL="347472" lvl="1" indent="0">
              <a:lnSpc>
                <a:spcPts val="2400"/>
              </a:lnSpc>
              <a:spcBef>
                <a:spcPts val="300"/>
              </a:spcBef>
              <a:spcAft>
                <a:spcPts val="300"/>
              </a:spcAft>
              <a:buFont typeface="Arial"/>
              <a:buNone/>
            </a:pPr>
            <a:endParaRPr lang="en-US" dirty="0"/>
          </a:p>
        </p:txBody>
      </p:sp>
      <p:sp>
        <p:nvSpPr>
          <p:cNvPr id="7" name="Slide Number Placeholder 5">
            <a:extLst>
              <a:ext uri="{FF2B5EF4-FFF2-40B4-BE49-F238E27FC236}">
                <a16:creationId xmlns:a16="http://schemas.microsoft.com/office/drawing/2014/main" id="{F2F6DA46-E0B5-41FA-A8CB-D0438725BDB7}"/>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12</a:t>
            </a:fld>
            <a:r>
              <a:rPr lang="en-US" dirty="0">
                <a:latin typeface="Arial" panose="020B0604020202020204" pitchFamily="34" charset="0"/>
              </a:rPr>
              <a:t>  |</a:t>
            </a:r>
          </a:p>
        </p:txBody>
      </p:sp>
    </p:spTree>
    <p:extLst>
      <p:ext uri="{BB962C8B-B14F-4D97-AF65-F5344CB8AC3E}">
        <p14:creationId xmlns:p14="http://schemas.microsoft.com/office/powerpoint/2010/main" val="1733903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sz="2400" b="1" dirty="0">
                <a:ln w="0"/>
              </a:rPr>
              <a:t>Strategy – </a:t>
            </a:r>
            <a:r>
              <a:rPr lang="en-US" b="1" dirty="0"/>
              <a:t>Main Changes</a:t>
            </a:r>
            <a:endParaRPr lang="en-US" sz="2400" b="1" dirty="0"/>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38799" y="1371601"/>
            <a:ext cx="11844114" cy="491798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indent="-347472">
              <a:spcBef>
                <a:spcPts val="300"/>
              </a:spcBef>
              <a:spcAft>
                <a:spcPts val="300"/>
              </a:spcAft>
            </a:pPr>
            <a:r>
              <a:rPr lang="en-US" sz="2400" dirty="0"/>
              <a:t>Strategy and Focus (and Strategic Actions) (Continued)</a:t>
            </a:r>
          </a:p>
          <a:p>
            <a:pPr marL="694944" lvl="1" indent="-347472">
              <a:spcBef>
                <a:spcPts val="300"/>
              </a:spcBef>
              <a:spcAft>
                <a:spcPts val="300"/>
              </a:spcAft>
            </a:pPr>
            <a:r>
              <a:rPr lang="en-US" sz="2000" dirty="0"/>
              <a:t>Placed more emphasis on evolving technologies</a:t>
            </a:r>
          </a:p>
          <a:p>
            <a:pPr marL="1042416" lvl="2" indent="-347472">
              <a:spcBef>
                <a:spcPts val="300"/>
              </a:spcBef>
              <a:spcAft>
                <a:spcPts val="300"/>
              </a:spcAft>
            </a:pPr>
            <a:r>
              <a:rPr lang="en-US" sz="1800" dirty="0"/>
              <a:t>Technology Working Group has developed a workstream plan - focused on guidance re the effect of technology when applying certain aspects of the ISAs</a:t>
            </a:r>
          </a:p>
          <a:p>
            <a:pPr marL="1042416" lvl="2" indent="-347472">
              <a:spcBef>
                <a:spcPts val="300"/>
              </a:spcBef>
              <a:spcAft>
                <a:spcPts val="300"/>
              </a:spcAft>
            </a:pPr>
            <a:r>
              <a:rPr lang="en-US" sz="1800" dirty="0"/>
              <a:t>Start work on digitizing the IAASB’s Handbook (w</a:t>
            </a:r>
            <a:r>
              <a:rPr lang="en-US" sz="1800" dirty="0">
                <a:solidFill>
                  <a:schemeClr val="tx1">
                    <a:lumMod val="65000"/>
                    <a:lumOff val="35000"/>
                  </a:schemeClr>
                </a:solidFill>
                <a:latin typeface="Arial" panose="020B0604020202020204" pitchFamily="34" charset="0"/>
                <a:cs typeface="Arial" panose="020B0604020202020204" pitchFamily="34" charset="0"/>
              </a:rPr>
              <a:t>ith the aim of making it more interactive)</a:t>
            </a:r>
          </a:p>
          <a:p>
            <a:pPr marL="347472" indent="-347472">
              <a:spcBef>
                <a:spcPts val="300"/>
              </a:spcBef>
              <a:spcAft>
                <a:spcPts val="300"/>
              </a:spcAft>
            </a:pPr>
            <a:r>
              <a:rPr lang="en-US" sz="2400" dirty="0"/>
              <a:t>Deepen Our Connectivity and Collaboration Opportunities</a:t>
            </a:r>
          </a:p>
          <a:p>
            <a:pPr marL="694944" lvl="1" indent="-347472">
              <a:spcBef>
                <a:spcPts val="300"/>
              </a:spcBef>
              <a:spcAft>
                <a:spcPts val="300"/>
              </a:spcAft>
            </a:pPr>
            <a:r>
              <a:rPr lang="en-US" sz="2000" dirty="0"/>
              <a:t>Collaboration with NSS: added a work stream in IAASB’s detailed work plan that focusses on enhancing and formalizing the collaboration</a:t>
            </a:r>
          </a:p>
          <a:p>
            <a:pPr marL="694944" lvl="1" indent="-347472">
              <a:spcBef>
                <a:spcPts val="300"/>
              </a:spcBef>
              <a:spcAft>
                <a:spcPts val="300"/>
              </a:spcAft>
            </a:pPr>
            <a:r>
              <a:rPr lang="en-US" sz="2000" dirty="0"/>
              <a:t>Coordination with IESBA: added a work stream in IAASB’s detailed work plan given the intensified coordination efforts</a:t>
            </a:r>
            <a:endParaRPr lang="en-US" dirty="0"/>
          </a:p>
          <a:p>
            <a:pPr marL="347472" lvl="1" indent="0">
              <a:lnSpc>
                <a:spcPts val="2400"/>
              </a:lnSpc>
              <a:spcBef>
                <a:spcPts val="300"/>
              </a:spcBef>
              <a:spcAft>
                <a:spcPts val="300"/>
              </a:spcAft>
              <a:buFont typeface="Arial"/>
              <a:buNone/>
            </a:pPr>
            <a:endParaRPr lang="en-US" dirty="0"/>
          </a:p>
        </p:txBody>
      </p:sp>
      <p:sp>
        <p:nvSpPr>
          <p:cNvPr id="8" name="Content Placeholder 2">
            <a:extLst>
              <a:ext uri="{FF2B5EF4-FFF2-40B4-BE49-F238E27FC236}">
                <a16:creationId xmlns:a16="http://schemas.microsoft.com/office/drawing/2014/main" id="{0A962E3C-3575-4F9A-828A-A3A429055D70}"/>
              </a:ext>
            </a:extLst>
          </p:cNvPr>
          <p:cNvSpPr txBox="1">
            <a:spLocks/>
          </p:cNvSpPr>
          <p:nvPr/>
        </p:nvSpPr>
        <p:spPr>
          <a:xfrm>
            <a:off x="238799" y="3647440"/>
            <a:ext cx="11844115" cy="3958634"/>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867978" lvl="2" indent="-347472">
              <a:spcAft>
                <a:spcPts val="300"/>
              </a:spcAft>
            </a:pPr>
            <a:endParaRPr lang="en-US" dirty="0"/>
          </a:p>
          <a:p>
            <a:pPr marL="694944" lvl="1" indent="-347472">
              <a:lnSpc>
                <a:spcPts val="2400"/>
              </a:lnSpc>
              <a:spcAft>
                <a:spcPts val="300"/>
              </a:spcAft>
            </a:pPr>
            <a:endParaRPr lang="en-US" dirty="0"/>
          </a:p>
          <a:p>
            <a:pPr marL="347472" lvl="1" indent="0">
              <a:lnSpc>
                <a:spcPts val="2400"/>
              </a:lnSpc>
              <a:spcBef>
                <a:spcPts val="300"/>
              </a:spcBef>
              <a:spcAft>
                <a:spcPts val="300"/>
              </a:spcAft>
              <a:buFont typeface="Arial"/>
              <a:buNone/>
            </a:pPr>
            <a:endParaRPr lang="en-US" dirty="0"/>
          </a:p>
        </p:txBody>
      </p:sp>
      <p:sp>
        <p:nvSpPr>
          <p:cNvPr id="7" name="Slide Number Placeholder 5">
            <a:extLst>
              <a:ext uri="{FF2B5EF4-FFF2-40B4-BE49-F238E27FC236}">
                <a16:creationId xmlns:a16="http://schemas.microsoft.com/office/drawing/2014/main" id="{6C3BEF6C-0245-4285-A401-F00B032D69AF}"/>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13</a:t>
            </a:fld>
            <a:r>
              <a:rPr lang="en-US" dirty="0">
                <a:latin typeface="Arial" panose="020B0604020202020204" pitchFamily="34" charset="0"/>
              </a:rPr>
              <a:t>  |</a:t>
            </a:r>
          </a:p>
        </p:txBody>
      </p:sp>
    </p:spTree>
    <p:extLst>
      <p:ext uri="{BB962C8B-B14F-4D97-AF65-F5344CB8AC3E}">
        <p14:creationId xmlns:p14="http://schemas.microsoft.com/office/powerpoint/2010/main" val="3134234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60602" y="1452880"/>
            <a:ext cx="11270795" cy="4735109"/>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3200" b="1" dirty="0">
                <a:solidFill>
                  <a:schemeClr val="accent3"/>
                </a:solidFill>
                <a:latin typeface="Arial" panose="020B0604020202020204" pitchFamily="34" charset="0"/>
                <a:cs typeface="Arial" panose="020B0604020202020204" pitchFamily="34" charset="0"/>
              </a:rPr>
              <a:t>Question 1:</a:t>
            </a:r>
          </a:p>
          <a:p>
            <a:pPr marL="0" indent="0">
              <a:buNone/>
            </a:pPr>
            <a:r>
              <a:rPr lang="en-US" sz="2400" dirty="0">
                <a:solidFill>
                  <a:schemeClr val="accent3"/>
                </a:solidFill>
                <a:latin typeface="Arial" panose="020B0604020202020204" pitchFamily="34" charset="0"/>
                <a:cs typeface="Arial" panose="020B0604020202020204" pitchFamily="34" charset="0"/>
              </a:rPr>
              <a:t>The IAASB is asked for its views on the revised proposed Strategy as presented to the Board in </a:t>
            </a:r>
            <a:r>
              <a:rPr lang="en-US" sz="2400" b="1" dirty="0">
                <a:solidFill>
                  <a:schemeClr val="accent3"/>
                </a:solidFill>
                <a:latin typeface="Arial" panose="020B0604020202020204" pitchFamily="34" charset="0"/>
                <a:cs typeface="Arial" panose="020B0604020202020204" pitchFamily="34" charset="0"/>
              </a:rPr>
              <a:t>Agenda Item 10-A</a:t>
            </a:r>
            <a:r>
              <a:rPr lang="en-US" sz="2400" dirty="0">
                <a:solidFill>
                  <a:schemeClr val="accent3"/>
                </a:solidFill>
                <a:latin typeface="Arial" panose="020B0604020202020204" pitchFamily="34" charset="0"/>
                <a:cs typeface="Arial" panose="020B0604020202020204" pitchFamily="34" charset="0"/>
              </a:rPr>
              <a:t>, and specifically</a:t>
            </a:r>
          </a:p>
          <a:p>
            <a:pPr marL="0" indent="-457200">
              <a:buAutoNum type="alphaLcParenBoth"/>
            </a:pPr>
            <a:r>
              <a:rPr lang="en-US" sz="2400" dirty="0">
                <a:solidFill>
                  <a:schemeClr val="accent3"/>
                </a:solidFill>
                <a:latin typeface="Arial" panose="020B0604020202020204" pitchFamily="34" charset="0"/>
                <a:cs typeface="Arial" panose="020B0604020202020204" pitchFamily="34" charset="0"/>
              </a:rPr>
              <a:t>Whether the Board agrees with the three strategic objectives, including the 	way they are 	articulated, and the related strategic actions, as presented on 	page 3 of </a:t>
            </a:r>
            <a:r>
              <a:rPr lang="en-US" sz="2400" b="1" dirty="0">
                <a:solidFill>
                  <a:schemeClr val="accent3"/>
                </a:solidFill>
                <a:latin typeface="Arial" panose="020B0604020202020204" pitchFamily="34" charset="0"/>
                <a:cs typeface="Arial" panose="020B0604020202020204" pitchFamily="34" charset="0"/>
              </a:rPr>
              <a:t>Agenda Item 10-A</a:t>
            </a:r>
          </a:p>
          <a:p>
            <a:pPr marL="0" indent="-457200">
              <a:buAutoNum type="alphaLcParenBoth"/>
            </a:pPr>
            <a:r>
              <a:rPr lang="en-US" sz="2400" dirty="0">
                <a:solidFill>
                  <a:schemeClr val="accent3"/>
                </a:solidFill>
                <a:latin typeface="Arial" panose="020B0604020202020204" pitchFamily="34" charset="0"/>
                <a:cs typeface="Arial" panose="020B0604020202020204" pitchFamily="34" charset="0"/>
              </a:rPr>
              <a:t>For views on whether the linkages between the sections that have been 	enhanced adequately illustrate how the documents and sections are linked</a:t>
            </a:r>
          </a:p>
          <a:p>
            <a:pPr marL="0" indent="-457200">
              <a:buAutoNum type="alphaLcParenBoth"/>
            </a:pPr>
            <a:r>
              <a:rPr lang="en-US" sz="2400" dirty="0">
                <a:solidFill>
                  <a:schemeClr val="accent3"/>
                </a:solidFill>
                <a:latin typeface="Arial" panose="020B0604020202020204" pitchFamily="34" charset="0"/>
                <a:cs typeface="Arial" panose="020B0604020202020204" pitchFamily="34" charset="0"/>
              </a:rPr>
              <a:t>For views on how the Framework for Activities has been described in the 	Strategy</a:t>
            </a:r>
            <a:r>
              <a:rPr lang="en-US" dirty="0">
                <a:solidFill>
                  <a:schemeClr val="accent3"/>
                </a:solidFill>
                <a:latin typeface="Arial" panose="020B0604020202020204" pitchFamily="34" charset="0"/>
                <a:cs typeface="Arial" panose="020B0604020202020204" pitchFamily="34" charset="0"/>
              </a:rPr>
              <a:t>	</a:t>
            </a:r>
          </a:p>
        </p:txBody>
      </p:sp>
      <p:sp>
        <p:nvSpPr>
          <p:cNvPr id="7" name="Slide Number Placeholder 5">
            <a:extLst>
              <a:ext uri="{FF2B5EF4-FFF2-40B4-BE49-F238E27FC236}">
                <a16:creationId xmlns:a16="http://schemas.microsoft.com/office/drawing/2014/main" id="{4913CE96-E694-469A-BCAD-0ECD78236D8E}"/>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14</a:t>
            </a:fld>
            <a:r>
              <a:rPr lang="en-US" dirty="0">
                <a:latin typeface="Arial" panose="020B0604020202020204" pitchFamily="34" charset="0"/>
              </a:rPr>
              <a:t>  |</a:t>
            </a:r>
          </a:p>
        </p:txBody>
      </p:sp>
    </p:spTree>
    <p:extLst>
      <p:ext uri="{BB962C8B-B14F-4D97-AF65-F5344CB8AC3E}">
        <p14:creationId xmlns:p14="http://schemas.microsoft.com/office/powerpoint/2010/main" val="2451385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541985803"/>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A8FFBB12-6351-413E-AD7E-BF2A5AA92679}"/>
              </a:ext>
            </a:extLst>
          </p:cNvPr>
          <p:cNvSpPr>
            <a:spLocks noGrp="1"/>
          </p:cNvSpPr>
          <p:nvPr>
            <p:ph type="title"/>
          </p:nvPr>
        </p:nvSpPr>
        <p:spPr/>
        <p:txBody>
          <a:bodyPr/>
          <a:lstStyle/>
          <a:p>
            <a:endParaRPr lang="en-US"/>
          </a:p>
        </p:txBody>
      </p:sp>
      <p:sp>
        <p:nvSpPr>
          <p:cNvPr id="6" name="Slide Number Placeholder 5">
            <a:extLst>
              <a:ext uri="{FF2B5EF4-FFF2-40B4-BE49-F238E27FC236}">
                <a16:creationId xmlns:a16="http://schemas.microsoft.com/office/drawing/2014/main" id="{BEE391E7-BFE4-4660-8648-A539C23499E3}"/>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15</a:t>
            </a:fld>
            <a:r>
              <a:rPr lang="en-US" dirty="0">
                <a:latin typeface="Arial" panose="020B0604020202020204" pitchFamily="34" charset="0"/>
              </a:rPr>
              <a:t>  |</a:t>
            </a:r>
          </a:p>
        </p:txBody>
      </p:sp>
    </p:spTree>
    <p:extLst>
      <p:ext uri="{BB962C8B-B14F-4D97-AF65-F5344CB8AC3E}">
        <p14:creationId xmlns:p14="http://schemas.microsoft.com/office/powerpoint/2010/main" val="2559992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Work Plan – Main Changes</a:t>
            </a:r>
            <a:endParaRPr lang="en-US" sz="2400" b="1" dirty="0"/>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1425" y="1320677"/>
            <a:ext cx="11629150" cy="5190383"/>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Included commentary on resources, and will continue to refine this language </a:t>
            </a:r>
          </a:p>
          <a:p>
            <a:pPr marL="347472" lvl="1" indent="-347472">
              <a:spcBef>
                <a:spcPts val="300"/>
              </a:spcBef>
              <a:spcAft>
                <a:spcPts val="300"/>
              </a:spcAft>
              <a:buFont typeface="Arial"/>
              <a:buChar char="•"/>
            </a:pPr>
            <a:r>
              <a:rPr lang="en-US" sz="2400" dirty="0"/>
              <a:t>Updated the detailed Work Plan</a:t>
            </a:r>
          </a:p>
          <a:p>
            <a:pPr marL="694944" lvl="1" indent="-347472">
              <a:spcBef>
                <a:spcPts val="300"/>
              </a:spcBef>
              <a:spcAft>
                <a:spcPts val="300"/>
              </a:spcAft>
            </a:pPr>
            <a:r>
              <a:rPr lang="en-US" sz="2000" dirty="0"/>
              <a:t>Set realistic timelines</a:t>
            </a:r>
          </a:p>
          <a:p>
            <a:pPr marL="694944" lvl="1" indent="-347472">
              <a:spcBef>
                <a:spcPts val="300"/>
              </a:spcBef>
              <a:spcAft>
                <a:spcPts val="300"/>
              </a:spcAft>
            </a:pPr>
            <a:r>
              <a:rPr lang="en-US" sz="2000" dirty="0"/>
              <a:t>Added work stream activities for all activities undertaken by the Board (e.g. outreach, strengthen collaboration with IFAC/NSS)</a:t>
            </a:r>
          </a:p>
          <a:p>
            <a:pPr marL="347472" lvl="1" indent="-347472">
              <a:spcBef>
                <a:spcPts val="300"/>
              </a:spcBef>
              <a:spcAft>
                <a:spcPts val="300"/>
              </a:spcAft>
              <a:buFont typeface="Arial"/>
              <a:buChar char="•"/>
            </a:pPr>
            <a:r>
              <a:rPr lang="en-US" sz="2400" dirty="0"/>
              <a:t>Explained different categories of information gathering</a:t>
            </a:r>
          </a:p>
          <a:p>
            <a:pPr marL="694944" lvl="1" indent="-347472">
              <a:spcBef>
                <a:spcPts val="300"/>
              </a:spcBef>
              <a:spcAft>
                <a:spcPts val="300"/>
              </a:spcAft>
            </a:pPr>
            <a:r>
              <a:rPr lang="en-US" sz="2000" dirty="0"/>
              <a:t>Cat. A: Possible areas for IAASB action (may move to B)</a:t>
            </a:r>
          </a:p>
          <a:p>
            <a:pPr marL="694944" lvl="1" indent="-347472">
              <a:spcBef>
                <a:spcPts val="300"/>
              </a:spcBef>
              <a:spcAft>
                <a:spcPts val="300"/>
              </a:spcAft>
            </a:pPr>
            <a:r>
              <a:rPr lang="en-US" sz="2000" dirty="0"/>
              <a:t>Cat. B: Explore new known topics (may move to C)</a:t>
            </a:r>
          </a:p>
          <a:p>
            <a:pPr marL="694944" lvl="1" indent="-347472">
              <a:spcBef>
                <a:spcPts val="300"/>
              </a:spcBef>
              <a:spcAft>
                <a:spcPts val="300"/>
              </a:spcAft>
            </a:pPr>
            <a:r>
              <a:rPr lang="en-US" sz="2000" dirty="0"/>
              <a:t>Cat. C: Focused IG&amp;R to determine recommendations (may move to project)</a:t>
            </a:r>
          </a:p>
          <a:p>
            <a:pPr marL="347472" lvl="1" indent="-347472">
              <a:spcBef>
                <a:spcPts val="300"/>
              </a:spcBef>
              <a:spcAft>
                <a:spcPts val="300"/>
              </a:spcAft>
              <a:buFont typeface="Arial"/>
              <a:buChar char="•"/>
            </a:pPr>
            <a:r>
              <a:rPr lang="en-US" sz="2400" dirty="0"/>
              <a:t>Included a list of possible projects for further IAASB consideration (appendix 2)</a:t>
            </a:r>
          </a:p>
          <a:p>
            <a:pPr marL="694944" lvl="1" indent="-347472">
              <a:spcBef>
                <a:spcPts val="300"/>
              </a:spcBef>
              <a:spcAft>
                <a:spcPts val="300"/>
              </a:spcAft>
            </a:pPr>
            <a:r>
              <a:rPr lang="en-US" sz="2000" dirty="0"/>
              <a:t>Based on suggestions received and from all consultations</a:t>
            </a:r>
          </a:p>
          <a:p>
            <a:pPr marL="347472" lvl="1" indent="-347472">
              <a:spcBef>
                <a:spcPts val="300"/>
              </a:spcBef>
              <a:spcAft>
                <a:spcPts val="300"/>
              </a:spcAft>
              <a:buFont typeface="Arial"/>
              <a:buChar char="•"/>
            </a:pPr>
            <a:r>
              <a:rPr lang="en-US" sz="2400" dirty="0"/>
              <a:t>Explained the IAASB’s outreach program with key stakeholders (appendix 3)</a:t>
            </a:r>
          </a:p>
          <a:p>
            <a:pPr marL="457189" lvl="2" indent="0">
              <a:spcBef>
                <a:spcPts val="300"/>
              </a:spcBef>
              <a:spcAft>
                <a:spcPts val="300"/>
              </a:spcAft>
              <a:buNone/>
            </a:pPr>
            <a:endParaRPr lang="en-US" dirty="0"/>
          </a:p>
          <a:p>
            <a:pPr marL="631627" lvl="1" indent="-347472">
              <a:spcBef>
                <a:spcPts val="300"/>
              </a:spcBef>
              <a:spcAft>
                <a:spcPts val="300"/>
              </a:spcAft>
            </a:pPr>
            <a:endParaRPr lang="en-US" dirty="0"/>
          </a:p>
          <a:p>
            <a:pPr marL="631627" lvl="1" indent="-347472">
              <a:spcBef>
                <a:spcPts val="300"/>
              </a:spcBef>
              <a:spcAft>
                <a:spcPts val="300"/>
              </a:spcAft>
            </a:pPr>
            <a:endParaRPr lang="en-US" dirty="0"/>
          </a:p>
          <a:p>
            <a:pPr marL="347472" indent="-347472">
              <a:spcBef>
                <a:spcPts val="300"/>
              </a:spcBef>
              <a:spcAft>
                <a:spcPts val="300"/>
              </a:spcAft>
            </a:pPr>
            <a:endParaRPr lang="en-US" dirty="0"/>
          </a:p>
          <a:p>
            <a:pPr marL="347472" indent="-347472">
              <a:spcBef>
                <a:spcPts val="300"/>
              </a:spcBef>
              <a:spcAft>
                <a:spcPts val="300"/>
              </a:spcAft>
            </a:pPr>
            <a:endParaRPr lang="en-US" dirty="0"/>
          </a:p>
          <a:p>
            <a:pPr marL="347472" indent="-347472">
              <a:spcBef>
                <a:spcPts val="300"/>
              </a:spcBef>
              <a:spcAft>
                <a:spcPts val="300"/>
              </a:spcAft>
            </a:pPr>
            <a:endParaRPr lang="en-US" dirty="0"/>
          </a:p>
          <a:p>
            <a:pPr marL="694944" lvl="1" indent="-347472">
              <a:spcBef>
                <a:spcPts val="300"/>
              </a:spcBef>
              <a:spcAft>
                <a:spcPts val="300"/>
              </a:spcAft>
            </a:pPr>
            <a:endParaRPr lang="en-US" dirty="0"/>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
        <p:nvSpPr>
          <p:cNvPr id="5" name="Slide Number Placeholder 5">
            <a:extLst>
              <a:ext uri="{FF2B5EF4-FFF2-40B4-BE49-F238E27FC236}">
                <a16:creationId xmlns:a16="http://schemas.microsoft.com/office/drawing/2014/main" id="{82F59ADB-C24D-4CDF-B847-037FA6ED402D}"/>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16</a:t>
            </a:fld>
            <a:r>
              <a:rPr lang="en-US" dirty="0">
                <a:latin typeface="Arial" panose="020B0604020202020204" pitchFamily="34" charset="0"/>
              </a:rPr>
              <a:t>  |</a:t>
            </a:r>
          </a:p>
        </p:txBody>
      </p:sp>
    </p:spTree>
    <p:extLst>
      <p:ext uri="{BB962C8B-B14F-4D97-AF65-F5344CB8AC3E}">
        <p14:creationId xmlns:p14="http://schemas.microsoft.com/office/powerpoint/2010/main" val="316781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1463041"/>
            <a:ext cx="11203029" cy="4612639"/>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3200" b="1" dirty="0">
                <a:solidFill>
                  <a:schemeClr val="accent3"/>
                </a:solidFill>
                <a:latin typeface="Arial" panose="020B0604020202020204" pitchFamily="34" charset="0"/>
                <a:cs typeface="Arial" panose="020B0604020202020204" pitchFamily="34" charset="0"/>
              </a:rPr>
              <a:t>Question 2:</a:t>
            </a:r>
          </a:p>
          <a:p>
            <a:pPr marL="0" indent="0">
              <a:buNone/>
            </a:pPr>
            <a:r>
              <a:rPr lang="en-US" sz="2400" dirty="0">
                <a:solidFill>
                  <a:schemeClr val="accent3"/>
                </a:solidFill>
                <a:latin typeface="Arial" panose="020B0604020202020204" pitchFamily="34" charset="0"/>
                <a:cs typeface="Arial" panose="020B0604020202020204" pitchFamily="34" charset="0"/>
              </a:rPr>
              <a:t>The IAASB is asked for its views on the Work Plan as presented to the Board in </a:t>
            </a:r>
            <a:r>
              <a:rPr lang="en-US" sz="2400" b="1" dirty="0">
                <a:solidFill>
                  <a:schemeClr val="accent3"/>
                </a:solidFill>
                <a:latin typeface="Arial" panose="020B0604020202020204" pitchFamily="34" charset="0"/>
                <a:cs typeface="Arial" panose="020B0604020202020204" pitchFamily="34" charset="0"/>
              </a:rPr>
              <a:t>Agenda Item 10-B</a:t>
            </a:r>
            <a:r>
              <a:rPr lang="en-US" sz="2400" dirty="0">
                <a:solidFill>
                  <a:schemeClr val="accent3"/>
                </a:solidFill>
                <a:latin typeface="Arial" panose="020B0604020202020204" pitchFamily="34" charset="0"/>
                <a:cs typeface="Arial" panose="020B0604020202020204" pitchFamily="34" charset="0"/>
              </a:rPr>
              <a:t>, and specifically</a:t>
            </a:r>
          </a:p>
          <a:p>
            <a:pPr marL="457200" indent="-457200">
              <a:buAutoNum type="alphaLcParenBoth"/>
            </a:pPr>
            <a:r>
              <a:rPr lang="en-US" sz="2400" dirty="0">
                <a:solidFill>
                  <a:schemeClr val="accent3"/>
                </a:solidFill>
                <a:latin typeface="Arial" panose="020B0604020202020204" pitchFamily="34" charset="0"/>
                <a:cs typeface="Arial" panose="020B0604020202020204" pitchFamily="34" charset="0"/>
              </a:rPr>
              <a:t>Whether the detailed table of work activities is complete</a:t>
            </a:r>
          </a:p>
          <a:p>
            <a:pPr marL="457200" indent="-457200">
              <a:buAutoNum type="alphaLcParenBoth"/>
            </a:pPr>
            <a:r>
              <a:rPr lang="en-US" sz="2400" dirty="0">
                <a:solidFill>
                  <a:schemeClr val="accent3"/>
                </a:solidFill>
                <a:latin typeface="Arial" panose="020B0604020202020204" pitchFamily="34" charset="0"/>
                <a:cs typeface="Arial" panose="020B0604020202020204" pitchFamily="34" charset="0"/>
              </a:rPr>
              <a:t>Whether more detailed information should be provided about resources (refer to paragraph 16) or whether the information included in </a:t>
            </a:r>
            <a:r>
              <a:rPr lang="en-US" sz="2400" b="1" dirty="0">
                <a:solidFill>
                  <a:schemeClr val="accent3"/>
                </a:solidFill>
                <a:latin typeface="Arial" panose="020B0604020202020204" pitchFamily="34" charset="0"/>
                <a:cs typeface="Arial" panose="020B0604020202020204" pitchFamily="34" charset="0"/>
              </a:rPr>
              <a:t>Agenda Item 10-B </a:t>
            </a:r>
            <a:r>
              <a:rPr lang="en-US" sz="2400" dirty="0">
                <a:solidFill>
                  <a:schemeClr val="accent3"/>
                </a:solidFill>
                <a:latin typeface="Arial" panose="020B0604020202020204" pitchFamily="34" charset="0"/>
                <a:cs typeface="Arial" panose="020B0604020202020204" pitchFamily="34" charset="0"/>
              </a:rPr>
              <a:t>is at an appropriate level for the Work Plan</a:t>
            </a:r>
          </a:p>
          <a:p>
            <a:pPr marL="457200" indent="-457200">
              <a:buAutoNum type="alphaLcParenBoth"/>
            </a:pPr>
            <a:r>
              <a:rPr lang="en-US" sz="2400" dirty="0">
                <a:solidFill>
                  <a:schemeClr val="accent3"/>
                </a:solidFill>
                <a:latin typeface="Arial" panose="020B0604020202020204" pitchFamily="34" charset="0"/>
                <a:cs typeface="Arial" panose="020B0604020202020204" pitchFamily="34" charset="0"/>
              </a:rPr>
              <a:t>Whether the explanation about how new projects will be selected and prioritized is appropriate</a:t>
            </a:r>
          </a:p>
        </p:txBody>
      </p:sp>
      <p:sp>
        <p:nvSpPr>
          <p:cNvPr id="7" name="Slide Number Placeholder 5">
            <a:extLst>
              <a:ext uri="{FF2B5EF4-FFF2-40B4-BE49-F238E27FC236}">
                <a16:creationId xmlns:a16="http://schemas.microsoft.com/office/drawing/2014/main" id="{DE9AA7D7-1C86-471B-B2A8-674333EBE657}"/>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17</a:t>
            </a:fld>
            <a:r>
              <a:rPr lang="en-US" dirty="0">
                <a:latin typeface="Arial" panose="020B0604020202020204" pitchFamily="34" charset="0"/>
              </a:rPr>
              <a:t>  |</a:t>
            </a:r>
          </a:p>
        </p:txBody>
      </p:sp>
    </p:spTree>
    <p:extLst>
      <p:ext uri="{BB962C8B-B14F-4D97-AF65-F5344CB8AC3E}">
        <p14:creationId xmlns:p14="http://schemas.microsoft.com/office/powerpoint/2010/main" val="521072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4186826275"/>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5">
            <a:extLst>
              <a:ext uri="{FF2B5EF4-FFF2-40B4-BE49-F238E27FC236}">
                <a16:creationId xmlns:a16="http://schemas.microsoft.com/office/drawing/2014/main" id="{BFB2CD96-D3AB-4186-AEF5-08F2B3DBCDBE}"/>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18</a:t>
            </a:fld>
            <a:r>
              <a:rPr lang="en-US" dirty="0">
                <a:latin typeface="Arial" panose="020B0604020202020204" pitchFamily="34" charset="0"/>
              </a:rPr>
              <a:t>  |</a:t>
            </a:r>
          </a:p>
        </p:txBody>
      </p:sp>
    </p:spTree>
    <p:extLst>
      <p:ext uri="{BB962C8B-B14F-4D97-AF65-F5344CB8AC3E}">
        <p14:creationId xmlns:p14="http://schemas.microsoft.com/office/powerpoint/2010/main" val="787915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Framework for Activities</a:t>
            </a:r>
            <a:endParaRPr lang="en-US" sz="2400" b="1" dirty="0"/>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81425" y="1296489"/>
            <a:ext cx="11629150" cy="5017541"/>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The Framework describes how the IAASB undertakes its activities</a:t>
            </a:r>
          </a:p>
          <a:p>
            <a:pPr marL="347472" lvl="1" indent="-347472">
              <a:spcBef>
                <a:spcPts val="300"/>
              </a:spcBef>
              <a:spcAft>
                <a:spcPts val="300"/>
              </a:spcAft>
              <a:buFont typeface="Arial"/>
              <a:buChar char="•"/>
            </a:pPr>
            <a:r>
              <a:rPr lang="en-US" sz="2400" dirty="0"/>
              <a:t>Key components are:</a:t>
            </a:r>
          </a:p>
          <a:p>
            <a:pPr marL="694944" lvl="1" indent="-347472">
              <a:spcBef>
                <a:spcPts val="300"/>
              </a:spcBef>
              <a:spcAft>
                <a:spcPts val="300"/>
              </a:spcAft>
            </a:pPr>
            <a:r>
              <a:rPr lang="en-US" sz="2000" dirty="0"/>
              <a:t>Information gathering and research activities</a:t>
            </a:r>
          </a:p>
          <a:p>
            <a:pPr marL="1042416" lvl="2" indent="-347472">
              <a:spcBef>
                <a:spcPts val="300"/>
              </a:spcBef>
              <a:spcAft>
                <a:spcPts val="300"/>
              </a:spcAft>
            </a:pPr>
            <a:r>
              <a:rPr lang="en-US" sz="1800" dirty="0"/>
              <a:t>Understand the root causes and take appropriate actions</a:t>
            </a:r>
          </a:p>
          <a:p>
            <a:pPr marL="694944" lvl="1" indent="-347472">
              <a:spcBef>
                <a:spcPts val="300"/>
              </a:spcBef>
              <a:spcAft>
                <a:spcPts val="300"/>
              </a:spcAft>
            </a:pPr>
            <a:r>
              <a:rPr lang="en-US" sz="2000" dirty="0"/>
              <a:t>Revising and developing standards</a:t>
            </a:r>
          </a:p>
          <a:p>
            <a:pPr marL="694944" lvl="1" indent="-347472">
              <a:spcBef>
                <a:spcPts val="300"/>
              </a:spcBef>
              <a:spcAft>
                <a:spcPts val="300"/>
              </a:spcAft>
            </a:pPr>
            <a:r>
              <a:rPr lang="en-US" sz="2000" dirty="0"/>
              <a:t>Effectively implementing new and revised standards</a:t>
            </a:r>
          </a:p>
          <a:p>
            <a:pPr marL="694944" lvl="1" indent="-347472">
              <a:spcBef>
                <a:spcPts val="300"/>
              </a:spcBef>
              <a:spcAft>
                <a:spcPts val="300"/>
              </a:spcAft>
            </a:pPr>
            <a:r>
              <a:rPr lang="en-US" sz="2000" dirty="0"/>
              <a:t>Developing non-authoritative guidance</a:t>
            </a:r>
          </a:p>
          <a:p>
            <a:pPr marL="694944" lvl="1" indent="-347472">
              <a:spcBef>
                <a:spcPts val="300"/>
              </a:spcBef>
              <a:spcAft>
                <a:spcPts val="300"/>
              </a:spcAft>
            </a:pPr>
            <a:r>
              <a:rPr lang="en-US" sz="2000" dirty="0"/>
              <a:t>[Narrow scope maintenance of standards]</a:t>
            </a:r>
          </a:p>
          <a:p>
            <a:pPr marL="347472" lvl="1" indent="-347472">
              <a:spcBef>
                <a:spcPts val="300"/>
              </a:spcBef>
              <a:spcAft>
                <a:spcPts val="300"/>
              </a:spcAft>
              <a:buFont typeface="Arial"/>
              <a:buChar char="•"/>
            </a:pPr>
            <a:r>
              <a:rPr lang="en-US" sz="2400" dirty="0"/>
              <a:t>Further development needed</a:t>
            </a:r>
          </a:p>
          <a:p>
            <a:pPr marL="694944" lvl="1" indent="-347472">
              <a:spcBef>
                <a:spcPts val="300"/>
              </a:spcBef>
              <a:spcAft>
                <a:spcPts val="300"/>
              </a:spcAft>
            </a:pPr>
            <a:r>
              <a:rPr lang="en-US" sz="2000" dirty="0"/>
              <a:t>Explore the processes and procedures for each component, including criteria</a:t>
            </a:r>
          </a:p>
          <a:p>
            <a:pPr marL="1042416" lvl="2" indent="-347472">
              <a:spcBef>
                <a:spcPts val="300"/>
              </a:spcBef>
              <a:spcAft>
                <a:spcPts val="300"/>
              </a:spcAft>
            </a:pPr>
            <a:r>
              <a:rPr lang="en-US" sz="1800" dirty="0"/>
              <a:t>E.g. What is the IAASB’s role in implementation support?</a:t>
            </a:r>
          </a:p>
          <a:p>
            <a:pPr marL="694944" lvl="1" indent="-347472">
              <a:spcBef>
                <a:spcPts val="300"/>
              </a:spcBef>
              <a:spcAft>
                <a:spcPts val="300"/>
              </a:spcAft>
            </a:pPr>
            <a:r>
              <a:rPr lang="en-US" sz="2000" dirty="0"/>
              <a:t>Added a work stream in IAASB’s detailed work plan for development of Framework; also an explicit strategic objective</a:t>
            </a:r>
          </a:p>
          <a:p>
            <a:pPr marL="347472" lvl="1" indent="-347472">
              <a:spcBef>
                <a:spcPts val="300"/>
              </a:spcBef>
              <a:spcAft>
                <a:spcPts val="300"/>
              </a:spcAft>
              <a:buFont typeface="Arial"/>
              <a:buChar char="•"/>
            </a:pPr>
            <a:endParaRPr lang="en-US" dirty="0"/>
          </a:p>
          <a:p>
            <a:pPr marL="631627" lvl="1" indent="-347472">
              <a:spcBef>
                <a:spcPts val="300"/>
              </a:spcBef>
              <a:spcAft>
                <a:spcPts val="300"/>
              </a:spcAft>
            </a:pPr>
            <a:endParaRPr lang="en-US" dirty="0"/>
          </a:p>
          <a:p>
            <a:pPr marL="631627" lvl="1" indent="-347472">
              <a:spcBef>
                <a:spcPts val="300"/>
              </a:spcBef>
              <a:spcAft>
                <a:spcPts val="300"/>
              </a:spcAft>
            </a:pPr>
            <a:endParaRPr lang="en-US" dirty="0"/>
          </a:p>
          <a:p>
            <a:pPr marL="347472" indent="-347472">
              <a:spcBef>
                <a:spcPts val="300"/>
              </a:spcBef>
              <a:spcAft>
                <a:spcPts val="300"/>
              </a:spcAft>
            </a:pPr>
            <a:endParaRPr lang="en-US" dirty="0"/>
          </a:p>
          <a:p>
            <a:pPr marL="347472" indent="-347472">
              <a:spcBef>
                <a:spcPts val="300"/>
              </a:spcBef>
              <a:spcAft>
                <a:spcPts val="300"/>
              </a:spcAft>
            </a:pPr>
            <a:endParaRPr lang="en-US" dirty="0"/>
          </a:p>
          <a:p>
            <a:pPr marL="347472" indent="-347472">
              <a:spcBef>
                <a:spcPts val="300"/>
              </a:spcBef>
              <a:spcAft>
                <a:spcPts val="300"/>
              </a:spcAft>
            </a:pPr>
            <a:endParaRPr lang="en-US" dirty="0"/>
          </a:p>
          <a:p>
            <a:pPr marL="694944" lvl="1" indent="-347472">
              <a:spcBef>
                <a:spcPts val="300"/>
              </a:spcBef>
              <a:spcAft>
                <a:spcPts val="300"/>
              </a:spcAft>
            </a:pPr>
            <a:endParaRPr lang="en-US" dirty="0"/>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
        <p:nvSpPr>
          <p:cNvPr id="5" name="Slide Number Placeholder 5">
            <a:extLst>
              <a:ext uri="{FF2B5EF4-FFF2-40B4-BE49-F238E27FC236}">
                <a16:creationId xmlns:a16="http://schemas.microsoft.com/office/drawing/2014/main" id="{DDFC6CE5-628F-4045-B2A5-69DFAE72826B}"/>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19</a:t>
            </a:fld>
            <a:r>
              <a:rPr lang="en-US" dirty="0">
                <a:latin typeface="Arial" panose="020B0604020202020204" pitchFamily="34" charset="0"/>
              </a:rPr>
              <a:t>  |</a:t>
            </a:r>
          </a:p>
        </p:txBody>
      </p:sp>
    </p:spTree>
    <p:extLst>
      <p:ext uri="{BB962C8B-B14F-4D97-AF65-F5344CB8AC3E}">
        <p14:creationId xmlns:p14="http://schemas.microsoft.com/office/powerpoint/2010/main" val="1421333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a:spLocks noGrp="1"/>
          </p:cNvSpPr>
          <p:nvPr>
            <p:ph idx="1"/>
          </p:nvPr>
        </p:nvSpPr>
        <p:spPr>
          <a:xfrm>
            <a:off x="306397" y="1108416"/>
            <a:ext cx="10978387" cy="5402012"/>
          </a:xfrm>
        </p:spPr>
        <p:txBody>
          <a:bodyPr/>
          <a:lstStyle/>
          <a:p>
            <a:pPr marL="463284" indent="-463284" algn="just">
              <a:spcBef>
                <a:spcPts val="400"/>
              </a:spcBef>
              <a:buNone/>
            </a:pPr>
            <a:endParaRPr lang="en-US" sz="533" dirty="0"/>
          </a:p>
          <a:p>
            <a:pPr marL="1863" indent="0" algn="just">
              <a:spcBef>
                <a:spcPts val="800"/>
              </a:spcBef>
              <a:buNone/>
            </a:pPr>
            <a:endParaRPr lang="en-US" sz="2267" dirty="0">
              <a:solidFill>
                <a:schemeClr val="tx1">
                  <a:lumMod val="65000"/>
                  <a:lumOff val="35000"/>
                </a:schemeClr>
              </a:solidFill>
            </a:endParaRPr>
          </a:p>
          <a:p>
            <a:pPr marL="1863" indent="0" algn="just">
              <a:spcBef>
                <a:spcPts val="800"/>
              </a:spcBef>
              <a:buNone/>
            </a:pPr>
            <a:endParaRPr lang="en-US" sz="2267" dirty="0">
              <a:solidFill>
                <a:schemeClr val="tx1">
                  <a:lumMod val="65000"/>
                  <a:lumOff val="35000"/>
                </a:schemeClr>
              </a:solidFill>
            </a:endParaRPr>
          </a:p>
        </p:txBody>
      </p:sp>
      <p:grpSp>
        <p:nvGrpSpPr>
          <p:cNvPr id="8" name="Group 7"/>
          <p:cNvGrpSpPr/>
          <p:nvPr/>
        </p:nvGrpSpPr>
        <p:grpSpPr>
          <a:xfrm>
            <a:off x="588386" y="2704088"/>
            <a:ext cx="10148073" cy="3494855"/>
            <a:chOff x="-28575" y="1898650"/>
            <a:chExt cx="10108775" cy="4327213"/>
          </a:xfrm>
          <a:solidFill>
            <a:schemeClr val="tx1">
              <a:lumMod val="75000"/>
              <a:lumOff val="25000"/>
            </a:schemeClr>
          </a:solidFill>
        </p:grpSpPr>
        <p:sp>
          <p:nvSpPr>
            <p:cNvPr id="9" name="Freeform 5"/>
            <p:cNvSpPr>
              <a:spLocks/>
            </p:cNvSpPr>
            <p:nvPr/>
          </p:nvSpPr>
          <p:spPr bwMode="auto">
            <a:xfrm>
              <a:off x="2997859" y="2152650"/>
              <a:ext cx="4335475" cy="3467099"/>
            </a:xfrm>
            <a:custGeom>
              <a:avLst/>
              <a:gdLst>
                <a:gd name="T0" fmla="*/ 522 w 1204"/>
                <a:gd name="T1" fmla="*/ 1077 h 1205"/>
                <a:gd name="T2" fmla="*/ 463 w 1204"/>
                <a:gd name="T3" fmla="*/ 602 h 1205"/>
                <a:gd name="T4" fmla="*/ 692 w 1204"/>
                <a:gd name="T5" fmla="*/ 106 h 1205"/>
                <a:gd name="T6" fmla="*/ 268 w 1204"/>
                <a:gd name="T7" fmla="*/ 0 h 1205"/>
                <a:gd name="T8" fmla="*/ 237 w 1204"/>
                <a:gd name="T9" fmla="*/ 28 h 1205"/>
                <a:gd name="T10" fmla="*/ 616 w 1204"/>
                <a:gd name="T11" fmla="*/ 123 h 1205"/>
                <a:gd name="T12" fmla="*/ 718 w 1204"/>
                <a:gd name="T13" fmla="*/ 427 h 1205"/>
                <a:gd name="T14" fmla="*/ 26 w 1204"/>
                <a:gd name="T15" fmla="*/ 845 h 1205"/>
                <a:gd name="T16" fmla="*/ 475 w 1204"/>
                <a:gd name="T17" fmla="*/ 1205 h 1205"/>
                <a:gd name="T18" fmla="*/ 662 w 1204"/>
                <a:gd name="T19" fmla="*/ 1119 h 1205"/>
                <a:gd name="T20" fmla="*/ 522 w 1204"/>
                <a:gd name="T21" fmla="*/ 1077 h 1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4" h="1205">
                  <a:moveTo>
                    <a:pt x="522" y="1077"/>
                  </a:moveTo>
                  <a:cubicBezTo>
                    <a:pt x="0" y="897"/>
                    <a:pt x="260" y="682"/>
                    <a:pt x="463" y="602"/>
                  </a:cubicBezTo>
                  <a:cubicBezTo>
                    <a:pt x="666" y="522"/>
                    <a:pt x="1204" y="330"/>
                    <a:pt x="692" y="106"/>
                  </a:cubicBezTo>
                  <a:cubicBezTo>
                    <a:pt x="692" y="106"/>
                    <a:pt x="513" y="40"/>
                    <a:pt x="268" y="0"/>
                  </a:cubicBezTo>
                  <a:cubicBezTo>
                    <a:pt x="237" y="28"/>
                    <a:pt x="237" y="28"/>
                    <a:pt x="237" y="28"/>
                  </a:cubicBezTo>
                  <a:cubicBezTo>
                    <a:pt x="415" y="59"/>
                    <a:pt x="519" y="90"/>
                    <a:pt x="616" y="123"/>
                  </a:cubicBezTo>
                  <a:cubicBezTo>
                    <a:pt x="774" y="177"/>
                    <a:pt x="930" y="311"/>
                    <a:pt x="718" y="427"/>
                  </a:cubicBezTo>
                  <a:cubicBezTo>
                    <a:pt x="506" y="543"/>
                    <a:pt x="44" y="661"/>
                    <a:pt x="26" y="845"/>
                  </a:cubicBezTo>
                  <a:cubicBezTo>
                    <a:pt x="13" y="972"/>
                    <a:pt x="185" y="1108"/>
                    <a:pt x="475" y="1205"/>
                  </a:cubicBezTo>
                  <a:cubicBezTo>
                    <a:pt x="662" y="1119"/>
                    <a:pt x="662" y="1119"/>
                    <a:pt x="662" y="1119"/>
                  </a:cubicBezTo>
                  <a:cubicBezTo>
                    <a:pt x="613" y="1106"/>
                    <a:pt x="566" y="1092"/>
                    <a:pt x="522" y="1077"/>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sp>
          <p:nvSpPr>
            <p:cNvPr id="10" name="Freeform 6"/>
            <p:cNvSpPr>
              <a:spLocks/>
            </p:cNvSpPr>
            <p:nvPr/>
          </p:nvSpPr>
          <p:spPr bwMode="auto">
            <a:xfrm>
              <a:off x="-28575" y="1898650"/>
              <a:ext cx="1481138" cy="87313"/>
            </a:xfrm>
            <a:custGeom>
              <a:avLst/>
              <a:gdLst>
                <a:gd name="T0" fmla="*/ 0 w 515"/>
                <a:gd name="T1" fmla="*/ 2 h 30"/>
                <a:gd name="T2" fmla="*/ 0 w 515"/>
                <a:gd name="T3" fmla="*/ 23 h 30"/>
                <a:gd name="T4" fmla="*/ 504 w 515"/>
                <a:gd name="T5" fmla="*/ 30 h 30"/>
                <a:gd name="T6" fmla="*/ 515 w 515"/>
                <a:gd name="T7" fmla="*/ 18 h 30"/>
                <a:gd name="T8" fmla="*/ 0 w 515"/>
                <a:gd name="T9" fmla="*/ 2 h 30"/>
              </a:gdLst>
              <a:ahLst/>
              <a:cxnLst>
                <a:cxn ang="0">
                  <a:pos x="T0" y="T1"/>
                </a:cxn>
                <a:cxn ang="0">
                  <a:pos x="T2" y="T3"/>
                </a:cxn>
                <a:cxn ang="0">
                  <a:pos x="T4" y="T5"/>
                </a:cxn>
                <a:cxn ang="0">
                  <a:pos x="T6" y="T7"/>
                </a:cxn>
                <a:cxn ang="0">
                  <a:pos x="T8" y="T9"/>
                </a:cxn>
              </a:cxnLst>
              <a:rect l="0" t="0" r="r" b="b"/>
              <a:pathLst>
                <a:path w="515" h="30">
                  <a:moveTo>
                    <a:pt x="0" y="2"/>
                  </a:moveTo>
                  <a:cubicBezTo>
                    <a:pt x="0" y="23"/>
                    <a:pt x="0" y="23"/>
                    <a:pt x="0" y="23"/>
                  </a:cubicBezTo>
                  <a:cubicBezTo>
                    <a:pt x="0" y="23"/>
                    <a:pt x="200" y="14"/>
                    <a:pt x="504" y="30"/>
                  </a:cubicBezTo>
                  <a:cubicBezTo>
                    <a:pt x="515" y="18"/>
                    <a:pt x="515" y="18"/>
                    <a:pt x="515" y="18"/>
                  </a:cubicBezTo>
                  <a:cubicBezTo>
                    <a:pt x="323" y="7"/>
                    <a:pt x="138" y="0"/>
                    <a:pt x="0" y="2"/>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sp>
          <p:nvSpPr>
            <p:cNvPr id="11" name="Freeform 7"/>
            <p:cNvSpPr>
              <a:spLocks/>
            </p:cNvSpPr>
            <p:nvPr/>
          </p:nvSpPr>
          <p:spPr bwMode="auto">
            <a:xfrm>
              <a:off x="1581150" y="1958975"/>
              <a:ext cx="2414437" cy="294488"/>
            </a:xfrm>
            <a:custGeom>
              <a:avLst/>
              <a:gdLst>
                <a:gd name="T0" fmla="*/ 595 w 725"/>
                <a:gd name="T1" fmla="*/ 43 h 86"/>
                <a:gd name="T2" fmla="*/ 13 w 725"/>
                <a:gd name="T3" fmla="*/ 0 h 86"/>
                <a:gd name="T4" fmla="*/ 0 w 725"/>
                <a:gd name="T5" fmla="*/ 12 h 86"/>
                <a:gd name="T6" fmla="*/ 298 w 725"/>
                <a:gd name="T7" fmla="*/ 36 h 86"/>
                <a:gd name="T8" fmla="*/ 695 w 725"/>
                <a:gd name="T9" fmla="*/ 86 h 86"/>
                <a:gd name="T10" fmla="*/ 725 w 725"/>
                <a:gd name="T11" fmla="*/ 58 h 86"/>
                <a:gd name="T12" fmla="*/ 595 w 725"/>
                <a:gd name="T13" fmla="*/ 43 h 86"/>
              </a:gdLst>
              <a:ahLst/>
              <a:cxnLst>
                <a:cxn ang="0">
                  <a:pos x="T0" y="T1"/>
                </a:cxn>
                <a:cxn ang="0">
                  <a:pos x="T2" y="T3"/>
                </a:cxn>
                <a:cxn ang="0">
                  <a:pos x="T4" y="T5"/>
                </a:cxn>
                <a:cxn ang="0">
                  <a:pos x="T6" y="T7"/>
                </a:cxn>
                <a:cxn ang="0">
                  <a:pos x="T8" y="T9"/>
                </a:cxn>
                <a:cxn ang="0">
                  <a:pos x="T10" y="T11"/>
                </a:cxn>
                <a:cxn ang="0">
                  <a:pos x="T12" y="T13"/>
                </a:cxn>
              </a:cxnLst>
              <a:rect l="0" t="0" r="r" b="b"/>
              <a:pathLst>
                <a:path w="725" h="86">
                  <a:moveTo>
                    <a:pt x="595" y="43"/>
                  </a:moveTo>
                  <a:cubicBezTo>
                    <a:pt x="430" y="28"/>
                    <a:pt x="220" y="12"/>
                    <a:pt x="13" y="0"/>
                  </a:cubicBezTo>
                  <a:cubicBezTo>
                    <a:pt x="0" y="12"/>
                    <a:pt x="0" y="12"/>
                    <a:pt x="0" y="12"/>
                  </a:cubicBezTo>
                  <a:cubicBezTo>
                    <a:pt x="92" y="18"/>
                    <a:pt x="192" y="25"/>
                    <a:pt x="298" y="36"/>
                  </a:cubicBezTo>
                  <a:cubicBezTo>
                    <a:pt x="461" y="53"/>
                    <a:pt x="590" y="69"/>
                    <a:pt x="695" y="86"/>
                  </a:cubicBezTo>
                  <a:cubicBezTo>
                    <a:pt x="725" y="58"/>
                    <a:pt x="725" y="58"/>
                    <a:pt x="725" y="58"/>
                  </a:cubicBezTo>
                  <a:cubicBezTo>
                    <a:pt x="683" y="52"/>
                    <a:pt x="639" y="47"/>
                    <a:pt x="595" y="43"/>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sp>
          <p:nvSpPr>
            <p:cNvPr id="12" name="Freeform 8"/>
            <p:cNvSpPr>
              <a:spLocks/>
            </p:cNvSpPr>
            <p:nvPr/>
          </p:nvSpPr>
          <p:spPr bwMode="auto">
            <a:xfrm>
              <a:off x="4692821" y="5370199"/>
              <a:ext cx="5387379" cy="855664"/>
            </a:xfrm>
            <a:custGeom>
              <a:avLst/>
              <a:gdLst>
                <a:gd name="T0" fmla="*/ 1775 w 1775"/>
                <a:gd name="T1" fmla="*/ 213 h 297"/>
                <a:gd name="T2" fmla="*/ 1443 w 1775"/>
                <a:gd name="T3" fmla="*/ 57 h 297"/>
                <a:gd name="T4" fmla="*/ 1397 w 1775"/>
                <a:gd name="T5" fmla="*/ 95 h 297"/>
                <a:gd name="T6" fmla="*/ 205 w 1775"/>
                <a:gd name="T7" fmla="*/ 0 h 297"/>
                <a:gd name="T8" fmla="*/ 0 w 1775"/>
                <a:gd name="T9" fmla="*/ 93 h 297"/>
                <a:gd name="T10" fmla="*/ 309 w 1775"/>
                <a:gd name="T11" fmla="*/ 153 h 297"/>
                <a:gd name="T12" fmla="*/ 1225 w 1775"/>
                <a:gd name="T13" fmla="*/ 235 h 297"/>
                <a:gd name="T14" fmla="*/ 1153 w 1775"/>
                <a:gd name="T15" fmla="*/ 297 h 297"/>
                <a:gd name="T16" fmla="*/ 1775 w 1775"/>
                <a:gd name="T17" fmla="*/ 21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5" h="297">
                  <a:moveTo>
                    <a:pt x="1775" y="213"/>
                  </a:moveTo>
                  <a:cubicBezTo>
                    <a:pt x="1443" y="57"/>
                    <a:pt x="1443" y="57"/>
                    <a:pt x="1443" y="57"/>
                  </a:cubicBezTo>
                  <a:cubicBezTo>
                    <a:pt x="1397" y="95"/>
                    <a:pt x="1397" y="95"/>
                    <a:pt x="1397" y="95"/>
                  </a:cubicBezTo>
                  <a:cubicBezTo>
                    <a:pt x="1397" y="95"/>
                    <a:pt x="730" y="100"/>
                    <a:pt x="205" y="0"/>
                  </a:cubicBezTo>
                  <a:cubicBezTo>
                    <a:pt x="0" y="93"/>
                    <a:pt x="0" y="93"/>
                    <a:pt x="0" y="93"/>
                  </a:cubicBezTo>
                  <a:cubicBezTo>
                    <a:pt x="95" y="117"/>
                    <a:pt x="198" y="138"/>
                    <a:pt x="309" y="153"/>
                  </a:cubicBezTo>
                  <a:cubicBezTo>
                    <a:pt x="859" y="229"/>
                    <a:pt x="1225" y="235"/>
                    <a:pt x="1225" y="235"/>
                  </a:cubicBezTo>
                  <a:cubicBezTo>
                    <a:pt x="1153" y="297"/>
                    <a:pt x="1153" y="297"/>
                    <a:pt x="1153" y="297"/>
                  </a:cubicBezTo>
                  <a:lnTo>
                    <a:pt x="1775" y="213"/>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grpSp>
      <p:grpSp>
        <p:nvGrpSpPr>
          <p:cNvPr id="13" name="Group 12"/>
          <p:cNvGrpSpPr/>
          <p:nvPr/>
        </p:nvGrpSpPr>
        <p:grpSpPr>
          <a:xfrm>
            <a:off x="1611893" y="1323318"/>
            <a:ext cx="1022999" cy="1466789"/>
            <a:chOff x="6285507" y="4056652"/>
            <a:chExt cx="1361612" cy="1952296"/>
          </a:xfrm>
        </p:grpSpPr>
        <p:grpSp>
          <p:nvGrpSpPr>
            <p:cNvPr id="14" name="Group 13"/>
            <p:cNvGrpSpPr/>
            <p:nvPr/>
          </p:nvGrpSpPr>
          <p:grpSpPr>
            <a:xfrm>
              <a:off x="6285507" y="4056652"/>
              <a:ext cx="1361612" cy="1952296"/>
              <a:chOff x="5808789" y="2272281"/>
              <a:chExt cx="1993536" cy="2858355"/>
            </a:xfrm>
          </p:grpSpPr>
          <p:sp>
            <p:nvSpPr>
              <p:cNvPr id="16" name="Rectangle 1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914377">
                  <a:defRPr/>
                </a:pPr>
                <a:endParaRPr lang="en-US" sz="2400" kern="0" dirty="0">
                  <a:solidFill>
                    <a:prstClr val="white"/>
                  </a:solidFill>
                  <a:latin typeface="Calibri"/>
                </a:endParaRPr>
              </a:p>
            </p:txBody>
          </p:sp>
          <p:grpSp>
            <p:nvGrpSpPr>
              <p:cNvPr id="17" name="Group 16"/>
              <p:cNvGrpSpPr/>
              <p:nvPr/>
            </p:nvGrpSpPr>
            <p:grpSpPr>
              <a:xfrm>
                <a:off x="5808789" y="2272281"/>
                <a:ext cx="1993536" cy="1989348"/>
                <a:chOff x="8140701" y="1890712"/>
                <a:chExt cx="1511300" cy="1508125"/>
              </a:xfrm>
            </p:grpSpPr>
            <p:sp>
              <p:nvSpPr>
                <p:cNvPr id="1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sp>
              <p:nvSpPr>
                <p:cNvPr id="1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grpSp>
        </p:grpSp>
        <p:sp>
          <p:nvSpPr>
            <p:cNvPr id="15" name="TextBox 14"/>
            <p:cNvSpPr txBox="1"/>
            <p:nvPr/>
          </p:nvSpPr>
          <p:spPr>
            <a:xfrm>
              <a:off x="6371735" y="4585647"/>
              <a:ext cx="1189156" cy="368686"/>
            </a:xfrm>
            <a:prstGeom prst="rect">
              <a:avLst/>
            </a:prstGeom>
            <a:noFill/>
          </p:spPr>
          <p:txBody>
            <a:bodyPr wrap="square" rtlCol="0" anchor="ctr">
              <a:spAutoFit/>
            </a:bodyPr>
            <a:lstStyle/>
            <a:p>
              <a:pPr algn="ctr"/>
              <a:r>
                <a:rPr lang="en-US" sz="1200" b="1" kern="0" dirty="0">
                  <a:latin typeface="Arial" panose="020B0604020202020204" pitchFamily="34" charset="0"/>
                  <a:cs typeface="Arial" panose="020B0604020202020204" pitchFamily="34" charset="0"/>
                </a:rPr>
                <a:t>Sept 2019</a:t>
              </a:r>
              <a:endParaRPr lang="en-US" sz="1200" b="1" dirty="0"/>
            </a:p>
          </p:txBody>
        </p:sp>
      </p:grpSp>
      <p:grpSp>
        <p:nvGrpSpPr>
          <p:cNvPr id="23" name="Group 22"/>
          <p:cNvGrpSpPr/>
          <p:nvPr/>
        </p:nvGrpSpPr>
        <p:grpSpPr>
          <a:xfrm>
            <a:off x="3673826" y="1208852"/>
            <a:ext cx="1361612" cy="1756561"/>
            <a:chOff x="6285507" y="4056652"/>
            <a:chExt cx="1361612" cy="1952296"/>
          </a:xfrm>
        </p:grpSpPr>
        <p:grpSp>
          <p:nvGrpSpPr>
            <p:cNvPr id="24" name="Group 23"/>
            <p:cNvGrpSpPr/>
            <p:nvPr/>
          </p:nvGrpSpPr>
          <p:grpSpPr>
            <a:xfrm>
              <a:off x="6285507" y="4056652"/>
              <a:ext cx="1361612" cy="1952296"/>
              <a:chOff x="5808789" y="2272281"/>
              <a:chExt cx="1993536" cy="2858355"/>
            </a:xfrm>
          </p:grpSpPr>
          <p:sp>
            <p:nvSpPr>
              <p:cNvPr id="26" name="Rectangle 2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914377">
                  <a:defRPr/>
                </a:pPr>
                <a:endParaRPr lang="en-US" sz="2400" kern="0" dirty="0">
                  <a:solidFill>
                    <a:prstClr val="white"/>
                  </a:solidFill>
                  <a:latin typeface="Calibri"/>
                </a:endParaRPr>
              </a:p>
            </p:txBody>
          </p:sp>
          <p:grpSp>
            <p:nvGrpSpPr>
              <p:cNvPr id="27" name="Group 26"/>
              <p:cNvGrpSpPr/>
              <p:nvPr/>
            </p:nvGrpSpPr>
            <p:grpSpPr>
              <a:xfrm>
                <a:off x="5808789" y="2272281"/>
                <a:ext cx="1993536" cy="1989348"/>
                <a:chOff x="8140701" y="1890712"/>
                <a:chExt cx="1511300" cy="1508125"/>
              </a:xfrm>
            </p:grpSpPr>
            <p:sp>
              <p:nvSpPr>
                <p:cNvPr id="2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sp>
              <p:nvSpPr>
                <p:cNvPr id="2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grpSp>
        </p:grpSp>
        <p:sp>
          <p:nvSpPr>
            <p:cNvPr id="25" name="TextBox 24"/>
            <p:cNvSpPr txBox="1"/>
            <p:nvPr/>
          </p:nvSpPr>
          <p:spPr>
            <a:xfrm>
              <a:off x="6371735" y="4616057"/>
              <a:ext cx="1189155" cy="307865"/>
            </a:xfrm>
            <a:prstGeom prst="rect">
              <a:avLst/>
            </a:prstGeom>
            <a:noFill/>
          </p:spPr>
          <p:txBody>
            <a:bodyPr wrap="square" rtlCol="0" anchor="ctr">
              <a:spAutoFit/>
            </a:bodyPr>
            <a:lstStyle/>
            <a:p>
              <a:pPr algn="ctr"/>
              <a:r>
                <a:rPr lang="en-US" sz="1200" b="1" dirty="0">
                  <a:latin typeface="Arial" panose="020B0604020202020204" pitchFamily="34" charset="0"/>
                  <a:cs typeface="Arial" panose="020B0604020202020204" pitchFamily="34" charset="0"/>
                </a:rPr>
                <a:t>Q4 2019</a:t>
              </a:r>
            </a:p>
          </p:txBody>
        </p:sp>
      </p:grpSp>
      <p:grpSp>
        <p:nvGrpSpPr>
          <p:cNvPr id="30" name="Group 29"/>
          <p:cNvGrpSpPr/>
          <p:nvPr/>
        </p:nvGrpSpPr>
        <p:grpSpPr>
          <a:xfrm>
            <a:off x="5026924" y="1430350"/>
            <a:ext cx="6512599" cy="1692771"/>
            <a:chOff x="3834807" y="490283"/>
            <a:chExt cx="1891126" cy="3785844"/>
          </a:xfrm>
        </p:grpSpPr>
        <p:sp>
          <p:nvSpPr>
            <p:cNvPr id="31" name="TextBox 30"/>
            <p:cNvSpPr txBox="1"/>
            <p:nvPr/>
          </p:nvSpPr>
          <p:spPr>
            <a:xfrm>
              <a:off x="4017265" y="2312205"/>
              <a:ext cx="1708668" cy="757168"/>
            </a:xfrm>
            <a:prstGeom prst="rect">
              <a:avLst/>
            </a:prstGeom>
            <a:noFill/>
          </p:spPr>
          <p:txBody>
            <a:bodyPr wrap="square" rtlCol="0">
              <a:spAutoFit/>
            </a:bodyPr>
            <a:lstStyle/>
            <a:p>
              <a:endParaRPr lang="en-US" sz="1600" dirty="0">
                <a:solidFill>
                  <a:schemeClr val="tx1">
                    <a:lumMod val="75000"/>
                    <a:lumOff val="25000"/>
                  </a:schemeClr>
                </a:solidFill>
              </a:endParaRPr>
            </a:p>
          </p:txBody>
        </p:sp>
        <p:sp>
          <p:nvSpPr>
            <p:cNvPr id="32" name="TextBox 31"/>
            <p:cNvSpPr txBox="1"/>
            <p:nvPr/>
          </p:nvSpPr>
          <p:spPr>
            <a:xfrm>
              <a:off x="3834807" y="490283"/>
              <a:ext cx="1056853" cy="3785844"/>
            </a:xfrm>
            <a:prstGeom prst="rect">
              <a:avLst/>
            </a:prstGeom>
            <a:noFill/>
          </p:spPr>
          <p:txBody>
            <a:bodyPr wrap="square" rtlCol="0">
              <a:spAutoFit/>
            </a:bodyPr>
            <a:lstStyle/>
            <a:p>
              <a:r>
                <a:rPr lang="en-US" sz="2000" dirty="0">
                  <a:solidFill>
                    <a:schemeClr val="tx1">
                      <a:lumMod val="75000"/>
                      <a:lumOff val="25000"/>
                    </a:schemeClr>
                  </a:solidFill>
                  <a:latin typeface="Arial" panose="020B0604020202020204" pitchFamily="34" charset="0"/>
                  <a:cs typeface="Arial" panose="020B0604020202020204" pitchFamily="34" charset="0"/>
                </a:rPr>
                <a:t>Further develop the Strategy and Work Plan based on comments form Board and CAG</a:t>
              </a:r>
            </a:p>
            <a:p>
              <a:endParaRPr lang="en-US" sz="2400" b="1" dirty="0">
                <a:solidFill>
                  <a:schemeClr val="tx1">
                    <a:lumMod val="75000"/>
                    <a:lumOff val="25000"/>
                  </a:schemeClr>
                </a:solidFill>
                <a:latin typeface="Arial" panose="020B0604020202020204" pitchFamily="34" charset="0"/>
                <a:cs typeface="Arial" panose="020B0604020202020204" pitchFamily="34" charset="0"/>
              </a:endParaRPr>
            </a:p>
          </p:txBody>
        </p:sp>
      </p:grpSp>
      <p:grpSp>
        <p:nvGrpSpPr>
          <p:cNvPr id="43" name="Group 42"/>
          <p:cNvGrpSpPr/>
          <p:nvPr/>
        </p:nvGrpSpPr>
        <p:grpSpPr>
          <a:xfrm>
            <a:off x="4726674" y="3378863"/>
            <a:ext cx="1647551" cy="2320204"/>
            <a:chOff x="6285506" y="4056652"/>
            <a:chExt cx="1361612" cy="1917523"/>
          </a:xfrm>
        </p:grpSpPr>
        <p:grpSp>
          <p:nvGrpSpPr>
            <p:cNvPr id="44" name="Group 43"/>
            <p:cNvGrpSpPr/>
            <p:nvPr/>
          </p:nvGrpSpPr>
          <p:grpSpPr>
            <a:xfrm>
              <a:off x="6285506" y="4056652"/>
              <a:ext cx="1361612" cy="1917523"/>
              <a:chOff x="5808788" y="2272280"/>
              <a:chExt cx="1993536" cy="2807444"/>
            </a:xfrm>
          </p:grpSpPr>
          <p:sp>
            <p:nvSpPr>
              <p:cNvPr id="46" name="Rectangle 45"/>
              <p:cNvSpPr/>
              <p:nvPr/>
            </p:nvSpPr>
            <p:spPr>
              <a:xfrm>
                <a:off x="6749128" y="4137987"/>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914377">
                  <a:defRPr/>
                </a:pPr>
                <a:endParaRPr lang="en-US" sz="2400" kern="0" dirty="0">
                  <a:solidFill>
                    <a:prstClr val="white"/>
                  </a:solidFill>
                  <a:latin typeface="Calibri"/>
                </a:endParaRPr>
              </a:p>
            </p:txBody>
          </p:sp>
          <p:grpSp>
            <p:nvGrpSpPr>
              <p:cNvPr id="47" name="Group 46"/>
              <p:cNvGrpSpPr/>
              <p:nvPr/>
            </p:nvGrpSpPr>
            <p:grpSpPr>
              <a:xfrm>
                <a:off x="5808788" y="2272280"/>
                <a:ext cx="1993536" cy="1989348"/>
                <a:chOff x="8140700" y="1890711"/>
                <a:chExt cx="1511300" cy="1508125"/>
              </a:xfrm>
            </p:grpSpPr>
            <p:sp>
              <p:nvSpPr>
                <p:cNvPr id="48" name="Freeform 25"/>
                <p:cNvSpPr>
                  <a:spLocks/>
                </p:cNvSpPr>
                <p:nvPr/>
              </p:nvSpPr>
              <p:spPr bwMode="auto">
                <a:xfrm>
                  <a:off x="8140700" y="1890711"/>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sp>
              <p:nvSpPr>
                <p:cNvPr id="4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grpSp>
        </p:grpSp>
        <p:sp>
          <p:nvSpPr>
            <p:cNvPr id="45" name="TextBox 44"/>
            <p:cNvSpPr txBox="1"/>
            <p:nvPr/>
          </p:nvSpPr>
          <p:spPr>
            <a:xfrm>
              <a:off x="6371735" y="4610669"/>
              <a:ext cx="1189156" cy="279797"/>
            </a:xfrm>
            <a:prstGeom prst="rect">
              <a:avLst/>
            </a:prstGeom>
            <a:noFill/>
          </p:spPr>
          <p:txBody>
            <a:bodyPr wrap="square" rtlCol="0" anchor="ctr">
              <a:spAutoFit/>
            </a:bodyPr>
            <a:lstStyle/>
            <a:p>
              <a:pPr algn="ctr"/>
              <a:r>
                <a:rPr lang="en-US" sz="1600" b="1" kern="0" dirty="0">
                  <a:latin typeface="Arial" panose="020B0604020202020204" pitchFamily="34" charset="0"/>
                  <a:cs typeface="Arial" panose="020B0604020202020204" pitchFamily="34" charset="0"/>
                </a:rPr>
                <a:t>Dec 2019</a:t>
              </a:r>
            </a:p>
          </p:txBody>
        </p:sp>
      </p:grpSp>
      <p:grpSp>
        <p:nvGrpSpPr>
          <p:cNvPr id="50" name="Group 49"/>
          <p:cNvGrpSpPr/>
          <p:nvPr/>
        </p:nvGrpSpPr>
        <p:grpSpPr>
          <a:xfrm>
            <a:off x="1455543" y="3848733"/>
            <a:ext cx="8531736" cy="2661695"/>
            <a:chOff x="1288097" y="2057401"/>
            <a:chExt cx="4448266" cy="3581962"/>
          </a:xfrm>
        </p:grpSpPr>
        <p:sp>
          <p:nvSpPr>
            <p:cNvPr id="51" name="TextBox 50"/>
            <p:cNvSpPr txBox="1"/>
            <p:nvPr/>
          </p:nvSpPr>
          <p:spPr>
            <a:xfrm>
              <a:off x="4027695" y="2057401"/>
              <a:ext cx="1708668" cy="455607"/>
            </a:xfrm>
            <a:prstGeom prst="rect">
              <a:avLst/>
            </a:prstGeom>
            <a:noFill/>
          </p:spPr>
          <p:txBody>
            <a:bodyPr wrap="square" rtlCol="0">
              <a:spAutoFit/>
            </a:bodyPr>
            <a:lstStyle/>
            <a:p>
              <a:endParaRPr lang="en-US" sz="1600" kern="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2" name="TextBox 51"/>
            <p:cNvSpPr txBox="1"/>
            <p:nvPr/>
          </p:nvSpPr>
          <p:spPr>
            <a:xfrm>
              <a:off x="1288097" y="3858352"/>
              <a:ext cx="1855444" cy="1781011"/>
            </a:xfrm>
            <a:prstGeom prst="rect">
              <a:avLst/>
            </a:prstGeom>
            <a:noFill/>
          </p:spPr>
          <p:txBody>
            <a:bodyPr wrap="square" rtlCol="0">
              <a:spAutoFit/>
            </a:bodyPr>
            <a:lstStyle/>
            <a:p>
              <a:r>
                <a:rPr lang="en-US" sz="2000" dirty="0">
                  <a:solidFill>
                    <a:schemeClr val="tx1">
                      <a:lumMod val="75000"/>
                      <a:lumOff val="25000"/>
                    </a:schemeClr>
                  </a:solidFill>
                  <a:latin typeface="Arial" panose="020B0604020202020204" pitchFamily="34" charset="0"/>
                  <a:cs typeface="Arial" panose="020B0604020202020204" pitchFamily="34" charset="0"/>
                </a:rPr>
                <a:t>Planned approval of           the Strategy and Work Plan and initial discussion on draft of Framework for Activities</a:t>
              </a:r>
            </a:p>
          </p:txBody>
        </p:sp>
      </p:grpSp>
      <p:sp>
        <p:nvSpPr>
          <p:cNvPr id="53" name="Title 1">
            <a:extLst>
              <a:ext uri="{FF2B5EF4-FFF2-40B4-BE49-F238E27FC236}">
                <a16:creationId xmlns:a16="http://schemas.microsoft.com/office/drawing/2014/main" id="{B215E862-CC3F-4208-96F8-EF3141D7BC13}"/>
              </a:ext>
            </a:extLst>
          </p:cNvPr>
          <p:cNvSpPr txBox="1">
            <a:spLocks/>
          </p:cNvSpPr>
          <p:nvPr/>
        </p:nvSpPr>
        <p:spPr>
          <a:xfrm>
            <a:off x="0" y="569384"/>
            <a:ext cx="12192000"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400" b="1" dirty="0"/>
              <a:t>The Way Forward</a:t>
            </a:r>
          </a:p>
        </p:txBody>
      </p:sp>
      <p:sp>
        <p:nvSpPr>
          <p:cNvPr id="2" name="Rectangle 1">
            <a:extLst>
              <a:ext uri="{FF2B5EF4-FFF2-40B4-BE49-F238E27FC236}">
                <a16:creationId xmlns:a16="http://schemas.microsoft.com/office/drawing/2014/main" id="{0DC1A3A9-0884-4336-BB93-8FD2C47E70D5}"/>
              </a:ext>
            </a:extLst>
          </p:cNvPr>
          <p:cNvSpPr/>
          <p:nvPr/>
        </p:nvSpPr>
        <p:spPr>
          <a:xfrm>
            <a:off x="922573" y="2815345"/>
            <a:ext cx="2564678" cy="1015663"/>
          </a:xfrm>
          <a:prstGeom prst="rect">
            <a:avLst/>
          </a:prstGeom>
        </p:spPr>
        <p:txBody>
          <a:bodyPr wrap="square">
            <a:spAutoFit/>
          </a:bodyPr>
          <a:lstStyle/>
          <a:p>
            <a:r>
              <a:rPr lang="en-US" sz="2000" dirty="0">
                <a:solidFill>
                  <a:schemeClr val="tx1">
                    <a:lumMod val="75000"/>
                    <a:lumOff val="25000"/>
                  </a:schemeClr>
                </a:solidFill>
                <a:latin typeface="Arial" panose="020B0604020202020204" pitchFamily="34" charset="0"/>
                <a:cs typeface="Arial" panose="020B0604020202020204" pitchFamily="34" charset="0"/>
              </a:rPr>
              <a:t>Discuss the Strategy and Work Plan with the Board </a:t>
            </a:r>
          </a:p>
        </p:txBody>
      </p:sp>
      <p:grpSp>
        <p:nvGrpSpPr>
          <p:cNvPr id="41" name="Group 40">
            <a:extLst>
              <a:ext uri="{FF2B5EF4-FFF2-40B4-BE49-F238E27FC236}">
                <a16:creationId xmlns:a16="http://schemas.microsoft.com/office/drawing/2014/main" id="{BC106520-B809-44E3-B232-D806A3C5F79C}"/>
              </a:ext>
            </a:extLst>
          </p:cNvPr>
          <p:cNvGrpSpPr/>
          <p:nvPr/>
        </p:nvGrpSpPr>
        <p:grpSpPr>
          <a:xfrm>
            <a:off x="431493" y="2965414"/>
            <a:ext cx="3321856" cy="725985"/>
            <a:chOff x="4027694" y="1669969"/>
            <a:chExt cx="1891580" cy="725985"/>
          </a:xfrm>
        </p:grpSpPr>
        <p:sp>
          <p:nvSpPr>
            <p:cNvPr id="42" name="TextBox 41">
              <a:extLst>
                <a:ext uri="{FF2B5EF4-FFF2-40B4-BE49-F238E27FC236}">
                  <a16:creationId xmlns:a16="http://schemas.microsoft.com/office/drawing/2014/main" id="{F5026986-6427-4BC7-9B0A-E9023AAAB056}"/>
                </a:ext>
              </a:extLst>
            </p:cNvPr>
            <p:cNvSpPr txBox="1"/>
            <p:nvPr/>
          </p:nvSpPr>
          <p:spPr>
            <a:xfrm>
              <a:off x="4027695" y="2057400"/>
              <a:ext cx="1708668" cy="338554"/>
            </a:xfrm>
            <a:prstGeom prst="rect">
              <a:avLst/>
            </a:prstGeom>
            <a:noFill/>
          </p:spPr>
          <p:txBody>
            <a:bodyPr wrap="square" rtlCol="0">
              <a:spAutoFit/>
            </a:bodyPr>
            <a:lstStyle/>
            <a:p>
              <a:endParaRPr lang="en-US" sz="1600" dirty="0">
                <a:solidFill>
                  <a:schemeClr val="tx1">
                    <a:lumMod val="75000"/>
                    <a:lumOff val="25000"/>
                  </a:schemeClr>
                </a:solidFill>
              </a:endParaRPr>
            </a:p>
          </p:txBody>
        </p:sp>
        <p:sp>
          <p:nvSpPr>
            <p:cNvPr id="54" name="TextBox 53">
              <a:extLst>
                <a:ext uri="{FF2B5EF4-FFF2-40B4-BE49-F238E27FC236}">
                  <a16:creationId xmlns:a16="http://schemas.microsoft.com/office/drawing/2014/main" id="{06D91158-C982-43CD-A891-F690253D8584}"/>
                </a:ext>
              </a:extLst>
            </p:cNvPr>
            <p:cNvSpPr txBox="1"/>
            <p:nvPr/>
          </p:nvSpPr>
          <p:spPr>
            <a:xfrm>
              <a:off x="4027694" y="1669969"/>
              <a:ext cx="1891580" cy="420564"/>
            </a:xfrm>
            <a:prstGeom prst="rect">
              <a:avLst/>
            </a:prstGeom>
            <a:noFill/>
          </p:spPr>
          <p:txBody>
            <a:bodyPr wrap="square" rtlCol="0">
              <a:spAutoFit/>
            </a:bodyPr>
            <a:lstStyle/>
            <a:p>
              <a:pPr marL="463284" indent="-463284">
                <a:buFont typeface="Arial" panose="020B0604020202020204" pitchFamily="34" charset="0"/>
                <a:buChar char="•"/>
              </a:pPr>
              <a:endParaRPr lang="en-US" sz="2133" dirty="0">
                <a:solidFill>
                  <a:schemeClr val="tx1">
                    <a:lumMod val="75000"/>
                    <a:lumOff val="25000"/>
                  </a:schemeClr>
                </a:solidFill>
                <a:latin typeface="Arial" panose="020B0604020202020204" pitchFamily="34" charset="0"/>
                <a:cs typeface="Arial" panose="020B0604020202020204" pitchFamily="34" charset="0"/>
              </a:endParaRPr>
            </a:p>
          </p:txBody>
        </p:sp>
      </p:grpSp>
      <p:grpSp>
        <p:nvGrpSpPr>
          <p:cNvPr id="56" name="Group 55">
            <a:extLst>
              <a:ext uri="{FF2B5EF4-FFF2-40B4-BE49-F238E27FC236}">
                <a16:creationId xmlns:a16="http://schemas.microsoft.com/office/drawing/2014/main" id="{981A6785-954E-4E7E-AF74-14DB0C66C57B}"/>
              </a:ext>
            </a:extLst>
          </p:cNvPr>
          <p:cNvGrpSpPr/>
          <p:nvPr/>
        </p:nvGrpSpPr>
        <p:grpSpPr>
          <a:xfrm>
            <a:off x="7643322" y="3619002"/>
            <a:ext cx="1647551" cy="2320204"/>
            <a:chOff x="6285506" y="4056652"/>
            <a:chExt cx="1361612" cy="1917523"/>
          </a:xfrm>
        </p:grpSpPr>
        <p:grpSp>
          <p:nvGrpSpPr>
            <p:cNvPr id="57" name="Group 56">
              <a:extLst>
                <a:ext uri="{FF2B5EF4-FFF2-40B4-BE49-F238E27FC236}">
                  <a16:creationId xmlns:a16="http://schemas.microsoft.com/office/drawing/2014/main" id="{857B701C-B57D-4368-9E12-D56F32F525EC}"/>
                </a:ext>
              </a:extLst>
            </p:cNvPr>
            <p:cNvGrpSpPr/>
            <p:nvPr/>
          </p:nvGrpSpPr>
          <p:grpSpPr>
            <a:xfrm>
              <a:off x="6285506" y="4056652"/>
              <a:ext cx="1361612" cy="1917523"/>
              <a:chOff x="5808788" y="2272280"/>
              <a:chExt cx="1993536" cy="2807444"/>
            </a:xfrm>
          </p:grpSpPr>
          <p:sp>
            <p:nvSpPr>
              <p:cNvPr id="59" name="Rectangle 58">
                <a:extLst>
                  <a:ext uri="{FF2B5EF4-FFF2-40B4-BE49-F238E27FC236}">
                    <a16:creationId xmlns:a16="http://schemas.microsoft.com/office/drawing/2014/main" id="{839441E5-77CA-41B7-92D8-46A282A63745}"/>
                  </a:ext>
                </a:extLst>
              </p:cNvPr>
              <p:cNvSpPr/>
              <p:nvPr/>
            </p:nvSpPr>
            <p:spPr>
              <a:xfrm>
                <a:off x="6749128" y="4137987"/>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914377">
                  <a:defRPr/>
                </a:pPr>
                <a:endParaRPr lang="en-US" sz="2400" kern="0" dirty="0">
                  <a:solidFill>
                    <a:prstClr val="white"/>
                  </a:solidFill>
                  <a:latin typeface="Calibri"/>
                </a:endParaRPr>
              </a:p>
            </p:txBody>
          </p:sp>
          <p:grpSp>
            <p:nvGrpSpPr>
              <p:cNvPr id="60" name="Group 59">
                <a:extLst>
                  <a:ext uri="{FF2B5EF4-FFF2-40B4-BE49-F238E27FC236}">
                    <a16:creationId xmlns:a16="http://schemas.microsoft.com/office/drawing/2014/main" id="{4C1E54DE-8D35-4081-9CC3-7B8E50C937FB}"/>
                  </a:ext>
                </a:extLst>
              </p:cNvPr>
              <p:cNvGrpSpPr/>
              <p:nvPr/>
            </p:nvGrpSpPr>
            <p:grpSpPr>
              <a:xfrm>
                <a:off x="5808788" y="2272280"/>
                <a:ext cx="1993536" cy="1989348"/>
                <a:chOff x="8140700" y="1890711"/>
                <a:chExt cx="1511300" cy="1508125"/>
              </a:xfrm>
            </p:grpSpPr>
            <p:sp>
              <p:nvSpPr>
                <p:cNvPr id="61" name="Freeform 25">
                  <a:extLst>
                    <a:ext uri="{FF2B5EF4-FFF2-40B4-BE49-F238E27FC236}">
                      <a16:creationId xmlns:a16="http://schemas.microsoft.com/office/drawing/2014/main" id="{9820E362-09AB-4195-A1A1-145C52BFF3C5}"/>
                    </a:ext>
                  </a:extLst>
                </p:cNvPr>
                <p:cNvSpPr>
                  <a:spLocks/>
                </p:cNvSpPr>
                <p:nvPr/>
              </p:nvSpPr>
              <p:spPr bwMode="auto">
                <a:xfrm>
                  <a:off x="8140700" y="1890711"/>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sp>
              <p:nvSpPr>
                <p:cNvPr id="62" name="Freeform 26">
                  <a:extLst>
                    <a:ext uri="{FF2B5EF4-FFF2-40B4-BE49-F238E27FC236}">
                      <a16:creationId xmlns:a16="http://schemas.microsoft.com/office/drawing/2014/main" id="{A3C31140-67B0-4D19-A693-F1A6BCC9B270}"/>
                    </a:ext>
                  </a:extLst>
                </p:cNvPr>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grpSp>
        </p:grpSp>
        <p:sp>
          <p:nvSpPr>
            <p:cNvPr id="58" name="TextBox 57">
              <a:extLst>
                <a:ext uri="{FF2B5EF4-FFF2-40B4-BE49-F238E27FC236}">
                  <a16:creationId xmlns:a16="http://schemas.microsoft.com/office/drawing/2014/main" id="{149C4DFE-C682-4B24-8871-2A114800C1F7}"/>
                </a:ext>
              </a:extLst>
            </p:cNvPr>
            <p:cNvSpPr txBox="1"/>
            <p:nvPr/>
          </p:nvSpPr>
          <p:spPr>
            <a:xfrm>
              <a:off x="6371735" y="4610669"/>
              <a:ext cx="1189156" cy="279797"/>
            </a:xfrm>
            <a:prstGeom prst="rect">
              <a:avLst/>
            </a:prstGeom>
            <a:noFill/>
          </p:spPr>
          <p:txBody>
            <a:bodyPr wrap="square" rtlCol="0" anchor="ctr">
              <a:spAutoFit/>
            </a:bodyPr>
            <a:lstStyle/>
            <a:p>
              <a:pPr algn="ctr"/>
              <a:r>
                <a:rPr lang="en-US" sz="1600" b="1" kern="0" dirty="0">
                  <a:latin typeface="Arial" panose="020B0604020202020204" pitchFamily="34" charset="0"/>
                  <a:cs typeface="Arial" panose="020B0604020202020204" pitchFamily="34" charset="0"/>
                </a:rPr>
                <a:t>2020</a:t>
              </a:r>
            </a:p>
          </p:txBody>
        </p:sp>
      </p:grpSp>
      <p:sp>
        <p:nvSpPr>
          <p:cNvPr id="3" name="Rectangle 2">
            <a:extLst>
              <a:ext uri="{FF2B5EF4-FFF2-40B4-BE49-F238E27FC236}">
                <a16:creationId xmlns:a16="http://schemas.microsoft.com/office/drawing/2014/main" id="{23B70486-3203-4B7D-AA8A-D5CA3B27C2E5}"/>
              </a:ext>
            </a:extLst>
          </p:cNvPr>
          <p:cNvSpPr/>
          <p:nvPr/>
        </p:nvSpPr>
        <p:spPr>
          <a:xfrm>
            <a:off x="7336414" y="3073068"/>
            <a:ext cx="2761499" cy="646331"/>
          </a:xfrm>
          <a:prstGeom prst="rect">
            <a:avLst/>
          </a:prstGeom>
        </p:spPr>
        <p:txBody>
          <a:bodyPr wrap="square">
            <a:spAutoFit/>
          </a:bodyPr>
          <a:lstStyle/>
          <a:p>
            <a:r>
              <a:rPr lang="en-US" dirty="0">
                <a:solidFill>
                  <a:schemeClr val="tx1">
                    <a:lumMod val="75000"/>
                    <a:lumOff val="25000"/>
                  </a:schemeClr>
                </a:solidFill>
                <a:latin typeface="Arial" panose="020B0604020202020204" pitchFamily="34" charset="0"/>
                <a:cs typeface="Arial" panose="020B0604020202020204" pitchFamily="34" charset="0"/>
              </a:rPr>
              <a:t>Continue to develop the Framework for Activities</a:t>
            </a:r>
          </a:p>
        </p:txBody>
      </p:sp>
      <p:sp>
        <p:nvSpPr>
          <p:cNvPr id="55" name="Slide Number Placeholder 5">
            <a:extLst>
              <a:ext uri="{FF2B5EF4-FFF2-40B4-BE49-F238E27FC236}">
                <a16:creationId xmlns:a16="http://schemas.microsoft.com/office/drawing/2014/main" id="{FCBFB763-FFED-42BB-A7AD-23A37677C667}"/>
              </a:ext>
            </a:extLst>
          </p:cNvPr>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20</a:t>
            </a:fld>
            <a:r>
              <a:rPr lang="en-US" dirty="0">
                <a:latin typeface="Arial" panose="020B0604020202020204" pitchFamily="34" charset="0"/>
              </a:rPr>
              <a:t>  |</a:t>
            </a:r>
          </a:p>
        </p:txBody>
      </p:sp>
    </p:spTree>
    <p:extLst>
      <p:ext uri="{BB962C8B-B14F-4D97-AF65-F5344CB8AC3E}">
        <p14:creationId xmlns:p14="http://schemas.microsoft.com/office/powerpoint/2010/main" val="1183467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21</a:t>
            </a:fld>
            <a:r>
              <a:rPr lang="en-US" dirty="0">
                <a:latin typeface="Arial" panose="020B0604020202020204" pitchFamily="34" charset="0"/>
              </a:rPr>
              <a:t>  |</a:t>
            </a: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1960880"/>
            <a:ext cx="11203029" cy="3252910"/>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3200" b="1" dirty="0">
                <a:solidFill>
                  <a:schemeClr val="accent3"/>
                </a:solidFill>
                <a:latin typeface="Arial" panose="020B0604020202020204" pitchFamily="34" charset="0"/>
                <a:cs typeface="Arial" panose="020B0604020202020204" pitchFamily="34" charset="0"/>
              </a:rPr>
              <a:t>Question 3:</a:t>
            </a:r>
          </a:p>
          <a:p>
            <a:pPr marL="0" indent="0">
              <a:buNone/>
            </a:pPr>
            <a:r>
              <a:rPr lang="en-US" sz="3200" dirty="0">
                <a:solidFill>
                  <a:schemeClr val="accent3"/>
                </a:solidFill>
                <a:latin typeface="Arial" panose="020B0604020202020204" pitchFamily="34" charset="0"/>
                <a:cs typeface="Arial" panose="020B0604020202020204" pitchFamily="34" charset="0"/>
              </a:rPr>
              <a:t>The IAASB is asked whether there are any other matters the Steering Committee should consider as it finalizes the Strategy and Work Plan for approval by the IAASB in December 2019 </a:t>
            </a:r>
          </a:p>
        </p:txBody>
      </p:sp>
    </p:spTree>
    <p:extLst>
      <p:ext uri="{BB962C8B-B14F-4D97-AF65-F5344CB8AC3E}">
        <p14:creationId xmlns:p14="http://schemas.microsoft.com/office/powerpoint/2010/main" val="3073461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16753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6.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7.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8586</TotalTime>
  <Words>1263</Words>
  <Application>Microsoft Office PowerPoint</Application>
  <PresentationFormat>Widescreen</PresentationFormat>
  <Paragraphs>200</Paragraphs>
  <Slides>22</Slides>
  <Notes>9</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22</vt:i4>
      </vt:variant>
    </vt:vector>
  </HeadingPairs>
  <TitlesOfParts>
    <vt:vector size="33" baseType="lpstr">
      <vt:lpstr>Arial</vt:lpstr>
      <vt:lpstr>Arial Narrow</vt:lpstr>
      <vt:lpstr>Calibri</vt:lpstr>
      <vt:lpstr>Calibri Light</vt:lpstr>
      <vt:lpstr>1_Custom Design</vt:lpstr>
      <vt:lpstr>Custom Design</vt:lpstr>
      <vt:lpstr>2_Custom Design</vt:lpstr>
      <vt:lpstr>3_Custom Design</vt:lpstr>
      <vt:lpstr>4_Office Theme</vt:lpstr>
      <vt:lpstr>Office Theme</vt:lpstr>
      <vt:lpstr>1_Office Theme</vt:lpstr>
      <vt:lpstr>PowerPoint Presentation</vt:lpstr>
      <vt:lpstr>Objective</vt:lpstr>
      <vt:lpstr>Overview </vt:lpstr>
      <vt:lpstr> </vt:lpstr>
      <vt:lpstr>CAG Discussion</vt:lpstr>
      <vt:lpstr> </vt:lpstr>
      <vt:lpstr>Consultation Paper – Responses</vt:lpstr>
      <vt:lpstr>High-Level Summary of Respondent’s Comments</vt:lpstr>
      <vt:lpstr>High-Level Summary of Respondent’s Comments</vt:lpstr>
      <vt:lpstr>PowerPoint Presentation</vt:lpstr>
      <vt:lpstr>IAASB’s Goal, Keys to Success and Stakeholder Value Proposition</vt:lpstr>
      <vt:lpstr>Strategy – Main Changes</vt:lpstr>
      <vt:lpstr>Strategy – Main Changes</vt:lpstr>
      <vt:lpstr>Matter for IAASB Consideration</vt:lpstr>
      <vt:lpstr>PowerPoint Presentation</vt:lpstr>
      <vt:lpstr>Work Plan – Main Changes</vt:lpstr>
      <vt:lpstr>Matter for IAASB Consideration</vt:lpstr>
      <vt:lpstr>PowerPoint Presentation</vt:lpstr>
      <vt:lpstr>Framework for Activities</vt:lpstr>
      <vt:lpstr>PowerPoint Presentation</vt:lpstr>
      <vt:lpstr>Matter for IAASB Consideration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Armand Kotze</dc:creator>
  <cp:lastModifiedBy>Jasper van den Hout</cp:lastModifiedBy>
  <cp:revision>695</cp:revision>
  <cp:lastPrinted>2018-10-23T13:03:17Z</cp:lastPrinted>
  <dcterms:created xsi:type="dcterms:W3CDTF">2018-10-18T19:25:41Z</dcterms:created>
  <dcterms:modified xsi:type="dcterms:W3CDTF">2019-09-16T01:16:54Z</dcterms:modified>
</cp:coreProperties>
</file>