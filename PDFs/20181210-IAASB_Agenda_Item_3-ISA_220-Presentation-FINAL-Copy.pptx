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3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33" r:id="rId2"/>
    <p:sldId id="358" r:id="rId3"/>
    <p:sldId id="357" r:id="rId4"/>
    <p:sldId id="359" r:id="rId5"/>
    <p:sldId id="335" r:id="rId6"/>
    <p:sldId id="320" r:id="rId7"/>
    <p:sldId id="341" r:id="rId8"/>
    <p:sldId id="343" r:id="rId9"/>
    <p:sldId id="345" r:id="rId10"/>
    <p:sldId id="347" r:id="rId11"/>
    <p:sldId id="327" r:id="rId12"/>
    <p:sldId id="350" r:id="rId13"/>
    <p:sldId id="259" r:id="rId14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15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Schuyler Simms" initials="SS" lastIdx="17" clrIdx="2"/>
  <p:cmAuthor id="4" name="Schuyler Simms" initials="SSS" lastIdx="15" clrIdx="3">
    <p:extLst>
      <p:ext uri="{19B8F6BF-5375-455C-9EA6-DF929625EA0E}">
        <p15:presenceInfo xmlns:p15="http://schemas.microsoft.com/office/powerpoint/2012/main" userId="Schuyler Simms" providerId="None"/>
      </p:ext>
    </p:extLst>
  </p:cmAuthor>
  <p:cmAuthor id="5" name="BJ" initials="BJ" lastIdx="12" clrIdx="4">
    <p:extLst>
      <p:ext uri="{19B8F6BF-5375-455C-9EA6-DF929625EA0E}">
        <p15:presenceInfo xmlns:p15="http://schemas.microsoft.com/office/powerpoint/2012/main" userId="BJ" providerId="None"/>
      </p:ext>
    </p:extLst>
  </p:cmAuthor>
  <p:cmAuthor id="6" name="Megan Zietsman" initials="MZ" lastIdx="4" clrIdx="5">
    <p:extLst>
      <p:ext uri="{19B8F6BF-5375-455C-9EA6-DF929625EA0E}">
        <p15:presenceInfo xmlns:p15="http://schemas.microsoft.com/office/powerpoint/2012/main" userId="Megan Ziets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A22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82709" autoAdjust="0"/>
  </p:normalViewPr>
  <p:slideViewPr>
    <p:cSldViewPr snapToGrid="0" snapToObjects="1">
      <p:cViewPr varScale="1">
        <p:scale>
          <a:sx n="77" d="100"/>
          <a:sy n="77" d="100"/>
        </p:scale>
        <p:origin x="1260" y="84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12/10/2018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12/10/2018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188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36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82806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0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0581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42854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429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10099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5672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10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8995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47576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95677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73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"/>
          <a:stretch/>
        </p:blipFill>
        <p:spPr>
          <a:xfrm>
            <a:off x="-12701" y="-26572"/>
            <a:ext cx="9156701" cy="24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2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r>
              <a:rPr lang="en-US" dirty="0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89E18CF-C690-4C5C-8392-CD967FC1C437}" type="datetime1">
              <a:rPr lang="en-US" smtClean="0"/>
              <a:t>12/10/2018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61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Quality Management at the Engagement Level</a:t>
            </a:r>
            <a:br>
              <a:rPr lang="en-US" dirty="0"/>
            </a:br>
            <a:r>
              <a:rPr lang="en-US" dirty="0" smtClean="0"/>
              <a:t>Proposed ISA </a:t>
            </a:r>
            <a:r>
              <a:rPr lang="en-US" dirty="0"/>
              <a:t>220 (Revised)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Megan Zietsman, Task Force Chair </a:t>
            </a:r>
          </a:p>
          <a:p>
            <a:r>
              <a:rPr lang="en-US" dirty="0"/>
              <a:t>IAASB Meeting, New York, USA</a:t>
            </a:r>
          </a:p>
          <a:p>
            <a:r>
              <a:rPr lang="en-US" dirty="0"/>
              <a:t>Agenda Item </a:t>
            </a:r>
            <a:r>
              <a:rPr lang="en-US" dirty="0" smtClean="0"/>
              <a:t>3</a:t>
            </a:r>
            <a:endParaRPr lang="en-US" dirty="0"/>
          </a:p>
          <a:p>
            <a:r>
              <a:rPr lang="en-US" dirty="0" smtClean="0"/>
              <a:t>December 10,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6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83427" y="1388227"/>
            <a:ext cx="4561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Introduction</a:t>
            </a:r>
            <a:endParaRPr lang="en-US" sz="6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04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 smtClean="0"/>
              <a:t>Outreach and Feedback Received in Q4	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1002632"/>
            <a:ext cx="8229600" cy="3805744"/>
          </a:xfrm>
        </p:spPr>
        <p:txBody>
          <a:bodyPr/>
          <a:lstStyle/>
          <a:p>
            <a:pPr marL="498871" lvl="1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Disposition of IAASB comments from September 2018 IAASB Meeting</a:t>
            </a:r>
          </a:p>
          <a:p>
            <a:pPr marL="498871" lvl="1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Other input received from: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60631" lvl="3" indent="-347472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IOSCO Committee 1, Auditing Sub-Committee</a:t>
            </a:r>
          </a:p>
          <a:p>
            <a:pPr marL="860631" lvl="3" indent="-347472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IFIAR Standards Coordination Working Group</a:t>
            </a:r>
          </a:p>
          <a:p>
            <a:pPr marL="860631" lvl="3" indent="-347472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IESBA, through written comments</a:t>
            </a:r>
          </a:p>
          <a:p>
            <a:pPr marL="1254918" lvl="4" indent="-346075">
              <a:buFont typeface="Courier New" panose="02070309020205020404" pitchFamily="49" charset="0"/>
              <a:buChar char="o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No significant matters</a:t>
            </a:r>
          </a:p>
          <a:p>
            <a:pPr marL="860631" lvl="3" indent="-347472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Forum of Firms</a:t>
            </a:r>
          </a:p>
          <a:p>
            <a:pPr marL="860631" lvl="3" indent="-347472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CEAOB</a:t>
            </a:r>
          </a:p>
          <a:p>
            <a:pPr marL="860631" lvl="3" indent="-347472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SMPC letter</a:t>
            </a:r>
          </a:p>
          <a:p>
            <a:pPr marL="347472" lvl="0" indent="-347472"/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83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66455" y="1055718"/>
            <a:ext cx="60371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Walk Through of Proposed ISA 220 (Revised)</a:t>
            </a:r>
            <a:endParaRPr lang="en-US" sz="6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89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Introduction, Objective, and Definitions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5055654"/>
              </p:ext>
            </p:extLst>
          </p:nvPr>
        </p:nvGraphicFramePr>
        <p:xfrm>
          <a:off x="810126" y="992068"/>
          <a:ext cx="7507706" cy="21411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560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1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005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28014">
                <a:tc gridSpan="3"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ISA 220 (Revised) – Agenda Item 3–A </a:t>
                      </a:r>
                    </a:p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 hMerge="1"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44167" marR="44167" marT="22089" marB="22089"/>
                </a:tc>
                <a:tc hMerge="1"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44167" marR="44167" marT="22089" marB="22089"/>
                </a:tc>
              </a:tr>
              <a:tr h="52801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</a:t>
                      </a:r>
                    </a:p>
                  </a:txBody>
                  <a:tcPr marL="44167" marR="44167" marT="22089" marB="22089"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Paragraph(s) </a:t>
                      </a:r>
                    </a:p>
                  </a:txBody>
                  <a:tcPr marL="44167" marR="44167" marT="22089" marB="22089">
                    <a:solidFill>
                      <a:srgbClr val="F15A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 marL="44167" marR="44167" marT="22089" marB="22089">
                    <a:solidFill>
                      <a:srgbClr val="F15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68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Introduction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1–7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A1–A15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68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681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Definitions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A16</a:t>
                      </a:r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A21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</a:tr>
            </a:tbl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457200" y="3288526"/>
            <a:ext cx="8229600" cy="14340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Comments</a:t>
            </a:r>
            <a:endParaRPr lang="en-US" sz="1800" b="1" u="sng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A4 – Clarify how national requirements can be determined as at least as demanding as proposed ISQM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A8 – Consider additional example</a:t>
            </a:r>
          </a:p>
        </p:txBody>
      </p:sp>
    </p:spTree>
    <p:extLst>
      <p:ext uri="{BB962C8B-B14F-4D97-AF65-F5344CB8AC3E}">
        <p14:creationId xmlns:p14="http://schemas.microsoft.com/office/powerpoint/2010/main" val="419146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86800" cy="403875"/>
          </a:xfrm>
        </p:spPr>
        <p:txBody>
          <a:bodyPr/>
          <a:lstStyle/>
          <a:p>
            <a:r>
              <a:rPr lang="en-US" dirty="0" smtClean="0"/>
              <a:t>Leadership </a:t>
            </a:r>
            <a:r>
              <a:rPr lang="en-US" dirty="0"/>
              <a:t>Responsibilities for </a:t>
            </a:r>
            <a:r>
              <a:rPr lang="en-US" dirty="0" smtClean="0"/>
              <a:t>Managing and Achieving </a:t>
            </a:r>
            <a:r>
              <a:rPr lang="en-US" dirty="0"/>
              <a:t>Quality on Audits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2540756"/>
              </p:ext>
            </p:extLst>
          </p:nvPr>
        </p:nvGraphicFramePr>
        <p:xfrm>
          <a:off x="818146" y="972052"/>
          <a:ext cx="7531770" cy="95549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7658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658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ISA 220 (Revised) – Agenda Item 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3–A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Paragraph(s)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11–13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Application Material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A22–A30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2218266"/>
            <a:ext cx="8126627" cy="190897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</a:t>
            </a: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11 – Make clear that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engagement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partner’s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EP’s) responsibility is for the engagement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12 – Incorporate (c) into the lead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13(b) – Clarify that the EP reviews selected documentation for the purpose of monitoring the work of assignees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36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86800" cy="403875"/>
          </a:xfrm>
        </p:spPr>
        <p:txBody>
          <a:bodyPr/>
          <a:lstStyle/>
          <a:p>
            <a:r>
              <a:rPr lang="en-US" dirty="0"/>
              <a:t>Relevant Ethical Requirements, Including Independence Requirements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218366"/>
              </p:ext>
            </p:extLst>
          </p:nvPr>
        </p:nvGraphicFramePr>
        <p:xfrm>
          <a:off x="818146" y="972052"/>
          <a:ext cx="7531770" cy="95549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7658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658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ISA 220 (Revised) – Agenda Item 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4–A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Paragraph(s)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14–19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Application Material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A31–A42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2182587"/>
            <a:ext cx="8229600" cy="160447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</a:t>
            </a: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16 – Consider reference to firm policies or procedures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A38 – Delete in response to concern from IESBA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86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86800" cy="403875"/>
          </a:xfrm>
        </p:spPr>
        <p:txBody>
          <a:bodyPr/>
          <a:lstStyle/>
          <a:p>
            <a:r>
              <a:rPr lang="en-US" dirty="0"/>
              <a:t>Acceptance and Continuance of Client Relationships and Audit Engagements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9882448"/>
              </p:ext>
            </p:extLst>
          </p:nvPr>
        </p:nvGraphicFramePr>
        <p:xfrm>
          <a:off x="818146" y="972052"/>
          <a:ext cx="7531770" cy="95549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7658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658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ISA 220 (Revised) – Agenda Item 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3–A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Paragraph(s)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20–22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Application Material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A43–A52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2743198"/>
            <a:ext cx="8229600" cy="9381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</a:t>
            </a: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significant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19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86800" cy="403875"/>
          </a:xfrm>
        </p:spPr>
        <p:txBody>
          <a:bodyPr/>
          <a:lstStyle/>
          <a:p>
            <a:r>
              <a:rPr lang="en-US" dirty="0"/>
              <a:t>Engagement Resources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981181"/>
              </p:ext>
            </p:extLst>
          </p:nvPr>
        </p:nvGraphicFramePr>
        <p:xfrm>
          <a:off x="818146" y="972052"/>
          <a:ext cx="7531770" cy="95549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7658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658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ISA 220 (Revised) – Agenda Item 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3–A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Paragraph(s)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23–26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Application Material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A53–A68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2734961"/>
            <a:ext cx="8229600" cy="93508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</a:t>
            </a: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significant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156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86800" cy="403875"/>
          </a:xfrm>
        </p:spPr>
        <p:txBody>
          <a:bodyPr/>
          <a:lstStyle/>
          <a:p>
            <a:r>
              <a:rPr lang="en-US" dirty="0"/>
              <a:t>Engagement Performance – Direction, Supervision, and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3637476"/>
              </p:ext>
            </p:extLst>
          </p:nvPr>
        </p:nvGraphicFramePr>
        <p:xfrm>
          <a:off x="794084" y="972052"/>
          <a:ext cx="7555832" cy="95549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7779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779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09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ISA 220 (Revised) – Agenda Item 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3–A 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Paragraph(s)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27–31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Application Material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A69–A84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2700867"/>
            <a:ext cx="8229600" cy="9255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Comments</a:t>
            </a:r>
          </a:p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 significant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91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225" y="427437"/>
            <a:ext cx="8740775" cy="403875"/>
          </a:xfrm>
        </p:spPr>
        <p:txBody>
          <a:bodyPr/>
          <a:lstStyle/>
          <a:p>
            <a:r>
              <a:rPr lang="en-US" dirty="0" smtClean="0"/>
              <a:t>Other </a:t>
            </a:r>
            <a:r>
              <a:rPr lang="en-US" dirty="0"/>
              <a:t>Sections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704448"/>
              </p:ext>
            </p:extLst>
          </p:nvPr>
        </p:nvGraphicFramePr>
        <p:xfrm>
          <a:off x="786063" y="980085"/>
          <a:ext cx="7555831" cy="186681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807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616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34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873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Paragraph(s) 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Consultation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A85–A88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Engagement 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 Review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A89–A93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Differences of Opinion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–35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A94–A95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 and Remediation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A96–A99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03225" y="2995668"/>
            <a:ext cx="8605308" cy="170198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</a:t>
            </a: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32(a)(ii) – Incorporate difficult or contentious matters into (ii)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33(a) – Change from “determine” to “be satisfied”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36 – Consider ET responsibilities for network/network firm results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A95 – Remove first bullet at IESBA request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74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27437"/>
            <a:ext cx="8686800" cy="403875"/>
          </a:xfrm>
        </p:spPr>
        <p:txBody>
          <a:bodyPr/>
          <a:lstStyle/>
          <a:p>
            <a:r>
              <a:rPr lang="en-US" dirty="0"/>
              <a:t>Taking Overall </a:t>
            </a:r>
            <a:r>
              <a:rPr lang="en-US" dirty="0" smtClean="0"/>
              <a:t>Responsibility, Documentation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3438026"/>
            <a:ext cx="8229600" cy="11627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Changes from Written </a:t>
            </a: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37(a) – Change “issues” to “matters”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Para. 37(c) – Minor alignment with posted ISQM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5592097"/>
              </p:ext>
            </p:extLst>
          </p:nvPr>
        </p:nvGraphicFramePr>
        <p:xfrm>
          <a:off x="794084" y="1201264"/>
          <a:ext cx="7555831" cy="122981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8807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616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34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873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Paragraph(s) </a:t>
                      </a: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Taking</a:t>
                      </a:r>
                      <a:r>
                        <a:rPr lang="en-US" sz="18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Overall Responsibility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marL="0" algn="ctr" defTabSz="342900" rtl="0" eaLnBrk="1" latinLnBrk="0" hangingPunct="1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A100–A102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Documentation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A103–A105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4167" marR="44167" marT="22089" marB="2208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860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18120</TotalTime>
  <Words>538</Words>
  <Application>Microsoft Office PowerPoint</Application>
  <PresentationFormat>On-screen Show (16:9)</PresentationFormat>
  <Paragraphs>135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MS PGothic</vt:lpstr>
      <vt:lpstr>MS PGothic</vt:lpstr>
      <vt:lpstr>Arial</vt:lpstr>
      <vt:lpstr>Arial Narrow</vt:lpstr>
      <vt:lpstr>Calibri</vt:lpstr>
      <vt:lpstr>Courier New</vt:lpstr>
      <vt:lpstr>Times New Roman</vt:lpstr>
      <vt:lpstr>ヒラギノ角ゴ Pro W3</vt:lpstr>
      <vt:lpstr>Office Theme</vt:lpstr>
      <vt:lpstr>Quality Management at the Engagement Level Proposed ISA 220 (Revised)</vt:lpstr>
      <vt:lpstr>PowerPoint Presentation</vt:lpstr>
      <vt:lpstr>Outreach and Feedback Received in Q4 </vt:lpstr>
      <vt:lpstr>PowerPoint Presentation</vt:lpstr>
      <vt:lpstr>Introduction, Objective, and Definitions</vt:lpstr>
      <vt:lpstr>Leadership Responsibilities for Managing and Achieving Quality on Audits </vt:lpstr>
      <vt:lpstr>Relevant Ethical Requirements, Including Independence Requirements </vt:lpstr>
      <vt:lpstr>Acceptance and Continuance of Client Relationships and Audit Engagements</vt:lpstr>
      <vt:lpstr>Engagement Resources</vt:lpstr>
      <vt:lpstr>Engagement Performance – Direction, Supervision, and Review</vt:lpstr>
      <vt:lpstr>Other Sections</vt:lpstr>
      <vt:lpstr>Taking Overall Responsibility, Documentation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Armand Kotze</cp:lastModifiedBy>
  <cp:revision>243</cp:revision>
  <cp:lastPrinted>2018-12-09T23:12:21Z</cp:lastPrinted>
  <dcterms:created xsi:type="dcterms:W3CDTF">2016-11-09T14:56:20Z</dcterms:created>
  <dcterms:modified xsi:type="dcterms:W3CDTF">2018-12-10T22:20:33Z</dcterms:modified>
</cp:coreProperties>
</file>