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84" r:id="rId4"/>
    <p:sldMasterId id="2147483672" r:id="rId5"/>
    <p:sldMasterId id="2147483696" r:id="rId6"/>
    <p:sldMasterId id="2147483708" r:id="rId7"/>
    <p:sldMasterId id="2147483844" r:id="rId8"/>
    <p:sldMasterId id="2147483856" r:id="rId9"/>
  </p:sldMasterIdLst>
  <p:notesMasterIdLst>
    <p:notesMasterId r:id="rId32"/>
  </p:notesMasterIdLst>
  <p:handoutMasterIdLst>
    <p:handoutMasterId r:id="rId33"/>
  </p:handoutMasterIdLst>
  <p:sldIdLst>
    <p:sldId id="419" r:id="rId10"/>
    <p:sldId id="596" r:id="rId11"/>
    <p:sldId id="617" r:id="rId12"/>
    <p:sldId id="633" r:id="rId13"/>
    <p:sldId id="514" r:id="rId14"/>
    <p:sldId id="602" r:id="rId15"/>
    <p:sldId id="619" r:id="rId16"/>
    <p:sldId id="618" r:id="rId17"/>
    <p:sldId id="620" r:id="rId18"/>
    <p:sldId id="621" r:id="rId19"/>
    <p:sldId id="622" r:id="rId20"/>
    <p:sldId id="623" r:id="rId21"/>
    <p:sldId id="624" r:id="rId22"/>
    <p:sldId id="632" r:id="rId23"/>
    <p:sldId id="625" r:id="rId24"/>
    <p:sldId id="626" r:id="rId25"/>
    <p:sldId id="627" r:id="rId26"/>
    <p:sldId id="628" r:id="rId27"/>
    <p:sldId id="556" r:id="rId28"/>
    <p:sldId id="629" r:id="rId29"/>
    <p:sldId id="634" r:id="rId30"/>
    <p:sldId id="394" r:id="rId31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Corden, Julie" initials="CJL(-T" lastIdx="21" clrIdx="6">
    <p:extLst>
      <p:ext uri="{19B8F6BF-5375-455C-9EA6-DF929625EA0E}">
        <p15:presenceInfo xmlns:p15="http://schemas.microsoft.com/office/powerpoint/2012/main" userId="Corden, Julie" providerId="None"/>
      </p:ext>
    </p:extLst>
  </p:cmAuthor>
  <p:cmAuthor id="1" name="Megan Zietsman" initials="MZ" lastIdx="62" clrIdx="0">
    <p:extLst>
      <p:ext uri="{19B8F6BF-5375-455C-9EA6-DF929625EA0E}">
        <p15:presenceInfo xmlns:p15="http://schemas.microsoft.com/office/powerpoint/2012/main" userId="Megan Zietsman" providerId="None"/>
      </p:ext>
    </p:extLst>
  </p:cmAuthor>
  <p:cmAuthor id="8" name="Yvonne Chan" initials="YC" lastIdx="9" clrIdx="7">
    <p:extLst>
      <p:ext uri="{19B8F6BF-5375-455C-9EA6-DF929625EA0E}">
        <p15:presenceInfo xmlns:p15="http://schemas.microsoft.com/office/powerpoint/2012/main" userId="S::YvonneChan@iaasb.org::a2d74012-b4a3-4e68-a859-fa9ac816e5f7" providerId="AD"/>
      </p:ext>
    </p:extLst>
  </p:cmAuthor>
  <p:cmAuthor id="2" name="Dan Montgomery" initials="DM" lastIdx="2" clrIdx="1">
    <p:extLst>
      <p:ext uri="{19B8F6BF-5375-455C-9EA6-DF929625EA0E}">
        <p15:presenceInfo xmlns:p15="http://schemas.microsoft.com/office/powerpoint/2012/main" userId="8ba5e3d143c5e0b2" providerId="Windows Live"/>
      </p:ext>
    </p:extLst>
  </p:cmAuthor>
  <p:cmAuthor id="3" name="Natalie Klonaridis" initials="NK" lastIdx="14" clrIdx="2">
    <p:extLst>
      <p:ext uri="{19B8F6BF-5375-455C-9EA6-DF929625EA0E}">
        <p15:presenceInfo xmlns:p15="http://schemas.microsoft.com/office/powerpoint/2012/main" userId="S-1-5-21-1801674531-1972579041-839522115-13323" providerId="AD"/>
      </p:ext>
    </p:extLst>
  </p:cmAuthor>
  <p:cmAuthor id="4" name="James Grosvenor" initials="JG" lastIdx="2" clrIdx="3">
    <p:extLst>
      <p:ext uri="{19B8F6BF-5375-455C-9EA6-DF929625EA0E}">
        <p15:presenceInfo xmlns:p15="http://schemas.microsoft.com/office/powerpoint/2012/main" userId="S-1-5-21-1801674531-1972579041-839522115-17641" providerId="AD"/>
      </p:ext>
    </p:extLst>
  </p:cmAuthor>
  <p:cmAuthor id="5" name="BJ" initials="BJ" lastIdx="4" clrIdx="4">
    <p:extLst>
      <p:ext uri="{19B8F6BF-5375-455C-9EA6-DF929625EA0E}">
        <p15:presenceInfo xmlns:p15="http://schemas.microsoft.com/office/powerpoint/2012/main" userId="BJ" providerId="None"/>
      </p:ext>
    </p:extLst>
  </p:cmAuthor>
  <p:cmAuthor id="6" name="Natalie Klonaridis" initials="NK [2]" lastIdx="13" clrIdx="5">
    <p:extLst>
      <p:ext uri="{19B8F6BF-5375-455C-9EA6-DF929625EA0E}">
        <p15:presenceInfo xmlns:p15="http://schemas.microsoft.com/office/powerpoint/2012/main" userId="S::NatalieKlonaridis@iaasb.org::f4aa4316-d059-440e-b12a-ca731c4153c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259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21" autoAdjust="0"/>
    <p:restoredTop sz="85194" autoAdjust="0"/>
  </p:normalViewPr>
  <p:slideViewPr>
    <p:cSldViewPr snapToGrid="0">
      <p:cViewPr varScale="1">
        <p:scale>
          <a:sx n="61" d="100"/>
          <a:sy n="61" d="100"/>
        </p:scale>
        <p:origin x="356" y="60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134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microsoft.com/office/2016/11/relationships/changesInfo" Target="changesInfos/changesInfo1.xml"/><Relationship Id="rId21" Type="http://schemas.openxmlformats.org/officeDocument/2006/relationships/slide" Target="slides/slide12.xml"/><Relationship Id="rId34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viewProps" Target="viewProp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vonne Chan" userId="a2d74012-b4a3-4e68-a859-fa9ac816e5f7" providerId="ADAL" clId="{73DC1B67-4EC0-4B25-BDFD-52F0E7984249}"/>
    <pc:docChg chg="modSld">
      <pc:chgData name="Yvonne Chan" userId="a2d74012-b4a3-4e68-a859-fa9ac816e5f7" providerId="ADAL" clId="{73DC1B67-4EC0-4B25-BDFD-52F0E7984249}" dt="2020-09-11T19:30:10.298" v="1" actId="6549"/>
      <pc:docMkLst>
        <pc:docMk/>
      </pc:docMkLst>
      <pc:sldChg chg="modNotesTx">
        <pc:chgData name="Yvonne Chan" userId="a2d74012-b4a3-4e68-a859-fa9ac816e5f7" providerId="ADAL" clId="{73DC1B67-4EC0-4B25-BDFD-52F0E7984249}" dt="2020-09-11T19:30:06.823" v="0" actId="6549"/>
        <pc:sldMkLst>
          <pc:docMk/>
          <pc:sldMk cId="2980586021" sldId="514"/>
        </pc:sldMkLst>
      </pc:sldChg>
      <pc:sldChg chg="modNotesTx">
        <pc:chgData name="Yvonne Chan" userId="a2d74012-b4a3-4e68-a859-fa9ac816e5f7" providerId="ADAL" clId="{73DC1B67-4EC0-4B25-BDFD-52F0E7984249}" dt="2020-09-11T19:30:10.298" v="1" actId="6549"/>
        <pc:sldMkLst>
          <pc:docMk/>
          <pc:sldMk cId="1672771224" sldId="61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79B06D-8F67-42CB-93AD-AD7CB43988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E361F4-6A5F-45A8-AF37-FCCF60B87A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122B1-12EA-42F3-806A-B02EA685436E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4E3E1-0CBD-4F7B-972F-76FDDAB8DAF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9DC8C-A75E-4ECA-BD12-FD3DD1FECD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5E0E5-E399-4EFE-8C30-EF773F49C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59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8217F18B-FBA3-4F6B-97D9-EA188CD16FE5}" type="datetimeFigureOut">
              <a:rPr lang="en-US" smtClean="0"/>
              <a:t>9/11/2020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BAD342E5-AFF1-4E5D-BEDB-B5261E7DAD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479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828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362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306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188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43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269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2519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038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0997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759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740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6572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3038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9779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974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673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5780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8075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9877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8970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5723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41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9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18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9BED-9370-4C69-8B19-DF5364062FE8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244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0B73-8C76-4707-80F8-3963866B81ED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72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C273B-D08E-4382-AC60-9B5464EA60A9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38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5696-183B-49B5-AC88-D34FC4452DEE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5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62864-BFD7-472A-B17C-B9A242BBF5D0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159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0F75-C365-4794-9298-176CBB056E2F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768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030E-23EE-4B6F-A577-FFA754F6F221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099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B20F4-4371-48A2-A1C5-564A141E18FA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943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EE5E0-6B3C-4B70-BA81-DF7E8E12A50B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175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743C-A172-4B79-957C-A37D69B35244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70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5299-30FF-4207-93B4-7A9215AAF387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880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BEC16-5153-4444-ADE5-376764F9317A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067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138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7036-7F39-45B7-B8E7-90186E26FD34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634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F55C-F0A0-40C2-92AA-13448C1B6DE2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855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1662-97DA-482D-BB44-A5E7E1463580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906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3B72-01DD-4123-ABCF-B71DC3DF9A35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614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7D7D-1F9A-439A-9B1F-FAD176DAAE95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547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D415-7CDF-4724-8022-A789958CE2B4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2619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48A9-3F54-4B3A-97B0-C24F2AA0F49B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5600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5935-DE68-40A0-AD95-3EF9318A5653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180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05138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BD7C1-6C21-4A0C-AB04-28957353C253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0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AAA40-D496-4BA5-94BC-EC2395AF4BA1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8141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FA47-1DBD-4C30-88B4-1AA2876CD950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1723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B669-7C2F-4EE4-B944-62950FE6507F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1116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AF38-C557-41C9-8FF5-BEDE134E17EE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5805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56C26-B280-45A4-847B-175DFD0A3F0F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9651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1335-23B7-4ACE-8A39-51D3C834FF8A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5636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56E5-0DA9-479C-BCFC-7EE8D0DE2A8E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2712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F7FDF-1E42-4280-A018-ACBA192297BC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132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A5003-1A61-4041-91CF-BE3D4D09EBF1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0726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7D3B-67DA-40FC-B2AC-DA938EAA2F72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4130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7F13-E155-42CD-A20C-B277FF788E23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2484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F6321-C77C-49CA-83B2-29284D793B25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60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49E-A96C-479D-999D-26024B301EF2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8297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7697-44BE-464F-8981-C5EF3A124C23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0688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57D8D-BF23-4BCF-8EBC-861A1B1DE27C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1578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52379-2070-4859-82B4-0B6BF96F6750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3237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5070-400A-40B5-8F3B-79E375432C4D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450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35FA3-A859-46EE-9DBA-3396054253CC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2396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04EDA-4DB0-43F1-8DF2-E50A41E978FD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6788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60095-03E6-49D1-8FE2-66640AD7D839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9847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9738-EE9C-4FC1-8835-2C036BE91A2B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7808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1346-6166-4BF4-867B-66F542385138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700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F4C4-52B4-4181-878C-D87ACB1BAF46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8767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43"/>
            <a:ext cx="12192000" cy="312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4211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2" y="2"/>
            <a:ext cx="12208933" cy="316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4891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7200"/>
            <a:ext cx="3702259" cy="650232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601537"/>
            <a:ext cx="12192000" cy="164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133929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857229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5136" y="6511061"/>
            <a:ext cx="3677264" cy="304412"/>
          </a:xfrm>
        </p:spPr>
        <p:txBody>
          <a:bodyPr/>
          <a:lstStyle>
            <a:lvl1pPr marL="0" marR="0" indent="0" algn="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450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10881"/>
            <a:ext cx="12192000" cy="52522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5732585"/>
            <a:ext cx="12192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5732585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0198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08016" y="6497447"/>
            <a:ext cx="2774384" cy="335775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6522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50690"/>
            <a:ext cx="5386917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03648"/>
            <a:ext cx="5386917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350690"/>
            <a:ext cx="5389033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003648"/>
            <a:ext cx="5389033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6930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0182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50073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24003" y="2082499"/>
            <a:ext cx="5857477" cy="97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5095865" y="5009183"/>
            <a:ext cx="1685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189"/>
            <a:r>
              <a:rPr lang="en-US" sz="1800" dirty="0">
                <a:solidFill>
                  <a:srgbClr val="1F497D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508000" y="6430429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746" y="5557768"/>
            <a:ext cx="770407" cy="2575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3" y="5567520"/>
            <a:ext cx="583308" cy="2575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723" y="5554229"/>
            <a:ext cx="770407" cy="2575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197" y="5557768"/>
            <a:ext cx="770407" cy="3125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015" y="5557768"/>
            <a:ext cx="770407" cy="2575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285" y="5553603"/>
            <a:ext cx="770407" cy="257536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931335" y="6144039"/>
            <a:ext cx="108373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/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4799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10058400" cy="533400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508000" y="152400"/>
            <a:ext cx="3556000" cy="228600"/>
          </a:xfr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044499" y="6326390"/>
            <a:ext cx="852032" cy="335775"/>
          </a:xfrm>
        </p:spPr>
        <p:txBody>
          <a:bodyPr/>
          <a:lstStyle/>
          <a:p>
            <a:fld id="{605F50E8-FD69-1B47-8B62-FEC05D1615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13300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68D7C-8822-4144-868B-B6EFA480259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54553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BFDA1-892D-475D-A681-5E1B87AA4CC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95204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B08FF-86A9-489B-9293-6DAA81CF558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66656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77F70-787D-4334-ABBD-4BEE84081B9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9720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84004-8839-470E-98FD-2398CB00388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83052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DBE43-71DC-4CB5-9DC9-86D083825D1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72827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6410-D2D8-4C53-8D73-7FAB926DC67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25341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67214-0AB1-49E6-A7A9-395C2525D2C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49580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15EC8-B9E7-4675-8613-1CB4C2CB498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60564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143D-A714-4C9D-9075-7EC3BC78008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34385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B81AF-C2C2-42FA-ACA9-4469AE76468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077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png"/><Relationship Id="rId18" Type="http://schemas.openxmlformats.org/officeDocument/2006/relationships/image" Target="../media/image8.png"/><Relationship Id="rId3" Type="http://schemas.openxmlformats.org/officeDocument/2006/relationships/slideLayout" Target="../slideLayouts/slideLayout36.xml"/><Relationship Id="rId21" Type="http://schemas.openxmlformats.org/officeDocument/2006/relationships/hyperlink" Target="http://www.iaasb.org/" TargetMode="Externa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6.png"/><Relationship Id="rId20" Type="http://schemas.openxmlformats.org/officeDocument/2006/relationships/hyperlink" Target="mailto:permissions@ifac.org" TargetMode="Externa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43.xml"/><Relationship Id="rId19" Type="http://schemas.openxmlformats.org/officeDocument/2006/relationships/hyperlink" Target="http://www.ifac.org/about-ifac/translations-permissions" TargetMode="Externa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4.png"/><Relationship Id="rId22" Type="http://schemas.openxmlformats.org/officeDocument/2006/relationships/image" Target="../media/image9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0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56EE5-B36E-4704-9EC0-BD21A5BAD421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8878278"/>
              </p:ext>
            </p:extLst>
          </p:nvPr>
        </p:nvGraphicFramePr>
        <p:xfrm>
          <a:off x="838200" y="291549"/>
          <a:ext cx="10515600" cy="5910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104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>
                    <a:lnL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59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B8EE7-8247-42AD-8E12-DC9551FCB683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633845"/>
            <a:ext cx="12192000" cy="447208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33844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6285141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6207974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1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6B8DE-675F-4831-9241-FE2F5CAD1845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2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C7CB0-694A-4CF9-A877-F97EB51B4CF3}" type="datetime1">
              <a:rPr lang="en-US" smtClean="0"/>
              <a:t>9/11/2020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2746" y="5520048"/>
            <a:ext cx="770407" cy="1931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4003" y="5527362"/>
            <a:ext cx="583308" cy="1931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3723" y="5517394"/>
            <a:ext cx="770407" cy="1931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1197" y="5520048"/>
            <a:ext cx="770407" cy="2344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8015" y="5520048"/>
            <a:ext cx="770407" cy="19315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0285" y="5516924"/>
            <a:ext cx="770407" cy="193152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931335" y="5827229"/>
            <a:ext cx="1083733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9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0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5139681" y="4870068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21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399" y="2461794"/>
            <a:ext cx="4326783" cy="759918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>
            <a:off x="0" y="6285141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0" y="6207974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069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69917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69917"/>
            <a:ext cx="10972800" cy="5385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251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6647" y="6511061"/>
            <a:ext cx="27432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fld id="{AF73A935-0AD8-4B38-AD39-55437B5CA1D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89"/>
              <a:t>9/11/2020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21531" y="6511061"/>
            <a:ext cx="41148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8016" y="6511061"/>
            <a:ext cx="2774384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 defTabSz="457189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 defTabSz="457189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508000" y="6429638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57" y="73879"/>
            <a:ext cx="2383243" cy="41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92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hf hdr="0" ftr="0" dt="0"/>
  <p:txStyles>
    <p:titleStyle>
      <a:lvl1pPr algn="l" defTabSz="457189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034" indent="-173034" algn="l" defTabSz="457189" rtl="0" eaLnBrk="1" latinLnBrk="0" hangingPunct="1">
        <a:spcBef>
          <a:spcPts val="120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189" indent="-228594" algn="l" defTabSz="457189" rtl="0" eaLnBrk="1" latinLnBrk="0" hangingPunct="1">
        <a:spcBef>
          <a:spcPts val="600"/>
        </a:spcBef>
        <a:spcAft>
          <a:spcPts val="400"/>
        </a:spcAft>
        <a:buFont typeface="Arial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30223" indent="-171446" algn="l" defTabSz="457189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E7E7A-EFDA-4F96-BA3A-43C7E3A490F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 userDrawn="1"/>
        </p:nvGraphicFramePr>
        <p:xfrm>
          <a:off x="838200" y="1225605"/>
          <a:ext cx="2006600" cy="129147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0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017"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>
                    <a:lnL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39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>
                    <a:lnL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059"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>
                    <a:lnL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6285141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342900">
              <a:defRPr/>
            </a:pPr>
            <a:endParaRPr lang="en-US" sz="1350" kern="0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0" y="6207974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342900">
              <a:defRPr/>
            </a:pPr>
            <a:endParaRPr lang="en-US" sz="1350" kern="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4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5782" y="1543017"/>
            <a:ext cx="9096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ISQM 1 Session 1 (Monday, September 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570" y="3892804"/>
            <a:ext cx="77820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Julie Corden, ISQM 1 Task Force Chair</a:t>
            </a:r>
          </a:p>
          <a:p>
            <a:endParaRPr lang="en-US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IAASB Meeting September 2020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prstClr val="white"/>
                </a:solidFill>
                <a:latin typeface="Arial" panose="020B0604020202020204" pitchFamily="34" charset="0"/>
                <a:cs typeface="MS PGothic" charset="0"/>
              </a:rPr>
              <a:t>Page </a:t>
            </a:r>
            <a:r>
              <a:rPr lang="en-US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98823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88998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>
                <a:ln w="0"/>
              </a:rPr>
              <a:t>Focus of the ISQM 1 TF Since June 2020 and Order of Discussion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6EB9AF-732A-4A11-8611-A0B856782DF1}"/>
              </a:ext>
            </a:extLst>
          </p:cNvPr>
          <p:cNvSpPr txBox="1">
            <a:spLocks/>
          </p:cNvSpPr>
          <p:nvPr/>
        </p:nvSpPr>
        <p:spPr>
          <a:xfrm>
            <a:off x="284051" y="1241819"/>
            <a:ext cx="11623898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Various matters related to human resources </a:t>
            </a:r>
          </a:p>
          <a:p>
            <a:pPr marL="34747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Objective of the standard </a:t>
            </a:r>
          </a:p>
          <a:p>
            <a:pPr marL="34747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Firm’s risk assessment process </a:t>
            </a:r>
          </a:p>
          <a:p>
            <a:pPr marL="34747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Relevant ethical requirements</a:t>
            </a:r>
          </a:p>
          <a:p>
            <a:pPr marL="34747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External communications</a:t>
            </a:r>
          </a:p>
          <a:p>
            <a:pPr marL="34747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Alignment with ISA 220 (Revised) and ISQM 2</a:t>
            </a:r>
          </a:p>
          <a:p>
            <a:pPr marL="0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dirty="0"/>
          </a:p>
          <a:p>
            <a:pPr marL="0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/>
              <a:t>Order of discussion</a:t>
            </a:r>
          </a:p>
          <a:p>
            <a:pPr marL="34747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Various matters related to human resources</a:t>
            </a:r>
          </a:p>
          <a:p>
            <a:pPr marL="34747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Walk through the entire standard in sequential order</a:t>
            </a:r>
          </a:p>
          <a:p>
            <a:pPr marL="34747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747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701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88998"/>
            <a:ext cx="12192000" cy="531048"/>
          </a:xfrm>
        </p:spPr>
        <p:txBody>
          <a:bodyPr/>
          <a:lstStyle/>
          <a:p>
            <a:pPr marL="347472"/>
            <a:r>
              <a:rPr lang="en-US" b="1" dirty="0">
                <a:ln w="0"/>
              </a:rPr>
              <a:t>Overview </a:t>
            </a:r>
            <a:r>
              <a:rPr lang="en-US" sz="2400" b="1" dirty="0">
                <a:ln w="0"/>
              </a:rPr>
              <a:t>of CAG Representatives Comments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6EB9AF-732A-4A11-8611-A0B856782DF1}"/>
              </a:ext>
            </a:extLst>
          </p:cNvPr>
          <p:cNvSpPr txBox="1">
            <a:spLocks/>
          </p:cNvSpPr>
          <p:nvPr/>
        </p:nvSpPr>
        <p:spPr>
          <a:xfrm>
            <a:off x="284051" y="1241819"/>
            <a:ext cx="11623898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Scalability of the standard has been improved,</a:t>
            </a: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standard is more readable</a:t>
            </a:r>
          </a:p>
          <a:p>
            <a:pPr marL="34747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Public interest paragraph</a:t>
            </a:r>
          </a:p>
          <a:p>
            <a:pPr marL="694944" lvl="1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General support for the relocation of the public interest paragraph</a:t>
            </a:r>
          </a:p>
          <a:p>
            <a:pPr marL="694944" lvl="1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PIOB representative: appreciated the efforts made by the ISQM 1 TF and supported proposals</a:t>
            </a:r>
          </a:p>
          <a:p>
            <a:pPr marL="34747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External communications </a:t>
            </a:r>
          </a:p>
          <a:p>
            <a:pPr marL="694944" lvl="1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General support, in particular with regards to:</a:t>
            </a:r>
          </a:p>
          <a:p>
            <a:pPr marL="1042416" lvl="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The scalability of the requirement </a:t>
            </a:r>
          </a:p>
          <a:p>
            <a:pPr marL="1042416" lvl="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Principles-based approach</a:t>
            </a:r>
          </a:p>
          <a:p>
            <a:pPr marL="694944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Discussion about the purpose of the requirement – purpose is multi-faceted</a:t>
            </a:r>
          </a:p>
          <a:p>
            <a:pPr marL="694944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Suggested more emphasis in AM that communication may be achieved through a conversation with those charged with governance</a:t>
            </a:r>
          </a:p>
          <a:p>
            <a:pPr marL="694944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PIOB representative: appreciated efforts made to address external communications</a:t>
            </a:r>
          </a:p>
        </p:txBody>
      </p:sp>
    </p:spTree>
    <p:extLst>
      <p:ext uri="{BB962C8B-B14F-4D97-AF65-F5344CB8AC3E}">
        <p14:creationId xmlns:p14="http://schemas.microsoft.com/office/powerpoint/2010/main" val="400458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88998"/>
            <a:ext cx="12192000" cy="531048"/>
          </a:xfrm>
        </p:spPr>
        <p:txBody>
          <a:bodyPr/>
          <a:lstStyle/>
          <a:p>
            <a:pPr marL="347472"/>
            <a:r>
              <a:rPr lang="en-US" b="1" dirty="0">
                <a:ln w="0"/>
              </a:rPr>
              <a:t>Overview </a:t>
            </a:r>
            <a:r>
              <a:rPr lang="en-US" sz="2400" b="1" dirty="0">
                <a:ln w="0"/>
              </a:rPr>
              <a:t>of CAG Representatives Comments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6EB9AF-732A-4A11-8611-A0B856782DF1}"/>
              </a:ext>
            </a:extLst>
          </p:cNvPr>
          <p:cNvSpPr txBox="1">
            <a:spLocks/>
          </p:cNvSpPr>
          <p:nvPr/>
        </p:nvSpPr>
        <p:spPr>
          <a:xfrm>
            <a:off x="284051" y="1241819"/>
            <a:ext cx="11623898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Human resources </a:t>
            </a:r>
          </a:p>
          <a:p>
            <a:pPr marL="694944" lvl="1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Concern over inclusion of component auditors in definition of engagement team and increased responsibilities on the firm and engagement team – could drive firms to increase use of network firms, to detriment of audit market</a:t>
            </a:r>
          </a:p>
        </p:txBody>
      </p:sp>
    </p:spTree>
    <p:extLst>
      <p:ext uri="{BB962C8B-B14F-4D97-AF65-F5344CB8AC3E}">
        <p14:creationId xmlns:p14="http://schemas.microsoft.com/office/powerpoint/2010/main" val="3565491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/>
              <a:t>Various Matters Related to Human Resources	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8502C6ED-5046-46D5-854E-3DE0EBBC44C6}"/>
              </a:ext>
            </a:extLst>
          </p:cNvPr>
          <p:cNvSpPr txBox="1">
            <a:spLocks/>
          </p:cNvSpPr>
          <p:nvPr/>
        </p:nvSpPr>
        <p:spPr>
          <a:xfrm>
            <a:off x="494485" y="3228919"/>
            <a:ext cx="11203029" cy="1093700"/>
          </a:xfrm>
          <a:prstGeom prst="roundRect">
            <a:avLst/>
          </a:prstGeom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  <a:defRPr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1:</a:t>
            </a:r>
          </a:p>
          <a:p>
            <a:pPr marL="91440" indent="0"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the Board agree with the revisions made addressing various matters related to human resources?</a:t>
            </a: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BE0A144F-BCE7-486B-AC40-7CA77D56E8DF}"/>
              </a:ext>
            </a:extLst>
          </p:cNvPr>
          <p:cNvSpPr/>
          <p:nvPr/>
        </p:nvSpPr>
        <p:spPr>
          <a:xfrm>
            <a:off x="494485" y="1310530"/>
            <a:ext cx="11203029" cy="14326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Definitions:	16(n), 16(v), A21–A22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20–21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A34, A72, A94–A97</a:t>
            </a:r>
          </a:p>
        </p:txBody>
      </p:sp>
    </p:spTree>
    <p:extLst>
      <p:ext uri="{BB962C8B-B14F-4D97-AF65-F5344CB8AC3E}">
        <p14:creationId xmlns:p14="http://schemas.microsoft.com/office/powerpoint/2010/main" val="2980586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520"/>
          </a:xfrm>
        </p:spPr>
        <p:txBody>
          <a:bodyPr/>
          <a:lstStyle/>
          <a:p>
            <a:pPr marL="347472"/>
            <a:r>
              <a:rPr lang="en-US" b="1" dirty="0">
                <a:ln w="0"/>
              </a:rPr>
              <a:t>Introduction, Authority of ISQM and Effective Date </a:t>
            </a:r>
            <a:endParaRPr lang="en-US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840BD7B4-EDD1-4E1A-8C76-F0B551CE88C9}"/>
              </a:ext>
            </a:extLst>
          </p:cNvPr>
          <p:cNvSpPr/>
          <p:nvPr/>
        </p:nvSpPr>
        <p:spPr>
          <a:xfrm>
            <a:off x="494485" y="1310530"/>
            <a:ext cx="11203029" cy="14326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Definitions:	N/A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1–13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A1–A9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3048FC49-DBA8-46B5-8F6C-0E816E4C52CC}"/>
              </a:ext>
            </a:extLst>
          </p:cNvPr>
          <p:cNvSpPr txBox="1">
            <a:spLocks/>
          </p:cNvSpPr>
          <p:nvPr/>
        </p:nvSpPr>
        <p:spPr>
          <a:xfrm>
            <a:off x="494485" y="3228919"/>
            <a:ext cx="11203029" cy="1315372"/>
          </a:xfrm>
          <a:prstGeom prst="roundRect">
            <a:avLst/>
          </a:prstGeom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  <a:defRPr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5:</a:t>
            </a:r>
          </a:p>
          <a:p>
            <a:pPr marL="91440" indent="0"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Board walks through the entire standard, the Board is asked for its views on the revisions to proposed ISQM 1.</a:t>
            </a:r>
          </a:p>
        </p:txBody>
      </p:sp>
    </p:spTree>
    <p:extLst>
      <p:ext uri="{BB962C8B-B14F-4D97-AF65-F5344CB8AC3E}">
        <p14:creationId xmlns:p14="http://schemas.microsoft.com/office/powerpoint/2010/main" val="226494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/>
              <a:t>Objective of Proposed ISQM 1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8502C6ED-5046-46D5-854E-3DE0EBBC44C6}"/>
              </a:ext>
            </a:extLst>
          </p:cNvPr>
          <p:cNvSpPr txBox="1">
            <a:spLocks/>
          </p:cNvSpPr>
          <p:nvPr/>
        </p:nvSpPr>
        <p:spPr>
          <a:xfrm>
            <a:off x="494484" y="2877936"/>
            <a:ext cx="11203029" cy="2469919"/>
          </a:xfrm>
          <a:prstGeom prst="roundRect">
            <a:avLst/>
          </a:prstGeom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  <a:defRPr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2:</a:t>
            </a:r>
          </a:p>
          <a:p>
            <a:pPr marL="91440" indent="0"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the Board agree that the objective in paragraph 14 </a:t>
            </a:r>
            <a:r>
              <a:rPr lang="en-Z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Agenda Item 2-B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remains appropriate? </a:t>
            </a:r>
          </a:p>
          <a:p>
            <a:pPr marL="91440" indent="0">
              <a:buNone/>
              <a:defRPr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3: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" indent="0"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the Board support positioning the public interest paragraph with the objective (see paragraph 15 </a:t>
            </a:r>
            <a:r>
              <a:rPr lang="en-Z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Agenda Item 2-B)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BE0A144F-BCE7-486B-AC40-7CA77D56E8DF}"/>
              </a:ext>
            </a:extLst>
          </p:cNvPr>
          <p:cNvSpPr/>
          <p:nvPr/>
        </p:nvSpPr>
        <p:spPr>
          <a:xfrm>
            <a:off x="494485" y="1310530"/>
            <a:ext cx="11203029" cy="14326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Definitions:	N/A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14–15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N/A</a:t>
            </a:r>
          </a:p>
        </p:txBody>
      </p:sp>
    </p:spTree>
    <p:extLst>
      <p:ext uri="{BB962C8B-B14F-4D97-AF65-F5344CB8AC3E}">
        <p14:creationId xmlns:p14="http://schemas.microsoft.com/office/powerpoint/2010/main" val="1672771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520"/>
          </a:xfrm>
        </p:spPr>
        <p:txBody>
          <a:bodyPr/>
          <a:lstStyle/>
          <a:p>
            <a:pPr marL="347472"/>
            <a:r>
              <a:rPr lang="en-US" b="1" dirty="0">
                <a:ln w="0"/>
              </a:rPr>
              <a:t>Definitions</a:t>
            </a:r>
            <a:endParaRPr lang="en-US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840BD7B4-EDD1-4E1A-8C76-F0B551CE88C9}"/>
              </a:ext>
            </a:extLst>
          </p:cNvPr>
          <p:cNvSpPr/>
          <p:nvPr/>
        </p:nvSpPr>
        <p:spPr>
          <a:xfrm>
            <a:off x="494485" y="1310530"/>
            <a:ext cx="11203029" cy="14326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Definitions:	16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N/A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A10–A28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998D99A1-CBAC-416D-A74A-070A0522C0A0}"/>
              </a:ext>
            </a:extLst>
          </p:cNvPr>
          <p:cNvSpPr txBox="1">
            <a:spLocks/>
          </p:cNvSpPr>
          <p:nvPr/>
        </p:nvSpPr>
        <p:spPr>
          <a:xfrm>
            <a:off x="494485" y="3228919"/>
            <a:ext cx="11203029" cy="1315372"/>
          </a:xfrm>
          <a:prstGeom prst="roundRect">
            <a:avLst/>
          </a:prstGeom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  <a:defRPr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5:</a:t>
            </a:r>
          </a:p>
          <a:p>
            <a:pPr marL="91440" indent="0"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Board walks through the entire standard, the Board is asked for its views on the revisions to proposed ISQM 1.</a:t>
            </a:r>
          </a:p>
        </p:txBody>
      </p:sp>
    </p:spTree>
    <p:extLst>
      <p:ext uri="{BB962C8B-B14F-4D97-AF65-F5344CB8AC3E}">
        <p14:creationId xmlns:p14="http://schemas.microsoft.com/office/powerpoint/2010/main" val="2255394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520"/>
          </a:xfrm>
        </p:spPr>
        <p:txBody>
          <a:bodyPr/>
          <a:lstStyle/>
          <a:p>
            <a:pPr marL="347472"/>
            <a:r>
              <a:rPr lang="en-US" b="1" dirty="0">
                <a:ln w="0"/>
              </a:rPr>
              <a:t>Applying and Complying with Relevant Requirements</a:t>
            </a:r>
            <a:endParaRPr lang="en-US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840BD7B4-EDD1-4E1A-8C76-F0B551CE88C9}"/>
              </a:ext>
            </a:extLst>
          </p:cNvPr>
          <p:cNvSpPr/>
          <p:nvPr/>
        </p:nvSpPr>
        <p:spPr>
          <a:xfrm>
            <a:off x="494485" y="1310530"/>
            <a:ext cx="11203029" cy="14326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Definitions:	N/A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17–18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A29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AFD6541-2905-4DB5-A642-540F0F3C1EA8}"/>
              </a:ext>
            </a:extLst>
          </p:cNvPr>
          <p:cNvSpPr txBox="1">
            <a:spLocks/>
          </p:cNvSpPr>
          <p:nvPr/>
        </p:nvSpPr>
        <p:spPr>
          <a:xfrm>
            <a:off x="494485" y="3228919"/>
            <a:ext cx="11203029" cy="1315372"/>
          </a:xfrm>
          <a:prstGeom prst="roundRect">
            <a:avLst/>
          </a:prstGeom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  <a:defRPr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5:</a:t>
            </a:r>
          </a:p>
          <a:p>
            <a:pPr marL="91440" indent="0"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Board walks through the entire standard, the Board is asked for its views on the revisions to proposed ISQM 1.</a:t>
            </a:r>
          </a:p>
        </p:txBody>
      </p:sp>
    </p:spTree>
    <p:extLst>
      <p:ext uri="{BB962C8B-B14F-4D97-AF65-F5344CB8AC3E}">
        <p14:creationId xmlns:p14="http://schemas.microsoft.com/office/powerpoint/2010/main" val="790738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520"/>
          </a:xfrm>
        </p:spPr>
        <p:txBody>
          <a:bodyPr/>
          <a:lstStyle/>
          <a:p>
            <a:pPr marL="347472"/>
            <a:r>
              <a:rPr lang="en-US" b="1" dirty="0">
                <a:ln w="0"/>
              </a:rPr>
              <a:t>System of Quality Management</a:t>
            </a:r>
            <a:endParaRPr lang="en-US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840BD7B4-EDD1-4E1A-8C76-F0B551CE88C9}"/>
              </a:ext>
            </a:extLst>
          </p:cNvPr>
          <p:cNvSpPr/>
          <p:nvPr/>
        </p:nvSpPr>
        <p:spPr>
          <a:xfrm>
            <a:off x="494485" y="1310530"/>
            <a:ext cx="11203029" cy="14326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Definitions:	N/A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19–22 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A30–A38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7612BF78-5FAF-44DC-9FE9-99BB5990CF09}"/>
              </a:ext>
            </a:extLst>
          </p:cNvPr>
          <p:cNvSpPr txBox="1">
            <a:spLocks/>
          </p:cNvSpPr>
          <p:nvPr/>
        </p:nvSpPr>
        <p:spPr>
          <a:xfrm>
            <a:off x="494485" y="3228919"/>
            <a:ext cx="11203029" cy="1315372"/>
          </a:xfrm>
          <a:prstGeom prst="roundRect">
            <a:avLst/>
          </a:prstGeom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  <a:defRPr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5:</a:t>
            </a:r>
          </a:p>
          <a:p>
            <a:pPr marL="91440" indent="0"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Board walks through the entire standard, the Board is asked for its views on the revisions to proposed ISQM 1.</a:t>
            </a:r>
          </a:p>
        </p:txBody>
      </p:sp>
    </p:spTree>
    <p:extLst>
      <p:ext uri="{BB962C8B-B14F-4D97-AF65-F5344CB8AC3E}">
        <p14:creationId xmlns:p14="http://schemas.microsoft.com/office/powerpoint/2010/main" val="538046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/>
              <a:t>The Firm’s Risk Assessment Process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BE0A144F-BCE7-486B-AC40-7CA77D56E8DF}"/>
              </a:ext>
            </a:extLst>
          </p:cNvPr>
          <p:cNvSpPr/>
          <p:nvPr/>
        </p:nvSpPr>
        <p:spPr>
          <a:xfrm>
            <a:off x="494485" y="1310530"/>
            <a:ext cx="11203029" cy="14326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Definitions:	N/A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23–27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A39–A54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4F112AF-D6FD-4CA8-95FC-E3D1F9BD12A4}"/>
              </a:ext>
            </a:extLst>
          </p:cNvPr>
          <p:cNvSpPr txBox="1">
            <a:spLocks/>
          </p:cNvSpPr>
          <p:nvPr/>
        </p:nvSpPr>
        <p:spPr>
          <a:xfrm>
            <a:off x="494485" y="3228919"/>
            <a:ext cx="11203029" cy="1315372"/>
          </a:xfrm>
          <a:prstGeom prst="roundRect">
            <a:avLst/>
          </a:prstGeom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  <a:defRPr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5:</a:t>
            </a:r>
          </a:p>
          <a:p>
            <a:pPr marL="91440" indent="0"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Board walks through the entire standard, the Board is asked for its views on the revisions to proposed ISQM 1.</a:t>
            </a:r>
          </a:p>
        </p:txBody>
      </p:sp>
    </p:spTree>
    <p:extLst>
      <p:ext uri="{BB962C8B-B14F-4D97-AF65-F5344CB8AC3E}">
        <p14:creationId xmlns:p14="http://schemas.microsoft.com/office/powerpoint/2010/main" val="3410370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/>
              <a:t>Governance and Leadership, Relevant Ethical Requirements 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BE0A144F-BCE7-486B-AC40-7CA77D56E8DF}"/>
              </a:ext>
            </a:extLst>
          </p:cNvPr>
          <p:cNvSpPr/>
          <p:nvPr/>
        </p:nvSpPr>
        <p:spPr>
          <a:xfrm>
            <a:off x="494485" y="1310530"/>
            <a:ext cx="11203029" cy="14326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Definitions:	16(t), A23–A25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28–29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A55–A66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A95F8F5D-DB2F-41FA-B7DB-F8E892A83986}"/>
              </a:ext>
            </a:extLst>
          </p:cNvPr>
          <p:cNvSpPr txBox="1">
            <a:spLocks/>
          </p:cNvSpPr>
          <p:nvPr/>
        </p:nvSpPr>
        <p:spPr>
          <a:xfrm>
            <a:off x="494485" y="3228919"/>
            <a:ext cx="11203029" cy="1315372"/>
          </a:xfrm>
          <a:prstGeom prst="roundRect">
            <a:avLst/>
          </a:prstGeom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  <a:defRPr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5:</a:t>
            </a:r>
          </a:p>
          <a:p>
            <a:pPr marL="91440" indent="0"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Board walks through the entire standard, the Board is asked for its views on the revisions to proposed ISQM 1.</a:t>
            </a:r>
          </a:p>
        </p:txBody>
      </p:sp>
    </p:spTree>
    <p:extLst>
      <p:ext uri="{BB962C8B-B14F-4D97-AF65-F5344CB8AC3E}">
        <p14:creationId xmlns:p14="http://schemas.microsoft.com/office/powerpoint/2010/main" val="993989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60B7FE-7405-4D0A-A237-97B5BD1B7F73}"/>
              </a:ext>
            </a:extLst>
          </p:cNvPr>
          <p:cNvSpPr/>
          <p:nvPr/>
        </p:nvSpPr>
        <p:spPr>
          <a:xfrm>
            <a:off x="0" y="569916"/>
            <a:ext cx="12192000" cy="70855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-1" y="645967"/>
            <a:ext cx="12192000" cy="531048"/>
          </a:xfrm>
        </p:spPr>
        <p:txBody>
          <a:bodyPr/>
          <a:lstStyle/>
          <a:p>
            <a:pPr marL="347472"/>
            <a:r>
              <a:rPr lang="en-US" b="1" dirty="0"/>
              <a:t>Acceptance and Continuance of Client Relationships and Specific Engagements, Engagement Performance 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BE0A144F-BCE7-486B-AC40-7CA77D56E8DF}"/>
              </a:ext>
            </a:extLst>
          </p:cNvPr>
          <p:cNvSpPr/>
          <p:nvPr/>
        </p:nvSpPr>
        <p:spPr>
          <a:xfrm>
            <a:off x="494483" y="1511035"/>
            <a:ext cx="11203029" cy="14326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Definitions:	N/A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30–31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A67–A85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A8574E49-D994-4212-A5FE-3CC221530E14}"/>
              </a:ext>
            </a:extLst>
          </p:cNvPr>
          <p:cNvSpPr txBox="1">
            <a:spLocks/>
          </p:cNvSpPr>
          <p:nvPr/>
        </p:nvSpPr>
        <p:spPr>
          <a:xfrm>
            <a:off x="494482" y="3256611"/>
            <a:ext cx="11203029" cy="1315372"/>
          </a:xfrm>
          <a:prstGeom prst="roundRect">
            <a:avLst/>
          </a:prstGeom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  <a:defRPr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5:</a:t>
            </a:r>
          </a:p>
          <a:p>
            <a:pPr marL="91440" indent="0"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Board walks through the entire standard, the Board is asked for its views on the revisions to proposed ISQM 1.</a:t>
            </a:r>
          </a:p>
        </p:txBody>
      </p:sp>
    </p:spTree>
    <p:extLst>
      <p:ext uri="{BB962C8B-B14F-4D97-AF65-F5344CB8AC3E}">
        <p14:creationId xmlns:p14="http://schemas.microsoft.com/office/powerpoint/2010/main" val="1077574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5782" y="1543017"/>
            <a:ext cx="9096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ISQM 1 Session 2 (Tuesday, September 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570" y="3892804"/>
            <a:ext cx="77820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Julie Corden, ISQM 1 Task Force Chair</a:t>
            </a:r>
          </a:p>
          <a:p>
            <a:endParaRPr lang="en-US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IAASB Meeting September 2020</a:t>
            </a:r>
          </a:p>
        </p:txBody>
      </p:sp>
    </p:spTree>
    <p:extLst>
      <p:ext uri="{BB962C8B-B14F-4D97-AF65-F5344CB8AC3E}">
        <p14:creationId xmlns:p14="http://schemas.microsoft.com/office/powerpoint/2010/main" val="2555615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/>
              <a:t>Resources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BE0A144F-BCE7-486B-AC40-7CA77D56E8DF}"/>
              </a:ext>
            </a:extLst>
          </p:cNvPr>
          <p:cNvSpPr/>
          <p:nvPr/>
        </p:nvSpPr>
        <p:spPr>
          <a:xfrm>
            <a:off x="494485" y="1310530"/>
            <a:ext cx="11203029" cy="14326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Definitions:	N/A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32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A86–A108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7AC2CF8F-E7E8-4DC0-9969-C7A1BEAA6D17}"/>
              </a:ext>
            </a:extLst>
          </p:cNvPr>
          <p:cNvSpPr txBox="1">
            <a:spLocks/>
          </p:cNvSpPr>
          <p:nvPr/>
        </p:nvSpPr>
        <p:spPr>
          <a:xfrm>
            <a:off x="494485" y="3090373"/>
            <a:ext cx="11203029" cy="1315372"/>
          </a:xfrm>
          <a:prstGeom prst="roundRect">
            <a:avLst/>
          </a:prstGeom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  <a:defRPr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5:</a:t>
            </a:r>
          </a:p>
          <a:p>
            <a:pPr marL="91440" indent="0"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Board walks through the entire standard, the Board is asked for its views on the revisions to proposed ISQM 1.</a:t>
            </a:r>
          </a:p>
        </p:txBody>
      </p:sp>
    </p:spTree>
    <p:extLst>
      <p:ext uri="{BB962C8B-B14F-4D97-AF65-F5344CB8AC3E}">
        <p14:creationId xmlns:p14="http://schemas.microsoft.com/office/powerpoint/2010/main" val="1991005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/>
              <a:t>Information and Communication, Specified Responses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8502C6ED-5046-46D5-854E-3DE0EBBC44C6}"/>
              </a:ext>
            </a:extLst>
          </p:cNvPr>
          <p:cNvSpPr txBox="1">
            <a:spLocks/>
          </p:cNvSpPr>
          <p:nvPr/>
        </p:nvSpPr>
        <p:spPr>
          <a:xfrm>
            <a:off x="494485" y="3046097"/>
            <a:ext cx="11203029" cy="2137409"/>
          </a:xfrm>
          <a:prstGeom prst="roundRect">
            <a:avLst/>
          </a:prstGeom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  <a:defRPr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4:</a:t>
            </a:r>
          </a:p>
          <a:p>
            <a:pPr marL="91440" indent="0"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the Board support the revisions related to external communications?</a:t>
            </a:r>
          </a:p>
          <a:p>
            <a:pPr marL="91440" indent="0">
              <a:buNone/>
              <a:defRPr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5:</a:t>
            </a:r>
          </a:p>
          <a:p>
            <a:pPr marL="91440" indent="0"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Board walks through the entire standard, the Board is asked for its views on the revisions to proposed ISQM 1.</a:t>
            </a: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BE0A144F-BCE7-486B-AC40-7CA77D56E8DF}"/>
              </a:ext>
            </a:extLst>
          </p:cNvPr>
          <p:cNvSpPr/>
          <p:nvPr/>
        </p:nvSpPr>
        <p:spPr>
          <a:xfrm>
            <a:off x="494485" y="1310530"/>
            <a:ext cx="11203029" cy="14326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Definitions:	N/A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33, 34(a)–34(e)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A109–A132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08C106-16DE-4F70-8C71-1B365C33E2D8}"/>
              </a:ext>
            </a:extLst>
          </p:cNvPr>
          <p:cNvSpPr txBox="1"/>
          <p:nvPr/>
        </p:nvSpPr>
        <p:spPr>
          <a:xfrm>
            <a:off x="279399" y="5470198"/>
            <a:ext cx="11303001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345" marR="0" algn="ctr">
              <a:lnSpc>
                <a:spcPts val="2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i="1" kern="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Paragraphs 34(f) and A133–A137 dealing with engagement quality reviews will be discussed by the Board as part of the ISQM 2 session on Wednesday, September 16</a:t>
            </a:r>
            <a:endParaRPr lang="en-US" sz="2800" kern="4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716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/>
              <a:t>Monitoring and Remediation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BE0A144F-BCE7-486B-AC40-7CA77D56E8DF}"/>
              </a:ext>
            </a:extLst>
          </p:cNvPr>
          <p:cNvSpPr/>
          <p:nvPr/>
        </p:nvSpPr>
        <p:spPr>
          <a:xfrm>
            <a:off x="494485" y="1310530"/>
            <a:ext cx="11203029" cy="14326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Definitions:	N/A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35–47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A138–A173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5104CBED-A742-4FC1-8ECD-A1897DC82544}"/>
              </a:ext>
            </a:extLst>
          </p:cNvPr>
          <p:cNvSpPr txBox="1">
            <a:spLocks/>
          </p:cNvSpPr>
          <p:nvPr/>
        </p:nvSpPr>
        <p:spPr>
          <a:xfrm>
            <a:off x="494485" y="3090373"/>
            <a:ext cx="11203029" cy="1315372"/>
          </a:xfrm>
          <a:prstGeom prst="roundRect">
            <a:avLst/>
          </a:prstGeom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  <a:defRPr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5:</a:t>
            </a:r>
          </a:p>
          <a:p>
            <a:pPr marL="91440" indent="0"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Board walks through the entire standard, the Board is asked for its views on the revisions to proposed ISQM 1.</a:t>
            </a:r>
          </a:p>
        </p:txBody>
      </p:sp>
    </p:spTree>
    <p:extLst>
      <p:ext uri="{BB962C8B-B14F-4D97-AF65-F5344CB8AC3E}">
        <p14:creationId xmlns:p14="http://schemas.microsoft.com/office/powerpoint/2010/main" val="3083193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/>
              <a:t>Network Requirements or Network Services	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BE0A144F-BCE7-486B-AC40-7CA77D56E8DF}"/>
              </a:ext>
            </a:extLst>
          </p:cNvPr>
          <p:cNvSpPr/>
          <p:nvPr/>
        </p:nvSpPr>
        <p:spPr>
          <a:xfrm>
            <a:off x="494485" y="1310530"/>
            <a:ext cx="11203029" cy="14326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Definitions:	N/A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48–52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A174–A185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9AD84C50-9F22-4C1C-9C2B-DDE33504F607}"/>
              </a:ext>
            </a:extLst>
          </p:cNvPr>
          <p:cNvSpPr txBox="1">
            <a:spLocks/>
          </p:cNvSpPr>
          <p:nvPr/>
        </p:nvSpPr>
        <p:spPr>
          <a:xfrm>
            <a:off x="494485" y="3090373"/>
            <a:ext cx="11203029" cy="1315372"/>
          </a:xfrm>
          <a:prstGeom prst="roundRect">
            <a:avLst/>
          </a:prstGeom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  <a:defRPr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5:</a:t>
            </a:r>
          </a:p>
          <a:p>
            <a:pPr marL="91440" indent="0"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Board walks through the entire standard, the Board is asked for its views on the revisions to proposed ISQM 1.</a:t>
            </a:r>
          </a:p>
        </p:txBody>
      </p:sp>
    </p:spTree>
    <p:extLst>
      <p:ext uri="{BB962C8B-B14F-4D97-AF65-F5344CB8AC3E}">
        <p14:creationId xmlns:p14="http://schemas.microsoft.com/office/powerpoint/2010/main" val="2134862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b="1" dirty="0">
                <a:ln w="0"/>
              </a:rPr>
              <a:t>Evaluation of the SOQM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D018E4CE-8D99-48E7-8BB1-4F2377429742}"/>
              </a:ext>
            </a:extLst>
          </p:cNvPr>
          <p:cNvSpPr/>
          <p:nvPr/>
        </p:nvSpPr>
        <p:spPr>
          <a:xfrm>
            <a:off x="494485" y="1310530"/>
            <a:ext cx="11203029" cy="14326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Definitions:	N/A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53–56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A186–A200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A8DE6253-1391-4375-822A-073EC327359E}"/>
              </a:ext>
            </a:extLst>
          </p:cNvPr>
          <p:cNvSpPr txBox="1">
            <a:spLocks/>
          </p:cNvSpPr>
          <p:nvPr/>
        </p:nvSpPr>
        <p:spPr>
          <a:xfrm>
            <a:off x="494485" y="3090373"/>
            <a:ext cx="11203029" cy="1315372"/>
          </a:xfrm>
          <a:prstGeom prst="roundRect">
            <a:avLst/>
          </a:prstGeom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  <a:defRPr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5:</a:t>
            </a:r>
          </a:p>
          <a:p>
            <a:pPr marL="91440" indent="0"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Board walks through the entire standard, the Board is asked for its views on the revisions to proposed ISQM 1.</a:t>
            </a:r>
          </a:p>
        </p:txBody>
      </p:sp>
    </p:spTree>
    <p:extLst>
      <p:ext uri="{BB962C8B-B14F-4D97-AF65-F5344CB8AC3E}">
        <p14:creationId xmlns:p14="http://schemas.microsoft.com/office/powerpoint/2010/main" val="660652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b="1" dirty="0">
                <a:ln w="0"/>
              </a:rPr>
              <a:t>Documentation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D018E4CE-8D99-48E7-8BB1-4F2377429742}"/>
              </a:ext>
            </a:extLst>
          </p:cNvPr>
          <p:cNvSpPr/>
          <p:nvPr/>
        </p:nvSpPr>
        <p:spPr>
          <a:xfrm>
            <a:off x="494485" y="1310530"/>
            <a:ext cx="11203029" cy="14326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Definitions:	N/A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57–60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A201–A205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063367BB-6C1D-4AF6-99D6-DD02E1D6BC49}"/>
              </a:ext>
            </a:extLst>
          </p:cNvPr>
          <p:cNvSpPr txBox="1">
            <a:spLocks/>
          </p:cNvSpPr>
          <p:nvPr/>
        </p:nvSpPr>
        <p:spPr>
          <a:xfrm>
            <a:off x="494485" y="3090373"/>
            <a:ext cx="11203029" cy="1315372"/>
          </a:xfrm>
          <a:prstGeom prst="roundRect">
            <a:avLst/>
          </a:prstGeom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  <a:defRPr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5:</a:t>
            </a:r>
          </a:p>
          <a:p>
            <a:pPr marL="91440" indent="0"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Board walks through the entire standard, the Board is asked for its views on the revisions to proposed ISQM 1.</a:t>
            </a:r>
          </a:p>
        </p:txBody>
      </p:sp>
    </p:spTree>
    <p:extLst>
      <p:ext uri="{BB962C8B-B14F-4D97-AF65-F5344CB8AC3E}">
        <p14:creationId xmlns:p14="http://schemas.microsoft.com/office/powerpoint/2010/main" val="4036061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88998"/>
            <a:ext cx="12192000" cy="531048"/>
          </a:xfrm>
        </p:spPr>
        <p:txBody>
          <a:bodyPr/>
          <a:lstStyle/>
          <a:p>
            <a:pPr marL="347472"/>
            <a:r>
              <a:rPr lang="en-US" b="1" dirty="0">
                <a:ln w="0"/>
              </a:rPr>
              <a:t>Next Steps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MS PGothic" charset="0"/>
              </a:rPr>
              <a:t>Page </a:t>
            </a:r>
            <a:fld id="{A5D50FB3-691B-4551-985A-DEFE3F9B00A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6EB9AF-732A-4A11-8611-A0B856782DF1}"/>
              </a:ext>
            </a:extLst>
          </p:cNvPr>
          <p:cNvSpPr txBox="1">
            <a:spLocks/>
          </p:cNvSpPr>
          <p:nvPr/>
        </p:nvSpPr>
        <p:spPr>
          <a:xfrm>
            <a:off x="284051" y="1241819"/>
            <a:ext cx="11623898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Friday - ISQM 1 TF will bring back significant issues raised by the Board on targeted areas</a:t>
            </a:r>
          </a:p>
          <a:p>
            <a:pPr marL="694944" lvl="1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Expected posting of targeted areas: Thursday by 9am ET</a:t>
            </a:r>
          </a:p>
          <a:p>
            <a:pPr marL="347472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Wednesday Sept 23</a:t>
            </a:r>
            <a:r>
              <a:rPr lang="en-US" baseline="30000" dirty="0"/>
              <a:t>rd</a:t>
            </a:r>
            <a:r>
              <a:rPr lang="en-US" dirty="0"/>
              <a:t> – Approval of ISQM 1</a:t>
            </a:r>
          </a:p>
          <a:p>
            <a:pPr marL="694944" lvl="1" indent="-347472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Expected posting of final draft: Monday by 12pm ET </a:t>
            </a:r>
          </a:p>
        </p:txBody>
      </p:sp>
    </p:spTree>
    <p:extLst>
      <p:ext uri="{BB962C8B-B14F-4D97-AF65-F5344CB8AC3E}">
        <p14:creationId xmlns:p14="http://schemas.microsoft.com/office/powerpoint/2010/main" val="1619520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167535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6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87B7067597F48AB0D94C91C6A4F46" ma:contentTypeVersion="12" ma:contentTypeDescription="Create a new document." ma:contentTypeScope="" ma:versionID="646e6e69a45b1267859b5f1ee01c47b6">
  <xsd:schema xmlns:xsd="http://www.w3.org/2001/XMLSchema" xmlns:xs="http://www.w3.org/2001/XMLSchema" xmlns:p="http://schemas.microsoft.com/office/2006/metadata/properties" xmlns:ns3="bb7108e3-51cb-498b-9b93-833285b9d39d" xmlns:ns4="7a11207b-921c-436a-8b1a-84024362d10e" targetNamespace="http://schemas.microsoft.com/office/2006/metadata/properties" ma:root="true" ma:fieldsID="43d2f79f3f43005d42e4993e977400e3" ns3:_="" ns4:_="">
    <xsd:import namespace="bb7108e3-51cb-498b-9b93-833285b9d39d"/>
    <xsd:import namespace="7a11207b-921c-436a-8b1a-84024362d10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7108e3-51cb-498b-9b93-833285b9d39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11207b-921c-436a-8b1a-84024362d1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87DC46-495A-41BE-BA60-49FCEC4B77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7108e3-51cb-498b-9b93-833285b9d39d"/>
    <ds:schemaRef ds:uri="7a11207b-921c-436a-8b1a-84024362d1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E9F8D4-1020-4803-8A57-F238B40E945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D5C015E-8DFD-4DEA-AFE7-FD73B0C329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21358</TotalTime>
  <Words>1254</Words>
  <Application>Microsoft Office PowerPoint</Application>
  <PresentationFormat>Widescreen</PresentationFormat>
  <Paragraphs>197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Arial Narrow</vt:lpstr>
      <vt:lpstr>Calibri</vt:lpstr>
      <vt:lpstr>Calibri Light</vt:lpstr>
      <vt:lpstr>Times New Roman</vt:lpstr>
      <vt:lpstr>1_Custom Design</vt:lpstr>
      <vt:lpstr>Custom Design</vt:lpstr>
      <vt:lpstr>2_Custom Design</vt:lpstr>
      <vt:lpstr>3_Custom Design</vt:lpstr>
      <vt:lpstr>Office Theme</vt:lpstr>
      <vt:lpstr>1_Office Theme</vt:lpstr>
      <vt:lpstr>PowerPoint Presentation</vt:lpstr>
      <vt:lpstr>Focus of the ISQM 1 TF Since June 2020 and Order of Discussion</vt:lpstr>
      <vt:lpstr>Overview of CAG Representatives Comments</vt:lpstr>
      <vt:lpstr>Overview of CAG Representatives Comments</vt:lpstr>
      <vt:lpstr>Various Matters Related to Human Resources </vt:lpstr>
      <vt:lpstr>Introduction, Authority of ISQM and Effective Date </vt:lpstr>
      <vt:lpstr>Objective of Proposed ISQM 1</vt:lpstr>
      <vt:lpstr>Definitions</vt:lpstr>
      <vt:lpstr>Applying and Complying with Relevant Requirements</vt:lpstr>
      <vt:lpstr>System of Quality Management</vt:lpstr>
      <vt:lpstr>The Firm’s Risk Assessment Process</vt:lpstr>
      <vt:lpstr>Governance and Leadership, Relevant Ethical Requirements </vt:lpstr>
      <vt:lpstr>Acceptance and Continuance of Client Relationships and Specific Engagements, Engagement Performance </vt:lpstr>
      <vt:lpstr>PowerPoint Presentation</vt:lpstr>
      <vt:lpstr>Resources</vt:lpstr>
      <vt:lpstr>Information and Communication, Specified Responses</vt:lpstr>
      <vt:lpstr>Monitoring and Remediation</vt:lpstr>
      <vt:lpstr>Network Requirements or Network Services </vt:lpstr>
      <vt:lpstr>Evaluation of the SOQM</vt:lpstr>
      <vt:lpstr>Documentation</vt:lpstr>
      <vt:lpstr>Next Steps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 Kotze</dc:creator>
  <cp:lastModifiedBy>Yvonne Chan</cp:lastModifiedBy>
  <cp:revision>743</cp:revision>
  <cp:lastPrinted>2019-12-10T16:39:24Z</cp:lastPrinted>
  <dcterms:created xsi:type="dcterms:W3CDTF">2018-10-18T19:25:41Z</dcterms:created>
  <dcterms:modified xsi:type="dcterms:W3CDTF">2020-09-11T19:30:32Z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0x010100E2887B7067597F48AB0D94C91C6A4F46</vt:lpwstr>
  </property>
</Properties>
</file>