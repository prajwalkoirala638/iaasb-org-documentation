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18"/>
  </p:notesMasterIdLst>
  <p:sldIdLst>
    <p:sldId id="288" r:id="rId2"/>
    <p:sldId id="299" r:id="rId3"/>
    <p:sldId id="295" r:id="rId4"/>
    <p:sldId id="328" r:id="rId5"/>
    <p:sldId id="329" r:id="rId6"/>
    <p:sldId id="330" r:id="rId7"/>
    <p:sldId id="339" r:id="rId8"/>
    <p:sldId id="334" r:id="rId9"/>
    <p:sldId id="331" r:id="rId10"/>
    <p:sldId id="335" r:id="rId11"/>
    <p:sldId id="332" r:id="rId12"/>
    <p:sldId id="336" r:id="rId13"/>
    <p:sldId id="333" r:id="rId14"/>
    <p:sldId id="337" r:id="rId15"/>
    <p:sldId id="338" r:id="rId16"/>
    <p:sldId id="294" r:id="rId17"/>
  </p:sldIdLst>
  <p:sldSz cx="12192000" cy="6858000"/>
  <p:notesSz cx="6797675" cy="9928225"/>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20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a:srgbClr val="8080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08" autoAdjust="0"/>
    <p:restoredTop sz="94660"/>
  </p:normalViewPr>
  <p:slideViewPr>
    <p:cSldViewPr snapToGrid="0" showGuides="1">
      <p:cViewPr varScale="1">
        <p:scale>
          <a:sx n="90" d="100"/>
          <a:sy n="90" d="100"/>
        </p:scale>
        <p:origin x="480" y="90"/>
      </p:cViewPr>
      <p:guideLst>
        <p:guide orient="horz" pos="2160"/>
        <p:guide pos="220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84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49688" y="0"/>
            <a:ext cx="2946400" cy="498475"/>
          </a:xfrm>
          <a:prstGeom prst="rect">
            <a:avLst/>
          </a:prstGeom>
        </p:spPr>
        <p:txBody>
          <a:bodyPr vert="horz" lIns="91440" tIns="45720" rIns="91440" bIns="45720" rtlCol="0"/>
          <a:lstStyle>
            <a:lvl1pPr algn="r">
              <a:defRPr sz="1200"/>
            </a:lvl1pPr>
          </a:lstStyle>
          <a:p>
            <a:fld id="{3002CE1A-B037-4479-976B-9CF538C18F87}" type="datetimeFigureOut">
              <a:rPr lang="en-US" smtClean="0"/>
              <a:t>6/14/2018</a:t>
            </a:fld>
            <a:endParaRPr lang="en-US"/>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450" y="4778375"/>
            <a:ext cx="5438775" cy="390842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29750"/>
            <a:ext cx="2946400" cy="49847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49688" y="9429750"/>
            <a:ext cx="2946400" cy="498475"/>
          </a:xfrm>
          <a:prstGeom prst="rect">
            <a:avLst/>
          </a:prstGeom>
        </p:spPr>
        <p:txBody>
          <a:bodyPr vert="horz" lIns="91440" tIns="45720" rIns="91440" bIns="45720" rtlCol="0" anchor="b"/>
          <a:lstStyle>
            <a:lvl1pPr algn="r">
              <a:defRPr sz="1200"/>
            </a:lvl1pPr>
          </a:lstStyle>
          <a:p>
            <a:fld id="{88F61214-B916-4CCA-9541-0FEB1C228969}" type="slidenum">
              <a:rPr lang="en-US" smtClean="0"/>
              <a:t>‹#›</a:t>
            </a:fld>
            <a:endParaRPr lang="en-US"/>
          </a:p>
        </p:txBody>
      </p:sp>
    </p:spTree>
    <p:extLst>
      <p:ext uri="{BB962C8B-B14F-4D97-AF65-F5344CB8AC3E}">
        <p14:creationId xmlns:p14="http://schemas.microsoft.com/office/powerpoint/2010/main" val="34894821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8F61214-B916-4CCA-9541-0FEB1C228969}" type="slidenum">
              <a:rPr lang="en-US" smtClean="0"/>
              <a:t>1</a:t>
            </a:fld>
            <a:endParaRPr lang="en-US"/>
          </a:p>
        </p:txBody>
      </p:sp>
    </p:spTree>
    <p:extLst>
      <p:ext uri="{BB962C8B-B14F-4D97-AF65-F5344CB8AC3E}">
        <p14:creationId xmlns:p14="http://schemas.microsoft.com/office/powerpoint/2010/main" val="24467674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8F61214-B916-4CCA-9541-0FEB1C228969}" type="slidenum">
              <a:rPr lang="en-US" smtClean="0"/>
              <a:t>3</a:t>
            </a:fld>
            <a:endParaRPr lang="en-US"/>
          </a:p>
        </p:txBody>
      </p:sp>
    </p:spTree>
    <p:extLst>
      <p:ext uri="{BB962C8B-B14F-4D97-AF65-F5344CB8AC3E}">
        <p14:creationId xmlns:p14="http://schemas.microsoft.com/office/powerpoint/2010/main" val="155588919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jpe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5.jpe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hyperlink" Target="http://www.iaasb.org/" TargetMode="External"/><Relationship Id="rId7"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9.png"/><Relationship Id="rId11" Type="http://schemas.openxmlformats.org/officeDocument/2006/relationships/hyperlink" Target="mailto:permissions@ifac.org" TargetMode="External"/><Relationship Id="rId5" Type="http://schemas.openxmlformats.org/officeDocument/2006/relationships/image" Target="../media/image8.png"/><Relationship Id="rId10" Type="http://schemas.openxmlformats.org/officeDocument/2006/relationships/hyperlink" Target="http://www.ifac.org/about-ifac/translations-permissions" TargetMode="External"/><Relationship Id="rId4" Type="http://schemas.openxmlformats.org/officeDocument/2006/relationships/image" Target="../media/image7.png"/><Relationship Id="rId9" Type="http://schemas.openxmlformats.org/officeDocument/2006/relationships/image" Target="../media/image1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0" name="Rectangle 19"/>
          <p:cNvSpPr/>
          <p:nvPr userDrawn="1"/>
        </p:nvSpPr>
        <p:spPr>
          <a:xfrm>
            <a:off x="0" y="2"/>
            <a:ext cx="12192000" cy="575733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a:solidFill>
                <a:prstClr val="white"/>
              </a:solidFill>
            </a:endParaRPr>
          </a:p>
        </p:txBody>
      </p:sp>
      <p:sp>
        <p:nvSpPr>
          <p:cNvPr id="11" name="Title 1"/>
          <p:cNvSpPr>
            <a:spLocks noGrp="1"/>
          </p:cNvSpPr>
          <p:nvPr>
            <p:ph type="ctrTitle"/>
          </p:nvPr>
        </p:nvSpPr>
        <p:spPr>
          <a:xfrm>
            <a:off x="914399" y="3424965"/>
            <a:ext cx="10524511" cy="1458360"/>
          </a:xfrm>
        </p:spPr>
        <p:txBody>
          <a:bodyPr anchor="t">
            <a:normAutofit/>
          </a:bodyPr>
          <a:lstStyle>
            <a:lvl1pPr>
              <a:defRPr sz="32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914401" y="4961468"/>
            <a:ext cx="6310489" cy="1225964"/>
          </a:xfrm>
        </p:spPr>
        <p:txBody>
          <a:bodyPr anchor="b"/>
          <a:lstStyle>
            <a:lvl1pPr marL="0" indent="0" algn="l">
              <a:buNone/>
              <a:defRPr sz="1800">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pic>
        <p:nvPicPr>
          <p:cNvPr id="7" name="Picture 6" descr="IAASB Logo with FullName.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57403" y="5699752"/>
            <a:ext cx="2881505" cy="487680"/>
          </a:xfrm>
          <a:prstGeom prst="rect">
            <a:avLst/>
          </a:prstGeom>
        </p:spPr>
      </p:pic>
      <p:pic>
        <p:nvPicPr>
          <p:cNvPr id="9" name="Picture 8" descr="Ribbon_orange_top.png"/>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0" y="1601536"/>
            <a:ext cx="12192000" cy="123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7" descr="Page topper.jpg"/>
          <p:cNvPicPr>
            <a:picLocks noChangeAspect="1"/>
          </p:cNvPicPr>
          <p:nvPr userDrawn="1"/>
        </p:nvPicPr>
        <p:blipFill rotWithShape="1">
          <a:blip r:embed="rId4" cstate="print">
            <a:extLst>
              <a:ext uri="{28A0092B-C50C-407E-A947-70E740481C1C}">
                <a14:useLocalDpi xmlns:a14="http://schemas.microsoft.com/office/drawing/2010/main"/>
              </a:ext>
            </a:extLst>
          </a:blip>
          <a:srcRect/>
          <a:stretch/>
        </p:blipFill>
        <p:spPr>
          <a:xfrm>
            <a:off x="0" y="1"/>
            <a:ext cx="12192000" cy="3196799"/>
          </a:xfrm>
          <a:prstGeom prst="rect">
            <a:avLst/>
          </a:prstGeom>
        </p:spPr>
      </p:pic>
    </p:spTree>
    <p:extLst>
      <p:ext uri="{BB962C8B-B14F-4D97-AF65-F5344CB8AC3E}">
        <p14:creationId xmlns:p14="http://schemas.microsoft.com/office/powerpoint/2010/main" val="35209931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option 2">
    <p:spTree>
      <p:nvGrpSpPr>
        <p:cNvPr id="1" name=""/>
        <p:cNvGrpSpPr/>
        <p:nvPr/>
      </p:nvGrpSpPr>
      <p:grpSpPr>
        <a:xfrm>
          <a:off x="0" y="0"/>
          <a:ext cx="0" cy="0"/>
          <a:chOff x="0" y="0"/>
          <a:chExt cx="0" cy="0"/>
        </a:xfrm>
      </p:grpSpPr>
      <p:sp>
        <p:nvSpPr>
          <p:cNvPr id="20" name="Rectangle 19"/>
          <p:cNvSpPr/>
          <p:nvPr userDrawn="1"/>
        </p:nvSpPr>
        <p:spPr>
          <a:xfrm>
            <a:off x="0" y="2"/>
            <a:ext cx="12192000" cy="575733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a:solidFill>
                <a:prstClr val="white"/>
              </a:solidFill>
            </a:endParaRPr>
          </a:p>
        </p:txBody>
      </p:sp>
      <p:sp>
        <p:nvSpPr>
          <p:cNvPr id="11" name="Title 1"/>
          <p:cNvSpPr>
            <a:spLocks noGrp="1"/>
          </p:cNvSpPr>
          <p:nvPr>
            <p:ph type="ctrTitle"/>
          </p:nvPr>
        </p:nvSpPr>
        <p:spPr>
          <a:xfrm>
            <a:off x="914399" y="3424965"/>
            <a:ext cx="10524511" cy="1458360"/>
          </a:xfrm>
        </p:spPr>
        <p:txBody>
          <a:bodyPr anchor="t">
            <a:normAutofit/>
          </a:bodyPr>
          <a:lstStyle>
            <a:lvl1pPr>
              <a:defRPr sz="32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914401" y="4961468"/>
            <a:ext cx="6310489" cy="1225964"/>
          </a:xfrm>
        </p:spPr>
        <p:txBody>
          <a:bodyPr anchor="b"/>
          <a:lstStyle>
            <a:lvl1pPr marL="0" indent="0" algn="l">
              <a:buNone/>
              <a:defRPr sz="1800">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pic>
        <p:nvPicPr>
          <p:cNvPr id="7" name="Picture 6" descr="IAASB Logo with FullName.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736605" y="5699752"/>
            <a:ext cx="3702304" cy="487680"/>
          </a:xfrm>
          <a:prstGeom prst="rect">
            <a:avLst/>
          </a:prstGeom>
        </p:spPr>
      </p:pic>
      <p:pic>
        <p:nvPicPr>
          <p:cNvPr id="9" name="Picture 8" descr="Ribbon_orange_top.png"/>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0" y="1601536"/>
            <a:ext cx="12192000" cy="123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11"/>
          <p:cNvPicPr>
            <a:picLocks noChangeAspect="1"/>
          </p:cNvPicPr>
          <p:nvPr userDrawn="1"/>
        </p:nvPicPr>
        <p:blipFill rotWithShape="1">
          <a:blip r:embed="rId4" cstate="screen">
            <a:extLst>
              <a:ext uri="{28A0092B-C50C-407E-A947-70E740481C1C}">
                <a14:useLocalDpi xmlns:a14="http://schemas.microsoft.com/office/drawing/2010/main"/>
              </a:ext>
            </a:extLst>
          </a:blip>
          <a:srcRect/>
          <a:stretch/>
        </p:blipFill>
        <p:spPr>
          <a:xfrm>
            <a:off x="2" y="1"/>
            <a:ext cx="12208933" cy="3200400"/>
          </a:xfrm>
          <a:prstGeom prst="rect">
            <a:avLst/>
          </a:prstGeom>
        </p:spPr>
      </p:pic>
    </p:spTree>
    <p:extLst>
      <p:ext uri="{BB962C8B-B14F-4D97-AF65-F5344CB8AC3E}">
        <p14:creationId xmlns:p14="http://schemas.microsoft.com/office/powerpoint/2010/main" val="145102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ansition or Title Slide">
    <p:spTree>
      <p:nvGrpSpPr>
        <p:cNvPr id="1" name=""/>
        <p:cNvGrpSpPr/>
        <p:nvPr/>
      </p:nvGrpSpPr>
      <p:grpSpPr>
        <a:xfrm>
          <a:off x="0" y="0"/>
          <a:ext cx="0" cy="0"/>
          <a:chOff x="0" y="0"/>
          <a:chExt cx="0" cy="0"/>
        </a:xfrm>
      </p:grpSpPr>
      <p:sp>
        <p:nvSpPr>
          <p:cNvPr id="20" name="Rectangle 19"/>
          <p:cNvSpPr/>
          <p:nvPr userDrawn="1"/>
        </p:nvSpPr>
        <p:spPr>
          <a:xfrm>
            <a:off x="0" y="2"/>
            <a:ext cx="12192000" cy="575733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a:solidFill>
                <a:prstClr val="white"/>
              </a:solidFill>
            </a:endParaRPr>
          </a:p>
        </p:txBody>
      </p:sp>
      <p:sp>
        <p:nvSpPr>
          <p:cNvPr id="11" name="Title 1"/>
          <p:cNvSpPr>
            <a:spLocks noGrp="1"/>
          </p:cNvSpPr>
          <p:nvPr>
            <p:ph type="ctrTitle"/>
          </p:nvPr>
        </p:nvSpPr>
        <p:spPr>
          <a:xfrm>
            <a:off x="914399" y="3424965"/>
            <a:ext cx="10524511" cy="1458360"/>
          </a:xfrm>
        </p:spPr>
        <p:txBody>
          <a:bodyPr anchor="t">
            <a:normAutofit/>
          </a:bodyPr>
          <a:lstStyle>
            <a:lvl1pPr>
              <a:defRPr sz="32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914401" y="4961468"/>
            <a:ext cx="6310489" cy="1225964"/>
          </a:xfrm>
        </p:spPr>
        <p:txBody>
          <a:bodyPr anchor="b"/>
          <a:lstStyle>
            <a:lvl1pPr marL="0" indent="0" algn="l">
              <a:buNone/>
              <a:defRPr sz="1800">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pic>
        <p:nvPicPr>
          <p:cNvPr id="7" name="Picture 6" descr="IAASB Logo with FullName.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736605" y="5699752"/>
            <a:ext cx="3702304" cy="487680"/>
          </a:xfrm>
          <a:prstGeom prst="rect">
            <a:avLst/>
          </a:prstGeom>
        </p:spPr>
      </p:pic>
      <p:pic>
        <p:nvPicPr>
          <p:cNvPr id="9" name="Picture 8" descr="Ribbon_orange_top.png"/>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0" y="1601536"/>
            <a:ext cx="12192000" cy="123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462181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Standard content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defRPr>
                <a:solidFill>
                  <a:srgbClr val="808080"/>
                </a:solidFill>
              </a:defRPr>
            </a:lvl1pPr>
            <a:lvl2pPr>
              <a:defRPr>
                <a:solidFill>
                  <a:srgbClr val="808080"/>
                </a:solidFill>
              </a:defRPr>
            </a:lvl2pPr>
            <a:lvl3pPr>
              <a:defRPr>
                <a:solidFill>
                  <a:srgbClr val="808080"/>
                </a:solidFill>
              </a:defRPr>
            </a:lvl3pPr>
            <a:lvl4pPr marL="857250" indent="-228600">
              <a:defRPr>
                <a:solidFill>
                  <a:srgbClr val="808080"/>
                </a:solidFill>
                <a:latin typeface="Arial" panose="020B0604020202020204" pitchFamily="34" charset="0"/>
                <a:cs typeface="Arial" panose="020B0604020202020204" pitchFamily="34" charset="0"/>
              </a:defRPr>
            </a:lvl4pPr>
            <a:lvl5pPr marL="1084263" indent="-228600">
              <a:defRPr>
                <a:solidFill>
                  <a:srgbClr val="808080"/>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a:xfrm>
            <a:off x="7905136" y="6511060"/>
            <a:ext cx="3677264" cy="304412"/>
          </a:xfrm>
        </p:spPr>
        <p:txBody>
          <a:bodyPr/>
          <a:lstStyle>
            <a:lvl1pPr marL="0" marR="0" indent="0" algn="r" defTabSz="457200" rtl="0" eaLnBrk="1" fontAlgn="auto" latinLnBrk="0" hangingPunct="1">
              <a:lnSpc>
                <a:spcPct val="100000"/>
              </a:lnSpc>
              <a:spcBef>
                <a:spcPts val="0"/>
              </a:spcBef>
              <a:spcAft>
                <a:spcPts val="0"/>
              </a:spcAft>
              <a:buClrTx/>
              <a:buSzTx/>
              <a:buFontTx/>
              <a:buNone/>
              <a:tabLst/>
              <a:defRPr sz="900">
                <a:solidFill>
                  <a:srgbClr val="808080"/>
                </a:solidFill>
              </a:defRPr>
            </a:lvl1p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11476723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p:cNvSpPr/>
          <p:nvPr userDrawn="1"/>
        </p:nvSpPr>
        <p:spPr>
          <a:xfrm>
            <a:off x="0" y="1610881"/>
            <a:ext cx="12192000" cy="525221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a:solidFill>
                <a:prstClr val="white"/>
              </a:solidFill>
            </a:endParaRPr>
          </a:p>
        </p:txBody>
      </p:sp>
      <p:sp>
        <p:nvSpPr>
          <p:cNvPr id="6" name="Slide Number Placeholder 5"/>
          <p:cNvSpPr>
            <a:spLocks noGrp="1"/>
          </p:cNvSpPr>
          <p:nvPr>
            <p:ph type="sldNum" sz="quarter" idx="12"/>
          </p:nvPr>
        </p:nvSpPr>
        <p:spPr/>
        <p:txBody>
          <a:bodyPr/>
          <a:lstStyle>
            <a:lvl1pPr algn="r">
              <a:defRPr/>
            </a:lvl1p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a:t>
            </a:fld>
            <a:endParaRPr lang="en-US" dirty="0">
              <a:latin typeface="Arial" panose="020B0604020202020204" pitchFamily="34" charset="0"/>
              <a:cs typeface="Arial" panose="020B0604020202020204" pitchFamily="34" charset="0"/>
            </a:endParaRPr>
          </a:p>
        </p:txBody>
      </p:sp>
      <p:cxnSp>
        <p:nvCxnSpPr>
          <p:cNvPr id="13" name="Straight Connector 12"/>
          <p:cNvCxnSpPr/>
          <p:nvPr userDrawn="1"/>
        </p:nvCxnSpPr>
        <p:spPr>
          <a:xfrm>
            <a:off x="0" y="5732585"/>
            <a:ext cx="12192000" cy="0"/>
          </a:xfrm>
          <a:prstGeom prst="line">
            <a:avLst/>
          </a:prstGeom>
          <a:ln w="9525">
            <a:solidFill>
              <a:schemeClr val="accent4"/>
            </a:solidFill>
          </a:ln>
          <a:effectLst/>
        </p:spPr>
        <p:style>
          <a:lnRef idx="2">
            <a:schemeClr val="accent1"/>
          </a:lnRef>
          <a:fillRef idx="0">
            <a:schemeClr val="accent1"/>
          </a:fillRef>
          <a:effectRef idx="1">
            <a:schemeClr val="accent1"/>
          </a:effectRef>
          <a:fontRef idx="minor">
            <a:schemeClr val="tx1"/>
          </a:fontRef>
        </p:style>
      </p:cxnSp>
      <p:sp>
        <p:nvSpPr>
          <p:cNvPr id="14" name="Rectangle 13"/>
          <p:cNvSpPr/>
          <p:nvPr userDrawn="1"/>
        </p:nvSpPr>
        <p:spPr>
          <a:xfrm>
            <a:off x="0" y="5732584"/>
            <a:ext cx="12192000" cy="538500"/>
          </a:xfrm>
          <a:prstGeom prst="rect">
            <a:avLst/>
          </a:prstGeom>
          <a:gradFill flip="none" rotWithShape="1">
            <a:gsLst>
              <a:gs pos="0">
                <a:schemeClr val="accent2"/>
              </a:gs>
              <a:gs pos="70000">
                <a:schemeClr val="accent1"/>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a:solidFill>
                <a:prstClr val="white"/>
              </a:solidFill>
            </a:endParaRPr>
          </a:p>
        </p:txBody>
      </p:sp>
    </p:spTree>
    <p:extLst>
      <p:ext uri="{BB962C8B-B14F-4D97-AF65-F5344CB8AC3E}">
        <p14:creationId xmlns:p14="http://schemas.microsoft.com/office/powerpoint/2010/main" val="29022063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1600201"/>
            <a:ext cx="5384800" cy="4525963"/>
          </a:xfrm>
        </p:spPr>
        <p:txBody>
          <a:bodyPr/>
          <a:lstStyle>
            <a:lvl1pPr>
              <a:defRPr sz="2000">
                <a:solidFill>
                  <a:schemeClr val="tx1">
                    <a:lumMod val="65000"/>
                    <a:lumOff val="35000"/>
                  </a:schemeClr>
                </a:solidFill>
              </a:defRPr>
            </a:lvl1pPr>
            <a:lvl2pPr>
              <a:defRPr sz="1800">
                <a:solidFill>
                  <a:schemeClr val="tx1">
                    <a:lumMod val="65000"/>
                    <a:lumOff val="35000"/>
                  </a:schemeClr>
                </a:solidFill>
              </a:defRPr>
            </a:lvl2pPr>
            <a:lvl3pPr>
              <a:defRPr sz="1600">
                <a:solidFill>
                  <a:schemeClr val="tx1">
                    <a:lumMod val="65000"/>
                    <a:lumOff val="35000"/>
                  </a:schemeClr>
                </a:solidFill>
              </a:defRPr>
            </a:lvl3pPr>
            <a:lvl4pPr marL="855663" indent="-228600">
              <a:defRPr sz="1400">
                <a:solidFill>
                  <a:schemeClr val="tx1">
                    <a:lumMod val="65000"/>
                    <a:lumOff val="35000"/>
                  </a:schemeClr>
                </a:solidFill>
                <a:latin typeface="Arial" panose="020B0604020202020204" pitchFamily="34" charset="0"/>
                <a:cs typeface="Arial" panose="020B0604020202020204" pitchFamily="34" charset="0"/>
              </a:defRPr>
            </a:lvl4pPr>
            <a:lvl5pPr marL="1084263" indent="-228600">
              <a:defRPr sz="1400">
                <a:solidFill>
                  <a:schemeClr val="tx1">
                    <a:lumMod val="65000"/>
                    <a:lumOff val="35000"/>
                  </a:schemeClr>
                </a:solidFill>
                <a:latin typeface="Arial" panose="020B0604020202020204" pitchFamily="34" charset="0"/>
                <a:cs typeface="Arial" panose="020B0604020202020204"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600201"/>
            <a:ext cx="5384800" cy="4525963"/>
          </a:xfrm>
        </p:spPr>
        <p:txBody>
          <a:bodyPr/>
          <a:lstStyle>
            <a:lvl1pPr>
              <a:defRPr sz="2000">
                <a:solidFill>
                  <a:schemeClr val="tx1">
                    <a:lumMod val="65000"/>
                    <a:lumOff val="35000"/>
                  </a:schemeClr>
                </a:solidFill>
              </a:defRPr>
            </a:lvl1pPr>
            <a:lvl2pPr>
              <a:defRPr sz="1800">
                <a:solidFill>
                  <a:schemeClr val="tx1">
                    <a:lumMod val="65000"/>
                    <a:lumOff val="35000"/>
                  </a:schemeClr>
                </a:solidFill>
              </a:defRPr>
            </a:lvl2pPr>
            <a:lvl3pPr>
              <a:defRPr sz="1600">
                <a:solidFill>
                  <a:schemeClr val="tx1">
                    <a:lumMod val="65000"/>
                    <a:lumOff val="35000"/>
                  </a:schemeClr>
                </a:solidFill>
              </a:defRPr>
            </a:lvl3pPr>
            <a:lvl4pPr marL="855663" indent="-228600">
              <a:defRPr sz="1400">
                <a:solidFill>
                  <a:schemeClr val="tx1">
                    <a:lumMod val="65000"/>
                    <a:lumOff val="35000"/>
                  </a:schemeClr>
                </a:solidFill>
                <a:latin typeface="Arial" panose="020B0604020202020204" pitchFamily="34" charset="0"/>
                <a:cs typeface="Arial" panose="020B0604020202020204" pitchFamily="34" charset="0"/>
              </a:defRPr>
            </a:lvl4pPr>
            <a:lvl5pPr marL="1084263" indent="-228600">
              <a:defRPr sz="1400">
                <a:solidFill>
                  <a:schemeClr val="tx1">
                    <a:lumMod val="65000"/>
                    <a:lumOff val="35000"/>
                  </a:schemeClr>
                </a:solidFill>
                <a:latin typeface="Arial" panose="020B0604020202020204" pitchFamily="34" charset="0"/>
                <a:cs typeface="Arial" panose="020B0604020202020204"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p:cNvSpPr>
            <a:spLocks noGrp="1"/>
          </p:cNvSpPr>
          <p:nvPr>
            <p:ph type="sldNum" sz="quarter" idx="12"/>
          </p:nvPr>
        </p:nvSpPr>
        <p:spPr>
          <a:xfrm>
            <a:off x="8808016" y="6497447"/>
            <a:ext cx="2774384" cy="335774"/>
          </a:xfrm>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101292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350689"/>
            <a:ext cx="5386917" cy="480663"/>
          </a:xfrm>
        </p:spPr>
        <p:txBody>
          <a:bodyPr anchor="b"/>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003648"/>
            <a:ext cx="5386917" cy="3951288"/>
          </a:xfrm>
        </p:spPr>
        <p:txBody>
          <a:bodyPr/>
          <a:lstStyle>
            <a:lvl1pPr>
              <a:defRPr sz="2000">
                <a:solidFill>
                  <a:schemeClr val="tx1">
                    <a:lumMod val="65000"/>
                    <a:lumOff val="35000"/>
                  </a:schemeClr>
                </a:solidFill>
              </a:defRPr>
            </a:lvl1pPr>
            <a:lvl2pPr>
              <a:defRPr sz="1800">
                <a:solidFill>
                  <a:schemeClr val="tx1">
                    <a:lumMod val="65000"/>
                    <a:lumOff val="35000"/>
                  </a:schemeClr>
                </a:solidFill>
              </a:defRPr>
            </a:lvl2pPr>
            <a:lvl3pPr>
              <a:defRPr sz="1600">
                <a:solidFill>
                  <a:schemeClr val="tx1">
                    <a:lumMod val="65000"/>
                    <a:lumOff val="35000"/>
                  </a:schemeClr>
                </a:solidFill>
              </a:defRPr>
            </a:lvl3pPr>
            <a:lvl4pPr marL="855663" indent="-228600">
              <a:defRPr sz="1400">
                <a:solidFill>
                  <a:schemeClr val="tx1">
                    <a:lumMod val="65000"/>
                    <a:lumOff val="35000"/>
                  </a:schemeClr>
                </a:solidFill>
                <a:latin typeface="Arial" panose="020B0604020202020204" pitchFamily="34" charset="0"/>
                <a:cs typeface="Arial" panose="020B0604020202020204" pitchFamily="34" charset="0"/>
              </a:defRPr>
            </a:lvl4pPr>
            <a:lvl5pPr marL="1084263" indent="-228600">
              <a:defRPr sz="1400">
                <a:solidFill>
                  <a:schemeClr val="tx1">
                    <a:lumMod val="65000"/>
                    <a:lumOff val="35000"/>
                  </a:schemeClr>
                </a:solidFill>
                <a:latin typeface="Arial" panose="020B0604020202020204" pitchFamily="34" charset="0"/>
                <a:cs typeface="Arial" panose="020B0604020202020204"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93368" y="1350689"/>
            <a:ext cx="5389033" cy="480663"/>
          </a:xfrm>
        </p:spPr>
        <p:txBody>
          <a:bodyPr anchor="b"/>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003648"/>
            <a:ext cx="5389033" cy="3951288"/>
          </a:xfrm>
        </p:spPr>
        <p:txBody>
          <a:bodyPr/>
          <a:lstStyle>
            <a:lvl1pPr>
              <a:defRPr sz="2000">
                <a:solidFill>
                  <a:schemeClr val="tx1">
                    <a:lumMod val="65000"/>
                    <a:lumOff val="35000"/>
                  </a:schemeClr>
                </a:solidFill>
              </a:defRPr>
            </a:lvl1pPr>
            <a:lvl2pPr>
              <a:defRPr sz="1800">
                <a:solidFill>
                  <a:schemeClr val="tx1">
                    <a:lumMod val="65000"/>
                    <a:lumOff val="35000"/>
                  </a:schemeClr>
                </a:solidFill>
              </a:defRPr>
            </a:lvl2pPr>
            <a:lvl3pPr>
              <a:defRPr sz="1600">
                <a:solidFill>
                  <a:schemeClr val="tx1">
                    <a:lumMod val="65000"/>
                    <a:lumOff val="35000"/>
                  </a:schemeClr>
                </a:solidFill>
              </a:defRPr>
            </a:lvl3pPr>
            <a:lvl4pPr marL="855663" indent="-228600">
              <a:defRPr sz="1400">
                <a:solidFill>
                  <a:schemeClr val="tx1">
                    <a:lumMod val="65000"/>
                    <a:lumOff val="35000"/>
                  </a:schemeClr>
                </a:solidFill>
                <a:latin typeface="Arial" panose="020B0604020202020204" pitchFamily="34" charset="0"/>
                <a:cs typeface="Arial" panose="020B0604020202020204" pitchFamily="34" charset="0"/>
              </a:defRPr>
            </a:lvl4pPr>
            <a:lvl5pPr marL="1084263" indent="-228600">
              <a:defRPr sz="1400">
                <a:solidFill>
                  <a:schemeClr val="tx1">
                    <a:lumMod val="65000"/>
                    <a:lumOff val="35000"/>
                  </a:schemeClr>
                </a:solidFill>
                <a:latin typeface="Arial" panose="020B0604020202020204" pitchFamily="34" charset="0"/>
                <a:cs typeface="Arial" panose="020B0604020202020204"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408897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Slide Number Placeholder 4"/>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564482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615978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ack Cover">
    <p:spTree>
      <p:nvGrpSpPr>
        <p:cNvPr id="1" name=""/>
        <p:cNvGrpSpPr/>
        <p:nvPr/>
      </p:nvGrpSpPr>
      <p:grpSpPr>
        <a:xfrm>
          <a:off x="0" y="0"/>
          <a:ext cx="0" cy="0"/>
          <a:chOff x="0" y="0"/>
          <a:chExt cx="0" cy="0"/>
        </a:xfrm>
      </p:grpSpPr>
      <p:pic>
        <p:nvPicPr>
          <p:cNvPr id="7"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auto">
          <a:xfrm>
            <a:off x="2939174" y="2240324"/>
            <a:ext cx="5998518" cy="918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userDrawn="1"/>
        </p:nvSpPr>
        <p:spPr>
          <a:xfrm>
            <a:off x="5095863" y="5009183"/>
            <a:ext cx="1685141" cy="369332"/>
          </a:xfrm>
          <a:prstGeom prst="rect">
            <a:avLst/>
          </a:prstGeom>
        </p:spPr>
        <p:txBody>
          <a:bodyPr wrap="none">
            <a:spAutoFit/>
          </a:bodyPr>
          <a:lstStyle/>
          <a:p>
            <a:pPr defTabSz="457200"/>
            <a:r>
              <a:rPr lang="en-US" sz="1800" dirty="0">
                <a:solidFill>
                  <a:srgbClr val="1F497D"/>
                </a:solidFill>
                <a:latin typeface="Arial" panose="020B0604020202020204" pitchFamily="34" charset="0"/>
                <a:ea typeface="Calibri" panose="020F0502020204030204" pitchFamily="34" charset="0"/>
                <a:cs typeface="Arial" panose="020B0604020202020204" pitchFamily="34" charset="0"/>
                <a:hlinkClick r:id="rId3"/>
              </a:rPr>
              <a:t>www.iaasb.org</a:t>
            </a:r>
            <a:endParaRPr lang="en-US" sz="2000" dirty="0">
              <a:solidFill>
                <a:prstClr val="black"/>
              </a:solidFill>
              <a:latin typeface="Arial" panose="020B0604020202020204" pitchFamily="34" charset="0"/>
              <a:ea typeface="Calibri" panose="020F0502020204030204" pitchFamily="34" charset="0"/>
              <a:cs typeface="Arial" panose="020B0604020202020204" pitchFamily="34" charset="0"/>
            </a:endParaRPr>
          </a:p>
        </p:txBody>
      </p:sp>
      <p:sp>
        <p:nvSpPr>
          <p:cNvPr id="5" name="Rectangle 5"/>
          <p:cNvSpPr>
            <a:spLocks noChangeArrowheads="1"/>
          </p:cNvSpPr>
          <p:nvPr userDrawn="1"/>
        </p:nvSpPr>
        <p:spPr bwMode="auto">
          <a:xfrm flipH="1">
            <a:off x="508000" y="6430428"/>
            <a:ext cx="11684000" cy="46038"/>
          </a:xfrm>
          <a:prstGeom prst="rect">
            <a:avLst/>
          </a:prstGeom>
          <a:gradFill rotWithShape="1">
            <a:gsLst>
              <a:gs pos="0">
                <a:srgbClr val="D53D20"/>
              </a:gs>
              <a:gs pos="999">
                <a:srgbClr val="D53D20"/>
              </a:gs>
              <a:gs pos="100000">
                <a:srgbClr val="E58D2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defTabSz="457200"/>
            <a:endParaRPr lang="en-US" sz="1800" dirty="0">
              <a:solidFill>
                <a:prstClr val="black"/>
              </a:solidFill>
            </a:endParaRPr>
          </a:p>
        </p:txBody>
      </p:sp>
      <p:pic>
        <p:nvPicPr>
          <p:cNvPr id="3" name="Picture 2"/>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31333" y="5658033"/>
            <a:ext cx="1019144" cy="255514"/>
          </a:xfrm>
          <a:prstGeom prst="rect">
            <a:avLst/>
          </a:prstGeom>
        </p:spPr>
      </p:pic>
      <p:pic>
        <p:nvPicPr>
          <p:cNvPr id="4" name="Picture 3"/>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2949697" y="5658033"/>
            <a:ext cx="771637" cy="255514"/>
          </a:xfrm>
          <a:prstGeom prst="rect">
            <a:avLst/>
          </a:prstGeom>
        </p:spPr>
      </p:pic>
      <p:pic>
        <p:nvPicPr>
          <p:cNvPr id="6" name="Picture 5"/>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4622621" y="5658033"/>
            <a:ext cx="1019144" cy="255514"/>
          </a:xfrm>
          <a:prstGeom prst="rect">
            <a:avLst/>
          </a:prstGeom>
        </p:spPr>
      </p:pic>
      <p:pic>
        <p:nvPicPr>
          <p:cNvPr id="8" name="Picture 7"/>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6640985" y="5619933"/>
            <a:ext cx="1019144" cy="310111"/>
          </a:xfrm>
          <a:prstGeom prst="rect">
            <a:avLst/>
          </a:prstGeom>
        </p:spPr>
      </p:pic>
      <p:pic>
        <p:nvPicPr>
          <p:cNvPr id="9" name="Picture 8"/>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8659349" y="5658033"/>
            <a:ext cx="1019144" cy="255514"/>
          </a:xfrm>
          <a:prstGeom prst="rect">
            <a:avLst/>
          </a:prstGeom>
        </p:spPr>
      </p:pic>
      <p:pic>
        <p:nvPicPr>
          <p:cNvPr id="10" name="Picture 9"/>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0547508" y="5658033"/>
            <a:ext cx="1019144" cy="255514"/>
          </a:xfrm>
          <a:prstGeom prst="rect">
            <a:avLst/>
          </a:prstGeom>
        </p:spPr>
      </p:pic>
      <p:sp>
        <p:nvSpPr>
          <p:cNvPr id="11" name="Rectangle 10"/>
          <p:cNvSpPr/>
          <p:nvPr userDrawn="1"/>
        </p:nvSpPr>
        <p:spPr>
          <a:xfrm>
            <a:off x="931334" y="6144038"/>
            <a:ext cx="10837333" cy="276999"/>
          </a:xfrm>
          <a:prstGeom prst="rect">
            <a:avLst/>
          </a:prstGeom>
        </p:spPr>
        <p:txBody>
          <a:bodyPr wrap="square">
            <a:spAutoFit/>
          </a:bodyPr>
          <a:lstStyle/>
          <a:p>
            <a:pPr defTabSz="457200"/>
            <a:r>
              <a:rPr lang="en-US" sz="1200" dirty="0">
                <a:solidFill>
                  <a:prstClr val="black"/>
                </a:solidFill>
                <a:latin typeface="Arial" panose="020B0604020202020204" pitchFamily="34" charset="0"/>
                <a:ea typeface="Calibri" panose="020F0502020204030204" pitchFamily="34" charset="0"/>
              </a:rPr>
              <a:t>For copyright, trademark, and permissions information, please go to </a:t>
            </a:r>
            <a:r>
              <a:rPr lang="en-US" sz="1200" u="sng" dirty="0">
                <a:solidFill>
                  <a:srgbClr val="0563C1"/>
                </a:solidFill>
                <a:latin typeface="Arial" panose="020B0604020202020204" pitchFamily="34" charset="0"/>
                <a:ea typeface="Calibri" panose="020F0502020204030204" pitchFamily="34" charset="0"/>
                <a:cs typeface="Times New Roman" panose="02020603050405020304" pitchFamily="18" charset="0"/>
                <a:hlinkClick r:id="rId10"/>
              </a:rPr>
              <a:t>permissions</a:t>
            </a:r>
            <a:r>
              <a:rPr lang="en-US" sz="1200" dirty="0">
                <a:solidFill>
                  <a:prstClr val="black"/>
                </a:solidFill>
                <a:latin typeface="Arial" panose="020B0604020202020204" pitchFamily="34" charset="0"/>
                <a:ea typeface="Calibri" panose="020F0502020204030204" pitchFamily="34" charset="0"/>
              </a:rPr>
              <a:t> or contact </a:t>
            </a:r>
            <a:r>
              <a:rPr lang="en-US" sz="1200" u="sng" dirty="0">
                <a:solidFill>
                  <a:srgbClr val="0563C1"/>
                </a:solidFill>
                <a:latin typeface="Arial" panose="020B0604020202020204" pitchFamily="34" charset="0"/>
                <a:ea typeface="Calibri" panose="020F0502020204030204" pitchFamily="34" charset="0"/>
                <a:cs typeface="Times New Roman" panose="02020603050405020304" pitchFamily="18" charset="0"/>
                <a:hlinkClick r:id="rId11"/>
              </a:rPr>
              <a:t>permissions@ifac.org</a:t>
            </a:r>
            <a:r>
              <a:rPr lang="en-US" sz="1200" dirty="0">
                <a:solidFill>
                  <a:prstClr val="black"/>
                </a:solidFill>
                <a:latin typeface="Arial" panose="020B0604020202020204" pitchFamily="34" charset="0"/>
                <a:ea typeface="Calibri" panose="020F0502020204030204" pitchFamily="34" charset="0"/>
              </a:rPr>
              <a:t>.</a:t>
            </a:r>
            <a:endParaRPr lang="en-US" sz="1200" dirty="0">
              <a:solidFill>
                <a:prstClr val="black"/>
              </a:solidFill>
            </a:endParaRPr>
          </a:p>
        </p:txBody>
      </p:sp>
    </p:spTree>
    <p:extLst>
      <p:ext uri="{BB962C8B-B14F-4D97-AF65-F5344CB8AC3E}">
        <p14:creationId xmlns:p14="http://schemas.microsoft.com/office/powerpoint/2010/main" val="2900939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2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500"/>
                                        <p:tgtEl>
                                          <p:spTgt spid="3"/>
                                        </p:tgtEl>
                                      </p:cBhvr>
                                    </p:animEffect>
                                  </p:childTnLst>
                                </p:cTn>
                              </p:par>
                              <p:par>
                                <p:cTn id="8" presetID="10" presetClass="entr" presetSubtype="0" fill="hold" nodeType="withEffect">
                                  <p:stCondLst>
                                    <p:cond delay="100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1500"/>
                                        <p:tgtEl>
                                          <p:spTgt spid="4"/>
                                        </p:tgtEl>
                                      </p:cBhvr>
                                    </p:animEffect>
                                  </p:childTnLst>
                                </p:cTn>
                              </p:par>
                              <p:par>
                                <p:cTn id="11" presetID="10" presetClass="entr" presetSubtype="0" fill="hold" nodeType="withEffect">
                                  <p:stCondLst>
                                    <p:cond delay="175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1500"/>
                                        <p:tgtEl>
                                          <p:spTgt spid="6"/>
                                        </p:tgtEl>
                                      </p:cBhvr>
                                    </p:animEffect>
                                  </p:childTnLst>
                                </p:cTn>
                              </p:par>
                              <p:par>
                                <p:cTn id="14" presetID="10" presetClass="entr" presetSubtype="0" fill="hold" nodeType="withEffect">
                                  <p:stCondLst>
                                    <p:cond delay="250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1500"/>
                                        <p:tgtEl>
                                          <p:spTgt spid="8"/>
                                        </p:tgtEl>
                                      </p:cBhvr>
                                    </p:animEffect>
                                  </p:childTnLst>
                                </p:cTn>
                              </p:par>
                              <p:par>
                                <p:cTn id="17" presetID="10" presetClass="entr" presetSubtype="0" fill="hold" nodeType="withEffect">
                                  <p:stCondLst>
                                    <p:cond delay="325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1500"/>
                                        <p:tgtEl>
                                          <p:spTgt spid="9"/>
                                        </p:tgtEl>
                                      </p:cBhvr>
                                    </p:animEffect>
                                  </p:childTnLst>
                                </p:cTn>
                              </p:par>
                              <p:par>
                                <p:cTn id="20" presetID="10" presetClass="entr" presetSubtype="0" fill="hold" nodeType="withEffect">
                                  <p:stCondLst>
                                    <p:cond delay="400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1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08000" y="564078"/>
            <a:ext cx="10058400" cy="533400"/>
          </a:xfrm>
        </p:spPr>
        <p:txBody>
          <a:bodyPr anchor="ctr"/>
          <a:lstStyle/>
          <a:p>
            <a:r>
              <a:rPr lang="en-US"/>
              <a:t>Click to edit Master title style</a:t>
            </a:r>
            <a:endParaRPr lang="en-US" dirty="0"/>
          </a:p>
        </p:txBody>
      </p:sp>
      <p:sp>
        <p:nvSpPr>
          <p:cNvPr id="3" name="Content Placeholder 2"/>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ubtitle 2"/>
          <p:cNvSpPr>
            <a:spLocks noGrp="1"/>
          </p:cNvSpPr>
          <p:nvPr>
            <p:ph type="subTitle" idx="10"/>
          </p:nvPr>
        </p:nvSpPr>
        <p:spPr>
          <a:xfrm>
            <a:off x="508000" y="152400"/>
            <a:ext cx="3556000" cy="228600"/>
          </a:xfrm>
        </p:spPr>
        <p:txBody>
          <a:bodyPr lIns="0" tIns="0" rIns="0" bIns="0"/>
          <a:lstStyle>
            <a:lvl1pPr marL="0" indent="0" algn="l">
              <a:buNone/>
              <a:defRPr sz="1400">
                <a:solidFill>
                  <a:schemeClr val="bg1"/>
                </a:solidFill>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US" dirty="0"/>
          </a:p>
        </p:txBody>
      </p:sp>
      <p:sp>
        <p:nvSpPr>
          <p:cNvPr id="5" name="Slide Number Placeholder 5">
            <a:extLst>
              <a:ext uri="{FF2B5EF4-FFF2-40B4-BE49-F238E27FC236}">
                <a16:creationId xmlns:a16="http://schemas.microsoft.com/office/drawing/2014/main" id="{4DFB4106-AFAF-4C3F-96BE-EEC27417FA4F}"/>
              </a:ext>
            </a:extLst>
          </p:cNvPr>
          <p:cNvSpPr>
            <a:spLocks noGrp="1"/>
          </p:cNvSpPr>
          <p:nvPr>
            <p:ph type="sldNum" sz="quarter" idx="12"/>
          </p:nvPr>
        </p:nvSpPr>
        <p:spPr>
          <a:xfrm>
            <a:off x="7905136" y="6511060"/>
            <a:ext cx="3677264" cy="304412"/>
          </a:xfrm>
        </p:spPr>
        <p:txBody>
          <a:bodyPr/>
          <a:lstStyle>
            <a:lvl1pPr marL="0" marR="0" indent="0" algn="r" defTabSz="457200" rtl="0" eaLnBrk="1" fontAlgn="auto" latinLnBrk="0" hangingPunct="1">
              <a:lnSpc>
                <a:spcPct val="100000"/>
              </a:lnSpc>
              <a:spcBef>
                <a:spcPts val="0"/>
              </a:spcBef>
              <a:spcAft>
                <a:spcPts val="0"/>
              </a:spcAft>
              <a:buClrTx/>
              <a:buSzTx/>
              <a:buFontTx/>
              <a:buNone/>
              <a:tabLst/>
              <a:defRPr sz="900">
                <a:solidFill>
                  <a:srgbClr val="808080"/>
                </a:solidFill>
              </a:defRPr>
            </a:lvl1p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12729608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08000" y="457200"/>
            <a:ext cx="10058400" cy="533400"/>
          </a:xfrm>
        </p:spPr>
        <p:txBody>
          <a:bodyPr anchor="ctr"/>
          <a:lstStyle/>
          <a:p>
            <a:r>
              <a:rPr lang="en-US" dirty="0"/>
              <a:t>Click to edit Master title style</a:t>
            </a:r>
          </a:p>
        </p:txBody>
      </p:sp>
      <p:sp>
        <p:nvSpPr>
          <p:cNvPr id="3" name="Content Placeholder 2"/>
          <p:cNvSpPr>
            <a:spLocks noGrp="1"/>
          </p:cNvSpPr>
          <p:nvPr>
            <p:ph idx="1"/>
          </p:nvPr>
        </p:nvSpPr>
        <p:spPr/>
        <p:txBody>
          <a:bodyPr/>
          <a:lstStyle>
            <a:lvl1pPr>
              <a:defRPr>
                <a:solidFill>
                  <a:schemeClr val="tx2">
                    <a:lumMod val="65000"/>
                    <a:lumOff val="35000"/>
                  </a:schemeClr>
                </a:solidFill>
              </a:defRPr>
            </a:lvl1pPr>
            <a:lvl2pPr>
              <a:defRPr>
                <a:solidFill>
                  <a:schemeClr val="tx2">
                    <a:lumMod val="65000"/>
                    <a:lumOff val="35000"/>
                  </a:schemeClr>
                </a:solidFill>
              </a:defRPr>
            </a:lvl2pPr>
            <a:lvl3pPr>
              <a:defRPr>
                <a:solidFill>
                  <a:schemeClr val="tx2">
                    <a:lumMod val="65000"/>
                    <a:lumOff val="35000"/>
                  </a:schemeClr>
                </a:solidFill>
              </a:defRPr>
            </a:lvl3pPr>
            <a:lvl4pPr>
              <a:defRPr>
                <a:solidFill>
                  <a:schemeClr val="tx2">
                    <a:lumMod val="65000"/>
                    <a:lumOff val="35000"/>
                  </a:schemeClr>
                </a:solidFill>
              </a:defRPr>
            </a:lvl4pPr>
            <a:lvl5pPr>
              <a:defRPr>
                <a:solidFill>
                  <a:schemeClr val="tx2">
                    <a:lumMod val="65000"/>
                    <a:lumOff val="3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2"/>
          <p:cNvSpPr>
            <a:spLocks noGrp="1"/>
          </p:cNvSpPr>
          <p:nvPr>
            <p:ph type="subTitle" idx="10"/>
          </p:nvPr>
        </p:nvSpPr>
        <p:spPr>
          <a:xfrm>
            <a:off x="508000" y="152400"/>
            <a:ext cx="3556000" cy="228600"/>
          </a:xfrm>
        </p:spPr>
        <p:txBody>
          <a:bodyPr lIns="0" tIns="0" rIns="0" bIns="0"/>
          <a:lstStyle>
            <a:lvl1pPr marL="0" indent="0" algn="l">
              <a:buNone/>
              <a:defRPr sz="1400">
                <a:solidFill>
                  <a:schemeClr val="bg1"/>
                </a:solidFill>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US" dirty="0"/>
          </a:p>
        </p:txBody>
      </p:sp>
      <p:sp>
        <p:nvSpPr>
          <p:cNvPr id="6" name="Slide Number Placeholder 5">
            <a:extLst>
              <a:ext uri="{FF2B5EF4-FFF2-40B4-BE49-F238E27FC236}">
                <a16:creationId xmlns:a16="http://schemas.microsoft.com/office/drawing/2014/main" id="{B6452E12-8942-4E20-BAB3-AECBD9FCC915}"/>
              </a:ext>
            </a:extLst>
          </p:cNvPr>
          <p:cNvSpPr txBox="1">
            <a:spLocks/>
          </p:cNvSpPr>
          <p:nvPr userDrawn="1"/>
        </p:nvSpPr>
        <p:spPr>
          <a:xfrm>
            <a:off x="7905136" y="6511060"/>
            <a:ext cx="3677264" cy="304412"/>
          </a:xfrm>
          <a:prstGeom prst="rect">
            <a:avLst/>
          </a:prstGeom>
        </p:spPr>
        <p:txBody>
          <a:bodyPr vert="horz" lIns="0" tIns="0" rIns="0" bIns="0" rtlCol="0" anchor="ctr"/>
          <a:lstStyle>
            <a:defPPr>
              <a:defRPr lang="nl-NL"/>
            </a:defPPr>
            <a:lvl1pPr marL="0" marR="0" indent="0" algn="r" defTabSz="457200" rtl="0" eaLnBrk="1" fontAlgn="auto" latinLnBrk="0" hangingPunct="1">
              <a:lnSpc>
                <a:spcPct val="100000"/>
              </a:lnSpc>
              <a:spcBef>
                <a:spcPts val="0"/>
              </a:spcBef>
              <a:spcAft>
                <a:spcPts val="0"/>
              </a:spcAft>
              <a:buClrTx/>
              <a:buSzTx/>
              <a:buFontTx/>
              <a:buNone/>
              <a:tabLst/>
              <a:defRPr sz="900" kern="1200">
                <a:solidFill>
                  <a:srgbClr val="808080"/>
                </a:solidFill>
                <a:latin typeface="Arial Narrow"/>
                <a:ea typeface="+mn-ea"/>
                <a:cs typeface="Arial Narrow"/>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7749967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userDrawn="1"/>
        </p:nvSpPr>
        <p:spPr>
          <a:xfrm>
            <a:off x="0" y="569916"/>
            <a:ext cx="12192000" cy="538500"/>
          </a:xfrm>
          <a:prstGeom prst="rect">
            <a:avLst/>
          </a:prstGeom>
          <a:gradFill flip="none" rotWithShape="1">
            <a:gsLst>
              <a:gs pos="0">
                <a:schemeClr val="accent2"/>
              </a:gs>
              <a:gs pos="70000">
                <a:schemeClr val="accent1"/>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a:solidFill>
                <a:prstClr val="white"/>
              </a:solidFill>
            </a:endParaRPr>
          </a:p>
        </p:txBody>
      </p:sp>
      <p:sp>
        <p:nvSpPr>
          <p:cNvPr id="2" name="Title Placeholder 1"/>
          <p:cNvSpPr>
            <a:spLocks noGrp="1"/>
          </p:cNvSpPr>
          <p:nvPr>
            <p:ph type="title"/>
          </p:nvPr>
        </p:nvSpPr>
        <p:spPr>
          <a:xfrm>
            <a:off x="609600" y="569916"/>
            <a:ext cx="10972800" cy="538500"/>
          </a:xfrm>
          <a:prstGeom prst="rect">
            <a:avLst/>
          </a:prstGeom>
        </p:spPr>
        <p:txBody>
          <a:bodyPr vert="horz" lIns="0" tIns="0" rIns="0" bIns="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609600" y="1600201"/>
            <a:ext cx="10972800" cy="4251569"/>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p:txBody>
      </p:sp>
      <p:sp>
        <p:nvSpPr>
          <p:cNvPr id="4" name="Date Placeholder 3"/>
          <p:cNvSpPr>
            <a:spLocks noGrp="1"/>
          </p:cNvSpPr>
          <p:nvPr>
            <p:ph type="dt" sz="half" idx="2"/>
          </p:nvPr>
        </p:nvSpPr>
        <p:spPr>
          <a:xfrm>
            <a:off x="606647" y="6511060"/>
            <a:ext cx="2743200" cy="304412"/>
          </a:xfrm>
          <a:prstGeom prst="rect">
            <a:avLst/>
          </a:prstGeom>
        </p:spPr>
        <p:txBody>
          <a:bodyPr vert="horz" lIns="91440" tIns="45720" rIns="91440" bIns="45720" rtlCol="0" anchor="ctr"/>
          <a:lstStyle>
            <a:lvl1pPr algn="l">
              <a:defRPr sz="900">
                <a:solidFill>
                  <a:schemeClr val="tx1">
                    <a:tint val="75000"/>
                  </a:schemeClr>
                </a:solidFill>
                <a:latin typeface="Arial" panose="020B0604020202020204" pitchFamily="34" charset="0"/>
              </a:defRPr>
            </a:lvl1pPr>
          </a:lstStyle>
          <a:p>
            <a:pPr defTabSz="457200"/>
            <a:endParaRPr lang="en-US" dirty="0">
              <a:solidFill>
                <a:prstClr val="black">
                  <a:tint val="75000"/>
                </a:prstClr>
              </a:solidFill>
            </a:endParaRPr>
          </a:p>
        </p:txBody>
      </p:sp>
      <p:sp>
        <p:nvSpPr>
          <p:cNvPr id="5" name="Footer Placeholder 4"/>
          <p:cNvSpPr>
            <a:spLocks noGrp="1"/>
          </p:cNvSpPr>
          <p:nvPr>
            <p:ph type="ftr" sz="quarter" idx="3"/>
          </p:nvPr>
        </p:nvSpPr>
        <p:spPr>
          <a:xfrm>
            <a:off x="4021531" y="6511060"/>
            <a:ext cx="4114800" cy="304412"/>
          </a:xfrm>
          <a:prstGeom prst="rect">
            <a:avLst/>
          </a:prstGeom>
        </p:spPr>
        <p:txBody>
          <a:bodyPr vert="horz" lIns="91440" tIns="45720" rIns="91440" bIns="45720" rtlCol="0" anchor="ctr"/>
          <a:lstStyle>
            <a:lvl1pPr algn="ctr">
              <a:defRPr sz="900">
                <a:solidFill>
                  <a:schemeClr val="tx1">
                    <a:tint val="75000"/>
                  </a:schemeClr>
                </a:solidFill>
                <a:latin typeface="Arial" panose="020B0604020202020204" pitchFamily="34" charset="0"/>
              </a:defRPr>
            </a:lvl1pPr>
          </a:lstStyle>
          <a:p>
            <a:pPr defTabSz="457200"/>
            <a:endParaRPr lang="en-US" dirty="0">
              <a:solidFill>
                <a:prstClr val="black">
                  <a:tint val="75000"/>
                </a:prstClr>
              </a:solidFill>
            </a:endParaRPr>
          </a:p>
        </p:txBody>
      </p:sp>
      <p:sp>
        <p:nvSpPr>
          <p:cNvPr id="6" name="Slide Number Placeholder 5"/>
          <p:cNvSpPr>
            <a:spLocks noGrp="1"/>
          </p:cNvSpPr>
          <p:nvPr>
            <p:ph type="sldNum" sz="quarter" idx="4"/>
          </p:nvPr>
        </p:nvSpPr>
        <p:spPr>
          <a:xfrm>
            <a:off x="8808016" y="6511060"/>
            <a:ext cx="2774384" cy="304412"/>
          </a:xfrm>
          <a:prstGeom prst="rect">
            <a:avLst/>
          </a:prstGeom>
        </p:spPr>
        <p:txBody>
          <a:bodyPr vert="horz" lIns="0" tIns="0" rIns="0" bIns="0" rtlCol="0" anchor="ctr"/>
          <a:lstStyle>
            <a:lvl1pPr algn="ctr">
              <a:defRPr sz="900">
                <a:solidFill>
                  <a:srgbClr val="808080"/>
                </a:solidFill>
                <a:latin typeface="Arial Narrow"/>
                <a:cs typeface="Arial Narrow"/>
              </a:defRPr>
            </a:lvl1pPr>
          </a:lstStyle>
          <a:p>
            <a:pPr algn="r" defTabSz="457200"/>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defTabSz="457200"/>
              <a:t>‹#›</a:t>
            </a:fld>
            <a:endParaRPr lang="en-US" dirty="0">
              <a:latin typeface="Arial" panose="020B0604020202020204" pitchFamily="34" charset="0"/>
              <a:cs typeface="Arial" panose="020B0604020202020204" pitchFamily="34" charset="0"/>
            </a:endParaRPr>
          </a:p>
        </p:txBody>
      </p:sp>
      <p:sp>
        <p:nvSpPr>
          <p:cNvPr id="14" name="Rectangle 5"/>
          <p:cNvSpPr>
            <a:spLocks noChangeArrowheads="1"/>
          </p:cNvSpPr>
          <p:nvPr userDrawn="1"/>
        </p:nvSpPr>
        <p:spPr bwMode="auto">
          <a:xfrm flipH="1">
            <a:off x="508000" y="6429637"/>
            <a:ext cx="11684000" cy="46038"/>
          </a:xfrm>
          <a:prstGeom prst="rect">
            <a:avLst/>
          </a:prstGeom>
          <a:gradFill rotWithShape="1">
            <a:gsLst>
              <a:gs pos="0">
                <a:srgbClr val="D53D20"/>
              </a:gs>
              <a:gs pos="999">
                <a:srgbClr val="D53D20"/>
              </a:gs>
              <a:gs pos="100000">
                <a:srgbClr val="E58D2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defTabSz="457200"/>
            <a:endParaRPr lang="en-US" sz="1800" dirty="0">
              <a:solidFill>
                <a:prstClr val="black"/>
              </a:solidFill>
            </a:endParaRPr>
          </a:p>
        </p:txBody>
      </p:sp>
      <p:pic>
        <p:nvPicPr>
          <p:cNvPr id="11" name="Picture 10" descr="IAASB Logo with FullName.jpg"/>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10161916" y="178653"/>
            <a:ext cx="1746545" cy="313929"/>
          </a:xfrm>
          <a:prstGeom prst="rect">
            <a:avLst/>
          </a:prstGeom>
        </p:spPr>
      </p:pic>
    </p:spTree>
    <p:extLst>
      <p:ext uri="{BB962C8B-B14F-4D97-AF65-F5344CB8AC3E}">
        <p14:creationId xmlns:p14="http://schemas.microsoft.com/office/powerpoint/2010/main" val="37963745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defTabSz="457200" rtl="0" eaLnBrk="1" latinLnBrk="0" hangingPunct="1">
        <a:spcBef>
          <a:spcPct val="0"/>
        </a:spcBef>
        <a:buNone/>
        <a:defRPr sz="2400" kern="1200">
          <a:solidFill>
            <a:schemeClr val="bg1"/>
          </a:solidFill>
          <a:latin typeface="Arial" panose="020B0604020202020204" pitchFamily="34" charset="0"/>
          <a:ea typeface="+mj-ea"/>
          <a:cs typeface="Arial" panose="020B0604020202020204" pitchFamily="34" charset="0"/>
        </a:defRPr>
      </a:lvl1pPr>
    </p:titleStyle>
    <p:bodyStyle>
      <a:lvl1pPr marL="173038" indent="-173038" algn="l" defTabSz="457200" rtl="0" eaLnBrk="1" latinLnBrk="0" hangingPunct="1">
        <a:spcBef>
          <a:spcPts val="1200"/>
        </a:spcBef>
        <a:buFont typeface="Arial"/>
        <a:buChar char="•"/>
        <a:defRPr sz="2000" kern="1200">
          <a:solidFill>
            <a:schemeClr val="tx1">
              <a:lumMod val="65000"/>
              <a:lumOff val="35000"/>
            </a:schemeClr>
          </a:solidFill>
          <a:latin typeface="Arial" panose="020B0604020202020204" pitchFamily="34" charset="0"/>
          <a:ea typeface="+mn-ea"/>
          <a:cs typeface="Arial" panose="020B0604020202020204" pitchFamily="34" charset="0"/>
        </a:defRPr>
      </a:lvl1pPr>
      <a:lvl2pPr marL="457200" indent="-228600" algn="l" defTabSz="457200" rtl="0" eaLnBrk="1" latinLnBrk="0" hangingPunct="1">
        <a:spcBef>
          <a:spcPts val="600"/>
        </a:spcBef>
        <a:spcAft>
          <a:spcPts val="400"/>
        </a:spcAft>
        <a:buFont typeface="Arial"/>
        <a:buChar char="–"/>
        <a:defRPr sz="1800" kern="1200">
          <a:solidFill>
            <a:schemeClr val="tx1">
              <a:lumMod val="65000"/>
              <a:lumOff val="35000"/>
            </a:schemeClr>
          </a:solidFill>
          <a:latin typeface="Arial" panose="020B0604020202020204" pitchFamily="34" charset="0"/>
          <a:ea typeface="+mn-ea"/>
          <a:cs typeface="Arial" panose="020B0604020202020204" pitchFamily="34" charset="0"/>
        </a:defRPr>
      </a:lvl2pPr>
      <a:lvl3pPr marL="630238" indent="-171450" algn="l" defTabSz="457200" rtl="0" eaLnBrk="1" latinLnBrk="0" hangingPunct="1">
        <a:spcBef>
          <a:spcPct val="20000"/>
        </a:spcBef>
        <a:buFont typeface="Arial"/>
        <a:buChar char="•"/>
        <a:defRPr sz="1600" kern="1200">
          <a:solidFill>
            <a:schemeClr val="tx1">
              <a:lumMod val="65000"/>
              <a:lumOff val="35000"/>
            </a:schemeClr>
          </a:solidFill>
          <a:latin typeface="Arial" panose="020B0604020202020204" pitchFamily="34" charset="0"/>
          <a:ea typeface="+mn-ea"/>
          <a:cs typeface="Arial" panose="020B0604020202020204" pitchFamily="34" charset="0"/>
        </a:defRPr>
      </a:lvl3pPr>
      <a:lvl4pPr marL="1600200" indent="-228600" algn="l" defTabSz="457200" rtl="0" eaLnBrk="1" latinLnBrk="0" hangingPunct="1">
        <a:spcBef>
          <a:spcPct val="20000"/>
        </a:spcBef>
        <a:buFont typeface="Arial"/>
        <a:buChar char="–"/>
        <a:defRPr sz="1400" kern="1200">
          <a:solidFill>
            <a:schemeClr val="tx1"/>
          </a:solidFill>
          <a:latin typeface="Arial Narrow"/>
          <a:ea typeface="+mn-ea"/>
          <a:cs typeface="Arial Narrow"/>
        </a:defRPr>
      </a:lvl4pPr>
      <a:lvl5pPr marL="2057400" indent="-228600" algn="l" defTabSz="457200" rtl="0" eaLnBrk="1" latinLnBrk="0" hangingPunct="1">
        <a:spcBef>
          <a:spcPct val="20000"/>
        </a:spcBef>
        <a:buFont typeface="Arial"/>
        <a:buChar char="»"/>
        <a:defRPr sz="1400" kern="1200">
          <a:solidFill>
            <a:schemeClr val="tx1"/>
          </a:solidFill>
          <a:latin typeface="Arial Narrow"/>
          <a:ea typeface="+mn-ea"/>
          <a:cs typeface="Arial Narrow"/>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1.xml"/><Relationship Id="rId4" Type="http://schemas.openxmlformats.org/officeDocument/2006/relationships/image" Target="../media/image15.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svg"/><Relationship Id="rId7" Type="http://schemas.openxmlformats.org/officeDocument/2006/relationships/image" Target="../media/image21.svg"/><Relationship Id="rId2" Type="http://schemas.openxmlformats.org/officeDocument/2006/relationships/image" Target="../media/image16.png"/><Relationship Id="rId1" Type="http://schemas.openxmlformats.org/officeDocument/2006/relationships/slideLayout" Target="../slideLayouts/slideLayout11.xml"/><Relationship Id="rId6" Type="http://schemas.openxmlformats.org/officeDocument/2006/relationships/image" Target="../media/image20.png"/><Relationship Id="rId5" Type="http://schemas.openxmlformats.org/officeDocument/2006/relationships/image" Target="../media/image19.svg"/><Relationship Id="rId4" Type="http://schemas.openxmlformats.org/officeDocument/2006/relationships/image" Target="../media/image18.png"/><Relationship Id="rId9" Type="http://schemas.openxmlformats.org/officeDocument/2006/relationships/image" Target="../media/image23.svg"/></Relationships>
</file>

<file path=ppt/slides/_rels/slide5.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svg"/><Relationship Id="rId7" Type="http://schemas.openxmlformats.org/officeDocument/2006/relationships/image" Target="../media/image29.svg"/><Relationship Id="rId2" Type="http://schemas.openxmlformats.org/officeDocument/2006/relationships/image" Target="../media/image24.png"/><Relationship Id="rId1" Type="http://schemas.openxmlformats.org/officeDocument/2006/relationships/slideLayout" Target="../slideLayouts/slideLayout9.xml"/><Relationship Id="rId6" Type="http://schemas.openxmlformats.org/officeDocument/2006/relationships/image" Target="../media/image28.png"/><Relationship Id="rId5" Type="http://schemas.openxmlformats.org/officeDocument/2006/relationships/image" Target="../media/image27.svg"/><Relationship Id="rId4" Type="http://schemas.openxmlformats.org/officeDocument/2006/relationships/image" Target="../media/image26.png"/><Relationship Id="rId9" Type="http://schemas.openxmlformats.org/officeDocument/2006/relationships/image" Target="../media/image31.svg"/></Relationships>
</file>

<file path=ppt/slides/_rels/slide6.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svg"/><Relationship Id="rId7" Type="http://schemas.openxmlformats.org/officeDocument/2006/relationships/image" Target="../media/image29.svg"/><Relationship Id="rId2" Type="http://schemas.openxmlformats.org/officeDocument/2006/relationships/image" Target="../media/image24.png"/><Relationship Id="rId1" Type="http://schemas.openxmlformats.org/officeDocument/2006/relationships/slideLayout" Target="../slideLayouts/slideLayout11.xml"/><Relationship Id="rId6" Type="http://schemas.openxmlformats.org/officeDocument/2006/relationships/image" Target="../media/image28.png"/><Relationship Id="rId11" Type="http://schemas.openxmlformats.org/officeDocument/2006/relationships/image" Target="../media/image33.svg"/><Relationship Id="rId5" Type="http://schemas.openxmlformats.org/officeDocument/2006/relationships/image" Target="../media/image27.svg"/><Relationship Id="rId10" Type="http://schemas.openxmlformats.org/officeDocument/2006/relationships/image" Target="../media/image32.png"/><Relationship Id="rId4" Type="http://schemas.openxmlformats.org/officeDocument/2006/relationships/image" Target="../media/image26.png"/><Relationship Id="rId9" Type="http://schemas.openxmlformats.org/officeDocument/2006/relationships/image" Target="../media/image31.svg"/></Relationships>
</file>

<file path=ppt/slides/_rels/slide7.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svg"/><Relationship Id="rId7" Type="http://schemas.openxmlformats.org/officeDocument/2006/relationships/image" Target="../media/image29.svg"/><Relationship Id="rId2" Type="http://schemas.openxmlformats.org/officeDocument/2006/relationships/image" Target="../media/image24.png"/><Relationship Id="rId1" Type="http://schemas.openxmlformats.org/officeDocument/2006/relationships/slideLayout" Target="../slideLayouts/slideLayout11.xml"/><Relationship Id="rId6" Type="http://schemas.openxmlformats.org/officeDocument/2006/relationships/image" Target="../media/image28.png"/><Relationship Id="rId11" Type="http://schemas.openxmlformats.org/officeDocument/2006/relationships/image" Target="../media/image33.svg"/><Relationship Id="rId5" Type="http://schemas.openxmlformats.org/officeDocument/2006/relationships/image" Target="../media/image27.svg"/><Relationship Id="rId10" Type="http://schemas.openxmlformats.org/officeDocument/2006/relationships/image" Target="../media/image32.png"/><Relationship Id="rId4" Type="http://schemas.openxmlformats.org/officeDocument/2006/relationships/image" Target="../media/image26.png"/><Relationship Id="rId9" Type="http://schemas.openxmlformats.org/officeDocument/2006/relationships/image" Target="../media/image31.svg"/></Relationships>
</file>

<file path=ppt/slides/_rels/slide8.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svg"/><Relationship Id="rId7" Type="http://schemas.openxmlformats.org/officeDocument/2006/relationships/image" Target="../media/image29.svg"/><Relationship Id="rId2" Type="http://schemas.openxmlformats.org/officeDocument/2006/relationships/image" Target="../media/image24.png"/><Relationship Id="rId1" Type="http://schemas.openxmlformats.org/officeDocument/2006/relationships/slideLayout" Target="../slideLayouts/slideLayout11.xml"/><Relationship Id="rId6" Type="http://schemas.openxmlformats.org/officeDocument/2006/relationships/image" Target="../media/image28.png"/><Relationship Id="rId5" Type="http://schemas.openxmlformats.org/officeDocument/2006/relationships/image" Target="../media/image27.svg"/><Relationship Id="rId4" Type="http://schemas.openxmlformats.org/officeDocument/2006/relationships/image" Target="../media/image26.png"/><Relationship Id="rId9" Type="http://schemas.openxmlformats.org/officeDocument/2006/relationships/image" Target="../media/image31.svg"/></Relationships>
</file>

<file path=ppt/slides/_rels/slide9.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37.png"/><Relationship Id="rId3" Type="http://schemas.openxmlformats.org/officeDocument/2006/relationships/image" Target="../media/image25.svg"/><Relationship Id="rId7" Type="http://schemas.openxmlformats.org/officeDocument/2006/relationships/image" Target="../media/image29.svg"/><Relationship Id="rId12" Type="http://schemas.openxmlformats.org/officeDocument/2006/relationships/image" Target="../media/image36.png"/><Relationship Id="rId2" Type="http://schemas.openxmlformats.org/officeDocument/2006/relationships/image" Target="../media/image24.png"/><Relationship Id="rId1" Type="http://schemas.openxmlformats.org/officeDocument/2006/relationships/slideLayout" Target="../slideLayouts/slideLayout11.xml"/><Relationship Id="rId6" Type="http://schemas.openxmlformats.org/officeDocument/2006/relationships/image" Target="../media/image28.png"/><Relationship Id="rId11" Type="http://schemas.openxmlformats.org/officeDocument/2006/relationships/image" Target="../media/image35.svg"/><Relationship Id="rId5" Type="http://schemas.openxmlformats.org/officeDocument/2006/relationships/image" Target="../media/image27.svg"/><Relationship Id="rId10" Type="http://schemas.openxmlformats.org/officeDocument/2006/relationships/image" Target="../media/image34.png"/><Relationship Id="rId4" Type="http://schemas.openxmlformats.org/officeDocument/2006/relationships/image" Target="../media/image26.png"/><Relationship Id="rId9" Type="http://schemas.openxmlformats.org/officeDocument/2006/relationships/image" Target="../media/image31.svg"/><Relationship Id="rId14" Type="http://schemas.openxmlformats.org/officeDocument/2006/relationships/image" Target="../media/image38.png"/></Relationships>
</file>

<file path=ppt/slides/_rels/slide10.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svg"/><Relationship Id="rId7" Type="http://schemas.openxmlformats.org/officeDocument/2006/relationships/image" Target="../media/image29.svg"/><Relationship Id="rId2" Type="http://schemas.openxmlformats.org/officeDocument/2006/relationships/image" Target="../media/image24.png"/><Relationship Id="rId1" Type="http://schemas.openxmlformats.org/officeDocument/2006/relationships/slideLayout" Target="../slideLayouts/slideLayout11.xml"/><Relationship Id="rId6" Type="http://schemas.openxmlformats.org/officeDocument/2006/relationships/image" Target="../media/image28.png"/><Relationship Id="rId5" Type="http://schemas.openxmlformats.org/officeDocument/2006/relationships/image" Target="../media/image27.svg"/><Relationship Id="rId4" Type="http://schemas.openxmlformats.org/officeDocument/2006/relationships/image" Target="../media/image26.png"/><Relationship Id="rId9" Type="http://schemas.openxmlformats.org/officeDocument/2006/relationships/image" Target="../media/image31.svg"/></Relationships>
</file>

<file path=ppt/slides/_rels/slide11.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svg"/><Relationship Id="rId7" Type="http://schemas.openxmlformats.org/officeDocument/2006/relationships/image" Target="../media/image29.svg"/><Relationship Id="rId2" Type="http://schemas.openxmlformats.org/officeDocument/2006/relationships/image" Target="../media/image24.png"/><Relationship Id="rId1" Type="http://schemas.openxmlformats.org/officeDocument/2006/relationships/slideLayout" Target="../slideLayouts/slideLayout11.xml"/><Relationship Id="rId6" Type="http://schemas.openxmlformats.org/officeDocument/2006/relationships/image" Target="../media/image28.png"/><Relationship Id="rId5" Type="http://schemas.openxmlformats.org/officeDocument/2006/relationships/image" Target="../media/image27.svg"/><Relationship Id="rId4" Type="http://schemas.openxmlformats.org/officeDocument/2006/relationships/image" Target="../media/image26.png"/><Relationship Id="rId9" Type="http://schemas.openxmlformats.org/officeDocument/2006/relationships/image" Target="../media/image31.svg"/></Relationships>
</file>

<file path=ppt/slides/_rels/slide12.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svg"/><Relationship Id="rId7" Type="http://schemas.openxmlformats.org/officeDocument/2006/relationships/image" Target="../media/image29.svg"/><Relationship Id="rId2" Type="http://schemas.openxmlformats.org/officeDocument/2006/relationships/image" Target="../media/image24.png"/><Relationship Id="rId1" Type="http://schemas.openxmlformats.org/officeDocument/2006/relationships/slideLayout" Target="../slideLayouts/slideLayout11.xml"/><Relationship Id="rId6" Type="http://schemas.openxmlformats.org/officeDocument/2006/relationships/image" Target="../media/image28.png"/><Relationship Id="rId5" Type="http://schemas.openxmlformats.org/officeDocument/2006/relationships/image" Target="../media/image27.svg"/><Relationship Id="rId4" Type="http://schemas.openxmlformats.org/officeDocument/2006/relationships/image" Target="../media/image26.png"/><Relationship Id="rId9" Type="http://schemas.openxmlformats.org/officeDocument/2006/relationships/image" Target="../media/image31.svg"/></Relationships>
</file>

<file path=ppt/slides/_rels/slide13.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svg"/><Relationship Id="rId7" Type="http://schemas.openxmlformats.org/officeDocument/2006/relationships/image" Target="../media/image29.svg"/><Relationship Id="rId2" Type="http://schemas.openxmlformats.org/officeDocument/2006/relationships/image" Target="../media/image24.png"/><Relationship Id="rId1" Type="http://schemas.openxmlformats.org/officeDocument/2006/relationships/slideLayout" Target="../slideLayouts/slideLayout11.xml"/><Relationship Id="rId6" Type="http://schemas.openxmlformats.org/officeDocument/2006/relationships/image" Target="../media/image28.png"/><Relationship Id="rId5" Type="http://schemas.openxmlformats.org/officeDocument/2006/relationships/image" Target="../media/image27.svg"/><Relationship Id="rId4" Type="http://schemas.openxmlformats.org/officeDocument/2006/relationships/image" Target="../media/image26.png"/><Relationship Id="rId9" Type="http://schemas.openxmlformats.org/officeDocument/2006/relationships/image" Target="../media/image31.svg"/></Relationships>
</file>

<file path=ppt/slides/_rels/slide14.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svg"/><Relationship Id="rId7" Type="http://schemas.openxmlformats.org/officeDocument/2006/relationships/image" Target="../media/image29.svg"/><Relationship Id="rId2" Type="http://schemas.openxmlformats.org/officeDocument/2006/relationships/image" Target="../media/image24.png"/><Relationship Id="rId1" Type="http://schemas.openxmlformats.org/officeDocument/2006/relationships/slideLayout" Target="../slideLayouts/slideLayout11.xml"/><Relationship Id="rId6" Type="http://schemas.openxmlformats.org/officeDocument/2006/relationships/image" Target="../media/image28.png"/><Relationship Id="rId5" Type="http://schemas.openxmlformats.org/officeDocument/2006/relationships/image" Target="../media/image27.svg"/><Relationship Id="rId4" Type="http://schemas.openxmlformats.org/officeDocument/2006/relationships/image" Target="../media/image26.png"/><Relationship Id="rId9" Type="http://schemas.openxmlformats.org/officeDocument/2006/relationships/image" Target="../media/image31.svg"/></Relationships>
</file>

<file path=ppt/slides/_rels/slide15.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32.png"/><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914399" y="3424964"/>
            <a:ext cx="10524511" cy="1870049"/>
          </a:xfrm>
        </p:spPr>
        <p:txBody>
          <a:bodyPr>
            <a:normAutofit fontScale="90000"/>
          </a:bodyPr>
          <a:lstStyle/>
          <a:p>
            <a:r>
              <a:rPr lang="en-GB" b="1" dirty="0"/>
              <a:t>EER Assurance</a:t>
            </a:r>
            <a:br>
              <a:rPr lang="en-GB" dirty="0"/>
            </a:br>
            <a:br>
              <a:rPr lang="en-GB" dirty="0"/>
            </a:br>
            <a:r>
              <a:rPr lang="en-GB" dirty="0"/>
              <a:t>Presentation of Issues and Project Update</a:t>
            </a:r>
            <a:br>
              <a:rPr lang="en-GB" dirty="0"/>
            </a:br>
            <a:r>
              <a:rPr lang="en-GB" dirty="0"/>
              <a:t>June 2018</a:t>
            </a:r>
            <a:endParaRPr lang="en-US" dirty="0"/>
          </a:p>
        </p:txBody>
      </p:sp>
      <p:sp>
        <p:nvSpPr>
          <p:cNvPr id="5" name="Subtitle 4"/>
          <p:cNvSpPr>
            <a:spLocks noGrp="1"/>
          </p:cNvSpPr>
          <p:nvPr>
            <p:ph type="subTitle" idx="1"/>
          </p:nvPr>
        </p:nvSpPr>
        <p:spPr/>
        <p:txBody>
          <a:bodyPr/>
          <a:lstStyle/>
          <a:p>
            <a:r>
              <a:rPr lang="en-GB" dirty="0"/>
              <a:t>June 19 &amp; 20, 2018</a:t>
            </a:r>
            <a:endParaRPr lang="en-US" dirty="0"/>
          </a:p>
        </p:txBody>
      </p:sp>
      <p:sp>
        <p:nvSpPr>
          <p:cNvPr id="6" name="Text Box 11">
            <a:extLst>
              <a:ext uri="{FF2B5EF4-FFF2-40B4-BE49-F238E27FC236}">
                <a16:creationId xmlns:a16="http://schemas.microsoft.com/office/drawing/2014/main" id="{C367BDE0-87FA-4305-8A4C-18E2848FF4D5}"/>
              </a:ext>
            </a:extLst>
          </p:cNvPr>
          <p:cNvSpPr txBox="1"/>
          <p:nvPr/>
        </p:nvSpPr>
        <p:spPr>
          <a:xfrm>
            <a:off x="9139458" y="3424965"/>
            <a:ext cx="1781175" cy="981075"/>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GB" sz="1800" b="1" dirty="0">
                <a:effectLst/>
                <a:latin typeface="Arial" panose="020B0604020202020204" pitchFamily="34" charset="0"/>
                <a:ea typeface="Calibri" panose="020F0502020204030204" pitchFamily="34" charset="0"/>
                <a:cs typeface="Times New Roman" panose="02020603050405020304" pitchFamily="18" charset="0"/>
              </a:rPr>
              <a:t>Agenda Item</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GB" sz="3600" b="1" dirty="0">
                <a:effectLst/>
                <a:latin typeface="Arial" panose="020B0604020202020204" pitchFamily="34" charset="0"/>
                <a:ea typeface="Calibri" panose="020F0502020204030204" pitchFamily="34" charset="0"/>
                <a:cs typeface="Times New Roman" panose="02020603050405020304" pitchFamily="18" charset="0"/>
              </a:rPr>
              <a:t>4</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5340334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8000" y="560717"/>
            <a:ext cx="10058400" cy="533400"/>
          </a:xfrm>
        </p:spPr>
        <p:txBody>
          <a:bodyPr/>
          <a:lstStyle/>
          <a:p>
            <a:r>
              <a:rPr lang="en-GB" dirty="0"/>
              <a:t>Recap of March update</a:t>
            </a:r>
          </a:p>
        </p:txBody>
      </p:sp>
      <p:sp>
        <p:nvSpPr>
          <p:cNvPr id="3" name="Content Placeholder 2"/>
          <p:cNvSpPr>
            <a:spLocks noGrp="1"/>
          </p:cNvSpPr>
          <p:nvPr>
            <p:ph idx="1"/>
          </p:nvPr>
        </p:nvSpPr>
        <p:spPr>
          <a:xfrm>
            <a:off x="609600" y="1600201"/>
            <a:ext cx="8757684" cy="4251569"/>
          </a:xfrm>
        </p:spPr>
        <p:txBody>
          <a:bodyPr/>
          <a:lstStyle/>
          <a:p>
            <a:r>
              <a:rPr lang="en-GB" dirty="0">
                <a:solidFill>
                  <a:schemeClr val="bg1">
                    <a:lumMod val="50000"/>
                  </a:schemeClr>
                </a:solidFill>
              </a:rPr>
              <a:t>Understanding contextual background of reporting frameworks</a:t>
            </a:r>
          </a:p>
          <a:p>
            <a:r>
              <a:rPr lang="en-GB" dirty="0">
                <a:solidFill>
                  <a:schemeClr val="bg1">
                    <a:lumMod val="50000"/>
                  </a:schemeClr>
                </a:solidFill>
              </a:rPr>
              <a:t>Introduction to work begun on Challenge 3 (Materiality)</a:t>
            </a:r>
          </a:p>
          <a:p>
            <a:r>
              <a:rPr lang="en-GB" dirty="0">
                <a:solidFill>
                  <a:schemeClr val="bg1">
                    <a:lumMod val="50000"/>
                  </a:schemeClr>
                </a:solidFill>
              </a:rPr>
              <a:t>Update on project planning, research and outreach</a:t>
            </a:r>
          </a:p>
          <a:p>
            <a:endParaRPr lang="en-GB" dirty="0">
              <a:solidFill>
                <a:schemeClr val="bg1">
                  <a:lumMod val="50000"/>
                </a:schemeClr>
              </a:solidFill>
            </a:endParaRPr>
          </a:p>
        </p:txBody>
      </p:sp>
      <p:sp>
        <p:nvSpPr>
          <p:cNvPr id="4" name="Subtitle 3"/>
          <p:cNvSpPr>
            <a:spLocks noGrp="1"/>
          </p:cNvSpPr>
          <p:nvPr>
            <p:ph type="subTitle" idx="10"/>
          </p:nvPr>
        </p:nvSpPr>
        <p:spPr/>
        <p:txBody>
          <a:bodyPr/>
          <a:lstStyle/>
          <a:p>
            <a:endParaRPr lang="en-GB"/>
          </a:p>
        </p:txBody>
      </p:sp>
      <p:sp>
        <p:nvSpPr>
          <p:cNvPr id="6" name="Slide Number Placeholder 3">
            <a:extLst>
              <a:ext uri="{FF2B5EF4-FFF2-40B4-BE49-F238E27FC236}">
                <a16:creationId xmlns:a16="http://schemas.microsoft.com/office/drawing/2014/main" id="{9AA0D5D3-0FF2-4A99-9880-6FBEC2F02D9E}"/>
              </a:ext>
            </a:extLst>
          </p:cNvPr>
          <p:cNvSpPr>
            <a:spLocks noGrp="1"/>
          </p:cNvSpPr>
          <p:nvPr>
            <p:ph type="sldNum" sz="quarter" idx="12"/>
          </p:nvPr>
        </p:nvSpPr>
        <p:spPr>
          <a:xfrm>
            <a:off x="7905136" y="6511060"/>
            <a:ext cx="3677264" cy="304412"/>
          </a:xfrm>
        </p:spPr>
        <p:txBody>
          <a:body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2</a:t>
            </a:fld>
            <a:endParaRPr lang="en-US" dirty="0">
              <a:latin typeface="Arial" panose="020B0604020202020204" pitchFamily="34" charset="0"/>
              <a:cs typeface="MS PGothic" charset="0"/>
            </a:endParaRPr>
          </a:p>
        </p:txBody>
      </p:sp>
      <p:pic>
        <p:nvPicPr>
          <p:cNvPr id="7" name="Picture 6">
            <a:extLst>
              <a:ext uri="{FF2B5EF4-FFF2-40B4-BE49-F238E27FC236}">
                <a16:creationId xmlns:a16="http://schemas.microsoft.com/office/drawing/2014/main" id="{74A9A9D8-89E9-4126-B93E-821E6A8664DA}"/>
              </a:ext>
            </a:extLst>
          </p:cNvPr>
          <p:cNvPicPr>
            <a:picLocks noChangeAspect="1"/>
          </p:cNvPicPr>
          <p:nvPr/>
        </p:nvPicPr>
        <p:blipFill>
          <a:blip r:embed="rId2"/>
          <a:stretch>
            <a:fillRect/>
          </a:stretch>
        </p:blipFill>
        <p:spPr>
          <a:xfrm>
            <a:off x="609600" y="3596942"/>
            <a:ext cx="3071812" cy="1722982"/>
          </a:xfrm>
          <a:prstGeom prst="rect">
            <a:avLst/>
          </a:prstGeom>
          <a:ln>
            <a:noFill/>
          </a:ln>
          <a:effectLst>
            <a:outerShdw blurRad="292100" dist="139700" dir="2700000" algn="tl" rotWithShape="0">
              <a:srgbClr val="333333">
                <a:alpha val="65000"/>
              </a:srgbClr>
            </a:outerShdw>
          </a:effectLst>
        </p:spPr>
      </p:pic>
      <p:pic>
        <p:nvPicPr>
          <p:cNvPr id="8" name="Picture 7">
            <a:extLst>
              <a:ext uri="{FF2B5EF4-FFF2-40B4-BE49-F238E27FC236}">
                <a16:creationId xmlns:a16="http://schemas.microsoft.com/office/drawing/2014/main" id="{478B2EA2-6AAE-4D5D-BDC8-076DD80D38BD}"/>
              </a:ext>
            </a:extLst>
          </p:cNvPr>
          <p:cNvPicPr>
            <a:picLocks noChangeAspect="1"/>
          </p:cNvPicPr>
          <p:nvPr/>
        </p:nvPicPr>
        <p:blipFill>
          <a:blip r:embed="rId3"/>
          <a:stretch>
            <a:fillRect/>
          </a:stretch>
        </p:blipFill>
        <p:spPr>
          <a:xfrm>
            <a:off x="4306485" y="3596943"/>
            <a:ext cx="3068667" cy="1722981"/>
          </a:xfrm>
          <a:prstGeom prst="rect">
            <a:avLst/>
          </a:prstGeom>
          <a:ln>
            <a:noFill/>
          </a:ln>
          <a:effectLst>
            <a:outerShdw blurRad="292100" dist="139700" dir="2700000" algn="tl" rotWithShape="0">
              <a:srgbClr val="333333">
                <a:alpha val="65000"/>
              </a:srgbClr>
            </a:outerShdw>
          </a:effectLst>
        </p:spPr>
      </p:pic>
      <p:pic>
        <p:nvPicPr>
          <p:cNvPr id="9" name="Picture 8">
            <a:extLst>
              <a:ext uri="{FF2B5EF4-FFF2-40B4-BE49-F238E27FC236}">
                <a16:creationId xmlns:a16="http://schemas.microsoft.com/office/drawing/2014/main" id="{6E4D6D9B-4B4F-4D91-A358-E41157F5406F}"/>
              </a:ext>
            </a:extLst>
          </p:cNvPr>
          <p:cNvPicPr>
            <a:picLocks noChangeAspect="1"/>
          </p:cNvPicPr>
          <p:nvPr/>
        </p:nvPicPr>
        <p:blipFill>
          <a:blip r:embed="rId4"/>
          <a:stretch>
            <a:fillRect/>
          </a:stretch>
        </p:blipFill>
        <p:spPr>
          <a:xfrm>
            <a:off x="8000225" y="3596942"/>
            <a:ext cx="3076752" cy="172298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547253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Agenda</a:t>
            </a:r>
            <a:endParaRPr lang="en-US" dirty="0"/>
          </a:p>
        </p:txBody>
      </p:sp>
      <p:sp>
        <p:nvSpPr>
          <p:cNvPr id="53" name="Slide Number Placeholder 52"/>
          <p:cNvSpPr>
            <a:spLocks noGrp="1"/>
          </p:cNvSpPr>
          <p:nvPr>
            <p:ph type="sldNum" sz="quarter" idx="12"/>
          </p:nvPr>
        </p:nvSpPr>
        <p:spPr/>
        <p:txBody>
          <a:bodyPr/>
          <a:lstStyle/>
          <a:p>
            <a:r>
              <a:rPr lang="en-US" dirty="0">
                <a:latin typeface="Arial" panose="020B0604020202020204" pitchFamily="34" charset="0"/>
                <a:cs typeface="Arial" panose="020B0604020202020204" pitchFamily="34" charset="0"/>
              </a:rPr>
              <a:t>Page </a:t>
            </a:r>
            <a:fld id="{95158037-59F0-9C4B-B231-1C776117AADA}" type="slidenum">
              <a:rPr lang="en-US" smtClean="0">
                <a:latin typeface="Arial" panose="020B0604020202020204" pitchFamily="34" charset="0"/>
                <a:cs typeface="Arial" panose="020B0604020202020204" pitchFamily="34" charset="0"/>
              </a:rPr>
              <a:pPr/>
              <a:t>3</a:t>
            </a:fld>
            <a:endParaRPr lang="en-US" dirty="0">
              <a:latin typeface="Arial" panose="020B0604020202020204" pitchFamily="34" charset="0"/>
              <a:cs typeface="Arial" panose="020B0604020202020204" pitchFamily="34" charset="0"/>
            </a:endParaRPr>
          </a:p>
        </p:txBody>
      </p:sp>
      <p:grpSp>
        <p:nvGrpSpPr>
          <p:cNvPr id="19" name="Group 18">
            <a:extLst>
              <a:ext uri="{FF2B5EF4-FFF2-40B4-BE49-F238E27FC236}">
                <a16:creationId xmlns:a16="http://schemas.microsoft.com/office/drawing/2014/main" id="{E0177B81-32FD-45CB-9F97-E78E13F121FD}"/>
              </a:ext>
            </a:extLst>
          </p:cNvPr>
          <p:cNvGrpSpPr/>
          <p:nvPr/>
        </p:nvGrpSpPr>
        <p:grpSpPr>
          <a:xfrm>
            <a:off x="3703052" y="1811843"/>
            <a:ext cx="7060641" cy="4009572"/>
            <a:chOff x="3748742" y="2113118"/>
            <a:chExt cx="7060641" cy="4009572"/>
          </a:xfrm>
        </p:grpSpPr>
        <p:cxnSp>
          <p:nvCxnSpPr>
            <p:cNvPr id="20" name="Straight Arrow Connector 19">
              <a:extLst>
                <a:ext uri="{FF2B5EF4-FFF2-40B4-BE49-F238E27FC236}">
                  <a16:creationId xmlns:a16="http://schemas.microsoft.com/office/drawing/2014/main" id="{36DAD601-C3CC-4509-AE9F-2B3C9C74C1E3}"/>
                </a:ext>
              </a:extLst>
            </p:cNvPr>
            <p:cNvCxnSpPr/>
            <p:nvPr/>
          </p:nvCxnSpPr>
          <p:spPr>
            <a:xfrm flipV="1">
              <a:off x="3748742" y="4078455"/>
              <a:ext cx="7060641" cy="52103"/>
            </a:xfrm>
            <a:prstGeom prst="straightConnector1">
              <a:avLst/>
            </a:prstGeom>
            <a:ln w="76200">
              <a:solidFill>
                <a:schemeClr val="bg1">
                  <a:lumMod val="50000"/>
                </a:schemeClr>
              </a:solidFill>
              <a:headEnd type="triangle"/>
              <a:tailEnd type="triangle"/>
            </a:ln>
          </p:spPr>
          <p:style>
            <a:lnRef idx="3">
              <a:schemeClr val="accent4"/>
            </a:lnRef>
            <a:fillRef idx="0">
              <a:schemeClr val="accent4"/>
            </a:fillRef>
            <a:effectRef idx="2">
              <a:schemeClr val="accent4"/>
            </a:effectRef>
            <a:fontRef idx="minor">
              <a:schemeClr val="tx1"/>
            </a:fontRef>
          </p:style>
        </p:cxnSp>
        <p:sp>
          <p:nvSpPr>
            <p:cNvPr id="22" name="Rectangle 21">
              <a:extLst>
                <a:ext uri="{FF2B5EF4-FFF2-40B4-BE49-F238E27FC236}">
                  <a16:creationId xmlns:a16="http://schemas.microsoft.com/office/drawing/2014/main" id="{9258D6E6-F674-4802-B033-DD080E0C6120}"/>
                </a:ext>
              </a:extLst>
            </p:cNvPr>
            <p:cNvSpPr/>
            <p:nvPr/>
          </p:nvSpPr>
          <p:spPr>
            <a:xfrm>
              <a:off x="4091975" y="5354766"/>
              <a:ext cx="6370990" cy="341087"/>
            </a:xfrm>
            <a:prstGeom prst="rect">
              <a:avLst/>
            </a:prstGeom>
            <a:gradFill>
              <a:gsLst>
                <a:gs pos="0">
                  <a:schemeClr val="bg1">
                    <a:lumMod val="85000"/>
                  </a:schemeClr>
                </a:gs>
                <a:gs pos="100000">
                  <a:schemeClr val="bg1"/>
                </a:gs>
              </a:gsLst>
            </a:gradFill>
            <a:ln>
              <a:solidFill>
                <a:schemeClr val="tx1"/>
              </a:solidFill>
            </a:ln>
            <a:scene3d>
              <a:camera prst="orthographicFront"/>
              <a:lightRig rig="threePt" dir="t"/>
            </a:scene3d>
            <a:sp3d>
              <a:bevelT/>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400" dirty="0">
                  <a:solidFill>
                    <a:sysClr val="windowText" lastClr="000000"/>
                  </a:solidFill>
                  <a:latin typeface="Arial" panose="020B0604020202020204" pitchFamily="34" charset="0"/>
                  <a:cs typeface="Arial" panose="020B0604020202020204" pitchFamily="34" charset="0"/>
                </a:rPr>
                <a:t>Exercising Professional </a:t>
              </a:r>
              <a:r>
                <a:rPr lang="en-GB" sz="1400" dirty="0" err="1">
                  <a:solidFill>
                    <a:sysClr val="windowText" lastClr="000000"/>
                  </a:solidFill>
                  <a:latin typeface="Arial" panose="020B0604020202020204" pitchFamily="34" charset="0"/>
                  <a:cs typeface="Arial" panose="020B0604020202020204" pitchFamily="34" charset="0"/>
                </a:rPr>
                <a:t>Skepticism</a:t>
              </a:r>
              <a:r>
                <a:rPr lang="en-GB" sz="1400" dirty="0">
                  <a:solidFill>
                    <a:sysClr val="windowText" lastClr="000000"/>
                  </a:solidFill>
                  <a:latin typeface="Arial" panose="020B0604020202020204" pitchFamily="34" charset="0"/>
                  <a:cs typeface="Arial" panose="020B0604020202020204" pitchFamily="34" charset="0"/>
                </a:rPr>
                <a:t> and Professional </a:t>
              </a:r>
              <a:r>
                <a:rPr lang="en-GB" sz="1400">
                  <a:solidFill>
                    <a:sysClr val="windowText" lastClr="000000"/>
                  </a:solidFill>
                  <a:latin typeface="Arial" panose="020B0604020202020204" pitchFamily="34" charset="0"/>
                  <a:cs typeface="Arial" panose="020B0604020202020204" pitchFamily="34" charset="0"/>
                </a:rPr>
                <a:t>Judgment </a:t>
              </a:r>
              <a:r>
                <a:rPr lang="en-GB" sz="1400">
                  <a:solidFill>
                    <a:sysClr val="windowText" lastClr="000000"/>
                  </a:solidFill>
                  <a:latin typeface="Arial" panose="020B0604020202020204" pitchFamily="34" charset="0"/>
                  <a:cs typeface="Arial" panose="020B0604020202020204" pitchFamily="34" charset="0"/>
                  <a:sym typeface="Wingdings" panose="05000000000000000000" pitchFamily="2" charset="2"/>
                </a:rPr>
                <a:t></a:t>
              </a:r>
              <a:endParaRPr lang="en-US" sz="1400" dirty="0">
                <a:solidFill>
                  <a:sysClr val="windowText" lastClr="000000"/>
                </a:solidFill>
                <a:latin typeface="Arial" panose="020B0604020202020204" pitchFamily="34" charset="0"/>
                <a:cs typeface="Arial" panose="020B0604020202020204" pitchFamily="34" charset="0"/>
              </a:endParaRPr>
            </a:p>
          </p:txBody>
        </p:sp>
        <p:sp>
          <p:nvSpPr>
            <p:cNvPr id="23" name="Rectangle 22">
              <a:extLst>
                <a:ext uri="{FF2B5EF4-FFF2-40B4-BE49-F238E27FC236}">
                  <a16:creationId xmlns:a16="http://schemas.microsoft.com/office/drawing/2014/main" id="{09F58400-DCC6-4E42-8AB4-EEDB5C311AB6}"/>
                </a:ext>
              </a:extLst>
            </p:cNvPr>
            <p:cNvSpPr/>
            <p:nvPr/>
          </p:nvSpPr>
          <p:spPr>
            <a:xfrm>
              <a:off x="5397536" y="3356030"/>
              <a:ext cx="1082573" cy="1463641"/>
            </a:xfrm>
            <a:prstGeom prst="rect">
              <a:avLst/>
            </a:prstGeom>
            <a:ln>
              <a:solidFill>
                <a:schemeClr val="tx1"/>
              </a:solidFill>
            </a:ln>
            <a:scene3d>
              <a:camera prst="orthographicFront"/>
              <a:lightRig rig="threePt" dir="t"/>
            </a:scene3d>
            <a:sp3d>
              <a:bevelT/>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n-GB" dirty="0">
                  <a:latin typeface="Arial" panose="020B0604020202020204" pitchFamily="34" charset="0"/>
                  <a:cs typeface="Arial" panose="020B0604020202020204" pitchFamily="34" charset="0"/>
                  <a:sym typeface="Wingdings" panose="05000000000000000000" pitchFamily="2" charset="2"/>
                </a:rPr>
                <a:t></a:t>
              </a:r>
              <a:r>
                <a:rPr lang="en-US" sz="1200" dirty="0">
                  <a:latin typeface="Arial" panose="020B0604020202020204" pitchFamily="34" charset="0"/>
                  <a:cs typeface="Arial" panose="020B0604020202020204" pitchFamily="34" charset="0"/>
                  <a:sym typeface="Wingdings" panose="05000000000000000000" pitchFamily="2" charset="2"/>
                </a:rPr>
                <a:t> </a:t>
              </a:r>
              <a:br>
                <a:rPr lang="en-US" sz="1200" dirty="0">
                  <a:latin typeface="Arial" panose="020B0604020202020204" pitchFamily="34" charset="0"/>
                  <a:cs typeface="Arial" panose="020B0604020202020204" pitchFamily="34" charset="0"/>
                  <a:sym typeface="Wingdings" panose="05000000000000000000" pitchFamily="2" charset="2"/>
                </a:rPr>
              </a:br>
              <a:r>
                <a:rPr lang="en-GB" sz="1200" dirty="0">
                  <a:latin typeface="Arial" panose="020B0604020202020204" pitchFamily="34" charset="0"/>
                  <a:cs typeface="Arial" panose="020B0604020202020204" pitchFamily="34" charset="0"/>
                </a:rPr>
                <a:t>Applying Materiality</a:t>
              </a:r>
              <a:endParaRPr lang="en-US" sz="1200" dirty="0">
                <a:latin typeface="Arial" panose="020B0604020202020204" pitchFamily="34" charset="0"/>
                <a:cs typeface="Arial" panose="020B0604020202020204" pitchFamily="34" charset="0"/>
              </a:endParaRPr>
            </a:p>
          </p:txBody>
        </p:sp>
        <p:sp>
          <p:nvSpPr>
            <p:cNvPr id="25" name="Rectangle 24">
              <a:extLst>
                <a:ext uri="{FF2B5EF4-FFF2-40B4-BE49-F238E27FC236}">
                  <a16:creationId xmlns:a16="http://schemas.microsoft.com/office/drawing/2014/main" id="{CAC260D9-5114-4401-ABC4-7224D2C81819}"/>
                </a:ext>
              </a:extLst>
            </p:cNvPr>
            <p:cNvSpPr/>
            <p:nvPr/>
          </p:nvSpPr>
          <p:spPr>
            <a:xfrm>
              <a:off x="4091975" y="3356030"/>
              <a:ext cx="1082573" cy="1463641"/>
            </a:xfrm>
            <a:prstGeom prst="rect">
              <a:avLst/>
            </a:prstGeom>
            <a:ln>
              <a:solidFill>
                <a:schemeClr val="tx1"/>
              </a:solidFill>
            </a:ln>
            <a:scene3d>
              <a:camera prst="orthographicFront"/>
              <a:lightRig rig="threePt" dir="t"/>
            </a:scene3d>
            <a:sp3d>
              <a:bevelT/>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n-GB" dirty="0">
                  <a:latin typeface="Arial" panose="020B0604020202020204" pitchFamily="34" charset="0"/>
                  <a:cs typeface="Arial" panose="020B0604020202020204" pitchFamily="34" charset="0"/>
                  <a:sym typeface="Wingdings" panose="05000000000000000000" pitchFamily="2" charset="2"/>
                </a:rPr>
                <a:t> </a:t>
              </a:r>
              <a:br>
                <a:rPr lang="en-GB" dirty="0">
                  <a:latin typeface="Arial" panose="020B0604020202020204" pitchFamily="34" charset="0"/>
                  <a:cs typeface="Arial" panose="020B0604020202020204" pitchFamily="34" charset="0"/>
                  <a:sym typeface="Wingdings" panose="05000000000000000000" pitchFamily="2" charset="2"/>
                </a:rPr>
              </a:br>
              <a:r>
                <a:rPr lang="en-GB" sz="1200" dirty="0">
                  <a:latin typeface="Arial" panose="020B0604020202020204" pitchFamily="34" charset="0"/>
                  <a:cs typeface="Arial" panose="020B0604020202020204" pitchFamily="34" charset="0"/>
                </a:rPr>
                <a:t>Evaluating Suitability of Criteria</a:t>
              </a:r>
              <a:endParaRPr lang="en-US" dirty="0">
                <a:latin typeface="Arial" panose="020B0604020202020204" pitchFamily="34" charset="0"/>
                <a:cs typeface="Arial" panose="020B0604020202020204" pitchFamily="34" charset="0"/>
              </a:endParaRPr>
            </a:p>
          </p:txBody>
        </p:sp>
        <p:sp>
          <p:nvSpPr>
            <p:cNvPr id="27" name="Rectangle 26">
              <a:extLst>
                <a:ext uri="{FF2B5EF4-FFF2-40B4-BE49-F238E27FC236}">
                  <a16:creationId xmlns:a16="http://schemas.microsoft.com/office/drawing/2014/main" id="{11A19E86-7EA6-4CAE-B706-670B2FB5DC75}"/>
                </a:ext>
              </a:extLst>
            </p:cNvPr>
            <p:cNvSpPr/>
            <p:nvPr/>
          </p:nvSpPr>
          <p:spPr>
            <a:xfrm>
              <a:off x="6703098" y="3356030"/>
              <a:ext cx="1082573" cy="1463640"/>
            </a:xfrm>
            <a:prstGeom prst="rect">
              <a:avLst/>
            </a:prstGeom>
            <a:ln>
              <a:solidFill>
                <a:schemeClr val="tx1"/>
              </a:solidFill>
            </a:ln>
            <a:scene3d>
              <a:camera prst="orthographicFront"/>
              <a:lightRig rig="threePt" dir="t"/>
            </a:scene3d>
            <a:sp3d>
              <a:bevelT/>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n-GB" dirty="0">
                  <a:latin typeface="Arial" panose="020B0604020202020204" pitchFamily="34" charset="0"/>
                  <a:cs typeface="Arial" panose="020B0604020202020204" pitchFamily="34" charset="0"/>
                </a:rPr>
                <a:t> </a:t>
              </a:r>
              <a:r>
                <a:rPr lang="en-GB" dirty="0">
                  <a:latin typeface="Arial" panose="020B0604020202020204" pitchFamily="34" charset="0"/>
                  <a:cs typeface="Arial" panose="020B0604020202020204" pitchFamily="34" charset="0"/>
                  <a:sym typeface="Wingdings" panose="05000000000000000000" pitchFamily="2" charset="2"/>
                </a:rPr>
                <a:t></a:t>
              </a:r>
              <a:r>
                <a:rPr lang="en-US" dirty="0">
                  <a:latin typeface="Arial" panose="020B0604020202020204" pitchFamily="34" charset="0"/>
                  <a:cs typeface="Arial" panose="020B0604020202020204" pitchFamily="34" charset="0"/>
                  <a:sym typeface="Wingdings" panose="05000000000000000000" pitchFamily="2" charset="2"/>
                </a:rPr>
                <a:t> </a:t>
              </a:r>
              <a:br>
                <a:rPr lang="en-US" dirty="0">
                  <a:latin typeface="Arial" panose="020B0604020202020204" pitchFamily="34" charset="0"/>
                  <a:cs typeface="Arial" panose="020B0604020202020204" pitchFamily="34" charset="0"/>
                  <a:sym typeface="Wingdings" panose="05000000000000000000" pitchFamily="2" charset="2"/>
                </a:rPr>
              </a:br>
              <a:r>
                <a:rPr lang="en-GB" sz="1200" dirty="0">
                  <a:latin typeface="Arial" panose="020B0604020202020204" pitchFamily="34" charset="0"/>
                  <a:cs typeface="Arial" panose="020B0604020202020204" pitchFamily="34" charset="0"/>
                </a:rPr>
                <a:t>Building Assertions</a:t>
              </a:r>
              <a:endParaRPr lang="en-US" dirty="0">
                <a:latin typeface="Arial" panose="020B0604020202020204" pitchFamily="34" charset="0"/>
                <a:cs typeface="Arial" panose="020B0604020202020204" pitchFamily="34" charset="0"/>
              </a:endParaRPr>
            </a:p>
          </p:txBody>
        </p:sp>
        <p:sp>
          <p:nvSpPr>
            <p:cNvPr id="28" name="Rectangle 27">
              <a:extLst>
                <a:ext uri="{FF2B5EF4-FFF2-40B4-BE49-F238E27FC236}">
                  <a16:creationId xmlns:a16="http://schemas.microsoft.com/office/drawing/2014/main" id="{4310AA91-A491-4A4C-BCFE-46DB7D5D9FCF}"/>
                </a:ext>
              </a:extLst>
            </p:cNvPr>
            <p:cNvSpPr/>
            <p:nvPr/>
          </p:nvSpPr>
          <p:spPr>
            <a:xfrm>
              <a:off x="8041745" y="3356030"/>
              <a:ext cx="1082573" cy="1463641"/>
            </a:xfrm>
            <a:prstGeom prst="rect">
              <a:avLst/>
            </a:prstGeom>
            <a:gradFill>
              <a:gsLst>
                <a:gs pos="0">
                  <a:srgbClr val="FF4C03"/>
                </a:gs>
                <a:gs pos="100000">
                  <a:schemeClr val="bg1"/>
                </a:gs>
              </a:gsLst>
            </a:gradFill>
            <a:ln>
              <a:solidFill>
                <a:schemeClr val="tx1"/>
              </a:solidFill>
            </a:ln>
            <a:scene3d>
              <a:camera prst="orthographicFront"/>
              <a:lightRig rig="threePt" dir="t"/>
            </a:scene3d>
            <a:sp3d>
              <a:bevelT/>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n-GB" dirty="0">
                  <a:solidFill>
                    <a:schemeClr val="tx1"/>
                  </a:solidFill>
                  <a:latin typeface="Arial" panose="020B0604020202020204" pitchFamily="34" charset="0"/>
                  <a:cs typeface="Arial" panose="020B0604020202020204" pitchFamily="34" charset="0"/>
                  <a:sym typeface="Wingdings" panose="05000000000000000000" pitchFamily="2" charset="2"/>
                </a:rPr>
                <a:t></a:t>
              </a:r>
              <a:r>
                <a:rPr lang="en-US" dirty="0">
                  <a:solidFill>
                    <a:schemeClr val="tx1"/>
                  </a:solidFill>
                  <a:latin typeface="Arial" panose="020B0604020202020204" pitchFamily="34" charset="0"/>
                  <a:cs typeface="Arial" panose="020B0604020202020204" pitchFamily="34" charset="0"/>
                  <a:sym typeface="Wingdings" panose="05000000000000000000" pitchFamily="2" charset="2"/>
                </a:rPr>
                <a:t> </a:t>
              </a:r>
              <a:br>
                <a:rPr lang="en-US" dirty="0">
                  <a:solidFill>
                    <a:schemeClr val="tx1"/>
                  </a:solidFill>
                  <a:latin typeface="Arial" panose="020B0604020202020204" pitchFamily="34" charset="0"/>
                  <a:cs typeface="Arial" panose="020B0604020202020204" pitchFamily="34" charset="0"/>
                  <a:sym typeface="Wingdings" panose="05000000000000000000" pitchFamily="2" charset="2"/>
                </a:rPr>
              </a:br>
              <a:r>
                <a:rPr lang="en-GB" sz="1200" dirty="0">
                  <a:solidFill>
                    <a:schemeClr val="tx1"/>
                  </a:solidFill>
                  <a:latin typeface="Arial" panose="020B0604020202020204" pitchFamily="34" charset="0"/>
                  <a:cs typeface="Arial" panose="020B0604020202020204" pitchFamily="34" charset="0"/>
                </a:rPr>
                <a:t>Maturity in Governance &amp; Internal Control</a:t>
              </a:r>
              <a:endParaRPr lang="en-US" dirty="0">
                <a:solidFill>
                  <a:schemeClr val="tx1"/>
                </a:solidFill>
                <a:latin typeface="Arial" panose="020B0604020202020204" pitchFamily="34" charset="0"/>
                <a:cs typeface="Arial" panose="020B0604020202020204" pitchFamily="34" charset="0"/>
              </a:endParaRPr>
            </a:p>
          </p:txBody>
        </p:sp>
        <p:sp>
          <p:nvSpPr>
            <p:cNvPr id="29" name="Rectangle 28">
              <a:extLst>
                <a:ext uri="{FF2B5EF4-FFF2-40B4-BE49-F238E27FC236}">
                  <a16:creationId xmlns:a16="http://schemas.microsoft.com/office/drawing/2014/main" id="{1C77C2AB-4815-4DA2-90BC-D29C46655597}"/>
                </a:ext>
              </a:extLst>
            </p:cNvPr>
            <p:cNvSpPr/>
            <p:nvPr/>
          </p:nvSpPr>
          <p:spPr>
            <a:xfrm>
              <a:off x="4091975" y="5781603"/>
              <a:ext cx="6370990" cy="341087"/>
            </a:xfrm>
            <a:prstGeom prst="rect">
              <a:avLst/>
            </a:prstGeom>
            <a:gradFill>
              <a:gsLst>
                <a:gs pos="0">
                  <a:schemeClr val="bg1">
                    <a:lumMod val="85000"/>
                  </a:schemeClr>
                </a:gs>
                <a:gs pos="100000">
                  <a:schemeClr val="bg1"/>
                </a:gs>
              </a:gsLst>
            </a:gradFill>
            <a:ln>
              <a:solidFill>
                <a:schemeClr val="tx1"/>
              </a:solidFill>
            </a:ln>
            <a:scene3d>
              <a:camera prst="orthographicFront"/>
              <a:lightRig rig="threePt" dir="t"/>
            </a:scene3d>
            <a:sp3d>
              <a:bevelT/>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400" dirty="0">
                  <a:solidFill>
                    <a:sysClr val="windowText" lastClr="000000"/>
                  </a:solidFill>
                  <a:latin typeface="Arial" panose="020B0604020202020204" pitchFamily="34" charset="0"/>
                  <a:cs typeface="Arial" panose="020B0604020202020204" pitchFamily="34" charset="0"/>
                </a:rPr>
                <a:t>Obtaining the Competence Necessary to Perform the </a:t>
              </a:r>
              <a:r>
                <a:rPr lang="en-GB" sz="1400">
                  <a:solidFill>
                    <a:sysClr val="windowText" lastClr="000000"/>
                  </a:solidFill>
                  <a:latin typeface="Arial" panose="020B0604020202020204" pitchFamily="34" charset="0"/>
                  <a:cs typeface="Arial" panose="020B0604020202020204" pitchFamily="34" charset="0"/>
                </a:rPr>
                <a:t>Engagement </a:t>
              </a:r>
              <a:r>
                <a:rPr lang="en-GB" sz="1400">
                  <a:solidFill>
                    <a:sysClr val="windowText" lastClr="000000"/>
                  </a:solidFill>
                  <a:latin typeface="Arial" panose="020B0604020202020204" pitchFamily="34" charset="0"/>
                  <a:cs typeface="Arial" panose="020B0604020202020204" pitchFamily="34" charset="0"/>
                  <a:sym typeface="Wingdings" panose="05000000000000000000" pitchFamily="2" charset="2"/>
                </a:rPr>
                <a:t></a:t>
              </a:r>
              <a:endParaRPr lang="en-US" sz="1400" dirty="0">
                <a:solidFill>
                  <a:sysClr val="windowText" lastClr="000000"/>
                </a:solidFill>
                <a:latin typeface="Arial" panose="020B0604020202020204" pitchFamily="34" charset="0"/>
                <a:cs typeface="Arial" panose="020B0604020202020204" pitchFamily="34" charset="0"/>
              </a:endParaRPr>
            </a:p>
          </p:txBody>
        </p:sp>
        <p:sp>
          <p:nvSpPr>
            <p:cNvPr id="30" name="Isosceles Triangle 29">
              <a:extLst>
                <a:ext uri="{FF2B5EF4-FFF2-40B4-BE49-F238E27FC236}">
                  <a16:creationId xmlns:a16="http://schemas.microsoft.com/office/drawing/2014/main" id="{3ACAF2F6-DBA3-4FA0-B5FC-03513F6B0B52}"/>
                </a:ext>
              </a:extLst>
            </p:cNvPr>
            <p:cNvSpPr/>
            <p:nvPr/>
          </p:nvSpPr>
          <p:spPr>
            <a:xfrm>
              <a:off x="4091976" y="2113118"/>
              <a:ext cx="6393372" cy="1155708"/>
            </a:xfrm>
            <a:prstGeom prst="triangle">
              <a:avLst>
                <a:gd name="adj" fmla="val 49002"/>
              </a:avLst>
            </a:prstGeom>
            <a:solidFill>
              <a:schemeClr val="bg1"/>
            </a:solidFill>
            <a:ln>
              <a:solidFill>
                <a:schemeClr val="tx1"/>
              </a:solidFill>
            </a:ln>
            <a:scene3d>
              <a:camera prst="orthographicFront"/>
              <a:lightRig rig="threePt" dir="t"/>
            </a:scene3d>
            <a:sp3d>
              <a:bevel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dirty="0">
                <a:solidFill>
                  <a:sysClr val="windowText" lastClr="000000"/>
                </a:solidFill>
                <a:latin typeface="Arial" panose="020B0604020202020204" pitchFamily="34" charset="0"/>
                <a:cs typeface="Arial" panose="020B0604020202020204" pitchFamily="34" charset="0"/>
              </a:endParaRPr>
            </a:p>
          </p:txBody>
        </p:sp>
        <p:sp>
          <p:nvSpPr>
            <p:cNvPr id="31" name="TextBox 30">
              <a:extLst>
                <a:ext uri="{FF2B5EF4-FFF2-40B4-BE49-F238E27FC236}">
                  <a16:creationId xmlns:a16="http://schemas.microsoft.com/office/drawing/2014/main" id="{52A7DA74-41A3-47A9-A809-E0C88B7ACE3B}"/>
                </a:ext>
              </a:extLst>
            </p:cNvPr>
            <p:cNvSpPr txBox="1"/>
            <p:nvPr/>
          </p:nvSpPr>
          <p:spPr>
            <a:xfrm>
              <a:off x="5850342" y="2606964"/>
              <a:ext cx="2796575" cy="584775"/>
            </a:xfrm>
            <a:prstGeom prst="rect">
              <a:avLst/>
            </a:prstGeom>
            <a:noFill/>
          </p:spPr>
          <p:txBody>
            <a:bodyPr wrap="square" rtlCol="0">
              <a:spAutoFit/>
            </a:bodyPr>
            <a:lstStyle/>
            <a:p>
              <a:pPr algn="ctr"/>
              <a:r>
                <a:rPr lang="en-GB" sz="1400" dirty="0">
                  <a:latin typeface="Arial" panose="020B0604020202020204" pitchFamily="34" charset="0"/>
                  <a:cs typeface="Arial" panose="020B0604020202020204" pitchFamily="34" charset="0"/>
                </a:rPr>
                <a:t>Communicating Effectively in the Assurance Report </a:t>
              </a:r>
              <a:r>
                <a:rPr lang="en-GB" dirty="0">
                  <a:latin typeface="Arial" panose="020B0604020202020204" pitchFamily="34" charset="0"/>
                  <a:cs typeface="Arial" panose="020B0604020202020204" pitchFamily="34" charset="0"/>
                  <a:sym typeface="Wingdings" panose="05000000000000000000" pitchFamily="2" charset="2"/>
                </a:rPr>
                <a:t></a:t>
              </a:r>
              <a:endParaRPr lang="en-GB" dirty="0">
                <a:latin typeface="Arial" panose="020B0604020202020204" pitchFamily="34" charset="0"/>
                <a:cs typeface="Arial" panose="020B0604020202020204" pitchFamily="34" charset="0"/>
              </a:endParaRPr>
            </a:p>
          </p:txBody>
        </p:sp>
        <p:sp>
          <p:nvSpPr>
            <p:cNvPr id="32" name="Rectangle 31">
              <a:extLst>
                <a:ext uri="{FF2B5EF4-FFF2-40B4-BE49-F238E27FC236}">
                  <a16:creationId xmlns:a16="http://schemas.microsoft.com/office/drawing/2014/main" id="{CDC2E6FD-DA7C-4BAA-9C31-DDBE1F9122B6}"/>
                </a:ext>
              </a:extLst>
            </p:cNvPr>
            <p:cNvSpPr/>
            <p:nvPr/>
          </p:nvSpPr>
          <p:spPr>
            <a:xfrm>
              <a:off x="9380392" y="3356030"/>
              <a:ext cx="1082573" cy="1463640"/>
            </a:xfrm>
            <a:prstGeom prst="rect">
              <a:avLst/>
            </a:prstGeom>
            <a:gradFill>
              <a:gsLst>
                <a:gs pos="0">
                  <a:srgbClr val="FF4C03"/>
                </a:gs>
                <a:gs pos="100000">
                  <a:schemeClr val="bg1"/>
                </a:gs>
              </a:gsLst>
            </a:gradFill>
            <a:ln>
              <a:solidFill>
                <a:schemeClr val="tx1"/>
              </a:solidFill>
            </a:ln>
            <a:scene3d>
              <a:camera prst="orthographicFront"/>
              <a:lightRig rig="threePt" dir="t"/>
            </a:scene3d>
            <a:sp3d>
              <a:bevelT/>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n-GB" dirty="0">
                  <a:solidFill>
                    <a:sysClr val="windowText" lastClr="000000"/>
                  </a:solidFill>
                  <a:latin typeface="Arial" panose="020B0604020202020204" pitchFamily="34" charset="0"/>
                  <a:cs typeface="Arial" panose="020B0604020202020204" pitchFamily="34" charset="0"/>
                  <a:sym typeface="Wingdings" panose="05000000000000000000" pitchFamily="2" charset="2"/>
                </a:rPr>
                <a:t> </a:t>
              </a:r>
              <a:r>
                <a:rPr lang="en-GB" sz="1200" dirty="0">
                  <a:solidFill>
                    <a:sysClr val="windowText" lastClr="000000"/>
                  </a:solidFill>
                  <a:latin typeface="Arial" panose="020B0604020202020204" pitchFamily="34" charset="0"/>
                  <a:cs typeface="Arial" panose="020B0604020202020204" pitchFamily="34" charset="0"/>
                  <a:sym typeface="Wingdings" panose="05000000000000000000" pitchFamily="2" charset="2"/>
                </a:rPr>
                <a:t>&amp;</a:t>
              </a:r>
              <a:r>
                <a:rPr lang="en-GB" dirty="0">
                  <a:solidFill>
                    <a:sysClr val="windowText" lastClr="000000"/>
                  </a:solidFill>
                  <a:latin typeface="Arial" panose="020B0604020202020204" pitchFamily="34" charset="0"/>
                  <a:cs typeface="Arial" panose="020B0604020202020204" pitchFamily="34" charset="0"/>
                  <a:sym typeface="Wingdings" panose="05000000000000000000" pitchFamily="2" charset="2"/>
                </a:rPr>
                <a:t>  </a:t>
              </a:r>
              <a:r>
                <a:rPr lang="en-GB" sz="1200" dirty="0">
                  <a:solidFill>
                    <a:sysClr val="windowText" lastClr="000000"/>
                  </a:solidFill>
                  <a:latin typeface="Arial" panose="020B0604020202020204" pitchFamily="34" charset="0"/>
                  <a:cs typeface="Arial" panose="020B0604020202020204" pitchFamily="34" charset="0"/>
                </a:rPr>
                <a:t>Addressing Narrative and Forward Looking Information</a:t>
              </a:r>
            </a:p>
          </p:txBody>
        </p:sp>
        <p:sp>
          <p:nvSpPr>
            <p:cNvPr id="33" name="Rectangle 32">
              <a:extLst>
                <a:ext uri="{FF2B5EF4-FFF2-40B4-BE49-F238E27FC236}">
                  <a16:creationId xmlns:a16="http://schemas.microsoft.com/office/drawing/2014/main" id="{BA773075-B9F0-492A-A5FF-52D56523D247}"/>
                </a:ext>
              </a:extLst>
            </p:cNvPr>
            <p:cNvSpPr/>
            <p:nvPr/>
          </p:nvSpPr>
          <p:spPr>
            <a:xfrm>
              <a:off x="4091975" y="4900441"/>
              <a:ext cx="6370990" cy="370449"/>
            </a:xfrm>
            <a:prstGeom prst="rect">
              <a:avLst/>
            </a:prstGeom>
            <a:gradFill>
              <a:gsLst>
                <a:gs pos="0">
                  <a:schemeClr val="bg1">
                    <a:lumMod val="85000"/>
                  </a:schemeClr>
                </a:gs>
                <a:gs pos="100000">
                  <a:schemeClr val="bg1"/>
                </a:gs>
              </a:gsLst>
            </a:gradFill>
            <a:ln>
              <a:solidFill>
                <a:schemeClr val="tx1"/>
              </a:solidFill>
            </a:ln>
            <a:scene3d>
              <a:camera prst="orthographicFront"/>
              <a:lightRig rig="threePt" dir="t"/>
            </a:scene3d>
            <a:sp3d>
              <a:bevelT/>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solidFill>
                    <a:sysClr val="windowText" lastClr="000000"/>
                  </a:solidFill>
                  <a:latin typeface="Arial" panose="020B0604020202020204" pitchFamily="34" charset="0"/>
                  <a:cs typeface="Arial" panose="020B0604020202020204" pitchFamily="34" charset="0"/>
                </a:rPr>
                <a:t>Determining the Scope of an EER Assurance Engagement </a:t>
              </a:r>
              <a:r>
                <a:rPr lang="en-US" dirty="0">
                  <a:solidFill>
                    <a:sysClr val="windowText" lastClr="000000"/>
                  </a:solidFill>
                  <a:latin typeface="Arial" panose="020B0604020202020204" pitchFamily="34" charset="0"/>
                  <a:cs typeface="Arial" panose="020B0604020202020204" pitchFamily="34" charset="0"/>
                  <a:sym typeface="Wingdings" panose="05000000000000000000" pitchFamily="2" charset="2"/>
                </a:rPr>
                <a:t></a:t>
              </a:r>
              <a:endParaRPr lang="en-US" dirty="0">
                <a:solidFill>
                  <a:sysClr val="windowText" lastClr="000000"/>
                </a:solidFill>
                <a:latin typeface="Arial" panose="020B0604020202020204" pitchFamily="34" charset="0"/>
                <a:cs typeface="Arial" panose="020B0604020202020204" pitchFamily="34" charset="0"/>
              </a:endParaRPr>
            </a:p>
          </p:txBody>
        </p:sp>
      </p:grpSp>
      <p:sp>
        <p:nvSpPr>
          <p:cNvPr id="34" name="Left Brace 33">
            <a:extLst>
              <a:ext uri="{FF2B5EF4-FFF2-40B4-BE49-F238E27FC236}">
                <a16:creationId xmlns:a16="http://schemas.microsoft.com/office/drawing/2014/main" id="{6CC7E578-4AEA-4958-87AB-042E82297327}"/>
              </a:ext>
            </a:extLst>
          </p:cNvPr>
          <p:cNvSpPr/>
          <p:nvPr/>
        </p:nvSpPr>
        <p:spPr>
          <a:xfrm>
            <a:off x="3473687" y="2967550"/>
            <a:ext cx="159759" cy="1589083"/>
          </a:xfrm>
          <a:prstGeom prst="leftBrace">
            <a:avLst/>
          </a:prstGeom>
          <a:ln>
            <a:solidFill>
              <a:schemeClr val="accent3"/>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sz="1400"/>
          </a:p>
        </p:txBody>
      </p:sp>
      <p:sp>
        <p:nvSpPr>
          <p:cNvPr id="35" name="Left Brace 34">
            <a:extLst>
              <a:ext uri="{FF2B5EF4-FFF2-40B4-BE49-F238E27FC236}">
                <a16:creationId xmlns:a16="http://schemas.microsoft.com/office/drawing/2014/main" id="{833279E1-18DA-4857-AFF6-477B51BE40AF}"/>
              </a:ext>
            </a:extLst>
          </p:cNvPr>
          <p:cNvSpPr/>
          <p:nvPr/>
        </p:nvSpPr>
        <p:spPr>
          <a:xfrm rot="10800000">
            <a:off x="10826923" y="2967550"/>
            <a:ext cx="159759" cy="1589083"/>
          </a:xfrm>
          <a:prstGeom prst="leftBrace">
            <a:avLst/>
          </a:prstGeom>
          <a:ln>
            <a:solidFill>
              <a:schemeClr val="accent3"/>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sz="1400"/>
          </a:p>
        </p:txBody>
      </p:sp>
      <p:sp>
        <p:nvSpPr>
          <p:cNvPr id="36" name="TextBox 35">
            <a:extLst>
              <a:ext uri="{FF2B5EF4-FFF2-40B4-BE49-F238E27FC236}">
                <a16:creationId xmlns:a16="http://schemas.microsoft.com/office/drawing/2014/main" id="{6E80EDAA-8039-4B83-92CB-8429056AEA61}"/>
              </a:ext>
            </a:extLst>
          </p:cNvPr>
          <p:cNvSpPr txBox="1"/>
          <p:nvPr/>
        </p:nvSpPr>
        <p:spPr>
          <a:xfrm>
            <a:off x="11019768" y="3615590"/>
            <a:ext cx="917831" cy="307777"/>
          </a:xfrm>
          <a:prstGeom prst="rect">
            <a:avLst/>
          </a:prstGeom>
          <a:noFill/>
        </p:spPr>
        <p:txBody>
          <a:bodyPr wrap="square" rtlCol="0">
            <a:spAutoFit/>
          </a:bodyPr>
          <a:lstStyle/>
          <a:p>
            <a:r>
              <a:rPr lang="en-GB" sz="1400" b="1" dirty="0">
                <a:solidFill>
                  <a:schemeClr val="accent3"/>
                </a:solidFill>
                <a:latin typeface="Arial" panose="020B0604020202020204" pitchFamily="34" charset="0"/>
                <a:cs typeface="Arial" panose="020B0604020202020204" pitchFamily="34" charset="0"/>
              </a:rPr>
              <a:t>Phase 1</a:t>
            </a:r>
          </a:p>
        </p:txBody>
      </p:sp>
      <p:sp>
        <p:nvSpPr>
          <p:cNvPr id="37" name="Title 1">
            <a:extLst>
              <a:ext uri="{FF2B5EF4-FFF2-40B4-BE49-F238E27FC236}">
                <a16:creationId xmlns:a16="http://schemas.microsoft.com/office/drawing/2014/main" id="{14D1141D-20A5-4B27-A969-17D5E2ED7B14}"/>
              </a:ext>
            </a:extLst>
          </p:cNvPr>
          <p:cNvSpPr txBox="1">
            <a:spLocks/>
          </p:cNvSpPr>
          <p:nvPr/>
        </p:nvSpPr>
        <p:spPr>
          <a:xfrm>
            <a:off x="4726137" y="1444379"/>
            <a:ext cx="4945113" cy="280247"/>
          </a:xfrm>
          <a:prstGeom prst="rect">
            <a:avLst/>
          </a:prstGeom>
        </p:spPr>
        <p:txBody>
          <a:bodyPr vert="horz" lIns="0" tIns="0" rIns="0" bIns="0" rtlCol="0" anchor="ctr">
            <a:noAutofit/>
          </a:bodyPr>
          <a:lstStyle>
            <a:lvl1pPr algn="l" defTabSz="457200" rtl="0" eaLnBrk="1" latinLnBrk="0" hangingPunct="1">
              <a:spcBef>
                <a:spcPct val="0"/>
              </a:spcBef>
              <a:buNone/>
              <a:defRPr sz="2400" kern="1200">
                <a:solidFill>
                  <a:schemeClr val="bg1"/>
                </a:solidFill>
                <a:latin typeface="Arial" panose="020B0604020202020204" pitchFamily="34" charset="0"/>
                <a:ea typeface="+mj-ea"/>
                <a:cs typeface="Arial" panose="020B0604020202020204" pitchFamily="34" charset="0"/>
              </a:defRPr>
            </a:lvl1pPr>
          </a:lstStyle>
          <a:p>
            <a:pPr algn="ctr"/>
            <a:r>
              <a:rPr lang="en-GB" sz="1600" b="1" dirty="0">
                <a:solidFill>
                  <a:schemeClr val="tx1">
                    <a:lumMod val="50000"/>
                    <a:lumOff val="50000"/>
                  </a:schemeClr>
                </a:solidFill>
              </a:rPr>
              <a:t>The EER Assurance House (under construction)</a:t>
            </a:r>
            <a:endParaRPr lang="en-US" sz="1600" b="1" dirty="0">
              <a:solidFill>
                <a:schemeClr val="tx1">
                  <a:lumMod val="50000"/>
                  <a:lumOff val="50000"/>
                </a:schemeClr>
              </a:solidFill>
            </a:endParaRPr>
          </a:p>
        </p:txBody>
      </p:sp>
      <p:sp>
        <p:nvSpPr>
          <p:cNvPr id="38" name="Rectangle 37">
            <a:extLst>
              <a:ext uri="{FF2B5EF4-FFF2-40B4-BE49-F238E27FC236}">
                <a16:creationId xmlns:a16="http://schemas.microsoft.com/office/drawing/2014/main" id="{CAC27439-1B5F-46C7-9D5F-823E7680023B}"/>
              </a:ext>
            </a:extLst>
          </p:cNvPr>
          <p:cNvSpPr/>
          <p:nvPr/>
        </p:nvSpPr>
        <p:spPr>
          <a:xfrm>
            <a:off x="585098" y="4810239"/>
            <a:ext cx="590432" cy="538501"/>
          </a:xfrm>
          <a:prstGeom prst="rect">
            <a:avLst/>
          </a:prstGeom>
          <a:ln>
            <a:solidFill>
              <a:schemeClr val="tx1"/>
            </a:solidFill>
          </a:ln>
          <a:scene3d>
            <a:camera prst="orthographicFront"/>
            <a:lightRig rig="threePt" dir="t"/>
          </a:scene3d>
          <a:sp3d>
            <a:bevel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39" name="Rectangle 38">
            <a:extLst>
              <a:ext uri="{FF2B5EF4-FFF2-40B4-BE49-F238E27FC236}">
                <a16:creationId xmlns:a16="http://schemas.microsoft.com/office/drawing/2014/main" id="{1C083981-D94B-4ACE-BF96-9D0EAF6F8564}"/>
              </a:ext>
            </a:extLst>
          </p:cNvPr>
          <p:cNvSpPr/>
          <p:nvPr/>
        </p:nvSpPr>
        <p:spPr>
          <a:xfrm>
            <a:off x="579812" y="5497714"/>
            <a:ext cx="590432" cy="538500"/>
          </a:xfrm>
          <a:prstGeom prst="rect">
            <a:avLst/>
          </a:prstGeom>
          <a:gradFill>
            <a:gsLst>
              <a:gs pos="0">
                <a:srgbClr val="FF4C03"/>
              </a:gs>
              <a:gs pos="100000">
                <a:schemeClr val="bg1"/>
              </a:gs>
            </a:gsLst>
          </a:gradFill>
          <a:ln>
            <a:solidFill>
              <a:schemeClr val="tx1"/>
            </a:solidFill>
          </a:ln>
          <a:scene3d>
            <a:camera prst="orthographicFront"/>
            <a:lightRig rig="threePt" dir="t"/>
          </a:scene3d>
          <a:sp3d>
            <a:bevel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latin typeface="Arial" panose="020B06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E80D43EF-157E-48DE-8602-4ACD6A7B78DB}"/>
              </a:ext>
            </a:extLst>
          </p:cNvPr>
          <p:cNvSpPr/>
          <p:nvPr/>
        </p:nvSpPr>
        <p:spPr>
          <a:xfrm>
            <a:off x="392552" y="1326986"/>
            <a:ext cx="2803699" cy="3016210"/>
          </a:xfrm>
          <a:prstGeom prst="rect">
            <a:avLst/>
          </a:prstGeom>
        </p:spPr>
        <p:txBody>
          <a:bodyPr wrap="square">
            <a:spAutoFit/>
          </a:bodyPr>
          <a:lstStyle/>
          <a:p>
            <a:pPr marL="173038" indent="-173038" defTabSz="457200">
              <a:spcBef>
                <a:spcPts val="1200"/>
              </a:spcBef>
              <a:buFont typeface="Arial"/>
              <a:buChar char="•"/>
            </a:pPr>
            <a:r>
              <a:rPr lang="en-GB" dirty="0">
                <a:solidFill>
                  <a:schemeClr val="bg1">
                    <a:lumMod val="50000"/>
                  </a:schemeClr>
                </a:solidFill>
                <a:latin typeface="Arial" panose="020B0604020202020204" pitchFamily="34" charset="0"/>
                <a:cs typeface="Arial" panose="020B0604020202020204" pitchFamily="34" charset="0"/>
              </a:rPr>
              <a:t>Presentation of the issues relating to three of the Ten Key Challenges - refer to Issues Paper (Agenda Item 4)</a:t>
            </a:r>
          </a:p>
          <a:p>
            <a:pPr marL="173038" indent="-173038" defTabSz="457200">
              <a:spcBef>
                <a:spcPts val="1200"/>
              </a:spcBef>
              <a:buFont typeface="Arial"/>
              <a:buChar char="•"/>
            </a:pPr>
            <a:r>
              <a:rPr lang="en-GB" dirty="0">
                <a:solidFill>
                  <a:schemeClr val="bg1">
                    <a:lumMod val="50000"/>
                  </a:schemeClr>
                </a:solidFill>
                <a:latin typeface="Arial" panose="020B0604020202020204" pitchFamily="34" charset="0"/>
                <a:cs typeface="Arial" panose="020B0604020202020204" pitchFamily="34" charset="0"/>
              </a:rPr>
              <a:t>Receive board feedback on the concepts and principles presented</a:t>
            </a:r>
          </a:p>
        </p:txBody>
      </p:sp>
      <p:sp>
        <p:nvSpPr>
          <p:cNvPr id="40" name="Rectangle 39">
            <a:extLst>
              <a:ext uri="{FF2B5EF4-FFF2-40B4-BE49-F238E27FC236}">
                <a16:creationId xmlns:a16="http://schemas.microsoft.com/office/drawing/2014/main" id="{3FD187DF-A6A2-45B3-94DD-6FBF174CFF7C}"/>
              </a:ext>
            </a:extLst>
          </p:cNvPr>
          <p:cNvSpPr/>
          <p:nvPr/>
        </p:nvSpPr>
        <p:spPr>
          <a:xfrm>
            <a:off x="1227804" y="4817879"/>
            <a:ext cx="2390860" cy="523220"/>
          </a:xfrm>
          <a:prstGeom prst="rect">
            <a:avLst/>
          </a:prstGeom>
        </p:spPr>
        <p:txBody>
          <a:bodyPr wrap="square">
            <a:spAutoFit/>
          </a:bodyPr>
          <a:lstStyle/>
          <a:p>
            <a:pPr defTabSz="457200">
              <a:spcBef>
                <a:spcPts val="1200"/>
              </a:spcBef>
            </a:pPr>
            <a:r>
              <a:rPr lang="en-GB" sz="1400" dirty="0">
                <a:solidFill>
                  <a:schemeClr val="bg1">
                    <a:lumMod val="50000"/>
                  </a:schemeClr>
                </a:solidFill>
                <a:latin typeface="Arial" panose="020B0604020202020204" pitchFamily="34" charset="0"/>
                <a:cs typeface="Arial" panose="020B0604020202020204" pitchFamily="34" charset="0"/>
              </a:rPr>
              <a:t>Challenge discussed in issues paper</a:t>
            </a:r>
          </a:p>
        </p:txBody>
      </p:sp>
      <p:sp>
        <p:nvSpPr>
          <p:cNvPr id="41" name="Rectangle 40">
            <a:extLst>
              <a:ext uri="{FF2B5EF4-FFF2-40B4-BE49-F238E27FC236}">
                <a16:creationId xmlns:a16="http://schemas.microsoft.com/office/drawing/2014/main" id="{E1C2C4FC-FDE4-4CCD-8802-A0275AFC4049}"/>
              </a:ext>
            </a:extLst>
          </p:cNvPr>
          <p:cNvSpPr/>
          <p:nvPr/>
        </p:nvSpPr>
        <p:spPr>
          <a:xfrm>
            <a:off x="1227804" y="5505354"/>
            <a:ext cx="2390860" cy="523220"/>
          </a:xfrm>
          <a:prstGeom prst="rect">
            <a:avLst/>
          </a:prstGeom>
        </p:spPr>
        <p:txBody>
          <a:bodyPr wrap="square">
            <a:spAutoFit/>
          </a:bodyPr>
          <a:lstStyle/>
          <a:p>
            <a:pPr defTabSz="457200">
              <a:spcBef>
                <a:spcPts val="1200"/>
              </a:spcBef>
            </a:pPr>
            <a:r>
              <a:rPr lang="en-GB" sz="1400" dirty="0">
                <a:solidFill>
                  <a:schemeClr val="bg1">
                    <a:lumMod val="50000"/>
                  </a:schemeClr>
                </a:solidFill>
                <a:latin typeface="Arial" panose="020B0604020202020204" pitchFamily="34" charset="0"/>
                <a:cs typeface="Arial" panose="020B0604020202020204" pitchFamily="34" charset="0"/>
              </a:rPr>
              <a:t>Work underway – issues to be presented in September</a:t>
            </a:r>
          </a:p>
        </p:txBody>
      </p:sp>
    </p:spTree>
    <p:extLst>
      <p:ext uri="{BB962C8B-B14F-4D97-AF65-F5344CB8AC3E}">
        <p14:creationId xmlns:p14="http://schemas.microsoft.com/office/powerpoint/2010/main" val="6534211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CB293-FD8E-4F6C-92E5-62197E3FBA35}"/>
              </a:ext>
            </a:extLst>
          </p:cNvPr>
          <p:cNvSpPr>
            <a:spLocks noGrp="1"/>
          </p:cNvSpPr>
          <p:nvPr>
            <p:ph type="title"/>
          </p:nvPr>
        </p:nvSpPr>
        <p:spPr/>
        <p:txBody>
          <a:bodyPr/>
          <a:lstStyle/>
          <a:p>
            <a:r>
              <a:rPr lang="en-GB" dirty="0"/>
              <a:t>Structure of issues paper</a:t>
            </a:r>
          </a:p>
        </p:txBody>
      </p:sp>
      <p:sp>
        <p:nvSpPr>
          <p:cNvPr id="4" name="Subtitle 3">
            <a:extLst>
              <a:ext uri="{FF2B5EF4-FFF2-40B4-BE49-F238E27FC236}">
                <a16:creationId xmlns:a16="http://schemas.microsoft.com/office/drawing/2014/main" id="{B523B462-EC00-44AE-A4FD-59C48B8568FD}"/>
              </a:ext>
            </a:extLst>
          </p:cNvPr>
          <p:cNvSpPr>
            <a:spLocks noGrp="1"/>
          </p:cNvSpPr>
          <p:nvPr>
            <p:ph type="subTitle" idx="10"/>
          </p:nvPr>
        </p:nvSpPr>
        <p:spPr/>
        <p:txBody>
          <a:bodyPr/>
          <a:lstStyle/>
          <a:p>
            <a:endParaRPr lang="en-GB"/>
          </a:p>
        </p:txBody>
      </p:sp>
      <p:sp>
        <p:nvSpPr>
          <p:cNvPr id="5" name="Slide Number Placeholder 4">
            <a:extLst>
              <a:ext uri="{FF2B5EF4-FFF2-40B4-BE49-F238E27FC236}">
                <a16:creationId xmlns:a16="http://schemas.microsoft.com/office/drawing/2014/main" id="{5ED3D9D4-8FB3-463B-9D4F-12513A680A88}"/>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4</a:t>
            </a:fld>
            <a:endParaRPr lang="en-US" dirty="0">
              <a:latin typeface="Arial" panose="020B0604020202020204" pitchFamily="34" charset="0"/>
              <a:cs typeface="MS PGothic" charset="0"/>
            </a:endParaRPr>
          </a:p>
        </p:txBody>
      </p:sp>
      <p:sp>
        <p:nvSpPr>
          <p:cNvPr id="6" name="Arrow: Chevron 5">
            <a:extLst>
              <a:ext uri="{FF2B5EF4-FFF2-40B4-BE49-F238E27FC236}">
                <a16:creationId xmlns:a16="http://schemas.microsoft.com/office/drawing/2014/main" id="{AA019EF3-2054-4B1F-A278-94FEDEC44710}"/>
              </a:ext>
            </a:extLst>
          </p:cNvPr>
          <p:cNvSpPr/>
          <p:nvPr/>
        </p:nvSpPr>
        <p:spPr>
          <a:xfrm>
            <a:off x="646728" y="2380311"/>
            <a:ext cx="2728011" cy="1480689"/>
          </a:xfrm>
          <a:prstGeom prst="chevron">
            <a:avLst>
              <a:gd name="adj" fmla="val 24918"/>
            </a:avLst>
          </a:prstGeom>
          <a:solidFill>
            <a:schemeClr val="accent3"/>
          </a:solidFill>
          <a:ln w="25400" cap="flat" cmpd="sng" algn="ctr">
            <a:solidFill>
              <a:prstClr val="white">
                <a:hueOff val="0"/>
                <a:satOff val="0"/>
                <a:lumOff val="0"/>
                <a:alphaOff val="0"/>
              </a:prstClr>
            </a:solidFill>
            <a:prstDash val="solid"/>
          </a:ln>
          <a:effectLst/>
        </p:spPr>
        <p:txBody>
          <a:bodyPr spcFirstLastPara="0" vert="horz" wrap="square" lIns="127000" tIns="0" rIns="127000" bIns="0" numCol="1" spcCol="1270" anchor="ctr" anchorCtr="0">
            <a:noAutofit/>
          </a:bodyPr>
          <a:lstStyle/>
          <a:p>
            <a:r>
              <a:rPr lang="en-GB" sz="1400" dirty="0">
                <a:solidFill>
                  <a:schemeClr val="bg1"/>
                </a:solidFill>
                <a:latin typeface="Arial" panose="020B0604020202020204" pitchFamily="34" charset="0"/>
                <a:cs typeface="Arial" panose="020B0604020202020204" pitchFamily="34" charset="0"/>
              </a:rPr>
              <a:t>Generalized construct of an EER report and its relationship to assurance concepts </a:t>
            </a:r>
          </a:p>
        </p:txBody>
      </p:sp>
      <p:sp>
        <p:nvSpPr>
          <p:cNvPr id="7" name="Arrow: Chevron 6">
            <a:extLst>
              <a:ext uri="{FF2B5EF4-FFF2-40B4-BE49-F238E27FC236}">
                <a16:creationId xmlns:a16="http://schemas.microsoft.com/office/drawing/2014/main" id="{706A886F-D502-4CFE-AEB0-9A3F635E1D1B}"/>
              </a:ext>
            </a:extLst>
          </p:cNvPr>
          <p:cNvSpPr/>
          <p:nvPr/>
        </p:nvSpPr>
        <p:spPr>
          <a:xfrm>
            <a:off x="3374739" y="2380311"/>
            <a:ext cx="2728011" cy="1480689"/>
          </a:xfrm>
          <a:prstGeom prst="chevron">
            <a:avLst>
              <a:gd name="adj" fmla="val 24918"/>
            </a:avLst>
          </a:prstGeom>
          <a:solidFill>
            <a:schemeClr val="accent3"/>
          </a:solidFill>
          <a:ln w="25400" cap="flat" cmpd="sng" algn="ctr">
            <a:solidFill>
              <a:prstClr val="white">
                <a:hueOff val="0"/>
                <a:satOff val="0"/>
                <a:lumOff val="0"/>
                <a:alphaOff val="0"/>
              </a:prstClr>
            </a:solidFill>
            <a:prstDash val="solid"/>
          </a:ln>
          <a:effectLst/>
        </p:spPr>
        <p:txBody>
          <a:bodyPr spcFirstLastPara="0" vert="horz" wrap="square" lIns="127000" tIns="0" rIns="127000" bIns="0" numCol="1" spcCol="1270" anchor="ctr" anchorCtr="0">
            <a:noAutofit/>
          </a:bodyPr>
          <a:lstStyle/>
          <a:p>
            <a:endParaRPr lang="en-GB" sz="1400" dirty="0">
              <a:solidFill>
                <a:schemeClr val="bg1"/>
              </a:solidFill>
              <a:latin typeface="Arial" panose="020B0604020202020204" pitchFamily="34" charset="0"/>
              <a:cs typeface="Arial" panose="020B0604020202020204" pitchFamily="34" charset="0"/>
            </a:endParaRPr>
          </a:p>
        </p:txBody>
      </p:sp>
      <p:sp>
        <p:nvSpPr>
          <p:cNvPr id="8" name="Arrow: Chevron 7">
            <a:extLst>
              <a:ext uri="{FF2B5EF4-FFF2-40B4-BE49-F238E27FC236}">
                <a16:creationId xmlns:a16="http://schemas.microsoft.com/office/drawing/2014/main" id="{297C656A-415C-421F-8ABE-F5B14D4705CE}"/>
              </a:ext>
            </a:extLst>
          </p:cNvPr>
          <p:cNvSpPr/>
          <p:nvPr/>
        </p:nvSpPr>
        <p:spPr>
          <a:xfrm>
            <a:off x="6102750" y="2380311"/>
            <a:ext cx="2728011" cy="1480689"/>
          </a:xfrm>
          <a:prstGeom prst="chevron">
            <a:avLst>
              <a:gd name="adj" fmla="val 24918"/>
            </a:avLst>
          </a:prstGeom>
          <a:solidFill>
            <a:schemeClr val="accent3"/>
          </a:solidFill>
          <a:ln w="25400" cap="flat" cmpd="sng" algn="ctr">
            <a:solidFill>
              <a:prstClr val="white">
                <a:hueOff val="0"/>
                <a:satOff val="0"/>
                <a:lumOff val="0"/>
                <a:alphaOff val="0"/>
              </a:prstClr>
            </a:solidFill>
            <a:prstDash val="solid"/>
          </a:ln>
          <a:effectLst/>
        </p:spPr>
        <p:txBody>
          <a:bodyPr spcFirstLastPara="0" vert="horz" wrap="square" lIns="127000" tIns="0" rIns="127000" bIns="0" numCol="1" spcCol="1270" anchor="ctr" anchorCtr="0">
            <a:noAutofit/>
          </a:bodyPr>
          <a:lstStyle/>
          <a:p>
            <a:endParaRPr lang="en-GB" sz="1400" dirty="0">
              <a:solidFill>
                <a:schemeClr val="bg1"/>
              </a:solidFill>
              <a:latin typeface="Arial" panose="020B0604020202020204" pitchFamily="34" charset="0"/>
              <a:cs typeface="Arial" panose="020B0604020202020204" pitchFamily="34" charset="0"/>
            </a:endParaRPr>
          </a:p>
        </p:txBody>
      </p:sp>
      <p:sp>
        <p:nvSpPr>
          <p:cNvPr id="9" name="Arrow: Chevron 8">
            <a:extLst>
              <a:ext uri="{FF2B5EF4-FFF2-40B4-BE49-F238E27FC236}">
                <a16:creationId xmlns:a16="http://schemas.microsoft.com/office/drawing/2014/main" id="{57229B2E-A02B-4B65-8430-A5A415CFE249}"/>
              </a:ext>
            </a:extLst>
          </p:cNvPr>
          <p:cNvSpPr/>
          <p:nvPr/>
        </p:nvSpPr>
        <p:spPr>
          <a:xfrm>
            <a:off x="8830761" y="2380310"/>
            <a:ext cx="2728011" cy="1480689"/>
          </a:xfrm>
          <a:prstGeom prst="chevron">
            <a:avLst>
              <a:gd name="adj" fmla="val 24918"/>
            </a:avLst>
          </a:prstGeom>
          <a:solidFill>
            <a:schemeClr val="accent3"/>
          </a:solidFill>
          <a:ln w="25400" cap="flat" cmpd="sng" algn="ctr">
            <a:solidFill>
              <a:prstClr val="white">
                <a:hueOff val="0"/>
                <a:satOff val="0"/>
                <a:lumOff val="0"/>
                <a:alphaOff val="0"/>
              </a:prstClr>
            </a:solidFill>
            <a:prstDash val="solid"/>
          </a:ln>
          <a:effectLst/>
        </p:spPr>
        <p:txBody>
          <a:bodyPr spcFirstLastPara="0" vert="horz" wrap="square" lIns="127000" tIns="0" rIns="127000" bIns="0" numCol="1" spcCol="1270" anchor="ctr" anchorCtr="0">
            <a:noAutofit/>
          </a:bodyPr>
          <a:lstStyle/>
          <a:p>
            <a:endParaRPr lang="en-GB" sz="1400" dirty="0">
              <a:solidFill>
                <a:schemeClr val="bg1"/>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DAD18122-AFA2-4760-A75A-89061B7F5716}"/>
              </a:ext>
            </a:extLst>
          </p:cNvPr>
          <p:cNvSpPr txBox="1"/>
          <p:nvPr/>
        </p:nvSpPr>
        <p:spPr>
          <a:xfrm>
            <a:off x="3374739" y="2103306"/>
            <a:ext cx="1940650" cy="276999"/>
          </a:xfrm>
          <a:prstGeom prst="rect">
            <a:avLst/>
          </a:prstGeom>
          <a:noFill/>
        </p:spPr>
        <p:txBody>
          <a:bodyPr wrap="square" rtlCol="0">
            <a:spAutoFit/>
          </a:bodyPr>
          <a:lstStyle/>
          <a:p>
            <a:r>
              <a:rPr lang="en-GB" sz="1200" b="1" dirty="0">
                <a:solidFill>
                  <a:schemeClr val="tx2"/>
                </a:solidFill>
                <a:latin typeface="Arial" panose="020B0604020202020204" pitchFamily="34" charset="0"/>
                <a:cs typeface="Arial" panose="020B0604020202020204" pitchFamily="34" charset="0"/>
              </a:rPr>
              <a:t>Challenge 3</a:t>
            </a:r>
          </a:p>
        </p:txBody>
      </p:sp>
      <p:sp>
        <p:nvSpPr>
          <p:cNvPr id="11" name="TextBox 10">
            <a:extLst>
              <a:ext uri="{FF2B5EF4-FFF2-40B4-BE49-F238E27FC236}">
                <a16:creationId xmlns:a16="http://schemas.microsoft.com/office/drawing/2014/main" id="{36E4BBC7-4C6C-44F0-A546-1B23543F1AE2}"/>
              </a:ext>
            </a:extLst>
          </p:cNvPr>
          <p:cNvSpPr txBox="1"/>
          <p:nvPr/>
        </p:nvSpPr>
        <p:spPr>
          <a:xfrm>
            <a:off x="3821015" y="2535877"/>
            <a:ext cx="1940650" cy="1169551"/>
          </a:xfrm>
          <a:prstGeom prst="rect">
            <a:avLst/>
          </a:prstGeom>
          <a:noFill/>
        </p:spPr>
        <p:txBody>
          <a:bodyPr wrap="square" rtlCol="0">
            <a:spAutoFit/>
          </a:bodyPr>
          <a:lstStyle/>
          <a:p>
            <a:r>
              <a:rPr lang="en-GB" sz="1400" dirty="0">
                <a:solidFill>
                  <a:schemeClr val="bg1"/>
                </a:solidFill>
                <a:latin typeface="Arial" panose="020B0604020202020204" pitchFamily="34" charset="0"/>
                <a:cs typeface="Arial" panose="020B0604020202020204" pitchFamily="34" charset="0"/>
              </a:rPr>
              <a:t>Addressing </a:t>
            </a:r>
            <a:r>
              <a:rPr lang="en-GB" sz="1400" b="1" dirty="0">
                <a:solidFill>
                  <a:schemeClr val="bg1"/>
                </a:solidFill>
                <a:latin typeface="Arial" panose="020B0604020202020204" pitchFamily="34" charset="0"/>
                <a:cs typeface="Arial" panose="020B0604020202020204" pitchFamily="34" charset="0"/>
              </a:rPr>
              <a:t>Materiality</a:t>
            </a:r>
            <a:r>
              <a:rPr lang="en-GB" sz="1400" dirty="0">
                <a:solidFill>
                  <a:schemeClr val="bg1"/>
                </a:solidFill>
                <a:latin typeface="Arial" panose="020B0604020202020204" pitchFamily="34" charset="0"/>
                <a:cs typeface="Arial" panose="020B0604020202020204" pitchFamily="34" charset="0"/>
              </a:rPr>
              <a:t> for Diverse Information with Little Guidance in EER Frameworks</a:t>
            </a:r>
          </a:p>
        </p:txBody>
      </p:sp>
      <p:sp>
        <p:nvSpPr>
          <p:cNvPr id="14" name="TextBox 13">
            <a:extLst>
              <a:ext uri="{FF2B5EF4-FFF2-40B4-BE49-F238E27FC236}">
                <a16:creationId xmlns:a16="http://schemas.microsoft.com/office/drawing/2014/main" id="{8AA3A1EC-7F17-4632-B9AA-55CB23443CE5}"/>
              </a:ext>
            </a:extLst>
          </p:cNvPr>
          <p:cNvSpPr txBox="1"/>
          <p:nvPr/>
        </p:nvSpPr>
        <p:spPr>
          <a:xfrm>
            <a:off x="6549026" y="2643599"/>
            <a:ext cx="1940650" cy="954107"/>
          </a:xfrm>
          <a:prstGeom prst="rect">
            <a:avLst/>
          </a:prstGeom>
          <a:noFill/>
        </p:spPr>
        <p:txBody>
          <a:bodyPr wrap="square" rtlCol="0">
            <a:spAutoFit/>
          </a:bodyPr>
          <a:lstStyle/>
          <a:p>
            <a:r>
              <a:rPr lang="en-GB" sz="1400" dirty="0">
                <a:solidFill>
                  <a:schemeClr val="bg1"/>
                </a:solidFill>
                <a:latin typeface="Arial" panose="020B0604020202020204" pitchFamily="34" charset="0"/>
                <a:cs typeface="Arial" panose="020B0604020202020204" pitchFamily="34" charset="0"/>
              </a:rPr>
              <a:t>Evaluating the Suitability of </a:t>
            </a:r>
            <a:r>
              <a:rPr lang="en-GB" sz="1400" b="1" dirty="0">
                <a:solidFill>
                  <a:schemeClr val="bg1"/>
                </a:solidFill>
                <a:latin typeface="Arial" panose="020B0604020202020204" pitchFamily="34" charset="0"/>
                <a:cs typeface="Arial" panose="020B0604020202020204" pitchFamily="34" charset="0"/>
              </a:rPr>
              <a:t>Criteria</a:t>
            </a:r>
            <a:r>
              <a:rPr lang="en-GB" sz="1400" dirty="0">
                <a:solidFill>
                  <a:schemeClr val="bg1"/>
                </a:solidFill>
                <a:latin typeface="Arial" panose="020B0604020202020204" pitchFamily="34" charset="0"/>
                <a:cs typeface="Arial" panose="020B0604020202020204" pitchFamily="34" charset="0"/>
              </a:rPr>
              <a:t> in a Consistent Manner</a:t>
            </a:r>
          </a:p>
        </p:txBody>
      </p:sp>
      <p:sp>
        <p:nvSpPr>
          <p:cNvPr id="15" name="TextBox 14">
            <a:extLst>
              <a:ext uri="{FF2B5EF4-FFF2-40B4-BE49-F238E27FC236}">
                <a16:creationId xmlns:a16="http://schemas.microsoft.com/office/drawing/2014/main" id="{E72243C1-3F8A-4386-8388-9994C488BC7B}"/>
              </a:ext>
            </a:extLst>
          </p:cNvPr>
          <p:cNvSpPr txBox="1"/>
          <p:nvPr/>
        </p:nvSpPr>
        <p:spPr>
          <a:xfrm>
            <a:off x="9277037" y="2643598"/>
            <a:ext cx="1940650" cy="954107"/>
          </a:xfrm>
          <a:prstGeom prst="rect">
            <a:avLst/>
          </a:prstGeom>
          <a:noFill/>
        </p:spPr>
        <p:txBody>
          <a:bodyPr wrap="square" rtlCol="0">
            <a:spAutoFit/>
          </a:bodyPr>
          <a:lstStyle/>
          <a:p>
            <a:r>
              <a:rPr lang="en-GB" sz="1400" dirty="0">
                <a:solidFill>
                  <a:schemeClr val="bg1"/>
                </a:solidFill>
                <a:latin typeface="Arial" panose="020B0604020202020204" pitchFamily="34" charset="0"/>
                <a:cs typeface="Arial" panose="020B0604020202020204" pitchFamily="34" charset="0"/>
              </a:rPr>
              <a:t>Building </a:t>
            </a:r>
            <a:r>
              <a:rPr lang="en-GB" sz="1400" b="1" dirty="0">
                <a:solidFill>
                  <a:schemeClr val="bg1"/>
                </a:solidFill>
                <a:latin typeface="Arial" panose="020B0604020202020204" pitchFamily="34" charset="0"/>
                <a:cs typeface="Arial" panose="020B0604020202020204" pitchFamily="34" charset="0"/>
              </a:rPr>
              <a:t>Assertions</a:t>
            </a:r>
            <a:r>
              <a:rPr lang="en-GB" sz="1400" dirty="0">
                <a:solidFill>
                  <a:schemeClr val="bg1"/>
                </a:solidFill>
                <a:latin typeface="Arial" panose="020B0604020202020204" pitchFamily="34" charset="0"/>
                <a:cs typeface="Arial" panose="020B0604020202020204" pitchFamily="34" charset="0"/>
              </a:rPr>
              <a:t> for Subject Matter Information of a Diverse Nature</a:t>
            </a:r>
          </a:p>
        </p:txBody>
      </p:sp>
      <p:sp>
        <p:nvSpPr>
          <p:cNvPr id="18" name="TextBox 17">
            <a:extLst>
              <a:ext uri="{FF2B5EF4-FFF2-40B4-BE49-F238E27FC236}">
                <a16:creationId xmlns:a16="http://schemas.microsoft.com/office/drawing/2014/main" id="{8D15AF14-3C6B-4B14-943A-F32A1724D913}"/>
              </a:ext>
            </a:extLst>
          </p:cNvPr>
          <p:cNvSpPr txBox="1"/>
          <p:nvPr/>
        </p:nvSpPr>
        <p:spPr>
          <a:xfrm>
            <a:off x="6142924" y="2103306"/>
            <a:ext cx="1940650" cy="276999"/>
          </a:xfrm>
          <a:prstGeom prst="rect">
            <a:avLst/>
          </a:prstGeom>
          <a:noFill/>
        </p:spPr>
        <p:txBody>
          <a:bodyPr wrap="square" rtlCol="0">
            <a:spAutoFit/>
          </a:bodyPr>
          <a:lstStyle/>
          <a:p>
            <a:r>
              <a:rPr lang="en-GB" sz="1200" b="1" dirty="0">
                <a:solidFill>
                  <a:schemeClr val="tx2"/>
                </a:solidFill>
                <a:latin typeface="Arial" panose="020B0604020202020204" pitchFamily="34" charset="0"/>
                <a:cs typeface="Arial" panose="020B0604020202020204" pitchFamily="34" charset="0"/>
              </a:rPr>
              <a:t>Challenge 2</a:t>
            </a:r>
          </a:p>
        </p:txBody>
      </p:sp>
      <p:sp>
        <p:nvSpPr>
          <p:cNvPr id="19" name="TextBox 18">
            <a:extLst>
              <a:ext uri="{FF2B5EF4-FFF2-40B4-BE49-F238E27FC236}">
                <a16:creationId xmlns:a16="http://schemas.microsoft.com/office/drawing/2014/main" id="{FAC3B2A3-0F7E-4B1E-AB5E-9DB1E8945F2D}"/>
              </a:ext>
            </a:extLst>
          </p:cNvPr>
          <p:cNvSpPr txBox="1"/>
          <p:nvPr/>
        </p:nvSpPr>
        <p:spPr>
          <a:xfrm>
            <a:off x="8830761" y="2103306"/>
            <a:ext cx="1940650" cy="276999"/>
          </a:xfrm>
          <a:prstGeom prst="rect">
            <a:avLst/>
          </a:prstGeom>
          <a:noFill/>
        </p:spPr>
        <p:txBody>
          <a:bodyPr wrap="square" rtlCol="0">
            <a:spAutoFit/>
          </a:bodyPr>
          <a:lstStyle/>
          <a:p>
            <a:r>
              <a:rPr lang="en-GB" sz="1200" b="1" dirty="0">
                <a:solidFill>
                  <a:schemeClr val="tx2"/>
                </a:solidFill>
                <a:latin typeface="Arial" panose="020B0604020202020204" pitchFamily="34" charset="0"/>
                <a:cs typeface="Arial" panose="020B0604020202020204" pitchFamily="34" charset="0"/>
              </a:rPr>
              <a:t>Challenge 4</a:t>
            </a:r>
          </a:p>
        </p:txBody>
      </p:sp>
      <p:pic>
        <p:nvPicPr>
          <p:cNvPr id="20" name="Graphic 19" descr="Magnifying glass">
            <a:extLst>
              <a:ext uri="{FF2B5EF4-FFF2-40B4-BE49-F238E27FC236}">
                <a16:creationId xmlns:a16="http://schemas.microsoft.com/office/drawing/2014/main" id="{2D2A8B34-3AA3-4520-A22E-6B246776DE4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194935" y="4016566"/>
            <a:ext cx="1192810" cy="1192810"/>
          </a:xfrm>
          <a:prstGeom prst="rect">
            <a:avLst/>
          </a:prstGeom>
        </p:spPr>
      </p:pic>
      <p:pic>
        <p:nvPicPr>
          <p:cNvPr id="21" name="Graphic 20" descr="Head with Gears">
            <a:extLst>
              <a:ext uri="{FF2B5EF4-FFF2-40B4-BE49-F238E27FC236}">
                <a16:creationId xmlns:a16="http://schemas.microsoft.com/office/drawing/2014/main" id="{08D7732C-029E-490E-859A-3A7D27AB38D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414378" y="4016566"/>
            <a:ext cx="1192710" cy="1192710"/>
          </a:xfrm>
          <a:prstGeom prst="rect">
            <a:avLst/>
          </a:prstGeom>
        </p:spPr>
      </p:pic>
      <p:pic>
        <p:nvPicPr>
          <p:cNvPr id="22" name="Graphic 21" descr="List">
            <a:extLst>
              <a:ext uri="{FF2B5EF4-FFF2-40B4-BE49-F238E27FC236}">
                <a16:creationId xmlns:a16="http://schemas.microsoft.com/office/drawing/2014/main" id="{8136C240-20D9-4378-8A43-AD4B8EB45B5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870400" y="4016566"/>
            <a:ext cx="1192710" cy="1192710"/>
          </a:xfrm>
          <a:prstGeom prst="rect">
            <a:avLst/>
          </a:prstGeom>
        </p:spPr>
      </p:pic>
      <p:pic>
        <p:nvPicPr>
          <p:cNvPr id="26" name="Graphic 25" descr="Tools">
            <a:extLst>
              <a:ext uri="{FF2B5EF4-FFF2-40B4-BE49-F238E27FC236}">
                <a16:creationId xmlns:a16="http://schemas.microsoft.com/office/drawing/2014/main" id="{5A3C569B-0672-44CC-BE51-5821BDB737BC}"/>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545765" y="4022558"/>
            <a:ext cx="1192710" cy="1192710"/>
          </a:xfrm>
          <a:prstGeom prst="rect">
            <a:avLst/>
          </a:prstGeom>
        </p:spPr>
      </p:pic>
      <p:sp>
        <p:nvSpPr>
          <p:cNvPr id="27" name="TextBox 26">
            <a:extLst>
              <a:ext uri="{FF2B5EF4-FFF2-40B4-BE49-F238E27FC236}">
                <a16:creationId xmlns:a16="http://schemas.microsoft.com/office/drawing/2014/main" id="{2FE3F211-741E-4854-85F1-F9986FEFAC2B}"/>
              </a:ext>
            </a:extLst>
          </p:cNvPr>
          <p:cNvSpPr txBox="1"/>
          <p:nvPr/>
        </p:nvSpPr>
        <p:spPr>
          <a:xfrm>
            <a:off x="646728" y="1525333"/>
            <a:ext cx="1940650" cy="369332"/>
          </a:xfrm>
          <a:prstGeom prst="rect">
            <a:avLst/>
          </a:prstGeom>
          <a:noFill/>
        </p:spPr>
        <p:txBody>
          <a:bodyPr wrap="square" rtlCol="0">
            <a:spAutoFit/>
          </a:bodyPr>
          <a:lstStyle/>
          <a:p>
            <a:r>
              <a:rPr lang="en-GB" b="1" dirty="0">
                <a:solidFill>
                  <a:schemeClr val="bg1">
                    <a:lumMod val="50000"/>
                  </a:schemeClr>
                </a:solidFill>
                <a:latin typeface="Arial" panose="020B0604020202020204" pitchFamily="34" charset="0"/>
                <a:cs typeface="Arial" panose="020B0604020202020204" pitchFamily="34" charset="0"/>
              </a:rPr>
              <a:t>Tuesday</a:t>
            </a:r>
            <a:endParaRPr lang="en-GB" sz="1200" b="1" dirty="0">
              <a:solidFill>
                <a:schemeClr val="bg1">
                  <a:lumMod val="50000"/>
                </a:schemeClr>
              </a:solidFill>
              <a:latin typeface="Arial" panose="020B0604020202020204" pitchFamily="34" charset="0"/>
              <a:cs typeface="Arial" panose="020B0604020202020204" pitchFamily="34" charset="0"/>
            </a:endParaRPr>
          </a:p>
        </p:txBody>
      </p:sp>
      <p:sp>
        <p:nvSpPr>
          <p:cNvPr id="28" name="TextBox 27">
            <a:extLst>
              <a:ext uri="{FF2B5EF4-FFF2-40B4-BE49-F238E27FC236}">
                <a16:creationId xmlns:a16="http://schemas.microsoft.com/office/drawing/2014/main" id="{890CE3DA-E2A1-40B9-A64E-F834445CC8B1}"/>
              </a:ext>
            </a:extLst>
          </p:cNvPr>
          <p:cNvSpPr txBox="1"/>
          <p:nvPr/>
        </p:nvSpPr>
        <p:spPr>
          <a:xfrm>
            <a:off x="6096000" y="1525333"/>
            <a:ext cx="1940650" cy="369332"/>
          </a:xfrm>
          <a:prstGeom prst="rect">
            <a:avLst/>
          </a:prstGeom>
          <a:noFill/>
        </p:spPr>
        <p:txBody>
          <a:bodyPr wrap="square" rtlCol="0">
            <a:spAutoFit/>
          </a:bodyPr>
          <a:lstStyle/>
          <a:p>
            <a:r>
              <a:rPr lang="en-GB" b="1" dirty="0">
                <a:solidFill>
                  <a:schemeClr val="bg1">
                    <a:lumMod val="50000"/>
                  </a:schemeClr>
                </a:solidFill>
                <a:latin typeface="Arial" panose="020B0604020202020204" pitchFamily="34" charset="0"/>
                <a:cs typeface="Arial" panose="020B0604020202020204" pitchFamily="34" charset="0"/>
              </a:rPr>
              <a:t>Wednesday</a:t>
            </a:r>
            <a:endParaRPr lang="en-GB" sz="1200" b="1" dirty="0">
              <a:solidFill>
                <a:schemeClr val="bg1">
                  <a:lumMod val="50000"/>
                </a:schemeClr>
              </a:solidFill>
              <a:latin typeface="Arial" panose="020B0604020202020204" pitchFamily="34" charset="0"/>
              <a:cs typeface="Arial" panose="020B0604020202020204" pitchFamily="34" charset="0"/>
            </a:endParaRPr>
          </a:p>
        </p:txBody>
      </p:sp>
      <p:cxnSp>
        <p:nvCxnSpPr>
          <p:cNvPr id="30" name="Straight Connector 29">
            <a:extLst>
              <a:ext uri="{FF2B5EF4-FFF2-40B4-BE49-F238E27FC236}">
                <a16:creationId xmlns:a16="http://schemas.microsoft.com/office/drawing/2014/main" id="{1F17F566-9146-4EC2-9AD8-D6699C835F94}"/>
              </a:ext>
            </a:extLst>
          </p:cNvPr>
          <p:cNvCxnSpPr/>
          <p:nvPr/>
        </p:nvCxnSpPr>
        <p:spPr>
          <a:xfrm>
            <a:off x="646728" y="1894665"/>
            <a:ext cx="5114937" cy="0"/>
          </a:xfrm>
          <a:prstGeom prst="line">
            <a:avLst/>
          </a:prstGeom>
          <a:ln w="12700">
            <a:solidFill>
              <a:schemeClr val="bg1">
                <a:lumMod val="50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54853050-2DC5-4030-93DE-58895D75B7FE}"/>
              </a:ext>
            </a:extLst>
          </p:cNvPr>
          <p:cNvCxnSpPr/>
          <p:nvPr/>
        </p:nvCxnSpPr>
        <p:spPr>
          <a:xfrm>
            <a:off x="6096000" y="1894665"/>
            <a:ext cx="5114937" cy="0"/>
          </a:xfrm>
          <a:prstGeom prst="line">
            <a:avLst/>
          </a:prstGeom>
          <a:ln w="12700">
            <a:solidFill>
              <a:schemeClr val="bg1">
                <a:lumMod val="50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739108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5ED3D9D4-8FB3-463B-9D4F-12513A680A88}"/>
              </a:ext>
            </a:extLst>
          </p:cNvPr>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5</a:t>
            </a:fld>
            <a:endParaRPr lang="en-US" dirty="0">
              <a:latin typeface="Arial" panose="020B0604020202020204" pitchFamily="34" charset="0"/>
              <a:cs typeface="MS PGothic" charset="0"/>
            </a:endParaRPr>
          </a:p>
        </p:txBody>
      </p:sp>
      <p:sp>
        <p:nvSpPr>
          <p:cNvPr id="6" name="Arrow: Chevron 5">
            <a:extLst>
              <a:ext uri="{FF2B5EF4-FFF2-40B4-BE49-F238E27FC236}">
                <a16:creationId xmlns:a16="http://schemas.microsoft.com/office/drawing/2014/main" id="{AA019EF3-2054-4B1F-A278-94FEDEC44710}"/>
              </a:ext>
            </a:extLst>
          </p:cNvPr>
          <p:cNvSpPr/>
          <p:nvPr/>
        </p:nvSpPr>
        <p:spPr>
          <a:xfrm>
            <a:off x="633228" y="1364118"/>
            <a:ext cx="2728011" cy="713762"/>
          </a:xfrm>
          <a:prstGeom prst="chevron">
            <a:avLst>
              <a:gd name="adj" fmla="val 24918"/>
            </a:avLst>
          </a:prstGeom>
          <a:solidFill>
            <a:schemeClr val="accent3"/>
          </a:solidFill>
          <a:ln w="25400" cap="flat" cmpd="sng" algn="ctr">
            <a:solidFill>
              <a:prstClr val="white">
                <a:hueOff val="0"/>
                <a:satOff val="0"/>
                <a:lumOff val="0"/>
                <a:alphaOff val="0"/>
              </a:prstClr>
            </a:solidFill>
            <a:prstDash val="solid"/>
          </a:ln>
          <a:effectLst/>
        </p:spPr>
        <p:txBody>
          <a:bodyPr spcFirstLastPara="0" vert="horz" wrap="square" lIns="127000" tIns="0" rIns="127000" bIns="0" numCol="1" spcCol="1270" anchor="ctr" anchorCtr="0">
            <a:noAutofit/>
          </a:bodyPr>
          <a:lstStyle/>
          <a:p>
            <a:endParaRPr lang="en-GB" sz="1400" dirty="0">
              <a:solidFill>
                <a:schemeClr val="bg1"/>
              </a:solidFill>
              <a:latin typeface="Arial" panose="020B0604020202020204" pitchFamily="34" charset="0"/>
              <a:cs typeface="Arial" panose="020B0604020202020204" pitchFamily="34" charset="0"/>
            </a:endParaRPr>
          </a:p>
        </p:txBody>
      </p:sp>
      <p:pic>
        <p:nvPicPr>
          <p:cNvPr id="21" name="Graphic 20" descr="Head with Gears">
            <a:extLst>
              <a:ext uri="{FF2B5EF4-FFF2-40B4-BE49-F238E27FC236}">
                <a16:creationId xmlns:a16="http://schemas.microsoft.com/office/drawing/2014/main" id="{08D7732C-029E-490E-859A-3A7D27AB38D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74994" y="1403177"/>
            <a:ext cx="642425" cy="642425"/>
          </a:xfrm>
          <a:prstGeom prst="rect">
            <a:avLst/>
          </a:prstGeom>
        </p:spPr>
      </p:pic>
      <p:sp>
        <p:nvSpPr>
          <p:cNvPr id="23" name="TextBox 22">
            <a:extLst>
              <a:ext uri="{FF2B5EF4-FFF2-40B4-BE49-F238E27FC236}">
                <a16:creationId xmlns:a16="http://schemas.microsoft.com/office/drawing/2014/main" id="{C442F61A-5D1F-428A-94A9-1EAD05F2963F}"/>
              </a:ext>
            </a:extLst>
          </p:cNvPr>
          <p:cNvSpPr txBox="1"/>
          <p:nvPr/>
        </p:nvSpPr>
        <p:spPr>
          <a:xfrm>
            <a:off x="1679435" y="1459389"/>
            <a:ext cx="1463585" cy="523220"/>
          </a:xfrm>
          <a:prstGeom prst="rect">
            <a:avLst/>
          </a:prstGeom>
          <a:noFill/>
        </p:spPr>
        <p:txBody>
          <a:bodyPr wrap="square" rtlCol="0">
            <a:spAutoFit/>
          </a:bodyPr>
          <a:lstStyle/>
          <a:p>
            <a:r>
              <a:rPr lang="en-GB" sz="1400" dirty="0">
                <a:solidFill>
                  <a:schemeClr val="bg1"/>
                </a:solidFill>
                <a:latin typeface="Arial" panose="020B0604020202020204" pitchFamily="34" charset="0"/>
                <a:cs typeface="Arial" panose="020B0604020202020204" pitchFamily="34" charset="0"/>
              </a:rPr>
              <a:t>Generalized construct</a:t>
            </a:r>
          </a:p>
        </p:txBody>
      </p:sp>
      <p:sp>
        <p:nvSpPr>
          <p:cNvPr id="24" name="Arrow: Chevron 23">
            <a:extLst>
              <a:ext uri="{FF2B5EF4-FFF2-40B4-BE49-F238E27FC236}">
                <a16:creationId xmlns:a16="http://schemas.microsoft.com/office/drawing/2014/main" id="{5DA552CC-1BF5-404D-A1EF-996825B0C607}"/>
              </a:ext>
            </a:extLst>
          </p:cNvPr>
          <p:cNvSpPr/>
          <p:nvPr/>
        </p:nvSpPr>
        <p:spPr>
          <a:xfrm>
            <a:off x="3367989" y="1364118"/>
            <a:ext cx="2728011" cy="713762"/>
          </a:xfrm>
          <a:prstGeom prst="chevron">
            <a:avLst>
              <a:gd name="adj" fmla="val 24918"/>
            </a:avLst>
          </a:prstGeom>
          <a:solidFill>
            <a:schemeClr val="accent3"/>
          </a:solidFill>
          <a:ln w="25400" cap="flat" cmpd="sng" algn="ctr">
            <a:solidFill>
              <a:prstClr val="white">
                <a:hueOff val="0"/>
                <a:satOff val="0"/>
                <a:lumOff val="0"/>
                <a:alphaOff val="0"/>
              </a:prstClr>
            </a:solidFill>
            <a:prstDash val="solid"/>
          </a:ln>
          <a:effectLst/>
        </p:spPr>
        <p:txBody>
          <a:bodyPr spcFirstLastPara="0" vert="horz" wrap="square" lIns="127000" tIns="0" rIns="127000" bIns="0" numCol="1" spcCol="1270" anchor="ctr" anchorCtr="0">
            <a:noAutofit/>
          </a:bodyPr>
          <a:lstStyle/>
          <a:p>
            <a:endParaRPr lang="en-GB" sz="1400" dirty="0">
              <a:solidFill>
                <a:schemeClr val="bg1"/>
              </a:solidFill>
              <a:latin typeface="Arial" panose="020B0604020202020204" pitchFamily="34" charset="0"/>
              <a:cs typeface="Arial" panose="020B0604020202020204" pitchFamily="34" charset="0"/>
            </a:endParaRPr>
          </a:p>
        </p:txBody>
      </p:sp>
      <p:sp>
        <p:nvSpPr>
          <p:cNvPr id="27" name="TextBox 26">
            <a:extLst>
              <a:ext uri="{FF2B5EF4-FFF2-40B4-BE49-F238E27FC236}">
                <a16:creationId xmlns:a16="http://schemas.microsoft.com/office/drawing/2014/main" id="{41A820CA-2131-4E78-90DA-D5DFF6C42C00}"/>
              </a:ext>
            </a:extLst>
          </p:cNvPr>
          <p:cNvSpPr txBox="1"/>
          <p:nvPr/>
        </p:nvSpPr>
        <p:spPr>
          <a:xfrm>
            <a:off x="4414196" y="1568899"/>
            <a:ext cx="1463585" cy="307777"/>
          </a:xfrm>
          <a:prstGeom prst="rect">
            <a:avLst/>
          </a:prstGeom>
          <a:noFill/>
        </p:spPr>
        <p:txBody>
          <a:bodyPr wrap="square" rtlCol="0">
            <a:spAutoFit/>
          </a:bodyPr>
          <a:lstStyle/>
          <a:p>
            <a:r>
              <a:rPr lang="en-GB" sz="1400" dirty="0">
                <a:solidFill>
                  <a:schemeClr val="bg1"/>
                </a:solidFill>
                <a:latin typeface="Arial" panose="020B0604020202020204" pitchFamily="34" charset="0"/>
                <a:cs typeface="Arial" panose="020B0604020202020204" pitchFamily="34" charset="0"/>
              </a:rPr>
              <a:t>Materiality</a:t>
            </a:r>
          </a:p>
        </p:txBody>
      </p:sp>
      <p:sp>
        <p:nvSpPr>
          <p:cNvPr id="28" name="Arrow: Chevron 27">
            <a:extLst>
              <a:ext uri="{FF2B5EF4-FFF2-40B4-BE49-F238E27FC236}">
                <a16:creationId xmlns:a16="http://schemas.microsoft.com/office/drawing/2014/main" id="{E183CB93-C443-4345-92A1-172F32732183}"/>
              </a:ext>
            </a:extLst>
          </p:cNvPr>
          <p:cNvSpPr/>
          <p:nvPr/>
        </p:nvSpPr>
        <p:spPr>
          <a:xfrm>
            <a:off x="6102750" y="1364118"/>
            <a:ext cx="2728011" cy="713762"/>
          </a:xfrm>
          <a:prstGeom prst="chevron">
            <a:avLst>
              <a:gd name="adj" fmla="val 24918"/>
            </a:avLst>
          </a:prstGeom>
          <a:solidFill>
            <a:schemeClr val="accent3"/>
          </a:solidFill>
          <a:ln w="25400" cap="flat" cmpd="sng" algn="ctr">
            <a:solidFill>
              <a:prstClr val="white">
                <a:hueOff val="0"/>
                <a:satOff val="0"/>
                <a:lumOff val="0"/>
                <a:alphaOff val="0"/>
              </a:prstClr>
            </a:solidFill>
            <a:prstDash val="solid"/>
          </a:ln>
          <a:effectLst/>
        </p:spPr>
        <p:txBody>
          <a:bodyPr spcFirstLastPara="0" vert="horz" wrap="square" lIns="127000" tIns="0" rIns="127000" bIns="0" numCol="1" spcCol="1270" anchor="ctr" anchorCtr="0">
            <a:noAutofit/>
          </a:bodyPr>
          <a:lstStyle/>
          <a:p>
            <a:endParaRPr lang="en-GB" sz="1400" dirty="0">
              <a:solidFill>
                <a:schemeClr val="bg1"/>
              </a:solidFill>
              <a:latin typeface="Arial" panose="020B0604020202020204" pitchFamily="34" charset="0"/>
              <a:cs typeface="Arial" panose="020B0604020202020204" pitchFamily="34" charset="0"/>
            </a:endParaRPr>
          </a:p>
        </p:txBody>
      </p:sp>
      <p:sp>
        <p:nvSpPr>
          <p:cNvPr id="30" name="TextBox 29">
            <a:extLst>
              <a:ext uri="{FF2B5EF4-FFF2-40B4-BE49-F238E27FC236}">
                <a16:creationId xmlns:a16="http://schemas.microsoft.com/office/drawing/2014/main" id="{AA3B481A-45AB-4E35-99B5-02DFBA6B20C8}"/>
              </a:ext>
            </a:extLst>
          </p:cNvPr>
          <p:cNvSpPr txBox="1"/>
          <p:nvPr/>
        </p:nvSpPr>
        <p:spPr>
          <a:xfrm>
            <a:off x="7148957" y="1563858"/>
            <a:ext cx="1463585" cy="307777"/>
          </a:xfrm>
          <a:prstGeom prst="rect">
            <a:avLst/>
          </a:prstGeom>
          <a:noFill/>
        </p:spPr>
        <p:txBody>
          <a:bodyPr wrap="square" rtlCol="0">
            <a:spAutoFit/>
          </a:bodyPr>
          <a:lstStyle/>
          <a:p>
            <a:r>
              <a:rPr lang="en-GB" sz="1400" dirty="0">
                <a:solidFill>
                  <a:schemeClr val="bg1"/>
                </a:solidFill>
                <a:latin typeface="Arial" panose="020B0604020202020204" pitchFamily="34" charset="0"/>
                <a:cs typeface="Arial" panose="020B0604020202020204" pitchFamily="34" charset="0"/>
              </a:rPr>
              <a:t>Criteria</a:t>
            </a:r>
          </a:p>
        </p:txBody>
      </p:sp>
      <p:sp>
        <p:nvSpPr>
          <p:cNvPr id="31" name="Arrow: Chevron 30">
            <a:extLst>
              <a:ext uri="{FF2B5EF4-FFF2-40B4-BE49-F238E27FC236}">
                <a16:creationId xmlns:a16="http://schemas.microsoft.com/office/drawing/2014/main" id="{2F3D0BD4-B249-428C-A267-6FAF08D3C314}"/>
              </a:ext>
            </a:extLst>
          </p:cNvPr>
          <p:cNvSpPr/>
          <p:nvPr/>
        </p:nvSpPr>
        <p:spPr>
          <a:xfrm>
            <a:off x="8830761" y="1353733"/>
            <a:ext cx="2728011" cy="713762"/>
          </a:xfrm>
          <a:prstGeom prst="chevron">
            <a:avLst>
              <a:gd name="adj" fmla="val 24918"/>
            </a:avLst>
          </a:prstGeom>
          <a:solidFill>
            <a:schemeClr val="accent3"/>
          </a:solidFill>
          <a:ln w="25400" cap="flat" cmpd="sng" algn="ctr">
            <a:solidFill>
              <a:prstClr val="white">
                <a:hueOff val="0"/>
                <a:satOff val="0"/>
                <a:lumOff val="0"/>
                <a:alphaOff val="0"/>
              </a:prstClr>
            </a:solidFill>
            <a:prstDash val="solid"/>
          </a:ln>
          <a:effectLst/>
        </p:spPr>
        <p:txBody>
          <a:bodyPr spcFirstLastPara="0" vert="horz" wrap="square" lIns="127000" tIns="0" rIns="127000" bIns="0" numCol="1" spcCol="1270" anchor="ctr" anchorCtr="0">
            <a:noAutofit/>
          </a:bodyPr>
          <a:lstStyle/>
          <a:p>
            <a:endParaRPr lang="en-GB" sz="1400" dirty="0">
              <a:solidFill>
                <a:schemeClr val="bg1"/>
              </a:solidFill>
              <a:latin typeface="Arial" panose="020B0604020202020204" pitchFamily="34" charset="0"/>
              <a:cs typeface="Arial" panose="020B0604020202020204" pitchFamily="34" charset="0"/>
            </a:endParaRPr>
          </a:p>
        </p:txBody>
      </p:sp>
      <p:pic>
        <p:nvPicPr>
          <p:cNvPr id="32" name="Graphic 31" descr="Tools">
            <a:extLst>
              <a:ext uri="{FF2B5EF4-FFF2-40B4-BE49-F238E27FC236}">
                <a16:creationId xmlns:a16="http://schemas.microsoft.com/office/drawing/2014/main" id="{971AB0AB-C8DA-458A-897C-CBC13827F3F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072527" y="1423895"/>
            <a:ext cx="605762" cy="605762"/>
          </a:xfrm>
          <a:prstGeom prst="rect">
            <a:avLst/>
          </a:prstGeom>
        </p:spPr>
      </p:pic>
      <p:sp>
        <p:nvSpPr>
          <p:cNvPr id="33" name="TextBox 32">
            <a:extLst>
              <a:ext uri="{FF2B5EF4-FFF2-40B4-BE49-F238E27FC236}">
                <a16:creationId xmlns:a16="http://schemas.microsoft.com/office/drawing/2014/main" id="{564C376C-65EB-4FE8-998D-746722F1295C}"/>
              </a:ext>
            </a:extLst>
          </p:cNvPr>
          <p:cNvSpPr txBox="1"/>
          <p:nvPr/>
        </p:nvSpPr>
        <p:spPr>
          <a:xfrm>
            <a:off x="9876968" y="1553530"/>
            <a:ext cx="1463585" cy="307777"/>
          </a:xfrm>
          <a:prstGeom prst="rect">
            <a:avLst/>
          </a:prstGeom>
          <a:noFill/>
        </p:spPr>
        <p:txBody>
          <a:bodyPr wrap="square" rtlCol="0">
            <a:spAutoFit/>
          </a:bodyPr>
          <a:lstStyle/>
          <a:p>
            <a:r>
              <a:rPr lang="en-GB" sz="1400" dirty="0">
                <a:solidFill>
                  <a:schemeClr val="bg1"/>
                </a:solidFill>
                <a:latin typeface="Arial" panose="020B0604020202020204" pitchFamily="34" charset="0"/>
                <a:cs typeface="Arial" panose="020B0604020202020204" pitchFamily="34" charset="0"/>
              </a:rPr>
              <a:t>Assertions</a:t>
            </a:r>
          </a:p>
        </p:txBody>
      </p:sp>
      <p:pic>
        <p:nvPicPr>
          <p:cNvPr id="22" name="Graphic 21" descr="List">
            <a:extLst>
              <a:ext uri="{FF2B5EF4-FFF2-40B4-BE49-F238E27FC236}">
                <a16:creationId xmlns:a16="http://schemas.microsoft.com/office/drawing/2014/main" id="{8136C240-20D9-4378-8A43-AD4B8EB45B5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337766" y="1403177"/>
            <a:ext cx="645189" cy="645189"/>
          </a:xfrm>
          <a:prstGeom prst="rect">
            <a:avLst/>
          </a:prstGeom>
        </p:spPr>
      </p:pic>
      <p:pic>
        <p:nvPicPr>
          <p:cNvPr id="20" name="Graphic 19" descr="Magnifying glass">
            <a:extLst>
              <a:ext uri="{FF2B5EF4-FFF2-40B4-BE49-F238E27FC236}">
                <a16:creationId xmlns:a16="http://schemas.microsoft.com/office/drawing/2014/main" id="{2D2A8B34-3AA3-4520-A22E-6B246776DE43}"/>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612130" y="1403177"/>
            <a:ext cx="626480" cy="626480"/>
          </a:xfrm>
          <a:prstGeom prst="rect">
            <a:avLst/>
          </a:prstGeom>
        </p:spPr>
      </p:pic>
      <p:sp>
        <p:nvSpPr>
          <p:cNvPr id="34" name="Content Placeholder 2">
            <a:extLst>
              <a:ext uri="{FF2B5EF4-FFF2-40B4-BE49-F238E27FC236}">
                <a16:creationId xmlns:a16="http://schemas.microsoft.com/office/drawing/2014/main" id="{04A8A084-C87F-4A68-A630-5E6FDC029E26}"/>
              </a:ext>
            </a:extLst>
          </p:cNvPr>
          <p:cNvSpPr txBox="1">
            <a:spLocks/>
          </p:cNvSpPr>
          <p:nvPr/>
        </p:nvSpPr>
        <p:spPr>
          <a:xfrm>
            <a:off x="2254737" y="5470455"/>
            <a:ext cx="6096000" cy="713762"/>
          </a:xfrm>
          <a:prstGeom prst="rect">
            <a:avLst/>
          </a:prstGeom>
        </p:spPr>
        <p:txBody>
          <a:bodyPr vert="horz" lIns="0" tIns="0" rIns="0" bIns="0" rtlCol="0">
            <a:noAutofit/>
          </a:bodyPr>
          <a:lstStyle>
            <a:lvl1pPr marL="173038" indent="-173038" algn="l" defTabSz="457200" rtl="0" eaLnBrk="1" latinLnBrk="0" hangingPunct="1">
              <a:spcBef>
                <a:spcPts val="1200"/>
              </a:spcBef>
              <a:buFont typeface="Arial"/>
              <a:buChar char="•"/>
              <a:defRPr sz="2000" kern="1200">
                <a:solidFill>
                  <a:schemeClr val="tx1">
                    <a:lumMod val="65000"/>
                    <a:lumOff val="35000"/>
                  </a:schemeClr>
                </a:solidFill>
                <a:latin typeface="Arial" panose="020B0604020202020204" pitchFamily="34" charset="0"/>
                <a:ea typeface="+mn-ea"/>
                <a:cs typeface="Arial" panose="020B0604020202020204" pitchFamily="34" charset="0"/>
              </a:defRPr>
            </a:lvl1pPr>
            <a:lvl2pPr marL="457200" indent="-228600" algn="l" defTabSz="457200" rtl="0" eaLnBrk="1" latinLnBrk="0" hangingPunct="1">
              <a:spcBef>
                <a:spcPts val="600"/>
              </a:spcBef>
              <a:spcAft>
                <a:spcPts val="400"/>
              </a:spcAft>
              <a:buFont typeface="Arial"/>
              <a:buChar char="–"/>
              <a:defRPr sz="1800" kern="1200">
                <a:solidFill>
                  <a:schemeClr val="tx1">
                    <a:lumMod val="65000"/>
                    <a:lumOff val="35000"/>
                  </a:schemeClr>
                </a:solidFill>
                <a:latin typeface="Arial" panose="020B0604020202020204" pitchFamily="34" charset="0"/>
                <a:ea typeface="+mn-ea"/>
                <a:cs typeface="Arial" panose="020B0604020202020204" pitchFamily="34" charset="0"/>
              </a:defRPr>
            </a:lvl2pPr>
            <a:lvl3pPr marL="630238" indent="-171450" algn="l" defTabSz="457200" rtl="0" eaLnBrk="1" latinLnBrk="0" hangingPunct="1">
              <a:spcBef>
                <a:spcPct val="20000"/>
              </a:spcBef>
              <a:buFont typeface="Arial"/>
              <a:buChar char="•"/>
              <a:defRPr sz="1600" kern="1200">
                <a:solidFill>
                  <a:schemeClr val="tx1">
                    <a:lumMod val="65000"/>
                    <a:lumOff val="35000"/>
                  </a:schemeClr>
                </a:solidFill>
                <a:latin typeface="Arial" panose="020B0604020202020204" pitchFamily="34" charset="0"/>
                <a:ea typeface="+mn-ea"/>
                <a:cs typeface="Arial" panose="020B0604020202020204" pitchFamily="34" charset="0"/>
              </a:defRPr>
            </a:lvl3pPr>
            <a:lvl4pPr marL="1600200" indent="-228600" algn="l" defTabSz="457200" rtl="0" eaLnBrk="1" latinLnBrk="0" hangingPunct="1">
              <a:spcBef>
                <a:spcPct val="20000"/>
              </a:spcBef>
              <a:buFont typeface="Arial"/>
              <a:buChar char="–"/>
              <a:defRPr sz="1400" kern="1200">
                <a:solidFill>
                  <a:schemeClr val="tx1"/>
                </a:solidFill>
                <a:latin typeface="Arial Narrow"/>
                <a:ea typeface="+mn-ea"/>
                <a:cs typeface="Arial Narrow"/>
              </a:defRPr>
            </a:lvl4pPr>
            <a:lvl5pPr marL="2057400" indent="-228600" algn="l" defTabSz="457200" rtl="0" eaLnBrk="1" latinLnBrk="0" hangingPunct="1">
              <a:spcBef>
                <a:spcPct val="20000"/>
              </a:spcBef>
              <a:buFont typeface="Arial"/>
              <a:buChar char="»"/>
              <a:defRPr sz="1400" kern="1200">
                <a:solidFill>
                  <a:schemeClr val="tx1"/>
                </a:solidFill>
                <a:latin typeface="Arial Narrow"/>
                <a:ea typeface="+mn-ea"/>
                <a:cs typeface="Arial Narrow"/>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GB" dirty="0">
                <a:solidFill>
                  <a:schemeClr val="bg1">
                    <a:lumMod val="50000"/>
                  </a:schemeClr>
                </a:solidFill>
              </a:rPr>
              <a:t>The IAASB is asked for its views on the possible form of the guidance.</a:t>
            </a:r>
          </a:p>
        </p:txBody>
      </p:sp>
      <p:sp>
        <p:nvSpPr>
          <p:cNvPr id="3" name="Rectangle 2">
            <a:extLst>
              <a:ext uri="{FF2B5EF4-FFF2-40B4-BE49-F238E27FC236}">
                <a16:creationId xmlns:a16="http://schemas.microsoft.com/office/drawing/2014/main" id="{7E57C0F6-3773-454D-B6CA-BB24FCFB458E}"/>
              </a:ext>
            </a:extLst>
          </p:cNvPr>
          <p:cNvSpPr/>
          <p:nvPr/>
        </p:nvSpPr>
        <p:spPr>
          <a:xfrm>
            <a:off x="633228" y="2404200"/>
            <a:ext cx="6096000" cy="369332"/>
          </a:xfrm>
          <a:prstGeom prst="rect">
            <a:avLst/>
          </a:prstGeom>
        </p:spPr>
        <p:txBody>
          <a:bodyPr>
            <a:spAutoFit/>
          </a:bodyPr>
          <a:lstStyle/>
          <a:p>
            <a:r>
              <a:rPr lang="en-GB" b="1" dirty="0">
                <a:solidFill>
                  <a:srgbClr val="000000"/>
                </a:solidFill>
                <a:latin typeface="Arial" panose="020B0604020202020204" pitchFamily="34" charset="0"/>
              </a:rPr>
              <a:t>Introduction and Overview of the Agenda Items </a:t>
            </a:r>
            <a:endParaRPr lang="en-GB" dirty="0"/>
          </a:p>
        </p:txBody>
      </p:sp>
      <p:sp>
        <p:nvSpPr>
          <p:cNvPr id="35" name="Content Placeholder 2">
            <a:extLst>
              <a:ext uri="{FF2B5EF4-FFF2-40B4-BE49-F238E27FC236}">
                <a16:creationId xmlns:a16="http://schemas.microsoft.com/office/drawing/2014/main" id="{1E37494C-CAED-4613-BC93-2B18C9A2D5B9}"/>
              </a:ext>
            </a:extLst>
          </p:cNvPr>
          <p:cNvSpPr txBox="1">
            <a:spLocks/>
          </p:cNvSpPr>
          <p:nvPr/>
        </p:nvSpPr>
        <p:spPr>
          <a:xfrm>
            <a:off x="770483" y="5353441"/>
            <a:ext cx="1193587" cy="713762"/>
          </a:xfrm>
          <a:prstGeom prst="rect">
            <a:avLst/>
          </a:prstGeom>
        </p:spPr>
        <p:txBody>
          <a:bodyPr vert="horz" lIns="0" tIns="0" rIns="0" bIns="0" rtlCol="0">
            <a:noAutofit/>
          </a:bodyPr>
          <a:lstStyle>
            <a:lvl1pPr marL="173038" indent="-173038" algn="l" defTabSz="457200" rtl="0" eaLnBrk="1" latinLnBrk="0" hangingPunct="1">
              <a:spcBef>
                <a:spcPts val="1200"/>
              </a:spcBef>
              <a:buFont typeface="Arial"/>
              <a:buChar char="•"/>
              <a:defRPr sz="2000" kern="1200">
                <a:solidFill>
                  <a:schemeClr val="tx1">
                    <a:lumMod val="65000"/>
                    <a:lumOff val="35000"/>
                  </a:schemeClr>
                </a:solidFill>
                <a:latin typeface="Arial" panose="020B0604020202020204" pitchFamily="34" charset="0"/>
                <a:ea typeface="+mn-ea"/>
                <a:cs typeface="Arial" panose="020B0604020202020204" pitchFamily="34" charset="0"/>
              </a:defRPr>
            </a:lvl1pPr>
            <a:lvl2pPr marL="457200" indent="-228600" algn="l" defTabSz="457200" rtl="0" eaLnBrk="1" latinLnBrk="0" hangingPunct="1">
              <a:spcBef>
                <a:spcPts val="600"/>
              </a:spcBef>
              <a:spcAft>
                <a:spcPts val="400"/>
              </a:spcAft>
              <a:buFont typeface="Arial"/>
              <a:buChar char="–"/>
              <a:defRPr sz="1800" kern="1200">
                <a:solidFill>
                  <a:schemeClr val="tx1">
                    <a:lumMod val="65000"/>
                    <a:lumOff val="35000"/>
                  </a:schemeClr>
                </a:solidFill>
                <a:latin typeface="Arial" panose="020B0604020202020204" pitchFamily="34" charset="0"/>
                <a:ea typeface="+mn-ea"/>
                <a:cs typeface="Arial" panose="020B0604020202020204" pitchFamily="34" charset="0"/>
              </a:defRPr>
            </a:lvl2pPr>
            <a:lvl3pPr marL="630238" indent="-171450" algn="l" defTabSz="457200" rtl="0" eaLnBrk="1" latinLnBrk="0" hangingPunct="1">
              <a:spcBef>
                <a:spcPct val="20000"/>
              </a:spcBef>
              <a:buFont typeface="Arial"/>
              <a:buChar char="•"/>
              <a:defRPr sz="1600" kern="1200">
                <a:solidFill>
                  <a:schemeClr val="tx1">
                    <a:lumMod val="65000"/>
                    <a:lumOff val="35000"/>
                  </a:schemeClr>
                </a:solidFill>
                <a:latin typeface="Arial" panose="020B0604020202020204" pitchFamily="34" charset="0"/>
                <a:ea typeface="+mn-ea"/>
                <a:cs typeface="Arial" panose="020B0604020202020204" pitchFamily="34" charset="0"/>
              </a:defRPr>
            </a:lvl3pPr>
            <a:lvl4pPr marL="1600200" indent="-228600" algn="l" defTabSz="457200" rtl="0" eaLnBrk="1" latinLnBrk="0" hangingPunct="1">
              <a:spcBef>
                <a:spcPct val="20000"/>
              </a:spcBef>
              <a:buFont typeface="Arial"/>
              <a:buChar char="–"/>
              <a:defRPr sz="1400" kern="1200">
                <a:solidFill>
                  <a:schemeClr val="tx1"/>
                </a:solidFill>
                <a:latin typeface="Arial Narrow"/>
                <a:ea typeface="+mn-ea"/>
                <a:cs typeface="Arial Narrow"/>
              </a:defRPr>
            </a:lvl4pPr>
            <a:lvl5pPr marL="2057400" indent="-228600" algn="l" defTabSz="457200" rtl="0" eaLnBrk="1" latinLnBrk="0" hangingPunct="1">
              <a:spcBef>
                <a:spcPct val="20000"/>
              </a:spcBef>
              <a:buFont typeface="Arial"/>
              <a:buChar char="»"/>
              <a:defRPr sz="1400" kern="1200">
                <a:solidFill>
                  <a:schemeClr val="tx1"/>
                </a:solidFill>
                <a:latin typeface="Arial Narrow"/>
                <a:ea typeface="+mn-ea"/>
                <a:cs typeface="Arial Narrow"/>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GB" sz="5400" b="1" dirty="0">
                <a:solidFill>
                  <a:schemeClr val="bg1">
                    <a:lumMod val="50000"/>
                  </a:schemeClr>
                </a:solidFill>
              </a:rPr>
              <a:t>Q1</a:t>
            </a:r>
          </a:p>
        </p:txBody>
      </p:sp>
      <p:sp>
        <p:nvSpPr>
          <p:cNvPr id="16" name="Rectangle 15">
            <a:extLst>
              <a:ext uri="{FF2B5EF4-FFF2-40B4-BE49-F238E27FC236}">
                <a16:creationId xmlns:a16="http://schemas.microsoft.com/office/drawing/2014/main" id="{8FACD109-750B-4E0D-856B-705B61BEB64B}"/>
              </a:ext>
            </a:extLst>
          </p:cNvPr>
          <p:cNvSpPr/>
          <p:nvPr/>
        </p:nvSpPr>
        <p:spPr>
          <a:xfrm>
            <a:off x="1272870" y="3052731"/>
            <a:ext cx="2841647" cy="1904497"/>
          </a:xfrm>
          <a:prstGeom prst="rect">
            <a:avLst/>
          </a:prstGeom>
          <a:solidFill>
            <a:schemeClr val="bg1"/>
          </a:solidFill>
          <a:ln>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t"/>
          <a:lstStyle/>
          <a:p>
            <a:pPr algn="ctr"/>
            <a:r>
              <a:rPr lang="en-GB" sz="1400" b="1" dirty="0">
                <a:solidFill>
                  <a:schemeClr val="bg1">
                    <a:lumMod val="50000"/>
                  </a:schemeClr>
                </a:solidFill>
                <a:latin typeface="Arial" panose="020B0604020202020204" pitchFamily="34" charset="0"/>
                <a:cs typeface="Arial" panose="020B0604020202020204" pitchFamily="34" charset="0"/>
              </a:rPr>
              <a:t>Non-authoritative guidance</a:t>
            </a:r>
          </a:p>
        </p:txBody>
      </p:sp>
      <p:sp>
        <p:nvSpPr>
          <p:cNvPr id="17" name="Rectangle: Rounded Corners 16">
            <a:extLst>
              <a:ext uri="{FF2B5EF4-FFF2-40B4-BE49-F238E27FC236}">
                <a16:creationId xmlns:a16="http://schemas.microsoft.com/office/drawing/2014/main" id="{072FAE55-9367-44C7-9679-1F9A5670DC2D}"/>
              </a:ext>
            </a:extLst>
          </p:cNvPr>
          <p:cNvSpPr/>
          <p:nvPr/>
        </p:nvSpPr>
        <p:spPr>
          <a:xfrm>
            <a:off x="1462886" y="3441865"/>
            <a:ext cx="1127560" cy="1291387"/>
          </a:xfrm>
          <a:prstGeom prst="roundRect">
            <a:avLst/>
          </a:prstGeom>
          <a:solidFill>
            <a:schemeClr val="bg1">
              <a:lumMod val="9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200" dirty="0">
                <a:solidFill>
                  <a:schemeClr val="bg1">
                    <a:lumMod val="50000"/>
                  </a:schemeClr>
                </a:solidFill>
                <a:latin typeface="Arial" panose="020B0604020202020204" pitchFamily="34" charset="0"/>
                <a:cs typeface="Arial" panose="020B0604020202020204" pitchFamily="34" charset="0"/>
              </a:rPr>
              <a:t>Application guidance for practitioners</a:t>
            </a:r>
            <a:endParaRPr lang="en-GB" dirty="0">
              <a:solidFill>
                <a:schemeClr val="bg1">
                  <a:lumMod val="50000"/>
                </a:schemeClr>
              </a:solidFill>
              <a:latin typeface="Arial" panose="020B0604020202020204" pitchFamily="34" charset="0"/>
              <a:cs typeface="Arial" panose="020B0604020202020204" pitchFamily="34" charset="0"/>
            </a:endParaRPr>
          </a:p>
        </p:txBody>
      </p:sp>
      <p:sp>
        <p:nvSpPr>
          <p:cNvPr id="36" name="Rectangle: Rounded Corners 35">
            <a:extLst>
              <a:ext uri="{FF2B5EF4-FFF2-40B4-BE49-F238E27FC236}">
                <a16:creationId xmlns:a16="http://schemas.microsoft.com/office/drawing/2014/main" id="{AFAE741B-A8A0-440A-9FB8-C2587C79FF10}"/>
              </a:ext>
            </a:extLst>
          </p:cNvPr>
          <p:cNvSpPr/>
          <p:nvPr/>
        </p:nvSpPr>
        <p:spPr>
          <a:xfrm>
            <a:off x="2780462" y="3441865"/>
            <a:ext cx="1127560" cy="1291387"/>
          </a:xfrm>
          <a:prstGeom prst="roundRect">
            <a:avLst/>
          </a:prstGeom>
          <a:solidFill>
            <a:schemeClr val="bg1">
              <a:lumMod val="9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200" dirty="0">
                <a:solidFill>
                  <a:schemeClr val="bg1">
                    <a:lumMod val="50000"/>
                  </a:schemeClr>
                </a:solidFill>
                <a:latin typeface="Arial" panose="020B0604020202020204" pitchFamily="34" charset="0"/>
                <a:cs typeface="Arial" panose="020B0604020202020204" pitchFamily="34" charset="0"/>
              </a:rPr>
              <a:t>Background information</a:t>
            </a:r>
            <a:endParaRPr lang="en-GB" dirty="0">
              <a:solidFill>
                <a:schemeClr val="bg1">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571781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CB293-FD8E-4F6C-92E5-62197E3FBA35}"/>
              </a:ext>
            </a:extLst>
          </p:cNvPr>
          <p:cNvSpPr>
            <a:spLocks noGrp="1"/>
          </p:cNvSpPr>
          <p:nvPr>
            <p:ph type="title"/>
          </p:nvPr>
        </p:nvSpPr>
        <p:spPr>
          <a:xfrm>
            <a:off x="508000" y="564078"/>
            <a:ext cx="11155916" cy="533400"/>
          </a:xfrm>
        </p:spPr>
        <p:txBody>
          <a:bodyPr/>
          <a:lstStyle/>
          <a:p>
            <a:r>
              <a:rPr lang="en-GB" dirty="0"/>
              <a:t>Generalized construct of an EER report and its relationship to assurance concepts </a:t>
            </a:r>
          </a:p>
        </p:txBody>
      </p:sp>
      <p:sp>
        <p:nvSpPr>
          <p:cNvPr id="4" name="Subtitle 3">
            <a:extLst>
              <a:ext uri="{FF2B5EF4-FFF2-40B4-BE49-F238E27FC236}">
                <a16:creationId xmlns:a16="http://schemas.microsoft.com/office/drawing/2014/main" id="{B523B462-EC00-44AE-A4FD-59C48B8568FD}"/>
              </a:ext>
            </a:extLst>
          </p:cNvPr>
          <p:cNvSpPr>
            <a:spLocks noGrp="1"/>
          </p:cNvSpPr>
          <p:nvPr>
            <p:ph type="subTitle" idx="10"/>
          </p:nvPr>
        </p:nvSpPr>
        <p:spPr/>
        <p:txBody>
          <a:bodyPr/>
          <a:lstStyle/>
          <a:p>
            <a:endParaRPr lang="en-GB"/>
          </a:p>
        </p:txBody>
      </p:sp>
      <p:sp>
        <p:nvSpPr>
          <p:cNvPr id="5" name="Slide Number Placeholder 4">
            <a:extLst>
              <a:ext uri="{FF2B5EF4-FFF2-40B4-BE49-F238E27FC236}">
                <a16:creationId xmlns:a16="http://schemas.microsoft.com/office/drawing/2014/main" id="{5ED3D9D4-8FB3-463B-9D4F-12513A680A88}"/>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6</a:t>
            </a:fld>
            <a:endParaRPr lang="en-US" dirty="0">
              <a:latin typeface="Arial" panose="020B0604020202020204" pitchFamily="34" charset="0"/>
              <a:cs typeface="MS PGothic" charset="0"/>
            </a:endParaRPr>
          </a:p>
        </p:txBody>
      </p:sp>
      <p:sp>
        <p:nvSpPr>
          <p:cNvPr id="6" name="Arrow: Chevron 5">
            <a:extLst>
              <a:ext uri="{FF2B5EF4-FFF2-40B4-BE49-F238E27FC236}">
                <a16:creationId xmlns:a16="http://schemas.microsoft.com/office/drawing/2014/main" id="{AA019EF3-2054-4B1F-A278-94FEDEC44710}"/>
              </a:ext>
            </a:extLst>
          </p:cNvPr>
          <p:cNvSpPr/>
          <p:nvPr/>
        </p:nvSpPr>
        <p:spPr>
          <a:xfrm>
            <a:off x="633228" y="1364118"/>
            <a:ext cx="2728011" cy="713762"/>
          </a:xfrm>
          <a:prstGeom prst="chevron">
            <a:avLst>
              <a:gd name="adj" fmla="val 24918"/>
            </a:avLst>
          </a:prstGeom>
          <a:solidFill>
            <a:schemeClr val="accent3"/>
          </a:solidFill>
          <a:ln w="25400" cap="flat" cmpd="sng" algn="ctr">
            <a:solidFill>
              <a:prstClr val="white">
                <a:hueOff val="0"/>
                <a:satOff val="0"/>
                <a:lumOff val="0"/>
                <a:alphaOff val="0"/>
              </a:prstClr>
            </a:solidFill>
            <a:prstDash val="solid"/>
          </a:ln>
          <a:effectLst/>
        </p:spPr>
        <p:txBody>
          <a:bodyPr spcFirstLastPara="0" vert="horz" wrap="square" lIns="127000" tIns="0" rIns="127000" bIns="0" numCol="1" spcCol="1270" anchor="ctr" anchorCtr="0">
            <a:noAutofit/>
          </a:bodyPr>
          <a:lstStyle/>
          <a:p>
            <a:endParaRPr lang="en-GB" sz="1400" dirty="0">
              <a:solidFill>
                <a:schemeClr val="bg1"/>
              </a:solidFill>
              <a:latin typeface="Arial" panose="020B0604020202020204" pitchFamily="34" charset="0"/>
              <a:cs typeface="Arial" panose="020B0604020202020204" pitchFamily="34" charset="0"/>
            </a:endParaRPr>
          </a:p>
        </p:txBody>
      </p:sp>
      <p:pic>
        <p:nvPicPr>
          <p:cNvPr id="21" name="Graphic 20" descr="Head with Gears">
            <a:extLst>
              <a:ext uri="{FF2B5EF4-FFF2-40B4-BE49-F238E27FC236}">
                <a16:creationId xmlns:a16="http://schemas.microsoft.com/office/drawing/2014/main" id="{08D7732C-029E-490E-859A-3A7D27AB38D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74994" y="1403177"/>
            <a:ext cx="642425" cy="642425"/>
          </a:xfrm>
          <a:prstGeom prst="rect">
            <a:avLst/>
          </a:prstGeom>
        </p:spPr>
      </p:pic>
      <p:sp>
        <p:nvSpPr>
          <p:cNvPr id="23" name="TextBox 22">
            <a:extLst>
              <a:ext uri="{FF2B5EF4-FFF2-40B4-BE49-F238E27FC236}">
                <a16:creationId xmlns:a16="http://schemas.microsoft.com/office/drawing/2014/main" id="{C442F61A-5D1F-428A-94A9-1EAD05F2963F}"/>
              </a:ext>
            </a:extLst>
          </p:cNvPr>
          <p:cNvSpPr txBox="1"/>
          <p:nvPr/>
        </p:nvSpPr>
        <p:spPr>
          <a:xfrm>
            <a:off x="1679435" y="1459389"/>
            <a:ext cx="1463585" cy="523220"/>
          </a:xfrm>
          <a:prstGeom prst="rect">
            <a:avLst/>
          </a:prstGeom>
          <a:noFill/>
        </p:spPr>
        <p:txBody>
          <a:bodyPr wrap="square" rtlCol="0">
            <a:spAutoFit/>
          </a:bodyPr>
          <a:lstStyle/>
          <a:p>
            <a:r>
              <a:rPr lang="en-GB" sz="1400" dirty="0">
                <a:solidFill>
                  <a:schemeClr val="bg1"/>
                </a:solidFill>
                <a:latin typeface="Arial" panose="020B0604020202020204" pitchFamily="34" charset="0"/>
                <a:cs typeface="Arial" panose="020B0604020202020204" pitchFamily="34" charset="0"/>
              </a:rPr>
              <a:t>Generalized construct</a:t>
            </a:r>
          </a:p>
        </p:txBody>
      </p:sp>
      <p:sp>
        <p:nvSpPr>
          <p:cNvPr id="24" name="Arrow: Chevron 23">
            <a:extLst>
              <a:ext uri="{FF2B5EF4-FFF2-40B4-BE49-F238E27FC236}">
                <a16:creationId xmlns:a16="http://schemas.microsoft.com/office/drawing/2014/main" id="{5DA552CC-1BF5-404D-A1EF-996825B0C607}"/>
              </a:ext>
            </a:extLst>
          </p:cNvPr>
          <p:cNvSpPr/>
          <p:nvPr/>
        </p:nvSpPr>
        <p:spPr>
          <a:xfrm>
            <a:off x="3367989" y="1364118"/>
            <a:ext cx="2728011" cy="713762"/>
          </a:xfrm>
          <a:prstGeom prst="chevron">
            <a:avLst>
              <a:gd name="adj" fmla="val 24918"/>
            </a:avLst>
          </a:prstGeom>
          <a:solidFill>
            <a:schemeClr val="accent3">
              <a:lumMod val="20000"/>
              <a:lumOff val="80000"/>
            </a:schemeClr>
          </a:solidFill>
          <a:ln w="25400" cap="flat" cmpd="sng" algn="ctr">
            <a:solidFill>
              <a:prstClr val="white">
                <a:hueOff val="0"/>
                <a:satOff val="0"/>
                <a:lumOff val="0"/>
                <a:alphaOff val="0"/>
              </a:prstClr>
            </a:solidFill>
            <a:prstDash val="solid"/>
          </a:ln>
          <a:effectLst/>
        </p:spPr>
        <p:txBody>
          <a:bodyPr spcFirstLastPara="0" vert="horz" wrap="square" lIns="127000" tIns="0" rIns="127000" bIns="0" numCol="1" spcCol="1270" anchor="ctr" anchorCtr="0">
            <a:noAutofit/>
          </a:bodyPr>
          <a:lstStyle/>
          <a:p>
            <a:endParaRPr lang="en-GB" sz="1400" dirty="0">
              <a:solidFill>
                <a:schemeClr val="bg1"/>
              </a:solidFill>
              <a:latin typeface="Arial" panose="020B0604020202020204" pitchFamily="34" charset="0"/>
              <a:cs typeface="Arial" panose="020B0604020202020204" pitchFamily="34" charset="0"/>
            </a:endParaRPr>
          </a:p>
        </p:txBody>
      </p:sp>
      <p:sp>
        <p:nvSpPr>
          <p:cNvPr id="27" name="TextBox 26">
            <a:extLst>
              <a:ext uri="{FF2B5EF4-FFF2-40B4-BE49-F238E27FC236}">
                <a16:creationId xmlns:a16="http://schemas.microsoft.com/office/drawing/2014/main" id="{41A820CA-2131-4E78-90DA-D5DFF6C42C00}"/>
              </a:ext>
            </a:extLst>
          </p:cNvPr>
          <p:cNvSpPr txBox="1"/>
          <p:nvPr/>
        </p:nvSpPr>
        <p:spPr>
          <a:xfrm>
            <a:off x="4414196" y="1568899"/>
            <a:ext cx="1463585" cy="307777"/>
          </a:xfrm>
          <a:prstGeom prst="rect">
            <a:avLst/>
          </a:prstGeom>
          <a:noFill/>
        </p:spPr>
        <p:txBody>
          <a:bodyPr wrap="square" rtlCol="0">
            <a:spAutoFit/>
          </a:bodyPr>
          <a:lstStyle/>
          <a:p>
            <a:r>
              <a:rPr lang="en-GB" sz="1400" dirty="0">
                <a:solidFill>
                  <a:schemeClr val="bg1"/>
                </a:solidFill>
                <a:latin typeface="Arial" panose="020B0604020202020204" pitchFamily="34" charset="0"/>
                <a:cs typeface="Arial" panose="020B0604020202020204" pitchFamily="34" charset="0"/>
              </a:rPr>
              <a:t>Materiality</a:t>
            </a:r>
          </a:p>
        </p:txBody>
      </p:sp>
      <p:sp>
        <p:nvSpPr>
          <p:cNvPr id="28" name="Arrow: Chevron 27">
            <a:extLst>
              <a:ext uri="{FF2B5EF4-FFF2-40B4-BE49-F238E27FC236}">
                <a16:creationId xmlns:a16="http://schemas.microsoft.com/office/drawing/2014/main" id="{E183CB93-C443-4345-92A1-172F32732183}"/>
              </a:ext>
            </a:extLst>
          </p:cNvPr>
          <p:cNvSpPr/>
          <p:nvPr/>
        </p:nvSpPr>
        <p:spPr>
          <a:xfrm>
            <a:off x="6102750" y="1364118"/>
            <a:ext cx="2728011" cy="713762"/>
          </a:xfrm>
          <a:prstGeom prst="chevron">
            <a:avLst>
              <a:gd name="adj" fmla="val 24918"/>
            </a:avLst>
          </a:prstGeom>
          <a:solidFill>
            <a:schemeClr val="accent3">
              <a:lumMod val="20000"/>
              <a:lumOff val="80000"/>
            </a:schemeClr>
          </a:solidFill>
          <a:ln w="25400" cap="flat" cmpd="sng" algn="ctr">
            <a:solidFill>
              <a:prstClr val="white">
                <a:hueOff val="0"/>
                <a:satOff val="0"/>
                <a:lumOff val="0"/>
                <a:alphaOff val="0"/>
              </a:prstClr>
            </a:solidFill>
            <a:prstDash val="solid"/>
          </a:ln>
          <a:effectLst/>
        </p:spPr>
        <p:txBody>
          <a:bodyPr spcFirstLastPara="0" vert="horz" wrap="square" lIns="127000" tIns="0" rIns="127000" bIns="0" numCol="1" spcCol="1270" anchor="ctr" anchorCtr="0">
            <a:noAutofit/>
          </a:bodyPr>
          <a:lstStyle/>
          <a:p>
            <a:endParaRPr lang="en-GB" sz="1400" dirty="0">
              <a:solidFill>
                <a:schemeClr val="bg1"/>
              </a:solidFill>
              <a:latin typeface="Arial" panose="020B0604020202020204" pitchFamily="34" charset="0"/>
              <a:cs typeface="Arial" panose="020B0604020202020204" pitchFamily="34" charset="0"/>
            </a:endParaRPr>
          </a:p>
        </p:txBody>
      </p:sp>
      <p:sp>
        <p:nvSpPr>
          <p:cNvPr id="30" name="TextBox 29">
            <a:extLst>
              <a:ext uri="{FF2B5EF4-FFF2-40B4-BE49-F238E27FC236}">
                <a16:creationId xmlns:a16="http://schemas.microsoft.com/office/drawing/2014/main" id="{AA3B481A-45AB-4E35-99B5-02DFBA6B20C8}"/>
              </a:ext>
            </a:extLst>
          </p:cNvPr>
          <p:cNvSpPr txBox="1"/>
          <p:nvPr/>
        </p:nvSpPr>
        <p:spPr>
          <a:xfrm>
            <a:off x="7148957" y="1563858"/>
            <a:ext cx="1463585" cy="307777"/>
          </a:xfrm>
          <a:prstGeom prst="rect">
            <a:avLst/>
          </a:prstGeom>
          <a:noFill/>
        </p:spPr>
        <p:txBody>
          <a:bodyPr wrap="square" rtlCol="0">
            <a:spAutoFit/>
          </a:bodyPr>
          <a:lstStyle/>
          <a:p>
            <a:r>
              <a:rPr lang="en-GB" sz="1400" dirty="0">
                <a:solidFill>
                  <a:schemeClr val="bg1"/>
                </a:solidFill>
                <a:latin typeface="Arial" panose="020B0604020202020204" pitchFamily="34" charset="0"/>
                <a:cs typeface="Arial" panose="020B0604020202020204" pitchFamily="34" charset="0"/>
              </a:rPr>
              <a:t>Criteria</a:t>
            </a:r>
          </a:p>
        </p:txBody>
      </p:sp>
      <p:sp>
        <p:nvSpPr>
          <p:cNvPr id="31" name="Arrow: Chevron 30">
            <a:extLst>
              <a:ext uri="{FF2B5EF4-FFF2-40B4-BE49-F238E27FC236}">
                <a16:creationId xmlns:a16="http://schemas.microsoft.com/office/drawing/2014/main" id="{2F3D0BD4-B249-428C-A267-6FAF08D3C314}"/>
              </a:ext>
            </a:extLst>
          </p:cNvPr>
          <p:cNvSpPr/>
          <p:nvPr/>
        </p:nvSpPr>
        <p:spPr>
          <a:xfrm>
            <a:off x="8830761" y="1353733"/>
            <a:ext cx="2728011" cy="713762"/>
          </a:xfrm>
          <a:prstGeom prst="chevron">
            <a:avLst>
              <a:gd name="adj" fmla="val 24918"/>
            </a:avLst>
          </a:prstGeom>
          <a:solidFill>
            <a:schemeClr val="accent3">
              <a:lumMod val="20000"/>
              <a:lumOff val="80000"/>
            </a:schemeClr>
          </a:solidFill>
          <a:ln w="25400" cap="flat" cmpd="sng" algn="ctr">
            <a:solidFill>
              <a:prstClr val="white">
                <a:hueOff val="0"/>
                <a:satOff val="0"/>
                <a:lumOff val="0"/>
                <a:alphaOff val="0"/>
              </a:prstClr>
            </a:solidFill>
            <a:prstDash val="solid"/>
          </a:ln>
          <a:effectLst/>
        </p:spPr>
        <p:txBody>
          <a:bodyPr spcFirstLastPara="0" vert="horz" wrap="square" lIns="127000" tIns="0" rIns="127000" bIns="0" numCol="1" spcCol="1270" anchor="ctr" anchorCtr="0">
            <a:noAutofit/>
          </a:bodyPr>
          <a:lstStyle/>
          <a:p>
            <a:endParaRPr lang="en-GB" sz="1400" dirty="0">
              <a:solidFill>
                <a:schemeClr val="bg1"/>
              </a:solidFill>
              <a:latin typeface="Arial" panose="020B0604020202020204" pitchFamily="34" charset="0"/>
              <a:cs typeface="Arial" panose="020B0604020202020204" pitchFamily="34" charset="0"/>
            </a:endParaRPr>
          </a:p>
        </p:txBody>
      </p:sp>
      <p:pic>
        <p:nvPicPr>
          <p:cNvPr id="32" name="Graphic 31" descr="Tools">
            <a:extLst>
              <a:ext uri="{FF2B5EF4-FFF2-40B4-BE49-F238E27FC236}">
                <a16:creationId xmlns:a16="http://schemas.microsoft.com/office/drawing/2014/main" id="{971AB0AB-C8DA-458A-897C-CBC13827F3F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072527" y="1423895"/>
            <a:ext cx="605762" cy="605762"/>
          </a:xfrm>
          <a:prstGeom prst="rect">
            <a:avLst/>
          </a:prstGeom>
        </p:spPr>
      </p:pic>
      <p:sp>
        <p:nvSpPr>
          <p:cNvPr id="33" name="TextBox 32">
            <a:extLst>
              <a:ext uri="{FF2B5EF4-FFF2-40B4-BE49-F238E27FC236}">
                <a16:creationId xmlns:a16="http://schemas.microsoft.com/office/drawing/2014/main" id="{564C376C-65EB-4FE8-998D-746722F1295C}"/>
              </a:ext>
            </a:extLst>
          </p:cNvPr>
          <p:cNvSpPr txBox="1"/>
          <p:nvPr/>
        </p:nvSpPr>
        <p:spPr>
          <a:xfrm>
            <a:off x="9876968" y="1553530"/>
            <a:ext cx="1463585" cy="307777"/>
          </a:xfrm>
          <a:prstGeom prst="rect">
            <a:avLst/>
          </a:prstGeom>
          <a:noFill/>
        </p:spPr>
        <p:txBody>
          <a:bodyPr wrap="square" rtlCol="0">
            <a:spAutoFit/>
          </a:bodyPr>
          <a:lstStyle/>
          <a:p>
            <a:r>
              <a:rPr lang="en-GB" sz="1400" dirty="0">
                <a:solidFill>
                  <a:schemeClr val="bg1"/>
                </a:solidFill>
                <a:latin typeface="Arial" panose="020B0604020202020204" pitchFamily="34" charset="0"/>
                <a:cs typeface="Arial" panose="020B0604020202020204" pitchFamily="34" charset="0"/>
              </a:rPr>
              <a:t>Assertions</a:t>
            </a:r>
          </a:p>
        </p:txBody>
      </p:sp>
      <p:pic>
        <p:nvPicPr>
          <p:cNvPr id="22" name="Graphic 21" descr="List">
            <a:extLst>
              <a:ext uri="{FF2B5EF4-FFF2-40B4-BE49-F238E27FC236}">
                <a16:creationId xmlns:a16="http://schemas.microsoft.com/office/drawing/2014/main" id="{8136C240-20D9-4378-8A43-AD4B8EB45B5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337766" y="1403177"/>
            <a:ext cx="645189" cy="645189"/>
          </a:xfrm>
          <a:prstGeom prst="rect">
            <a:avLst/>
          </a:prstGeom>
        </p:spPr>
      </p:pic>
      <p:pic>
        <p:nvPicPr>
          <p:cNvPr id="20" name="Graphic 19" descr="Magnifying glass">
            <a:extLst>
              <a:ext uri="{FF2B5EF4-FFF2-40B4-BE49-F238E27FC236}">
                <a16:creationId xmlns:a16="http://schemas.microsoft.com/office/drawing/2014/main" id="{2D2A8B34-3AA3-4520-A22E-6B246776DE43}"/>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612130" y="1403177"/>
            <a:ext cx="626480" cy="626480"/>
          </a:xfrm>
          <a:prstGeom prst="rect">
            <a:avLst/>
          </a:prstGeom>
        </p:spPr>
      </p:pic>
      <p:sp>
        <p:nvSpPr>
          <p:cNvPr id="17" name="Oval 16">
            <a:extLst>
              <a:ext uri="{FF2B5EF4-FFF2-40B4-BE49-F238E27FC236}">
                <a16:creationId xmlns:a16="http://schemas.microsoft.com/office/drawing/2014/main" id="{F48C5B14-1916-4CFE-9EC5-AB12CCD30CB1}"/>
              </a:ext>
            </a:extLst>
          </p:cNvPr>
          <p:cNvSpPr/>
          <p:nvPr/>
        </p:nvSpPr>
        <p:spPr>
          <a:xfrm>
            <a:off x="805273" y="2368254"/>
            <a:ext cx="1589854" cy="1589854"/>
          </a:xfrm>
          <a:prstGeom prst="ellipse">
            <a:avLst/>
          </a:prstGeom>
          <a:solidFill>
            <a:schemeClr val="accent3"/>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b="1" dirty="0">
                <a:latin typeface="Arial" panose="020B0604020202020204" pitchFamily="34" charset="0"/>
                <a:cs typeface="Arial" panose="020B0604020202020204" pitchFamily="34" charset="0"/>
              </a:rPr>
              <a:t>underlying</a:t>
            </a:r>
          </a:p>
          <a:p>
            <a:pPr algn="ctr"/>
            <a:r>
              <a:rPr lang="en-GB" b="1" dirty="0">
                <a:latin typeface="Arial" panose="020B0604020202020204" pitchFamily="34" charset="0"/>
                <a:cs typeface="Arial" panose="020B0604020202020204" pitchFamily="34" charset="0"/>
              </a:rPr>
              <a:t>subject</a:t>
            </a:r>
          </a:p>
          <a:p>
            <a:pPr algn="ctr"/>
            <a:r>
              <a:rPr lang="en-GB" b="1" dirty="0">
                <a:latin typeface="Arial" panose="020B0604020202020204" pitchFamily="34" charset="0"/>
                <a:cs typeface="Arial" panose="020B0604020202020204" pitchFamily="34" charset="0"/>
              </a:rPr>
              <a:t>matter</a:t>
            </a:r>
            <a:endParaRPr lang="en-GB" sz="1400" b="1" dirty="0">
              <a:latin typeface="Arial" panose="020B0604020202020204" pitchFamily="34" charset="0"/>
              <a:cs typeface="Arial" panose="020B0604020202020204" pitchFamily="34" charset="0"/>
            </a:endParaRPr>
          </a:p>
        </p:txBody>
      </p:sp>
      <p:sp>
        <p:nvSpPr>
          <p:cNvPr id="18" name="Oval 17">
            <a:extLst>
              <a:ext uri="{FF2B5EF4-FFF2-40B4-BE49-F238E27FC236}">
                <a16:creationId xmlns:a16="http://schemas.microsoft.com/office/drawing/2014/main" id="{60DFD2BB-CDAB-4D06-A1E4-F9AD45A71313}"/>
              </a:ext>
            </a:extLst>
          </p:cNvPr>
          <p:cNvSpPr/>
          <p:nvPr/>
        </p:nvSpPr>
        <p:spPr>
          <a:xfrm>
            <a:off x="3528796" y="2368254"/>
            <a:ext cx="1589854" cy="1589854"/>
          </a:xfrm>
          <a:prstGeom prst="ellipse">
            <a:avLst/>
          </a:prstGeom>
          <a:solidFill>
            <a:schemeClr val="accent3"/>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b="1" dirty="0">
                <a:latin typeface="Arial" panose="020B0604020202020204" pitchFamily="34" charset="0"/>
                <a:cs typeface="Arial" panose="020B0604020202020204" pitchFamily="34" charset="0"/>
              </a:rPr>
              <a:t>criteria</a:t>
            </a:r>
            <a:endParaRPr lang="en-GB" sz="1400" b="1" dirty="0">
              <a:latin typeface="Arial" panose="020B0604020202020204" pitchFamily="34" charset="0"/>
              <a:cs typeface="Arial" panose="020B0604020202020204" pitchFamily="34" charset="0"/>
            </a:endParaRPr>
          </a:p>
        </p:txBody>
      </p:sp>
      <p:sp>
        <p:nvSpPr>
          <p:cNvPr id="19" name="Oval 18">
            <a:extLst>
              <a:ext uri="{FF2B5EF4-FFF2-40B4-BE49-F238E27FC236}">
                <a16:creationId xmlns:a16="http://schemas.microsoft.com/office/drawing/2014/main" id="{542C256B-D6CE-416B-9564-170BD5E83D54}"/>
              </a:ext>
            </a:extLst>
          </p:cNvPr>
          <p:cNvSpPr/>
          <p:nvPr/>
        </p:nvSpPr>
        <p:spPr>
          <a:xfrm>
            <a:off x="6290895" y="2368254"/>
            <a:ext cx="1589854" cy="1589854"/>
          </a:xfrm>
          <a:prstGeom prst="ellipse">
            <a:avLst/>
          </a:prstGeom>
          <a:solidFill>
            <a:schemeClr val="accent3"/>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b="1" dirty="0">
                <a:latin typeface="Arial" panose="020B0604020202020204" pitchFamily="34" charset="0"/>
                <a:cs typeface="Arial" panose="020B0604020202020204" pitchFamily="34" charset="0"/>
              </a:rPr>
              <a:t>subject</a:t>
            </a:r>
          </a:p>
          <a:p>
            <a:pPr algn="ctr"/>
            <a:r>
              <a:rPr lang="en-GB" b="1" dirty="0">
                <a:latin typeface="Arial" panose="020B0604020202020204" pitchFamily="34" charset="0"/>
                <a:cs typeface="Arial" panose="020B0604020202020204" pitchFamily="34" charset="0"/>
              </a:rPr>
              <a:t>matter</a:t>
            </a:r>
          </a:p>
          <a:p>
            <a:pPr algn="ctr"/>
            <a:r>
              <a:rPr lang="en-GB" b="1" dirty="0">
                <a:latin typeface="Arial" panose="020B0604020202020204" pitchFamily="34" charset="0"/>
                <a:cs typeface="Arial" panose="020B0604020202020204" pitchFamily="34" charset="0"/>
              </a:rPr>
              <a:t>information</a:t>
            </a:r>
          </a:p>
        </p:txBody>
      </p:sp>
      <p:pic>
        <p:nvPicPr>
          <p:cNvPr id="25" name="Graphic 24" descr="Add">
            <a:extLst>
              <a:ext uri="{FF2B5EF4-FFF2-40B4-BE49-F238E27FC236}">
                <a16:creationId xmlns:a16="http://schemas.microsoft.com/office/drawing/2014/main" id="{56CE2CED-D9EC-4E2D-ADAF-1ABBE9D5D91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706962" y="2908179"/>
            <a:ext cx="509999" cy="509999"/>
          </a:xfrm>
          <a:prstGeom prst="rect">
            <a:avLst/>
          </a:prstGeom>
        </p:spPr>
      </p:pic>
      <p:sp>
        <p:nvSpPr>
          <p:cNvPr id="3" name="Rectangle 2">
            <a:extLst>
              <a:ext uri="{FF2B5EF4-FFF2-40B4-BE49-F238E27FC236}">
                <a16:creationId xmlns:a16="http://schemas.microsoft.com/office/drawing/2014/main" id="{95D0D4DF-CA1C-4781-8A0E-CC27E84E01DF}"/>
              </a:ext>
            </a:extLst>
          </p:cNvPr>
          <p:cNvSpPr/>
          <p:nvPr/>
        </p:nvSpPr>
        <p:spPr>
          <a:xfrm>
            <a:off x="805273" y="4336194"/>
            <a:ext cx="1589854" cy="425303"/>
          </a:xfrm>
          <a:prstGeom prst="rect">
            <a:avLst/>
          </a:prstGeom>
          <a:solidFill>
            <a:schemeClr val="accent6"/>
          </a:solidFill>
          <a:ln>
            <a:solidFill>
              <a:schemeClr val="accent6">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400" b="1" dirty="0">
                <a:latin typeface="Arial" panose="020B0604020202020204" pitchFamily="34" charset="0"/>
                <a:cs typeface="Arial" panose="020B0604020202020204" pitchFamily="34" charset="0"/>
              </a:rPr>
              <a:t>categories</a:t>
            </a:r>
          </a:p>
        </p:txBody>
      </p:sp>
      <p:sp>
        <p:nvSpPr>
          <p:cNvPr id="29" name="Rectangle 28">
            <a:extLst>
              <a:ext uri="{FF2B5EF4-FFF2-40B4-BE49-F238E27FC236}">
                <a16:creationId xmlns:a16="http://schemas.microsoft.com/office/drawing/2014/main" id="{6DB0CC17-B741-4E28-A6FE-16705756ECBD}"/>
              </a:ext>
            </a:extLst>
          </p:cNvPr>
          <p:cNvSpPr/>
          <p:nvPr/>
        </p:nvSpPr>
        <p:spPr>
          <a:xfrm>
            <a:off x="805273" y="5058267"/>
            <a:ext cx="1589854" cy="425303"/>
          </a:xfrm>
          <a:prstGeom prst="rect">
            <a:avLst/>
          </a:prstGeom>
          <a:solidFill>
            <a:schemeClr val="accent6"/>
          </a:solidFill>
          <a:ln>
            <a:solidFill>
              <a:schemeClr val="accent6">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400" b="1" dirty="0">
                <a:latin typeface="Arial" panose="020B0604020202020204" pitchFamily="34" charset="0"/>
                <a:cs typeface="Arial" panose="020B0604020202020204" pitchFamily="34" charset="0"/>
              </a:rPr>
              <a:t>topics</a:t>
            </a:r>
          </a:p>
        </p:txBody>
      </p:sp>
      <p:sp>
        <p:nvSpPr>
          <p:cNvPr id="7" name="Oval 6">
            <a:extLst>
              <a:ext uri="{FF2B5EF4-FFF2-40B4-BE49-F238E27FC236}">
                <a16:creationId xmlns:a16="http://schemas.microsoft.com/office/drawing/2014/main" id="{5268284E-6B50-46CA-88D3-7FD4B7802B99}"/>
              </a:ext>
            </a:extLst>
          </p:cNvPr>
          <p:cNvSpPr/>
          <p:nvPr/>
        </p:nvSpPr>
        <p:spPr>
          <a:xfrm>
            <a:off x="805274" y="5780341"/>
            <a:ext cx="269586" cy="269586"/>
          </a:xfrm>
          <a:prstGeom prst="ellipse">
            <a:avLst/>
          </a:prstGeom>
          <a:solidFill>
            <a:schemeClr val="bg1">
              <a:lumMod val="8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400" b="1" dirty="0">
                <a:solidFill>
                  <a:schemeClr val="tx1">
                    <a:lumMod val="75000"/>
                    <a:lumOff val="25000"/>
                  </a:schemeClr>
                </a:solidFill>
                <a:latin typeface="Arial" panose="020B0604020202020204" pitchFamily="34" charset="0"/>
                <a:cs typeface="Arial" panose="020B0604020202020204" pitchFamily="34" charset="0"/>
              </a:rPr>
              <a:t>r</a:t>
            </a:r>
          </a:p>
        </p:txBody>
      </p:sp>
      <p:cxnSp>
        <p:nvCxnSpPr>
          <p:cNvPr id="9" name="Straight Arrow Connector 8">
            <a:extLst>
              <a:ext uri="{FF2B5EF4-FFF2-40B4-BE49-F238E27FC236}">
                <a16:creationId xmlns:a16="http://schemas.microsoft.com/office/drawing/2014/main" id="{6E642256-AEE5-4C7C-B086-129200F924AE}"/>
              </a:ext>
            </a:extLst>
          </p:cNvPr>
          <p:cNvCxnSpPr>
            <a:cxnSpLocks/>
          </p:cNvCxnSpPr>
          <p:nvPr/>
        </p:nvCxnSpPr>
        <p:spPr>
          <a:xfrm>
            <a:off x="1607445" y="4063156"/>
            <a:ext cx="0" cy="227025"/>
          </a:xfrm>
          <a:prstGeom prst="straightConnector1">
            <a:avLst/>
          </a:prstGeom>
          <a:ln>
            <a:solidFill>
              <a:schemeClr val="bg1">
                <a:lumMod val="50000"/>
              </a:schemeClr>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34" name="Straight Arrow Connector 33">
            <a:extLst>
              <a:ext uri="{FF2B5EF4-FFF2-40B4-BE49-F238E27FC236}">
                <a16:creationId xmlns:a16="http://schemas.microsoft.com/office/drawing/2014/main" id="{56381CA6-7025-4AFF-B3E4-78C38FCB2685}"/>
              </a:ext>
            </a:extLst>
          </p:cNvPr>
          <p:cNvCxnSpPr>
            <a:cxnSpLocks/>
          </p:cNvCxnSpPr>
          <p:nvPr/>
        </p:nvCxnSpPr>
        <p:spPr>
          <a:xfrm>
            <a:off x="1600200" y="4802495"/>
            <a:ext cx="0" cy="227025"/>
          </a:xfrm>
          <a:prstGeom prst="straightConnector1">
            <a:avLst/>
          </a:prstGeom>
          <a:ln>
            <a:solidFill>
              <a:schemeClr val="bg1">
                <a:lumMod val="50000"/>
              </a:schemeClr>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40" name="Oval 39">
            <a:extLst>
              <a:ext uri="{FF2B5EF4-FFF2-40B4-BE49-F238E27FC236}">
                <a16:creationId xmlns:a16="http://schemas.microsoft.com/office/drawing/2014/main" id="{E81F4E00-268E-47DA-BBC3-A0403376D82A}"/>
              </a:ext>
            </a:extLst>
          </p:cNvPr>
          <p:cNvSpPr/>
          <p:nvPr/>
        </p:nvSpPr>
        <p:spPr>
          <a:xfrm>
            <a:off x="1074860" y="5780340"/>
            <a:ext cx="269586" cy="269586"/>
          </a:xfrm>
          <a:prstGeom prst="ellipse">
            <a:avLst/>
          </a:prstGeom>
          <a:solidFill>
            <a:schemeClr val="bg1">
              <a:lumMod val="8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400" b="1" dirty="0">
                <a:solidFill>
                  <a:schemeClr val="tx1">
                    <a:lumMod val="75000"/>
                    <a:lumOff val="25000"/>
                  </a:schemeClr>
                </a:solidFill>
                <a:latin typeface="Arial" panose="020B0604020202020204" pitchFamily="34" charset="0"/>
                <a:cs typeface="Arial" panose="020B0604020202020204" pitchFamily="34" charset="0"/>
              </a:rPr>
              <a:t>e</a:t>
            </a:r>
          </a:p>
        </p:txBody>
      </p:sp>
      <p:sp>
        <p:nvSpPr>
          <p:cNvPr id="41" name="Oval 40">
            <a:extLst>
              <a:ext uri="{FF2B5EF4-FFF2-40B4-BE49-F238E27FC236}">
                <a16:creationId xmlns:a16="http://schemas.microsoft.com/office/drawing/2014/main" id="{DAF97259-33F6-4C37-ABBC-94E47929B3AE}"/>
              </a:ext>
            </a:extLst>
          </p:cNvPr>
          <p:cNvSpPr/>
          <p:nvPr/>
        </p:nvSpPr>
        <p:spPr>
          <a:xfrm>
            <a:off x="1344446" y="5780340"/>
            <a:ext cx="269586" cy="269586"/>
          </a:xfrm>
          <a:prstGeom prst="ellipse">
            <a:avLst/>
          </a:prstGeom>
          <a:solidFill>
            <a:schemeClr val="bg1">
              <a:lumMod val="8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400" b="1" dirty="0">
                <a:solidFill>
                  <a:schemeClr val="tx1">
                    <a:lumMod val="75000"/>
                    <a:lumOff val="25000"/>
                  </a:schemeClr>
                </a:solidFill>
                <a:latin typeface="Arial" panose="020B0604020202020204" pitchFamily="34" charset="0"/>
                <a:cs typeface="Arial" panose="020B0604020202020204" pitchFamily="34" charset="0"/>
              </a:rPr>
              <a:t>s</a:t>
            </a:r>
          </a:p>
        </p:txBody>
      </p:sp>
      <p:sp>
        <p:nvSpPr>
          <p:cNvPr id="42" name="Oval 41">
            <a:extLst>
              <a:ext uri="{FF2B5EF4-FFF2-40B4-BE49-F238E27FC236}">
                <a16:creationId xmlns:a16="http://schemas.microsoft.com/office/drawing/2014/main" id="{9A256C42-24B9-4491-BF74-4F4D2AF65931}"/>
              </a:ext>
            </a:extLst>
          </p:cNvPr>
          <p:cNvSpPr/>
          <p:nvPr/>
        </p:nvSpPr>
        <p:spPr>
          <a:xfrm>
            <a:off x="1614032" y="5780341"/>
            <a:ext cx="269586" cy="269586"/>
          </a:xfrm>
          <a:prstGeom prst="ellipse">
            <a:avLst/>
          </a:prstGeom>
          <a:solidFill>
            <a:schemeClr val="bg1">
              <a:lumMod val="8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400" b="1" dirty="0">
                <a:solidFill>
                  <a:schemeClr val="tx1">
                    <a:lumMod val="75000"/>
                    <a:lumOff val="25000"/>
                  </a:schemeClr>
                </a:solidFill>
                <a:latin typeface="Arial" panose="020B0604020202020204" pitchFamily="34" charset="0"/>
                <a:cs typeface="Arial" panose="020B0604020202020204" pitchFamily="34" charset="0"/>
              </a:rPr>
              <a:t>o</a:t>
            </a:r>
          </a:p>
        </p:txBody>
      </p:sp>
      <p:sp>
        <p:nvSpPr>
          <p:cNvPr id="43" name="Oval 42">
            <a:extLst>
              <a:ext uri="{FF2B5EF4-FFF2-40B4-BE49-F238E27FC236}">
                <a16:creationId xmlns:a16="http://schemas.microsoft.com/office/drawing/2014/main" id="{C7778686-B2A9-4214-83D4-761CB3078449}"/>
              </a:ext>
            </a:extLst>
          </p:cNvPr>
          <p:cNvSpPr/>
          <p:nvPr/>
        </p:nvSpPr>
        <p:spPr>
          <a:xfrm>
            <a:off x="1883618" y="5780340"/>
            <a:ext cx="269586" cy="269586"/>
          </a:xfrm>
          <a:prstGeom prst="ellipse">
            <a:avLst/>
          </a:prstGeom>
          <a:solidFill>
            <a:schemeClr val="bg1">
              <a:lumMod val="8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400" b="1" dirty="0">
                <a:solidFill>
                  <a:schemeClr val="tx1">
                    <a:lumMod val="75000"/>
                    <a:lumOff val="25000"/>
                  </a:schemeClr>
                </a:solidFill>
                <a:latin typeface="Arial" panose="020B0604020202020204" pitchFamily="34" charset="0"/>
                <a:cs typeface="Arial" panose="020B0604020202020204" pitchFamily="34" charset="0"/>
              </a:rPr>
              <a:t>u</a:t>
            </a:r>
          </a:p>
        </p:txBody>
      </p:sp>
      <p:sp>
        <p:nvSpPr>
          <p:cNvPr id="44" name="Oval 43">
            <a:extLst>
              <a:ext uri="{FF2B5EF4-FFF2-40B4-BE49-F238E27FC236}">
                <a16:creationId xmlns:a16="http://schemas.microsoft.com/office/drawing/2014/main" id="{E41B56DE-196F-4FE4-93F5-398652CD5CAA}"/>
              </a:ext>
            </a:extLst>
          </p:cNvPr>
          <p:cNvSpPr/>
          <p:nvPr/>
        </p:nvSpPr>
        <p:spPr>
          <a:xfrm>
            <a:off x="2153204" y="5780340"/>
            <a:ext cx="269586" cy="269586"/>
          </a:xfrm>
          <a:prstGeom prst="ellipse">
            <a:avLst/>
          </a:prstGeom>
          <a:solidFill>
            <a:schemeClr val="bg1">
              <a:lumMod val="8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400" b="1" dirty="0">
                <a:solidFill>
                  <a:schemeClr val="tx1">
                    <a:lumMod val="75000"/>
                    <a:lumOff val="25000"/>
                  </a:schemeClr>
                </a:solidFill>
                <a:latin typeface="Arial" panose="020B0604020202020204" pitchFamily="34" charset="0"/>
                <a:cs typeface="Arial" panose="020B0604020202020204" pitchFamily="34" charset="0"/>
              </a:rPr>
              <a:t>r</a:t>
            </a:r>
          </a:p>
        </p:txBody>
      </p:sp>
      <p:sp>
        <p:nvSpPr>
          <p:cNvPr id="45" name="Oval 44">
            <a:extLst>
              <a:ext uri="{FF2B5EF4-FFF2-40B4-BE49-F238E27FC236}">
                <a16:creationId xmlns:a16="http://schemas.microsoft.com/office/drawing/2014/main" id="{DBC52223-A0EA-4BE3-86A5-61538298B42D}"/>
              </a:ext>
            </a:extLst>
          </p:cNvPr>
          <p:cNvSpPr/>
          <p:nvPr/>
        </p:nvSpPr>
        <p:spPr>
          <a:xfrm>
            <a:off x="2422790" y="5780340"/>
            <a:ext cx="269586" cy="269586"/>
          </a:xfrm>
          <a:prstGeom prst="ellipse">
            <a:avLst/>
          </a:prstGeom>
          <a:solidFill>
            <a:schemeClr val="bg1">
              <a:lumMod val="8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400" b="1" dirty="0">
                <a:solidFill>
                  <a:schemeClr val="tx1">
                    <a:lumMod val="75000"/>
                    <a:lumOff val="25000"/>
                  </a:schemeClr>
                </a:solidFill>
                <a:latin typeface="Arial" panose="020B0604020202020204" pitchFamily="34" charset="0"/>
                <a:cs typeface="Arial" panose="020B0604020202020204" pitchFamily="34" charset="0"/>
              </a:rPr>
              <a:t>c</a:t>
            </a:r>
          </a:p>
        </p:txBody>
      </p:sp>
      <p:sp>
        <p:nvSpPr>
          <p:cNvPr id="46" name="Oval 45">
            <a:extLst>
              <a:ext uri="{FF2B5EF4-FFF2-40B4-BE49-F238E27FC236}">
                <a16:creationId xmlns:a16="http://schemas.microsoft.com/office/drawing/2014/main" id="{25584A55-0EF6-4A2B-A7A0-4677FC2A3B31}"/>
              </a:ext>
            </a:extLst>
          </p:cNvPr>
          <p:cNvSpPr/>
          <p:nvPr/>
        </p:nvSpPr>
        <p:spPr>
          <a:xfrm>
            <a:off x="2692376" y="5780339"/>
            <a:ext cx="269586" cy="269586"/>
          </a:xfrm>
          <a:prstGeom prst="ellipse">
            <a:avLst/>
          </a:prstGeom>
          <a:solidFill>
            <a:schemeClr val="bg1">
              <a:lumMod val="8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400" b="1" dirty="0">
                <a:solidFill>
                  <a:schemeClr val="tx1">
                    <a:lumMod val="75000"/>
                    <a:lumOff val="25000"/>
                  </a:schemeClr>
                </a:solidFill>
                <a:latin typeface="Arial" panose="020B0604020202020204" pitchFamily="34" charset="0"/>
                <a:cs typeface="Arial" panose="020B0604020202020204" pitchFamily="34" charset="0"/>
              </a:rPr>
              <a:t>e</a:t>
            </a:r>
          </a:p>
        </p:txBody>
      </p:sp>
      <p:sp>
        <p:nvSpPr>
          <p:cNvPr id="47" name="Oval 46">
            <a:extLst>
              <a:ext uri="{FF2B5EF4-FFF2-40B4-BE49-F238E27FC236}">
                <a16:creationId xmlns:a16="http://schemas.microsoft.com/office/drawing/2014/main" id="{5DAD044D-B1A9-4405-8F0B-C6BAC0589D43}"/>
              </a:ext>
            </a:extLst>
          </p:cNvPr>
          <p:cNvSpPr/>
          <p:nvPr/>
        </p:nvSpPr>
        <p:spPr>
          <a:xfrm>
            <a:off x="2961962" y="5780339"/>
            <a:ext cx="269586" cy="269586"/>
          </a:xfrm>
          <a:prstGeom prst="ellipse">
            <a:avLst/>
          </a:prstGeom>
          <a:solidFill>
            <a:schemeClr val="bg1">
              <a:lumMod val="8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400" b="1" dirty="0">
                <a:solidFill>
                  <a:schemeClr val="tx1">
                    <a:lumMod val="75000"/>
                    <a:lumOff val="25000"/>
                  </a:schemeClr>
                </a:solidFill>
                <a:latin typeface="Arial" panose="020B0604020202020204" pitchFamily="34" charset="0"/>
                <a:cs typeface="Arial" panose="020B0604020202020204" pitchFamily="34" charset="0"/>
              </a:rPr>
              <a:t>s</a:t>
            </a:r>
          </a:p>
        </p:txBody>
      </p:sp>
      <p:cxnSp>
        <p:nvCxnSpPr>
          <p:cNvPr id="13" name="Straight Arrow Connector 12">
            <a:extLst>
              <a:ext uri="{FF2B5EF4-FFF2-40B4-BE49-F238E27FC236}">
                <a16:creationId xmlns:a16="http://schemas.microsoft.com/office/drawing/2014/main" id="{E3554A45-0DBB-4524-B7A5-1A2E0C0061FB}"/>
              </a:ext>
            </a:extLst>
          </p:cNvPr>
          <p:cNvCxnSpPr/>
          <p:nvPr/>
        </p:nvCxnSpPr>
        <p:spPr>
          <a:xfrm>
            <a:off x="5348177" y="3163178"/>
            <a:ext cx="754573" cy="0"/>
          </a:xfrm>
          <a:prstGeom prst="straightConnector1">
            <a:avLst/>
          </a:prstGeom>
          <a:ln w="57150">
            <a:solidFill>
              <a:schemeClr val="tx1">
                <a:lumMod val="65000"/>
                <a:lumOff val="35000"/>
              </a:schemeClr>
            </a:solidFill>
            <a:headEnd type="none" w="med" len="med"/>
            <a:tailEnd type="arrow" w="med" len="med"/>
          </a:ln>
          <a:effectLst/>
        </p:spPr>
        <p:style>
          <a:lnRef idx="2">
            <a:schemeClr val="accent1"/>
          </a:lnRef>
          <a:fillRef idx="0">
            <a:schemeClr val="accent1"/>
          </a:fillRef>
          <a:effectRef idx="1">
            <a:schemeClr val="accent1"/>
          </a:effectRef>
          <a:fontRef idx="minor">
            <a:schemeClr val="tx1"/>
          </a:fontRef>
        </p:style>
      </p:cxnSp>
      <p:sp>
        <p:nvSpPr>
          <p:cNvPr id="16" name="Freeform: Shape 15">
            <a:extLst>
              <a:ext uri="{FF2B5EF4-FFF2-40B4-BE49-F238E27FC236}">
                <a16:creationId xmlns:a16="http://schemas.microsoft.com/office/drawing/2014/main" id="{CA2AA54A-53DD-4AEE-A0E7-7A8BBAF1602D}"/>
              </a:ext>
            </a:extLst>
          </p:cNvPr>
          <p:cNvSpPr/>
          <p:nvPr/>
        </p:nvSpPr>
        <p:spPr>
          <a:xfrm>
            <a:off x="3359889" y="4189228"/>
            <a:ext cx="3789068" cy="1722474"/>
          </a:xfrm>
          <a:custGeom>
            <a:avLst/>
            <a:gdLst>
              <a:gd name="connsiteX0" fmla="*/ 0 w 4199861"/>
              <a:gd name="connsiteY0" fmla="*/ 1722474 h 1722474"/>
              <a:gd name="connsiteX1" fmla="*/ 3498112 w 4199861"/>
              <a:gd name="connsiteY1" fmla="*/ 1265274 h 1722474"/>
              <a:gd name="connsiteX2" fmla="*/ 4199861 w 4199861"/>
              <a:gd name="connsiteY2" fmla="*/ 0 h 1722474"/>
            </a:gdLst>
            <a:ahLst/>
            <a:cxnLst>
              <a:cxn ang="0">
                <a:pos x="connsiteX0" y="connsiteY0"/>
              </a:cxn>
              <a:cxn ang="0">
                <a:pos x="connsiteX1" y="connsiteY1"/>
              </a:cxn>
              <a:cxn ang="0">
                <a:pos x="connsiteX2" y="connsiteY2"/>
              </a:cxn>
            </a:cxnLst>
            <a:rect l="l" t="t" r="r" b="b"/>
            <a:pathLst>
              <a:path w="4199861" h="1722474">
                <a:moveTo>
                  <a:pt x="0" y="1722474"/>
                </a:moveTo>
                <a:cubicBezTo>
                  <a:pt x="1399067" y="1637413"/>
                  <a:pt x="2798135" y="1552353"/>
                  <a:pt x="3498112" y="1265274"/>
                </a:cubicBezTo>
                <a:cubicBezTo>
                  <a:pt x="4198089" y="978195"/>
                  <a:pt x="4198975" y="489097"/>
                  <a:pt x="4199861" y="0"/>
                </a:cubicBezTo>
              </a:path>
            </a:pathLst>
          </a:custGeom>
          <a:ln w="57150">
            <a:solidFill>
              <a:schemeClr val="tx1">
                <a:lumMod val="65000"/>
                <a:lumOff val="35000"/>
              </a:schemeClr>
            </a:solidFill>
            <a:headEnd type="none" w="med" len="med"/>
            <a:tailEnd type="arrow"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48" name="TextBox 47">
            <a:extLst>
              <a:ext uri="{FF2B5EF4-FFF2-40B4-BE49-F238E27FC236}">
                <a16:creationId xmlns:a16="http://schemas.microsoft.com/office/drawing/2014/main" id="{D9737F3D-994B-4F95-9E0A-DE6917F89992}"/>
              </a:ext>
            </a:extLst>
          </p:cNvPr>
          <p:cNvSpPr txBox="1"/>
          <p:nvPr/>
        </p:nvSpPr>
        <p:spPr>
          <a:xfrm rot="21215811">
            <a:off x="4048451" y="5736171"/>
            <a:ext cx="2340597" cy="276999"/>
          </a:xfrm>
          <a:prstGeom prst="rect">
            <a:avLst/>
          </a:prstGeom>
          <a:noFill/>
        </p:spPr>
        <p:txBody>
          <a:bodyPr wrap="square" rtlCol="0">
            <a:spAutoFit/>
          </a:bodyPr>
          <a:lstStyle/>
          <a:p>
            <a:pPr algn="ctr"/>
            <a:r>
              <a:rPr lang="en-GB" sz="1200" dirty="0">
                <a:latin typeface="Arial" panose="020B0604020202020204" pitchFamily="34" charset="0"/>
                <a:cs typeface="Arial" panose="020B0604020202020204" pitchFamily="34" charset="0"/>
              </a:rPr>
              <a:t>measure or evaluate</a:t>
            </a:r>
          </a:p>
        </p:txBody>
      </p:sp>
      <p:sp>
        <p:nvSpPr>
          <p:cNvPr id="49" name="TextBox 48">
            <a:extLst>
              <a:ext uri="{FF2B5EF4-FFF2-40B4-BE49-F238E27FC236}">
                <a16:creationId xmlns:a16="http://schemas.microsoft.com/office/drawing/2014/main" id="{F05543E1-5242-4177-AF00-9AD8DF5696E5}"/>
              </a:ext>
            </a:extLst>
          </p:cNvPr>
          <p:cNvSpPr txBox="1"/>
          <p:nvPr/>
        </p:nvSpPr>
        <p:spPr>
          <a:xfrm>
            <a:off x="8612542" y="2368254"/>
            <a:ext cx="3136429" cy="3554819"/>
          </a:xfrm>
          <a:prstGeom prst="rect">
            <a:avLst/>
          </a:prstGeom>
          <a:noFill/>
          <a:ln>
            <a:solidFill>
              <a:schemeClr val="bg1">
                <a:lumMod val="50000"/>
              </a:schemeClr>
            </a:solidFill>
          </a:ln>
        </p:spPr>
        <p:txBody>
          <a:bodyPr wrap="square" rtlCol="0">
            <a:spAutoFit/>
          </a:bodyPr>
          <a:lstStyle/>
          <a:p>
            <a:pPr>
              <a:spcAft>
                <a:spcPts val="600"/>
              </a:spcAft>
            </a:pPr>
            <a:r>
              <a:rPr lang="en-GB" sz="1600" b="1" dirty="0">
                <a:latin typeface="Arial" panose="020B0604020202020204" pitchFamily="34" charset="0"/>
                <a:cs typeface="Arial" panose="020B0604020202020204" pitchFamily="34" charset="0"/>
              </a:rPr>
              <a:t>Definitions</a:t>
            </a:r>
            <a:endParaRPr lang="en-GB" sz="1200" b="1" dirty="0">
              <a:latin typeface="Arial" panose="020B0604020202020204" pitchFamily="34" charset="0"/>
              <a:cs typeface="Arial" panose="020B0604020202020204" pitchFamily="34" charset="0"/>
            </a:endParaRPr>
          </a:p>
          <a:p>
            <a:r>
              <a:rPr lang="en-GB" sz="1200" b="1" dirty="0">
                <a:solidFill>
                  <a:schemeClr val="tx2"/>
                </a:solidFill>
                <a:latin typeface="Arial" panose="020B0604020202020204" pitchFamily="34" charset="0"/>
                <a:cs typeface="Arial" panose="020B0604020202020204" pitchFamily="34" charset="0"/>
              </a:rPr>
              <a:t>Underlying subject matter</a:t>
            </a:r>
          </a:p>
          <a:p>
            <a:r>
              <a:rPr lang="en-GB" sz="1200" dirty="0">
                <a:latin typeface="Arial" panose="020B0604020202020204" pitchFamily="34" charset="0"/>
                <a:cs typeface="Arial" panose="020B0604020202020204" pitchFamily="34" charset="0"/>
              </a:rPr>
              <a:t>The phenomenon that is measured or evaluated by applying criteria.</a:t>
            </a:r>
          </a:p>
          <a:p>
            <a:endParaRPr lang="en-GB" sz="1200" dirty="0">
              <a:latin typeface="Arial" panose="020B0604020202020204" pitchFamily="34" charset="0"/>
              <a:cs typeface="Arial" panose="020B0604020202020204" pitchFamily="34" charset="0"/>
            </a:endParaRPr>
          </a:p>
          <a:p>
            <a:r>
              <a:rPr lang="en-GB" sz="1200" b="1" dirty="0">
                <a:solidFill>
                  <a:schemeClr val="tx2"/>
                </a:solidFill>
                <a:latin typeface="Arial" panose="020B0604020202020204" pitchFamily="34" charset="0"/>
                <a:cs typeface="Arial" panose="020B0604020202020204" pitchFamily="34" charset="0"/>
              </a:rPr>
              <a:t>Criteria</a:t>
            </a:r>
          </a:p>
          <a:p>
            <a:r>
              <a:rPr lang="en-GB" sz="1200" dirty="0">
                <a:latin typeface="Arial" panose="020B0604020202020204" pitchFamily="34" charset="0"/>
                <a:cs typeface="Arial" panose="020B0604020202020204" pitchFamily="34" charset="0"/>
              </a:rPr>
              <a:t>The benchmarks used to measure or evaluate the underlying subject matter.</a:t>
            </a:r>
          </a:p>
          <a:p>
            <a:endParaRPr lang="en-GB" sz="1200" dirty="0">
              <a:latin typeface="Arial" panose="020B0604020202020204" pitchFamily="34" charset="0"/>
              <a:cs typeface="Arial" panose="020B0604020202020204" pitchFamily="34" charset="0"/>
            </a:endParaRPr>
          </a:p>
          <a:p>
            <a:r>
              <a:rPr lang="en-GB" sz="1200" b="1" dirty="0">
                <a:solidFill>
                  <a:schemeClr val="tx2"/>
                </a:solidFill>
                <a:latin typeface="Arial" panose="020B0604020202020204" pitchFamily="34" charset="0"/>
                <a:cs typeface="Arial" panose="020B0604020202020204" pitchFamily="34" charset="0"/>
              </a:rPr>
              <a:t>Subject matter information</a:t>
            </a:r>
          </a:p>
          <a:p>
            <a:r>
              <a:rPr lang="en-GB" sz="1200" dirty="0">
                <a:latin typeface="Arial" panose="020B0604020202020204" pitchFamily="34" charset="0"/>
                <a:cs typeface="Arial" panose="020B0604020202020204" pitchFamily="34" charset="0"/>
              </a:rPr>
              <a:t>The information that results from applying the criteria to the underlying subject matter.</a:t>
            </a:r>
          </a:p>
          <a:p>
            <a:endParaRPr lang="en-GB" sz="1200" dirty="0">
              <a:latin typeface="Arial" panose="020B0604020202020204" pitchFamily="34" charset="0"/>
              <a:cs typeface="Arial" panose="020B0604020202020204" pitchFamily="34" charset="0"/>
            </a:endParaRPr>
          </a:p>
          <a:p>
            <a:r>
              <a:rPr lang="en-GB" sz="1200" b="1" dirty="0">
                <a:solidFill>
                  <a:schemeClr val="tx2"/>
                </a:solidFill>
                <a:latin typeface="Arial" panose="020B0604020202020204" pitchFamily="34" charset="0"/>
                <a:cs typeface="Arial" panose="020B0604020202020204" pitchFamily="34" charset="0"/>
              </a:rPr>
              <a:t>Resources</a:t>
            </a:r>
          </a:p>
          <a:p>
            <a:r>
              <a:rPr lang="en-GB" sz="1200" dirty="0">
                <a:latin typeface="Arial" panose="020B0604020202020204" pitchFamily="34" charset="0"/>
                <a:cs typeface="Arial" panose="020B0604020202020204" pitchFamily="34" charset="0"/>
              </a:rPr>
              <a:t>A suggested generalized description of subject matter elements – the resources available to, or affected by, the entity and the causes of change in those resources.</a:t>
            </a:r>
          </a:p>
        </p:txBody>
      </p:sp>
    </p:spTree>
    <p:extLst>
      <p:ext uri="{BB962C8B-B14F-4D97-AF65-F5344CB8AC3E}">
        <p14:creationId xmlns:p14="http://schemas.microsoft.com/office/powerpoint/2010/main" val="41913465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CB293-FD8E-4F6C-92E5-62197E3FBA35}"/>
              </a:ext>
            </a:extLst>
          </p:cNvPr>
          <p:cNvSpPr>
            <a:spLocks noGrp="1"/>
          </p:cNvSpPr>
          <p:nvPr>
            <p:ph type="title"/>
          </p:nvPr>
        </p:nvSpPr>
        <p:spPr>
          <a:xfrm>
            <a:off x="508000" y="564078"/>
            <a:ext cx="11155916" cy="533400"/>
          </a:xfrm>
        </p:spPr>
        <p:txBody>
          <a:bodyPr/>
          <a:lstStyle/>
          <a:p>
            <a:r>
              <a:rPr lang="en-GB" dirty="0"/>
              <a:t>Generalized construct of an EER report and its relationship to assurance concepts </a:t>
            </a:r>
          </a:p>
        </p:txBody>
      </p:sp>
      <p:sp>
        <p:nvSpPr>
          <p:cNvPr id="4" name="Subtitle 3">
            <a:extLst>
              <a:ext uri="{FF2B5EF4-FFF2-40B4-BE49-F238E27FC236}">
                <a16:creationId xmlns:a16="http://schemas.microsoft.com/office/drawing/2014/main" id="{B523B462-EC00-44AE-A4FD-59C48B8568FD}"/>
              </a:ext>
            </a:extLst>
          </p:cNvPr>
          <p:cNvSpPr>
            <a:spLocks noGrp="1"/>
          </p:cNvSpPr>
          <p:nvPr>
            <p:ph type="subTitle" idx="10"/>
          </p:nvPr>
        </p:nvSpPr>
        <p:spPr/>
        <p:txBody>
          <a:bodyPr/>
          <a:lstStyle/>
          <a:p>
            <a:endParaRPr lang="en-GB"/>
          </a:p>
        </p:txBody>
      </p:sp>
      <p:sp>
        <p:nvSpPr>
          <p:cNvPr id="5" name="Slide Number Placeholder 4">
            <a:extLst>
              <a:ext uri="{FF2B5EF4-FFF2-40B4-BE49-F238E27FC236}">
                <a16:creationId xmlns:a16="http://schemas.microsoft.com/office/drawing/2014/main" id="{5ED3D9D4-8FB3-463B-9D4F-12513A680A88}"/>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7</a:t>
            </a:fld>
            <a:endParaRPr lang="en-US" dirty="0">
              <a:latin typeface="Arial" panose="020B0604020202020204" pitchFamily="34" charset="0"/>
              <a:cs typeface="MS PGothic" charset="0"/>
            </a:endParaRPr>
          </a:p>
        </p:txBody>
      </p:sp>
      <p:sp>
        <p:nvSpPr>
          <p:cNvPr id="6" name="Arrow: Chevron 5">
            <a:extLst>
              <a:ext uri="{FF2B5EF4-FFF2-40B4-BE49-F238E27FC236}">
                <a16:creationId xmlns:a16="http://schemas.microsoft.com/office/drawing/2014/main" id="{AA019EF3-2054-4B1F-A278-94FEDEC44710}"/>
              </a:ext>
            </a:extLst>
          </p:cNvPr>
          <p:cNvSpPr/>
          <p:nvPr/>
        </p:nvSpPr>
        <p:spPr>
          <a:xfrm>
            <a:off x="633228" y="1364118"/>
            <a:ext cx="2728011" cy="713762"/>
          </a:xfrm>
          <a:prstGeom prst="chevron">
            <a:avLst>
              <a:gd name="adj" fmla="val 24918"/>
            </a:avLst>
          </a:prstGeom>
          <a:solidFill>
            <a:schemeClr val="accent3"/>
          </a:solidFill>
          <a:ln w="25400" cap="flat" cmpd="sng" algn="ctr">
            <a:solidFill>
              <a:prstClr val="white">
                <a:hueOff val="0"/>
                <a:satOff val="0"/>
                <a:lumOff val="0"/>
                <a:alphaOff val="0"/>
              </a:prstClr>
            </a:solidFill>
            <a:prstDash val="solid"/>
          </a:ln>
          <a:effectLst/>
        </p:spPr>
        <p:txBody>
          <a:bodyPr spcFirstLastPara="0" vert="horz" wrap="square" lIns="127000" tIns="0" rIns="127000" bIns="0" numCol="1" spcCol="1270" anchor="ctr" anchorCtr="0">
            <a:noAutofit/>
          </a:bodyPr>
          <a:lstStyle/>
          <a:p>
            <a:endParaRPr lang="en-GB" sz="1400" dirty="0">
              <a:solidFill>
                <a:schemeClr val="bg1"/>
              </a:solidFill>
              <a:latin typeface="Arial" panose="020B0604020202020204" pitchFamily="34" charset="0"/>
              <a:cs typeface="Arial" panose="020B0604020202020204" pitchFamily="34" charset="0"/>
            </a:endParaRPr>
          </a:p>
        </p:txBody>
      </p:sp>
      <p:pic>
        <p:nvPicPr>
          <p:cNvPr id="21" name="Graphic 20" descr="Head with Gears">
            <a:extLst>
              <a:ext uri="{FF2B5EF4-FFF2-40B4-BE49-F238E27FC236}">
                <a16:creationId xmlns:a16="http://schemas.microsoft.com/office/drawing/2014/main" id="{08D7732C-029E-490E-859A-3A7D27AB38D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74994" y="1403177"/>
            <a:ext cx="642425" cy="642425"/>
          </a:xfrm>
          <a:prstGeom prst="rect">
            <a:avLst/>
          </a:prstGeom>
        </p:spPr>
      </p:pic>
      <p:sp>
        <p:nvSpPr>
          <p:cNvPr id="23" name="TextBox 22">
            <a:extLst>
              <a:ext uri="{FF2B5EF4-FFF2-40B4-BE49-F238E27FC236}">
                <a16:creationId xmlns:a16="http://schemas.microsoft.com/office/drawing/2014/main" id="{C442F61A-5D1F-428A-94A9-1EAD05F2963F}"/>
              </a:ext>
            </a:extLst>
          </p:cNvPr>
          <p:cNvSpPr txBox="1"/>
          <p:nvPr/>
        </p:nvSpPr>
        <p:spPr>
          <a:xfrm>
            <a:off x="1679435" y="1459389"/>
            <a:ext cx="1463585" cy="523220"/>
          </a:xfrm>
          <a:prstGeom prst="rect">
            <a:avLst/>
          </a:prstGeom>
          <a:noFill/>
        </p:spPr>
        <p:txBody>
          <a:bodyPr wrap="square" rtlCol="0">
            <a:spAutoFit/>
          </a:bodyPr>
          <a:lstStyle/>
          <a:p>
            <a:r>
              <a:rPr lang="en-GB" sz="1400" dirty="0">
                <a:solidFill>
                  <a:schemeClr val="bg1"/>
                </a:solidFill>
                <a:latin typeface="Arial" panose="020B0604020202020204" pitchFamily="34" charset="0"/>
                <a:cs typeface="Arial" panose="020B0604020202020204" pitchFamily="34" charset="0"/>
              </a:rPr>
              <a:t>Generalized construct</a:t>
            </a:r>
          </a:p>
        </p:txBody>
      </p:sp>
      <p:sp>
        <p:nvSpPr>
          <p:cNvPr id="24" name="Arrow: Chevron 23">
            <a:extLst>
              <a:ext uri="{FF2B5EF4-FFF2-40B4-BE49-F238E27FC236}">
                <a16:creationId xmlns:a16="http://schemas.microsoft.com/office/drawing/2014/main" id="{5DA552CC-1BF5-404D-A1EF-996825B0C607}"/>
              </a:ext>
            </a:extLst>
          </p:cNvPr>
          <p:cNvSpPr/>
          <p:nvPr/>
        </p:nvSpPr>
        <p:spPr>
          <a:xfrm>
            <a:off x="3367989" y="1364118"/>
            <a:ext cx="2728011" cy="713762"/>
          </a:xfrm>
          <a:prstGeom prst="chevron">
            <a:avLst>
              <a:gd name="adj" fmla="val 24918"/>
            </a:avLst>
          </a:prstGeom>
          <a:solidFill>
            <a:schemeClr val="accent3">
              <a:lumMod val="20000"/>
              <a:lumOff val="80000"/>
            </a:schemeClr>
          </a:solidFill>
          <a:ln w="25400" cap="flat" cmpd="sng" algn="ctr">
            <a:solidFill>
              <a:prstClr val="white">
                <a:hueOff val="0"/>
                <a:satOff val="0"/>
                <a:lumOff val="0"/>
                <a:alphaOff val="0"/>
              </a:prstClr>
            </a:solidFill>
            <a:prstDash val="solid"/>
          </a:ln>
          <a:effectLst/>
        </p:spPr>
        <p:txBody>
          <a:bodyPr spcFirstLastPara="0" vert="horz" wrap="square" lIns="127000" tIns="0" rIns="127000" bIns="0" numCol="1" spcCol="1270" anchor="ctr" anchorCtr="0">
            <a:noAutofit/>
          </a:bodyPr>
          <a:lstStyle/>
          <a:p>
            <a:endParaRPr lang="en-GB" sz="1400" dirty="0">
              <a:solidFill>
                <a:schemeClr val="bg1"/>
              </a:solidFill>
              <a:latin typeface="Arial" panose="020B0604020202020204" pitchFamily="34" charset="0"/>
              <a:cs typeface="Arial" panose="020B0604020202020204" pitchFamily="34" charset="0"/>
            </a:endParaRPr>
          </a:p>
        </p:txBody>
      </p:sp>
      <p:sp>
        <p:nvSpPr>
          <p:cNvPr id="27" name="TextBox 26">
            <a:extLst>
              <a:ext uri="{FF2B5EF4-FFF2-40B4-BE49-F238E27FC236}">
                <a16:creationId xmlns:a16="http://schemas.microsoft.com/office/drawing/2014/main" id="{41A820CA-2131-4E78-90DA-D5DFF6C42C00}"/>
              </a:ext>
            </a:extLst>
          </p:cNvPr>
          <p:cNvSpPr txBox="1"/>
          <p:nvPr/>
        </p:nvSpPr>
        <p:spPr>
          <a:xfrm>
            <a:off x="4414196" y="1568899"/>
            <a:ext cx="1463585" cy="307777"/>
          </a:xfrm>
          <a:prstGeom prst="rect">
            <a:avLst/>
          </a:prstGeom>
          <a:noFill/>
        </p:spPr>
        <p:txBody>
          <a:bodyPr wrap="square" rtlCol="0">
            <a:spAutoFit/>
          </a:bodyPr>
          <a:lstStyle/>
          <a:p>
            <a:r>
              <a:rPr lang="en-GB" sz="1400" dirty="0">
                <a:solidFill>
                  <a:schemeClr val="bg1"/>
                </a:solidFill>
                <a:latin typeface="Arial" panose="020B0604020202020204" pitchFamily="34" charset="0"/>
                <a:cs typeface="Arial" panose="020B0604020202020204" pitchFamily="34" charset="0"/>
              </a:rPr>
              <a:t>Materiality</a:t>
            </a:r>
          </a:p>
        </p:txBody>
      </p:sp>
      <p:sp>
        <p:nvSpPr>
          <p:cNvPr id="28" name="Arrow: Chevron 27">
            <a:extLst>
              <a:ext uri="{FF2B5EF4-FFF2-40B4-BE49-F238E27FC236}">
                <a16:creationId xmlns:a16="http://schemas.microsoft.com/office/drawing/2014/main" id="{E183CB93-C443-4345-92A1-172F32732183}"/>
              </a:ext>
            </a:extLst>
          </p:cNvPr>
          <p:cNvSpPr/>
          <p:nvPr/>
        </p:nvSpPr>
        <p:spPr>
          <a:xfrm>
            <a:off x="6102750" y="1364118"/>
            <a:ext cx="2728011" cy="713762"/>
          </a:xfrm>
          <a:prstGeom prst="chevron">
            <a:avLst>
              <a:gd name="adj" fmla="val 24918"/>
            </a:avLst>
          </a:prstGeom>
          <a:solidFill>
            <a:schemeClr val="accent3">
              <a:lumMod val="20000"/>
              <a:lumOff val="80000"/>
            </a:schemeClr>
          </a:solidFill>
          <a:ln w="25400" cap="flat" cmpd="sng" algn="ctr">
            <a:solidFill>
              <a:prstClr val="white">
                <a:hueOff val="0"/>
                <a:satOff val="0"/>
                <a:lumOff val="0"/>
                <a:alphaOff val="0"/>
              </a:prstClr>
            </a:solidFill>
            <a:prstDash val="solid"/>
          </a:ln>
          <a:effectLst/>
        </p:spPr>
        <p:txBody>
          <a:bodyPr spcFirstLastPara="0" vert="horz" wrap="square" lIns="127000" tIns="0" rIns="127000" bIns="0" numCol="1" spcCol="1270" anchor="ctr" anchorCtr="0">
            <a:noAutofit/>
          </a:bodyPr>
          <a:lstStyle/>
          <a:p>
            <a:endParaRPr lang="en-GB" sz="1400" dirty="0">
              <a:solidFill>
                <a:schemeClr val="bg1"/>
              </a:solidFill>
              <a:latin typeface="Arial" panose="020B0604020202020204" pitchFamily="34" charset="0"/>
              <a:cs typeface="Arial" panose="020B0604020202020204" pitchFamily="34" charset="0"/>
            </a:endParaRPr>
          </a:p>
        </p:txBody>
      </p:sp>
      <p:sp>
        <p:nvSpPr>
          <p:cNvPr id="30" name="TextBox 29">
            <a:extLst>
              <a:ext uri="{FF2B5EF4-FFF2-40B4-BE49-F238E27FC236}">
                <a16:creationId xmlns:a16="http://schemas.microsoft.com/office/drawing/2014/main" id="{AA3B481A-45AB-4E35-99B5-02DFBA6B20C8}"/>
              </a:ext>
            </a:extLst>
          </p:cNvPr>
          <p:cNvSpPr txBox="1"/>
          <p:nvPr/>
        </p:nvSpPr>
        <p:spPr>
          <a:xfrm>
            <a:off x="7148957" y="1563858"/>
            <a:ext cx="1463585" cy="307777"/>
          </a:xfrm>
          <a:prstGeom prst="rect">
            <a:avLst/>
          </a:prstGeom>
          <a:noFill/>
        </p:spPr>
        <p:txBody>
          <a:bodyPr wrap="square" rtlCol="0">
            <a:spAutoFit/>
          </a:bodyPr>
          <a:lstStyle/>
          <a:p>
            <a:r>
              <a:rPr lang="en-GB" sz="1400" dirty="0">
                <a:solidFill>
                  <a:schemeClr val="bg1"/>
                </a:solidFill>
                <a:latin typeface="Arial" panose="020B0604020202020204" pitchFamily="34" charset="0"/>
                <a:cs typeface="Arial" panose="020B0604020202020204" pitchFamily="34" charset="0"/>
              </a:rPr>
              <a:t>Criteria</a:t>
            </a:r>
          </a:p>
        </p:txBody>
      </p:sp>
      <p:sp>
        <p:nvSpPr>
          <p:cNvPr id="31" name="Arrow: Chevron 30">
            <a:extLst>
              <a:ext uri="{FF2B5EF4-FFF2-40B4-BE49-F238E27FC236}">
                <a16:creationId xmlns:a16="http://schemas.microsoft.com/office/drawing/2014/main" id="{2F3D0BD4-B249-428C-A267-6FAF08D3C314}"/>
              </a:ext>
            </a:extLst>
          </p:cNvPr>
          <p:cNvSpPr/>
          <p:nvPr/>
        </p:nvSpPr>
        <p:spPr>
          <a:xfrm>
            <a:off x="8830761" y="1353733"/>
            <a:ext cx="2728011" cy="713762"/>
          </a:xfrm>
          <a:prstGeom prst="chevron">
            <a:avLst>
              <a:gd name="adj" fmla="val 24918"/>
            </a:avLst>
          </a:prstGeom>
          <a:solidFill>
            <a:schemeClr val="accent3">
              <a:lumMod val="20000"/>
              <a:lumOff val="80000"/>
            </a:schemeClr>
          </a:solidFill>
          <a:ln w="25400" cap="flat" cmpd="sng" algn="ctr">
            <a:solidFill>
              <a:prstClr val="white">
                <a:hueOff val="0"/>
                <a:satOff val="0"/>
                <a:lumOff val="0"/>
                <a:alphaOff val="0"/>
              </a:prstClr>
            </a:solidFill>
            <a:prstDash val="solid"/>
          </a:ln>
          <a:effectLst/>
        </p:spPr>
        <p:txBody>
          <a:bodyPr spcFirstLastPara="0" vert="horz" wrap="square" lIns="127000" tIns="0" rIns="127000" bIns="0" numCol="1" spcCol="1270" anchor="ctr" anchorCtr="0">
            <a:noAutofit/>
          </a:bodyPr>
          <a:lstStyle/>
          <a:p>
            <a:endParaRPr lang="en-GB" sz="1400" dirty="0">
              <a:solidFill>
                <a:schemeClr val="bg1"/>
              </a:solidFill>
              <a:latin typeface="Arial" panose="020B0604020202020204" pitchFamily="34" charset="0"/>
              <a:cs typeface="Arial" panose="020B0604020202020204" pitchFamily="34" charset="0"/>
            </a:endParaRPr>
          </a:p>
        </p:txBody>
      </p:sp>
      <p:pic>
        <p:nvPicPr>
          <p:cNvPr id="32" name="Graphic 31" descr="Tools">
            <a:extLst>
              <a:ext uri="{FF2B5EF4-FFF2-40B4-BE49-F238E27FC236}">
                <a16:creationId xmlns:a16="http://schemas.microsoft.com/office/drawing/2014/main" id="{971AB0AB-C8DA-458A-897C-CBC13827F3F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072527" y="1423895"/>
            <a:ext cx="605762" cy="605762"/>
          </a:xfrm>
          <a:prstGeom prst="rect">
            <a:avLst/>
          </a:prstGeom>
        </p:spPr>
      </p:pic>
      <p:sp>
        <p:nvSpPr>
          <p:cNvPr id="33" name="TextBox 32">
            <a:extLst>
              <a:ext uri="{FF2B5EF4-FFF2-40B4-BE49-F238E27FC236}">
                <a16:creationId xmlns:a16="http://schemas.microsoft.com/office/drawing/2014/main" id="{564C376C-65EB-4FE8-998D-746722F1295C}"/>
              </a:ext>
            </a:extLst>
          </p:cNvPr>
          <p:cNvSpPr txBox="1"/>
          <p:nvPr/>
        </p:nvSpPr>
        <p:spPr>
          <a:xfrm>
            <a:off x="9876968" y="1553530"/>
            <a:ext cx="1463585" cy="307777"/>
          </a:xfrm>
          <a:prstGeom prst="rect">
            <a:avLst/>
          </a:prstGeom>
          <a:noFill/>
        </p:spPr>
        <p:txBody>
          <a:bodyPr wrap="square" rtlCol="0">
            <a:spAutoFit/>
          </a:bodyPr>
          <a:lstStyle/>
          <a:p>
            <a:r>
              <a:rPr lang="en-GB" sz="1400" dirty="0">
                <a:solidFill>
                  <a:schemeClr val="bg1"/>
                </a:solidFill>
                <a:latin typeface="Arial" panose="020B0604020202020204" pitchFamily="34" charset="0"/>
                <a:cs typeface="Arial" panose="020B0604020202020204" pitchFamily="34" charset="0"/>
              </a:rPr>
              <a:t>Assertions</a:t>
            </a:r>
          </a:p>
        </p:txBody>
      </p:sp>
      <p:pic>
        <p:nvPicPr>
          <p:cNvPr id="22" name="Graphic 21" descr="List">
            <a:extLst>
              <a:ext uri="{FF2B5EF4-FFF2-40B4-BE49-F238E27FC236}">
                <a16:creationId xmlns:a16="http://schemas.microsoft.com/office/drawing/2014/main" id="{8136C240-20D9-4378-8A43-AD4B8EB45B5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337766" y="1403177"/>
            <a:ext cx="645189" cy="645189"/>
          </a:xfrm>
          <a:prstGeom prst="rect">
            <a:avLst/>
          </a:prstGeom>
        </p:spPr>
      </p:pic>
      <p:pic>
        <p:nvPicPr>
          <p:cNvPr id="20" name="Graphic 19" descr="Magnifying glass">
            <a:extLst>
              <a:ext uri="{FF2B5EF4-FFF2-40B4-BE49-F238E27FC236}">
                <a16:creationId xmlns:a16="http://schemas.microsoft.com/office/drawing/2014/main" id="{2D2A8B34-3AA3-4520-A22E-6B246776DE43}"/>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612130" y="1403177"/>
            <a:ext cx="626480" cy="626480"/>
          </a:xfrm>
          <a:prstGeom prst="rect">
            <a:avLst/>
          </a:prstGeom>
        </p:spPr>
      </p:pic>
      <p:sp>
        <p:nvSpPr>
          <p:cNvPr id="17" name="Oval 16">
            <a:extLst>
              <a:ext uri="{FF2B5EF4-FFF2-40B4-BE49-F238E27FC236}">
                <a16:creationId xmlns:a16="http://schemas.microsoft.com/office/drawing/2014/main" id="{F48C5B14-1916-4CFE-9EC5-AB12CCD30CB1}"/>
              </a:ext>
            </a:extLst>
          </p:cNvPr>
          <p:cNvSpPr/>
          <p:nvPr/>
        </p:nvSpPr>
        <p:spPr>
          <a:xfrm>
            <a:off x="805273" y="2368254"/>
            <a:ext cx="1589854" cy="1589854"/>
          </a:xfrm>
          <a:prstGeom prst="ellipse">
            <a:avLst/>
          </a:prstGeom>
          <a:solidFill>
            <a:schemeClr val="accent3"/>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lang="en-GB" sz="1200" dirty="0">
                <a:latin typeface="Arial" panose="020B0604020202020204" pitchFamily="34" charset="0"/>
                <a:cs typeface="Arial" panose="020B0604020202020204" pitchFamily="34" charset="0"/>
              </a:rPr>
              <a:t>Environmental, social and governance information about company X</a:t>
            </a:r>
            <a:endParaRPr lang="en-GB" sz="1050" dirty="0">
              <a:latin typeface="Arial" panose="020B0604020202020204" pitchFamily="34" charset="0"/>
              <a:cs typeface="Arial" panose="020B0604020202020204" pitchFamily="34" charset="0"/>
            </a:endParaRPr>
          </a:p>
        </p:txBody>
      </p:sp>
      <p:sp>
        <p:nvSpPr>
          <p:cNvPr id="18" name="Oval 17">
            <a:extLst>
              <a:ext uri="{FF2B5EF4-FFF2-40B4-BE49-F238E27FC236}">
                <a16:creationId xmlns:a16="http://schemas.microsoft.com/office/drawing/2014/main" id="{60DFD2BB-CDAB-4D06-A1E4-F9AD45A71313}"/>
              </a:ext>
            </a:extLst>
          </p:cNvPr>
          <p:cNvSpPr/>
          <p:nvPr/>
        </p:nvSpPr>
        <p:spPr>
          <a:xfrm>
            <a:off x="3528796" y="2368254"/>
            <a:ext cx="1589854" cy="1589854"/>
          </a:xfrm>
          <a:prstGeom prst="ellipse">
            <a:avLst/>
          </a:prstGeom>
          <a:solidFill>
            <a:schemeClr val="accent3"/>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lang="en-GB" sz="1200" dirty="0">
                <a:latin typeface="Arial" panose="020B0604020202020204" pitchFamily="34" charset="0"/>
                <a:cs typeface="Arial" panose="020B0604020202020204" pitchFamily="34" charset="0"/>
              </a:rPr>
              <a:t>Percentage of people employed by company X who are male</a:t>
            </a:r>
          </a:p>
        </p:txBody>
      </p:sp>
      <p:sp>
        <p:nvSpPr>
          <p:cNvPr id="19" name="Oval 18">
            <a:extLst>
              <a:ext uri="{FF2B5EF4-FFF2-40B4-BE49-F238E27FC236}">
                <a16:creationId xmlns:a16="http://schemas.microsoft.com/office/drawing/2014/main" id="{542C256B-D6CE-416B-9564-170BD5E83D54}"/>
              </a:ext>
            </a:extLst>
          </p:cNvPr>
          <p:cNvSpPr/>
          <p:nvPr/>
        </p:nvSpPr>
        <p:spPr>
          <a:xfrm>
            <a:off x="6290895" y="2368254"/>
            <a:ext cx="1589854" cy="1589854"/>
          </a:xfrm>
          <a:prstGeom prst="ellipse">
            <a:avLst/>
          </a:prstGeom>
          <a:solidFill>
            <a:schemeClr val="accent3"/>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lang="en-GB" sz="1200" dirty="0">
                <a:latin typeface="Arial" panose="020B0604020202020204" pitchFamily="34" charset="0"/>
                <a:cs typeface="Arial" panose="020B0604020202020204" pitchFamily="34" charset="0"/>
              </a:rPr>
              <a:t>50% of employees are male</a:t>
            </a:r>
          </a:p>
        </p:txBody>
      </p:sp>
      <p:pic>
        <p:nvPicPr>
          <p:cNvPr id="25" name="Graphic 24" descr="Add">
            <a:extLst>
              <a:ext uri="{FF2B5EF4-FFF2-40B4-BE49-F238E27FC236}">
                <a16:creationId xmlns:a16="http://schemas.microsoft.com/office/drawing/2014/main" id="{56CE2CED-D9EC-4E2D-ADAF-1ABBE9D5D91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706962" y="2908179"/>
            <a:ext cx="509999" cy="509999"/>
          </a:xfrm>
          <a:prstGeom prst="rect">
            <a:avLst/>
          </a:prstGeom>
        </p:spPr>
      </p:pic>
      <p:sp>
        <p:nvSpPr>
          <p:cNvPr id="3" name="Rectangle 2">
            <a:extLst>
              <a:ext uri="{FF2B5EF4-FFF2-40B4-BE49-F238E27FC236}">
                <a16:creationId xmlns:a16="http://schemas.microsoft.com/office/drawing/2014/main" id="{95D0D4DF-CA1C-4781-8A0E-CC27E84E01DF}"/>
              </a:ext>
            </a:extLst>
          </p:cNvPr>
          <p:cNvSpPr/>
          <p:nvPr/>
        </p:nvSpPr>
        <p:spPr>
          <a:xfrm>
            <a:off x="805273" y="4336194"/>
            <a:ext cx="1589854" cy="425303"/>
          </a:xfrm>
          <a:prstGeom prst="rect">
            <a:avLst/>
          </a:prstGeom>
          <a:solidFill>
            <a:schemeClr val="accent6"/>
          </a:solidFill>
          <a:ln>
            <a:solidFill>
              <a:schemeClr val="accent6">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400" b="1" dirty="0">
                <a:latin typeface="Arial" panose="020B0604020202020204" pitchFamily="34" charset="0"/>
                <a:cs typeface="Arial" panose="020B0604020202020204" pitchFamily="34" charset="0"/>
              </a:rPr>
              <a:t>Social</a:t>
            </a:r>
          </a:p>
        </p:txBody>
      </p:sp>
      <p:sp>
        <p:nvSpPr>
          <p:cNvPr id="29" name="Rectangle 28">
            <a:extLst>
              <a:ext uri="{FF2B5EF4-FFF2-40B4-BE49-F238E27FC236}">
                <a16:creationId xmlns:a16="http://schemas.microsoft.com/office/drawing/2014/main" id="{6DB0CC17-B741-4E28-A6FE-16705756ECBD}"/>
              </a:ext>
            </a:extLst>
          </p:cNvPr>
          <p:cNvSpPr/>
          <p:nvPr/>
        </p:nvSpPr>
        <p:spPr>
          <a:xfrm>
            <a:off x="805273" y="5058267"/>
            <a:ext cx="1589854" cy="425303"/>
          </a:xfrm>
          <a:prstGeom prst="rect">
            <a:avLst/>
          </a:prstGeom>
          <a:solidFill>
            <a:schemeClr val="accent6"/>
          </a:solidFill>
          <a:ln>
            <a:solidFill>
              <a:schemeClr val="accent6">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400" b="1" dirty="0">
                <a:latin typeface="Arial" panose="020B0604020202020204" pitchFamily="34" charset="0"/>
                <a:cs typeface="Arial" panose="020B0604020202020204" pitchFamily="34" charset="0"/>
              </a:rPr>
              <a:t>Staff diversity</a:t>
            </a:r>
          </a:p>
        </p:txBody>
      </p:sp>
      <p:sp>
        <p:nvSpPr>
          <p:cNvPr id="7" name="Oval 6">
            <a:extLst>
              <a:ext uri="{FF2B5EF4-FFF2-40B4-BE49-F238E27FC236}">
                <a16:creationId xmlns:a16="http://schemas.microsoft.com/office/drawing/2014/main" id="{5268284E-6B50-46CA-88D3-7FD4B7802B99}"/>
              </a:ext>
            </a:extLst>
          </p:cNvPr>
          <p:cNvSpPr/>
          <p:nvPr/>
        </p:nvSpPr>
        <p:spPr>
          <a:xfrm>
            <a:off x="805274" y="5780341"/>
            <a:ext cx="269586" cy="269586"/>
          </a:xfrm>
          <a:prstGeom prst="ellipse">
            <a:avLst/>
          </a:prstGeom>
          <a:solidFill>
            <a:schemeClr val="bg1">
              <a:lumMod val="8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400" b="1" dirty="0">
                <a:solidFill>
                  <a:schemeClr val="tx1">
                    <a:lumMod val="75000"/>
                    <a:lumOff val="25000"/>
                  </a:schemeClr>
                </a:solidFill>
                <a:latin typeface="Arial" panose="020B0604020202020204" pitchFamily="34" charset="0"/>
                <a:cs typeface="Arial" panose="020B0604020202020204" pitchFamily="34" charset="0"/>
              </a:rPr>
              <a:t>e</a:t>
            </a:r>
          </a:p>
        </p:txBody>
      </p:sp>
      <p:cxnSp>
        <p:nvCxnSpPr>
          <p:cNvPr id="9" name="Straight Arrow Connector 8">
            <a:extLst>
              <a:ext uri="{FF2B5EF4-FFF2-40B4-BE49-F238E27FC236}">
                <a16:creationId xmlns:a16="http://schemas.microsoft.com/office/drawing/2014/main" id="{6E642256-AEE5-4C7C-B086-129200F924AE}"/>
              </a:ext>
            </a:extLst>
          </p:cNvPr>
          <p:cNvCxnSpPr>
            <a:cxnSpLocks/>
          </p:cNvCxnSpPr>
          <p:nvPr/>
        </p:nvCxnSpPr>
        <p:spPr>
          <a:xfrm>
            <a:off x="1607445" y="4063156"/>
            <a:ext cx="0" cy="227025"/>
          </a:xfrm>
          <a:prstGeom prst="straightConnector1">
            <a:avLst/>
          </a:prstGeom>
          <a:ln>
            <a:solidFill>
              <a:schemeClr val="bg1">
                <a:lumMod val="50000"/>
              </a:schemeClr>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34" name="Straight Arrow Connector 33">
            <a:extLst>
              <a:ext uri="{FF2B5EF4-FFF2-40B4-BE49-F238E27FC236}">
                <a16:creationId xmlns:a16="http://schemas.microsoft.com/office/drawing/2014/main" id="{56381CA6-7025-4AFF-B3E4-78C38FCB2685}"/>
              </a:ext>
            </a:extLst>
          </p:cNvPr>
          <p:cNvCxnSpPr>
            <a:cxnSpLocks/>
          </p:cNvCxnSpPr>
          <p:nvPr/>
        </p:nvCxnSpPr>
        <p:spPr>
          <a:xfrm>
            <a:off x="1600200" y="4802495"/>
            <a:ext cx="0" cy="227025"/>
          </a:xfrm>
          <a:prstGeom prst="straightConnector1">
            <a:avLst/>
          </a:prstGeom>
          <a:ln>
            <a:solidFill>
              <a:schemeClr val="bg1">
                <a:lumMod val="50000"/>
              </a:schemeClr>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40" name="Oval 39">
            <a:extLst>
              <a:ext uri="{FF2B5EF4-FFF2-40B4-BE49-F238E27FC236}">
                <a16:creationId xmlns:a16="http://schemas.microsoft.com/office/drawing/2014/main" id="{E81F4E00-268E-47DA-BBC3-A0403376D82A}"/>
              </a:ext>
            </a:extLst>
          </p:cNvPr>
          <p:cNvSpPr/>
          <p:nvPr/>
        </p:nvSpPr>
        <p:spPr>
          <a:xfrm>
            <a:off x="1074860" y="5780340"/>
            <a:ext cx="269586" cy="269586"/>
          </a:xfrm>
          <a:prstGeom prst="ellipse">
            <a:avLst/>
          </a:prstGeom>
          <a:solidFill>
            <a:schemeClr val="bg1">
              <a:lumMod val="8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400" b="1" dirty="0">
                <a:solidFill>
                  <a:schemeClr val="tx1">
                    <a:lumMod val="75000"/>
                    <a:lumOff val="25000"/>
                  </a:schemeClr>
                </a:solidFill>
                <a:latin typeface="Arial" panose="020B0604020202020204" pitchFamily="34" charset="0"/>
                <a:cs typeface="Arial" panose="020B0604020202020204" pitchFamily="34" charset="0"/>
              </a:rPr>
              <a:t>m</a:t>
            </a:r>
          </a:p>
        </p:txBody>
      </p:sp>
      <p:sp>
        <p:nvSpPr>
          <p:cNvPr id="41" name="Oval 40">
            <a:extLst>
              <a:ext uri="{FF2B5EF4-FFF2-40B4-BE49-F238E27FC236}">
                <a16:creationId xmlns:a16="http://schemas.microsoft.com/office/drawing/2014/main" id="{DAF97259-33F6-4C37-ABBC-94E47929B3AE}"/>
              </a:ext>
            </a:extLst>
          </p:cNvPr>
          <p:cNvSpPr/>
          <p:nvPr/>
        </p:nvSpPr>
        <p:spPr>
          <a:xfrm>
            <a:off x="1344446" y="5780340"/>
            <a:ext cx="269586" cy="269586"/>
          </a:xfrm>
          <a:prstGeom prst="ellipse">
            <a:avLst/>
          </a:prstGeom>
          <a:solidFill>
            <a:schemeClr val="bg1">
              <a:lumMod val="8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400" b="1" dirty="0">
                <a:solidFill>
                  <a:schemeClr val="tx1">
                    <a:lumMod val="75000"/>
                    <a:lumOff val="25000"/>
                  </a:schemeClr>
                </a:solidFill>
                <a:latin typeface="Arial" panose="020B0604020202020204" pitchFamily="34" charset="0"/>
                <a:cs typeface="Arial" panose="020B0604020202020204" pitchFamily="34" charset="0"/>
              </a:rPr>
              <a:t>p</a:t>
            </a:r>
          </a:p>
        </p:txBody>
      </p:sp>
      <p:sp>
        <p:nvSpPr>
          <p:cNvPr id="42" name="Oval 41">
            <a:extLst>
              <a:ext uri="{FF2B5EF4-FFF2-40B4-BE49-F238E27FC236}">
                <a16:creationId xmlns:a16="http://schemas.microsoft.com/office/drawing/2014/main" id="{9A256C42-24B9-4491-BF74-4F4D2AF65931}"/>
              </a:ext>
            </a:extLst>
          </p:cNvPr>
          <p:cNvSpPr/>
          <p:nvPr/>
        </p:nvSpPr>
        <p:spPr>
          <a:xfrm>
            <a:off x="1614032" y="5780341"/>
            <a:ext cx="269586" cy="269586"/>
          </a:xfrm>
          <a:prstGeom prst="ellipse">
            <a:avLst/>
          </a:prstGeom>
          <a:solidFill>
            <a:schemeClr val="bg1">
              <a:lumMod val="8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400" b="1" dirty="0">
                <a:solidFill>
                  <a:schemeClr val="tx1">
                    <a:lumMod val="75000"/>
                    <a:lumOff val="25000"/>
                  </a:schemeClr>
                </a:solidFill>
                <a:latin typeface="Arial" panose="020B0604020202020204" pitchFamily="34" charset="0"/>
                <a:cs typeface="Arial" panose="020B0604020202020204" pitchFamily="34" charset="0"/>
              </a:rPr>
              <a:t>l</a:t>
            </a:r>
          </a:p>
        </p:txBody>
      </p:sp>
      <p:sp>
        <p:nvSpPr>
          <p:cNvPr id="43" name="Oval 42">
            <a:extLst>
              <a:ext uri="{FF2B5EF4-FFF2-40B4-BE49-F238E27FC236}">
                <a16:creationId xmlns:a16="http://schemas.microsoft.com/office/drawing/2014/main" id="{C7778686-B2A9-4214-83D4-761CB3078449}"/>
              </a:ext>
            </a:extLst>
          </p:cNvPr>
          <p:cNvSpPr/>
          <p:nvPr/>
        </p:nvSpPr>
        <p:spPr>
          <a:xfrm>
            <a:off x="1883618" y="5780340"/>
            <a:ext cx="269586" cy="269586"/>
          </a:xfrm>
          <a:prstGeom prst="ellipse">
            <a:avLst/>
          </a:prstGeom>
          <a:solidFill>
            <a:schemeClr val="bg1">
              <a:lumMod val="8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400" b="1" dirty="0">
                <a:solidFill>
                  <a:schemeClr val="tx1">
                    <a:lumMod val="75000"/>
                    <a:lumOff val="25000"/>
                  </a:schemeClr>
                </a:solidFill>
                <a:latin typeface="Arial" panose="020B0604020202020204" pitchFamily="34" charset="0"/>
                <a:cs typeface="Arial" panose="020B0604020202020204" pitchFamily="34" charset="0"/>
              </a:rPr>
              <a:t>o</a:t>
            </a:r>
          </a:p>
        </p:txBody>
      </p:sp>
      <p:sp>
        <p:nvSpPr>
          <p:cNvPr id="44" name="Oval 43">
            <a:extLst>
              <a:ext uri="{FF2B5EF4-FFF2-40B4-BE49-F238E27FC236}">
                <a16:creationId xmlns:a16="http://schemas.microsoft.com/office/drawing/2014/main" id="{E41B56DE-196F-4FE4-93F5-398652CD5CAA}"/>
              </a:ext>
            </a:extLst>
          </p:cNvPr>
          <p:cNvSpPr/>
          <p:nvPr/>
        </p:nvSpPr>
        <p:spPr>
          <a:xfrm>
            <a:off x="2153204" y="5780340"/>
            <a:ext cx="269586" cy="269586"/>
          </a:xfrm>
          <a:prstGeom prst="ellipse">
            <a:avLst/>
          </a:prstGeom>
          <a:solidFill>
            <a:schemeClr val="bg1">
              <a:lumMod val="8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400" b="1" dirty="0">
                <a:solidFill>
                  <a:schemeClr val="tx1">
                    <a:lumMod val="75000"/>
                    <a:lumOff val="25000"/>
                  </a:schemeClr>
                </a:solidFill>
                <a:latin typeface="Arial" panose="020B0604020202020204" pitchFamily="34" charset="0"/>
                <a:cs typeface="Arial" panose="020B0604020202020204" pitchFamily="34" charset="0"/>
              </a:rPr>
              <a:t>y</a:t>
            </a:r>
          </a:p>
        </p:txBody>
      </p:sp>
      <p:sp>
        <p:nvSpPr>
          <p:cNvPr id="45" name="Oval 44">
            <a:extLst>
              <a:ext uri="{FF2B5EF4-FFF2-40B4-BE49-F238E27FC236}">
                <a16:creationId xmlns:a16="http://schemas.microsoft.com/office/drawing/2014/main" id="{DBC52223-A0EA-4BE3-86A5-61538298B42D}"/>
              </a:ext>
            </a:extLst>
          </p:cNvPr>
          <p:cNvSpPr/>
          <p:nvPr/>
        </p:nvSpPr>
        <p:spPr>
          <a:xfrm>
            <a:off x="2422790" y="5780340"/>
            <a:ext cx="269586" cy="269586"/>
          </a:xfrm>
          <a:prstGeom prst="ellipse">
            <a:avLst/>
          </a:prstGeom>
          <a:solidFill>
            <a:schemeClr val="bg1">
              <a:lumMod val="8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400" b="1" dirty="0">
                <a:solidFill>
                  <a:schemeClr val="tx1">
                    <a:lumMod val="75000"/>
                    <a:lumOff val="25000"/>
                  </a:schemeClr>
                </a:solidFill>
                <a:latin typeface="Arial" panose="020B0604020202020204" pitchFamily="34" charset="0"/>
                <a:cs typeface="Arial" panose="020B0604020202020204" pitchFamily="34" charset="0"/>
              </a:rPr>
              <a:t>e</a:t>
            </a:r>
          </a:p>
        </p:txBody>
      </p:sp>
      <p:sp>
        <p:nvSpPr>
          <p:cNvPr id="46" name="Oval 45">
            <a:extLst>
              <a:ext uri="{FF2B5EF4-FFF2-40B4-BE49-F238E27FC236}">
                <a16:creationId xmlns:a16="http://schemas.microsoft.com/office/drawing/2014/main" id="{25584A55-0EF6-4A2B-A7A0-4677FC2A3B31}"/>
              </a:ext>
            </a:extLst>
          </p:cNvPr>
          <p:cNvSpPr/>
          <p:nvPr/>
        </p:nvSpPr>
        <p:spPr>
          <a:xfrm>
            <a:off x="2692376" y="5780339"/>
            <a:ext cx="269586" cy="269586"/>
          </a:xfrm>
          <a:prstGeom prst="ellipse">
            <a:avLst/>
          </a:prstGeom>
          <a:solidFill>
            <a:schemeClr val="bg1">
              <a:lumMod val="8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400" b="1" dirty="0">
                <a:solidFill>
                  <a:schemeClr val="tx1">
                    <a:lumMod val="75000"/>
                    <a:lumOff val="25000"/>
                  </a:schemeClr>
                </a:solidFill>
                <a:latin typeface="Arial" panose="020B0604020202020204" pitchFamily="34" charset="0"/>
                <a:cs typeface="Arial" panose="020B0604020202020204" pitchFamily="34" charset="0"/>
              </a:rPr>
              <a:t>e</a:t>
            </a:r>
          </a:p>
        </p:txBody>
      </p:sp>
      <p:sp>
        <p:nvSpPr>
          <p:cNvPr id="47" name="Oval 46">
            <a:extLst>
              <a:ext uri="{FF2B5EF4-FFF2-40B4-BE49-F238E27FC236}">
                <a16:creationId xmlns:a16="http://schemas.microsoft.com/office/drawing/2014/main" id="{5DAD044D-B1A9-4405-8F0B-C6BAC0589D43}"/>
              </a:ext>
            </a:extLst>
          </p:cNvPr>
          <p:cNvSpPr/>
          <p:nvPr/>
        </p:nvSpPr>
        <p:spPr>
          <a:xfrm>
            <a:off x="2961962" y="5780339"/>
            <a:ext cx="269586" cy="269586"/>
          </a:xfrm>
          <a:prstGeom prst="ellipse">
            <a:avLst/>
          </a:prstGeom>
          <a:solidFill>
            <a:schemeClr val="bg1">
              <a:lumMod val="8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400" b="1" dirty="0">
                <a:solidFill>
                  <a:schemeClr val="tx1">
                    <a:lumMod val="75000"/>
                    <a:lumOff val="25000"/>
                  </a:schemeClr>
                </a:solidFill>
                <a:latin typeface="Arial" panose="020B0604020202020204" pitchFamily="34" charset="0"/>
                <a:cs typeface="Arial" panose="020B0604020202020204" pitchFamily="34" charset="0"/>
              </a:rPr>
              <a:t>s</a:t>
            </a:r>
          </a:p>
        </p:txBody>
      </p:sp>
      <p:cxnSp>
        <p:nvCxnSpPr>
          <p:cNvPr id="13" name="Straight Arrow Connector 12">
            <a:extLst>
              <a:ext uri="{FF2B5EF4-FFF2-40B4-BE49-F238E27FC236}">
                <a16:creationId xmlns:a16="http://schemas.microsoft.com/office/drawing/2014/main" id="{E3554A45-0DBB-4524-B7A5-1A2E0C0061FB}"/>
              </a:ext>
            </a:extLst>
          </p:cNvPr>
          <p:cNvCxnSpPr/>
          <p:nvPr/>
        </p:nvCxnSpPr>
        <p:spPr>
          <a:xfrm>
            <a:off x="5348177" y="3163178"/>
            <a:ext cx="754573" cy="0"/>
          </a:xfrm>
          <a:prstGeom prst="straightConnector1">
            <a:avLst/>
          </a:prstGeom>
          <a:ln w="57150">
            <a:solidFill>
              <a:schemeClr val="tx1">
                <a:lumMod val="65000"/>
                <a:lumOff val="35000"/>
              </a:schemeClr>
            </a:solidFill>
            <a:headEnd type="none" w="med" len="med"/>
            <a:tailEnd type="arrow" w="med" len="med"/>
          </a:ln>
          <a:effectLst/>
        </p:spPr>
        <p:style>
          <a:lnRef idx="2">
            <a:schemeClr val="accent1"/>
          </a:lnRef>
          <a:fillRef idx="0">
            <a:schemeClr val="accent1"/>
          </a:fillRef>
          <a:effectRef idx="1">
            <a:schemeClr val="accent1"/>
          </a:effectRef>
          <a:fontRef idx="minor">
            <a:schemeClr val="tx1"/>
          </a:fontRef>
        </p:style>
      </p:cxnSp>
      <p:sp>
        <p:nvSpPr>
          <p:cNvPr id="16" name="Freeform: Shape 15">
            <a:extLst>
              <a:ext uri="{FF2B5EF4-FFF2-40B4-BE49-F238E27FC236}">
                <a16:creationId xmlns:a16="http://schemas.microsoft.com/office/drawing/2014/main" id="{CA2AA54A-53DD-4AEE-A0E7-7A8BBAF1602D}"/>
              </a:ext>
            </a:extLst>
          </p:cNvPr>
          <p:cNvSpPr/>
          <p:nvPr/>
        </p:nvSpPr>
        <p:spPr>
          <a:xfrm>
            <a:off x="3359889" y="4189228"/>
            <a:ext cx="3789067" cy="1722474"/>
          </a:xfrm>
          <a:custGeom>
            <a:avLst/>
            <a:gdLst>
              <a:gd name="connsiteX0" fmla="*/ 0 w 4199861"/>
              <a:gd name="connsiteY0" fmla="*/ 1722474 h 1722474"/>
              <a:gd name="connsiteX1" fmla="*/ 3498112 w 4199861"/>
              <a:gd name="connsiteY1" fmla="*/ 1265274 h 1722474"/>
              <a:gd name="connsiteX2" fmla="*/ 4199861 w 4199861"/>
              <a:gd name="connsiteY2" fmla="*/ 0 h 1722474"/>
            </a:gdLst>
            <a:ahLst/>
            <a:cxnLst>
              <a:cxn ang="0">
                <a:pos x="connsiteX0" y="connsiteY0"/>
              </a:cxn>
              <a:cxn ang="0">
                <a:pos x="connsiteX1" y="connsiteY1"/>
              </a:cxn>
              <a:cxn ang="0">
                <a:pos x="connsiteX2" y="connsiteY2"/>
              </a:cxn>
            </a:cxnLst>
            <a:rect l="l" t="t" r="r" b="b"/>
            <a:pathLst>
              <a:path w="4199861" h="1722474">
                <a:moveTo>
                  <a:pt x="0" y="1722474"/>
                </a:moveTo>
                <a:cubicBezTo>
                  <a:pt x="1399067" y="1637413"/>
                  <a:pt x="2798135" y="1552353"/>
                  <a:pt x="3498112" y="1265274"/>
                </a:cubicBezTo>
                <a:cubicBezTo>
                  <a:pt x="4198089" y="978195"/>
                  <a:pt x="4198975" y="489097"/>
                  <a:pt x="4199861" y="0"/>
                </a:cubicBezTo>
              </a:path>
            </a:pathLst>
          </a:custGeom>
          <a:ln w="57150">
            <a:solidFill>
              <a:schemeClr val="tx1">
                <a:lumMod val="65000"/>
                <a:lumOff val="35000"/>
              </a:schemeClr>
            </a:solidFill>
            <a:headEnd type="none" w="med" len="med"/>
            <a:tailEnd type="arrow"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48" name="TextBox 47">
            <a:extLst>
              <a:ext uri="{FF2B5EF4-FFF2-40B4-BE49-F238E27FC236}">
                <a16:creationId xmlns:a16="http://schemas.microsoft.com/office/drawing/2014/main" id="{D9737F3D-994B-4F95-9E0A-DE6917F89992}"/>
              </a:ext>
            </a:extLst>
          </p:cNvPr>
          <p:cNvSpPr txBox="1"/>
          <p:nvPr/>
        </p:nvSpPr>
        <p:spPr>
          <a:xfrm rot="21215811">
            <a:off x="4048451" y="5736171"/>
            <a:ext cx="2340597" cy="276999"/>
          </a:xfrm>
          <a:prstGeom prst="rect">
            <a:avLst/>
          </a:prstGeom>
          <a:noFill/>
        </p:spPr>
        <p:txBody>
          <a:bodyPr wrap="square" rtlCol="0">
            <a:spAutoFit/>
          </a:bodyPr>
          <a:lstStyle/>
          <a:p>
            <a:pPr algn="ctr"/>
            <a:r>
              <a:rPr lang="en-GB" sz="1200" dirty="0">
                <a:latin typeface="Arial" panose="020B0604020202020204" pitchFamily="34" charset="0"/>
                <a:cs typeface="Arial" panose="020B0604020202020204" pitchFamily="34" charset="0"/>
              </a:rPr>
              <a:t>measure or evaluate</a:t>
            </a:r>
          </a:p>
        </p:txBody>
      </p:sp>
      <p:sp>
        <p:nvSpPr>
          <p:cNvPr id="49" name="TextBox 48">
            <a:extLst>
              <a:ext uri="{FF2B5EF4-FFF2-40B4-BE49-F238E27FC236}">
                <a16:creationId xmlns:a16="http://schemas.microsoft.com/office/drawing/2014/main" id="{F05543E1-5242-4177-AF00-9AD8DF5696E5}"/>
              </a:ext>
            </a:extLst>
          </p:cNvPr>
          <p:cNvSpPr txBox="1"/>
          <p:nvPr/>
        </p:nvSpPr>
        <p:spPr>
          <a:xfrm>
            <a:off x="8612542" y="2368254"/>
            <a:ext cx="3136429" cy="3554819"/>
          </a:xfrm>
          <a:prstGeom prst="rect">
            <a:avLst/>
          </a:prstGeom>
          <a:noFill/>
          <a:ln>
            <a:solidFill>
              <a:schemeClr val="bg1">
                <a:lumMod val="50000"/>
              </a:schemeClr>
            </a:solidFill>
          </a:ln>
        </p:spPr>
        <p:txBody>
          <a:bodyPr wrap="square" rtlCol="0">
            <a:spAutoFit/>
          </a:bodyPr>
          <a:lstStyle/>
          <a:p>
            <a:pPr>
              <a:spcAft>
                <a:spcPts val="600"/>
              </a:spcAft>
            </a:pPr>
            <a:r>
              <a:rPr lang="en-GB" sz="1600" b="1" dirty="0">
                <a:latin typeface="Arial" panose="020B0604020202020204" pitchFamily="34" charset="0"/>
                <a:cs typeface="Arial" panose="020B0604020202020204" pitchFamily="34" charset="0"/>
              </a:rPr>
              <a:t>Definitions</a:t>
            </a:r>
            <a:endParaRPr lang="en-GB" sz="1200" b="1" dirty="0">
              <a:latin typeface="Arial" panose="020B0604020202020204" pitchFamily="34" charset="0"/>
              <a:cs typeface="Arial" panose="020B0604020202020204" pitchFamily="34" charset="0"/>
            </a:endParaRPr>
          </a:p>
          <a:p>
            <a:r>
              <a:rPr lang="en-GB" sz="1200" b="1" dirty="0">
                <a:solidFill>
                  <a:schemeClr val="tx2"/>
                </a:solidFill>
                <a:latin typeface="Arial" panose="020B0604020202020204" pitchFamily="34" charset="0"/>
                <a:cs typeface="Arial" panose="020B0604020202020204" pitchFamily="34" charset="0"/>
              </a:rPr>
              <a:t>Underlying subject matter</a:t>
            </a:r>
          </a:p>
          <a:p>
            <a:r>
              <a:rPr lang="en-GB" sz="1200" dirty="0">
                <a:latin typeface="Arial" panose="020B0604020202020204" pitchFamily="34" charset="0"/>
                <a:cs typeface="Arial" panose="020B0604020202020204" pitchFamily="34" charset="0"/>
              </a:rPr>
              <a:t>The phenomenon that is measured or evaluated by applying criteria.</a:t>
            </a:r>
          </a:p>
          <a:p>
            <a:endParaRPr lang="en-GB" sz="1200" dirty="0">
              <a:latin typeface="Arial" panose="020B0604020202020204" pitchFamily="34" charset="0"/>
              <a:cs typeface="Arial" panose="020B0604020202020204" pitchFamily="34" charset="0"/>
            </a:endParaRPr>
          </a:p>
          <a:p>
            <a:r>
              <a:rPr lang="en-GB" sz="1200" b="1" dirty="0">
                <a:solidFill>
                  <a:schemeClr val="tx2"/>
                </a:solidFill>
                <a:latin typeface="Arial" panose="020B0604020202020204" pitchFamily="34" charset="0"/>
                <a:cs typeface="Arial" panose="020B0604020202020204" pitchFamily="34" charset="0"/>
              </a:rPr>
              <a:t>Criteria</a:t>
            </a:r>
          </a:p>
          <a:p>
            <a:r>
              <a:rPr lang="en-GB" sz="1200" dirty="0">
                <a:latin typeface="Arial" panose="020B0604020202020204" pitchFamily="34" charset="0"/>
                <a:cs typeface="Arial" panose="020B0604020202020204" pitchFamily="34" charset="0"/>
              </a:rPr>
              <a:t>The benchmarks used to measure or evaluate the underlying subject matter.</a:t>
            </a:r>
          </a:p>
          <a:p>
            <a:endParaRPr lang="en-GB" sz="1200" dirty="0">
              <a:latin typeface="Arial" panose="020B0604020202020204" pitchFamily="34" charset="0"/>
              <a:cs typeface="Arial" panose="020B0604020202020204" pitchFamily="34" charset="0"/>
            </a:endParaRPr>
          </a:p>
          <a:p>
            <a:r>
              <a:rPr lang="en-GB" sz="1200" b="1" dirty="0">
                <a:solidFill>
                  <a:schemeClr val="tx2"/>
                </a:solidFill>
                <a:latin typeface="Arial" panose="020B0604020202020204" pitchFamily="34" charset="0"/>
                <a:cs typeface="Arial" panose="020B0604020202020204" pitchFamily="34" charset="0"/>
              </a:rPr>
              <a:t>Subject matter information</a:t>
            </a:r>
          </a:p>
          <a:p>
            <a:r>
              <a:rPr lang="en-GB" sz="1200" dirty="0">
                <a:latin typeface="Arial" panose="020B0604020202020204" pitchFamily="34" charset="0"/>
                <a:cs typeface="Arial" panose="020B0604020202020204" pitchFamily="34" charset="0"/>
              </a:rPr>
              <a:t>The information that results from applying the criteria to the underlying subject matter.</a:t>
            </a:r>
          </a:p>
          <a:p>
            <a:endParaRPr lang="en-GB" sz="1200" dirty="0">
              <a:latin typeface="Arial" panose="020B0604020202020204" pitchFamily="34" charset="0"/>
              <a:cs typeface="Arial" panose="020B0604020202020204" pitchFamily="34" charset="0"/>
            </a:endParaRPr>
          </a:p>
          <a:p>
            <a:r>
              <a:rPr lang="en-GB" sz="1200" b="1" dirty="0">
                <a:solidFill>
                  <a:schemeClr val="tx2"/>
                </a:solidFill>
                <a:latin typeface="Arial" panose="020B0604020202020204" pitchFamily="34" charset="0"/>
                <a:cs typeface="Arial" panose="020B0604020202020204" pitchFamily="34" charset="0"/>
              </a:rPr>
              <a:t>Resources</a:t>
            </a:r>
          </a:p>
          <a:p>
            <a:r>
              <a:rPr lang="en-GB" sz="1200" dirty="0">
                <a:latin typeface="Arial" panose="020B0604020202020204" pitchFamily="34" charset="0"/>
                <a:cs typeface="Arial" panose="020B0604020202020204" pitchFamily="34" charset="0"/>
              </a:rPr>
              <a:t>A suggested generalized description of subject matter elements – the resources available to, or affected by, the entity and the causes of change in those resources.</a:t>
            </a:r>
          </a:p>
        </p:txBody>
      </p:sp>
      <p:sp>
        <p:nvSpPr>
          <p:cNvPr id="8" name="TextBox 7">
            <a:extLst>
              <a:ext uri="{FF2B5EF4-FFF2-40B4-BE49-F238E27FC236}">
                <a16:creationId xmlns:a16="http://schemas.microsoft.com/office/drawing/2014/main" id="{44A2038B-27D2-4858-B58F-0B79195CFD94}"/>
              </a:ext>
            </a:extLst>
          </p:cNvPr>
          <p:cNvSpPr txBox="1"/>
          <p:nvPr/>
        </p:nvSpPr>
        <p:spPr>
          <a:xfrm>
            <a:off x="2924801" y="4385302"/>
            <a:ext cx="2952980" cy="461665"/>
          </a:xfrm>
          <a:prstGeom prst="rect">
            <a:avLst/>
          </a:prstGeom>
          <a:noFill/>
        </p:spPr>
        <p:txBody>
          <a:bodyPr wrap="square" rtlCol="0">
            <a:spAutoFit/>
          </a:bodyPr>
          <a:lstStyle/>
          <a:p>
            <a:pPr algn="ctr"/>
            <a:r>
              <a:rPr lang="en-GB" sz="2400" b="1" dirty="0">
                <a:solidFill>
                  <a:schemeClr val="bg1">
                    <a:lumMod val="50000"/>
                  </a:schemeClr>
                </a:solidFill>
                <a:latin typeface="Arial" panose="020B0604020202020204" pitchFamily="34" charset="0"/>
                <a:cs typeface="Arial" panose="020B0604020202020204" pitchFamily="34" charset="0"/>
              </a:rPr>
              <a:t>a simple example</a:t>
            </a:r>
          </a:p>
        </p:txBody>
      </p:sp>
    </p:spTree>
    <p:extLst>
      <p:ext uri="{BB962C8B-B14F-4D97-AF65-F5344CB8AC3E}">
        <p14:creationId xmlns:p14="http://schemas.microsoft.com/office/powerpoint/2010/main" val="11660421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CB293-FD8E-4F6C-92E5-62197E3FBA35}"/>
              </a:ext>
            </a:extLst>
          </p:cNvPr>
          <p:cNvSpPr>
            <a:spLocks noGrp="1"/>
          </p:cNvSpPr>
          <p:nvPr>
            <p:ph type="title"/>
          </p:nvPr>
        </p:nvSpPr>
        <p:spPr>
          <a:xfrm>
            <a:off x="508000" y="564078"/>
            <a:ext cx="11187814" cy="533400"/>
          </a:xfrm>
        </p:spPr>
        <p:txBody>
          <a:bodyPr/>
          <a:lstStyle/>
          <a:p>
            <a:r>
              <a:rPr lang="en-GB" dirty="0"/>
              <a:t>Generalized construct of an EER report and its relationship to assurance concepts </a:t>
            </a:r>
          </a:p>
        </p:txBody>
      </p:sp>
      <p:sp>
        <p:nvSpPr>
          <p:cNvPr id="4" name="Subtitle 3">
            <a:extLst>
              <a:ext uri="{FF2B5EF4-FFF2-40B4-BE49-F238E27FC236}">
                <a16:creationId xmlns:a16="http://schemas.microsoft.com/office/drawing/2014/main" id="{B523B462-EC00-44AE-A4FD-59C48B8568FD}"/>
              </a:ext>
            </a:extLst>
          </p:cNvPr>
          <p:cNvSpPr>
            <a:spLocks noGrp="1"/>
          </p:cNvSpPr>
          <p:nvPr>
            <p:ph type="subTitle" idx="10"/>
          </p:nvPr>
        </p:nvSpPr>
        <p:spPr/>
        <p:txBody>
          <a:bodyPr/>
          <a:lstStyle/>
          <a:p>
            <a:endParaRPr lang="en-GB"/>
          </a:p>
        </p:txBody>
      </p:sp>
      <p:sp>
        <p:nvSpPr>
          <p:cNvPr id="5" name="Slide Number Placeholder 4">
            <a:extLst>
              <a:ext uri="{FF2B5EF4-FFF2-40B4-BE49-F238E27FC236}">
                <a16:creationId xmlns:a16="http://schemas.microsoft.com/office/drawing/2014/main" id="{5ED3D9D4-8FB3-463B-9D4F-12513A680A88}"/>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8</a:t>
            </a:fld>
            <a:endParaRPr lang="en-US" dirty="0">
              <a:latin typeface="Arial" panose="020B0604020202020204" pitchFamily="34" charset="0"/>
              <a:cs typeface="MS PGothic" charset="0"/>
            </a:endParaRPr>
          </a:p>
        </p:txBody>
      </p:sp>
      <p:sp>
        <p:nvSpPr>
          <p:cNvPr id="6" name="Arrow: Chevron 5">
            <a:extLst>
              <a:ext uri="{FF2B5EF4-FFF2-40B4-BE49-F238E27FC236}">
                <a16:creationId xmlns:a16="http://schemas.microsoft.com/office/drawing/2014/main" id="{AA019EF3-2054-4B1F-A278-94FEDEC44710}"/>
              </a:ext>
            </a:extLst>
          </p:cNvPr>
          <p:cNvSpPr/>
          <p:nvPr/>
        </p:nvSpPr>
        <p:spPr>
          <a:xfrm>
            <a:off x="633228" y="1364118"/>
            <a:ext cx="2728011" cy="713762"/>
          </a:xfrm>
          <a:prstGeom prst="chevron">
            <a:avLst>
              <a:gd name="adj" fmla="val 24918"/>
            </a:avLst>
          </a:prstGeom>
          <a:solidFill>
            <a:schemeClr val="accent3"/>
          </a:solidFill>
          <a:ln w="25400" cap="flat" cmpd="sng" algn="ctr">
            <a:solidFill>
              <a:prstClr val="white">
                <a:hueOff val="0"/>
                <a:satOff val="0"/>
                <a:lumOff val="0"/>
                <a:alphaOff val="0"/>
              </a:prstClr>
            </a:solidFill>
            <a:prstDash val="solid"/>
          </a:ln>
          <a:effectLst/>
        </p:spPr>
        <p:txBody>
          <a:bodyPr spcFirstLastPara="0" vert="horz" wrap="square" lIns="127000" tIns="0" rIns="127000" bIns="0" numCol="1" spcCol="1270" anchor="ctr" anchorCtr="0">
            <a:noAutofit/>
          </a:bodyPr>
          <a:lstStyle/>
          <a:p>
            <a:endParaRPr lang="en-GB" sz="1400" dirty="0">
              <a:solidFill>
                <a:schemeClr val="bg1"/>
              </a:solidFill>
              <a:latin typeface="Arial" panose="020B0604020202020204" pitchFamily="34" charset="0"/>
              <a:cs typeface="Arial" panose="020B0604020202020204" pitchFamily="34" charset="0"/>
            </a:endParaRPr>
          </a:p>
        </p:txBody>
      </p:sp>
      <p:pic>
        <p:nvPicPr>
          <p:cNvPr id="21" name="Graphic 20" descr="Head with Gears">
            <a:extLst>
              <a:ext uri="{FF2B5EF4-FFF2-40B4-BE49-F238E27FC236}">
                <a16:creationId xmlns:a16="http://schemas.microsoft.com/office/drawing/2014/main" id="{08D7732C-029E-490E-859A-3A7D27AB38D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74994" y="1403177"/>
            <a:ext cx="642425" cy="642425"/>
          </a:xfrm>
          <a:prstGeom prst="rect">
            <a:avLst/>
          </a:prstGeom>
        </p:spPr>
      </p:pic>
      <p:sp>
        <p:nvSpPr>
          <p:cNvPr id="23" name="TextBox 22">
            <a:extLst>
              <a:ext uri="{FF2B5EF4-FFF2-40B4-BE49-F238E27FC236}">
                <a16:creationId xmlns:a16="http://schemas.microsoft.com/office/drawing/2014/main" id="{C442F61A-5D1F-428A-94A9-1EAD05F2963F}"/>
              </a:ext>
            </a:extLst>
          </p:cNvPr>
          <p:cNvSpPr txBox="1"/>
          <p:nvPr/>
        </p:nvSpPr>
        <p:spPr>
          <a:xfrm>
            <a:off x="1679435" y="1459389"/>
            <a:ext cx="1463585" cy="523220"/>
          </a:xfrm>
          <a:prstGeom prst="rect">
            <a:avLst/>
          </a:prstGeom>
          <a:noFill/>
        </p:spPr>
        <p:txBody>
          <a:bodyPr wrap="square" rtlCol="0">
            <a:spAutoFit/>
          </a:bodyPr>
          <a:lstStyle/>
          <a:p>
            <a:r>
              <a:rPr lang="en-GB" sz="1400" dirty="0">
                <a:solidFill>
                  <a:schemeClr val="bg1"/>
                </a:solidFill>
                <a:latin typeface="Arial" panose="020B0604020202020204" pitchFamily="34" charset="0"/>
                <a:cs typeface="Arial" panose="020B0604020202020204" pitchFamily="34" charset="0"/>
              </a:rPr>
              <a:t>Generalized construct</a:t>
            </a:r>
          </a:p>
        </p:txBody>
      </p:sp>
      <p:sp>
        <p:nvSpPr>
          <p:cNvPr id="24" name="Arrow: Chevron 23">
            <a:extLst>
              <a:ext uri="{FF2B5EF4-FFF2-40B4-BE49-F238E27FC236}">
                <a16:creationId xmlns:a16="http://schemas.microsoft.com/office/drawing/2014/main" id="{5DA552CC-1BF5-404D-A1EF-996825B0C607}"/>
              </a:ext>
            </a:extLst>
          </p:cNvPr>
          <p:cNvSpPr/>
          <p:nvPr/>
        </p:nvSpPr>
        <p:spPr>
          <a:xfrm>
            <a:off x="3367989" y="1364118"/>
            <a:ext cx="2728011" cy="713762"/>
          </a:xfrm>
          <a:prstGeom prst="chevron">
            <a:avLst>
              <a:gd name="adj" fmla="val 24918"/>
            </a:avLst>
          </a:prstGeom>
          <a:solidFill>
            <a:schemeClr val="accent3">
              <a:lumMod val="20000"/>
              <a:lumOff val="80000"/>
            </a:schemeClr>
          </a:solidFill>
          <a:ln w="25400" cap="flat" cmpd="sng" algn="ctr">
            <a:solidFill>
              <a:prstClr val="white">
                <a:hueOff val="0"/>
                <a:satOff val="0"/>
                <a:lumOff val="0"/>
                <a:alphaOff val="0"/>
              </a:prstClr>
            </a:solidFill>
            <a:prstDash val="solid"/>
          </a:ln>
          <a:effectLst/>
        </p:spPr>
        <p:txBody>
          <a:bodyPr spcFirstLastPara="0" vert="horz" wrap="square" lIns="127000" tIns="0" rIns="127000" bIns="0" numCol="1" spcCol="1270" anchor="ctr" anchorCtr="0">
            <a:noAutofit/>
          </a:bodyPr>
          <a:lstStyle/>
          <a:p>
            <a:endParaRPr lang="en-GB" sz="1400" dirty="0">
              <a:solidFill>
                <a:schemeClr val="bg1"/>
              </a:solidFill>
              <a:latin typeface="Arial" panose="020B0604020202020204" pitchFamily="34" charset="0"/>
              <a:cs typeface="Arial" panose="020B0604020202020204" pitchFamily="34" charset="0"/>
            </a:endParaRPr>
          </a:p>
        </p:txBody>
      </p:sp>
      <p:sp>
        <p:nvSpPr>
          <p:cNvPr id="27" name="TextBox 26">
            <a:extLst>
              <a:ext uri="{FF2B5EF4-FFF2-40B4-BE49-F238E27FC236}">
                <a16:creationId xmlns:a16="http://schemas.microsoft.com/office/drawing/2014/main" id="{41A820CA-2131-4E78-90DA-D5DFF6C42C00}"/>
              </a:ext>
            </a:extLst>
          </p:cNvPr>
          <p:cNvSpPr txBox="1"/>
          <p:nvPr/>
        </p:nvSpPr>
        <p:spPr>
          <a:xfrm>
            <a:off x="4414196" y="1568899"/>
            <a:ext cx="1463585" cy="307777"/>
          </a:xfrm>
          <a:prstGeom prst="rect">
            <a:avLst/>
          </a:prstGeom>
          <a:noFill/>
        </p:spPr>
        <p:txBody>
          <a:bodyPr wrap="square" rtlCol="0">
            <a:spAutoFit/>
          </a:bodyPr>
          <a:lstStyle/>
          <a:p>
            <a:r>
              <a:rPr lang="en-GB" sz="1400" dirty="0">
                <a:solidFill>
                  <a:schemeClr val="bg1"/>
                </a:solidFill>
                <a:latin typeface="Arial" panose="020B0604020202020204" pitchFamily="34" charset="0"/>
                <a:cs typeface="Arial" panose="020B0604020202020204" pitchFamily="34" charset="0"/>
              </a:rPr>
              <a:t>Materiality</a:t>
            </a:r>
          </a:p>
        </p:txBody>
      </p:sp>
      <p:sp>
        <p:nvSpPr>
          <p:cNvPr id="28" name="Arrow: Chevron 27">
            <a:extLst>
              <a:ext uri="{FF2B5EF4-FFF2-40B4-BE49-F238E27FC236}">
                <a16:creationId xmlns:a16="http://schemas.microsoft.com/office/drawing/2014/main" id="{E183CB93-C443-4345-92A1-172F32732183}"/>
              </a:ext>
            </a:extLst>
          </p:cNvPr>
          <p:cNvSpPr/>
          <p:nvPr/>
        </p:nvSpPr>
        <p:spPr>
          <a:xfrm>
            <a:off x="6102750" y="1364118"/>
            <a:ext cx="2728011" cy="713762"/>
          </a:xfrm>
          <a:prstGeom prst="chevron">
            <a:avLst>
              <a:gd name="adj" fmla="val 24918"/>
            </a:avLst>
          </a:prstGeom>
          <a:solidFill>
            <a:schemeClr val="accent3">
              <a:lumMod val="20000"/>
              <a:lumOff val="80000"/>
            </a:schemeClr>
          </a:solidFill>
          <a:ln w="25400" cap="flat" cmpd="sng" algn="ctr">
            <a:solidFill>
              <a:prstClr val="white">
                <a:hueOff val="0"/>
                <a:satOff val="0"/>
                <a:lumOff val="0"/>
                <a:alphaOff val="0"/>
              </a:prstClr>
            </a:solidFill>
            <a:prstDash val="solid"/>
          </a:ln>
          <a:effectLst/>
        </p:spPr>
        <p:txBody>
          <a:bodyPr spcFirstLastPara="0" vert="horz" wrap="square" lIns="127000" tIns="0" rIns="127000" bIns="0" numCol="1" spcCol="1270" anchor="ctr" anchorCtr="0">
            <a:noAutofit/>
          </a:bodyPr>
          <a:lstStyle/>
          <a:p>
            <a:endParaRPr lang="en-GB" sz="1400" dirty="0">
              <a:solidFill>
                <a:schemeClr val="bg1"/>
              </a:solidFill>
              <a:latin typeface="Arial" panose="020B0604020202020204" pitchFamily="34" charset="0"/>
              <a:cs typeface="Arial" panose="020B0604020202020204" pitchFamily="34" charset="0"/>
            </a:endParaRPr>
          </a:p>
        </p:txBody>
      </p:sp>
      <p:sp>
        <p:nvSpPr>
          <p:cNvPr id="30" name="TextBox 29">
            <a:extLst>
              <a:ext uri="{FF2B5EF4-FFF2-40B4-BE49-F238E27FC236}">
                <a16:creationId xmlns:a16="http://schemas.microsoft.com/office/drawing/2014/main" id="{AA3B481A-45AB-4E35-99B5-02DFBA6B20C8}"/>
              </a:ext>
            </a:extLst>
          </p:cNvPr>
          <p:cNvSpPr txBox="1"/>
          <p:nvPr/>
        </p:nvSpPr>
        <p:spPr>
          <a:xfrm>
            <a:off x="7148957" y="1563858"/>
            <a:ext cx="1463585" cy="307777"/>
          </a:xfrm>
          <a:prstGeom prst="rect">
            <a:avLst/>
          </a:prstGeom>
          <a:noFill/>
        </p:spPr>
        <p:txBody>
          <a:bodyPr wrap="square" rtlCol="0">
            <a:spAutoFit/>
          </a:bodyPr>
          <a:lstStyle/>
          <a:p>
            <a:r>
              <a:rPr lang="en-GB" sz="1400" dirty="0">
                <a:solidFill>
                  <a:schemeClr val="bg1"/>
                </a:solidFill>
                <a:latin typeface="Arial" panose="020B0604020202020204" pitchFamily="34" charset="0"/>
                <a:cs typeface="Arial" panose="020B0604020202020204" pitchFamily="34" charset="0"/>
              </a:rPr>
              <a:t>Criteria</a:t>
            </a:r>
          </a:p>
        </p:txBody>
      </p:sp>
      <p:sp>
        <p:nvSpPr>
          <p:cNvPr id="31" name="Arrow: Chevron 30">
            <a:extLst>
              <a:ext uri="{FF2B5EF4-FFF2-40B4-BE49-F238E27FC236}">
                <a16:creationId xmlns:a16="http://schemas.microsoft.com/office/drawing/2014/main" id="{2F3D0BD4-B249-428C-A267-6FAF08D3C314}"/>
              </a:ext>
            </a:extLst>
          </p:cNvPr>
          <p:cNvSpPr/>
          <p:nvPr/>
        </p:nvSpPr>
        <p:spPr>
          <a:xfrm>
            <a:off x="8830761" y="1353733"/>
            <a:ext cx="2728011" cy="713762"/>
          </a:xfrm>
          <a:prstGeom prst="chevron">
            <a:avLst>
              <a:gd name="adj" fmla="val 24918"/>
            </a:avLst>
          </a:prstGeom>
          <a:solidFill>
            <a:schemeClr val="accent3">
              <a:lumMod val="20000"/>
              <a:lumOff val="80000"/>
            </a:schemeClr>
          </a:solidFill>
          <a:ln w="25400" cap="flat" cmpd="sng" algn="ctr">
            <a:solidFill>
              <a:prstClr val="white">
                <a:hueOff val="0"/>
                <a:satOff val="0"/>
                <a:lumOff val="0"/>
                <a:alphaOff val="0"/>
              </a:prstClr>
            </a:solidFill>
            <a:prstDash val="solid"/>
          </a:ln>
          <a:effectLst/>
        </p:spPr>
        <p:txBody>
          <a:bodyPr spcFirstLastPara="0" vert="horz" wrap="square" lIns="127000" tIns="0" rIns="127000" bIns="0" numCol="1" spcCol="1270" anchor="ctr" anchorCtr="0">
            <a:noAutofit/>
          </a:bodyPr>
          <a:lstStyle/>
          <a:p>
            <a:endParaRPr lang="en-GB" sz="1400" dirty="0">
              <a:solidFill>
                <a:schemeClr val="bg1"/>
              </a:solidFill>
              <a:latin typeface="Arial" panose="020B0604020202020204" pitchFamily="34" charset="0"/>
              <a:cs typeface="Arial" panose="020B0604020202020204" pitchFamily="34" charset="0"/>
            </a:endParaRPr>
          </a:p>
        </p:txBody>
      </p:sp>
      <p:pic>
        <p:nvPicPr>
          <p:cNvPr id="32" name="Graphic 31" descr="Tools">
            <a:extLst>
              <a:ext uri="{FF2B5EF4-FFF2-40B4-BE49-F238E27FC236}">
                <a16:creationId xmlns:a16="http://schemas.microsoft.com/office/drawing/2014/main" id="{971AB0AB-C8DA-458A-897C-CBC13827F3F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072527" y="1423895"/>
            <a:ext cx="605762" cy="605762"/>
          </a:xfrm>
          <a:prstGeom prst="rect">
            <a:avLst/>
          </a:prstGeom>
        </p:spPr>
      </p:pic>
      <p:sp>
        <p:nvSpPr>
          <p:cNvPr id="33" name="TextBox 32">
            <a:extLst>
              <a:ext uri="{FF2B5EF4-FFF2-40B4-BE49-F238E27FC236}">
                <a16:creationId xmlns:a16="http://schemas.microsoft.com/office/drawing/2014/main" id="{564C376C-65EB-4FE8-998D-746722F1295C}"/>
              </a:ext>
            </a:extLst>
          </p:cNvPr>
          <p:cNvSpPr txBox="1"/>
          <p:nvPr/>
        </p:nvSpPr>
        <p:spPr>
          <a:xfrm>
            <a:off x="9876968" y="1553530"/>
            <a:ext cx="1463585" cy="307777"/>
          </a:xfrm>
          <a:prstGeom prst="rect">
            <a:avLst/>
          </a:prstGeom>
          <a:noFill/>
        </p:spPr>
        <p:txBody>
          <a:bodyPr wrap="square" rtlCol="0">
            <a:spAutoFit/>
          </a:bodyPr>
          <a:lstStyle/>
          <a:p>
            <a:r>
              <a:rPr lang="en-GB" sz="1400" dirty="0">
                <a:solidFill>
                  <a:schemeClr val="bg1"/>
                </a:solidFill>
                <a:latin typeface="Arial" panose="020B0604020202020204" pitchFamily="34" charset="0"/>
                <a:cs typeface="Arial" panose="020B0604020202020204" pitchFamily="34" charset="0"/>
              </a:rPr>
              <a:t>Assertions</a:t>
            </a:r>
          </a:p>
        </p:txBody>
      </p:sp>
      <p:pic>
        <p:nvPicPr>
          <p:cNvPr id="22" name="Graphic 21" descr="List">
            <a:extLst>
              <a:ext uri="{FF2B5EF4-FFF2-40B4-BE49-F238E27FC236}">
                <a16:creationId xmlns:a16="http://schemas.microsoft.com/office/drawing/2014/main" id="{8136C240-20D9-4378-8A43-AD4B8EB45B5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337766" y="1403177"/>
            <a:ext cx="645189" cy="645189"/>
          </a:xfrm>
          <a:prstGeom prst="rect">
            <a:avLst/>
          </a:prstGeom>
        </p:spPr>
      </p:pic>
      <p:pic>
        <p:nvPicPr>
          <p:cNvPr id="20" name="Graphic 19" descr="Magnifying glass">
            <a:extLst>
              <a:ext uri="{FF2B5EF4-FFF2-40B4-BE49-F238E27FC236}">
                <a16:creationId xmlns:a16="http://schemas.microsoft.com/office/drawing/2014/main" id="{2D2A8B34-3AA3-4520-A22E-6B246776DE43}"/>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612130" y="1403177"/>
            <a:ext cx="626480" cy="626480"/>
          </a:xfrm>
          <a:prstGeom prst="rect">
            <a:avLst/>
          </a:prstGeom>
        </p:spPr>
      </p:pic>
      <p:sp>
        <p:nvSpPr>
          <p:cNvPr id="18" name="Content Placeholder 2">
            <a:extLst>
              <a:ext uri="{FF2B5EF4-FFF2-40B4-BE49-F238E27FC236}">
                <a16:creationId xmlns:a16="http://schemas.microsoft.com/office/drawing/2014/main" id="{A4F4FF8F-9E09-4EE2-A367-51E71E9AD13D}"/>
              </a:ext>
            </a:extLst>
          </p:cNvPr>
          <p:cNvSpPr txBox="1">
            <a:spLocks/>
          </p:cNvSpPr>
          <p:nvPr/>
        </p:nvSpPr>
        <p:spPr>
          <a:xfrm>
            <a:off x="2174402" y="2480583"/>
            <a:ext cx="8912698" cy="3739241"/>
          </a:xfrm>
          <a:prstGeom prst="rect">
            <a:avLst/>
          </a:prstGeom>
        </p:spPr>
        <p:txBody>
          <a:bodyPr vert="horz" lIns="0" tIns="0" rIns="0" bIns="0" rtlCol="0">
            <a:noAutofit/>
          </a:bodyPr>
          <a:lstStyle>
            <a:lvl1pPr marL="173038" indent="-173038" algn="l" defTabSz="457200" rtl="0" eaLnBrk="1" latinLnBrk="0" hangingPunct="1">
              <a:spcBef>
                <a:spcPts val="1200"/>
              </a:spcBef>
              <a:buFont typeface="Arial"/>
              <a:buChar char="•"/>
              <a:defRPr sz="2000" kern="1200">
                <a:solidFill>
                  <a:schemeClr val="tx1">
                    <a:lumMod val="65000"/>
                    <a:lumOff val="35000"/>
                  </a:schemeClr>
                </a:solidFill>
                <a:latin typeface="Arial" panose="020B0604020202020204" pitchFamily="34" charset="0"/>
                <a:ea typeface="+mn-ea"/>
                <a:cs typeface="Arial" panose="020B0604020202020204" pitchFamily="34" charset="0"/>
              </a:defRPr>
            </a:lvl1pPr>
            <a:lvl2pPr marL="457200" indent="-228600" algn="l" defTabSz="457200" rtl="0" eaLnBrk="1" latinLnBrk="0" hangingPunct="1">
              <a:spcBef>
                <a:spcPts val="600"/>
              </a:spcBef>
              <a:spcAft>
                <a:spcPts val="400"/>
              </a:spcAft>
              <a:buFont typeface="Arial"/>
              <a:buChar char="–"/>
              <a:defRPr sz="1800" kern="1200">
                <a:solidFill>
                  <a:schemeClr val="tx1">
                    <a:lumMod val="65000"/>
                    <a:lumOff val="35000"/>
                  </a:schemeClr>
                </a:solidFill>
                <a:latin typeface="Arial" panose="020B0604020202020204" pitchFamily="34" charset="0"/>
                <a:ea typeface="+mn-ea"/>
                <a:cs typeface="Arial" panose="020B0604020202020204" pitchFamily="34" charset="0"/>
              </a:defRPr>
            </a:lvl2pPr>
            <a:lvl3pPr marL="630238" indent="-171450" algn="l" defTabSz="457200" rtl="0" eaLnBrk="1" latinLnBrk="0" hangingPunct="1">
              <a:spcBef>
                <a:spcPct val="20000"/>
              </a:spcBef>
              <a:buFont typeface="Arial"/>
              <a:buChar char="•"/>
              <a:defRPr sz="1600" kern="1200">
                <a:solidFill>
                  <a:schemeClr val="tx1">
                    <a:lumMod val="65000"/>
                    <a:lumOff val="35000"/>
                  </a:schemeClr>
                </a:solidFill>
                <a:latin typeface="Arial" panose="020B0604020202020204" pitchFamily="34" charset="0"/>
                <a:ea typeface="+mn-ea"/>
                <a:cs typeface="Arial" panose="020B0604020202020204" pitchFamily="34" charset="0"/>
              </a:defRPr>
            </a:lvl3pPr>
            <a:lvl4pPr marL="1600200" indent="-228600" algn="l" defTabSz="457200" rtl="0" eaLnBrk="1" latinLnBrk="0" hangingPunct="1">
              <a:spcBef>
                <a:spcPct val="20000"/>
              </a:spcBef>
              <a:buFont typeface="Arial"/>
              <a:buChar char="–"/>
              <a:defRPr sz="1400" kern="1200">
                <a:solidFill>
                  <a:schemeClr val="tx1"/>
                </a:solidFill>
                <a:latin typeface="Arial Narrow"/>
                <a:ea typeface="+mn-ea"/>
                <a:cs typeface="Arial Narrow"/>
              </a:defRPr>
            </a:lvl4pPr>
            <a:lvl5pPr marL="2057400" indent="-228600" algn="l" defTabSz="457200" rtl="0" eaLnBrk="1" latinLnBrk="0" hangingPunct="1">
              <a:spcBef>
                <a:spcPct val="20000"/>
              </a:spcBef>
              <a:buFont typeface="Arial"/>
              <a:buChar char="»"/>
              <a:defRPr sz="1400" kern="1200">
                <a:solidFill>
                  <a:schemeClr val="tx1"/>
                </a:solidFill>
                <a:latin typeface="Arial Narrow"/>
                <a:ea typeface="+mn-ea"/>
                <a:cs typeface="Arial Narrow"/>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GB" dirty="0">
                <a:solidFill>
                  <a:schemeClr val="bg1">
                    <a:lumMod val="50000"/>
                  </a:schemeClr>
                </a:solidFill>
              </a:rPr>
              <a:t>The IAASB is asked for its views on:</a:t>
            </a:r>
          </a:p>
          <a:p>
            <a:pPr marL="457200" indent="-457200">
              <a:buFont typeface="+mj-lt"/>
              <a:buAutoNum type="alphaLcParenR"/>
            </a:pPr>
            <a:r>
              <a:rPr lang="en-GB" dirty="0">
                <a:solidFill>
                  <a:schemeClr val="bg1">
                    <a:lumMod val="50000"/>
                  </a:schemeClr>
                </a:solidFill>
              </a:rPr>
              <a:t>The generalized construct of an EER report and related concepts presented in the issues paper;</a:t>
            </a:r>
          </a:p>
          <a:p>
            <a:pPr marL="457200" indent="-457200">
              <a:buFont typeface="+mj-lt"/>
              <a:buAutoNum type="alphaLcParenR"/>
            </a:pPr>
            <a:r>
              <a:rPr lang="en-GB" dirty="0">
                <a:solidFill>
                  <a:schemeClr val="bg1">
                    <a:lumMod val="50000"/>
                  </a:schemeClr>
                </a:solidFill>
              </a:rPr>
              <a:t>The consistent use of terms in the guidance, particularly to refer (in a framework neutral way) to matters that either are not explicitly addressed in ISAE 3000 (Revised), such as ‘categories’ and ‘topics’, or are described diversely in EER frameworks, such as the term ‘resources’ to describe elements of the underlying subject matter; and</a:t>
            </a:r>
          </a:p>
          <a:p>
            <a:pPr marL="457200" indent="-457200">
              <a:buFont typeface="+mj-lt"/>
              <a:buAutoNum type="alphaLcParenR"/>
            </a:pPr>
            <a:r>
              <a:rPr lang="en-GB" dirty="0">
                <a:solidFill>
                  <a:schemeClr val="bg1">
                    <a:lumMod val="50000"/>
                  </a:schemeClr>
                </a:solidFill>
              </a:rPr>
              <a:t>The extent to which it is helpful to practitioners to further clarify similarities and differences between financial reporting and EER concepts.</a:t>
            </a:r>
          </a:p>
        </p:txBody>
      </p:sp>
      <p:sp>
        <p:nvSpPr>
          <p:cNvPr id="19" name="Content Placeholder 2">
            <a:extLst>
              <a:ext uri="{FF2B5EF4-FFF2-40B4-BE49-F238E27FC236}">
                <a16:creationId xmlns:a16="http://schemas.microsoft.com/office/drawing/2014/main" id="{1C609D52-5B5F-498B-A6A0-E1D503F826EE}"/>
              </a:ext>
            </a:extLst>
          </p:cNvPr>
          <p:cNvSpPr txBox="1">
            <a:spLocks/>
          </p:cNvSpPr>
          <p:nvPr/>
        </p:nvSpPr>
        <p:spPr>
          <a:xfrm>
            <a:off x="690148" y="2363570"/>
            <a:ext cx="1193587" cy="713762"/>
          </a:xfrm>
          <a:prstGeom prst="rect">
            <a:avLst/>
          </a:prstGeom>
        </p:spPr>
        <p:txBody>
          <a:bodyPr vert="horz" lIns="0" tIns="0" rIns="0" bIns="0" rtlCol="0">
            <a:noAutofit/>
          </a:bodyPr>
          <a:lstStyle>
            <a:lvl1pPr marL="173038" indent="-173038" algn="l" defTabSz="457200" rtl="0" eaLnBrk="1" latinLnBrk="0" hangingPunct="1">
              <a:spcBef>
                <a:spcPts val="1200"/>
              </a:spcBef>
              <a:buFont typeface="Arial"/>
              <a:buChar char="•"/>
              <a:defRPr sz="2000" kern="1200">
                <a:solidFill>
                  <a:schemeClr val="tx1">
                    <a:lumMod val="65000"/>
                    <a:lumOff val="35000"/>
                  </a:schemeClr>
                </a:solidFill>
                <a:latin typeface="Arial" panose="020B0604020202020204" pitchFamily="34" charset="0"/>
                <a:ea typeface="+mn-ea"/>
                <a:cs typeface="Arial" panose="020B0604020202020204" pitchFamily="34" charset="0"/>
              </a:defRPr>
            </a:lvl1pPr>
            <a:lvl2pPr marL="457200" indent="-228600" algn="l" defTabSz="457200" rtl="0" eaLnBrk="1" latinLnBrk="0" hangingPunct="1">
              <a:spcBef>
                <a:spcPts val="600"/>
              </a:spcBef>
              <a:spcAft>
                <a:spcPts val="400"/>
              </a:spcAft>
              <a:buFont typeface="Arial"/>
              <a:buChar char="–"/>
              <a:defRPr sz="1800" kern="1200">
                <a:solidFill>
                  <a:schemeClr val="tx1">
                    <a:lumMod val="65000"/>
                    <a:lumOff val="35000"/>
                  </a:schemeClr>
                </a:solidFill>
                <a:latin typeface="Arial" panose="020B0604020202020204" pitchFamily="34" charset="0"/>
                <a:ea typeface="+mn-ea"/>
                <a:cs typeface="Arial" panose="020B0604020202020204" pitchFamily="34" charset="0"/>
              </a:defRPr>
            </a:lvl2pPr>
            <a:lvl3pPr marL="630238" indent="-171450" algn="l" defTabSz="457200" rtl="0" eaLnBrk="1" latinLnBrk="0" hangingPunct="1">
              <a:spcBef>
                <a:spcPct val="20000"/>
              </a:spcBef>
              <a:buFont typeface="Arial"/>
              <a:buChar char="•"/>
              <a:defRPr sz="1600" kern="1200">
                <a:solidFill>
                  <a:schemeClr val="tx1">
                    <a:lumMod val="65000"/>
                    <a:lumOff val="35000"/>
                  </a:schemeClr>
                </a:solidFill>
                <a:latin typeface="Arial" panose="020B0604020202020204" pitchFamily="34" charset="0"/>
                <a:ea typeface="+mn-ea"/>
                <a:cs typeface="Arial" panose="020B0604020202020204" pitchFamily="34" charset="0"/>
              </a:defRPr>
            </a:lvl3pPr>
            <a:lvl4pPr marL="1600200" indent="-228600" algn="l" defTabSz="457200" rtl="0" eaLnBrk="1" latinLnBrk="0" hangingPunct="1">
              <a:spcBef>
                <a:spcPct val="20000"/>
              </a:spcBef>
              <a:buFont typeface="Arial"/>
              <a:buChar char="–"/>
              <a:defRPr sz="1400" kern="1200">
                <a:solidFill>
                  <a:schemeClr val="tx1"/>
                </a:solidFill>
                <a:latin typeface="Arial Narrow"/>
                <a:ea typeface="+mn-ea"/>
                <a:cs typeface="Arial Narrow"/>
              </a:defRPr>
            </a:lvl4pPr>
            <a:lvl5pPr marL="2057400" indent="-228600" algn="l" defTabSz="457200" rtl="0" eaLnBrk="1" latinLnBrk="0" hangingPunct="1">
              <a:spcBef>
                <a:spcPct val="20000"/>
              </a:spcBef>
              <a:buFont typeface="Arial"/>
              <a:buChar char="»"/>
              <a:defRPr sz="1400" kern="1200">
                <a:solidFill>
                  <a:schemeClr val="tx1"/>
                </a:solidFill>
                <a:latin typeface="Arial Narrow"/>
                <a:ea typeface="+mn-ea"/>
                <a:cs typeface="Arial Narrow"/>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GB" sz="5400" b="1" dirty="0">
                <a:solidFill>
                  <a:schemeClr val="bg1">
                    <a:lumMod val="50000"/>
                  </a:schemeClr>
                </a:solidFill>
              </a:rPr>
              <a:t>Q2</a:t>
            </a:r>
          </a:p>
        </p:txBody>
      </p:sp>
    </p:spTree>
    <p:extLst>
      <p:ext uri="{BB962C8B-B14F-4D97-AF65-F5344CB8AC3E}">
        <p14:creationId xmlns:p14="http://schemas.microsoft.com/office/powerpoint/2010/main" val="31995499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CB293-FD8E-4F6C-92E5-62197E3FBA35}"/>
              </a:ext>
            </a:extLst>
          </p:cNvPr>
          <p:cNvSpPr>
            <a:spLocks noGrp="1"/>
          </p:cNvSpPr>
          <p:nvPr>
            <p:ph type="title"/>
          </p:nvPr>
        </p:nvSpPr>
        <p:spPr>
          <a:xfrm>
            <a:off x="508000" y="564078"/>
            <a:ext cx="11050772" cy="533400"/>
          </a:xfrm>
        </p:spPr>
        <p:txBody>
          <a:bodyPr/>
          <a:lstStyle/>
          <a:p>
            <a:r>
              <a:rPr lang="en-GB" sz="2000" dirty="0"/>
              <a:t>Addressing </a:t>
            </a:r>
            <a:r>
              <a:rPr lang="en-GB" sz="2000" b="1" dirty="0"/>
              <a:t>Materiality</a:t>
            </a:r>
            <a:r>
              <a:rPr lang="en-GB" sz="2000" dirty="0"/>
              <a:t> for Diverse Information with Little Guidance in EER Frameworks</a:t>
            </a:r>
          </a:p>
        </p:txBody>
      </p:sp>
      <p:sp>
        <p:nvSpPr>
          <p:cNvPr id="4" name="Subtitle 3">
            <a:extLst>
              <a:ext uri="{FF2B5EF4-FFF2-40B4-BE49-F238E27FC236}">
                <a16:creationId xmlns:a16="http://schemas.microsoft.com/office/drawing/2014/main" id="{B523B462-EC00-44AE-A4FD-59C48B8568FD}"/>
              </a:ext>
            </a:extLst>
          </p:cNvPr>
          <p:cNvSpPr>
            <a:spLocks noGrp="1"/>
          </p:cNvSpPr>
          <p:nvPr>
            <p:ph type="subTitle" idx="10"/>
          </p:nvPr>
        </p:nvSpPr>
        <p:spPr/>
        <p:txBody>
          <a:bodyPr/>
          <a:lstStyle/>
          <a:p>
            <a:endParaRPr lang="en-GB"/>
          </a:p>
        </p:txBody>
      </p:sp>
      <p:sp>
        <p:nvSpPr>
          <p:cNvPr id="5" name="Slide Number Placeholder 4">
            <a:extLst>
              <a:ext uri="{FF2B5EF4-FFF2-40B4-BE49-F238E27FC236}">
                <a16:creationId xmlns:a16="http://schemas.microsoft.com/office/drawing/2014/main" id="{5ED3D9D4-8FB3-463B-9D4F-12513A680A88}"/>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9</a:t>
            </a:fld>
            <a:endParaRPr lang="en-US" dirty="0">
              <a:latin typeface="Arial" panose="020B0604020202020204" pitchFamily="34" charset="0"/>
              <a:cs typeface="MS PGothic" charset="0"/>
            </a:endParaRPr>
          </a:p>
        </p:txBody>
      </p:sp>
      <p:sp>
        <p:nvSpPr>
          <p:cNvPr id="6" name="Arrow: Chevron 5">
            <a:extLst>
              <a:ext uri="{FF2B5EF4-FFF2-40B4-BE49-F238E27FC236}">
                <a16:creationId xmlns:a16="http://schemas.microsoft.com/office/drawing/2014/main" id="{AA019EF3-2054-4B1F-A278-94FEDEC44710}"/>
              </a:ext>
            </a:extLst>
          </p:cNvPr>
          <p:cNvSpPr/>
          <p:nvPr/>
        </p:nvSpPr>
        <p:spPr>
          <a:xfrm>
            <a:off x="633228" y="1364118"/>
            <a:ext cx="2728011" cy="713762"/>
          </a:xfrm>
          <a:prstGeom prst="chevron">
            <a:avLst>
              <a:gd name="adj" fmla="val 24918"/>
            </a:avLst>
          </a:prstGeom>
          <a:solidFill>
            <a:schemeClr val="accent3">
              <a:lumMod val="20000"/>
              <a:lumOff val="80000"/>
            </a:schemeClr>
          </a:solidFill>
          <a:ln w="25400" cap="flat" cmpd="sng" algn="ctr">
            <a:solidFill>
              <a:prstClr val="white">
                <a:hueOff val="0"/>
                <a:satOff val="0"/>
                <a:lumOff val="0"/>
                <a:alphaOff val="0"/>
              </a:prstClr>
            </a:solidFill>
            <a:prstDash val="solid"/>
          </a:ln>
          <a:effectLst/>
        </p:spPr>
        <p:txBody>
          <a:bodyPr spcFirstLastPara="0" vert="horz" wrap="square" lIns="127000" tIns="0" rIns="127000" bIns="0" numCol="1" spcCol="1270" anchor="ctr" anchorCtr="0">
            <a:noAutofit/>
          </a:bodyPr>
          <a:lstStyle/>
          <a:p>
            <a:endParaRPr lang="en-GB" sz="1400" dirty="0">
              <a:solidFill>
                <a:schemeClr val="bg1"/>
              </a:solidFill>
              <a:latin typeface="Arial" panose="020B0604020202020204" pitchFamily="34" charset="0"/>
              <a:cs typeface="Arial" panose="020B0604020202020204" pitchFamily="34" charset="0"/>
            </a:endParaRPr>
          </a:p>
        </p:txBody>
      </p:sp>
      <p:pic>
        <p:nvPicPr>
          <p:cNvPr id="21" name="Graphic 20" descr="Head with Gears">
            <a:extLst>
              <a:ext uri="{FF2B5EF4-FFF2-40B4-BE49-F238E27FC236}">
                <a16:creationId xmlns:a16="http://schemas.microsoft.com/office/drawing/2014/main" id="{08D7732C-029E-490E-859A-3A7D27AB38D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74994" y="1403177"/>
            <a:ext cx="642425" cy="642425"/>
          </a:xfrm>
          <a:prstGeom prst="rect">
            <a:avLst/>
          </a:prstGeom>
        </p:spPr>
      </p:pic>
      <p:sp>
        <p:nvSpPr>
          <p:cNvPr id="23" name="TextBox 22">
            <a:extLst>
              <a:ext uri="{FF2B5EF4-FFF2-40B4-BE49-F238E27FC236}">
                <a16:creationId xmlns:a16="http://schemas.microsoft.com/office/drawing/2014/main" id="{C442F61A-5D1F-428A-94A9-1EAD05F2963F}"/>
              </a:ext>
            </a:extLst>
          </p:cNvPr>
          <p:cNvSpPr txBox="1"/>
          <p:nvPr/>
        </p:nvSpPr>
        <p:spPr>
          <a:xfrm>
            <a:off x="1679435" y="1459389"/>
            <a:ext cx="1463585" cy="523220"/>
          </a:xfrm>
          <a:prstGeom prst="rect">
            <a:avLst/>
          </a:prstGeom>
          <a:noFill/>
        </p:spPr>
        <p:txBody>
          <a:bodyPr wrap="square" rtlCol="0">
            <a:spAutoFit/>
          </a:bodyPr>
          <a:lstStyle/>
          <a:p>
            <a:r>
              <a:rPr lang="en-GB" sz="1400" dirty="0">
                <a:solidFill>
                  <a:schemeClr val="bg1"/>
                </a:solidFill>
                <a:latin typeface="Arial" panose="020B0604020202020204" pitchFamily="34" charset="0"/>
                <a:cs typeface="Arial" panose="020B0604020202020204" pitchFamily="34" charset="0"/>
              </a:rPr>
              <a:t>Generalized construct</a:t>
            </a:r>
          </a:p>
        </p:txBody>
      </p:sp>
      <p:sp>
        <p:nvSpPr>
          <p:cNvPr id="24" name="Arrow: Chevron 23">
            <a:extLst>
              <a:ext uri="{FF2B5EF4-FFF2-40B4-BE49-F238E27FC236}">
                <a16:creationId xmlns:a16="http://schemas.microsoft.com/office/drawing/2014/main" id="{5DA552CC-1BF5-404D-A1EF-996825B0C607}"/>
              </a:ext>
            </a:extLst>
          </p:cNvPr>
          <p:cNvSpPr/>
          <p:nvPr/>
        </p:nvSpPr>
        <p:spPr>
          <a:xfrm>
            <a:off x="3367989" y="1364118"/>
            <a:ext cx="2728011" cy="713762"/>
          </a:xfrm>
          <a:prstGeom prst="chevron">
            <a:avLst>
              <a:gd name="adj" fmla="val 24918"/>
            </a:avLst>
          </a:prstGeom>
          <a:solidFill>
            <a:schemeClr val="accent3"/>
          </a:solidFill>
          <a:ln w="25400" cap="flat" cmpd="sng" algn="ctr">
            <a:solidFill>
              <a:prstClr val="white">
                <a:hueOff val="0"/>
                <a:satOff val="0"/>
                <a:lumOff val="0"/>
                <a:alphaOff val="0"/>
              </a:prstClr>
            </a:solidFill>
            <a:prstDash val="solid"/>
          </a:ln>
          <a:effectLst/>
        </p:spPr>
        <p:txBody>
          <a:bodyPr spcFirstLastPara="0" vert="horz" wrap="square" lIns="127000" tIns="0" rIns="127000" bIns="0" numCol="1" spcCol="1270" anchor="ctr" anchorCtr="0">
            <a:noAutofit/>
          </a:bodyPr>
          <a:lstStyle/>
          <a:p>
            <a:endParaRPr lang="en-GB" sz="1400" dirty="0">
              <a:solidFill>
                <a:schemeClr val="bg1"/>
              </a:solidFill>
              <a:latin typeface="Arial" panose="020B0604020202020204" pitchFamily="34" charset="0"/>
              <a:cs typeface="Arial" panose="020B0604020202020204" pitchFamily="34" charset="0"/>
            </a:endParaRPr>
          </a:p>
        </p:txBody>
      </p:sp>
      <p:sp>
        <p:nvSpPr>
          <p:cNvPr id="27" name="TextBox 26">
            <a:extLst>
              <a:ext uri="{FF2B5EF4-FFF2-40B4-BE49-F238E27FC236}">
                <a16:creationId xmlns:a16="http://schemas.microsoft.com/office/drawing/2014/main" id="{41A820CA-2131-4E78-90DA-D5DFF6C42C00}"/>
              </a:ext>
            </a:extLst>
          </p:cNvPr>
          <p:cNvSpPr txBox="1"/>
          <p:nvPr/>
        </p:nvSpPr>
        <p:spPr>
          <a:xfrm>
            <a:off x="4414196" y="1568899"/>
            <a:ext cx="1463585" cy="307777"/>
          </a:xfrm>
          <a:prstGeom prst="rect">
            <a:avLst/>
          </a:prstGeom>
          <a:noFill/>
        </p:spPr>
        <p:txBody>
          <a:bodyPr wrap="square" rtlCol="0">
            <a:spAutoFit/>
          </a:bodyPr>
          <a:lstStyle/>
          <a:p>
            <a:r>
              <a:rPr lang="en-GB" sz="1400" dirty="0">
                <a:solidFill>
                  <a:schemeClr val="bg1"/>
                </a:solidFill>
                <a:latin typeface="Arial" panose="020B0604020202020204" pitchFamily="34" charset="0"/>
                <a:cs typeface="Arial" panose="020B0604020202020204" pitchFamily="34" charset="0"/>
              </a:rPr>
              <a:t>Materiality</a:t>
            </a:r>
          </a:p>
        </p:txBody>
      </p:sp>
      <p:sp>
        <p:nvSpPr>
          <p:cNvPr id="28" name="Arrow: Chevron 27">
            <a:extLst>
              <a:ext uri="{FF2B5EF4-FFF2-40B4-BE49-F238E27FC236}">
                <a16:creationId xmlns:a16="http://schemas.microsoft.com/office/drawing/2014/main" id="{E183CB93-C443-4345-92A1-172F32732183}"/>
              </a:ext>
            </a:extLst>
          </p:cNvPr>
          <p:cNvSpPr/>
          <p:nvPr/>
        </p:nvSpPr>
        <p:spPr>
          <a:xfrm>
            <a:off x="6102750" y="1364118"/>
            <a:ext cx="2728011" cy="713762"/>
          </a:xfrm>
          <a:prstGeom prst="chevron">
            <a:avLst>
              <a:gd name="adj" fmla="val 24918"/>
            </a:avLst>
          </a:prstGeom>
          <a:solidFill>
            <a:schemeClr val="accent3">
              <a:lumMod val="20000"/>
              <a:lumOff val="80000"/>
            </a:schemeClr>
          </a:solidFill>
          <a:ln w="25400" cap="flat" cmpd="sng" algn="ctr">
            <a:solidFill>
              <a:prstClr val="white">
                <a:hueOff val="0"/>
                <a:satOff val="0"/>
                <a:lumOff val="0"/>
                <a:alphaOff val="0"/>
              </a:prstClr>
            </a:solidFill>
            <a:prstDash val="solid"/>
          </a:ln>
          <a:effectLst/>
        </p:spPr>
        <p:txBody>
          <a:bodyPr spcFirstLastPara="0" vert="horz" wrap="square" lIns="127000" tIns="0" rIns="127000" bIns="0" numCol="1" spcCol="1270" anchor="ctr" anchorCtr="0">
            <a:noAutofit/>
          </a:bodyPr>
          <a:lstStyle/>
          <a:p>
            <a:endParaRPr lang="en-GB" sz="1400" dirty="0">
              <a:solidFill>
                <a:schemeClr val="bg1"/>
              </a:solidFill>
              <a:latin typeface="Arial" panose="020B0604020202020204" pitchFamily="34" charset="0"/>
              <a:cs typeface="Arial" panose="020B0604020202020204" pitchFamily="34" charset="0"/>
            </a:endParaRPr>
          </a:p>
        </p:txBody>
      </p:sp>
      <p:sp>
        <p:nvSpPr>
          <p:cNvPr id="30" name="TextBox 29">
            <a:extLst>
              <a:ext uri="{FF2B5EF4-FFF2-40B4-BE49-F238E27FC236}">
                <a16:creationId xmlns:a16="http://schemas.microsoft.com/office/drawing/2014/main" id="{AA3B481A-45AB-4E35-99B5-02DFBA6B20C8}"/>
              </a:ext>
            </a:extLst>
          </p:cNvPr>
          <p:cNvSpPr txBox="1"/>
          <p:nvPr/>
        </p:nvSpPr>
        <p:spPr>
          <a:xfrm>
            <a:off x="7148957" y="1563858"/>
            <a:ext cx="1463585" cy="307777"/>
          </a:xfrm>
          <a:prstGeom prst="rect">
            <a:avLst/>
          </a:prstGeom>
          <a:noFill/>
        </p:spPr>
        <p:txBody>
          <a:bodyPr wrap="square" rtlCol="0">
            <a:spAutoFit/>
          </a:bodyPr>
          <a:lstStyle/>
          <a:p>
            <a:r>
              <a:rPr lang="en-GB" sz="1400" dirty="0">
                <a:solidFill>
                  <a:schemeClr val="bg1"/>
                </a:solidFill>
                <a:latin typeface="Arial" panose="020B0604020202020204" pitchFamily="34" charset="0"/>
                <a:cs typeface="Arial" panose="020B0604020202020204" pitchFamily="34" charset="0"/>
              </a:rPr>
              <a:t>Criteria</a:t>
            </a:r>
          </a:p>
        </p:txBody>
      </p:sp>
      <p:sp>
        <p:nvSpPr>
          <p:cNvPr id="31" name="Arrow: Chevron 30">
            <a:extLst>
              <a:ext uri="{FF2B5EF4-FFF2-40B4-BE49-F238E27FC236}">
                <a16:creationId xmlns:a16="http://schemas.microsoft.com/office/drawing/2014/main" id="{2F3D0BD4-B249-428C-A267-6FAF08D3C314}"/>
              </a:ext>
            </a:extLst>
          </p:cNvPr>
          <p:cNvSpPr/>
          <p:nvPr/>
        </p:nvSpPr>
        <p:spPr>
          <a:xfrm>
            <a:off x="8830761" y="1353733"/>
            <a:ext cx="2728011" cy="713762"/>
          </a:xfrm>
          <a:prstGeom prst="chevron">
            <a:avLst>
              <a:gd name="adj" fmla="val 24918"/>
            </a:avLst>
          </a:prstGeom>
          <a:solidFill>
            <a:schemeClr val="accent3">
              <a:lumMod val="20000"/>
              <a:lumOff val="80000"/>
            </a:schemeClr>
          </a:solidFill>
          <a:ln w="25400" cap="flat" cmpd="sng" algn="ctr">
            <a:solidFill>
              <a:prstClr val="white">
                <a:hueOff val="0"/>
                <a:satOff val="0"/>
                <a:lumOff val="0"/>
                <a:alphaOff val="0"/>
              </a:prstClr>
            </a:solidFill>
            <a:prstDash val="solid"/>
          </a:ln>
          <a:effectLst/>
        </p:spPr>
        <p:txBody>
          <a:bodyPr spcFirstLastPara="0" vert="horz" wrap="square" lIns="127000" tIns="0" rIns="127000" bIns="0" numCol="1" spcCol="1270" anchor="ctr" anchorCtr="0">
            <a:noAutofit/>
          </a:bodyPr>
          <a:lstStyle/>
          <a:p>
            <a:endParaRPr lang="en-GB" sz="1400" dirty="0">
              <a:solidFill>
                <a:schemeClr val="bg1"/>
              </a:solidFill>
              <a:latin typeface="Arial" panose="020B0604020202020204" pitchFamily="34" charset="0"/>
              <a:cs typeface="Arial" panose="020B0604020202020204" pitchFamily="34" charset="0"/>
            </a:endParaRPr>
          </a:p>
        </p:txBody>
      </p:sp>
      <p:pic>
        <p:nvPicPr>
          <p:cNvPr id="32" name="Graphic 31" descr="Tools">
            <a:extLst>
              <a:ext uri="{FF2B5EF4-FFF2-40B4-BE49-F238E27FC236}">
                <a16:creationId xmlns:a16="http://schemas.microsoft.com/office/drawing/2014/main" id="{971AB0AB-C8DA-458A-897C-CBC13827F3F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072527" y="1423895"/>
            <a:ext cx="605762" cy="605762"/>
          </a:xfrm>
          <a:prstGeom prst="rect">
            <a:avLst/>
          </a:prstGeom>
        </p:spPr>
      </p:pic>
      <p:sp>
        <p:nvSpPr>
          <p:cNvPr id="33" name="TextBox 32">
            <a:extLst>
              <a:ext uri="{FF2B5EF4-FFF2-40B4-BE49-F238E27FC236}">
                <a16:creationId xmlns:a16="http://schemas.microsoft.com/office/drawing/2014/main" id="{564C376C-65EB-4FE8-998D-746722F1295C}"/>
              </a:ext>
            </a:extLst>
          </p:cNvPr>
          <p:cNvSpPr txBox="1"/>
          <p:nvPr/>
        </p:nvSpPr>
        <p:spPr>
          <a:xfrm>
            <a:off x="9876968" y="1553530"/>
            <a:ext cx="1463585" cy="307777"/>
          </a:xfrm>
          <a:prstGeom prst="rect">
            <a:avLst/>
          </a:prstGeom>
          <a:noFill/>
        </p:spPr>
        <p:txBody>
          <a:bodyPr wrap="square" rtlCol="0">
            <a:spAutoFit/>
          </a:bodyPr>
          <a:lstStyle/>
          <a:p>
            <a:r>
              <a:rPr lang="en-GB" sz="1400" dirty="0">
                <a:solidFill>
                  <a:schemeClr val="bg1"/>
                </a:solidFill>
                <a:latin typeface="Arial" panose="020B0604020202020204" pitchFamily="34" charset="0"/>
                <a:cs typeface="Arial" panose="020B0604020202020204" pitchFamily="34" charset="0"/>
              </a:rPr>
              <a:t>Assertions</a:t>
            </a:r>
          </a:p>
        </p:txBody>
      </p:sp>
      <p:pic>
        <p:nvPicPr>
          <p:cNvPr id="22" name="Graphic 21" descr="List">
            <a:extLst>
              <a:ext uri="{FF2B5EF4-FFF2-40B4-BE49-F238E27FC236}">
                <a16:creationId xmlns:a16="http://schemas.microsoft.com/office/drawing/2014/main" id="{8136C240-20D9-4378-8A43-AD4B8EB45B5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337766" y="1403177"/>
            <a:ext cx="645189" cy="645189"/>
          </a:xfrm>
          <a:prstGeom prst="rect">
            <a:avLst/>
          </a:prstGeom>
        </p:spPr>
      </p:pic>
      <p:pic>
        <p:nvPicPr>
          <p:cNvPr id="20" name="Graphic 19" descr="Magnifying glass">
            <a:extLst>
              <a:ext uri="{FF2B5EF4-FFF2-40B4-BE49-F238E27FC236}">
                <a16:creationId xmlns:a16="http://schemas.microsoft.com/office/drawing/2014/main" id="{2D2A8B34-3AA3-4520-A22E-6B246776DE43}"/>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612130" y="1403177"/>
            <a:ext cx="626480" cy="626480"/>
          </a:xfrm>
          <a:prstGeom prst="rect">
            <a:avLst/>
          </a:prstGeom>
        </p:spPr>
      </p:pic>
      <p:sp>
        <p:nvSpPr>
          <p:cNvPr id="17" name="Oval 16">
            <a:extLst>
              <a:ext uri="{FF2B5EF4-FFF2-40B4-BE49-F238E27FC236}">
                <a16:creationId xmlns:a16="http://schemas.microsoft.com/office/drawing/2014/main" id="{1963B90A-3897-41ED-88BF-0EDCF3326AAF}"/>
              </a:ext>
            </a:extLst>
          </p:cNvPr>
          <p:cNvSpPr/>
          <p:nvPr/>
        </p:nvSpPr>
        <p:spPr>
          <a:xfrm>
            <a:off x="5289696" y="2277620"/>
            <a:ext cx="1466029" cy="1466029"/>
          </a:xfrm>
          <a:prstGeom prst="ellipse">
            <a:avLst/>
          </a:prstGeom>
          <a:solidFill>
            <a:schemeClr val="accent3"/>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b="1" dirty="0">
                <a:latin typeface="Arial" panose="020B0604020202020204" pitchFamily="34" charset="0"/>
                <a:cs typeface="Arial" panose="020B0604020202020204" pitchFamily="34" charset="0"/>
              </a:rPr>
              <a:t>materiality</a:t>
            </a:r>
            <a:endParaRPr lang="en-GB" sz="1400" b="1" dirty="0">
              <a:latin typeface="Arial" panose="020B0604020202020204" pitchFamily="34" charset="0"/>
              <a:cs typeface="Arial" panose="020B0604020202020204" pitchFamily="34" charset="0"/>
            </a:endParaRPr>
          </a:p>
        </p:txBody>
      </p:sp>
      <p:sp>
        <p:nvSpPr>
          <p:cNvPr id="18" name="Rectangle: Rounded Corners 17">
            <a:extLst>
              <a:ext uri="{FF2B5EF4-FFF2-40B4-BE49-F238E27FC236}">
                <a16:creationId xmlns:a16="http://schemas.microsoft.com/office/drawing/2014/main" id="{D97C387C-58BD-4421-86CA-68459CE7F5E1}"/>
              </a:ext>
            </a:extLst>
          </p:cNvPr>
          <p:cNvSpPr/>
          <p:nvPr/>
        </p:nvSpPr>
        <p:spPr>
          <a:xfrm>
            <a:off x="404037" y="3691861"/>
            <a:ext cx="4885659" cy="722533"/>
          </a:xfrm>
          <a:prstGeom prst="roundRect">
            <a:avLst/>
          </a:prstGeom>
          <a:ln w="38100">
            <a:solidFill>
              <a:schemeClr val="bg1">
                <a:lumMod val="50000"/>
              </a:schemeClr>
            </a:solidFill>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GB" sz="1400" b="1" dirty="0">
                <a:solidFill>
                  <a:schemeClr val="bg1">
                    <a:lumMod val="50000"/>
                  </a:schemeClr>
                </a:solidFill>
                <a:latin typeface="Arial" panose="020B0604020202020204" pitchFamily="34" charset="0"/>
                <a:cs typeface="Arial" panose="020B0604020202020204" pitchFamily="34" charset="0"/>
              </a:rPr>
              <a:t>Evaluating which topics and related resources are to be included in the report</a:t>
            </a:r>
          </a:p>
        </p:txBody>
      </p:sp>
      <p:sp>
        <p:nvSpPr>
          <p:cNvPr id="19" name="Rectangle: Rounded Corners 18">
            <a:extLst>
              <a:ext uri="{FF2B5EF4-FFF2-40B4-BE49-F238E27FC236}">
                <a16:creationId xmlns:a16="http://schemas.microsoft.com/office/drawing/2014/main" id="{16CEA20C-9DE7-409E-A91A-26D02B43F6A6}"/>
              </a:ext>
            </a:extLst>
          </p:cNvPr>
          <p:cNvSpPr/>
          <p:nvPr/>
        </p:nvSpPr>
        <p:spPr>
          <a:xfrm>
            <a:off x="6755725" y="3691861"/>
            <a:ext cx="5032238" cy="722533"/>
          </a:xfrm>
          <a:prstGeom prst="roundRect">
            <a:avLst/>
          </a:prstGeom>
          <a:ln w="38100">
            <a:solidFill>
              <a:schemeClr val="bg1">
                <a:lumMod val="50000"/>
              </a:schemeClr>
            </a:solidFill>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GB" sz="1400" b="1" dirty="0">
                <a:solidFill>
                  <a:schemeClr val="bg1">
                    <a:lumMod val="50000"/>
                  </a:schemeClr>
                </a:solidFill>
                <a:latin typeface="Arial" panose="020B0604020202020204" pitchFamily="34" charset="0"/>
                <a:cs typeface="Arial" panose="020B0604020202020204" pitchFamily="34" charset="0"/>
              </a:rPr>
              <a:t>Evaluating whether the subject matter information included in the report for material topics and related resources is free from material misstatement</a:t>
            </a:r>
          </a:p>
        </p:txBody>
      </p:sp>
      <p:pic>
        <p:nvPicPr>
          <p:cNvPr id="25" name="Graphic 24" descr="Line Arrow: Clockwise curve">
            <a:extLst>
              <a:ext uri="{FF2B5EF4-FFF2-40B4-BE49-F238E27FC236}">
                <a16:creationId xmlns:a16="http://schemas.microsoft.com/office/drawing/2014/main" id="{E649F11C-510E-4CDA-A58B-5528647CED2D}"/>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9321779">
            <a:off x="6904699" y="2788937"/>
            <a:ext cx="914400" cy="914400"/>
          </a:xfrm>
          <a:prstGeom prst="rect">
            <a:avLst/>
          </a:prstGeom>
        </p:spPr>
      </p:pic>
      <p:pic>
        <p:nvPicPr>
          <p:cNvPr id="26" name="Graphic 25" descr="Line Arrow: Clockwise curve">
            <a:extLst>
              <a:ext uri="{FF2B5EF4-FFF2-40B4-BE49-F238E27FC236}">
                <a16:creationId xmlns:a16="http://schemas.microsoft.com/office/drawing/2014/main" id="{6D6A3BB8-C15D-434A-9262-91DFF6B8E37C}"/>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12278221" flipH="1">
            <a:off x="4222307" y="2784787"/>
            <a:ext cx="914400" cy="914400"/>
          </a:xfrm>
          <a:prstGeom prst="rect">
            <a:avLst/>
          </a:prstGeom>
        </p:spPr>
      </p:pic>
      <p:sp>
        <p:nvSpPr>
          <p:cNvPr id="29" name="TextBox 28">
            <a:extLst>
              <a:ext uri="{FF2B5EF4-FFF2-40B4-BE49-F238E27FC236}">
                <a16:creationId xmlns:a16="http://schemas.microsoft.com/office/drawing/2014/main" id="{E569F0C4-D2AA-4A14-8D48-868246FDCF5C}"/>
              </a:ext>
            </a:extLst>
          </p:cNvPr>
          <p:cNvSpPr txBox="1"/>
          <p:nvPr/>
        </p:nvSpPr>
        <p:spPr>
          <a:xfrm>
            <a:off x="2341819" y="3346246"/>
            <a:ext cx="1010093" cy="307777"/>
          </a:xfrm>
          <a:prstGeom prst="rect">
            <a:avLst/>
          </a:prstGeom>
          <a:noFill/>
        </p:spPr>
        <p:txBody>
          <a:bodyPr wrap="square" rtlCol="0">
            <a:spAutoFit/>
          </a:bodyPr>
          <a:lstStyle/>
          <a:p>
            <a:pPr algn="ctr"/>
            <a:r>
              <a:rPr lang="en-GB" sz="1400" b="1" dirty="0">
                <a:latin typeface="Arial" panose="020B0604020202020204" pitchFamily="34" charset="0"/>
                <a:cs typeface="Arial" panose="020B0604020202020204" pitchFamily="34" charset="0"/>
              </a:rPr>
              <a:t>PART 1</a:t>
            </a:r>
          </a:p>
        </p:txBody>
      </p:sp>
      <p:sp>
        <p:nvSpPr>
          <p:cNvPr id="34" name="TextBox 33">
            <a:extLst>
              <a:ext uri="{FF2B5EF4-FFF2-40B4-BE49-F238E27FC236}">
                <a16:creationId xmlns:a16="http://schemas.microsoft.com/office/drawing/2014/main" id="{121AA854-DF38-4759-8671-088BB656E5DF}"/>
              </a:ext>
            </a:extLst>
          </p:cNvPr>
          <p:cNvSpPr txBox="1"/>
          <p:nvPr/>
        </p:nvSpPr>
        <p:spPr>
          <a:xfrm>
            <a:off x="8772011" y="3346246"/>
            <a:ext cx="1206794" cy="307777"/>
          </a:xfrm>
          <a:prstGeom prst="rect">
            <a:avLst/>
          </a:prstGeom>
          <a:noFill/>
        </p:spPr>
        <p:txBody>
          <a:bodyPr wrap="square" rtlCol="0">
            <a:spAutoFit/>
          </a:bodyPr>
          <a:lstStyle/>
          <a:p>
            <a:pPr algn="ctr"/>
            <a:r>
              <a:rPr lang="en-GB" sz="1400" b="1" dirty="0">
                <a:latin typeface="Arial" panose="020B0604020202020204" pitchFamily="34" charset="0"/>
                <a:cs typeface="Arial" panose="020B0604020202020204" pitchFamily="34" charset="0"/>
              </a:rPr>
              <a:t>PART 2</a:t>
            </a:r>
          </a:p>
        </p:txBody>
      </p:sp>
      <p:pic>
        <p:nvPicPr>
          <p:cNvPr id="3" name="Picture 2">
            <a:extLst>
              <a:ext uri="{FF2B5EF4-FFF2-40B4-BE49-F238E27FC236}">
                <a16:creationId xmlns:a16="http://schemas.microsoft.com/office/drawing/2014/main" id="{E7F10739-6F79-44B0-9723-B44AE4F96646}"/>
              </a:ext>
            </a:extLst>
          </p:cNvPr>
          <p:cNvPicPr>
            <a:picLocks noChangeAspect="1"/>
          </p:cNvPicPr>
          <p:nvPr/>
        </p:nvPicPr>
        <p:blipFill>
          <a:blip r:embed="rId12"/>
          <a:stretch>
            <a:fillRect/>
          </a:stretch>
        </p:blipFill>
        <p:spPr>
          <a:xfrm>
            <a:off x="508000" y="4633862"/>
            <a:ext cx="2529335" cy="1509758"/>
          </a:xfrm>
          <a:prstGeom prst="rect">
            <a:avLst/>
          </a:prstGeom>
        </p:spPr>
      </p:pic>
      <p:pic>
        <p:nvPicPr>
          <p:cNvPr id="7" name="Picture 6">
            <a:extLst>
              <a:ext uri="{FF2B5EF4-FFF2-40B4-BE49-F238E27FC236}">
                <a16:creationId xmlns:a16="http://schemas.microsoft.com/office/drawing/2014/main" id="{519E41EC-38BE-42A8-8642-0F38FDB48089}"/>
              </a:ext>
            </a:extLst>
          </p:cNvPr>
          <p:cNvPicPr>
            <a:picLocks noChangeAspect="1"/>
          </p:cNvPicPr>
          <p:nvPr/>
        </p:nvPicPr>
        <p:blipFill>
          <a:blip r:embed="rId13"/>
          <a:stretch>
            <a:fillRect/>
          </a:stretch>
        </p:blipFill>
        <p:spPr>
          <a:xfrm>
            <a:off x="3187918" y="4678275"/>
            <a:ext cx="2101384" cy="1430820"/>
          </a:xfrm>
          <a:prstGeom prst="rect">
            <a:avLst/>
          </a:prstGeom>
        </p:spPr>
      </p:pic>
      <p:pic>
        <p:nvPicPr>
          <p:cNvPr id="8" name="Picture 7">
            <a:extLst>
              <a:ext uri="{FF2B5EF4-FFF2-40B4-BE49-F238E27FC236}">
                <a16:creationId xmlns:a16="http://schemas.microsoft.com/office/drawing/2014/main" id="{FDF4E0F9-40AA-4CC5-BF78-1E56EDE01253}"/>
              </a:ext>
            </a:extLst>
          </p:cNvPr>
          <p:cNvPicPr>
            <a:picLocks noChangeAspect="1"/>
          </p:cNvPicPr>
          <p:nvPr/>
        </p:nvPicPr>
        <p:blipFill>
          <a:blip r:embed="rId14"/>
          <a:stretch>
            <a:fillRect/>
          </a:stretch>
        </p:blipFill>
        <p:spPr>
          <a:xfrm>
            <a:off x="8199587" y="4588646"/>
            <a:ext cx="2351642" cy="1659760"/>
          </a:xfrm>
          <a:prstGeom prst="rect">
            <a:avLst/>
          </a:prstGeom>
        </p:spPr>
      </p:pic>
    </p:spTree>
    <p:extLst>
      <p:ext uri="{BB962C8B-B14F-4D97-AF65-F5344CB8AC3E}">
        <p14:creationId xmlns:p14="http://schemas.microsoft.com/office/powerpoint/2010/main" val="24254697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CB293-FD8E-4F6C-92E5-62197E3FBA35}"/>
              </a:ext>
            </a:extLst>
          </p:cNvPr>
          <p:cNvSpPr>
            <a:spLocks noGrp="1"/>
          </p:cNvSpPr>
          <p:nvPr>
            <p:ph type="title"/>
          </p:nvPr>
        </p:nvSpPr>
        <p:spPr>
          <a:xfrm>
            <a:off x="508000" y="564078"/>
            <a:ext cx="11074400" cy="533400"/>
          </a:xfrm>
        </p:spPr>
        <p:txBody>
          <a:bodyPr/>
          <a:lstStyle/>
          <a:p>
            <a:r>
              <a:rPr lang="en-GB" sz="2000" dirty="0"/>
              <a:t>Addressing </a:t>
            </a:r>
            <a:r>
              <a:rPr lang="en-GB" sz="2000" b="1" dirty="0"/>
              <a:t>Materiality</a:t>
            </a:r>
            <a:r>
              <a:rPr lang="en-GB" sz="2000" dirty="0"/>
              <a:t> for Diverse Information with Little Guidance in EER Frameworks</a:t>
            </a:r>
          </a:p>
        </p:txBody>
      </p:sp>
      <p:sp>
        <p:nvSpPr>
          <p:cNvPr id="4" name="Subtitle 3">
            <a:extLst>
              <a:ext uri="{FF2B5EF4-FFF2-40B4-BE49-F238E27FC236}">
                <a16:creationId xmlns:a16="http://schemas.microsoft.com/office/drawing/2014/main" id="{B523B462-EC00-44AE-A4FD-59C48B8568FD}"/>
              </a:ext>
            </a:extLst>
          </p:cNvPr>
          <p:cNvSpPr>
            <a:spLocks noGrp="1"/>
          </p:cNvSpPr>
          <p:nvPr>
            <p:ph type="subTitle" idx="10"/>
          </p:nvPr>
        </p:nvSpPr>
        <p:spPr/>
        <p:txBody>
          <a:bodyPr/>
          <a:lstStyle/>
          <a:p>
            <a:endParaRPr lang="en-GB"/>
          </a:p>
        </p:txBody>
      </p:sp>
      <p:sp>
        <p:nvSpPr>
          <p:cNvPr id="5" name="Slide Number Placeholder 4">
            <a:extLst>
              <a:ext uri="{FF2B5EF4-FFF2-40B4-BE49-F238E27FC236}">
                <a16:creationId xmlns:a16="http://schemas.microsoft.com/office/drawing/2014/main" id="{5ED3D9D4-8FB3-463B-9D4F-12513A680A88}"/>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10</a:t>
            </a:fld>
            <a:endParaRPr lang="en-US" dirty="0">
              <a:latin typeface="Arial" panose="020B0604020202020204" pitchFamily="34" charset="0"/>
              <a:cs typeface="MS PGothic" charset="0"/>
            </a:endParaRPr>
          </a:p>
        </p:txBody>
      </p:sp>
      <p:sp>
        <p:nvSpPr>
          <p:cNvPr id="6" name="Arrow: Chevron 5">
            <a:extLst>
              <a:ext uri="{FF2B5EF4-FFF2-40B4-BE49-F238E27FC236}">
                <a16:creationId xmlns:a16="http://schemas.microsoft.com/office/drawing/2014/main" id="{AA019EF3-2054-4B1F-A278-94FEDEC44710}"/>
              </a:ext>
            </a:extLst>
          </p:cNvPr>
          <p:cNvSpPr/>
          <p:nvPr/>
        </p:nvSpPr>
        <p:spPr>
          <a:xfrm>
            <a:off x="633228" y="1364118"/>
            <a:ext cx="2728011" cy="713762"/>
          </a:xfrm>
          <a:prstGeom prst="chevron">
            <a:avLst>
              <a:gd name="adj" fmla="val 24918"/>
            </a:avLst>
          </a:prstGeom>
          <a:solidFill>
            <a:schemeClr val="accent3">
              <a:lumMod val="20000"/>
              <a:lumOff val="80000"/>
            </a:schemeClr>
          </a:solidFill>
          <a:ln w="25400" cap="flat" cmpd="sng" algn="ctr">
            <a:solidFill>
              <a:prstClr val="white">
                <a:hueOff val="0"/>
                <a:satOff val="0"/>
                <a:lumOff val="0"/>
                <a:alphaOff val="0"/>
              </a:prstClr>
            </a:solidFill>
            <a:prstDash val="solid"/>
          </a:ln>
          <a:effectLst/>
        </p:spPr>
        <p:txBody>
          <a:bodyPr spcFirstLastPara="0" vert="horz" wrap="square" lIns="127000" tIns="0" rIns="127000" bIns="0" numCol="1" spcCol="1270" anchor="ctr" anchorCtr="0">
            <a:noAutofit/>
          </a:bodyPr>
          <a:lstStyle/>
          <a:p>
            <a:endParaRPr lang="en-GB" sz="1400" dirty="0">
              <a:solidFill>
                <a:schemeClr val="bg1"/>
              </a:solidFill>
              <a:latin typeface="Arial" panose="020B0604020202020204" pitchFamily="34" charset="0"/>
              <a:cs typeface="Arial" panose="020B0604020202020204" pitchFamily="34" charset="0"/>
            </a:endParaRPr>
          </a:p>
        </p:txBody>
      </p:sp>
      <p:pic>
        <p:nvPicPr>
          <p:cNvPr id="21" name="Graphic 20" descr="Head with Gears">
            <a:extLst>
              <a:ext uri="{FF2B5EF4-FFF2-40B4-BE49-F238E27FC236}">
                <a16:creationId xmlns:a16="http://schemas.microsoft.com/office/drawing/2014/main" id="{08D7732C-029E-490E-859A-3A7D27AB38D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74994" y="1403177"/>
            <a:ext cx="642425" cy="642425"/>
          </a:xfrm>
          <a:prstGeom prst="rect">
            <a:avLst/>
          </a:prstGeom>
        </p:spPr>
      </p:pic>
      <p:sp>
        <p:nvSpPr>
          <p:cNvPr id="23" name="TextBox 22">
            <a:extLst>
              <a:ext uri="{FF2B5EF4-FFF2-40B4-BE49-F238E27FC236}">
                <a16:creationId xmlns:a16="http://schemas.microsoft.com/office/drawing/2014/main" id="{C442F61A-5D1F-428A-94A9-1EAD05F2963F}"/>
              </a:ext>
            </a:extLst>
          </p:cNvPr>
          <p:cNvSpPr txBox="1"/>
          <p:nvPr/>
        </p:nvSpPr>
        <p:spPr>
          <a:xfrm>
            <a:off x="1679435" y="1459389"/>
            <a:ext cx="1463585" cy="523220"/>
          </a:xfrm>
          <a:prstGeom prst="rect">
            <a:avLst/>
          </a:prstGeom>
          <a:noFill/>
        </p:spPr>
        <p:txBody>
          <a:bodyPr wrap="square" rtlCol="0">
            <a:spAutoFit/>
          </a:bodyPr>
          <a:lstStyle/>
          <a:p>
            <a:r>
              <a:rPr lang="en-GB" sz="1400" dirty="0">
                <a:solidFill>
                  <a:schemeClr val="bg1"/>
                </a:solidFill>
                <a:latin typeface="Arial" panose="020B0604020202020204" pitchFamily="34" charset="0"/>
                <a:cs typeface="Arial" panose="020B0604020202020204" pitchFamily="34" charset="0"/>
              </a:rPr>
              <a:t>Generalized construct</a:t>
            </a:r>
          </a:p>
        </p:txBody>
      </p:sp>
      <p:sp>
        <p:nvSpPr>
          <p:cNvPr id="24" name="Arrow: Chevron 23">
            <a:extLst>
              <a:ext uri="{FF2B5EF4-FFF2-40B4-BE49-F238E27FC236}">
                <a16:creationId xmlns:a16="http://schemas.microsoft.com/office/drawing/2014/main" id="{5DA552CC-1BF5-404D-A1EF-996825B0C607}"/>
              </a:ext>
            </a:extLst>
          </p:cNvPr>
          <p:cNvSpPr/>
          <p:nvPr/>
        </p:nvSpPr>
        <p:spPr>
          <a:xfrm>
            <a:off x="3367989" y="1364118"/>
            <a:ext cx="2728011" cy="713762"/>
          </a:xfrm>
          <a:prstGeom prst="chevron">
            <a:avLst>
              <a:gd name="adj" fmla="val 24918"/>
            </a:avLst>
          </a:prstGeom>
          <a:solidFill>
            <a:schemeClr val="accent3"/>
          </a:solidFill>
          <a:ln w="25400" cap="flat" cmpd="sng" algn="ctr">
            <a:solidFill>
              <a:prstClr val="white">
                <a:hueOff val="0"/>
                <a:satOff val="0"/>
                <a:lumOff val="0"/>
                <a:alphaOff val="0"/>
              </a:prstClr>
            </a:solidFill>
            <a:prstDash val="solid"/>
          </a:ln>
          <a:effectLst/>
        </p:spPr>
        <p:txBody>
          <a:bodyPr spcFirstLastPara="0" vert="horz" wrap="square" lIns="127000" tIns="0" rIns="127000" bIns="0" numCol="1" spcCol="1270" anchor="ctr" anchorCtr="0">
            <a:noAutofit/>
          </a:bodyPr>
          <a:lstStyle/>
          <a:p>
            <a:endParaRPr lang="en-GB" sz="1400" dirty="0">
              <a:solidFill>
                <a:schemeClr val="bg1"/>
              </a:solidFill>
              <a:latin typeface="Arial" panose="020B0604020202020204" pitchFamily="34" charset="0"/>
              <a:cs typeface="Arial" panose="020B0604020202020204" pitchFamily="34" charset="0"/>
            </a:endParaRPr>
          </a:p>
        </p:txBody>
      </p:sp>
      <p:sp>
        <p:nvSpPr>
          <p:cNvPr id="27" name="TextBox 26">
            <a:extLst>
              <a:ext uri="{FF2B5EF4-FFF2-40B4-BE49-F238E27FC236}">
                <a16:creationId xmlns:a16="http://schemas.microsoft.com/office/drawing/2014/main" id="{41A820CA-2131-4E78-90DA-D5DFF6C42C00}"/>
              </a:ext>
            </a:extLst>
          </p:cNvPr>
          <p:cNvSpPr txBox="1"/>
          <p:nvPr/>
        </p:nvSpPr>
        <p:spPr>
          <a:xfrm>
            <a:off x="4414196" y="1568899"/>
            <a:ext cx="1463585" cy="307777"/>
          </a:xfrm>
          <a:prstGeom prst="rect">
            <a:avLst/>
          </a:prstGeom>
          <a:noFill/>
        </p:spPr>
        <p:txBody>
          <a:bodyPr wrap="square" rtlCol="0">
            <a:spAutoFit/>
          </a:bodyPr>
          <a:lstStyle/>
          <a:p>
            <a:r>
              <a:rPr lang="en-GB" sz="1400" dirty="0">
                <a:solidFill>
                  <a:schemeClr val="bg1"/>
                </a:solidFill>
                <a:latin typeface="Arial" panose="020B0604020202020204" pitchFamily="34" charset="0"/>
                <a:cs typeface="Arial" panose="020B0604020202020204" pitchFamily="34" charset="0"/>
              </a:rPr>
              <a:t>Materiality</a:t>
            </a:r>
          </a:p>
        </p:txBody>
      </p:sp>
      <p:sp>
        <p:nvSpPr>
          <p:cNvPr id="28" name="Arrow: Chevron 27">
            <a:extLst>
              <a:ext uri="{FF2B5EF4-FFF2-40B4-BE49-F238E27FC236}">
                <a16:creationId xmlns:a16="http://schemas.microsoft.com/office/drawing/2014/main" id="{E183CB93-C443-4345-92A1-172F32732183}"/>
              </a:ext>
            </a:extLst>
          </p:cNvPr>
          <p:cNvSpPr/>
          <p:nvPr/>
        </p:nvSpPr>
        <p:spPr>
          <a:xfrm>
            <a:off x="6102750" y="1364118"/>
            <a:ext cx="2728011" cy="713762"/>
          </a:xfrm>
          <a:prstGeom prst="chevron">
            <a:avLst>
              <a:gd name="adj" fmla="val 24918"/>
            </a:avLst>
          </a:prstGeom>
          <a:solidFill>
            <a:schemeClr val="accent3">
              <a:lumMod val="20000"/>
              <a:lumOff val="80000"/>
            </a:schemeClr>
          </a:solidFill>
          <a:ln w="25400" cap="flat" cmpd="sng" algn="ctr">
            <a:solidFill>
              <a:prstClr val="white">
                <a:hueOff val="0"/>
                <a:satOff val="0"/>
                <a:lumOff val="0"/>
                <a:alphaOff val="0"/>
              </a:prstClr>
            </a:solidFill>
            <a:prstDash val="solid"/>
          </a:ln>
          <a:effectLst/>
        </p:spPr>
        <p:txBody>
          <a:bodyPr spcFirstLastPara="0" vert="horz" wrap="square" lIns="127000" tIns="0" rIns="127000" bIns="0" numCol="1" spcCol="1270" anchor="ctr" anchorCtr="0">
            <a:noAutofit/>
          </a:bodyPr>
          <a:lstStyle/>
          <a:p>
            <a:endParaRPr lang="en-GB" sz="1400" dirty="0">
              <a:solidFill>
                <a:schemeClr val="bg1"/>
              </a:solidFill>
              <a:latin typeface="Arial" panose="020B0604020202020204" pitchFamily="34" charset="0"/>
              <a:cs typeface="Arial" panose="020B0604020202020204" pitchFamily="34" charset="0"/>
            </a:endParaRPr>
          </a:p>
        </p:txBody>
      </p:sp>
      <p:sp>
        <p:nvSpPr>
          <p:cNvPr id="30" name="TextBox 29">
            <a:extLst>
              <a:ext uri="{FF2B5EF4-FFF2-40B4-BE49-F238E27FC236}">
                <a16:creationId xmlns:a16="http://schemas.microsoft.com/office/drawing/2014/main" id="{AA3B481A-45AB-4E35-99B5-02DFBA6B20C8}"/>
              </a:ext>
            </a:extLst>
          </p:cNvPr>
          <p:cNvSpPr txBox="1"/>
          <p:nvPr/>
        </p:nvSpPr>
        <p:spPr>
          <a:xfrm>
            <a:off x="7148957" y="1563858"/>
            <a:ext cx="1463585" cy="307777"/>
          </a:xfrm>
          <a:prstGeom prst="rect">
            <a:avLst/>
          </a:prstGeom>
          <a:noFill/>
        </p:spPr>
        <p:txBody>
          <a:bodyPr wrap="square" rtlCol="0">
            <a:spAutoFit/>
          </a:bodyPr>
          <a:lstStyle/>
          <a:p>
            <a:r>
              <a:rPr lang="en-GB" sz="1400" dirty="0">
                <a:solidFill>
                  <a:schemeClr val="bg1"/>
                </a:solidFill>
                <a:latin typeface="Arial" panose="020B0604020202020204" pitchFamily="34" charset="0"/>
                <a:cs typeface="Arial" panose="020B0604020202020204" pitchFamily="34" charset="0"/>
              </a:rPr>
              <a:t>Criteria</a:t>
            </a:r>
          </a:p>
        </p:txBody>
      </p:sp>
      <p:sp>
        <p:nvSpPr>
          <p:cNvPr id="31" name="Arrow: Chevron 30">
            <a:extLst>
              <a:ext uri="{FF2B5EF4-FFF2-40B4-BE49-F238E27FC236}">
                <a16:creationId xmlns:a16="http://schemas.microsoft.com/office/drawing/2014/main" id="{2F3D0BD4-B249-428C-A267-6FAF08D3C314}"/>
              </a:ext>
            </a:extLst>
          </p:cNvPr>
          <p:cNvSpPr/>
          <p:nvPr/>
        </p:nvSpPr>
        <p:spPr>
          <a:xfrm>
            <a:off x="8830761" y="1353733"/>
            <a:ext cx="2728011" cy="713762"/>
          </a:xfrm>
          <a:prstGeom prst="chevron">
            <a:avLst>
              <a:gd name="adj" fmla="val 24918"/>
            </a:avLst>
          </a:prstGeom>
          <a:solidFill>
            <a:schemeClr val="accent3">
              <a:lumMod val="20000"/>
              <a:lumOff val="80000"/>
            </a:schemeClr>
          </a:solidFill>
          <a:ln w="25400" cap="flat" cmpd="sng" algn="ctr">
            <a:solidFill>
              <a:prstClr val="white">
                <a:hueOff val="0"/>
                <a:satOff val="0"/>
                <a:lumOff val="0"/>
                <a:alphaOff val="0"/>
              </a:prstClr>
            </a:solidFill>
            <a:prstDash val="solid"/>
          </a:ln>
          <a:effectLst/>
        </p:spPr>
        <p:txBody>
          <a:bodyPr spcFirstLastPara="0" vert="horz" wrap="square" lIns="127000" tIns="0" rIns="127000" bIns="0" numCol="1" spcCol="1270" anchor="ctr" anchorCtr="0">
            <a:noAutofit/>
          </a:bodyPr>
          <a:lstStyle/>
          <a:p>
            <a:endParaRPr lang="en-GB" sz="1400" dirty="0">
              <a:solidFill>
                <a:schemeClr val="bg1"/>
              </a:solidFill>
              <a:latin typeface="Arial" panose="020B0604020202020204" pitchFamily="34" charset="0"/>
              <a:cs typeface="Arial" panose="020B0604020202020204" pitchFamily="34" charset="0"/>
            </a:endParaRPr>
          </a:p>
        </p:txBody>
      </p:sp>
      <p:pic>
        <p:nvPicPr>
          <p:cNvPr id="32" name="Graphic 31" descr="Tools">
            <a:extLst>
              <a:ext uri="{FF2B5EF4-FFF2-40B4-BE49-F238E27FC236}">
                <a16:creationId xmlns:a16="http://schemas.microsoft.com/office/drawing/2014/main" id="{971AB0AB-C8DA-458A-897C-CBC13827F3F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072527" y="1423895"/>
            <a:ext cx="605762" cy="605762"/>
          </a:xfrm>
          <a:prstGeom prst="rect">
            <a:avLst/>
          </a:prstGeom>
        </p:spPr>
      </p:pic>
      <p:sp>
        <p:nvSpPr>
          <p:cNvPr id="33" name="TextBox 32">
            <a:extLst>
              <a:ext uri="{FF2B5EF4-FFF2-40B4-BE49-F238E27FC236}">
                <a16:creationId xmlns:a16="http://schemas.microsoft.com/office/drawing/2014/main" id="{564C376C-65EB-4FE8-998D-746722F1295C}"/>
              </a:ext>
            </a:extLst>
          </p:cNvPr>
          <p:cNvSpPr txBox="1"/>
          <p:nvPr/>
        </p:nvSpPr>
        <p:spPr>
          <a:xfrm>
            <a:off x="9876968" y="1553530"/>
            <a:ext cx="1463585" cy="307777"/>
          </a:xfrm>
          <a:prstGeom prst="rect">
            <a:avLst/>
          </a:prstGeom>
          <a:noFill/>
        </p:spPr>
        <p:txBody>
          <a:bodyPr wrap="square" rtlCol="0">
            <a:spAutoFit/>
          </a:bodyPr>
          <a:lstStyle/>
          <a:p>
            <a:r>
              <a:rPr lang="en-GB" sz="1400" dirty="0">
                <a:solidFill>
                  <a:schemeClr val="bg1"/>
                </a:solidFill>
                <a:latin typeface="Arial" panose="020B0604020202020204" pitchFamily="34" charset="0"/>
                <a:cs typeface="Arial" panose="020B0604020202020204" pitchFamily="34" charset="0"/>
              </a:rPr>
              <a:t>Assertions</a:t>
            </a:r>
          </a:p>
        </p:txBody>
      </p:sp>
      <p:pic>
        <p:nvPicPr>
          <p:cNvPr id="22" name="Graphic 21" descr="List">
            <a:extLst>
              <a:ext uri="{FF2B5EF4-FFF2-40B4-BE49-F238E27FC236}">
                <a16:creationId xmlns:a16="http://schemas.microsoft.com/office/drawing/2014/main" id="{8136C240-20D9-4378-8A43-AD4B8EB45B5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337766" y="1403177"/>
            <a:ext cx="645189" cy="645189"/>
          </a:xfrm>
          <a:prstGeom prst="rect">
            <a:avLst/>
          </a:prstGeom>
        </p:spPr>
      </p:pic>
      <p:pic>
        <p:nvPicPr>
          <p:cNvPr id="20" name="Graphic 19" descr="Magnifying glass">
            <a:extLst>
              <a:ext uri="{FF2B5EF4-FFF2-40B4-BE49-F238E27FC236}">
                <a16:creationId xmlns:a16="http://schemas.microsoft.com/office/drawing/2014/main" id="{2D2A8B34-3AA3-4520-A22E-6B246776DE43}"/>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612130" y="1403177"/>
            <a:ext cx="626480" cy="626480"/>
          </a:xfrm>
          <a:prstGeom prst="rect">
            <a:avLst/>
          </a:prstGeom>
        </p:spPr>
      </p:pic>
      <p:sp>
        <p:nvSpPr>
          <p:cNvPr id="17" name="Content Placeholder 2">
            <a:extLst>
              <a:ext uri="{FF2B5EF4-FFF2-40B4-BE49-F238E27FC236}">
                <a16:creationId xmlns:a16="http://schemas.microsoft.com/office/drawing/2014/main" id="{702E6B76-BFE0-4527-95FD-7E9030FFC999}"/>
              </a:ext>
            </a:extLst>
          </p:cNvPr>
          <p:cNvSpPr txBox="1">
            <a:spLocks/>
          </p:cNvSpPr>
          <p:nvPr/>
        </p:nvSpPr>
        <p:spPr>
          <a:xfrm>
            <a:off x="2174402" y="2480583"/>
            <a:ext cx="8912698" cy="3739241"/>
          </a:xfrm>
          <a:prstGeom prst="rect">
            <a:avLst/>
          </a:prstGeom>
        </p:spPr>
        <p:txBody>
          <a:bodyPr vert="horz" lIns="0" tIns="0" rIns="0" bIns="0" rtlCol="0">
            <a:noAutofit/>
          </a:bodyPr>
          <a:lstStyle>
            <a:lvl1pPr marL="173038" indent="-173038" algn="l" defTabSz="457200" rtl="0" eaLnBrk="1" latinLnBrk="0" hangingPunct="1">
              <a:spcBef>
                <a:spcPts val="1200"/>
              </a:spcBef>
              <a:buFont typeface="Arial"/>
              <a:buChar char="•"/>
              <a:defRPr sz="2000" kern="1200">
                <a:solidFill>
                  <a:schemeClr val="tx1">
                    <a:lumMod val="65000"/>
                    <a:lumOff val="35000"/>
                  </a:schemeClr>
                </a:solidFill>
                <a:latin typeface="Arial" panose="020B0604020202020204" pitchFamily="34" charset="0"/>
                <a:ea typeface="+mn-ea"/>
                <a:cs typeface="Arial" panose="020B0604020202020204" pitchFamily="34" charset="0"/>
              </a:defRPr>
            </a:lvl1pPr>
            <a:lvl2pPr marL="457200" indent="-228600" algn="l" defTabSz="457200" rtl="0" eaLnBrk="1" latinLnBrk="0" hangingPunct="1">
              <a:spcBef>
                <a:spcPts val="600"/>
              </a:spcBef>
              <a:spcAft>
                <a:spcPts val="400"/>
              </a:spcAft>
              <a:buFont typeface="Arial"/>
              <a:buChar char="–"/>
              <a:defRPr sz="1800" kern="1200">
                <a:solidFill>
                  <a:schemeClr val="tx1">
                    <a:lumMod val="65000"/>
                    <a:lumOff val="35000"/>
                  </a:schemeClr>
                </a:solidFill>
                <a:latin typeface="Arial" panose="020B0604020202020204" pitchFamily="34" charset="0"/>
                <a:ea typeface="+mn-ea"/>
                <a:cs typeface="Arial" panose="020B0604020202020204" pitchFamily="34" charset="0"/>
              </a:defRPr>
            </a:lvl2pPr>
            <a:lvl3pPr marL="630238" indent="-171450" algn="l" defTabSz="457200" rtl="0" eaLnBrk="1" latinLnBrk="0" hangingPunct="1">
              <a:spcBef>
                <a:spcPct val="20000"/>
              </a:spcBef>
              <a:buFont typeface="Arial"/>
              <a:buChar char="•"/>
              <a:defRPr sz="1600" kern="1200">
                <a:solidFill>
                  <a:schemeClr val="tx1">
                    <a:lumMod val="65000"/>
                    <a:lumOff val="35000"/>
                  </a:schemeClr>
                </a:solidFill>
                <a:latin typeface="Arial" panose="020B0604020202020204" pitchFamily="34" charset="0"/>
                <a:ea typeface="+mn-ea"/>
                <a:cs typeface="Arial" panose="020B0604020202020204" pitchFamily="34" charset="0"/>
              </a:defRPr>
            </a:lvl3pPr>
            <a:lvl4pPr marL="1600200" indent="-228600" algn="l" defTabSz="457200" rtl="0" eaLnBrk="1" latinLnBrk="0" hangingPunct="1">
              <a:spcBef>
                <a:spcPct val="20000"/>
              </a:spcBef>
              <a:buFont typeface="Arial"/>
              <a:buChar char="–"/>
              <a:defRPr sz="1400" kern="1200">
                <a:solidFill>
                  <a:schemeClr val="tx1"/>
                </a:solidFill>
                <a:latin typeface="Arial Narrow"/>
                <a:ea typeface="+mn-ea"/>
                <a:cs typeface="Arial Narrow"/>
              </a:defRPr>
            </a:lvl4pPr>
            <a:lvl5pPr marL="2057400" indent="-228600" algn="l" defTabSz="457200" rtl="0" eaLnBrk="1" latinLnBrk="0" hangingPunct="1">
              <a:spcBef>
                <a:spcPct val="20000"/>
              </a:spcBef>
              <a:buFont typeface="Arial"/>
              <a:buChar char="»"/>
              <a:defRPr sz="1400" kern="1200">
                <a:solidFill>
                  <a:schemeClr val="tx1"/>
                </a:solidFill>
                <a:latin typeface="Arial Narrow"/>
                <a:ea typeface="+mn-ea"/>
                <a:cs typeface="Arial Narrow"/>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GB" dirty="0">
                <a:solidFill>
                  <a:schemeClr val="bg1">
                    <a:lumMod val="50000"/>
                  </a:schemeClr>
                </a:solidFill>
              </a:rPr>
              <a:t>The IAASB is asked for its views on:</a:t>
            </a:r>
          </a:p>
          <a:p>
            <a:pPr marL="457200" indent="-457200">
              <a:buFont typeface="+mj-lt"/>
              <a:buAutoNum type="alphaLcParenR"/>
            </a:pPr>
            <a:r>
              <a:rPr lang="en-GB" dirty="0">
                <a:solidFill>
                  <a:schemeClr val="bg1">
                    <a:lumMod val="50000"/>
                  </a:schemeClr>
                </a:solidFill>
              </a:rPr>
              <a:t>the conceptual thinking presented in the issues paper;</a:t>
            </a:r>
          </a:p>
          <a:p>
            <a:pPr marL="457200" indent="-457200">
              <a:buFont typeface="+mj-lt"/>
              <a:buAutoNum type="alphaLcParenR"/>
            </a:pPr>
            <a:r>
              <a:rPr lang="en-GB" dirty="0">
                <a:solidFill>
                  <a:schemeClr val="bg1">
                    <a:lumMod val="50000"/>
                  </a:schemeClr>
                </a:solidFill>
              </a:rPr>
              <a:t>whether it is helpful to present aspects of materiality which are relevant for preparers as well as those relevant to practitioners; and</a:t>
            </a:r>
          </a:p>
          <a:p>
            <a:pPr marL="457200" indent="-457200">
              <a:buFont typeface="+mj-lt"/>
              <a:buAutoNum type="alphaLcParenR"/>
            </a:pPr>
            <a:r>
              <a:rPr lang="en-GB" dirty="0">
                <a:solidFill>
                  <a:schemeClr val="bg1">
                    <a:lumMod val="50000"/>
                  </a:schemeClr>
                </a:solidFill>
              </a:rPr>
              <a:t>the draft outline of the materiality framework presented in Agenda Item 4-A.</a:t>
            </a:r>
          </a:p>
        </p:txBody>
      </p:sp>
      <p:sp>
        <p:nvSpPr>
          <p:cNvPr id="18" name="Content Placeholder 2">
            <a:extLst>
              <a:ext uri="{FF2B5EF4-FFF2-40B4-BE49-F238E27FC236}">
                <a16:creationId xmlns:a16="http://schemas.microsoft.com/office/drawing/2014/main" id="{F8146933-16DD-4065-A941-0142FD33CD25}"/>
              </a:ext>
            </a:extLst>
          </p:cNvPr>
          <p:cNvSpPr txBox="1">
            <a:spLocks/>
          </p:cNvSpPr>
          <p:nvPr/>
        </p:nvSpPr>
        <p:spPr>
          <a:xfrm>
            <a:off x="690148" y="2363570"/>
            <a:ext cx="1193587" cy="713762"/>
          </a:xfrm>
          <a:prstGeom prst="rect">
            <a:avLst/>
          </a:prstGeom>
        </p:spPr>
        <p:txBody>
          <a:bodyPr vert="horz" lIns="0" tIns="0" rIns="0" bIns="0" rtlCol="0">
            <a:noAutofit/>
          </a:bodyPr>
          <a:lstStyle>
            <a:lvl1pPr marL="173038" indent="-173038" algn="l" defTabSz="457200" rtl="0" eaLnBrk="1" latinLnBrk="0" hangingPunct="1">
              <a:spcBef>
                <a:spcPts val="1200"/>
              </a:spcBef>
              <a:buFont typeface="Arial"/>
              <a:buChar char="•"/>
              <a:defRPr sz="2000" kern="1200">
                <a:solidFill>
                  <a:schemeClr val="tx1">
                    <a:lumMod val="65000"/>
                    <a:lumOff val="35000"/>
                  </a:schemeClr>
                </a:solidFill>
                <a:latin typeface="Arial" panose="020B0604020202020204" pitchFamily="34" charset="0"/>
                <a:ea typeface="+mn-ea"/>
                <a:cs typeface="Arial" panose="020B0604020202020204" pitchFamily="34" charset="0"/>
              </a:defRPr>
            </a:lvl1pPr>
            <a:lvl2pPr marL="457200" indent="-228600" algn="l" defTabSz="457200" rtl="0" eaLnBrk="1" latinLnBrk="0" hangingPunct="1">
              <a:spcBef>
                <a:spcPts val="600"/>
              </a:spcBef>
              <a:spcAft>
                <a:spcPts val="400"/>
              </a:spcAft>
              <a:buFont typeface="Arial"/>
              <a:buChar char="–"/>
              <a:defRPr sz="1800" kern="1200">
                <a:solidFill>
                  <a:schemeClr val="tx1">
                    <a:lumMod val="65000"/>
                    <a:lumOff val="35000"/>
                  </a:schemeClr>
                </a:solidFill>
                <a:latin typeface="Arial" panose="020B0604020202020204" pitchFamily="34" charset="0"/>
                <a:ea typeface="+mn-ea"/>
                <a:cs typeface="Arial" panose="020B0604020202020204" pitchFamily="34" charset="0"/>
              </a:defRPr>
            </a:lvl2pPr>
            <a:lvl3pPr marL="630238" indent="-171450" algn="l" defTabSz="457200" rtl="0" eaLnBrk="1" latinLnBrk="0" hangingPunct="1">
              <a:spcBef>
                <a:spcPct val="20000"/>
              </a:spcBef>
              <a:buFont typeface="Arial"/>
              <a:buChar char="•"/>
              <a:defRPr sz="1600" kern="1200">
                <a:solidFill>
                  <a:schemeClr val="tx1">
                    <a:lumMod val="65000"/>
                    <a:lumOff val="35000"/>
                  </a:schemeClr>
                </a:solidFill>
                <a:latin typeface="Arial" panose="020B0604020202020204" pitchFamily="34" charset="0"/>
                <a:ea typeface="+mn-ea"/>
                <a:cs typeface="Arial" panose="020B0604020202020204" pitchFamily="34" charset="0"/>
              </a:defRPr>
            </a:lvl3pPr>
            <a:lvl4pPr marL="1600200" indent="-228600" algn="l" defTabSz="457200" rtl="0" eaLnBrk="1" latinLnBrk="0" hangingPunct="1">
              <a:spcBef>
                <a:spcPct val="20000"/>
              </a:spcBef>
              <a:buFont typeface="Arial"/>
              <a:buChar char="–"/>
              <a:defRPr sz="1400" kern="1200">
                <a:solidFill>
                  <a:schemeClr val="tx1"/>
                </a:solidFill>
                <a:latin typeface="Arial Narrow"/>
                <a:ea typeface="+mn-ea"/>
                <a:cs typeface="Arial Narrow"/>
              </a:defRPr>
            </a:lvl4pPr>
            <a:lvl5pPr marL="2057400" indent="-228600" algn="l" defTabSz="457200" rtl="0" eaLnBrk="1" latinLnBrk="0" hangingPunct="1">
              <a:spcBef>
                <a:spcPct val="20000"/>
              </a:spcBef>
              <a:buFont typeface="Arial"/>
              <a:buChar char="»"/>
              <a:defRPr sz="1400" kern="1200">
                <a:solidFill>
                  <a:schemeClr val="tx1"/>
                </a:solidFill>
                <a:latin typeface="Arial Narrow"/>
                <a:ea typeface="+mn-ea"/>
                <a:cs typeface="Arial Narrow"/>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GB" sz="5400" b="1" dirty="0">
                <a:solidFill>
                  <a:schemeClr val="bg1">
                    <a:lumMod val="50000"/>
                  </a:schemeClr>
                </a:solidFill>
              </a:rPr>
              <a:t>Q3</a:t>
            </a:r>
          </a:p>
        </p:txBody>
      </p:sp>
    </p:spTree>
    <p:extLst>
      <p:ext uri="{BB962C8B-B14F-4D97-AF65-F5344CB8AC3E}">
        <p14:creationId xmlns:p14="http://schemas.microsoft.com/office/powerpoint/2010/main" val="98149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CB293-FD8E-4F6C-92E5-62197E3FBA35}"/>
              </a:ext>
            </a:extLst>
          </p:cNvPr>
          <p:cNvSpPr>
            <a:spLocks noGrp="1"/>
          </p:cNvSpPr>
          <p:nvPr>
            <p:ph type="title"/>
          </p:nvPr>
        </p:nvSpPr>
        <p:spPr/>
        <p:txBody>
          <a:bodyPr/>
          <a:lstStyle/>
          <a:p>
            <a:r>
              <a:rPr lang="en-GB" dirty="0"/>
              <a:t>Evaluating the Suitability of </a:t>
            </a:r>
            <a:r>
              <a:rPr lang="en-GB" b="1" dirty="0"/>
              <a:t>Criteria</a:t>
            </a:r>
            <a:r>
              <a:rPr lang="en-GB" dirty="0"/>
              <a:t> in a Consistent Manner</a:t>
            </a:r>
          </a:p>
        </p:txBody>
      </p:sp>
      <p:sp>
        <p:nvSpPr>
          <p:cNvPr id="4" name="Subtitle 3">
            <a:extLst>
              <a:ext uri="{FF2B5EF4-FFF2-40B4-BE49-F238E27FC236}">
                <a16:creationId xmlns:a16="http://schemas.microsoft.com/office/drawing/2014/main" id="{B523B462-EC00-44AE-A4FD-59C48B8568FD}"/>
              </a:ext>
            </a:extLst>
          </p:cNvPr>
          <p:cNvSpPr>
            <a:spLocks noGrp="1"/>
          </p:cNvSpPr>
          <p:nvPr>
            <p:ph type="subTitle" idx="10"/>
          </p:nvPr>
        </p:nvSpPr>
        <p:spPr/>
        <p:txBody>
          <a:bodyPr/>
          <a:lstStyle/>
          <a:p>
            <a:endParaRPr lang="en-GB"/>
          </a:p>
        </p:txBody>
      </p:sp>
      <p:sp>
        <p:nvSpPr>
          <p:cNvPr id="5" name="Slide Number Placeholder 4">
            <a:extLst>
              <a:ext uri="{FF2B5EF4-FFF2-40B4-BE49-F238E27FC236}">
                <a16:creationId xmlns:a16="http://schemas.microsoft.com/office/drawing/2014/main" id="{5ED3D9D4-8FB3-463B-9D4F-12513A680A88}"/>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11</a:t>
            </a:fld>
            <a:endParaRPr lang="en-US" dirty="0">
              <a:latin typeface="Arial" panose="020B0604020202020204" pitchFamily="34" charset="0"/>
              <a:cs typeface="MS PGothic" charset="0"/>
            </a:endParaRPr>
          </a:p>
        </p:txBody>
      </p:sp>
      <p:sp>
        <p:nvSpPr>
          <p:cNvPr id="6" name="Arrow: Chevron 5">
            <a:extLst>
              <a:ext uri="{FF2B5EF4-FFF2-40B4-BE49-F238E27FC236}">
                <a16:creationId xmlns:a16="http://schemas.microsoft.com/office/drawing/2014/main" id="{AA019EF3-2054-4B1F-A278-94FEDEC44710}"/>
              </a:ext>
            </a:extLst>
          </p:cNvPr>
          <p:cNvSpPr/>
          <p:nvPr/>
        </p:nvSpPr>
        <p:spPr>
          <a:xfrm>
            <a:off x="633228" y="1364118"/>
            <a:ext cx="2728011" cy="713762"/>
          </a:xfrm>
          <a:prstGeom prst="chevron">
            <a:avLst>
              <a:gd name="adj" fmla="val 24918"/>
            </a:avLst>
          </a:prstGeom>
          <a:solidFill>
            <a:schemeClr val="accent3">
              <a:lumMod val="20000"/>
              <a:lumOff val="80000"/>
            </a:schemeClr>
          </a:solidFill>
          <a:ln w="25400" cap="flat" cmpd="sng" algn="ctr">
            <a:solidFill>
              <a:prstClr val="white">
                <a:hueOff val="0"/>
                <a:satOff val="0"/>
                <a:lumOff val="0"/>
                <a:alphaOff val="0"/>
              </a:prstClr>
            </a:solidFill>
            <a:prstDash val="solid"/>
          </a:ln>
          <a:effectLst/>
        </p:spPr>
        <p:txBody>
          <a:bodyPr spcFirstLastPara="0" vert="horz" wrap="square" lIns="127000" tIns="0" rIns="127000" bIns="0" numCol="1" spcCol="1270" anchor="ctr" anchorCtr="0">
            <a:noAutofit/>
          </a:bodyPr>
          <a:lstStyle/>
          <a:p>
            <a:endParaRPr lang="en-GB" sz="1400" dirty="0">
              <a:solidFill>
                <a:schemeClr val="bg1"/>
              </a:solidFill>
              <a:latin typeface="Arial" panose="020B0604020202020204" pitchFamily="34" charset="0"/>
              <a:cs typeface="Arial" panose="020B0604020202020204" pitchFamily="34" charset="0"/>
            </a:endParaRPr>
          </a:p>
        </p:txBody>
      </p:sp>
      <p:pic>
        <p:nvPicPr>
          <p:cNvPr id="21" name="Graphic 20" descr="Head with Gears">
            <a:extLst>
              <a:ext uri="{FF2B5EF4-FFF2-40B4-BE49-F238E27FC236}">
                <a16:creationId xmlns:a16="http://schemas.microsoft.com/office/drawing/2014/main" id="{08D7732C-029E-490E-859A-3A7D27AB38D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74994" y="1403177"/>
            <a:ext cx="642425" cy="642425"/>
          </a:xfrm>
          <a:prstGeom prst="rect">
            <a:avLst/>
          </a:prstGeom>
        </p:spPr>
      </p:pic>
      <p:sp>
        <p:nvSpPr>
          <p:cNvPr id="23" name="TextBox 22">
            <a:extLst>
              <a:ext uri="{FF2B5EF4-FFF2-40B4-BE49-F238E27FC236}">
                <a16:creationId xmlns:a16="http://schemas.microsoft.com/office/drawing/2014/main" id="{C442F61A-5D1F-428A-94A9-1EAD05F2963F}"/>
              </a:ext>
            </a:extLst>
          </p:cNvPr>
          <p:cNvSpPr txBox="1"/>
          <p:nvPr/>
        </p:nvSpPr>
        <p:spPr>
          <a:xfrm>
            <a:off x="1679435" y="1459389"/>
            <a:ext cx="1463585" cy="523220"/>
          </a:xfrm>
          <a:prstGeom prst="rect">
            <a:avLst/>
          </a:prstGeom>
          <a:noFill/>
        </p:spPr>
        <p:txBody>
          <a:bodyPr wrap="square" rtlCol="0">
            <a:spAutoFit/>
          </a:bodyPr>
          <a:lstStyle/>
          <a:p>
            <a:r>
              <a:rPr lang="en-GB" sz="1400" dirty="0">
                <a:solidFill>
                  <a:schemeClr val="bg1"/>
                </a:solidFill>
                <a:latin typeface="Arial" panose="020B0604020202020204" pitchFamily="34" charset="0"/>
                <a:cs typeface="Arial" panose="020B0604020202020204" pitchFamily="34" charset="0"/>
              </a:rPr>
              <a:t>Generalized construct</a:t>
            </a:r>
          </a:p>
        </p:txBody>
      </p:sp>
      <p:sp>
        <p:nvSpPr>
          <p:cNvPr id="24" name="Arrow: Chevron 23">
            <a:extLst>
              <a:ext uri="{FF2B5EF4-FFF2-40B4-BE49-F238E27FC236}">
                <a16:creationId xmlns:a16="http://schemas.microsoft.com/office/drawing/2014/main" id="{5DA552CC-1BF5-404D-A1EF-996825B0C607}"/>
              </a:ext>
            </a:extLst>
          </p:cNvPr>
          <p:cNvSpPr/>
          <p:nvPr/>
        </p:nvSpPr>
        <p:spPr>
          <a:xfrm>
            <a:off x="3367989" y="1364118"/>
            <a:ext cx="2728011" cy="713762"/>
          </a:xfrm>
          <a:prstGeom prst="chevron">
            <a:avLst>
              <a:gd name="adj" fmla="val 24918"/>
            </a:avLst>
          </a:prstGeom>
          <a:solidFill>
            <a:schemeClr val="accent3">
              <a:lumMod val="20000"/>
              <a:lumOff val="80000"/>
            </a:schemeClr>
          </a:solidFill>
          <a:ln w="25400" cap="flat" cmpd="sng" algn="ctr">
            <a:solidFill>
              <a:prstClr val="white">
                <a:hueOff val="0"/>
                <a:satOff val="0"/>
                <a:lumOff val="0"/>
                <a:alphaOff val="0"/>
              </a:prstClr>
            </a:solidFill>
            <a:prstDash val="solid"/>
          </a:ln>
          <a:effectLst/>
        </p:spPr>
        <p:txBody>
          <a:bodyPr spcFirstLastPara="0" vert="horz" wrap="square" lIns="127000" tIns="0" rIns="127000" bIns="0" numCol="1" spcCol="1270" anchor="ctr" anchorCtr="0">
            <a:noAutofit/>
          </a:bodyPr>
          <a:lstStyle/>
          <a:p>
            <a:endParaRPr lang="en-GB" sz="1400" dirty="0">
              <a:solidFill>
                <a:schemeClr val="bg1"/>
              </a:solidFill>
              <a:latin typeface="Arial" panose="020B0604020202020204" pitchFamily="34" charset="0"/>
              <a:cs typeface="Arial" panose="020B0604020202020204" pitchFamily="34" charset="0"/>
            </a:endParaRPr>
          </a:p>
        </p:txBody>
      </p:sp>
      <p:sp>
        <p:nvSpPr>
          <p:cNvPr id="27" name="TextBox 26">
            <a:extLst>
              <a:ext uri="{FF2B5EF4-FFF2-40B4-BE49-F238E27FC236}">
                <a16:creationId xmlns:a16="http://schemas.microsoft.com/office/drawing/2014/main" id="{41A820CA-2131-4E78-90DA-D5DFF6C42C00}"/>
              </a:ext>
            </a:extLst>
          </p:cNvPr>
          <p:cNvSpPr txBox="1"/>
          <p:nvPr/>
        </p:nvSpPr>
        <p:spPr>
          <a:xfrm>
            <a:off x="4414196" y="1568899"/>
            <a:ext cx="1463585" cy="307777"/>
          </a:xfrm>
          <a:prstGeom prst="rect">
            <a:avLst/>
          </a:prstGeom>
          <a:noFill/>
        </p:spPr>
        <p:txBody>
          <a:bodyPr wrap="square" rtlCol="0">
            <a:spAutoFit/>
          </a:bodyPr>
          <a:lstStyle/>
          <a:p>
            <a:r>
              <a:rPr lang="en-GB" sz="1400" dirty="0">
                <a:solidFill>
                  <a:schemeClr val="bg1"/>
                </a:solidFill>
                <a:latin typeface="Arial" panose="020B0604020202020204" pitchFamily="34" charset="0"/>
                <a:cs typeface="Arial" panose="020B0604020202020204" pitchFamily="34" charset="0"/>
              </a:rPr>
              <a:t>Materiality</a:t>
            </a:r>
          </a:p>
        </p:txBody>
      </p:sp>
      <p:sp>
        <p:nvSpPr>
          <p:cNvPr id="28" name="Arrow: Chevron 27">
            <a:extLst>
              <a:ext uri="{FF2B5EF4-FFF2-40B4-BE49-F238E27FC236}">
                <a16:creationId xmlns:a16="http://schemas.microsoft.com/office/drawing/2014/main" id="{E183CB93-C443-4345-92A1-172F32732183}"/>
              </a:ext>
            </a:extLst>
          </p:cNvPr>
          <p:cNvSpPr/>
          <p:nvPr/>
        </p:nvSpPr>
        <p:spPr>
          <a:xfrm>
            <a:off x="6102750" y="1364118"/>
            <a:ext cx="2728011" cy="713762"/>
          </a:xfrm>
          <a:prstGeom prst="chevron">
            <a:avLst>
              <a:gd name="adj" fmla="val 24918"/>
            </a:avLst>
          </a:prstGeom>
          <a:solidFill>
            <a:schemeClr val="accent3"/>
          </a:solidFill>
          <a:ln w="25400" cap="flat" cmpd="sng" algn="ctr">
            <a:solidFill>
              <a:prstClr val="white">
                <a:hueOff val="0"/>
                <a:satOff val="0"/>
                <a:lumOff val="0"/>
                <a:alphaOff val="0"/>
              </a:prstClr>
            </a:solidFill>
            <a:prstDash val="solid"/>
          </a:ln>
          <a:effectLst/>
        </p:spPr>
        <p:txBody>
          <a:bodyPr spcFirstLastPara="0" vert="horz" wrap="square" lIns="127000" tIns="0" rIns="127000" bIns="0" numCol="1" spcCol="1270" anchor="ctr" anchorCtr="0">
            <a:noAutofit/>
          </a:bodyPr>
          <a:lstStyle/>
          <a:p>
            <a:endParaRPr lang="en-GB" sz="1400" dirty="0">
              <a:solidFill>
                <a:schemeClr val="bg1"/>
              </a:solidFill>
              <a:latin typeface="Arial" panose="020B0604020202020204" pitchFamily="34" charset="0"/>
              <a:cs typeface="Arial" panose="020B0604020202020204" pitchFamily="34" charset="0"/>
            </a:endParaRPr>
          </a:p>
        </p:txBody>
      </p:sp>
      <p:sp>
        <p:nvSpPr>
          <p:cNvPr id="30" name="TextBox 29">
            <a:extLst>
              <a:ext uri="{FF2B5EF4-FFF2-40B4-BE49-F238E27FC236}">
                <a16:creationId xmlns:a16="http://schemas.microsoft.com/office/drawing/2014/main" id="{AA3B481A-45AB-4E35-99B5-02DFBA6B20C8}"/>
              </a:ext>
            </a:extLst>
          </p:cNvPr>
          <p:cNvSpPr txBox="1"/>
          <p:nvPr/>
        </p:nvSpPr>
        <p:spPr>
          <a:xfrm>
            <a:off x="7148957" y="1563858"/>
            <a:ext cx="1463585" cy="307777"/>
          </a:xfrm>
          <a:prstGeom prst="rect">
            <a:avLst/>
          </a:prstGeom>
          <a:noFill/>
        </p:spPr>
        <p:txBody>
          <a:bodyPr wrap="square" rtlCol="0">
            <a:spAutoFit/>
          </a:bodyPr>
          <a:lstStyle/>
          <a:p>
            <a:r>
              <a:rPr lang="en-GB" sz="1400" dirty="0">
                <a:solidFill>
                  <a:schemeClr val="bg1"/>
                </a:solidFill>
                <a:latin typeface="Arial" panose="020B0604020202020204" pitchFamily="34" charset="0"/>
                <a:cs typeface="Arial" panose="020B0604020202020204" pitchFamily="34" charset="0"/>
              </a:rPr>
              <a:t>Criteria</a:t>
            </a:r>
          </a:p>
        </p:txBody>
      </p:sp>
      <p:sp>
        <p:nvSpPr>
          <p:cNvPr id="31" name="Arrow: Chevron 30">
            <a:extLst>
              <a:ext uri="{FF2B5EF4-FFF2-40B4-BE49-F238E27FC236}">
                <a16:creationId xmlns:a16="http://schemas.microsoft.com/office/drawing/2014/main" id="{2F3D0BD4-B249-428C-A267-6FAF08D3C314}"/>
              </a:ext>
            </a:extLst>
          </p:cNvPr>
          <p:cNvSpPr/>
          <p:nvPr/>
        </p:nvSpPr>
        <p:spPr>
          <a:xfrm>
            <a:off x="8830761" y="1353733"/>
            <a:ext cx="2728011" cy="713762"/>
          </a:xfrm>
          <a:prstGeom prst="chevron">
            <a:avLst>
              <a:gd name="adj" fmla="val 24918"/>
            </a:avLst>
          </a:prstGeom>
          <a:solidFill>
            <a:schemeClr val="accent3">
              <a:lumMod val="20000"/>
              <a:lumOff val="80000"/>
            </a:schemeClr>
          </a:solidFill>
          <a:ln w="25400" cap="flat" cmpd="sng" algn="ctr">
            <a:solidFill>
              <a:prstClr val="white">
                <a:hueOff val="0"/>
                <a:satOff val="0"/>
                <a:lumOff val="0"/>
                <a:alphaOff val="0"/>
              </a:prstClr>
            </a:solidFill>
            <a:prstDash val="solid"/>
          </a:ln>
          <a:effectLst/>
        </p:spPr>
        <p:txBody>
          <a:bodyPr spcFirstLastPara="0" vert="horz" wrap="square" lIns="127000" tIns="0" rIns="127000" bIns="0" numCol="1" spcCol="1270" anchor="ctr" anchorCtr="0">
            <a:noAutofit/>
          </a:bodyPr>
          <a:lstStyle/>
          <a:p>
            <a:endParaRPr lang="en-GB" sz="1400" dirty="0">
              <a:solidFill>
                <a:schemeClr val="bg1"/>
              </a:solidFill>
              <a:latin typeface="Arial" panose="020B0604020202020204" pitchFamily="34" charset="0"/>
              <a:cs typeface="Arial" panose="020B0604020202020204" pitchFamily="34" charset="0"/>
            </a:endParaRPr>
          </a:p>
        </p:txBody>
      </p:sp>
      <p:pic>
        <p:nvPicPr>
          <p:cNvPr id="32" name="Graphic 31" descr="Tools">
            <a:extLst>
              <a:ext uri="{FF2B5EF4-FFF2-40B4-BE49-F238E27FC236}">
                <a16:creationId xmlns:a16="http://schemas.microsoft.com/office/drawing/2014/main" id="{971AB0AB-C8DA-458A-897C-CBC13827F3F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072527" y="1423895"/>
            <a:ext cx="605762" cy="605762"/>
          </a:xfrm>
          <a:prstGeom prst="rect">
            <a:avLst/>
          </a:prstGeom>
        </p:spPr>
      </p:pic>
      <p:sp>
        <p:nvSpPr>
          <p:cNvPr id="33" name="TextBox 32">
            <a:extLst>
              <a:ext uri="{FF2B5EF4-FFF2-40B4-BE49-F238E27FC236}">
                <a16:creationId xmlns:a16="http://schemas.microsoft.com/office/drawing/2014/main" id="{564C376C-65EB-4FE8-998D-746722F1295C}"/>
              </a:ext>
            </a:extLst>
          </p:cNvPr>
          <p:cNvSpPr txBox="1"/>
          <p:nvPr/>
        </p:nvSpPr>
        <p:spPr>
          <a:xfrm>
            <a:off x="9876968" y="1553530"/>
            <a:ext cx="1463585" cy="307777"/>
          </a:xfrm>
          <a:prstGeom prst="rect">
            <a:avLst/>
          </a:prstGeom>
          <a:noFill/>
        </p:spPr>
        <p:txBody>
          <a:bodyPr wrap="square" rtlCol="0">
            <a:spAutoFit/>
          </a:bodyPr>
          <a:lstStyle/>
          <a:p>
            <a:r>
              <a:rPr lang="en-GB" sz="1400" dirty="0">
                <a:solidFill>
                  <a:schemeClr val="bg1"/>
                </a:solidFill>
                <a:latin typeface="Arial" panose="020B0604020202020204" pitchFamily="34" charset="0"/>
                <a:cs typeface="Arial" panose="020B0604020202020204" pitchFamily="34" charset="0"/>
              </a:rPr>
              <a:t>Assertions</a:t>
            </a:r>
          </a:p>
        </p:txBody>
      </p:sp>
      <p:pic>
        <p:nvPicPr>
          <p:cNvPr id="22" name="Graphic 21" descr="List">
            <a:extLst>
              <a:ext uri="{FF2B5EF4-FFF2-40B4-BE49-F238E27FC236}">
                <a16:creationId xmlns:a16="http://schemas.microsoft.com/office/drawing/2014/main" id="{8136C240-20D9-4378-8A43-AD4B8EB45B5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337766" y="1403177"/>
            <a:ext cx="645189" cy="645189"/>
          </a:xfrm>
          <a:prstGeom prst="rect">
            <a:avLst/>
          </a:prstGeom>
        </p:spPr>
      </p:pic>
      <p:pic>
        <p:nvPicPr>
          <p:cNvPr id="20" name="Graphic 19" descr="Magnifying glass">
            <a:extLst>
              <a:ext uri="{FF2B5EF4-FFF2-40B4-BE49-F238E27FC236}">
                <a16:creationId xmlns:a16="http://schemas.microsoft.com/office/drawing/2014/main" id="{2D2A8B34-3AA3-4520-A22E-6B246776DE43}"/>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612130" y="1403177"/>
            <a:ext cx="626480" cy="626480"/>
          </a:xfrm>
          <a:prstGeom prst="rect">
            <a:avLst/>
          </a:prstGeom>
        </p:spPr>
      </p:pic>
      <p:sp>
        <p:nvSpPr>
          <p:cNvPr id="17" name="Oval 16">
            <a:extLst>
              <a:ext uri="{FF2B5EF4-FFF2-40B4-BE49-F238E27FC236}">
                <a16:creationId xmlns:a16="http://schemas.microsoft.com/office/drawing/2014/main" id="{4A4624A0-0F50-43CC-8EBE-3469D4737575}"/>
              </a:ext>
            </a:extLst>
          </p:cNvPr>
          <p:cNvSpPr/>
          <p:nvPr/>
        </p:nvSpPr>
        <p:spPr>
          <a:xfrm>
            <a:off x="633228" y="2904941"/>
            <a:ext cx="1794650" cy="1794650"/>
          </a:xfrm>
          <a:prstGeom prst="ellipse">
            <a:avLst/>
          </a:prstGeom>
          <a:solidFill>
            <a:schemeClr val="accent3"/>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b="1" dirty="0">
                <a:latin typeface="Arial" panose="020B0604020202020204" pitchFamily="34" charset="0"/>
                <a:cs typeface="Arial" panose="020B0604020202020204" pitchFamily="34" charset="0"/>
              </a:rPr>
              <a:t>relevant</a:t>
            </a:r>
            <a:endParaRPr lang="en-GB" sz="1400" b="1" dirty="0">
              <a:latin typeface="Arial" panose="020B0604020202020204" pitchFamily="34" charset="0"/>
              <a:cs typeface="Arial" panose="020B0604020202020204" pitchFamily="34" charset="0"/>
            </a:endParaRPr>
          </a:p>
        </p:txBody>
      </p:sp>
      <p:sp>
        <p:nvSpPr>
          <p:cNvPr id="18" name="Oval 17">
            <a:extLst>
              <a:ext uri="{FF2B5EF4-FFF2-40B4-BE49-F238E27FC236}">
                <a16:creationId xmlns:a16="http://schemas.microsoft.com/office/drawing/2014/main" id="{75EF6F62-2B33-475E-AC3B-9988E93059BB}"/>
              </a:ext>
            </a:extLst>
          </p:cNvPr>
          <p:cNvSpPr/>
          <p:nvPr/>
        </p:nvSpPr>
        <p:spPr>
          <a:xfrm>
            <a:off x="2892188" y="2904940"/>
            <a:ext cx="1794651" cy="1794651"/>
          </a:xfrm>
          <a:prstGeom prst="ellipse">
            <a:avLst/>
          </a:prstGeom>
          <a:solidFill>
            <a:schemeClr val="accent3"/>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b="1" dirty="0">
                <a:latin typeface="Arial" panose="020B0604020202020204" pitchFamily="34" charset="0"/>
                <a:cs typeface="Arial" panose="020B0604020202020204" pitchFamily="34" charset="0"/>
              </a:rPr>
              <a:t>complete</a:t>
            </a:r>
            <a:endParaRPr lang="en-GB" sz="1400" b="1" dirty="0">
              <a:latin typeface="Arial" panose="020B0604020202020204" pitchFamily="34" charset="0"/>
              <a:cs typeface="Arial" panose="020B0604020202020204" pitchFamily="34" charset="0"/>
            </a:endParaRPr>
          </a:p>
        </p:txBody>
      </p:sp>
      <p:sp>
        <p:nvSpPr>
          <p:cNvPr id="19" name="Oval 18">
            <a:extLst>
              <a:ext uri="{FF2B5EF4-FFF2-40B4-BE49-F238E27FC236}">
                <a16:creationId xmlns:a16="http://schemas.microsoft.com/office/drawing/2014/main" id="{E32A5731-AFCE-4AA5-868A-A2554CC99916}"/>
              </a:ext>
            </a:extLst>
          </p:cNvPr>
          <p:cNvSpPr/>
          <p:nvPr/>
        </p:nvSpPr>
        <p:spPr>
          <a:xfrm>
            <a:off x="5151149" y="2904939"/>
            <a:ext cx="1794652" cy="1794652"/>
          </a:xfrm>
          <a:prstGeom prst="ellipse">
            <a:avLst/>
          </a:prstGeom>
          <a:solidFill>
            <a:schemeClr val="accent3"/>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b="1" dirty="0">
                <a:latin typeface="Arial" panose="020B0604020202020204" pitchFamily="34" charset="0"/>
                <a:cs typeface="Arial" panose="020B0604020202020204" pitchFamily="34" charset="0"/>
              </a:rPr>
              <a:t>reliable</a:t>
            </a:r>
            <a:endParaRPr lang="en-GB" sz="1400" b="1" dirty="0">
              <a:latin typeface="Arial" panose="020B0604020202020204" pitchFamily="34" charset="0"/>
              <a:cs typeface="Arial" panose="020B0604020202020204" pitchFamily="34" charset="0"/>
            </a:endParaRPr>
          </a:p>
        </p:txBody>
      </p:sp>
      <p:sp>
        <p:nvSpPr>
          <p:cNvPr id="25" name="Oval 24">
            <a:extLst>
              <a:ext uri="{FF2B5EF4-FFF2-40B4-BE49-F238E27FC236}">
                <a16:creationId xmlns:a16="http://schemas.microsoft.com/office/drawing/2014/main" id="{A666CE4F-9B03-4325-B851-A850B7335F83}"/>
              </a:ext>
            </a:extLst>
          </p:cNvPr>
          <p:cNvSpPr/>
          <p:nvPr/>
        </p:nvSpPr>
        <p:spPr>
          <a:xfrm>
            <a:off x="7410111" y="2904939"/>
            <a:ext cx="1794652" cy="1794652"/>
          </a:xfrm>
          <a:prstGeom prst="ellipse">
            <a:avLst/>
          </a:prstGeom>
          <a:solidFill>
            <a:schemeClr val="accent3"/>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b="1" dirty="0">
                <a:latin typeface="Arial" panose="020B0604020202020204" pitchFamily="34" charset="0"/>
                <a:cs typeface="Arial" panose="020B0604020202020204" pitchFamily="34" charset="0"/>
              </a:rPr>
              <a:t>neutral</a:t>
            </a:r>
            <a:endParaRPr lang="en-GB" sz="1400" b="1" dirty="0">
              <a:latin typeface="Arial" panose="020B0604020202020204" pitchFamily="34" charset="0"/>
              <a:cs typeface="Arial" panose="020B0604020202020204" pitchFamily="34" charset="0"/>
            </a:endParaRPr>
          </a:p>
        </p:txBody>
      </p:sp>
      <p:sp>
        <p:nvSpPr>
          <p:cNvPr id="26" name="Oval 25">
            <a:extLst>
              <a:ext uri="{FF2B5EF4-FFF2-40B4-BE49-F238E27FC236}">
                <a16:creationId xmlns:a16="http://schemas.microsoft.com/office/drawing/2014/main" id="{3BBEB880-6E89-45D5-BC59-FB9A7E7DE937}"/>
              </a:ext>
            </a:extLst>
          </p:cNvPr>
          <p:cNvSpPr/>
          <p:nvPr/>
        </p:nvSpPr>
        <p:spPr>
          <a:xfrm>
            <a:off x="9669074" y="2904939"/>
            <a:ext cx="1794652" cy="1794652"/>
          </a:xfrm>
          <a:prstGeom prst="ellipse">
            <a:avLst/>
          </a:prstGeom>
          <a:solidFill>
            <a:schemeClr val="accent3"/>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b="1" dirty="0">
                <a:latin typeface="Arial" panose="020B0604020202020204" pitchFamily="34" charset="0"/>
                <a:cs typeface="Arial" panose="020B0604020202020204" pitchFamily="34" charset="0"/>
              </a:rPr>
              <a:t>understandable</a:t>
            </a:r>
            <a:endParaRPr lang="en-GB" sz="1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002695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CB293-FD8E-4F6C-92E5-62197E3FBA35}"/>
              </a:ext>
            </a:extLst>
          </p:cNvPr>
          <p:cNvSpPr>
            <a:spLocks noGrp="1"/>
          </p:cNvSpPr>
          <p:nvPr>
            <p:ph type="title"/>
          </p:nvPr>
        </p:nvSpPr>
        <p:spPr/>
        <p:txBody>
          <a:bodyPr/>
          <a:lstStyle/>
          <a:p>
            <a:r>
              <a:rPr lang="en-GB" dirty="0"/>
              <a:t>Evaluating the Suitability of </a:t>
            </a:r>
            <a:r>
              <a:rPr lang="en-GB" b="1" dirty="0"/>
              <a:t>Criteria</a:t>
            </a:r>
            <a:r>
              <a:rPr lang="en-GB" dirty="0"/>
              <a:t> in a Consistent Manner</a:t>
            </a:r>
          </a:p>
        </p:txBody>
      </p:sp>
      <p:sp>
        <p:nvSpPr>
          <p:cNvPr id="4" name="Subtitle 3">
            <a:extLst>
              <a:ext uri="{FF2B5EF4-FFF2-40B4-BE49-F238E27FC236}">
                <a16:creationId xmlns:a16="http://schemas.microsoft.com/office/drawing/2014/main" id="{B523B462-EC00-44AE-A4FD-59C48B8568FD}"/>
              </a:ext>
            </a:extLst>
          </p:cNvPr>
          <p:cNvSpPr>
            <a:spLocks noGrp="1"/>
          </p:cNvSpPr>
          <p:nvPr>
            <p:ph type="subTitle" idx="10"/>
          </p:nvPr>
        </p:nvSpPr>
        <p:spPr/>
        <p:txBody>
          <a:bodyPr/>
          <a:lstStyle/>
          <a:p>
            <a:endParaRPr lang="en-GB"/>
          </a:p>
        </p:txBody>
      </p:sp>
      <p:sp>
        <p:nvSpPr>
          <p:cNvPr id="5" name="Slide Number Placeholder 4">
            <a:extLst>
              <a:ext uri="{FF2B5EF4-FFF2-40B4-BE49-F238E27FC236}">
                <a16:creationId xmlns:a16="http://schemas.microsoft.com/office/drawing/2014/main" id="{5ED3D9D4-8FB3-463B-9D4F-12513A680A88}"/>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12</a:t>
            </a:fld>
            <a:endParaRPr lang="en-US" dirty="0">
              <a:latin typeface="Arial" panose="020B0604020202020204" pitchFamily="34" charset="0"/>
              <a:cs typeface="MS PGothic" charset="0"/>
            </a:endParaRPr>
          </a:p>
        </p:txBody>
      </p:sp>
      <p:sp>
        <p:nvSpPr>
          <p:cNvPr id="6" name="Arrow: Chevron 5">
            <a:extLst>
              <a:ext uri="{FF2B5EF4-FFF2-40B4-BE49-F238E27FC236}">
                <a16:creationId xmlns:a16="http://schemas.microsoft.com/office/drawing/2014/main" id="{AA019EF3-2054-4B1F-A278-94FEDEC44710}"/>
              </a:ext>
            </a:extLst>
          </p:cNvPr>
          <p:cNvSpPr/>
          <p:nvPr/>
        </p:nvSpPr>
        <p:spPr>
          <a:xfrm>
            <a:off x="633228" y="1364118"/>
            <a:ext cx="2728011" cy="713762"/>
          </a:xfrm>
          <a:prstGeom prst="chevron">
            <a:avLst>
              <a:gd name="adj" fmla="val 24918"/>
            </a:avLst>
          </a:prstGeom>
          <a:solidFill>
            <a:schemeClr val="accent3">
              <a:lumMod val="20000"/>
              <a:lumOff val="80000"/>
            </a:schemeClr>
          </a:solidFill>
          <a:ln w="25400" cap="flat" cmpd="sng" algn="ctr">
            <a:solidFill>
              <a:prstClr val="white">
                <a:hueOff val="0"/>
                <a:satOff val="0"/>
                <a:lumOff val="0"/>
                <a:alphaOff val="0"/>
              </a:prstClr>
            </a:solidFill>
            <a:prstDash val="solid"/>
          </a:ln>
          <a:effectLst/>
        </p:spPr>
        <p:txBody>
          <a:bodyPr spcFirstLastPara="0" vert="horz" wrap="square" lIns="127000" tIns="0" rIns="127000" bIns="0" numCol="1" spcCol="1270" anchor="ctr" anchorCtr="0">
            <a:noAutofit/>
          </a:bodyPr>
          <a:lstStyle/>
          <a:p>
            <a:endParaRPr lang="en-GB" sz="1400" dirty="0">
              <a:solidFill>
                <a:schemeClr val="bg1"/>
              </a:solidFill>
              <a:latin typeface="Arial" panose="020B0604020202020204" pitchFamily="34" charset="0"/>
              <a:cs typeface="Arial" panose="020B0604020202020204" pitchFamily="34" charset="0"/>
            </a:endParaRPr>
          </a:p>
        </p:txBody>
      </p:sp>
      <p:pic>
        <p:nvPicPr>
          <p:cNvPr id="21" name="Graphic 20" descr="Head with Gears">
            <a:extLst>
              <a:ext uri="{FF2B5EF4-FFF2-40B4-BE49-F238E27FC236}">
                <a16:creationId xmlns:a16="http://schemas.microsoft.com/office/drawing/2014/main" id="{08D7732C-029E-490E-859A-3A7D27AB38D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74994" y="1403177"/>
            <a:ext cx="642425" cy="642425"/>
          </a:xfrm>
          <a:prstGeom prst="rect">
            <a:avLst/>
          </a:prstGeom>
        </p:spPr>
      </p:pic>
      <p:sp>
        <p:nvSpPr>
          <p:cNvPr id="23" name="TextBox 22">
            <a:extLst>
              <a:ext uri="{FF2B5EF4-FFF2-40B4-BE49-F238E27FC236}">
                <a16:creationId xmlns:a16="http://schemas.microsoft.com/office/drawing/2014/main" id="{C442F61A-5D1F-428A-94A9-1EAD05F2963F}"/>
              </a:ext>
            </a:extLst>
          </p:cNvPr>
          <p:cNvSpPr txBox="1"/>
          <p:nvPr/>
        </p:nvSpPr>
        <p:spPr>
          <a:xfrm>
            <a:off x="1679435" y="1459389"/>
            <a:ext cx="1463585" cy="523220"/>
          </a:xfrm>
          <a:prstGeom prst="rect">
            <a:avLst/>
          </a:prstGeom>
          <a:noFill/>
        </p:spPr>
        <p:txBody>
          <a:bodyPr wrap="square" rtlCol="0">
            <a:spAutoFit/>
          </a:bodyPr>
          <a:lstStyle/>
          <a:p>
            <a:r>
              <a:rPr lang="en-GB" sz="1400" dirty="0">
                <a:solidFill>
                  <a:schemeClr val="bg1"/>
                </a:solidFill>
                <a:latin typeface="Arial" panose="020B0604020202020204" pitchFamily="34" charset="0"/>
                <a:cs typeface="Arial" panose="020B0604020202020204" pitchFamily="34" charset="0"/>
              </a:rPr>
              <a:t>Generalized construct</a:t>
            </a:r>
          </a:p>
        </p:txBody>
      </p:sp>
      <p:sp>
        <p:nvSpPr>
          <p:cNvPr id="24" name="Arrow: Chevron 23">
            <a:extLst>
              <a:ext uri="{FF2B5EF4-FFF2-40B4-BE49-F238E27FC236}">
                <a16:creationId xmlns:a16="http://schemas.microsoft.com/office/drawing/2014/main" id="{5DA552CC-1BF5-404D-A1EF-996825B0C607}"/>
              </a:ext>
            </a:extLst>
          </p:cNvPr>
          <p:cNvSpPr/>
          <p:nvPr/>
        </p:nvSpPr>
        <p:spPr>
          <a:xfrm>
            <a:off x="3367989" y="1364118"/>
            <a:ext cx="2728011" cy="713762"/>
          </a:xfrm>
          <a:prstGeom prst="chevron">
            <a:avLst>
              <a:gd name="adj" fmla="val 24918"/>
            </a:avLst>
          </a:prstGeom>
          <a:solidFill>
            <a:schemeClr val="accent3">
              <a:lumMod val="20000"/>
              <a:lumOff val="80000"/>
            </a:schemeClr>
          </a:solidFill>
          <a:ln w="25400" cap="flat" cmpd="sng" algn="ctr">
            <a:solidFill>
              <a:prstClr val="white">
                <a:hueOff val="0"/>
                <a:satOff val="0"/>
                <a:lumOff val="0"/>
                <a:alphaOff val="0"/>
              </a:prstClr>
            </a:solidFill>
            <a:prstDash val="solid"/>
          </a:ln>
          <a:effectLst/>
        </p:spPr>
        <p:txBody>
          <a:bodyPr spcFirstLastPara="0" vert="horz" wrap="square" lIns="127000" tIns="0" rIns="127000" bIns="0" numCol="1" spcCol="1270" anchor="ctr" anchorCtr="0">
            <a:noAutofit/>
          </a:bodyPr>
          <a:lstStyle/>
          <a:p>
            <a:endParaRPr lang="en-GB" sz="1400" dirty="0">
              <a:solidFill>
                <a:schemeClr val="bg1"/>
              </a:solidFill>
              <a:latin typeface="Arial" panose="020B0604020202020204" pitchFamily="34" charset="0"/>
              <a:cs typeface="Arial" panose="020B0604020202020204" pitchFamily="34" charset="0"/>
            </a:endParaRPr>
          </a:p>
        </p:txBody>
      </p:sp>
      <p:sp>
        <p:nvSpPr>
          <p:cNvPr id="27" name="TextBox 26">
            <a:extLst>
              <a:ext uri="{FF2B5EF4-FFF2-40B4-BE49-F238E27FC236}">
                <a16:creationId xmlns:a16="http://schemas.microsoft.com/office/drawing/2014/main" id="{41A820CA-2131-4E78-90DA-D5DFF6C42C00}"/>
              </a:ext>
            </a:extLst>
          </p:cNvPr>
          <p:cNvSpPr txBox="1"/>
          <p:nvPr/>
        </p:nvSpPr>
        <p:spPr>
          <a:xfrm>
            <a:off x="4414196" y="1568899"/>
            <a:ext cx="1463585" cy="307777"/>
          </a:xfrm>
          <a:prstGeom prst="rect">
            <a:avLst/>
          </a:prstGeom>
          <a:noFill/>
        </p:spPr>
        <p:txBody>
          <a:bodyPr wrap="square" rtlCol="0">
            <a:spAutoFit/>
          </a:bodyPr>
          <a:lstStyle/>
          <a:p>
            <a:r>
              <a:rPr lang="en-GB" sz="1400" dirty="0">
                <a:solidFill>
                  <a:schemeClr val="bg1"/>
                </a:solidFill>
                <a:latin typeface="Arial" panose="020B0604020202020204" pitchFamily="34" charset="0"/>
                <a:cs typeface="Arial" panose="020B0604020202020204" pitchFamily="34" charset="0"/>
              </a:rPr>
              <a:t>Materiality</a:t>
            </a:r>
          </a:p>
        </p:txBody>
      </p:sp>
      <p:sp>
        <p:nvSpPr>
          <p:cNvPr id="28" name="Arrow: Chevron 27">
            <a:extLst>
              <a:ext uri="{FF2B5EF4-FFF2-40B4-BE49-F238E27FC236}">
                <a16:creationId xmlns:a16="http://schemas.microsoft.com/office/drawing/2014/main" id="{E183CB93-C443-4345-92A1-172F32732183}"/>
              </a:ext>
            </a:extLst>
          </p:cNvPr>
          <p:cNvSpPr/>
          <p:nvPr/>
        </p:nvSpPr>
        <p:spPr>
          <a:xfrm>
            <a:off x="6102750" y="1364118"/>
            <a:ext cx="2728011" cy="713762"/>
          </a:xfrm>
          <a:prstGeom prst="chevron">
            <a:avLst>
              <a:gd name="adj" fmla="val 24918"/>
            </a:avLst>
          </a:prstGeom>
          <a:solidFill>
            <a:schemeClr val="accent3"/>
          </a:solidFill>
          <a:ln w="25400" cap="flat" cmpd="sng" algn="ctr">
            <a:solidFill>
              <a:prstClr val="white">
                <a:hueOff val="0"/>
                <a:satOff val="0"/>
                <a:lumOff val="0"/>
                <a:alphaOff val="0"/>
              </a:prstClr>
            </a:solidFill>
            <a:prstDash val="solid"/>
          </a:ln>
          <a:effectLst/>
        </p:spPr>
        <p:txBody>
          <a:bodyPr spcFirstLastPara="0" vert="horz" wrap="square" lIns="127000" tIns="0" rIns="127000" bIns="0" numCol="1" spcCol="1270" anchor="ctr" anchorCtr="0">
            <a:noAutofit/>
          </a:bodyPr>
          <a:lstStyle/>
          <a:p>
            <a:endParaRPr lang="en-GB" sz="1400" dirty="0">
              <a:solidFill>
                <a:schemeClr val="bg1"/>
              </a:solidFill>
              <a:latin typeface="Arial" panose="020B0604020202020204" pitchFamily="34" charset="0"/>
              <a:cs typeface="Arial" panose="020B0604020202020204" pitchFamily="34" charset="0"/>
            </a:endParaRPr>
          </a:p>
        </p:txBody>
      </p:sp>
      <p:sp>
        <p:nvSpPr>
          <p:cNvPr id="30" name="TextBox 29">
            <a:extLst>
              <a:ext uri="{FF2B5EF4-FFF2-40B4-BE49-F238E27FC236}">
                <a16:creationId xmlns:a16="http://schemas.microsoft.com/office/drawing/2014/main" id="{AA3B481A-45AB-4E35-99B5-02DFBA6B20C8}"/>
              </a:ext>
            </a:extLst>
          </p:cNvPr>
          <p:cNvSpPr txBox="1"/>
          <p:nvPr/>
        </p:nvSpPr>
        <p:spPr>
          <a:xfrm>
            <a:off x="7148957" y="1563858"/>
            <a:ext cx="1463585" cy="307777"/>
          </a:xfrm>
          <a:prstGeom prst="rect">
            <a:avLst/>
          </a:prstGeom>
          <a:noFill/>
        </p:spPr>
        <p:txBody>
          <a:bodyPr wrap="square" rtlCol="0">
            <a:spAutoFit/>
          </a:bodyPr>
          <a:lstStyle/>
          <a:p>
            <a:r>
              <a:rPr lang="en-GB" sz="1400" dirty="0">
                <a:solidFill>
                  <a:schemeClr val="bg1"/>
                </a:solidFill>
                <a:latin typeface="Arial" panose="020B0604020202020204" pitchFamily="34" charset="0"/>
                <a:cs typeface="Arial" panose="020B0604020202020204" pitchFamily="34" charset="0"/>
              </a:rPr>
              <a:t>Criteria</a:t>
            </a:r>
          </a:p>
        </p:txBody>
      </p:sp>
      <p:sp>
        <p:nvSpPr>
          <p:cNvPr id="31" name="Arrow: Chevron 30">
            <a:extLst>
              <a:ext uri="{FF2B5EF4-FFF2-40B4-BE49-F238E27FC236}">
                <a16:creationId xmlns:a16="http://schemas.microsoft.com/office/drawing/2014/main" id="{2F3D0BD4-B249-428C-A267-6FAF08D3C314}"/>
              </a:ext>
            </a:extLst>
          </p:cNvPr>
          <p:cNvSpPr/>
          <p:nvPr/>
        </p:nvSpPr>
        <p:spPr>
          <a:xfrm>
            <a:off x="8830761" y="1353733"/>
            <a:ext cx="2728011" cy="713762"/>
          </a:xfrm>
          <a:prstGeom prst="chevron">
            <a:avLst>
              <a:gd name="adj" fmla="val 24918"/>
            </a:avLst>
          </a:prstGeom>
          <a:solidFill>
            <a:schemeClr val="accent3">
              <a:lumMod val="20000"/>
              <a:lumOff val="80000"/>
            </a:schemeClr>
          </a:solidFill>
          <a:ln w="25400" cap="flat" cmpd="sng" algn="ctr">
            <a:solidFill>
              <a:prstClr val="white">
                <a:hueOff val="0"/>
                <a:satOff val="0"/>
                <a:lumOff val="0"/>
                <a:alphaOff val="0"/>
              </a:prstClr>
            </a:solidFill>
            <a:prstDash val="solid"/>
          </a:ln>
          <a:effectLst/>
        </p:spPr>
        <p:txBody>
          <a:bodyPr spcFirstLastPara="0" vert="horz" wrap="square" lIns="127000" tIns="0" rIns="127000" bIns="0" numCol="1" spcCol="1270" anchor="ctr" anchorCtr="0">
            <a:noAutofit/>
          </a:bodyPr>
          <a:lstStyle/>
          <a:p>
            <a:endParaRPr lang="en-GB" sz="1400" dirty="0">
              <a:solidFill>
                <a:schemeClr val="bg1"/>
              </a:solidFill>
              <a:latin typeface="Arial" panose="020B0604020202020204" pitchFamily="34" charset="0"/>
              <a:cs typeface="Arial" panose="020B0604020202020204" pitchFamily="34" charset="0"/>
            </a:endParaRPr>
          </a:p>
        </p:txBody>
      </p:sp>
      <p:pic>
        <p:nvPicPr>
          <p:cNvPr id="32" name="Graphic 31" descr="Tools">
            <a:extLst>
              <a:ext uri="{FF2B5EF4-FFF2-40B4-BE49-F238E27FC236}">
                <a16:creationId xmlns:a16="http://schemas.microsoft.com/office/drawing/2014/main" id="{971AB0AB-C8DA-458A-897C-CBC13827F3F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072527" y="1423895"/>
            <a:ext cx="605762" cy="605762"/>
          </a:xfrm>
          <a:prstGeom prst="rect">
            <a:avLst/>
          </a:prstGeom>
        </p:spPr>
      </p:pic>
      <p:sp>
        <p:nvSpPr>
          <p:cNvPr id="33" name="TextBox 32">
            <a:extLst>
              <a:ext uri="{FF2B5EF4-FFF2-40B4-BE49-F238E27FC236}">
                <a16:creationId xmlns:a16="http://schemas.microsoft.com/office/drawing/2014/main" id="{564C376C-65EB-4FE8-998D-746722F1295C}"/>
              </a:ext>
            </a:extLst>
          </p:cNvPr>
          <p:cNvSpPr txBox="1"/>
          <p:nvPr/>
        </p:nvSpPr>
        <p:spPr>
          <a:xfrm>
            <a:off x="9876968" y="1553530"/>
            <a:ext cx="1463585" cy="307777"/>
          </a:xfrm>
          <a:prstGeom prst="rect">
            <a:avLst/>
          </a:prstGeom>
          <a:noFill/>
        </p:spPr>
        <p:txBody>
          <a:bodyPr wrap="square" rtlCol="0">
            <a:spAutoFit/>
          </a:bodyPr>
          <a:lstStyle/>
          <a:p>
            <a:r>
              <a:rPr lang="en-GB" sz="1400" dirty="0">
                <a:solidFill>
                  <a:schemeClr val="bg1"/>
                </a:solidFill>
                <a:latin typeface="Arial" panose="020B0604020202020204" pitchFamily="34" charset="0"/>
                <a:cs typeface="Arial" panose="020B0604020202020204" pitchFamily="34" charset="0"/>
              </a:rPr>
              <a:t>Assertions</a:t>
            </a:r>
          </a:p>
        </p:txBody>
      </p:sp>
      <p:pic>
        <p:nvPicPr>
          <p:cNvPr id="22" name="Graphic 21" descr="List">
            <a:extLst>
              <a:ext uri="{FF2B5EF4-FFF2-40B4-BE49-F238E27FC236}">
                <a16:creationId xmlns:a16="http://schemas.microsoft.com/office/drawing/2014/main" id="{8136C240-20D9-4378-8A43-AD4B8EB45B5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337766" y="1403177"/>
            <a:ext cx="645189" cy="645189"/>
          </a:xfrm>
          <a:prstGeom prst="rect">
            <a:avLst/>
          </a:prstGeom>
        </p:spPr>
      </p:pic>
      <p:pic>
        <p:nvPicPr>
          <p:cNvPr id="20" name="Graphic 19" descr="Magnifying glass">
            <a:extLst>
              <a:ext uri="{FF2B5EF4-FFF2-40B4-BE49-F238E27FC236}">
                <a16:creationId xmlns:a16="http://schemas.microsoft.com/office/drawing/2014/main" id="{2D2A8B34-3AA3-4520-A22E-6B246776DE43}"/>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612130" y="1403177"/>
            <a:ext cx="626480" cy="626480"/>
          </a:xfrm>
          <a:prstGeom prst="rect">
            <a:avLst/>
          </a:prstGeom>
        </p:spPr>
      </p:pic>
      <p:sp>
        <p:nvSpPr>
          <p:cNvPr id="17" name="Content Placeholder 2">
            <a:extLst>
              <a:ext uri="{FF2B5EF4-FFF2-40B4-BE49-F238E27FC236}">
                <a16:creationId xmlns:a16="http://schemas.microsoft.com/office/drawing/2014/main" id="{EE6BEB4A-6CF9-45A5-9551-018CE5439473}"/>
              </a:ext>
            </a:extLst>
          </p:cNvPr>
          <p:cNvSpPr txBox="1">
            <a:spLocks/>
          </p:cNvSpPr>
          <p:nvPr/>
        </p:nvSpPr>
        <p:spPr>
          <a:xfrm>
            <a:off x="2174402" y="2703863"/>
            <a:ext cx="8912698" cy="948417"/>
          </a:xfrm>
          <a:prstGeom prst="rect">
            <a:avLst/>
          </a:prstGeom>
        </p:spPr>
        <p:txBody>
          <a:bodyPr vert="horz" lIns="0" tIns="0" rIns="0" bIns="0" rtlCol="0">
            <a:noAutofit/>
          </a:bodyPr>
          <a:lstStyle>
            <a:lvl1pPr marL="173038" indent="-173038" algn="l" defTabSz="457200" rtl="0" eaLnBrk="1" latinLnBrk="0" hangingPunct="1">
              <a:spcBef>
                <a:spcPts val="1200"/>
              </a:spcBef>
              <a:buFont typeface="Arial"/>
              <a:buChar char="•"/>
              <a:defRPr sz="2000" kern="1200">
                <a:solidFill>
                  <a:schemeClr val="tx1">
                    <a:lumMod val="65000"/>
                    <a:lumOff val="35000"/>
                  </a:schemeClr>
                </a:solidFill>
                <a:latin typeface="Arial" panose="020B0604020202020204" pitchFamily="34" charset="0"/>
                <a:ea typeface="+mn-ea"/>
                <a:cs typeface="Arial" panose="020B0604020202020204" pitchFamily="34" charset="0"/>
              </a:defRPr>
            </a:lvl1pPr>
            <a:lvl2pPr marL="457200" indent="-228600" algn="l" defTabSz="457200" rtl="0" eaLnBrk="1" latinLnBrk="0" hangingPunct="1">
              <a:spcBef>
                <a:spcPts val="600"/>
              </a:spcBef>
              <a:spcAft>
                <a:spcPts val="400"/>
              </a:spcAft>
              <a:buFont typeface="Arial"/>
              <a:buChar char="–"/>
              <a:defRPr sz="1800" kern="1200">
                <a:solidFill>
                  <a:schemeClr val="tx1">
                    <a:lumMod val="65000"/>
                    <a:lumOff val="35000"/>
                  </a:schemeClr>
                </a:solidFill>
                <a:latin typeface="Arial" panose="020B0604020202020204" pitchFamily="34" charset="0"/>
                <a:ea typeface="+mn-ea"/>
                <a:cs typeface="Arial" panose="020B0604020202020204" pitchFamily="34" charset="0"/>
              </a:defRPr>
            </a:lvl2pPr>
            <a:lvl3pPr marL="630238" indent="-171450" algn="l" defTabSz="457200" rtl="0" eaLnBrk="1" latinLnBrk="0" hangingPunct="1">
              <a:spcBef>
                <a:spcPct val="20000"/>
              </a:spcBef>
              <a:buFont typeface="Arial"/>
              <a:buChar char="•"/>
              <a:defRPr sz="1600" kern="1200">
                <a:solidFill>
                  <a:schemeClr val="tx1">
                    <a:lumMod val="65000"/>
                    <a:lumOff val="35000"/>
                  </a:schemeClr>
                </a:solidFill>
                <a:latin typeface="Arial" panose="020B0604020202020204" pitchFamily="34" charset="0"/>
                <a:ea typeface="+mn-ea"/>
                <a:cs typeface="Arial" panose="020B0604020202020204" pitchFamily="34" charset="0"/>
              </a:defRPr>
            </a:lvl3pPr>
            <a:lvl4pPr marL="1600200" indent="-228600" algn="l" defTabSz="457200" rtl="0" eaLnBrk="1" latinLnBrk="0" hangingPunct="1">
              <a:spcBef>
                <a:spcPct val="20000"/>
              </a:spcBef>
              <a:buFont typeface="Arial"/>
              <a:buChar char="–"/>
              <a:defRPr sz="1400" kern="1200">
                <a:solidFill>
                  <a:schemeClr val="tx1"/>
                </a:solidFill>
                <a:latin typeface="Arial Narrow"/>
                <a:ea typeface="+mn-ea"/>
                <a:cs typeface="Arial Narrow"/>
              </a:defRPr>
            </a:lvl4pPr>
            <a:lvl5pPr marL="2057400" indent="-228600" algn="l" defTabSz="457200" rtl="0" eaLnBrk="1" latinLnBrk="0" hangingPunct="1">
              <a:spcBef>
                <a:spcPct val="20000"/>
              </a:spcBef>
              <a:buFont typeface="Arial"/>
              <a:buChar char="»"/>
              <a:defRPr sz="1400" kern="1200">
                <a:solidFill>
                  <a:schemeClr val="tx1"/>
                </a:solidFill>
                <a:latin typeface="Arial Narrow"/>
                <a:ea typeface="+mn-ea"/>
                <a:cs typeface="Arial Narrow"/>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GB" dirty="0">
                <a:solidFill>
                  <a:schemeClr val="bg1">
                    <a:lumMod val="50000"/>
                  </a:schemeClr>
                </a:solidFill>
              </a:rPr>
              <a:t>The IAASB is asked for its views on the section in the issues paper, in particular the usefulness of the factors presented in paragraph 77.</a:t>
            </a:r>
          </a:p>
        </p:txBody>
      </p:sp>
      <p:sp>
        <p:nvSpPr>
          <p:cNvPr id="18" name="Content Placeholder 2">
            <a:extLst>
              <a:ext uri="{FF2B5EF4-FFF2-40B4-BE49-F238E27FC236}">
                <a16:creationId xmlns:a16="http://schemas.microsoft.com/office/drawing/2014/main" id="{8805F701-DF80-4EB2-805A-770C212A96A1}"/>
              </a:ext>
            </a:extLst>
          </p:cNvPr>
          <p:cNvSpPr txBox="1">
            <a:spLocks/>
          </p:cNvSpPr>
          <p:nvPr/>
        </p:nvSpPr>
        <p:spPr>
          <a:xfrm>
            <a:off x="690148" y="2586850"/>
            <a:ext cx="1193587" cy="713762"/>
          </a:xfrm>
          <a:prstGeom prst="rect">
            <a:avLst/>
          </a:prstGeom>
        </p:spPr>
        <p:txBody>
          <a:bodyPr vert="horz" lIns="0" tIns="0" rIns="0" bIns="0" rtlCol="0">
            <a:noAutofit/>
          </a:bodyPr>
          <a:lstStyle>
            <a:lvl1pPr marL="173038" indent="-173038" algn="l" defTabSz="457200" rtl="0" eaLnBrk="1" latinLnBrk="0" hangingPunct="1">
              <a:spcBef>
                <a:spcPts val="1200"/>
              </a:spcBef>
              <a:buFont typeface="Arial"/>
              <a:buChar char="•"/>
              <a:defRPr sz="2000" kern="1200">
                <a:solidFill>
                  <a:schemeClr val="tx1">
                    <a:lumMod val="65000"/>
                    <a:lumOff val="35000"/>
                  </a:schemeClr>
                </a:solidFill>
                <a:latin typeface="Arial" panose="020B0604020202020204" pitchFamily="34" charset="0"/>
                <a:ea typeface="+mn-ea"/>
                <a:cs typeface="Arial" panose="020B0604020202020204" pitchFamily="34" charset="0"/>
              </a:defRPr>
            </a:lvl1pPr>
            <a:lvl2pPr marL="457200" indent="-228600" algn="l" defTabSz="457200" rtl="0" eaLnBrk="1" latinLnBrk="0" hangingPunct="1">
              <a:spcBef>
                <a:spcPts val="600"/>
              </a:spcBef>
              <a:spcAft>
                <a:spcPts val="400"/>
              </a:spcAft>
              <a:buFont typeface="Arial"/>
              <a:buChar char="–"/>
              <a:defRPr sz="1800" kern="1200">
                <a:solidFill>
                  <a:schemeClr val="tx1">
                    <a:lumMod val="65000"/>
                    <a:lumOff val="35000"/>
                  </a:schemeClr>
                </a:solidFill>
                <a:latin typeface="Arial" panose="020B0604020202020204" pitchFamily="34" charset="0"/>
                <a:ea typeface="+mn-ea"/>
                <a:cs typeface="Arial" panose="020B0604020202020204" pitchFamily="34" charset="0"/>
              </a:defRPr>
            </a:lvl2pPr>
            <a:lvl3pPr marL="630238" indent="-171450" algn="l" defTabSz="457200" rtl="0" eaLnBrk="1" latinLnBrk="0" hangingPunct="1">
              <a:spcBef>
                <a:spcPct val="20000"/>
              </a:spcBef>
              <a:buFont typeface="Arial"/>
              <a:buChar char="•"/>
              <a:defRPr sz="1600" kern="1200">
                <a:solidFill>
                  <a:schemeClr val="tx1">
                    <a:lumMod val="65000"/>
                    <a:lumOff val="35000"/>
                  </a:schemeClr>
                </a:solidFill>
                <a:latin typeface="Arial" panose="020B0604020202020204" pitchFamily="34" charset="0"/>
                <a:ea typeface="+mn-ea"/>
                <a:cs typeface="Arial" panose="020B0604020202020204" pitchFamily="34" charset="0"/>
              </a:defRPr>
            </a:lvl3pPr>
            <a:lvl4pPr marL="1600200" indent="-228600" algn="l" defTabSz="457200" rtl="0" eaLnBrk="1" latinLnBrk="0" hangingPunct="1">
              <a:spcBef>
                <a:spcPct val="20000"/>
              </a:spcBef>
              <a:buFont typeface="Arial"/>
              <a:buChar char="–"/>
              <a:defRPr sz="1400" kern="1200">
                <a:solidFill>
                  <a:schemeClr val="tx1"/>
                </a:solidFill>
                <a:latin typeface="Arial Narrow"/>
                <a:ea typeface="+mn-ea"/>
                <a:cs typeface="Arial Narrow"/>
              </a:defRPr>
            </a:lvl4pPr>
            <a:lvl5pPr marL="2057400" indent="-228600" algn="l" defTabSz="457200" rtl="0" eaLnBrk="1" latinLnBrk="0" hangingPunct="1">
              <a:spcBef>
                <a:spcPct val="20000"/>
              </a:spcBef>
              <a:buFont typeface="Arial"/>
              <a:buChar char="»"/>
              <a:defRPr sz="1400" kern="1200">
                <a:solidFill>
                  <a:schemeClr val="tx1"/>
                </a:solidFill>
                <a:latin typeface="Arial Narrow"/>
                <a:ea typeface="+mn-ea"/>
                <a:cs typeface="Arial Narrow"/>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GB" sz="5400" b="1" dirty="0">
                <a:solidFill>
                  <a:schemeClr val="bg1">
                    <a:lumMod val="50000"/>
                  </a:schemeClr>
                </a:solidFill>
              </a:rPr>
              <a:t>Q4</a:t>
            </a:r>
          </a:p>
        </p:txBody>
      </p:sp>
    </p:spTree>
    <p:extLst>
      <p:ext uri="{BB962C8B-B14F-4D97-AF65-F5344CB8AC3E}">
        <p14:creationId xmlns:p14="http://schemas.microsoft.com/office/powerpoint/2010/main" val="35338985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CB293-FD8E-4F6C-92E5-62197E3FBA35}"/>
              </a:ext>
            </a:extLst>
          </p:cNvPr>
          <p:cNvSpPr>
            <a:spLocks noGrp="1"/>
          </p:cNvSpPr>
          <p:nvPr>
            <p:ph type="title"/>
          </p:nvPr>
        </p:nvSpPr>
        <p:spPr/>
        <p:txBody>
          <a:bodyPr/>
          <a:lstStyle/>
          <a:p>
            <a:r>
              <a:rPr lang="en-GB" dirty="0"/>
              <a:t>Building </a:t>
            </a:r>
            <a:r>
              <a:rPr lang="en-GB" b="1" dirty="0"/>
              <a:t>Assertions</a:t>
            </a:r>
            <a:r>
              <a:rPr lang="en-GB" dirty="0"/>
              <a:t> for Subject Matter Information of a Diverse Nature</a:t>
            </a:r>
          </a:p>
        </p:txBody>
      </p:sp>
      <p:sp>
        <p:nvSpPr>
          <p:cNvPr id="4" name="Subtitle 3">
            <a:extLst>
              <a:ext uri="{FF2B5EF4-FFF2-40B4-BE49-F238E27FC236}">
                <a16:creationId xmlns:a16="http://schemas.microsoft.com/office/drawing/2014/main" id="{B523B462-EC00-44AE-A4FD-59C48B8568FD}"/>
              </a:ext>
            </a:extLst>
          </p:cNvPr>
          <p:cNvSpPr>
            <a:spLocks noGrp="1"/>
          </p:cNvSpPr>
          <p:nvPr>
            <p:ph type="subTitle" idx="10"/>
          </p:nvPr>
        </p:nvSpPr>
        <p:spPr/>
        <p:txBody>
          <a:bodyPr/>
          <a:lstStyle/>
          <a:p>
            <a:endParaRPr lang="en-GB"/>
          </a:p>
        </p:txBody>
      </p:sp>
      <p:sp>
        <p:nvSpPr>
          <p:cNvPr id="5" name="Slide Number Placeholder 4">
            <a:extLst>
              <a:ext uri="{FF2B5EF4-FFF2-40B4-BE49-F238E27FC236}">
                <a16:creationId xmlns:a16="http://schemas.microsoft.com/office/drawing/2014/main" id="{5ED3D9D4-8FB3-463B-9D4F-12513A680A88}"/>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13</a:t>
            </a:fld>
            <a:endParaRPr lang="en-US" dirty="0">
              <a:latin typeface="Arial" panose="020B0604020202020204" pitchFamily="34" charset="0"/>
              <a:cs typeface="MS PGothic" charset="0"/>
            </a:endParaRPr>
          </a:p>
        </p:txBody>
      </p:sp>
      <p:sp>
        <p:nvSpPr>
          <p:cNvPr id="6" name="Arrow: Chevron 5">
            <a:extLst>
              <a:ext uri="{FF2B5EF4-FFF2-40B4-BE49-F238E27FC236}">
                <a16:creationId xmlns:a16="http://schemas.microsoft.com/office/drawing/2014/main" id="{AA019EF3-2054-4B1F-A278-94FEDEC44710}"/>
              </a:ext>
            </a:extLst>
          </p:cNvPr>
          <p:cNvSpPr/>
          <p:nvPr/>
        </p:nvSpPr>
        <p:spPr>
          <a:xfrm>
            <a:off x="633228" y="1364118"/>
            <a:ext cx="2728011" cy="713762"/>
          </a:xfrm>
          <a:prstGeom prst="chevron">
            <a:avLst>
              <a:gd name="adj" fmla="val 24918"/>
            </a:avLst>
          </a:prstGeom>
          <a:solidFill>
            <a:schemeClr val="accent3">
              <a:lumMod val="20000"/>
              <a:lumOff val="80000"/>
            </a:schemeClr>
          </a:solidFill>
          <a:ln w="25400" cap="flat" cmpd="sng" algn="ctr">
            <a:solidFill>
              <a:prstClr val="white">
                <a:hueOff val="0"/>
                <a:satOff val="0"/>
                <a:lumOff val="0"/>
                <a:alphaOff val="0"/>
              </a:prstClr>
            </a:solidFill>
            <a:prstDash val="solid"/>
          </a:ln>
          <a:effectLst/>
        </p:spPr>
        <p:txBody>
          <a:bodyPr spcFirstLastPara="0" vert="horz" wrap="square" lIns="127000" tIns="0" rIns="127000" bIns="0" numCol="1" spcCol="1270" anchor="ctr" anchorCtr="0">
            <a:noAutofit/>
          </a:bodyPr>
          <a:lstStyle/>
          <a:p>
            <a:endParaRPr lang="en-GB" sz="1400" dirty="0">
              <a:solidFill>
                <a:schemeClr val="bg1"/>
              </a:solidFill>
              <a:latin typeface="Arial" panose="020B0604020202020204" pitchFamily="34" charset="0"/>
              <a:cs typeface="Arial" panose="020B0604020202020204" pitchFamily="34" charset="0"/>
            </a:endParaRPr>
          </a:p>
        </p:txBody>
      </p:sp>
      <p:pic>
        <p:nvPicPr>
          <p:cNvPr id="21" name="Graphic 20" descr="Head with Gears">
            <a:extLst>
              <a:ext uri="{FF2B5EF4-FFF2-40B4-BE49-F238E27FC236}">
                <a16:creationId xmlns:a16="http://schemas.microsoft.com/office/drawing/2014/main" id="{08D7732C-029E-490E-859A-3A7D27AB38D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74994" y="1403177"/>
            <a:ext cx="642425" cy="642425"/>
          </a:xfrm>
          <a:prstGeom prst="rect">
            <a:avLst/>
          </a:prstGeom>
        </p:spPr>
      </p:pic>
      <p:sp>
        <p:nvSpPr>
          <p:cNvPr id="23" name="TextBox 22">
            <a:extLst>
              <a:ext uri="{FF2B5EF4-FFF2-40B4-BE49-F238E27FC236}">
                <a16:creationId xmlns:a16="http://schemas.microsoft.com/office/drawing/2014/main" id="{C442F61A-5D1F-428A-94A9-1EAD05F2963F}"/>
              </a:ext>
            </a:extLst>
          </p:cNvPr>
          <p:cNvSpPr txBox="1"/>
          <p:nvPr/>
        </p:nvSpPr>
        <p:spPr>
          <a:xfrm>
            <a:off x="1679435" y="1459389"/>
            <a:ext cx="1463585" cy="523220"/>
          </a:xfrm>
          <a:prstGeom prst="rect">
            <a:avLst/>
          </a:prstGeom>
          <a:noFill/>
        </p:spPr>
        <p:txBody>
          <a:bodyPr wrap="square" rtlCol="0">
            <a:spAutoFit/>
          </a:bodyPr>
          <a:lstStyle/>
          <a:p>
            <a:r>
              <a:rPr lang="en-GB" sz="1400" dirty="0">
                <a:solidFill>
                  <a:schemeClr val="bg1"/>
                </a:solidFill>
                <a:latin typeface="Arial" panose="020B0604020202020204" pitchFamily="34" charset="0"/>
                <a:cs typeface="Arial" panose="020B0604020202020204" pitchFamily="34" charset="0"/>
              </a:rPr>
              <a:t>Generalized construct</a:t>
            </a:r>
          </a:p>
        </p:txBody>
      </p:sp>
      <p:sp>
        <p:nvSpPr>
          <p:cNvPr id="24" name="Arrow: Chevron 23">
            <a:extLst>
              <a:ext uri="{FF2B5EF4-FFF2-40B4-BE49-F238E27FC236}">
                <a16:creationId xmlns:a16="http://schemas.microsoft.com/office/drawing/2014/main" id="{5DA552CC-1BF5-404D-A1EF-996825B0C607}"/>
              </a:ext>
            </a:extLst>
          </p:cNvPr>
          <p:cNvSpPr/>
          <p:nvPr/>
        </p:nvSpPr>
        <p:spPr>
          <a:xfrm>
            <a:off x="3367989" y="1364118"/>
            <a:ext cx="2728011" cy="713762"/>
          </a:xfrm>
          <a:prstGeom prst="chevron">
            <a:avLst>
              <a:gd name="adj" fmla="val 24918"/>
            </a:avLst>
          </a:prstGeom>
          <a:solidFill>
            <a:schemeClr val="accent3">
              <a:lumMod val="20000"/>
              <a:lumOff val="80000"/>
            </a:schemeClr>
          </a:solidFill>
          <a:ln w="25400" cap="flat" cmpd="sng" algn="ctr">
            <a:solidFill>
              <a:prstClr val="white">
                <a:hueOff val="0"/>
                <a:satOff val="0"/>
                <a:lumOff val="0"/>
                <a:alphaOff val="0"/>
              </a:prstClr>
            </a:solidFill>
            <a:prstDash val="solid"/>
          </a:ln>
          <a:effectLst/>
        </p:spPr>
        <p:txBody>
          <a:bodyPr spcFirstLastPara="0" vert="horz" wrap="square" lIns="127000" tIns="0" rIns="127000" bIns="0" numCol="1" spcCol="1270" anchor="ctr" anchorCtr="0">
            <a:noAutofit/>
          </a:bodyPr>
          <a:lstStyle/>
          <a:p>
            <a:endParaRPr lang="en-GB" sz="1400" dirty="0">
              <a:solidFill>
                <a:schemeClr val="bg1"/>
              </a:solidFill>
              <a:latin typeface="Arial" panose="020B0604020202020204" pitchFamily="34" charset="0"/>
              <a:cs typeface="Arial" panose="020B0604020202020204" pitchFamily="34" charset="0"/>
            </a:endParaRPr>
          </a:p>
        </p:txBody>
      </p:sp>
      <p:sp>
        <p:nvSpPr>
          <p:cNvPr id="27" name="TextBox 26">
            <a:extLst>
              <a:ext uri="{FF2B5EF4-FFF2-40B4-BE49-F238E27FC236}">
                <a16:creationId xmlns:a16="http://schemas.microsoft.com/office/drawing/2014/main" id="{41A820CA-2131-4E78-90DA-D5DFF6C42C00}"/>
              </a:ext>
            </a:extLst>
          </p:cNvPr>
          <p:cNvSpPr txBox="1"/>
          <p:nvPr/>
        </p:nvSpPr>
        <p:spPr>
          <a:xfrm>
            <a:off x="4414196" y="1568899"/>
            <a:ext cx="1463585" cy="307777"/>
          </a:xfrm>
          <a:prstGeom prst="rect">
            <a:avLst/>
          </a:prstGeom>
          <a:noFill/>
        </p:spPr>
        <p:txBody>
          <a:bodyPr wrap="square" rtlCol="0">
            <a:spAutoFit/>
          </a:bodyPr>
          <a:lstStyle/>
          <a:p>
            <a:r>
              <a:rPr lang="en-GB" sz="1400" dirty="0">
                <a:solidFill>
                  <a:schemeClr val="bg1"/>
                </a:solidFill>
                <a:latin typeface="Arial" panose="020B0604020202020204" pitchFamily="34" charset="0"/>
                <a:cs typeface="Arial" panose="020B0604020202020204" pitchFamily="34" charset="0"/>
              </a:rPr>
              <a:t>Materiality</a:t>
            </a:r>
          </a:p>
        </p:txBody>
      </p:sp>
      <p:sp>
        <p:nvSpPr>
          <p:cNvPr id="28" name="Arrow: Chevron 27">
            <a:extLst>
              <a:ext uri="{FF2B5EF4-FFF2-40B4-BE49-F238E27FC236}">
                <a16:creationId xmlns:a16="http://schemas.microsoft.com/office/drawing/2014/main" id="{E183CB93-C443-4345-92A1-172F32732183}"/>
              </a:ext>
            </a:extLst>
          </p:cNvPr>
          <p:cNvSpPr/>
          <p:nvPr/>
        </p:nvSpPr>
        <p:spPr>
          <a:xfrm>
            <a:off x="6102750" y="1364118"/>
            <a:ext cx="2728011" cy="713762"/>
          </a:xfrm>
          <a:prstGeom prst="chevron">
            <a:avLst>
              <a:gd name="adj" fmla="val 24918"/>
            </a:avLst>
          </a:prstGeom>
          <a:solidFill>
            <a:schemeClr val="accent3">
              <a:lumMod val="20000"/>
              <a:lumOff val="80000"/>
            </a:schemeClr>
          </a:solidFill>
          <a:ln w="25400" cap="flat" cmpd="sng" algn="ctr">
            <a:solidFill>
              <a:prstClr val="white">
                <a:hueOff val="0"/>
                <a:satOff val="0"/>
                <a:lumOff val="0"/>
                <a:alphaOff val="0"/>
              </a:prstClr>
            </a:solidFill>
            <a:prstDash val="solid"/>
          </a:ln>
          <a:effectLst/>
        </p:spPr>
        <p:txBody>
          <a:bodyPr spcFirstLastPara="0" vert="horz" wrap="square" lIns="127000" tIns="0" rIns="127000" bIns="0" numCol="1" spcCol="1270" anchor="ctr" anchorCtr="0">
            <a:noAutofit/>
          </a:bodyPr>
          <a:lstStyle/>
          <a:p>
            <a:endParaRPr lang="en-GB" sz="1400" dirty="0">
              <a:solidFill>
                <a:schemeClr val="bg1"/>
              </a:solidFill>
              <a:latin typeface="Arial" panose="020B0604020202020204" pitchFamily="34" charset="0"/>
              <a:cs typeface="Arial" panose="020B0604020202020204" pitchFamily="34" charset="0"/>
            </a:endParaRPr>
          </a:p>
        </p:txBody>
      </p:sp>
      <p:sp>
        <p:nvSpPr>
          <p:cNvPr id="30" name="TextBox 29">
            <a:extLst>
              <a:ext uri="{FF2B5EF4-FFF2-40B4-BE49-F238E27FC236}">
                <a16:creationId xmlns:a16="http://schemas.microsoft.com/office/drawing/2014/main" id="{AA3B481A-45AB-4E35-99B5-02DFBA6B20C8}"/>
              </a:ext>
            </a:extLst>
          </p:cNvPr>
          <p:cNvSpPr txBox="1"/>
          <p:nvPr/>
        </p:nvSpPr>
        <p:spPr>
          <a:xfrm>
            <a:off x="7148957" y="1563858"/>
            <a:ext cx="1463585" cy="307777"/>
          </a:xfrm>
          <a:prstGeom prst="rect">
            <a:avLst/>
          </a:prstGeom>
          <a:noFill/>
        </p:spPr>
        <p:txBody>
          <a:bodyPr wrap="square" rtlCol="0">
            <a:spAutoFit/>
          </a:bodyPr>
          <a:lstStyle/>
          <a:p>
            <a:r>
              <a:rPr lang="en-GB" sz="1400" dirty="0">
                <a:solidFill>
                  <a:schemeClr val="bg1"/>
                </a:solidFill>
                <a:latin typeface="Arial" panose="020B0604020202020204" pitchFamily="34" charset="0"/>
                <a:cs typeface="Arial" panose="020B0604020202020204" pitchFamily="34" charset="0"/>
              </a:rPr>
              <a:t>Criteria</a:t>
            </a:r>
          </a:p>
        </p:txBody>
      </p:sp>
      <p:sp>
        <p:nvSpPr>
          <p:cNvPr id="31" name="Arrow: Chevron 30">
            <a:extLst>
              <a:ext uri="{FF2B5EF4-FFF2-40B4-BE49-F238E27FC236}">
                <a16:creationId xmlns:a16="http://schemas.microsoft.com/office/drawing/2014/main" id="{2F3D0BD4-B249-428C-A267-6FAF08D3C314}"/>
              </a:ext>
            </a:extLst>
          </p:cNvPr>
          <p:cNvSpPr/>
          <p:nvPr/>
        </p:nvSpPr>
        <p:spPr>
          <a:xfrm>
            <a:off x="8830761" y="1353733"/>
            <a:ext cx="2728011" cy="713762"/>
          </a:xfrm>
          <a:prstGeom prst="chevron">
            <a:avLst>
              <a:gd name="adj" fmla="val 24918"/>
            </a:avLst>
          </a:prstGeom>
          <a:solidFill>
            <a:schemeClr val="accent3"/>
          </a:solidFill>
          <a:ln w="25400" cap="flat" cmpd="sng" algn="ctr">
            <a:solidFill>
              <a:prstClr val="white">
                <a:hueOff val="0"/>
                <a:satOff val="0"/>
                <a:lumOff val="0"/>
                <a:alphaOff val="0"/>
              </a:prstClr>
            </a:solidFill>
            <a:prstDash val="solid"/>
          </a:ln>
          <a:effectLst/>
        </p:spPr>
        <p:txBody>
          <a:bodyPr spcFirstLastPara="0" vert="horz" wrap="square" lIns="127000" tIns="0" rIns="127000" bIns="0" numCol="1" spcCol="1270" anchor="ctr" anchorCtr="0">
            <a:noAutofit/>
          </a:bodyPr>
          <a:lstStyle/>
          <a:p>
            <a:endParaRPr lang="en-GB" sz="1400" dirty="0">
              <a:solidFill>
                <a:schemeClr val="bg1"/>
              </a:solidFill>
              <a:latin typeface="Arial" panose="020B0604020202020204" pitchFamily="34" charset="0"/>
              <a:cs typeface="Arial" panose="020B0604020202020204" pitchFamily="34" charset="0"/>
            </a:endParaRPr>
          </a:p>
        </p:txBody>
      </p:sp>
      <p:pic>
        <p:nvPicPr>
          <p:cNvPr id="32" name="Graphic 31" descr="Tools">
            <a:extLst>
              <a:ext uri="{FF2B5EF4-FFF2-40B4-BE49-F238E27FC236}">
                <a16:creationId xmlns:a16="http://schemas.microsoft.com/office/drawing/2014/main" id="{971AB0AB-C8DA-458A-897C-CBC13827F3F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072527" y="1423895"/>
            <a:ext cx="605762" cy="605762"/>
          </a:xfrm>
          <a:prstGeom prst="rect">
            <a:avLst/>
          </a:prstGeom>
        </p:spPr>
      </p:pic>
      <p:sp>
        <p:nvSpPr>
          <p:cNvPr id="33" name="TextBox 32">
            <a:extLst>
              <a:ext uri="{FF2B5EF4-FFF2-40B4-BE49-F238E27FC236}">
                <a16:creationId xmlns:a16="http://schemas.microsoft.com/office/drawing/2014/main" id="{564C376C-65EB-4FE8-998D-746722F1295C}"/>
              </a:ext>
            </a:extLst>
          </p:cNvPr>
          <p:cNvSpPr txBox="1"/>
          <p:nvPr/>
        </p:nvSpPr>
        <p:spPr>
          <a:xfrm>
            <a:off x="9876968" y="1553530"/>
            <a:ext cx="1463585" cy="307777"/>
          </a:xfrm>
          <a:prstGeom prst="rect">
            <a:avLst/>
          </a:prstGeom>
          <a:noFill/>
        </p:spPr>
        <p:txBody>
          <a:bodyPr wrap="square" rtlCol="0">
            <a:spAutoFit/>
          </a:bodyPr>
          <a:lstStyle/>
          <a:p>
            <a:r>
              <a:rPr lang="en-GB" sz="1400" dirty="0">
                <a:solidFill>
                  <a:schemeClr val="bg1"/>
                </a:solidFill>
                <a:latin typeface="Arial" panose="020B0604020202020204" pitchFamily="34" charset="0"/>
                <a:cs typeface="Arial" panose="020B0604020202020204" pitchFamily="34" charset="0"/>
              </a:rPr>
              <a:t>Assertions</a:t>
            </a:r>
          </a:p>
        </p:txBody>
      </p:sp>
      <p:pic>
        <p:nvPicPr>
          <p:cNvPr id="22" name="Graphic 21" descr="List">
            <a:extLst>
              <a:ext uri="{FF2B5EF4-FFF2-40B4-BE49-F238E27FC236}">
                <a16:creationId xmlns:a16="http://schemas.microsoft.com/office/drawing/2014/main" id="{8136C240-20D9-4378-8A43-AD4B8EB45B5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337766" y="1403177"/>
            <a:ext cx="645189" cy="645189"/>
          </a:xfrm>
          <a:prstGeom prst="rect">
            <a:avLst/>
          </a:prstGeom>
        </p:spPr>
      </p:pic>
      <p:pic>
        <p:nvPicPr>
          <p:cNvPr id="20" name="Graphic 19" descr="Magnifying glass">
            <a:extLst>
              <a:ext uri="{FF2B5EF4-FFF2-40B4-BE49-F238E27FC236}">
                <a16:creationId xmlns:a16="http://schemas.microsoft.com/office/drawing/2014/main" id="{2D2A8B34-3AA3-4520-A22E-6B246776DE43}"/>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612130" y="1403177"/>
            <a:ext cx="626480" cy="626480"/>
          </a:xfrm>
          <a:prstGeom prst="rect">
            <a:avLst/>
          </a:prstGeom>
        </p:spPr>
      </p:pic>
      <p:cxnSp>
        <p:nvCxnSpPr>
          <p:cNvPr id="61" name="Straight Connector 60">
            <a:extLst>
              <a:ext uri="{FF2B5EF4-FFF2-40B4-BE49-F238E27FC236}">
                <a16:creationId xmlns:a16="http://schemas.microsoft.com/office/drawing/2014/main" id="{19FC4FCB-FAFA-453A-99D5-D03F4C14AFD1}"/>
              </a:ext>
            </a:extLst>
          </p:cNvPr>
          <p:cNvCxnSpPr>
            <a:cxnSpLocks/>
          </p:cNvCxnSpPr>
          <p:nvPr/>
        </p:nvCxnSpPr>
        <p:spPr>
          <a:xfrm>
            <a:off x="8904992" y="2170525"/>
            <a:ext cx="0" cy="4235745"/>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6DC900A6-1922-4F36-96B5-F7EE588572C1}"/>
              </a:ext>
            </a:extLst>
          </p:cNvPr>
          <p:cNvCxnSpPr>
            <a:cxnSpLocks/>
          </p:cNvCxnSpPr>
          <p:nvPr/>
        </p:nvCxnSpPr>
        <p:spPr>
          <a:xfrm>
            <a:off x="7460195" y="2161900"/>
            <a:ext cx="0" cy="424437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38EAC48F-E07B-45DE-B9FE-D029FE4A2DA9}"/>
              </a:ext>
            </a:extLst>
          </p:cNvPr>
          <p:cNvCxnSpPr>
            <a:cxnSpLocks/>
          </p:cNvCxnSpPr>
          <p:nvPr/>
        </p:nvCxnSpPr>
        <p:spPr>
          <a:xfrm>
            <a:off x="5999947" y="2170525"/>
            <a:ext cx="0" cy="4235745"/>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64" name="Rectangle 63">
            <a:extLst>
              <a:ext uri="{FF2B5EF4-FFF2-40B4-BE49-F238E27FC236}">
                <a16:creationId xmlns:a16="http://schemas.microsoft.com/office/drawing/2014/main" id="{97526CBC-1454-4449-BB1D-47348EF474C1}"/>
              </a:ext>
            </a:extLst>
          </p:cNvPr>
          <p:cNvSpPr/>
          <p:nvPr/>
        </p:nvSpPr>
        <p:spPr>
          <a:xfrm>
            <a:off x="4663101" y="5195370"/>
            <a:ext cx="1207441" cy="321492"/>
          </a:xfrm>
          <a:prstGeom prst="rect">
            <a:avLst/>
          </a:prstGeom>
          <a:no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050" b="1" dirty="0">
                <a:solidFill>
                  <a:schemeClr val="accent3"/>
                </a:solidFill>
                <a:latin typeface="Arial" panose="020B0604020202020204" pitchFamily="34" charset="0"/>
                <a:cs typeface="Arial" panose="020B0604020202020204" pitchFamily="34" charset="0"/>
              </a:rPr>
              <a:t>Free from error</a:t>
            </a:r>
          </a:p>
        </p:txBody>
      </p:sp>
      <p:sp>
        <p:nvSpPr>
          <p:cNvPr id="65" name="Rectangle 64">
            <a:extLst>
              <a:ext uri="{FF2B5EF4-FFF2-40B4-BE49-F238E27FC236}">
                <a16:creationId xmlns:a16="http://schemas.microsoft.com/office/drawing/2014/main" id="{5948B9AD-0AF6-4B61-9E08-5C7EB08E0104}"/>
              </a:ext>
            </a:extLst>
          </p:cNvPr>
          <p:cNvSpPr/>
          <p:nvPr/>
        </p:nvSpPr>
        <p:spPr>
          <a:xfrm>
            <a:off x="6118170" y="5195370"/>
            <a:ext cx="1207441" cy="321492"/>
          </a:xfrm>
          <a:prstGeom prst="rect">
            <a:avLst/>
          </a:prstGeom>
          <a:no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050" b="1" dirty="0">
                <a:solidFill>
                  <a:schemeClr val="accent3"/>
                </a:solidFill>
                <a:latin typeface="Arial" panose="020B0604020202020204" pitchFamily="34" charset="0"/>
                <a:cs typeface="Arial" panose="020B0604020202020204" pitchFamily="34" charset="0"/>
              </a:rPr>
              <a:t>Completeness</a:t>
            </a:r>
          </a:p>
        </p:txBody>
      </p:sp>
      <p:sp>
        <p:nvSpPr>
          <p:cNvPr id="66" name="Rectangle 65">
            <a:extLst>
              <a:ext uri="{FF2B5EF4-FFF2-40B4-BE49-F238E27FC236}">
                <a16:creationId xmlns:a16="http://schemas.microsoft.com/office/drawing/2014/main" id="{A18FACD9-FA38-445F-A833-6F4CA2BCF511}"/>
              </a:ext>
            </a:extLst>
          </p:cNvPr>
          <p:cNvSpPr/>
          <p:nvPr/>
        </p:nvSpPr>
        <p:spPr>
          <a:xfrm>
            <a:off x="7573239" y="5197059"/>
            <a:ext cx="1207441" cy="321492"/>
          </a:xfrm>
          <a:prstGeom prst="rect">
            <a:avLst/>
          </a:prstGeom>
          <a:no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050" b="1" dirty="0">
                <a:solidFill>
                  <a:schemeClr val="accent3"/>
                </a:solidFill>
                <a:latin typeface="Arial" panose="020B0604020202020204" pitchFamily="34" charset="0"/>
                <a:cs typeface="Arial" panose="020B0604020202020204" pitchFamily="34" charset="0"/>
              </a:rPr>
              <a:t>Presentation</a:t>
            </a:r>
          </a:p>
        </p:txBody>
      </p:sp>
      <p:sp>
        <p:nvSpPr>
          <p:cNvPr id="67" name="TextBox 66">
            <a:extLst>
              <a:ext uri="{FF2B5EF4-FFF2-40B4-BE49-F238E27FC236}">
                <a16:creationId xmlns:a16="http://schemas.microsoft.com/office/drawing/2014/main" id="{70EE31DD-0476-40CE-85AD-AE9B9BA61F76}"/>
              </a:ext>
            </a:extLst>
          </p:cNvPr>
          <p:cNvSpPr txBox="1"/>
          <p:nvPr/>
        </p:nvSpPr>
        <p:spPr>
          <a:xfrm>
            <a:off x="1969752" y="5195370"/>
            <a:ext cx="2035400" cy="469359"/>
          </a:xfrm>
          <a:prstGeom prst="rect">
            <a:avLst/>
          </a:prstGeom>
          <a:noFill/>
        </p:spPr>
        <p:txBody>
          <a:bodyPr wrap="square" rtlCol="0">
            <a:spAutoFit/>
          </a:bodyPr>
          <a:lstStyle/>
          <a:p>
            <a:r>
              <a:rPr lang="en-GB" sz="1050" dirty="0">
                <a:latin typeface="Arial" panose="020B0604020202020204" pitchFamily="34" charset="0"/>
                <a:cs typeface="Arial" panose="020B0604020202020204" pitchFamily="34" charset="0"/>
              </a:rPr>
              <a:t>An example basic set of</a:t>
            </a:r>
          </a:p>
          <a:p>
            <a:r>
              <a:rPr lang="en-GB" sz="1400" dirty="0">
                <a:solidFill>
                  <a:schemeClr val="accent3"/>
                </a:solidFill>
                <a:latin typeface="Arial" panose="020B0604020202020204" pitchFamily="34" charset="0"/>
                <a:cs typeface="Arial" panose="020B0604020202020204" pitchFamily="34" charset="0"/>
              </a:rPr>
              <a:t>Assertions</a:t>
            </a:r>
          </a:p>
        </p:txBody>
      </p:sp>
      <p:sp>
        <p:nvSpPr>
          <p:cNvPr id="68" name="TextBox 67">
            <a:extLst>
              <a:ext uri="{FF2B5EF4-FFF2-40B4-BE49-F238E27FC236}">
                <a16:creationId xmlns:a16="http://schemas.microsoft.com/office/drawing/2014/main" id="{2CEB0499-E098-41BE-99FD-6FBC7AE17052}"/>
              </a:ext>
            </a:extLst>
          </p:cNvPr>
          <p:cNvSpPr txBox="1"/>
          <p:nvPr/>
        </p:nvSpPr>
        <p:spPr>
          <a:xfrm>
            <a:off x="1969753" y="3203547"/>
            <a:ext cx="2363133" cy="807913"/>
          </a:xfrm>
          <a:prstGeom prst="rect">
            <a:avLst/>
          </a:prstGeom>
          <a:noFill/>
        </p:spPr>
        <p:txBody>
          <a:bodyPr wrap="square" rtlCol="0">
            <a:spAutoFit/>
          </a:bodyPr>
          <a:lstStyle/>
          <a:p>
            <a:r>
              <a:rPr lang="en-GB" sz="1050" dirty="0">
                <a:latin typeface="Arial" panose="020B0604020202020204" pitchFamily="34" charset="0"/>
                <a:cs typeface="Arial" panose="020B0604020202020204" pitchFamily="34" charset="0"/>
              </a:rPr>
              <a:t>Characteristics of </a:t>
            </a:r>
          </a:p>
          <a:p>
            <a:r>
              <a:rPr lang="en-GB" sz="1400" dirty="0">
                <a:solidFill>
                  <a:schemeClr val="accent6"/>
                </a:solidFill>
                <a:latin typeface="Arial" panose="020B0604020202020204" pitchFamily="34" charset="0"/>
                <a:cs typeface="Arial" panose="020B0604020202020204" pitchFamily="34" charset="0"/>
              </a:rPr>
              <a:t>Subject matter information</a:t>
            </a:r>
          </a:p>
          <a:p>
            <a:r>
              <a:rPr lang="en-GB" sz="1050" dirty="0">
                <a:latin typeface="Arial" panose="020B0604020202020204" pitchFamily="34" charset="0"/>
                <a:cs typeface="Arial" panose="020B0604020202020204" pitchFamily="34" charset="0"/>
              </a:rPr>
              <a:t>in a fair presentation framework such as IFRS</a:t>
            </a:r>
          </a:p>
        </p:txBody>
      </p:sp>
      <p:sp>
        <p:nvSpPr>
          <p:cNvPr id="69" name="TextBox 68">
            <a:extLst>
              <a:ext uri="{FF2B5EF4-FFF2-40B4-BE49-F238E27FC236}">
                <a16:creationId xmlns:a16="http://schemas.microsoft.com/office/drawing/2014/main" id="{44889013-14B8-4C08-B94F-A8A4F769FA35}"/>
              </a:ext>
            </a:extLst>
          </p:cNvPr>
          <p:cNvSpPr txBox="1"/>
          <p:nvPr/>
        </p:nvSpPr>
        <p:spPr>
          <a:xfrm>
            <a:off x="1969752" y="2258692"/>
            <a:ext cx="2363134" cy="638636"/>
          </a:xfrm>
          <a:prstGeom prst="rect">
            <a:avLst/>
          </a:prstGeom>
          <a:noFill/>
        </p:spPr>
        <p:txBody>
          <a:bodyPr wrap="square" rtlCol="0">
            <a:spAutoFit/>
          </a:bodyPr>
          <a:lstStyle/>
          <a:p>
            <a:r>
              <a:rPr lang="en-GB" sz="1050" dirty="0">
                <a:latin typeface="Arial" panose="020B0604020202020204" pitchFamily="34" charset="0"/>
                <a:cs typeface="Arial" panose="020B0604020202020204" pitchFamily="34" charset="0"/>
              </a:rPr>
              <a:t>Required characteristics for </a:t>
            </a:r>
          </a:p>
          <a:p>
            <a:r>
              <a:rPr lang="en-GB" sz="1400" dirty="0">
                <a:solidFill>
                  <a:schemeClr val="accent1"/>
                </a:solidFill>
                <a:latin typeface="Arial" panose="020B0604020202020204" pitchFamily="34" charset="0"/>
                <a:cs typeface="Arial" panose="020B0604020202020204" pitchFamily="34" charset="0"/>
              </a:rPr>
              <a:t>Criteria</a:t>
            </a:r>
          </a:p>
          <a:p>
            <a:r>
              <a:rPr lang="en-GB" sz="1050" dirty="0">
                <a:latin typeface="Arial" panose="020B0604020202020204" pitchFamily="34" charset="0"/>
                <a:cs typeface="Arial" panose="020B0604020202020204" pitchFamily="34" charset="0"/>
              </a:rPr>
              <a:t>per ISAE 3000 (Revised)</a:t>
            </a:r>
          </a:p>
        </p:txBody>
      </p:sp>
      <p:sp>
        <p:nvSpPr>
          <p:cNvPr id="70" name="Rectangle 69">
            <a:extLst>
              <a:ext uri="{FF2B5EF4-FFF2-40B4-BE49-F238E27FC236}">
                <a16:creationId xmlns:a16="http://schemas.microsoft.com/office/drawing/2014/main" id="{3445A0E2-3776-43C5-B59F-FE3506D46511}"/>
              </a:ext>
            </a:extLst>
          </p:cNvPr>
          <p:cNvSpPr/>
          <p:nvPr/>
        </p:nvSpPr>
        <p:spPr>
          <a:xfrm>
            <a:off x="4663101" y="3252369"/>
            <a:ext cx="4185620" cy="319108"/>
          </a:xfrm>
          <a:prstGeom prst="rect">
            <a:avLst/>
          </a:prstGeom>
          <a:solidFill>
            <a:schemeClr val="bg1"/>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050" b="1" dirty="0">
                <a:solidFill>
                  <a:schemeClr val="accent6"/>
                </a:solidFill>
                <a:latin typeface="Arial" panose="020B0604020202020204" pitchFamily="34" charset="0"/>
                <a:cs typeface="Arial" panose="020B0604020202020204" pitchFamily="34" charset="0"/>
              </a:rPr>
              <a:t>Faithful representation</a:t>
            </a:r>
          </a:p>
        </p:txBody>
      </p:sp>
      <p:sp>
        <p:nvSpPr>
          <p:cNvPr id="71" name="Rectangle 70">
            <a:extLst>
              <a:ext uri="{FF2B5EF4-FFF2-40B4-BE49-F238E27FC236}">
                <a16:creationId xmlns:a16="http://schemas.microsoft.com/office/drawing/2014/main" id="{6748A143-1162-48D9-BFF0-F7BBE599B52D}"/>
              </a:ext>
            </a:extLst>
          </p:cNvPr>
          <p:cNvSpPr/>
          <p:nvPr/>
        </p:nvSpPr>
        <p:spPr>
          <a:xfrm>
            <a:off x="9028307" y="3252369"/>
            <a:ext cx="1207441" cy="319108"/>
          </a:xfrm>
          <a:prstGeom prst="rect">
            <a:avLst/>
          </a:prstGeom>
          <a:no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050" b="1" dirty="0">
                <a:solidFill>
                  <a:schemeClr val="accent6"/>
                </a:solidFill>
                <a:latin typeface="Arial" panose="020B0604020202020204" pitchFamily="34" charset="0"/>
                <a:cs typeface="Arial" panose="020B0604020202020204" pitchFamily="34" charset="0"/>
              </a:rPr>
              <a:t>Relevance</a:t>
            </a:r>
          </a:p>
        </p:txBody>
      </p:sp>
      <p:sp>
        <p:nvSpPr>
          <p:cNvPr id="72" name="Rectangle 71">
            <a:extLst>
              <a:ext uri="{FF2B5EF4-FFF2-40B4-BE49-F238E27FC236}">
                <a16:creationId xmlns:a16="http://schemas.microsoft.com/office/drawing/2014/main" id="{2E0DE437-3E4B-443D-9938-0D2220CEB8DF}"/>
              </a:ext>
            </a:extLst>
          </p:cNvPr>
          <p:cNvSpPr/>
          <p:nvPr/>
        </p:nvSpPr>
        <p:spPr>
          <a:xfrm>
            <a:off x="4663100" y="2272129"/>
            <a:ext cx="1207441" cy="319108"/>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050" b="1" dirty="0">
                <a:solidFill>
                  <a:schemeClr val="accent1"/>
                </a:solidFill>
                <a:latin typeface="Arial" panose="020B0604020202020204" pitchFamily="34" charset="0"/>
                <a:cs typeface="Arial" panose="020B0604020202020204" pitchFamily="34" charset="0"/>
              </a:rPr>
              <a:t>Reliability</a:t>
            </a:r>
          </a:p>
        </p:txBody>
      </p:sp>
      <p:sp>
        <p:nvSpPr>
          <p:cNvPr id="73" name="Rectangle 72">
            <a:extLst>
              <a:ext uri="{FF2B5EF4-FFF2-40B4-BE49-F238E27FC236}">
                <a16:creationId xmlns:a16="http://schemas.microsoft.com/office/drawing/2014/main" id="{32A3B76C-6BF5-42F8-B3FC-77C5D34E40CC}"/>
              </a:ext>
            </a:extLst>
          </p:cNvPr>
          <p:cNvSpPr/>
          <p:nvPr/>
        </p:nvSpPr>
        <p:spPr>
          <a:xfrm>
            <a:off x="6118170" y="2272129"/>
            <a:ext cx="1207441" cy="319108"/>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050" b="1" dirty="0">
                <a:solidFill>
                  <a:schemeClr val="accent1"/>
                </a:solidFill>
                <a:latin typeface="Arial" panose="020B0604020202020204" pitchFamily="34" charset="0"/>
                <a:cs typeface="Arial" panose="020B0604020202020204" pitchFamily="34" charset="0"/>
              </a:rPr>
              <a:t>Completeness</a:t>
            </a:r>
          </a:p>
        </p:txBody>
      </p:sp>
      <p:sp>
        <p:nvSpPr>
          <p:cNvPr id="74" name="Rectangle 73">
            <a:extLst>
              <a:ext uri="{FF2B5EF4-FFF2-40B4-BE49-F238E27FC236}">
                <a16:creationId xmlns:a16="http://schemas.microsoft.com/office/drawing/2014/main" id="{648D2577-7AE3-4FEB-BDCF-D6F38ADF7D40}"/>
              </a:ext>
            </a:extLst>
          </p:cNvPr>
          <p:cNvSpPr/>
          <p:nvPr/>
        </p:nvSpPr>
        <p:spPr>
          <a:xfrm>
            <a:off x="7534426" y="2272129"/>
            <a:ext cx="1314295" cy="319108"/>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050" b="1" dirty="0">
                <a:solidFill>
                  <a:schemeClr val="accent1"/>
                </a:solidFill>
                <a:latin typeface="Arial" panose="020B0604020202020204" pitchFamily="34" charset="0"/>
                <a:cs typeface="Arial" panose="020B0604020202020204" pitchFamily="34" charset="0"/>
              </a:rPr>
              <a:t>Understandability</a:t>
            </a:r>
          </a:p>
        </p:txBody>
      </p:sp>
      <p:sp>
        <p:nvSpPr>
          <p:cNvPr id="75" name="Rectangle 74">
            <a:extLst>
              <a:ext uri="{FF2B5EF4-FFF2-40B4-BE49-F238E27FC236}">
                <a16:creationId xmlns:a16="http://schemas.microsoft.com/office/drawing/2014/main" id="{C64B07FF-5481-433C-8EA8-3C1ECA0DFA46}"/>
              </a:ext>
            </a:extLst>
          </p:cNvPr>
          <p:cNvSpPr/>
          <p:nvPr/>
        </p:nvSpPr>
        <p:spPr>
          <a:xfrm>
            <a:off x="9028307" y="2272129"/>
            <a:ext cx="1207441" cy="319108"/>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050" b="1" dirty="0">
                <a:solidFill>
                  <a:schemeClr val="accent1"/>
                </a:solidFill>
                <a:latin typeface="Arial" panose="020B0604020202020204" pitchFamily="34" charset="0"/>
                <a:cs typeface="Arial" panose="020B0604020202020204" pitchFamily="34" charset="0"/>
              </a:rPr>
              <a:t>Relevance</a:t>
            </a:r>
          </a:p>
        </p:txBody>
      </p:sp>
      <p:sp>
        <p:nvSpPr>
          <p:cNvPr id="76" name="Rectangle 75">
            <a:extLst>
              <a:ext uri="{FF2B5EF4-FFF2-40B4-BE49-F238E27FC236}">
                <a16:creationId xmlns:a16="http://schemas.microsoft.com/office/drawing/2014/main" id="{D24DDC58-CAA3-47EE-B8E9-5539969E9382}"/>
              </a:ext>
            </a:extLst>
          </p:cNvPr>
          <p:cNvSpPr/>
          <p:nvPr/>
        </p:nvSpPr>
        <p:spPr>
          <a:xfrm>
            <a:off x="4663100" y="2649583"/>
            <a:ext cx="4117578" cy="319108"/>
          </a:xfrm>
          <a:prstGeom prst="rect">
            <a:avLst/>
          </a:prstGeom>
          <a:solidFill>
            <a:schemeClr val="bg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lvl="6" algn="ctr"/>
            <a:r>
              <a:rPr lang="en-GB" sz="1050" b="1" dirty="0">
                <a:solidFill>
                  <a:schemeClr val="accent1"/>
                </a:solidFill>
                <a:latin typeface="Arial" panose="020B0604020202020204" pitchFamily="34" charset="0"/>
                <a:cs typeface="Arial" panose="020B0604020202020204" pitchFamily="34" charset="0"/>
              </a:rPr>
              <a:t>Neutrality</a:t>
            </a:r>
          </a:p>
        </p:txBody>
      </p:sp>
      <p:sp>
        <p:nvSpPr>
          <p:cNvPr id="77" name="TextBox 76">
            <a:extLst>
              <a:ext uri="{FF2B5EF4-FFF2-40B4-BE49-F238E27FC236}">
                <a16:creationId xmlns:a16="http://schemas.microsoft.com/office/drawing/2014/main" id="{E15B0203-28C8-4430-A3CF-B71A002D5560}"/>
              </a:ext>
            </a:extLst>
          </p:cNvPr>
          <p:cNvSpPr txBox="1"/>
          <p:nvPr/>
        </p:nvSpPr>
        <p:spPr>
          <a:xfrm>
            <a:off x="4663100" y="3571477"/>
            <a:ext cx="1207441" cy="430887"/>
          </a:xfrm>
          <a:prstGeom prst="rect">
            <a:avLst/>
          </a:prstGeom>
          <a:noFill/>
        </p:spPr>
        <p:txBody>
          <a:bodyPr wrap="square" rtlCol="0">
            <a:spAutoFit/>
          </a:bodyPr>
          <a:lstStyle/>
          <a:p>
            <a:pPr algn="ctr"/>
            <a:r>
              <a:rPr lang="en-GB" sz="1050" b="1" dirty="0">
                <a:solidFill>
                  <a:schemeClr val="accent6"/>
                </a:solidFill>
                <a:latin typeface="Arial" panose="020B0604020202020204" pitchFamily="34" charset="0"/>
                <a:cs typeface="Arial" panose="020B0604020202020204" pitchFamily="34" charset="0"/>
              </a:rPr>
              <a:t>Free from error / accuracy</a:t>
            </a:r>
          </a:p>
        </p:txBody>
      </p:sp>
      <p:sp>
        <p:nvSpPr>
          <p:cNvPr id="78" name="TextBox 77">
            <a:extLst>
              <a:ext uri="{FF2B5EF4-FFF2-40B4-BE49-F238E27FC236}">
                <a16:creationId xmlns:a16="http://schemas.microsoft.com/office/drawing/2014/main" id="{E3C9B825-5A75-4C5E-A6BD-3CADE1046093}"/>
              </a:ext>
            </a:extLst>
          </p:cNvPr>
          <p:cNvSpPr txBox="1"/>
          <p:nvPr/>
        </p:nvSpPr>
        <p:spPr>
          <a:xfrm>
            <a:off x="6135424" y="3571477"/>
            <a:ext cx="1207441" cy="261610"/>
          </a:xfrm>
          <a:prstGeom prst="rect">
            <a:avLst/>
          </a:prstGeom>
          <a:noFill/>
        </p:spPr>
        <p:txBody>
          <a:bodyPr wrap="square" rtlCol="0">
            <a:spAutoFit/>
          </a:bodyPr>
          <a:lstStyle/>
          <a:p>
            <a:pPr algn="ctr"/>
            <a:r>
              <a:rPr lang="en-GB" sz="1050" b="1" dirty="0">
                <a:solidFill>
                  <a:schemeClr val="accent6"/>
                </a:solidFill>
                <a:latin typeface="Arial" panose="020B0604020202020204" pitchFamily="34" charset="0"/>
                <a:cs typeface="Arial" panose="020B0604020202020204" pitchFamily="34" charset="0"/>
              </a:rPr>
              <a:t>Completeness</a:t>
            </a:r>
          </a:p>
        </p:txBody>
      </p:sp>
      <p:sp>
        <p:nvSpPr>
          <p:cNvPr id="79" name="TextBox 78">
            <a:extLst>
              <a:ext uri="{FF2B5EF4-FFF2-40B4-BE49-F238E27FC236}">
                <a16:creationId xmlns:a16="http://schemas.microsoft.com/office/drawing/2014/main" id="{109142A1-C899-4DFC-AB05-02C39E3902B4}"/>
              </a:ext>
            </a:extLst>
          </p:cNvPr>
          <p:cNvSpPr txBox="1"/>
          <p:nvPr/>
        </p:nvSpPr>
        <p:spPr>
          <a:xfrm>
            <a:off x="7581866" y="3571477"/>
            <a:ext cx="1198813" cy="261610"/>
          </a:xfrm>
          <a:prstGeom prst="rect">
            <a:avLst/>
          </a:prstGeom>
          <a:noFill/>
        </p:spPr>
        <p:txBody>
          <a:bodyPr wrap="square" rtlCol="0">
            <a:spAutoFit/>
          </a:bodyPr>
          <a:lstStyle/>
          <a:p>
            <a:pPr algn="ctr"/>
            <a:r>
              <a:rPr lang="en-GB" sz="1050" b="1" dirty="0">
                <a:solidFill>
                  <a:schemeClr val="accent6"/>
                </a:solidFill>
                <a:latin typeface="Arial" panose="020B0604020202020204" pitchFamily="34" charset="0"/>
                <a:cs typeface="Arial" panose="020B0604020202020204" pitchFamily="34" charset="0"/>
              </a:rPr>
              <a:t>Neutrality</a:t>
            </a:r>
          </a:p>
        </p:txBody>
      </p:sp>
      <p:sp>
        <p:nvSpPr>
          <p:cNvPr id="80" name="TextBox 79">
            <a:extLst>
              <a:ext uri="{FF2B5EF4-FFF2-40B4-BE49-F238E27FC236}">
                <a16:creationId xmlns:a16="http://schemas.microsoft.com/office/drawing/2014/main" id="{0CFD67C0-B6A3-4D5A-8EDE-B7F5B080292C}"/>
              </a:ext>
            </a:extLst>
          </p:cNvPr>
          <p:cNvSpPr txBox="1"/>
          <p:nvPr/>
        </p:nvSpPr>
        <p:spPr>
          <a:xfrm>
            <a:off x="4663099" y="4003365"/>
            <a:ext cx="1207441" cy="261610"/>
          </a:xfrm>
          <a:prstGeom prst="rect">
            <a:avLst/>
          </a:prstGeom>
          <a:noFill/>
        </p:spPr>
        <p:txBody>
          <a:bodyPr wrap="square" rtlCol="0">
            <a:spAutoFit/>
          </a:bodyPr>
          <a:lstStyle/>
          <a:p>
            <a:pPr algn="ctr"/>
            <a:r>
              <a:rPr lang="en-GB" sz="1050" dirty="0">
                <a:solidFill>
                  <a:schemeClr val="accent6"/>
                </a:solidFill>
                <a:latin typeface="Arial" panose="020B0604020202020204" pitchFamily="34" charset="0"/>
                <a:cs typeface="Arial" panose="020B0604020202020204" pitchFamily="34" charset="0"/>
              </a:rPr>
              <a:t>Verifiability</a:t>
            </a:r>
          </a:p>
        </p:txBody>
      </p:sp>
      <p:sp>
        <p:nvSpPr>
          <p:cNvPr id="81" name="TextBox 80">
            <a:extLst>
              <a:ext uri="{FF2B5EF4-FFF2-40B4-BE49-F238E27FC236}">
                <a16:creationId xmlns:a16="http://schemas.microsoft.com/office/drawing/2014/main" id="{966B3720-6C7C-4252-B5D5-AEB34A541943}"/>
              </a:ext>
            </a:extLst>
          </p:cNvPr>
          <p:cNvSpPr txBox="1"/>
          <p:nvPr/>
        </p:nvSpPr>
        <p:spPr>
          <a:xfrm>
            <a:off x="7537602" y="3907389"/>
            <a:ext cx="1293159" cy="415498"/>
          </a:xfrm>
          <a:prstGeom prst="rect">
            <a:avLst/>
          </a:prstGeom>
          <a:noFill/>
        </p:spPr>
        <p:txBody>
          <a:bodyPr wrap="square" rtlCol="0">
            <a:spAutoFit/>
          </a:bodyPr>
          <a:lstStyle/>
          <a:p>
            <a:pPr algn="ctr"/>
            <a:r>
              <a:rPr lang="en-GB" sz="1050" dirty="0">
                <a:solidFill>
                  <a:schemeClr val="accent6"/>
                </a:solidFill>
                <a:latin typeface="Arial" panose="020B0604020202020204" pitchFamily="34" charset="0"/>
                <a:cs typeface="Arial" panose="020B0604020202020204" pitchFamily="34" charset="0"/>
              </a:rPr>
              <a:t>Understandability</a:t>
            </a:r>
          </a:p>
          <a:p>
            <a:pPr algn="ctr"/>
            <a:r>
              <a:rPr lang="en-GB" sz="1050" dirty="0">
                <a:solidFill>
                  <a:schemeClr val="accent6"/>
                </a:solidFill>
                <a:latin typeface="Arial" panose="020B0604020202020204" pitchFamily="34" charset="0"/>
                <a:cs typeface="Arial" panose="020B0604020202020204" pitchFamily="34" charset="0"/>
              </a:rPr>
              <a:t>Comparability</a:t>
            </a:r>
          </a:p>
        </p:txBody>
      </p:sp>
      <p:sp>
        <p:nvSpPr>
          <p:cNvPr id="82" name="TextBox 81">
            <a:extLst>
              <a:ext uri="{FF2B5EF4-FFF2-40B4-BE49-F238E27FC236}">
                <a16:creationId xmlns:a16="http://schemas.microsoft.com/office/drawing/2014/main" id="{D0F0CF7F-8622-4E1C-B116-0010860D3603}"/>
              </a:ext>
            </a:extLst>
          </p:cNvPr>
          <p:cNvSpPr txBox="1"/>
          <p:nvPr/>
        </p:nvSpPr>
        <p:spPr>
          <a:xfrm>
            <a:off x="9014806" y="3949707"/>
            <a:ext cx="1207441" cy="261610"/>
          </a:xfrm>
          <a:prstGeom prst="rect">
            <a:avLst/>
          </a:prstGeom>
          <a:noFill/>
        </p:spPr>
        <p:txBody>
          <a:bodyPr wrap="square" rtlCol="0">
            <a:spAutoFit/>
          </a:bodyPr>
          <a:lstStyle/>
          <a:p>
            <a:pPr algn="ctr"/>
            <a:r>
              <a:rPr lang="en-GB" sz="1050" dirty="0">
                <a:solidFill>
                  <a:schemeClr val="accent6"/>
                </a:solidFill>
                <a:latin typeface="Arial" panose="020B0604020202020204" pitchFamily="34" charset="0"/>
                <a:cs typeface="Arial" panose="020B0604020202020204" pitchFamily="34" charset="0"/>
              </a:rPr>
              <a:t>Timeliness</a:t>
            </a:r>
          </a:p>
        </p:txBody>
      </p:sp>
      <p:sp>
        <p:nvSpPr>
          <p:cNvPr id="83" name="TextBox 82">
            <a:extLst>
              <a:ext uri="{FF2B5EF4-FFF2-40B4-BE49-F238E27FC236}">
                <a16:creationId xmlns:a16="http://schemas.microsoft.com/office/drawing/2014/main" id="{7B0BE228-2DA8-4291-8323-20B7949369B6}"/>
              </a:ext>
            </a:extLst>
          </p:cNvPr>
          <p:cNvSpPr txBox="1"/>
          <p:nvPr/>
        </p:nvSpPr>
        <p:spPr>
          <a:xfrm>
            <a:off x="7573235" y="4444846"/>
            <a:ext cx="1207441" cy="577081"/>
          </a:xfrm>
          <a:prstGeom prst="rect">
            <a:avLst/>
          </a:prstGeom>
          <a:noFill/>
        </p:spPr>
        <p:txBody>
          <a:bodyPr wrap="square" rtlCol="0">
            <a:spAutoFit/>
          </a:bodyPr>
          <a:lstStyle/>
          <a:p>
            <a:pPr algn="ctr"/>
            <a:r>
              <a:rPr lang="en-GB" sz="1050" dirty="0">
                <a:solidFill>
                  <a:schemeClr val="accent6"/>
                </a:solidFill>
                <a:latin typeface="Arial" panose="020B0604020202020204" pitchFamily="34" charset="0"/>
                <a:cs typeface="Arial" panose="020B0604020202020204" pitchFamily="34" charset="0"/>
              </a:rPr>
              <a:t>Conciseness</a:t>
            </a:r>
          </a:p>
          <a:p>
            <a:pPr algn="ctr"/>
            <a:r>
              <a:rPr lang="en-GB" sz="1050" dirty="0">
                <a:solidFill>
                  <a:schemeClr val="accent6"/>
                </a:solidFill>
                <a:latin typeface="Arial" panose="020B0604020202020204" pitchFamily="34" charset="0"/>
                <a:cs typeface="Arial" panose="020B0604020202020204" pitchFamily="34" charset="0"/>
              </a:rPr>
              <a:t>Clarity</a:t>
            </a:r>
          </a:p>
          <a:p>
            <a:pPr algn="ctr"/>
            <a:r>
              <a:rPr lang="en-GB" sz="1050" dirty="0">
                <a:solidFill>
                  <a:schemeClr val="accent6"/>
                </a:solidFill>
                <a:latin typeface="Arial" panose="020B0604020202020204" pitchFamily="34" charset="0"/>
                <a:cs typeface="Arial" panose="020B0604020202020204" pitchFamily="34" charset="0"/>
              </a:rPr>
              <a:t>Connectivity</a:t>
            </a:r>
          </a:p>
        </p:txBody>
      </p:sp>
      <p:sp>
        <p:nvSpPr>
          <p:cNvPr id="84" name="TextBox 83">
            <a:extLst>
              <a:ext uri="{FF2B5EF4-FFF2-40B4-BE49-F238E27FC236}">
                <a16:creationId xmlns:a16="http://schemas.microsoft.com/office/drawing/2014/main" id="{59C7DC87-4E2E-498E-AB1C-0EEE9FAB5067}"/>
              </a:ext>
            </a:extLst>
          </p:cNvPr>
          <p:cNvSpPr txBox="1"/>
          <p:nvPr/>
        </p:nvSpPr>
        <p:spPr>
          <a:xfrm>
            <a:off x="9028304" y="4444846"/>
            <a:ext cx="1207441" cy="261610"/>
          </a:xfrm>
          <a:prstGeom prst="rect">
            <a:avLst/>
          </a:prstGeom>
          <a:noFill/>
        </p:spPr>
        <p:txBody>
          <a:bodyPr wrap="square" rtlCol="0">
            <a:spAutoFit/>
          </a:bodyPr>
          <a:lstStyle/>
          <a:p>
            <a:pPr algn="ctr"/>
            <a:r>
              <a:rPr lang="en-GB" sz="1050" dirty="0">
                <a:solidFill>
                  <a:schemeClr val="accent6"/>
                </a:solidFill>
                <a:latin typeface="Arial" panose="020B0604020202020204" pitchFamily="34" charset="0"/>
                <a:cs typeface="Arial" panose="020B0604020202020204" pitchFamily="34" charset="0"/>
              </a:rPr>
              <a:t>Usefulness</a:t>
            </a:r>
          </a:p>
        </p:txBody>
      </p:sp>
      <p:sp>
        <p:nvSpPr>
          <p:cNvPr id="85" name="TextBox 84">
            <a:extLst>
              <a:ext uri="{FF2B5EF4-FFF2-40B4-BE49-F238E27FC236}">
                <a16:creationId xmlns:a16="http://schemas.microsoft.com/office/drawing/2014/main" id="{CFC69BC7-7985-4F79-9B5E-6629DAEE8741}"/>
              </a:ext>
            </a:extLst>
          </p:cNvPr>
          <p:cNvSpPr txBox="1"/>
          <p:nvPr/>
        </p:nvSpPr>
        <p:spPr>
          <a:xfrm>
            <a:off x="4663100" y="5516167"/>
            <a:ext cx="1207441" cy="577081"/>
          </a:xfrm>
          <a:prstGeom prst="rect">
            <a:avLst/>
          </a:prstGeom>
          <a:noFill/>
          <a:ln>
            <a:noFill/>
          </a:ln>
        </p:spPr>
        <p:txBody>
          <a:bodyPr wrap="square" rtlCol="0">
            <a:spAutoFit/>
          </a:bodyPr>
          <a:lstStyle/>
          <a:p>
            <a:pPr algn="ctr"/>
            <a:r>
              <a:rPr lang="en-GB" sz="1050" dirty="0">
                <a:solidFill>
                  <a:schemeClr val="accent3"/>
                </a:solidFill>
                <a:latin typeface="Arial" panose="020B0604020202020204" pitchFamily="34" charset="0"/>
                <a:cs typeface="Arial" panose="020B0604020202020204" pitchFamily="34" charset="0"/>
              </a:rPr>
              <a:t>Occurrence</a:t>
            </a:r>
          </a:p>
          <a:p>
            <a:pPr algn="ctr"/>
            <a:r>
              <a:rPr lang="en-GB" sz="1050" dirty="0">
                <a:solidFill>
                  <a:schemeClr val="accent3"/>
                </a:solidFill>
                <a:latin typeface="Arial" panose="020B0604020202020204" pitchFamily="34" charset="0"/>
                <a:cs typeface="Arial" panose="020B0604020202020204" pitchFamily="34" charset="0"/>
              </a:rPr>
              <a:t>Existence</a:t>
            </a:r>
          </a:p>
          <a:p>
            <a:pPr algn="ctr"/>
            <a:r>
              <a:rPr lang="en-GB" sz="1050" dirty="0" err="1">
                <a:solidFill>
                  <a:schemeClr val="accent3"/>
                </a:solidFill>
                <a:latin typeface="Arial" panose="020B0604020202020204" pitchFamily="34" charset="0"/>
                <a:cs typeface="Arial" panose="020B0604020202020204" pitchFamily="34" charset="0"/>
              </a:rPr>
              <a:t>Cutoff</a:t>
            </a:r>
            <a:endParaRPr lang="en-GB" sz="1050" dirty="0">
              <a:solidFill>
                <a:schemeClr val="accent3"/>
              </a:solidFill>
              <a:latin typeface="Arial" panose="020B0604020202020204" pitchFamily="34" charset="0"/>
              <a:cs typeface="Arial" panose="020B0604020202020204" pitchFamily="34" charset="0"/>
            </a:endParaRPr>
          </a:p>
        </p:txBody>
      </p:sp>
      <p:sp>
        <p:nvSpPr>
          <p:cNvPr id="86" name="TextBox 85">
            <a:extLst>
              <a:ext uri="{FF2B5EF4-FFF2-40B4-BE49-F238E27FC236}">
                <a16:creationId xmlns:a16="http://schemas.microsoft.com/office/drawing/2014/main" id="{79B9644A-9F43-41E0-BC22-B89E34D17F2F}"/>
              </a:ext>
            </a:extLst>
          </p:cNvPr>
          <p:cNvSpPr txBox="1"/>
          <p:nvPr/>
        </p:nvSpPr>
        <p:spPr>
          <a:xfrm>
            <a:off x="7460195" y="5516167"/>
            <a:ext cx="1455061" cy="577081"/>
          </a:xfrm>
          <a:prstGeom prst="rect">
            <a:avLst/>
          </a:prstGeom>
          <a:noFill/>
          <a:ln>
            <a:noFill/>
          </a:ln>
        </p:spPr>
        <p:txBody>
          <a:bodyPr wrap="square" rtlCol="0">
            <a:spAutoFit/>
          </a:bodyPr>
          <a:lstStyle/>
          <a:p>
            <a:pPr algn="ctr"/>
            <a:r>
              <a:rPr lang="en-GB" sz="1050" dirty="0">
                <a:solidFill>
                  <a:schemeClr val="accent3"/>
                </a:solidFill>
                <a:latin typeface="Arial" panose="020B0604020202020204" pitchFamily="34" charset="0"/>
                <a:cs typeface="Arial" panose="020B0604020202020204" pitchFamily="34" charset="0"/>
              </a:rPr>
              <a:t>Understandability</a:t>
            </a:r>
          </a:p>
          <a:p>
            <a:pPr algn="ctr"/>
            <a:r>
              <a:rPr lang="en-GB" sz="1050" dirty="0">
                <a:solidFill>
                  <a:schemeClr val="accent3"/>
                </a:solidFill>
                <a:latin typeface="Arial" panose="020B0604020202020204" pitchFamily="34" charset="0"/>
                <a:cs typeface="Arial" panose="020B0604020202020204" pitchFamily="34" charset="0"/>
              </a:rPr>
              <a:t>Comparability</a:t>
            </a:r>
          </a:p>
          <a:p>
            <a:pPr algn="ctr"/>
            <a:r>
              <a:rPr lang="en-GB" sz="1050" dirty="0">
                <a:solidFill>
                  <a:schemeClr val="accent3"/>
                </a:solidFill>
                <a:latin typeface="Arial" panose="020B0604020202020204" pitchFamily="34" charset="0"/>
                <a:cs typeface="Arial" panose="020B0604020202020204" pitchFamily="34" charset="0"/>
              </a:rPr>
              <a:t>Classification</a:t>
            </a:r>
          </a:p>
        </p:txBody>
      </p:sp>
      <p:sp>
        <p:nvSpPr>
          <p:cNvPr id="87" name="Rectangle 86">
            <a:extLst>
              <a:ext uri="{FF2B5EF4-FFF2-40B4-BE49-F238E27FC236}">
                <a16:creationId xmlns:a16="http://schemas.microsoft.com/office/drawing/2014/main" id="{D1048A30-68A0-4F49-A905-C956DF15C48F}"/>
              </a:ext>
            </a:extLst>
          </p:cNvPr>
          <p:cNvSpPr/>
          <p:nvPr/>
        </p:nvSpPr>
        <p:spPr>
          <a:xfrm>
            <a:off x="4663099" y="6056794"/>
            <a:ext cx="4117578" cy="219826"/>
          </a:xfrm>
          <a:prstGeom prst="rect">
            <a:avLst/>
          </a:prstGeom>
          <a:solidFill>
            <a:schemeClr val="bg1"/>
          </a:solidFill>
          <a:ln>
            <a:solidFill>
              <a:schemeClr val="tx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050" dirty="0">
                <a:solidFill>
                  <a:schemeClr val="accent3"/>
                </a:solidFill>
                <a:latin typeface="Arial" panose="020B0604020202020204" pitchFamily="34" charset="0"/>
                <a:cs typeface="Arial" panose="020B0604020202020204" pitchFamily="34" charset="0"/>
              </a:rPr>
              <a:t>Neutrality</a:t>
            </a:r>
          </a:p>
        </p:txBody>
      </p:sp>
      <p:sp>
        <p:nvSpPr>
          <p:cNvPr id="88" name="Rectangle 87">
            <a:extLst>
              <a:ext uri="{FF2B5EF4-FFF2-40B4-BE49-F238E27FC236}">
                <a16:creationId xmlns:a16="http://schemas.microsoft.com/office/drawing/2014/main" id="{2A8E4074-6D9B-43C1-9EEE-337B97F16823}"/>
              </a:ext>
            </a:extLst>
          </p:cNvPr>
          <p:cNvSpPr/>
          <p:nvPr/>
        </p:nvSpPr>
        <p:spPr>
          <a:xfrm>
            <a:off x="9028304" y="5197059"/>
            <a:ext cx="1207441" cy="319108"/>
          </a:xfrm>
          <a:prstGeom prst="rect">
            <a:avLst/>
          </a:prstGeom>
          <a:no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050" b="1" dirty="0">
                <a:solidFill>
                  <a:schemeClr val="accent3"/>
                </a:solidFill>
                <a:latin typeface="Arial" panose="020B0604020202020204" pitchFamily="34" charset="0"/>
                <a:cs typeface="Arial" panose="020B0604020202020204" pitchFamily="34" charset="0"/>
              </a:rPr>
              <a:t>Relevance</a:t>
            </a:r>
          </a:p>
        </p:txBody>
      </p:sp>
      <p:sp>
        <p:nvSpPr>
          <p:cNvPr id="89" name="Rectangle 88">
            <a:extLst>
              <a:ext uri="{FF2B5EF4-FFF2-40B4-BE49-F238E27FC236}">
                <a16:creationId xmlns:a16="http://schemas.microsoft.com/office/drawing/2014/main" id="{F71A94FF-0105-481B-B853-BAE35C93E67C}"/>
              </a:ext>
            </a:extLst>
          </p:cNvPr>
          <p:cNvSpPr/>
          <p:nvPr/>
        </p:nvSpPr>
        <p:spPr>
          <a:xfrm>
            <a:off x="8780677" y="2649582"/>
            <a:ext cx="1455069" cy="319108"/>
          </a:xfrm>
          <a:prstGeom prst="rect">
            <a:avLst/>
          </a:prstGeom>
          <a:solidFill>
            <a:schemeClr val="bg1"/>
          </a:solidFill>
          <a:ln>
            <a:solidFill>
              <a:schemeClr val="accent1"/>
            </a:solidFill>
            <a:prstDash val="lg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050" b="1" dirty="0">
              <a:solidFill>
                <a:schemeClr val="accent2"/>
              </a:solidFill>
              <a:latin typeface="Arial" panose="020B0604020202020204" pitchFamily="34" charset="0"/>
              <a:cs typeface="Arial" panose="020B0604020202020204" pitchFamily="34" charset="0"/>
            </a:endParaRPr>
          </a:p>
        </p:txBody>
      </p:sp>
      <p:sp>
        <p:nvSpPr>
          <p:cNvPr id="90" name="Rectangle 89">
            <a:extLst>
              <a:ext uri="{FF2B5EF4-FFF2-40B4-BE49-F238E27FC236}">
                <a16:creationId xmlns:a16="http://schemas.microsoft.com/office/drawing/2014/main" id="{F5566CFD-78DB-49EC-984C-7470354AFBF7}"/>
              </a:ext>
            </a:extLst>
          </p:cNvPr>
          <p:cNvSpPr/>
          <p:nvPr/>
        </p:nvSpPr>
        <p:spPr>
          <a:xfrm>
            <a:off x="8750473" y="2653456"/>
            <a:ext cx="69532" cy="31291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p>
        </p:txBody>
      </p:sp>
      <p:sp>
        <p:nvSpPr>
          <p:cNvPr id="91" name="TextBox 90">
            <a:extLst>
              <a:ext uri="{FF2B5EF4-FFF2-40B4-BE49-F238E27FC236}">
                <a16:creationId xmlns:a16="http://schemas.microsoft.com/office/drawing/2014/main" id="{6277A22B-AC09-4F7C-9C85-298B0B125446}"/>
              </a:ext>
            </a:extLst>
          </p:cNvPr>
          <p:cNvSpPr txBox="1"/>
          <p:nvPr/>
        </p:nvSpPr>
        <p:spPr>
          <a:xfrm>
            <a:off x="2195769" y="4444846"/>
            <a:ext cx="2176287" cy="400110"/>
          </a:xfrm>
          <a:prstGeom prst="rect">
            <a:avLst/>
          </a:prstGeom>
          <a:noFill/>
        </p:spPr>
        <p:txBody>
          <a:bodyPr wrap="square" rtlCol="0">
            <a:spAutoFit/>
          </a:bodyPr>
          <a:lstStyle/>
          <a:p>
            <a:r>
              <a:rPr lang="en-GB" sz="1000" dirty="0">
                <a:latin typeface="Arial" panose="020B0604020202020204" pitchFamily="34" charset="0"/>
                <a:cs typeface="Arial" panose="020B0604020202020204" pitchFamily="34" charset="0"/>
              </a:rPr>
              <a:t>Examples of related characteristics in EER frameworks (generalized)</a:t>
            </a:r>
          </a:p>
        </p:txBody>
      </p:sp>
    </p:spTree>
    <p:extLst>
      <p:ext uri="{BB962C8B-B14F-4D97-AF65-F5344CB8AC3E}">
        <p14:creationId xmlns:p14="http://schemas.microsoft.com/office/powerpoint/2010/main" val="41002714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CB293-FD8E-4F6C-92E5-62197E3FBA35}"/>
              </a:ext>
            </a:extLst>
          </p:cNvPr>
          <p:cNvSpPr>
            <a:spLocks noGrp="1"/>
          </p:cNvSpPr>
          <p:nvPr>
            <p:ph type="title"/>
          </p:nvPr>
        </p:nvSpPr>
        <p:spPr/>
        <p:txBody>
          <a:bodyPr/>
          <a:lstStyle/>
          <a:p>
            <a:r>
              <a:rPr lang="en-GB" dirty="0"/>
              <a:t>Building </a:t>
            </a:r>
            <a:r>
              <a:rPr lang="en-GB" b="1" dirty="0"/>
              <a:t>Assertions</a:t>
            </a:r>
            <a:r>
              <a:rPr lang="en-GB" dirty="0"/>
              <a:t> for Subject Matter Information of a Diverse Nature</a:t>
            </a:r>
          </a:p>
        </p:txBody>
      </p:sp>
      <p:sp>
        <p:nvSpPr>
          <p:cNvPr id="4" name="Subtitle 3">
            <a:extLst>
              <a:ext uri="{FF2B5EF4-FFF2-40B4-BE49-F238E27FC236}">
                <a16:creationId xmlns:a16="http://schemas.microsoft.com/office/drawing/2014/main" id="{B523B462-EC00-44AE-A4FD-59C48B8568FD}"/>
              </a:ext>
            </a:extLst>
          </p:cNvPr>
          <p:cNvSpPr>
            <a:spLocks noGrp="1"/>
          </p:cNvSpPr>
          <p:nvPr>
            <p:ph type="subTitle" idx="10"/>
          </p:nvPr>
        </p:nvSpPr>
        <p:spPr/>
        <p:txBody>
          <a:bodyPr/>
          <a:lstStyle/>
          <a:p>
            <a:endParaRPr lang="en-GB"/>
          </a:p>
        </p:txBody>
      </p:sp>
      <p:sp>
        <p:nvSpPr>
          <p:cNvPr id="5" name="Slide Number Placeholder 4">
            <a:extLst>
              <a:ext uri="{FF2B5EF4-FFF2-40B4-BE49-F238E27FC236}">
                <a16:creationId xmlns:a16="http://schemas.microsoft.com/office/drawing/2014/main" id="{5ED3D9D4-8FB3-463B-9D4F-12513A680A88}"/>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14</a:t>
            </a:fld>
            <a:endParaRPr lang="en-US" dirty="0">
              <a:latin typeface="Arial" panose="020B0604020202020204" pitchFamily="34" charset="0"/>
              <a:cs typeface="MS PGothic" charset="0"/>
            </a:endParaRPr>
          </a:p>
        </p:txBody>
      </p:sp>
      <p:sp>
        <p:nvSpPr>
          <p:cNvPr id="6" name="Arrow: Chevron 5">
            <a:extLst>
              <a:ext uri="{FF2B5EF4-FFF2-40B4-BE49-F238E27FC236}">
                <a16:creationId xmlns:a16="http://schemas.microsoft.com/office/drawing/2014/main" id="{AA019EF3-2054-4B1F-A278-94FEDEC44710}"/>
              </a:ext>
            </a:extLst>
          </p:cNvPr>
          <p:cNvSpPr/>
          <p:nvPr/>
        </p:nvSpPr>
        <p:spPr>
          <a:xfrm>
            <a:off x="633228" y="1364118"/>
            <a:ext cx="2728011" cy="713762"/>
          </a:xfrm>
          <a:prstGeom prst="chevron">
            <a:avLst>
              <a:gd name="adj" fmla="val 24918"/>
            </a:avLst>
          </a:prstGeom>
          <a:solidFill>
            <a:schemeClr val="accent3">
              <a:lumMod val="20000"/>
              <a:lumOff val="80000"/>
            </a:schemeClr>
          </a:solidFill>
          <a:ln w="25400" cap="flat" cmpd="sng" algn="ctr">
            <a:solidFill>
              <a:prstClr val="white">
                <a:hueOff val="0"/>
                <a:satOff val="0"/>
                <a:lumOff val="0"/>
                <a:alphaOff val="0"/>
              </a:prstClr>
            </a:solidFill>
            <a:prstDash val="solid"/>
          </a:ln>
          <a:effectLst/>
        </p:spPr>
        <p:txBody>
          <a:bodyPr spcFirstLastPara="0" vert="horz" wrap="square" lIns="127000" tIns="0" rIns="127000" bIns="0" numCol="1" spcCol="1270" anchor="ctr" anchorCtr="0">
            <a:noAutofit/>
          </a:bodyPr>
          <a:lstStyle/>
          <a:p>
            <a:endParaRPr lang="en-GB" sz="1400" dirty="0">
              <a:solidFill>
                <a:schemeClr val="bg1"/>
              </a:solidFill>
              <a:latin typeface="Arial" panose="020B0604020202020204" pitchFamily="34" charset="0"/>
              <a:cs typeface="Arial" panose="020B0604020202020204" pitchFamily="34" charset="0"/>
            </a:endParaRPr>
          </a:p>
        </p:txBody>
      </p:sp>
      <p:pic>
        <p:nvPicPr>
          <p:cNvPr id="21" name="Graphic 20" descr="Head with Gears">
            <a:extLst>
              <a:ext uri="{FF2B5EF4-FFF2-40B4-BE49-F238E27FC236}">
                <a16:creationId xmlns:a16="http://schemas.microsoft.com/office/drawing/2014/main" id="{08D7732C-029E-490E-859A-3A7D27AB38D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74994" y="1403177"/>
            <a:ext cx="642425" cy="642425"/>
          </a:xfrm>
          <a:prstGeom prst="rect">
            <a:avLst/>
          </a:prstGeom>
        </p:spPr>
      </p:pic>
      <p:sp>
        <p:nvSpPr>
          <p:cNvPr id="23" name="TextBox 22">
            <a:extLst>
              <a:ext uri="{FF2B5EF4-FFF2-40B4-BE49-F238E27FC236}">
                <a16:creationId xmlns:a16="http://schemas.microsoft.com/office/drawing/2014/main" id="{C442F61A-5D1F-428A-94A9-1EAD05F2963F}"/>
              </a:ext>
            </a:extLst>
          </p:cNvPr>
          <p:cNvSpPr txBox="1"/>
          <p:nvPr/>
        </p:nvSpPr>
        <p:spPr>
          <a:xfrm>
            <a:off x="1679435" y="1459389"/>
            <a:ext cx="1463585" cy="523220"/>
          </a:xfrm>
          <a:prstGeom prst="rect">
            <a:avLst/>
          </a:prstGeom>
          <a:noFill/>
        </p:spPr>
        <p:txBody>
          <a:bodyPr wrap="square" rtlCol="0">
            <a:spAutoFit/>
          </a:bodyPr>
          <a:lstStyle/>
          <a:p>
            <a:r>
              <a:rPr lang="en-GB" sz="1400" dirty="0">
                <a:solidFill>
                  <a:schemeClr val="bg1"/>
                </a:solidFill>
                <a:latin typeface="Arial" panose="020B0604020202020204" pitchFamily="34" charset="0"/>
                <a:cs typeface="Arial" panose="020B0604020202020204" pitchFamily="34" charset="0"/>
              </a:rPr>
              <a:t>Generalized construct</a:t>
            </a:r>
          </a:p>
        </p:txBody>
      </p:sp>
      <p:sp>
        <p:nvSpPr>
          <p:cNvPr id="24" name="Arrow: Chevron 23">
            <a:extLst>
              <a:ext uri="{FF2B5EF4-FFF2-40B4-BE49-F238E27FC236}">
                <a16:creationId xmlns:a16="http://schemas.microsoft.com/office/drawing/2014/main" id="{5DA552CC-1BF5-404D-A1EF-996825B0C607}"/>
              </a:ext>
            </a:extLst>
          </p:cNvPr>
          <p:cNvSpPr/>
          <p:nvPr/>
        </p:nvSpPr>
        <p:spPr>
          <a:xfrm>
            <a:off x="3367989" y="1364118"/>
            <a:ext cx="2728011" cy="713762"/>
          </a:xfrm>
          <a:prstGeom prst="chevron">
            <a:avLst>
              <a:gd name="adj" fmla="val 24918"/>
            </a:avLst>
          </a:prstGeom>
          <a:solidFill>
            <a:schemeClr val="accent3">
              <a:lumMod val="20000"/>
              <a:lumOff val="80000"/>
            </a:schemeClr>
          </a:solidFill>
          <a:ln w="25400" cap="flat" cmpd="sng" algn="ctr">
            <a:solidFill>
              <a:prstClr val="white">
                <a:hueOff val="0"/>
                <a:satOff val="0"/>
                <a:lumOff val="0"/>
                <a:alphaOff val="0"/>
              </a:prstClr>
            </a:solidFill>
            <a:prstDash val="solid"/>
          </a:ln>
          <a:effectLst/>
        </p:spPr>
        <p:txBody>
          <a:bodyPr spcFirstLastPara="0" vert="horz" wrap="square" lIns="127000" tIns="0" rIns="127000" bIns="0" numCol="1" spcCol="1270" anchor="ctr" anchorCtr="0">
            <a:noAutofit/>
          </a:bodyPr>
          <a:lstStyle/>
          <a:p>
            <a:endParaRPr lang="en-GB" sz="1400" dirty="0">
              <a:solidFill>
                <a:schemeClr val="bg1"/>
              </a:solidFill>
              <a:latin typeface="Arial" panose="020B0604020202020204" pitchFamily="34" charset="0"/>
              <a:cs typeface="Arial" panose="020B0604020202020204" pitchFamily="34" charset="0"/>
            </a:endParaRPr>
          </a:p>
        </p:txBody>
      </p:sp>
      <p:sp>
        <p:nvSpPr>
          <p:cNvPr id="27" name="TextBox 26">
            <a:extLst>
              <a:ext uri="{FF2B5EF4-FFF2-40B4-BE49-F238E27FC236}">
                <a16:creationId xmlns:a16="http://schemas.microsoft.com/office/drawing/2014/main" id="{41A820CA-2131-4E78-90DA-D5DFF6C42C00}"/>
              </a:ext>
            </a:extLst>
          </p:cNvPr>
          <p:cNvSpPr txBox="1"/>
          <p:nvPr/>
        </p:nvSpPr>
        <p:spPr>
          <a:xfrm>
            <a:off x="4414196" y="1568899"/>
            <a:ext cx="1463585" cy="307777"/>
          </a:xfrm>
          <a:prstGeom prst="rect">
            <a:avLst/>
          </a:prstGeom>
          <a:noFill/>
        </p:spPr>
        <p:txBody>
          <a:bodyPr wrap="square" rtlCol="0">
            <a:spAutoFit/>
          </a:bodyPr>
          <a:lstStyle/>
          <a:p>
            <a:r>
              <a:rPr lang="en-GB" sz="1400" dirty="0">
                <a:solidFill>
                  <a:schemeClr val="bg1"/>
                </a:solidFill>
                <a:latin typeface="Arial" panose="020B0604020202020204" pitchFamily="34" charset="0"/>
                <a:cs typeface="Arial" panose="020B0604020202020204" pitchFamily="34" charset="0"/>
              </a:rPr>
              <a:t>Materiality</a:t>
            </a:r>
          </a:p>
        </p:txBody>
      </p:sp>
      <p:sp>
        <p:nvSpPr>
          <p:cNvPr id="28" name="Arrow: Chevron 27">
            <a:extLst>
              <a:ext uri="{FF2B5EF4-FFF2-40B4-BE49-F238E27FC236}">
                <a16:creationId xmlns:a16="http://schemas.microsoft.com/office/drawing/2014/main" id="{E183CB93-C443-4345-92A1-172F32732183}"/>
              </a:ext>
            </a:extLst>
          </p:cNvPr>
          <p:cNvSpPr/>
          <p:nvPr/>
        </p:nvSpPr>
        <p:spPr>
          <a:xfrm>
            <a:off x="6102750" y="1364118"/>
            <a:ext cx="2728011" cy="713762"/>
          </a:xfrm>
          <a:prstGeom prst="chevron">
            <a:avLst>
              <a:gd name="adj" fmla="val 24918"/>
            </a:avLst>
          </a:prstGeom>
          <a:solidFill>
            <a:schemeClr val="accent3">
              <a:lumMod val="20000"/>
              <a:lumOff val="80000"/>
            </a:schemeClr>
          </a:solidFill>
          <a:ln w="25400" cap="flat" cmpd="sng" algn="ctr">
            <a:solidFill>
              <a:prstClr val="white">
                <a:hueOff val="0"/>
                <a:satOff val="0"/>
                <a:lumOff val="0"/>
                <a:alphaOff val="0"/>
              </a:prstClr>
            </a:solidFill>
            <a:prstDash val="solid"/>
          </a:ln>
          <a:effectLst/>
        </p:spPr>
        <p:txBody>
          <a:bodyPr spcFirstLastPara="0" vert="horz" wrap="square" lIns="127000" tIns="0" rIns="127000" bIns="0" numCol="1" spcCol="1270" anchor="ctr" anchorCtr="0">
            <a:noAutofit/>
          </a:bodyPr>
          <a:lstStyle/>
          <a:p>
            <a:endParaRPr lang="en-GB" sz="1400" dirty="0">
              <a:solidFill>
                <a:schemeClr val="bg1"/>
              </a:solidFill>
              <a:latin typeface="Arial" panose="020B0604020202020204" pitchFamily="34" charset="0"/>
              <a:cs typeface="Arial" panose="020B0604020202020204" pitchFamily="34" charset="0"/>
            </a:endParaRPr>
          </a:p>
        </p:txBody>
      </p:sp>
      <p:sp>
        <p:nvSpPr>
          <p:cNvPr id="30" name="TextBox 29">
            <a:extLst>
              <a:ext uri="{FF2B5EF4-FFF2-40B4-BE49-F238E27FC236}">
                <a16:creationId xmlns:a16="http://schemas.microsoft.com/office/drawing/2014/main" id="{AA3B481A-45AB-4E35-99B5-02DFBA6B20C8}"/>
              </a:ext>
            </a:extLst>
          </p:cNvPr>
          <p:cNvSpPr txBox="1"/>
          <p:nvPr/>
        </p:nvSpPr>
        <p:spPr>
          <a:xfrm>
            <a:off x="7148957" y="1563858"/>
            <a:ext cx="1463585" cy="307777"/>
          </a:xfrm>
          <a:prstGeom prst="rect">
            <a:avLst/>
          </a:prstGeom>
          <a:noFill/>
        </p:spPr>
        <p:txBody>
          <a:bodyPr wrap="square" rtlCol="0">
            <a:spAutoFit/>
          </a:bodyPr>
          <a:lstStyle/>
          <a:p>
            <a:r>
              <a:rPr lang="en-GB" sz="1400" dirty="0">
                <a:solidFill>
                  <a:schemeClr val="bg1"/>
                </a:solidFill>
                <a:latin typeface="Arial" panose="020B0604020202020204" pitchFamily="34" charset="0"/>
                <a:cs typeface="Arial" panose="020B0604020202020204" pitchFamily="34" charset="0"/>
              </a:rPr>
              <a:t>Criteria</a:t>
            </a:r>
          </a:p>
        </p:txBody>
      </p:sp>
      <p:sp>
        <p:nvSpPr>
          <p:cNvPr id="31" name="Arrow: Chevron 30">
            <a:extLst>
              <a:ext uri="{FF2B5EF4-FFF2-40B4-BE49-F238E27FC236}">
                <a16:creationId xmlns:a16="http://schemas.microsoft.com/office/drawing/2014/main" id="{2F3D0BD4-B249-428C-A267-6FAF08D3C314}"/>
              </a:ext>
            </a:extLst>
          </p:cNvPr>
          <p:cNvSpPr/>
          <p:nvPr/>
        </p:nvSpPr>
        <p:spPr>
          <a:xfrm>
            <a:off x="8830761" y="1353733"/>
            <a:ext cx="2728011" cy="713762"/>
          </a:xfrm>
          <a:prstGeom prst="chevron">
            <a:avLst>
              <a:gd name="adj" fmla="val 24918"/>
            </a:avLst>
          </a:prstGeom>
          <a:solidFill>
            <a:schemeClr val="accent3"/>
          </a:solidFill>
          <a:ln w="25400" cap="flat" cmpd="sng" algn="ctr">
            <a:solidFill>
              <a:prstClr val="white">
                <a:hueOff val="0"/>
                <a:satOff val="0"/>
                <a:lumOff val="0"/>
                <a:alphaOff val="0"/>
              </a:prstClr>
            </a:solidFill>
            <a:prstDash val="solid"/>
          </a:ln>
          <a:effectLst/>
        </p:spPr>
        <p:txBody>
          <a:bodyPr spcFirstLastPara="0" vert="horz" wrap="square" lIns="127000" tIns="0" rIns="127000" bIns="0" numCol="1" spcCol="1270" anchor="ctr" anchorCtr="0">
            <a:noAutofit/>
          </a:bodyPr>
          <a:lstStyle/>
          <a:p>
            <a:endParaRPr lang="en-GB" sz="1400" dirty="0">
              <a:solidFill>
                <a:schemeClr val="bg1"/>
              </a:solidFill>
              <a:latin typeface="Arial" panose="020B0604020202020204" pitchFamily="34" charset="0"/>
              <a:cs typeface="Arial" panose="020B0604020202020204" pitchFamily="34" charset="0"/>
            </a:endParaRPr>
          </a:p>
        </p:txBody>
      </p:sp>
      <p:pic>
        <p:nvPicPr>
          <p:cNvPr id="32" name="Graphic 31" descr="Tools">
            <a:extLst>
              <a:ext uri="{FF2B5EF4-FFF2-40B4-BE49-F238E27FC236}">
                <a16:creationId xmlns:a16="http://schemas.microsoft.com/office/drawing/2014/main" id="{971AB0AB-C8DA-458A-897C-CBC13827F3F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072527" y="1423895"/>
            <a:ext cx="605762" cy="605762"/>
          </a:xfrm>
          <a:prstGeom prst="rect">
            <a:avLst/>
          </a:prstGeom>
        </p:spPr>
      </p:pic>
      <p:sp>
        <p:nvSpPr>
          <p:cNvPr id="33" name="TextBox 32">
            <a:extLst>
              <a:ext uri="{FF2B5EF4-FFF2-40B4-BE49-F238E27FC236}">
                <a16:creationId xmlns:a16="http://schemas.microsoft.com/office/drawing/2014/main" id="{564C376C-65EB-4FE8-998D-746722F1295C}"/>
              </a:ext>
            </a:extLst>
          </p:cNvPr>
          <p:cNvSpPr txBox="1"/>
          <p:nvPr/>
        </p:nvSpPr>
        <p:spPr>
          <a:xfrm>
            <a:off x="9876968" y="1553530"/>
            <a:ext cx="1463585" cy="307777"/>
          </a:xfrm>
          <a:prstGeom prst="rect">
            <a:avLst/>
          </a:prstGeom>
          <a:noFill/>
        </p:spPr>
        <p:txBody>
          <a:bodyPr wrap="square" rtlCol="0">
            <a:spAutoFit/>
          </a:bodyPr>
          <a:lstStyle/>
          <a:p>
            <a:r>
              <a:rPr lang="en-GB" sz="1400" dirty="0">
                <a:solidFill>
                  <a:schemeClr val="bg1"/>
                </a:solidFill>
                <a:latin typeface="Arial" panose="020B0604020202020204" pitchFamily="34" charset="0"/>
                <a:cs typeface="Arial" panose="020B0604020202020204" pitchFamily="34" charset="0"/>
              </a:rPr>
              <a:t>Assertions</a:t>
            </a:r>
          </a:p>
        </p:txBody>
      </p:sp>
      <p:pic>
        <p:nvPicPr>
          <p:cNvPr id="22" name="Graphic 21" descr="List">
            <a:extLst>
              <a:ext uri="{FF2B5EF4-FFF2-40B4-BE49-F238E27FC236}">
                <a16:creationId xmlns:a16="http://schemas.microsoft.com/office/drawing/2014/main" id="{8136C240-20D9-4378-8A43-AD4B8EB45B5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337766" y="1403177"/>
            <a:ext cx="645189" cy="645189"/>
          </a:xfrm>
          <a:prstGeom prst="rect">
            <a:avLst/>
          </a:prstGeom>
        </p:spPr>
      </p:pic>
      <p:pic>
        <p:nvPicPr>
          <p:cNvPr id="20" name="Graphic 19" descr="Magnifying glass">
            <a:extLst>
              <a:ext uri="{FF2B5EF4-FFF2-40B4-BE49-F238E27FC236}">
                <a16:creationId xmlns:a16="http://schemas.microsoft.com/office/drawing/2014/main" id="{2D2A8B34-3AA3-4520-A22E-6B246776DE43}"/>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612130" y="1403177"/>
            <a:ext cx="626480" cy="626480"/>
          </a:xfrm>
          <a:prstGeom prst="rect">
            <a:avLst/>
          </a:prstGeom>
        </p:spPr>
      </p:pic>
      <p:sp>
        <p:nvSpPr>
          <p:cNvPr id="17" name="Content Placeholder 2">
            <a:extLst>
              <a:ext uri="{FF2B5EF4-FFF2-40B4-BE49-F238E27FC236}">
                <a16:creationId xmlns:a16="http://schemas.microsoft.com/office/drawing/2014/main" id="{C26F5521-EFD0-4ADB-BD2A-6E8CDFCEBF87}"/>
              </a:ext>
            </a:extLst>
          </p:cNvPr>
          <p:cNvSpPr txBox="1">
            <a:spLocks/>
          </p:cNvSpPr>
          <p:nvPr/>
        </p:nvSpPr>
        <p:spPr>
          <a:xfrm>
            <a:off x="2174402" y="2480583"/>
            <a:ext cx="8912698" cy="3739241"/>
          </a:xfrm>
          <a:prstGeom prst="rect">
            <a:avLst/>
          </a:prstGeom>
        </p:spPr>
        <p:txBody>
          <a:bodyPr vert="horz" lIns="0" tIns="0" rIns="0" bIns="0" rtlCol="0">
            <a:noAutofit/>
          </a:bodyPr>
          <a:lstStyle>
            <a:lvl1pPr marL="173038" indent="-173038" algn="l" defTabSz="457200" rtl="0" eaLnBrk="1" latinLnBrk="0" hangingPunct="1">
              <a:spcBef>
                <a:spcPts val="1200"/>
              </a:spcBef>
              <a:buFont typeface="Arial"/>
              <a:buChar char="•"/>
              <a:defRPr sz="2000" kern="1200">
                <a:solidFill>
                  <a:schemeClr val="tx1">
                    <a:lumMod val="65000"/>
                    <a:lumOff val="35000"/>
                  </a:schemeClr>
                </a:solidFill>
                <a:latin typeface="Arial" panose="020B0604020202020204" pitchFamily="34" charset="0"/>
                <a:ea typeface="+mn-ea"/>
                <a:cs typeface="Arial" panose="020B0604020202020204" pitchFamily="34" charset="0"/>
              </a:defRPr>
            </a:lvl1pPr>
            <a:lvl2pPr marL="457200" indent="-228600" algn="l" defTabSz="457200" rtl="0" eaLnBrk="1" latinLnBrk="0" hangingPunct="1">
              <a:spcBef>
                <a:spcPts val="600"/>
              </a:spcBef>
              <a:spcAft>
                <a:spcPts val="400"/>
              </a:spcAft>
              <a:buFont typeface="Arial"/>
              <a:buChar char="–"/>
              <a:defRPr sz="1800" kern="1200">
                <a:solidFill>
                  <a:schemeClr val="tx1">
                    <a:lumMod val="65000"/>
                    <a:lumOff val="35000"/>
                  </a:schemeClr>
                </a:solidFill>
                <a:latin typeface="Arial" panose="020B0604020202020204" pitchFamily="34" charset="0"/>
                <a:ea typeface="+mn-ea"/>
                <a:cs typeface="Arial" panose="020B0604020202020204" pitchFamily="34" charset="0"/>
              </a:defRPr>
            </a:lvl2pPr>
            <a:lvl3pPr marL="630238" indent="-171450" algn="l" defTabSz="457200" rtl="0" eaLnBrk="1" latinLnBrk="0" hangingPunct="1">
              <a:spcBef>
                <a:spcPct val="20000"/>
              </a:spcBef>
              <a:buFont typeface="Arial"/>
              <a:buChar char="•"/>
              <a:defRPr sz="1600" kern="1200">
                <a:solidFill>
                  <a:schemeClr val="tx1">
                    <a:lumMod val="65000"/>
                    <a:lumOff val="35000"/>
                  </a:schemeClr>
                </a:solidFill>
                <a:latin typeface="Arial" panose="020B0604020202020204" pitchFamily="34" charset="0"/>
                <a:ea typeface="+mn-ea"/>
                <a:cs typeface="Arial" panose="020B0604020202020204" pitchFamily="34" charset="0"/>
              </a:defRPr>
            </a:lvl3pPr>
            <a:lvl4pPr marL="1600200" indent="-228600" algn="l" defTabSz="457200" rtl="0" eaLnBrk="1" latinLnBrk="0" hangingPunct="1">
              <a:spcBef>
                <a:spcPct val="20000"/>
              </a:spcBef>
              <a:buFont typeface="Arial"/>
              <a:buChar char="–"/>
              <a:defRPr sz="1400" kern="1200">
                <a:solidFill>
                  <a:schemeClr val="tx1"/>
                </a:solidFill>
                <a:latin typeface="Arial Narrow"/>
                <a:ea typeface="+mn-ea"/>
                <a:cs typeface="Arial Narrow"/>
              </a:defRPr>
            </a:lvl4pPr>
            <a:lvl5pPr marL="2057400" indent="-228600" algn="l" defTabSz="457200" rtl="0" eaLnBrk="1" latinLnBrk="0" hangingPunct="1">
              <a:spcBef>
                <a:spcPct val="20000"/>
              </a:spcBef>
              <a:buFont typeface="Arial"/>
              <a:buChar char="»"/>
              <a:defRPr sz="1400" kern="1200">
                <a:solidFill>
                  <a:schemeClr val="tx1"/>
                </a:solidFill>
                <a:latin typeface="Arial Narrow"/>
                <a:ea typeface="+mn-ea"/>
                <a:cs typeface="Arial Narrow"/>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GB" dirty="0">
                <a:solidFill>
                  <a:schemeClr val="bg1">
                    <a:lumMod val="50000"/>
                  </a:schemeClr>
                </a:solidFill>
              </a:rPr>
              <a:t>The IAASB is asked for its views on:</a:t>
            </a:r>
          </a:p>
          <a:p>
            <a:pPr marL="457200" indent="-457200">
              <a:buFont typeface="+mj-lt"/>
              <a:buAutoNum type="alphaLcParenR"/>
            </a:pPr>
            <a:r>
              <a:rPr lang="en-GB" dirty="0">
                <a:solidFill>
                  <a:schemeClr val="bg1">
                    <a:lumMod val="50000"/>
                  </a:schemeClr>
                </a:solidFill>
              </a:rPr>
              <a:t>whether the approach proposed in paragraph 80 in the issues paper is a helpful starting point for practitioners;</a:t>
            </a:r>
          </a:p>
          <a:p>
            <a:pPr marL="457200" indent="-457200">
              <a:buFont typeface="+mj-lt"/>
              <a:buAutoNum type="alphaLcParenR"/>
            </a:pPr>
            <a:r>
              <a:rPr lang="en-GB" dirty="0">
                <a:solidFill>
                  <a:schemeClr val="bg1">
                    <a:lumMod val="50000"/>
                  </a:schemeClr>
                </a:solidFill>
              </a:rPr>
              <a:t>the other concepts presented in the issues paper; and</a:t>
            </a:r>
          </a:p>
          <a:p>
            <a:pPr marL="457200" indent="-457200">
              <a:buFont typeface="+mj-lt"/>
              <a:buAutoNum type="alphaLcParenR"/>
            </a:pPr>
            <a:r>
              <a:rPr lang="en-GB" dirty="0">
                <a:solidFill>
                  <a:schemeClr val="bg1">
                    <a:lumMod val="50000"/>
                  </a:schemeClr>
                </a:solidFill>
              </a:rPr>
              <a:t>the guidance skeleton presented in Agenda Item 4-B.</a:t>
            </a:r>
          </a:p>
        </p:txBody>
      </p:sp>
      <p:sp>
        <p:nvSpPr>
          <p:cNvPr id="18" name="Content Placeholder 2">
            <a:extLst>
              <a:ext uri="{FF2B5EF4-FFF2-40B4-BE49-F238E27FC236}">
                <a16:creationId xmlns:a16="http://schemas.microsoft.com/office/drawing/2014/main" id="{B0CCF75E-916A-4D74-A4D3-8CB8AB4E0AF8}"/>
              </a:ext>
            </a:extLst>
          </p:cNvPr>
          <p:cNvSpPr txBox="1">
            <a:spLocks/>
          </p:cNvSpPr>
          <p:nvPr/>
        </p:nvSpPr>
        <p:spPr>
          <a:xfrm>
            <a:off x="690148" y="2363570"/>
            <a:ext cx="1193587" cy="713762"/>
          </a:xfrm>
          <a:prstGeom prst="rect">
            <a:avLst/>
          </a:prstGeom>
        </p:spPr>
        <p:txBody>
          <a:bodyPr vert="horz" lIns="0" tIns="0" rIns="0" bIns="0" rtlCol="0">
            <a:noAutofit/>
          </a:bodyPr>
          <a:lstStyle>
            <a:lvl1pPr marL="173038" indent="-173038" algn="l" defTabSz="457200" rtl="0" eaLnBrk="1" latinLnBrk="0" hangingPunct="1">
              <a:spcBef>
                <a:spcPts val="1200"/>
              </a:spcBef>
              <a:buFont typeface="Arial"/>
              <a:buChar char="•"/>
              <a:defRPr sz="2000" kern="1200">
                <a:solidFill>
                  <a:schemeClr val="tx1">
                    <a:lumMod val="65000"/>
                    <a:lumOff val="35000"/>
                  </a:schemeClr>
                </a:solidFill>
                <a:latin typeface="Arial" panose="020B0604020202020204" pitchFamily="34" charset="0"/>
                <a:ea typeface="+mn-ea"/>
                <a:cs typeface="Arial" panose="020B0604020202020204" pitchFamily="34" charset="0"/>
              </a:defRPr>
            </a:lvl1pPr>
            <a:lvl2pPr marL="457200" indent="-228600" algn="l" defTabSz="457200" rtl="0" eaLnBrk="1" latinLnBrk="0" hangingPunct="1">
              <a:spcBef>
                <a:spcPts val="600"/>
              </a:spcBef>
              <a:spcAft>
                <a:spcPts val="400"/>
              </a:spcAft>
              <a:buFont typeface="Arial"/>
              <a:buChar char="–"/>
              <a:defRPr sz="1800" kern="1200">
                <a:solidFill>
                  <a:schemeClr val="tx1">
                    <a:lumMod val="65000"/>
                    <a:lumOff val="35000"/>
                  </a:schemeClr>
                </a:solidFill>
                <a:latin typeface="Arial" panose="020B0604020202020204" pitchFamily="34" charset="0"/>
                <a:ea typeface="+mn-ea"/>
                <a:cs typeface="Arial" panose="020B0604020202020204" pitchFamily="34" charset="0"/>
              </a:defRPr>
            </a:lvl2pPr>
            <a:lvl3pPr marL="630238" indent="-171450" algn="l" defTabSz="457200" rtl="0" eaLnBrk="1" latinLnBrk="0" hangingPunct="1">
              <a:spcBef>
                <a:spcPct val="20000"/>
              </a:spcBef>
              <a:buFont typeface="Arial"/>
              <a:buChar char="•"/>
              <a:defRPr sz="1600" kern="1200">
                <a:solidFill>
                  <a:schemeClr val="tx1">
                    <a:lumMod val="65000"/>
                    <a:lumOff val="35000"/>
                  </a:schemeClr>
                </a:solidFill>
                <a:latin typeface="Arial" panose="020B0604020202020204" pitchFamily="34" charset="0"/>
                <a:ea typeface="+mn-ea"/>
                <a:cs typeface="Arial" panose="020B0604020202020204" pitchFamily="34" charset="0"/>
              </a:defRPr>
            </a:lvl3pPr>
            <a:lvl4pPr marL="1600200" indent="-228600" algn="l" defTabSz="457200" rtl="0" eaLnBrk="1" latinLnBrk="0" hangingPunct="1">
              <a:spcBef>
                <a:spcPct val="20000"/>
              </a:spcBef>
              <a:buFont typeface="Arial"/>
              <a:buChar char="–"/>
              <a:defRPr sz="1400" kern="1200">
                <a:solidFill>
                  <a:schemeClr val="tx1"/>
                </a:solidFill>
                <a:latin typeface="Arial Narrow"/>
                <a:ea typeface="+mn-ea"/>
                <a:cs typeface="Arial Narrow"/>
              </a:defRPr>
            </a:lvl4pPr>
            <a:lvl5pPr marL="2057400" indent="-228600" algn="l" defTabSz="457200" rtl="0" eaLnBrk="1" latinLnBrk="0" hangingPunct="1">
              <a:spcBef>
                <a:spcPct val="20000"/>
              </a:spcBef>
              <a:buFont typeface="Arial"/>
              <a:buChar char="»"/>
              <a:defRPr sz="1400" kern="1200">
                <a:solidFill>
                  <a:schemeClr val="tx1"/>
                </a:solidFill>
                <a:latin typeface="Arial Narrow"/>
                <a:ea typeface="+mn-ea"/>
                <a:cs typeface="Arial Narrow"/>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GB" sz="5400" b="1" dirty="0">
                <a:solidFill>
                  <a:schemeClr val="bg1">
                    <a:lumMod val="50000"/>
                  </a:schemeClr>
                </a:solidFill>
              </a:rPr>
              <a:t>Q5</a:t>
            </a:r>
          </a:p>
        </p:txBody>
      </p:sp>
    </p:spTree>
    <p:extLst>
      <p:ext uri="{BB962C8B-B14F-4D97-AF65-F5344CB8AC3E}">
        <p14:creationId xmlns:p14="http://schemas.microsoft.com/office/powerpoint/2010/main" val="9987942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30DE2-4D6D-47EE-AECB-F6F4EFE41E6D}"/>
              </a:ext>
            </a:extLst>
          </p:cNvPr>
          <p:cNvSpPr>
            <a:spLocks noGrp="1"/>
          </p:cNvSpPr>
          <p:nvPr>
            <p:ph type="title"/>
          </p:nvPr>
        </p:nvSpPr>
        <p:spPr/>
        <p:txBody>
          <a:bodyPr/>
          <a:lstStyle/>
          <a:p>
            <a:r>
              <a:rPr lang="en-GB" dirty="0"/>
              <a:t>Summary</a:t>
            </a:r>
          </a:p>
        </p:txBody>
      </p:sp>
      <p:sp>
        <p:nvSpPr>
          <p:cNvPr id="4" name="Subtitle 3">
            <a:extLst>
              <a:ext uri="{FF2B5EF4-FFF2-40B4-BE49-F238E27FC236}">
                <a16:creationId xmlns:a16="http://schemas.microsoft.com/office/drawing/2014/main" id="{A2BE00E7-77D9-42C8-905A-BBFD2E4864D1}"/>
              </a:ext>
            </a:extLst>
          </p:cNvPr>
          <p:cNvSpPr>
            <a:spLocks noGrp="1"/>
          </p:cNvSpPr>
          <p:nvPr>
            <p:ph type="subTitle" idx="10"/>
          </p:nvPr>
        </p:nvSpPr>
        <p:spPr/>
        <p:txBody>
          <a:bodyPr/>
          <a:lstStyle/>
          <a:p>
            <a:endParaRPr lang="en-GB"/>
          </a:p>
        </p:txBody>
      </p:sp>
      <p:sp>
        <p:nvSpPr>
          <p:cNvPr id="5" name="Slide Number Placeholder 4">
            <a:extLst>
              <a:ext uri="{FF2B5EF4-FFF2-40B4-BE49-F238E27FC236}">
                <a16:creationId xmlns:a16="http://schemas.microsoft.com/office/drawing/2014/main" id="{9B1DA959-47E3-4198-B906-3AD47FC0BFF8}"/>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15</a:t>
            </a:fld>
            <a:endParaRPr lang="en-US" dirty="0">
              <a:latin typeface="Arial" panose="020B0604020202020204" pitchFamily="34" charset="0"/>
              <a:cs typeface="MS PGothic" charset="0"/>
            </a:endParaRPr>
          </a:p>
        </p:txBody>
      </p:sp>
      <p:sp>
        <p:nvSpPr>
          <p:cNvPr id="6" name="Oval 5">
            <a:extLst>
              <a:ext uri="{FF2B5EF4-FFF2-40B4-BE49-F238E27FC236}">
                <a16:creationId xmlns:a16="http://schemas.microsoft.com/office/drawing/2014/main" id="{A0D05107-1686-4FD0-84FB-A20FABFC2CE7}"/>
              </a:ext>
            </a:extLst>
          </p:cNvPr>
          <p:cNvSpPr/>
          <p:nvPr/>
        </p:nvSpPr>
        <p:spPr>
          <a:xfrm>
            <a:off x="2208770" y="2190142"/>
            <a:ext cx="1589854" cy="1589854"/>
          </a:xfrm>
          <a:prstGeom prst="ellipse">
            <a:avLst/>
          </a:prstGeom>
          <a:solidFill>
            <a:schemeClr val="accent3"/>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b="1" dirty="0">
                <a:latin typeface="Arial" panose="020B0604020202020204" pitchFamily="34" charset="0"/>
                <a:cs typeface="Arial" panose="020B0604020202020204" pitchFamily="34" charset="0"/>
              </a:rPr>
              <a:t>underlying</a:t>
            </a:r>
          </a:p>
          <a:p>
            <a:pPr algn="ctr"/>
            <a:r>
              <a:rPr lang="en-GB" b="1" dirty="0">
                <a:latin typeface="Arial" panose="020B0604020202020204" pitchFamily="34" charset="0"/>
                <a:cs typeface="Arial" panose="020B0604020202020204" pitchFamily="34" charset="0"/>
              </a:rPr>
              <a:t>subject</a:t>
            </a:r>
          </a:p>
          <a:p>
            <a:pPr algn="ctr"/>
            <a:r>
              <a:rPr lang="en-GB" b="1" dirty="0">
                <a:latin typeface="Arial" panose="020B0604020202020204" pitchFamily="34" charset="0"/>
                <a:cs typeface="Arial" panose="020B0604020202020204" pitchFamily="34" charset="0"/>
              </a:rPr>
              <a:t>matter</a:t>
            </a:r>
            <a:endParaRPr lang="en-GB" sz="1400" b="1" dirty="0">
              <a:latin typeface="Arial" panose="020B0604020202020204" pitchFamily="34" charset="0"/>
              <a:cs typeface="Arial" panose="020B0604020202020204" pitchFamily="34" charset="0"/>
            </a:endParaRPr>
          </a:p>
        </p:txBody>
      </p:sp>
      <p:sp>
        <p:nvSpPr>
          <p:cNvPr id="7" name="Oval 6">
            <a:extLst>
              <a:ext uri="{FF2B5EF4-FFF2-40B4-BE49-F238E27FC236}">
                <a16:creationId xmlns:a16="http://schemas.microsoft.com/office/drawing/2014/main" id="{F946BD43-143C-418B-96FB-C29FCF40085A}"/>
              </a:ext>
            </a:extLst>
          </p:cNvPr>
          <p:cNvSpPr/>
          <p:nvPr/>
        </p:nvSpPr>
        <p:spPr>
          <a:xfrm>
            <a:off x="4932293" y="2190142"/>
            <a:ext cx="1589854" cy="1589854"/>
          </a:xfrm>
          <a:prstGeom prst="ellipse">
            <a:avLst/>
          </a:prstGeom>
          <a:solidFill>
            <a:schemeClr val="accent3"/>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b="1" dirty="0">
                <a:latin typeface="Arial" panose="020B0604020202020204" pitchFamily="34" charset="0"/>
                <a:cs typeface="Arial" panose="020B0604020202020204" pitchFamily="34" charset="0"/>
              </a:rPr>
              <a:t>criteria</a:t>
            </a:r>
            <a:endParaRPr lang="en-GB" sz="1400" b="1" dirty="0">
              <a:latin typeface="Arial" panose="020B0604020202020204" pitchFamily="34" charset="0"/>
              <a:cs typeface="Arial" panose="020B0604020202020204" pitchFamily="34" charset="0"/>
            </a:endParaRPr>
          </a:p>
        </p:txBody>
      </p:sp>
      <p:sp>
        <p:nvSpPr>
          <p:cNvPr id="8" name="Oval 7">
            <a:extLst>
              <a:ext uri="{FF2B5EF4-FFF2-40B4-BE49-F238E27FC236}">
                <a16:creationId xmlns:a16="http://schemas.microsoft.com/office/drawing/2014/main" id="{406735F1-6126-4E6A-81BC-8F8B950565B2}"/>
              </a:ext>
            </a:extLst>
          </p:cNvPr>
          <p:cNvSpPr/>
          <p:nvPr/>
        </p:nvSpPr>
        <p:spPr>
          <a:xfrm>
            <a:off x="8552454" y="2190142"/>
            <a:ext cx="1589854" cy="1589854"/>
          </a:xfrm>
          <a:prstGeom prst="ellipse">
            <a:avLst/>
          </a:prstGeom>
          <a:solidFill>
            <a:schemeClr val="accent3"/>
          </a:solid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b="1" dirty="0">
                <a:latin typeface="Arial" panose="020B0604020202020204" pitchFamily="34" charset="0"/>
                <a:cs typeface="Arial" panose="020B0604020202020204" pitchFamily="34" charset="0"/>
              </a:rPr>
              <a:t>subject</a:t>
            </a:r>
          </a:p>
          <a:p>
            <a:pPr algn="ctr"/>
            <a:r>
              <a:rPr lang="en-GB" b="1" dirty="0">
                <a:latin typeface="Arial" panose="020B0604020202020204" pitchFamily="34" charset="0"/>
                <a:cs typeface="Arial" panose="020B0604020202020204" pitchFamily="34" charset="0"/>
              </a:rPr>
              <a:t>matter</a:t>
            </a:r>
          </a:p>
          <a:p>
            <a:pPr algn="ctr"/>
            <a:r>
              <a:rPr lang="en-GB" b="1" dirty="0">
                <a:latin typeface="Arial" panose="020B0604020202020204" pitchFamily="34" charset="0"/>
                <a:cs typeface="Arial" panose="020B0604020202020204" pitchFamily="34" charset="0"/>
              </a:rPr>
              <a:t>information</a:t>
            </a:r>
          </a:p>
        </p:txBody>
      </p:sp>
      <p:pic>
        <p:nvPicPr>
          <p:cNvPr id="9" name="Graphic 8" descr="Add">
            <a:extLst>
              <a:ext uri="{FF2B5EF4-FFF2-40B4-BE49-F238E27FC236}">
                <a16:creationId xmlns:a16="http://schemas.microsoft.com/office/drawing/2014/main" id="{38CBE8E7-8B4D-452E-81D0-43CDC801CA9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110459" y="2730067"/>
            <a:ext cx="509999" cy="509999"/>
          </a:xfrm>
          <a:prstGeom prst="rect">
            <a:avLst/>
          </a:prstGeom>
        </p:spPr>
      </p:pic>
      <p:sp>
        <p:nvSpPr>
          <p:cNvPr id="10" name="Rectangle 9">
            <a:extLst>
              <a:ext uri="{FF2B5EF4-FFF2-40B4-BE49-F238E27FC236}">
                <a16:creationId xmlns:a16="http://schemas.microsoft.com/office/drawing/2014/main" id="{167176FC-ADD7-4FE5-8A41-279A34AF5715}"/>
              </a:ext>
            </a:extLst>
          </p:cNvPr>
          <p:cNvSpPr/>
          <p:nvPr/>
        </p:nvSpPr>
        <p:spPr>
          <a:xfrm>
            <a:off x="2208770" y="4158082"/>
            <a:ext cx="1589854" cy="425303"/>
          </a:xfrm>
          <a:prstGeom prst="rect">
            <a:avLst/>
          </a:prstGeom>
          <a:solidFill>
            <a:schemeClr val="accent6"/>
          </a:solidFill>
          <a:ln>
            <a:solidFill>
              <a:schemeClr val="accent6">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400" b="1" dirty="0">
                <a:latin typeface="Arial" panose="020B0604020202020204" pitchFamily="34" charset="0"/>
                <a:cs typeface="Arial" panose="020B0604020202020204" pitchFamily="34" charset="0"/>
              </a:rPr>
              <a:t>categories</a:t>
            </a:r>
          </a:p>
        </p:txBody>
      </p:sp>
      <p:sp>
        <p:nvSpPr>
          <p:cNvPr id="11" name="Rectangle 10">
            <a:extLst>
              <a:ext uri="{FF2B5EF4-FFF2-40B4-BE49-F238E27FC236}">
                <a16:creationId xmlns:a16="http://schemas.microsoft.com/office/drawing/2014/main" id="{FF79F5BE-9737-4406-AC4A-B46D6788AC4B}"/>
              </a:ext>
            </a:extLst>
          </p:cNvPr>
          <p:cNvSpPr/>
          <p:nvPr/>
        </p:nvSpPr>
        <p:spPr>
          <a:xfrm>
            <a:off x="2208770" y="4880155"/>
            <a:ext cx="1589854" cy="425303"/>
          </a:xfrm>
          <a:prstGeom prst="rect">
            <a:avLst/>
          </a:prstGeom>
          <a:solidFill>
            <a:schemeClr val="accent6"/>
          </a:solidFill>
          <a:ln>
            <a:solidFill>
              <a:schemeClr val="accent6">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400" b="1" dirty="0">
                <a:latin typeface="Arial" panose="020B0604020202020204" pitchFamily="34" charset="0"/>
                <a:cs typeface="Arial" panose="020B0604020202020204" pitchFamily="34" charset="0"/>
              </a:rPr>
              <a:t>topics</a:t>
            </a:r>
          </a:p>
        </p:txBody>
      </p:sp>
      <p:sp>
        <p:nvSpPr>
          <p:cNvPr id="12" name="Oval 11">
            <a:extLst>
              <a:ext uri="{FF2B5EF4-FFF2-40B4-BE49-F238E27FC236}">
                <a16:creationId xmlns:a16="http://schemas.microsoft.com/office/drawing/2014/main" id="{37F6242E-87C1-4E8F-9E33-A287225866B6}"/>
              </a:ext>
            </a:extLst>
          </p:cNvPr>
          <p:cNvSpPr/>
          <p:nvPr/>
        </p:nvSpPr>
        <p:spPr>
          <a:xfrm>
            <a:off x="2208771" y="5602229"/>
            <a:ext cx="269586" cy="269586"/>
          </a:xfrm>
          <a:prstGeom prst="ellipse">
            <a:avLst/>
          </a:prstGeom>
          <a:solidFill>
            <a:schemeClr val="bg1">
              <a:lumMod val="8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400" b="1" dirty="0">
                <a:solidFill>
                  <a:schemeClr val="tx1">
                    <a:lumMod val="75000"/>
                    <a:lumOff val="25000"/>
                  </a:schemeClr>
                </a:solidFill>
                <a:latin typeface="Arial" panose="020B0604020202020204" pitchFamily="34" charset="0"/>
                <a:cs typeface="Arial" panose="020B0604020202020204" pitchFamily="34" charset="0"/>
              </a:rPr>
              <a:t>r</a:t>
            </a:r>
          </a:p>
        </p:txBody>
      </p:sp>
      <p:cxnSp>
        <p:nvCxnSpPr>
          <p:cNvPr id="13" name="Straight Arrow Connector 12">
            <a:extLst>
              <a:ext uri="{FF2B5EF4-FFF2-40B4-BE49-F238E27FC236}">
                <a16:creationId xmlns:a16="http://schemas.microsoft.com/office/drawing/2014/main" id="{8BBE114E-22D9-4A3F-BD54-EB4BF3D0F5C0}"/>
              </a:ext>
            </a:extLst>
          </p:cNvPr>
          <p:cNvCxnSpPr>
            <a:cxnSpLocks/>
          </p:cNvCxnSpPr>
          <p:nvPr/>
        </p:nvCxnSpPr>
        <p:spPr>
          <a:xfrm>
            <a:off x="3010942" y="3885044"/>
            <a:ext cx="0" cy="227025"/>
          </a:xfrm>
          <a:prstGeom prst="straightConnector1">
            <a:avLst/>
          </a:prstGeom>
          <a:ln>
            <a:solidFill>
              <a:schemeClr val="bg1">
                <a:lumMod val="50000"/>
              </a:schemeClr>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3102F906-F637-49F4-B6F1-1E3F4D4B4A13}"/>
              </a:ext>
            </a:extLst>
          </p:cNvPr>
          <p:cNvCxnSpPr>
            <a:cxnSpLocks/>
          </p:cNvCxnSpPr>
          <p:nvPr/>
        </p:nvCxnSpPr>
        <p:spPr>
          <a:xfrm>
            <a:off x="3003697" y="4624383"/>
            <a:ext cx="0" cy="227025"/>
          </a:xfrm>
          <a:prstGeom prst="straightConnector1">
            <a:avLst/>
          </a:prstGeom>
          <a:ln>
            <a:solidFill>
              <a:schemeClr val="bg1">
                <a:lumMod val="50000"/>
              </a:schemeClr>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15" name="Oval 14">
            <a:extLst>
              <a:ext uri="{FF2B5EF4-FFF2-40B4-BE49-F238E27FC236}">
                <a16:creationId xmlns:a16="http://schemas.microsoft.com/office/drawing/2014/main" id="{71BD10C5-DE34-4AAE-88CB-075E0FFFB799}"/>
              </a:ext>
            </a:extLst>
          </p:cNvPr>
          <p:cNvSpPr/>
          <p:nvPr/>
        </p:nvSpPr>
        <p:spPr>
          <a:xfrm>
            <a:off x="2478357" y="5602228"/>
            <a:ext cx="269586" cy="269586"/>
          </a:xfrm>
          <a:prstGeom prst="ellipse">
            <a:avLst/>
          </a:prstGeom>
          <a:solidFill>
            <a:schemeClr val="bg1">
              <a:lumMod val="8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400" b="1" dirty="0">
                <a:solidFill>
                  <a:schemeClr val="tx1">
                    <a:lumMod val="75000"/>
                    <a:lumOff val="25000"/>
                  </a:schemeClr>
                </a:solidFill>
                <a:latin typeface="Arial" panose="020B0604020202020204" pitchFamily="34" charset="0"/>
                <a:cs typeface="Arial" panose="020B0604020202020204" pitchFamily="34" charset="0"/>
              </a:rPr>
              <a:t>e</a:t>
            </a:r>
          </a:p>
        </p:txBody>
      </p:sp>
      <p:sp>
        <p:nvSpPr>
          <p:cNvPr id="16" name="Oval 15">
            <a:extLst>
              <a:ext uri="{FF2B5EF4-FFF2-40B4-BE49-F238E27FC236}">
                <a16:creationId xmlns:a16="http://schemas.microsoft.com/office/drawing/2014/main" id="{F4AC28D6-C4A1-4A82-9E41-EF273C70652A}"/>
              </a:ext>
            </a:extLst>
          </p:cNvPr>
          <p:cNvSpPr/>
          <p:nvPr/>
        </p:nvSpPr>
        <p:spPr>
          <a:xfrm>
            <a:off x="2747943" y="5602228"/>
            <a:ext cx="269586" cy="269586"/>
          </a:xfrm>
          <a:prstGeom prst="ellipse">
            <a:avLst/>
          </a:prstGeom>
          <a:solidFill>
            <a:schemeClr val="bg1">
              <a:lumMod val="8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400" b="1" dirty="0">
                <a:solidFill>
                  <a:schemeClr val="tx1">
                    <a:lumMod val="75000"/>
                    <a:lumOff val="25000"/>
                  </a:schemeClr>
                </a:solidFill>
                <a:latin typeface="Arial" panose="020B0604020202020204" pitchFamily="34" charset="0"/>
                <a:cs typeface="Arial" panose="020B0604020202020204" pitchFamily="34" charset="0"/>
              </a:rPr>
              <a:t>s</a:t>
            </a:r>
          </a:p>
        </p:txBody>
      </p:sp>
      <p:sp>
        <p:nvSpPr>
          <p:cNvPr id="17" name="Oval 16">
            <a:extLst>
              <a:ext uri="{FF2B5EF4-FFF2-40B4-BE49-F238E27FC236}">
                <a16:creationId xmlns:a16="http://schemas.microsoft.com/office/drawing/2014/main" id="{F2DE53A4-40D7-44D7-A80F-C1A2A1236CE3}"/>
              </a:ext>
            </a:extLst>
          </p:cNvPr>
          <p:cNvSpPr/>
          <p:nvPr/>
        </p:nvSpPr>
        <p:spPr>
          <a:xfrm>
            <a:off x="3017529" y="5602229"/>
            <a:ext cx="269586" cy="269586"/>
          </a:xfrm>
          <a:prstGeom prst="ellipse">
            <a:avLst/>
          </a:prstGeom>
          <a:solidFill>
            <a:schemeClr val="bg1">
              <a:lumMod val="8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400" b="1" dirty="0">
                <a:solidFill>
                  <a:schemeClr val="tx1">
                    <a:lumMod val="75000"/>
                    <a:lumOff val="25000"/>
                  </a:schemeClr>
                </a:solidFill>
                <a:latin typeface="Arial" panose="020B0604020202020204" pitchFamily="34" charset="0"/>
                <a:cs typeface="Arial" panose="020B0604020202020204" pitchFamily="34" charset="0"/>
              </a:rPr>
              <a:t>o</a:t>
            </a:r>
          </a:p>
        </p:txBody>
      </p:sp>
      <p:sp>
        <p:nvSpPr>
          <p:cNvPr id="18" name="Oval 17">
            <a:extLst>
              <a:ext uri="{FF2B5EF4-FFF2-40B4-BE49-F238E27FC236}">
                <a16:creationId xmlns:a16="http://schemas.microsoft.com/office/drawing/2014/main" id="{0C05A103-63FC-4005-B579-847A74672341}"/>
              </a:ext>
            </a:extLst>
          </p:cNvPr>
          <p:cNvSpPr/>
          <p:nvPr/>
        </p:nvSpPr>
        <p:spPr>
          <a:xfrm>
            <a:off x="3287115" y="5602228"/>
            <a:ext cx="269586" cy="269586"/>
          </a:xfrm>
          <a:prstGeom prst="ellipse">
            <a:avLst/>
          </a:prstGeom>
          <a:solidFill>
            <a:schemeClr val="bg1">
              <a:lumMod val="8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400" b="1" dirty="0">
                <a:solidFill>
                  <a:schemeClr val="tx1">
                    <a:lumMod val="75000"/>
                    <a:lumOff val="25000"/>
                  </a:schemeClr>
                </a:solidFill>
                <a:latin typeface="Arial" panose="020B0604020202020204" pitchFamily="34" charset="0"/>
                <a:cs typeface="Arial" panose="020B0604020202020204" pitchFamily="34" charset="0"/>
              </a:rPr>
              <a:t>u</a:t>
            </a:r>
          </a:p>
        </p:txBody>
      </p:sp>
      <p:sp>
        <p:nvSpPr>
          <p:cNvPr id="19" name="Oval 18">
            <a:extLst>
              <a:ext uri="{FF2B5EF4-FFF2-40B4-BE49-F238E27FC236}">
                <a16:creationId xmlns:a16="http://schemas.microsoft.com/office/drawing/2014/main" id="{26643DC3-F953-4FD4-A9A8-D02B129B8E73}"/>
              </a:ext>
            </a:extLst>
          </p:cNvPr>
          <p:cNvSpPr/>
          <p:nvPr/>
        </p:nvSpPr>
        <p:spPr>
          <a:xfrm>
            <a:off x="3556701" y="5602228"/>
            <a:ext cx="269586" cy="269586"/>
          </a:xfrm>
          <a:prstGeom prst="ellipse">
            <a:avLst/>
          </a:prstGeom>
          <a:solidFill>
            <a:schemeClr val="bg1">
              <a:lumMod val="8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400" b="1" dirty="0">
                <a:solidFill>
                  <a:schemeClr val="tx1">
                    <a:lumMod val="75000"/>
                    <a:lumOff val="25000"/>
                  </a:schemeClr>
                </a:solidFill>
                <a:latin typeface="Arial" panose="020B0604020202020204" pitchFamily="34" charset="0"/>
                <a:cs typeface="Arial" panose="020B0604020202020204" pitchFamily="34" charset="0"/>
              </a:rPr>
              <a:t>r</a:t>
            </a:r>
          </a:p>
        </p:txBody>
      </p:sp>
      <p:sp>
        <p:nvSpPr>
          <p:cNvPr id="20" name="Oval 19">
            <a:extLst>
              <a:ext uri="{FF2B5EF4-FFF2-40B4-BE49-F238E27FC236}">
                <a16:creationId xmlns:a16="http://schemas.microsoft.com/office/drawing/2014/main" id="{4D6F64FE-A253-431B-A28F-F8608F27DD25}"/>
              </a:ext>
            </a:extLst>
          </p:cNvPr>
          <p:cNvSpPr/>
          <p:nvPr/>
        </p:nvSpPr>
        <p:spPr>
          <a:xfrm>
            <a:off x="3826287" y="5602228"/>
            <a:ext cx="269586" cy="269586"/>
          </a:xfrm>
          <a:prstGeom prst="ellipse">
            <a:avLst/>
          </a:prstGeom>
          <a:solidFill>
            <a:schemeClr val="bg1">
              <a:lumMod val="8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400" b="1" dirty="0">
                <a:solidFill>
                  <a:schemeClr val="tx1">
                    <a:lumMod val="75000"/>
                    <a:lumOff val="25000"/>
                  </a:schemeClr>
                </a:solidFill>
                <a:latin typeface="Arial" panose="020B0604020202020204" pitchFamily="34" charset="0"/>
                <a:cs typeface="Arial" panose="020B0604020202020204" pitchFamily="34" charset="0"/>
              </a:rPr>
              <a:t>c</a:t>
            </a:r>
          </a:p>
        </p:txBody>
      </p:sp>
      <p:sp>
        <p:nvSpPr>
          <p:cNvPr id="21" name="Oval 20">
            <a:extLst>
              <a:ext uri="{FF2B5EF4-FFF2-40B4-BE49-F238E27FC236}">
                <a16:creationId xmlns:a16="http://schemas.microsoft.com/office/drawing/2014/main" id="{F61A0D1D-4DCB-4DD9-B65E-48C715FFB5E3}"/>
              </a:ext>
            </a:extLst>
          </p:cNvPr>
          <p:cNvSpPr/>
          <p:nvPr/>
        </p:nvSpPr>
        <p:spPr>
          <a:xfrm>
            <a:off x="4095873" y="5602227"/>
            <a:ext cx="269586" cy="269586"/>
          </a:xfrm>
          <a:prstGeom prst="ellipse">
            <a:avLst/>
          </a:prstGeom>
          <a:solidFill>
            <a:schemeClr val="bg1">
              <a:lumMod val="8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400" b="1" dirty="0">
                <a:solidFill>
                  <a:schemeClr val="tx1">
                    <a:lumMod val="75000"/>
                    <a:lumOff val="25000"/>
                  </a:schemeClr>
                </a:solidFill>
                <a:latin typeface="Arial" panose="020B0604020202020204" pitchFamily="34" charset="0"/>
                <a:cs typeface="Arial" panose="020B0604020202020204" pitchFamily="34" charset="0"/>
              </a:rPr>
              <a:t>e</a:t>
            </a:r>
          </a:p>
        </p:txBody>
      </p:sp>
      <p:sp>
        <p:nvSpPr>
          <p:cNvPr id="22" name="Oval 21">
            <a:extLst>
              <a:ext uri="{FF2B5EF4-FFF2-40B4-BE49-F238E27FC236}">
                <a16:creationId xmlns:a16="http://schemas.microsoft.com/office/drawing/2014/main" id="{E53ABC29-E678-4A42-9B9E-B2AA5954757D}"/>
              </a:ext>
            </a:extLst>
          </p:cNvPr>
          <p:cNvSpPr/>
          <p:nvPr/>
        </p:nvSpPr>
        <p:spPr>
          <a:xfrm>
            <a:off x="4365459" y="5602227"/>
            <a:ext cx="269586" cy="269586"/>
          </a:xfrm>
          <a:prstGeom prst="ellipse">
            <a:avLst/>
          </a:prstGeom>
          <a:solidFill>
            <a:schemeClr val="bg1">
              <a:lumMod val="8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400" b="1" dirty="0">
                <a:solidFill>
                  <a:schemeClr val="tx1">
                    <a:lumMod val="75000"/>
                    <a:lumOff val="25000"/>
                  </a:schemeClr>
                </a:solidFill>
                <a:latin typeface="Arial" panose="020B0604020202020204" pitchFamily="34" charset="0"/>
                <a:cs typeface="Arial" panose="020B0604020202020204" pitchFamily="34" charset="0"/>
              </a:rPr>
              <a:t>s</a:t>
            </a:r>
          </a:p>
        </p:txBody>
      </p:sp>
      <p:cxnSp>
        <p:nvCxnSpPr>
          <p:cNvPr id="23" name="Straight Arrow Connector 22">
            <a:extLst>
              <a:ext uri="{FF2B5EF4-FFF2-40B4-BE49-F238E27FC236}">
                <a16:creationId xmlns:a16="http://schemas.microsoft.com/office/drawing/2014/main" id="{474904A9-0898-4C0F-95D6-9259A94BA89E}"/>
              </a:ext>
            </a:extLst>
          </p:cNvPr>
          <p:cNvCxnSpPr>
            <a:cxnSpLocks/>
          </p:cNvCxnSpPr>
          <p:nvPr/>
        </p:nvCxnSpPr>
        <p:spPr>
          <a:xfrm>
            <a:off x="6751674" y="2985066"/>
            <a:ext cx="1541721" cy="0"/>
          </a:xfrm>
          <a:prstGeom prst="straightConnector1">
            <a:avLst/>
          </a:prstGeom>
          <a:ln w="57150">
            <a:solidFill>
              <a:schemeClr val="tx1">
                <a:lumMod val="65000"/>
                <a:lumOff val="35000"/>
              </a:schemeClr>
            </a:solidFill>
            <a:headEnd type="none" w="med" len="med"/>
            <a:tailEnd type="arrow" w="med" len="med"/>
          </a:ln>
          <a:effectLst/>
        </p:spPr>
        <p:style>
          <a:lnRef idx="2">
            <a:schemeClr val="accent1"/>
          </a:lnRef>
          <a:fillRef idx="0">
            <a:schemeClr val="accent1"/>
          </a:fillRef>
          <a:effectRef idx="1">
            <a:schemeClr val="accent1"/>
          </a:effectRef>
          <a:fontRef idx="minor">
            <a:schemeClr val="tx1"/>
          </a:fontRef>
        </p:style>
      </p:cxnSp>
      <p:sp>
        <p:nvSpPr>
          <p:cNvPr id="24" name="Freeform: Shape 23">
            <a:extLst>
              <a:ext uri="{FF2B5EF4-FFF2-40B4-BE49-F238E27FC236}">
                <a16:creationId xmlns:a16="http://schemas.microsoft.com/office/drawing/2014/main" id="{917DB466-C10B-4574-9827-C66C5DB46601}"/>
              </a:ext>
            </a:extLst>
          </p:cNvPr>
          <p:cNvSpPr/>
          <p:nvPr/>
        </p:nvSpPr>
        <p:spPr>
          <a:xfrm>
            <a:off x="4763385" y="4011116"/>
            <a:ext cx="4603891" cy="1722474"/>
          </a:xfrm>
          <a:custGeom>
            <a:avLst/>
            <a:gdLst>
              <a:gd name="connsiteX0" fmla="*/ 0 w 4199861"/>
              <a:gd name="connsiteY0" fmla="*/ 1722474 h 1722474"/>
              <a:gd name="connsiteX1" fmla="*/ 3498112 w 4199861"/>
              <a:gd name="connsiteY1" fmla="*/ 1265274 h 1722474"/>
              <a:gd name="connsiteX2" fmla="*/ 4199861 w 4199861"/>
              <a:gd name="connsiteY2" fmla="*/ 0 h 1722474"/>
            </a:gdLst>
            <a:ahLst/>
            <a:cxnLst>
              <a:cxn ang="0">
                <a:pos x="connsiteX0" y="connsiteY0"/>
              </a:cxn>
              <a:cxn ang="0">
                <a:pos x="connsiteX1" y="connsiteY1"/>
              </a:cxn>
              <a:cxn ang="0">
                <a:pos x="connsiteX2" y="connsiteY2"/>
              </a:cxn>
            </a:cxnLst>
            <a:rect l="l" t="t" r="r" b="b"/>
            <a:pathLst>
              <a:path w="4199861" h="1722474">
                <a:moveTo>
                  <a:pt x="0" y="1722474"/>
                </a:moveTo>
                <a:cubicBezTo>
                  <a:pt x="1399067" y="1637413"/>
                  <a:pt x="2798135" y="1552353"/>
                  <a:pt x="3498112" y="1265274"/>
                </a:cubicBezTo>
                <a:cubicBezTo>
                  <a:pt x="4198089" y="978195"/>
                  <a:pt x="4198975" y="489097"/>
                  <a:pt x="4199861" y="0"/>
                </a:cubicBezTo>
              </a:path>
            </a:pathLst>
          </a:custGeom>
          <a:ln w="57150">
            <a:solidFill>
              <a:schemeClr val="tx1">
                <a:lumMod val="65000"/>
                <a:lumOff val="35000"/>
              </a:schemeClr>
            </a:solidFill>
            <a:headEnd type="none" w="med" len="med"/>
            <a:tailEnd type="arrow"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25" name="TextBox 24">
            <a:extLst>
              <a:ext uri="{FF2B5EF4-FFF2-40B4-BE49-F238E27FC236}">
                <a16:creationId xmlns:a16="http://schemas.microsoft.com/office/drawing/2014/main" id="{C7957C8D-0AC4-4F20-8721-C54FE319DEFD}"/>
              </a:ext>
            </a:extLst>
          </p:cNvPr>
          <p:cNvSpPr txBox="1"/>
          <p:nvPr/>
        </p:nvSpPr>
        <p:spPr>
          <a:xfrm rot="21375587">
            <a:off x="5520755" y="5579143"/>
            <a:ext cx="2340597" cy="276999"/>
          </a:xfrm>
          <a:prstGeom prst="rect">
            <a:avLst/>
          </a:prstGeom>
          <a:noFill/>
        </p:spPr>
        <p:txBody>
          <a:bodyPr wrap="square" rtlCol="0">
            <a:spAutoFit/>
          </a:bodyPr>
          <a:lstStyle/>
          <a:p>
            <a:pPr algn="ctr"/>
            <a:r>
              <a:rPr lang="en-GB" sz="1200" dirty="0">
                <a:latin typeface="Arial" panose="020B0604020202020204" pitchFamily="34" charset="0"/>
                <a:cs typeface="Arial" panose="020B0604020202020204" pitchFamily="34" charset="0"/>
              </a:rPr>
              <a:t>measure or evaluate</a:t>
            </a:r>
          </a:p>
        </p:txBody>
      </p:sp>
      <p:sp>
        <p:nvSpPr>
          <p:cNvPr id="27" name="Rectangle 26">
            <a:extLst>
              <a:ext uri="{FF2B5EF4-FFF2-40B4-BE49-F238E27FC236}">
                <a16:creationId xmlns:a16="http://schemas.microsoft.com/office/drawing/2014/main" id="{FCF81BDC-3044-4DF1-AAFC-A6AC7197A8EE}"/>
              </a:ext>
            </a:extLst>
          </p:cNvPr>
          <p:cNvSpPr/>
          <p:nvPr/>
        </p:nvSpPr>
        <p:spPr>
          <a:xfrm rot="16200000">
            <a:off x="6624368" y="2748549"/>
            <a:ext cx="1589855" cy="473041"/>
          </a:xfrm>
          <a:prstGeom prst="rect">
            <a:avLst/>
          </a:prstGeom>
          <a:pattFill prst="wdUpDiag">
            <a:fgClr>
              <a:schemeClr val="bg1">
                <a:lumMod val="85000"/>
              </a:schemeClr>
            </a:fgClr>
            <a:bgClr>
              <a:schemeClr val="bg1"/>
            </a:bgClr>
          </a:patt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spc="300" dirty="0">
                <a:solidFill>
                  <a:schemeClr val="tx1"/>
                </a:solidFill>
                <a:latin typeface="Arial Black" panose="020B0A04020102020204" pitchFamily="34" charset="0"/>
                <a:cs typeface="Arial" panose="020B0604020202020204" pitchFamily="34" charset="0"/>
              </a:rPr>
              <a:t>MATERIALITY FILTER</a:t>
            </a:r>
          </a:p>
        </p:txBody>
      </p:sp>
      <p:sp>
        <p:nvSpPr>
          <p:cNvPr id="28" name="Freeform: Shape 27">
            <a:extLst>
              <a:ext uri="{FF2B5EF4-FFF2-40B4-BE49-F238E27FC236}">
                <a16:creationId xmlns:a16="http://schemas.microsoft.com/office/drawing/2014/main" id="{908ABCAC-30F2-4E80-B96A-D50A61FA9BFD}"/>
              </a:ext>
            </a:extLst>
          </p:cNvPr>
          <p:cNvSpPr/>
          <p:nvPr/>
        </p:nvSpPr>
        <p:spPr>
          <a:xfrm>
            <a:off x="6103089" y="1541698"/>
            <a:ext cx="2636874" cy="637983"/>
          </a:xfrm>
          <a:custGeom>
            <a:avLst/>
            <a:gdLst>
              <a:gd name="connsiteX0" fmla="*/ 2785731 w 2785731"/>
              <a:gd name="connsiteY0" fmla="*/ 637983 h 637983"/>
              <a:gd name="connsiteX1" fmla="*/ 1329070 w 2785731"/>
              <a:gd name="connsiteY1" fmla="*/ 30 h 637983"/>
              <a:gd name="connsiteX2" fmla="*/ 0 w 2785731"/>
              <a:gd name="connsiteY2" fmla="*/ 616718 h 637983"/>
            </a:gdLst>
            <a:ahLst/>
            <a:cxnLst>
              <a:cxn ang="0">
                <a:pos x="connsiteX0" y="connsiteY0"/>
              </a:cxn>
              <a:cxn ang="0">
                <a:pos x="connsiteX1" y="connsiteY1"/>
              </a:cxn>
              <a:cxn ang="0">
                <a:pos x="connsiteX2" y="connsiteY2"/>
              </a:cxn>
            </a:cxnLst>
            <a:rect l="l" t="t" r="r" b="b"/>
            <a:pathLst>
              <a:path w="2785731" h="637983">
                <a:moveTo>
                  <a:pt x="2785731" y="637983"/>
                </a:moveTo>
                <a:cubicBezTo>
                  <a:pt x="2289544" y="320778"/>
                  <a:pt x="1793358" y="3574"/>
                  <a:pt x="1329070" y="30"/>
                </a:cubicBezTo>
                <a:cubicBezTo>
                  <a:pt x="864782" y="-3514"/>
                  <a:pt x="432391" y="306602"/>
                  <a:pt x="0" y="616718"/>
                </a:cubicBezTo>
              </a:path>
            </a:pathLst>
          </a:custGeom>
          <a:ln w="57150">
            <a:solidFill>
              <a:schemeClr val="tx1">
                <a:lumMod val="65000"/>
                <a:lumOff val="35000"/>
              </a:schemeClr>
            </a:solidFill>
            <a:headEnd type="none" w="med" len="med"/>
            <a:tailEnd type="arrow" w="med" len="med"/>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solidFill>
                <a:schemeClr val="tx1"/>
              </a:solidFill>
            </a:endParaRPr>
          </a:p>
        </p:txBody>
      </p:sp>
      <p:sp>
        <p:nvSpPr>
          <p:cNvPr id="29" name="TextBox 28">
            <a:extLst>
              <a:ext uri="{FF2B5EF4-FFF2-40B4-BE49-F238E27FC236}">
                <a16:creationId xmlns:a16="http://schemas.microsoft.com/office/drawing/2014/main" id="{0EAA9266-CD46-453A-984B-71010ED457AC}"/>
              </a:ext>
            </a:extLst>
          </p:cNvPr>
          <p:cNvSpPr txBox="1"/>
          <p:nvPr/>
        </p:nvSpPr>
        <p:spPr>
          <a:xfrm>
            <a:off x="6844544" y="1403209"/>
            <a:ext cx="1049959" cy="276999"/>
          </a:xfrm>
          <a:prstGeom prst="rect">
            <a:avLst/>
          </a:prstGeom>
          <a:noFill/>
        </p:spPr>
        <p:txBody>
          <a:bodyPr wrap="square" rtlCol="0">
            <a:prstTxWarp prst="textArchUp">
              <a:avLst>
                <a:gd name="adj" fmla="val 11023554"/>
              </a:avLst>
            </a:prstTxWarp>
            <a:spAutoFit/>
          </a:bodyPr>
          <a:lstStyle/>
          <a:p>
            <a:pPr algn="ctr"/>
            <a:r>
              <a:rPr lang="en-GB" sz="1600" b="1" dirty="0">
                <a:latin typeface="Arial" panose="020B0604020202020204" pitchFamily="34" charset="0"/>
                <a:cs typeface="Arial" panose="020B0604020202020204" pitchFamily="34" charset="0"/>
              </a:rPr>
              <a:t>assertions</a:t>
            </a:r>
          </a:p>
        </p:txBody>
      </p:sp>
      <p:sp>
        <p:nvSpPr>
          <p:cNvPr id="30" name="Rectangle 29">
            <a:extLst>
              <a:ext uri="{FF2B5EF4-FFF2-40B4-BE49-F238E27FC236}">
                <a16:creationId xmlns:a16="http://schemas.microsoft.com/office/drawing/2014/main" id="{81173009-D7A1-4483-B627-A18CD970D53B}"/>
              </a:ext>
            </a:extLst>
          </p:cNvPr>
          <p:cNvSpPr/>
          <p:nvPr/>
        </p:nvSpPr>
        <p:spPr>
          <a:xfrm>
            <a:off x="1923311" y="1403209"/>
            <a:ext cx="2160772" cy="269586"/>
          </a:xfrm>
          <a:prstGeom prst="rect">
            <a:avLst/>
          </a:prstGeom>
          <a:solidFill>
            <a:schemeClr val="bg2"/>
          </a:solidFill>
          <a:ln>
            <a:solidFill>
              <a:schemeClr val="bg2">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400" b="1" dirty="0">
                <a:latin typeface="Arial" panose="020B0604020202020204" pitchFamily="34" charset="0"/>
                <a:cs typeface="Arial" panose="020B0604020202020204" pitchFamily="34" charset="0"/>
              </a:rPr>
              <a:t>context</a:t>
            </a:r>
          </a:p>
        </p:txBody>
      </p:sp>
      <p:cxnSp>
        <p:nvCxnSpPr>
          <p:cNvPr id="31" name="Straight Arrow Connector 30">
            <a:extLst>
              <a:ext uri="{FF2B5EF4-FFF2-40B4-BE49-F238E27FC236}">
                <a16:creationId xmlns:a16="http://schemas.microsoft.com/office/drawing/2014/main" id="{A207D2D8-B5F7-49FE-8D50-C850382B2F7E}"/>
              </a:ext>
            </a:extLst>
          </p:cNvPr>
          <p:cNvCxnSpPr>
            <a:cxnSpLocks/>
          </p:cNvCxnSpPr>
          <p:nvPr/>
        </p:nvCxnSpPr>
        <p:spPr>
          <a:xfrm>
            <a:off x="3017529" y="1726626"/>
            <a:ext cx="0" cy="453055"/>
          </a:xfrm>
          <a:prstGeom prst="straightConnector1">
            <a:avLst/>
          </a:prstGeom>
          <a:ln>
            <a:solidFill>
              <a:schemeClr val="bg1">
                <a:lumMod val="50000"/>
              </a:schemeClr>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33" name="TextBox 32">
            <a:extLst>
              <a:ext uri="{FF2B5EF4-FFF2-40B4-BE49-F238E27FC236}">
                <a16:creationId xmlns:a16="http://schemas.microsoft.com/office/drawing/2014/main" id="{B88F4102-B11A-45D5-A9BA-62F52C23AB91}"/>
              </a:ext>
            </a:extLst>
          </p:cNvPr>
          <p:cNvSpPr txBox="1"/>
          <p:nvPr/>
        </p:nvSpPr>
        <p:spPr>
          <a:xfrm>
            <a:off x="1923311" y="1680208"/>
            <a:ext cx="904946" cy="276999"/>
          </a:xfrm>
          <a:prstGeom prst="rect">
            <a:avLst/>
          </a:prstGeom>
          <a:noFill/>
        </p:spPr>
        <p:txBody>
          <a:bodyPr wrap="square" rtlCol="0">
            <a:spAutoFit/>
          </a:bodyPr>
          <a:lstStyle/>
          <a:p>
            <a:pPr algn="ctr"/>
            <a:r>
              <a:rPr lang="en-GB" sz="1200" dirty="0">
                <a:latin typeface="Arial" panose="020B0604020202020204" pitchFamily="34" charset="0"/>
                <a:cs typeface="Arial" panose="020B0604020202020204" pitchFamily="34" charset="0"/>
              </a:rPr>
              <a:t>purpose</a:t>
            </a:r>
          </a:p>
        </p:txBody>
      </p:sp>
      <p:sp>
        <p:nvSpPr>
          <p:cNvPr id="34" name="TextBox 33">
            <a:extLst>
              <a:ext uri="{FF2B5EF4-FFF2-40B4-BE49-F238E27FC236}">
                <a16:creationId xmlns:a16="http://schemas.microsoft.com/office/drawing/2014/main" id="{695E1DCA-2F8C-4F6A-9E54-D8C1C995E0AA}"/>
              </a:ext>
            </a:extLst>
          </p:cNvPr>
          <p:cNvSpPr txBox="1"/>
          <p:nvPr/>
        </p:nvSpPr>
        <p:spPr>
          <a:xfrm>
            <a:off x="3175361" y="1672795"/>
            <a:ext cx="904946" cy="276999"/>
          </a:xfrm>
          <a:prstGeom prst="rect">
            <a:avLst/>
          </a:prstGeom>
          <a:noFill/>
        </p:spPr>
        <p:txBody>
          <a:bodyPr wrap="square" rtlCol="0">
            <a:spAutoFit/>
          </a:bodyPr>
          <a:lstStyle/>
          <a:p>
            <a:pPr algn="ctr"/>
            <a:r>
              <a:rPr lang="en-GB" sz="1200" dirty="0">
                <a:latin typeface="Arial" panose="020B0604020202020204" pitchFamily="34" charset="0"/>
                <a:cs typeface="Arial" panose="020B0604020202020204" pitchFamily="34" charset="0"/>
              </a:rPr>
              <a:t>users</a:t>
            </a:r>
          </a:p>
        </p:txBody>
      </p:sp>
    </p:spTree>
    <p:extLst>
      <p:ext uri="{BB962C8B-B14F-4D97-AF65-F5344CB8AC3E}">
        <p14:creationId xmlns:p14="http://schemas.microsoft.com/office/powerpoint/2010/main" val="24758528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51432346"/>
      </p:ext>
    </p:extLst>
  </p:cSld>
  <p:clrMapOvr>
    <a:masterClrMapping/>
  </p:clrMapOvr>
</p:sld>
</file>

<file path=ppt/theme/theme1.xml><?xml version="1.0" encoding="utf-8"?>
<a:theme xmlns:a="http://schemas.openxmlformats.org/drawingml/2006/main" name="Office Theme">
  <a:themeElements>
    <a:clrScheme name="Custom 34">
      <a:dk1>
        <a:sysClr val="windowText" lastClr="000000"/>
      </a:dk1>
      <a:lt1>
        <a:sysClr val="window" lastClr="FFFFFF"/>
      </a:lt1>
      <a:dk2>
        <a:srgbClr val="005BAA"/>
      </a:dk2>
      <a:lt2>
        <a:srgbClr val="00C0F3"/>
      </a:lt2>
      <a:accent1>
        <a:srgbClr val="F15A22"/>
      </a:accent1>
      <a:accent2>
        <a:srgbClr val="FAA61A"/>
      </a:accent2>
      <a:accent3>
        <a:srgbClr val="005BAA"/>
      </a:accent3>
      <a:accent4>
        <a:srgbClr val="00C0F3"/>
      </a:accent4>
      <a:accent5>
        <a:srgbClr val="0D9C4A"/>
      </a:accent5>
      <a:accent6>
        <a:srgbClr val="8DC63F"/>
      </a:accent6>
      <a:hlink>
        <a:srgbClr val="005BAA"/>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ln>
          <a:solidFill>
            <a:schemeClr val="tx1"/>
          </a:solidFill>
          <a:headEnd type="none" w="med" len="med"/>
          <a:tailEnd type="non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lgn="ctr">
          <a:defRPr sz="1200" dirty="0" smtClean="0">
            <a:latin typeface="Arial" panose="020B0604020202020204" pitchFamily="34" charset="0"/>
            <a:cs typeface="Arial" panose="020B0604020202020204" pitchFamily="34" charset="0"/>
          </a:defRPr>
        </a:defPPr>
      </a:lstStyle>
    </a:txDef>
  </a:objectDefaults>
  <a:extraClrSchemeLst/>
  <a:extLst>
    <a:ext uri="{05A4C25C-085E-4340-85A3-A5531E510DB2}">
      <thm15:themeFamily xmlns:thm15="http://schemas.microsoft.com/office/thememl/2012/main" name="IAASB_PowerPoint_template_2016_update" id="{84781494-0989-47EE-A3A7-2D255A13323B}" vid="{1A50CD82-07D8-4D3F-9AC1-AB2CFB482A7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9865</TotalTime>
  <Words>1009</Words>
  <Application>Microsoft Office PowerPoint</Application>
  <PresentationFormat>Widescreen</PresentationFormat>
  <Paragraphs>254</Paragraphs>
  <Slides>16</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MS PGothic</vt:lpstr>
      <vt:lpstr>Arial</vt:lpstr>
      <vt:lpstr>Arial Black</vt:lpstr>
      <vt:lpstr>Arial Narrow</vt:lpstr>
      <vt:lpstr>Calibri</vt:lpstr>
      <vt:lpstr>Times New Roman</vt:lpstr>
      <vt:lpstr>Wingdings</vt:lpstr>
      <vt:lpstr>Office Theme</vt:lpstr>
      <vt:lpstr>EER Assurance  Presentation of Issues and Project Update June 2018</vt:lpstr>
      <vt:lpstr>Recap of March update</vt:lpstr>
      <vt:lpstr>Agenda</vt:lpstr>
      <vt:lpstr>Structure of issues paper</vt:lpstr>
      <vt:lpstr>PowerPoint Presentation</vt:lpstr>
      <vt:lpstr>Generalized construct of an EER report and its relationship to assurance concepts </vt:lpstr>
      <vt:lpstr>Generalized construct of an EER report and its relationship to assurance concepts </vt:lpstr>
      <vt:lpstr>Generalized construct of an EER report and its relationship to assurance concepts </vt:lpstr>
      <vt:lpstr>Addressing Materiality for Diverse Information with Little Guidance in EER Frameworks</vt:lpstr>
      <vt:lpstr>Addressing Materiality for Diverse Information with Little Guidance in EER Frameworks</vt:lpstr>
      <vt:lpstr>Evaluating the Suitability of Criteria in a Consistent Manner</vt:lpstr>
      <vt:lpstr>Evaluating the Suitability of Criteria in a Consistent Manner</vt:lpstr>
      <vt:lpstr>Building Assertions for Subject Matter Information of a Diverse Nature</vt:lpstr>
      <vt:lpstr>Building Assertions for Subject Matter Information of a Diverse Nature</vt:lpstr>
      <vt:lpstr>Summary</vt:lpstr>
      <vt:lpstr>PowerPoint Presentation</vt:lpstr>
    </vt:vector>
  </TitlesOfParts>
  <Company>NBA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PowerPoint-presentatie</dc:title>
  <dc:creator>Jan Thijs Drupsteen</dc:creator>
  <cp:lastModifiedBy>Alastair Neilson</cp:lastModifiedBy>
  <cp:revision>363</cp:revision>
  <cp:lastPrinted>2018-06-05T14:32:35Z</cp:lastPrinted>
  <dcterms:created xsi:type="dcterms:W3CDTF">2017-11-13T09:28:46Z</dcterms:created>
  <dcterms:modified xsi:type="dcterms:W3CDTF">2018-06-14T10:11:01Z</dcterms:modified>
</cp:coreProperties>
</file>