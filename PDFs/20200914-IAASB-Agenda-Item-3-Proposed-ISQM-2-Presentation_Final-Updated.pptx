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handoutMasterIdLst>
    <p:handoutMasterId r:id="rId12"/>
  </p:handoutMasterIdLst>
  <p:sldIdLst>
    <p:sldId id="271" r:id="rId2"/>
    <p:sldId id="273" r:id="rId3"/>
    <p:sldId id="581" r:id="rId4"/>
    <p:sldId id="577" r:id="rId5"/>
    <p:sldId id="569" r:id="rId6"/>
    <p:sldId id="583" r:id="rId7"/>
    <p:sldId id="576" r:id="rId8"/>
    <p:sldId id="584" r:id="rId9"/>
    <p:sldId id="294" r:id="rId10"/>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Dan Montgomery" initials="DM" lastIdx="49" clrIdx="2">
    <p:extLst>
      <p:ext uri="{19B8F6BF-5375-455C-9EA6-DF929625EA0E}">
        <p15:presenceInfo xmlns:p15="http://schemas.microsoft.com/office/powerpoint/2012/main" userId="8ba5e3d143c5e0b2" providerId="Windows Live"/>
      </p:ext>
    </p:extLst>
  </p:cmAuthor>
  <p:cmAuthor id="4" name="Jane Talatala" initials="JT" lastIdx="26" clrIdx="3">
    <p:extLst>
      <p:ext uri="{19B8F6BF-5375-455C-9EA6-DF929625EA0E}">
        <p15:presenceInfo xmlns:p15="http://schemas.microsoft.com/office/powerpoint/2012/main" userId="S::JaneTalatala@iaasb.org::0b75c357-2d7f-4a9b-be6b-0a67c58966d1" providerId="AD"/>
      </p:ext>
    </p:extLst>
  </p:cmAuthor>
  <p:cmAuthor id="5" name="Imran Vanker" initials="IV" lastIdx="7" clrIdx="4">
    <p:extLst>
      <p:ext uri="{19B8F6BF-5375-455C-9EA6-DF929625EA0E}">
        <p15:presenceInfo xmlns:p15="http://schemas.microsoft.com/office/powerpoint/2012/main" userId="Imran Vank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05BAA"/>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51005" autoAdjust="0"/>
  </p:normalViewPr>
  <p:slideViewPr>
    <p:cSldViewPr snapToGrid="0" snapToObjects="1">
      <p:cViewPr varScale="1">
        <p:scale>
          <a:sx n="58" d="100"/>
          <a:sy n="58" d="100"/>
        </p:scale>
        <p:origin x="1589" y="43"/>
      </p:cViewPr>
      <p:guideLst>
        <p:guide orient="horz" pos="1620"/>
        <p:guide pos="2880"/>
      </p:guideLst>
    </p:cSldViewPr>
  </p:slideViewPr>
  <p:outlineViewPr>
    <p:cViewPr>
      <p:scale>
        <a:sx n="66" d="100"/>
        <a:sy n="66" d="100"/>
      </p:scale>
      <p:origin x="0" y="-1692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varScale="1">
        <p:scale>
          <a:sx n="64" d="100"/>
          <a:sy n="64" d="100"/>
        </p:scale>
        <p:origin x="3173"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9/11/2020</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9/11/2020</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lgn="just">
              <a:lnSpc>
                <a:spcPts val="1400"/>
              </a:lnSpc>
              <a:spcBef>
                <a:spcPts val="600"/>
              </a:spcBef>
              <a:buFont typeface="Arial" panose="020B0604020202020204" pitchFamily="34" charset="0"/>
              <a:buNone/>
            </a:pPr>
            <a:r>
              <a:rPr lang="en-US" sz="1000" baseline="0" dirty="0">
                <a:latin typeface="Arial" panose="020B0604020202020204" pitchFamily="34" charset="0"/>
                <a:cs typeface="Arial" panose="020B0604020202020204" pitchFamily="34" charset="0"/>
              </a:rPr>
              <a:t>Notes for IV:</a:t>
            </a:r>
          </a:p>
          <a:p>
            <a:pPr marL="347472" indent="-347472" algn="just">
              <a:lnSpc>
                <a:spcPts val="1400"/>
              </a:lnSpc>
              <a:spcBef>
                <a:spcPts val="600"/>
              </a:spcBef>
              <a:buFont typeface="Arial" panose="020B0604020202020204" pitchFamily="34" charset="0"/>
              <a:buChar char="•"/>
            </a:pPr>
            <a:r>
              <a:rPr lang="en-US" sz="1000" baseline="0" dirty="0">
                <a:latin typeface="Arial" panose="020B0604020202020204" pitchFamily="34" charset="0"/>
                <a:cs typeface="Arial" panose="020B0604020202020204" pitchFamily="34" charset="0"/>
              </a:rPr>
              <a:t>Acknowledge members of Task Force: Fernando, Sara and Jamie.</a:t>
            </a:r>
          </a:p>
          <a:p>
            <a:pPr marL="347472" indent="-347472" algn="just">
              <a:lnSpc>
                <a:spcPts val="1400"/>
              </a:lnSpc>
              <a:spcBef>
                <a:spcPts val="600"/>
              </a:spcBef>
              <a:buFont typeface="Arial" panose="020B0604020202020204" pitchFamily="34" charset="0"/>
              <a:buChar char="•"/>
            </a:pPr>
            <a:r>
              <a:rPr lang="en-US" sz="1000" baseline="0" dirty="0">
                <a:latin typeface="Arial" panose="020B0604020202020204" pitchFamily="34" charset="0"/>
                <a:cs typeface="Arial" panose="020B0604020202020204" pitchFamily="34" charset="0"/>
              </a:rPr>
              <a:t>Acknowledge role of Dan and Hanken, and constant support from Willie and Brett’s review of our papers.</a:t>
            </a:r>
          </a:p>
          <a:p>
            <a:pPr marL="347472" indent="-347472" algn="just">
              <a:lnSpc>
                <a:spcPts val="1400"/>
              </a:lnSpc>
              <a:spcBef>
                <a:spcPts val="600"/>
              </a:spcBef>
              <a:buFont typeface="Arial" panose="020B0604020202020204" pitchFamily="34" charset="0"/>
              <a:buChar char="•"/>
            </a:pPr>
            <a:r>
              <a:rPr lang="en-US" sz="1000" baseline="0" dirty="0">
                <a:latin typeface="Arial" panose="020B0604020202020204" pitchFamily="34" charset="0"/>
                <a:cs typeface="Arial" panose="020B0604020202020204" pitchFamily="34" charset="0"/>
              </a:rPr>
              <a:t>Special thanks for Task Force chairs on coordination, and in this period, particularly Julie and Sylvie.</a:t>
            </a:r>
          </a:p>
          <a:p>
            <a:pPr marL="347472" indent="-347472" algn="just">
              <a:lnSpc>
                <a:spcPts val="1400"/>
              </a:lnSpc>
              <a:spcBef>
                <a:spcPts val="600"/>
              </a:spcBef>
              <a:buFont typeface="Arial" panose="020B0604020202020204" pitchFamily="34" charset="0"/>
              <a:buChar char="•"/>
            </a:pPr>
            <a:r>
              <a:rPr lang="en-US" sz="1000" baseline="0" dirty="0">
                <a:latin typeface="Arial" panose="020B0604020202020204" pitchFamily="34" charset="0"/>
                <a:cs typeface="Arial" panose="020B0604020202020204" pitchFamily="34" charset="0"/>
              </a:rPr>
              <a:t>Acknowledge list of offline comments received.</a:t>
            </a: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ts val="1400"/>
              </a:lnSpc>
              <a:spcBef>
                <a:spcPts val="600"/>
              </a:spcBef>
              <a:spcAft>
                <a:spcPts val="0"/>
              </a:spcAft>
              <a:buFont typeface="Arial" panose="020B0604020202020204" pitchFamily="34" charset="0"/>
              <a:buNone/>
            </a:pPr>
            <a:r>
              <a:rPr lang="en-US" sz="1000" dirty="0">
                <a:latin typeface="Arial" panose="020B0604020202020204" pitchFamily="34" charset="0"/>
                <a:cs typeface="Arial" panose="020B0604020202020204" pitchFamily="34" charset="0"/>
              </a:rPr>
              <a:t>During this session, the ISQM 2 Task Force (the Task Force) will be presenting:</a:t>
            </a:r>
          </a:p>
          <a:p>
            <a:pPr marL="347472" marR="0" lvl="1" indent="-347472" algn="just">
              <a:lnSpc>
                <a:spcPts val="1400"/>
              </a:lnSpc>
              <a:spcBef>
                <a:spcPts val="600"/>
              </a:spcBef>
              <a:spcAft>
                <a:spcPts val="0"/>
              </a:spcAft>
              <a:buSzPts val="1000"/>
              <a:buFont typeface="Arial" panose="020B0604020202020204" pitchFamily="34" charset="0"/>
              <a:buChar char="•"/>
            </a:pPr>
            <a:r>
              <a:rPr lang="en-US" sz="1000" dirty="0">
                <a:effectLst/>
                <a:latin typeface="Arial" panose="020B0604020202020204" pitchFamily="34" charset="0"/>
                <a:ea typeface="Arial" panose="020B0604020202020204" pitchFamily="34" charset="0"/>
                <a:cs typeface="Arial" panose="020B0604020202020204" pitchFamily="34" charset="0"/>
              </a:rPr>
              <a:t>The revised draft of the requirements and related application material in proposed ISQM 1 on engagements subject to an EQ review. We will refer to the marked draft, </a:t>
            </a:r>
            <a:r>
              <a:rPr lang="en-US" sz="1000" b="1" dirty="0">
                <a:effectLst/>
                <a:latin typeface="Arial" panose="020B0604020202020204" pitchFamily="34" charset="0"/>
                <a:ea typeface="Arial" panose="020B0604020202020204" pitchFamily="34" charset="0"/>
                <a:cs typeface="Arial" panose="020B0604020202020204" pitchFamily="34" charset="0"/>
              </a:rPr>
              <a:t>Agenda Item 3-C</a:t>
            </a:r>
            <a:r>
              <a:rPr lang="en-US" sz="1000" dirty="0">
                <a:effectLst/>
                <a:latin typeface="Arial" panose="020B0604020202020204" pitchFamily="34" charset="0"/>
                <a:ea typeface="Arial" panose="020B0604020202020204" pitchFamily="34" charset="0"/>
                <a:cs typeface="Arial" panose="020B0604020202020204" pitchFamily="34" charset="0"/>
              </a:rPr>
              <a:t>,</a:t>
            </a:r>
            <a:r>
              <a:rPr lang="en-US" sz="1000" b="1" dirty="0">
                <a:effectLst/>
                <a:latin typeface="Arial" panose="020B0604020202020204" pitchFamily="34" charset="0"/>
                <a:ea typeface="Arial" panose="020B0604020202020204" pitchFamily="34" charset="0"/>
                <a:cs typeface="Arial" panose="020B0604020202020204" pitchFamily="34" charset="0"/>
              </a:rPr>
              <a:t> </a:t>
            </a:r>
            <a:r>
              <a:rPr lang="en-US" sz="1000" dirty="0">
                <a:effectLst/>
                <a:latin typeface="Arial" panose="020B0604020202020204" pitchFamily="34" charset="0"/>
                <a:ea typeface="Arial" panose="020B0604020202020204" pitchFamily="34" charset="0"/>
                <a:cs typeface="Arial" panose="020B0604020202020204" pitchFamily="34" charset="0"/>
              </a:rPr>
              <a:t>as the basis for discussion.</a:t>
            </a:r>
          </a:p>
          <a:p>
            <a:pPr marL="347472" marR="0" lvl="1" indent="-347472" algn="just">
              <a:lnSpc>
                <a:spcPts val="1400"/>
              </a:lnSpc>
              <a:spcBef>
                <a:spcPts val="600"/>
              </a:spcBef>
              <a:spcAft>
                <a:spcPts val="0"/>
              </a:spcAft>
              <a:buSzPts val="1000"/>
              <a:buFont typeface="Arial" panose="020B0604020202020204" pitchFamily="34" charset="0"/>
              <a:buChar char="•"/>
            </a:pPr>
            <a:r>
              <a:rPr lang="en-US" sz="1000" dirty="0">
                <a:effectLst/>
                <a:latin typeface="Arial" panose="020B0604020202020204" pitchFamily="34" charset="0"/>
                <a:ea typeface="Arial" panose="020B0604020202020204" pitchFamily="34" charset="0"/>
                <a:cs typeface="Arial" panose="020B0604020202020204" pitchFamily="34" charset="0"/>
              </a:rPr>
              <a:t>The revised draft of proposed ISQM 2. We will refer to the marked draft, </a:t>
            </a:r>
            <a:r>
              <a:rPr lang="en-US" sz="1000" b="1" dirty="0">
                <a:effectLst/>
                <a:latin typeface="Arial" panose="020B0604020202020204" pitchFamily="34" charset="0"/>
                <a:ea typeface="Arial" panose="020B0604020202020204" pitchFamily="34" charset="0"/>
                <a:cs typeface="Arial" panose="020B0604020202020204" pitchFamily="34" charset="0"/>
              </a:rPr>
              <a:t>Agenda Item 3-D</a:t>
            </a:r>
            <a:r>
              <a:rPr lang="en-US" sz="1000" dirty="0">
                <a:effectLst/>
                <a:latin typeface="Arial" panose="020B0604020202020204" pitchFamily="34" charset="0"/>
                <a:ea typeface="Arial" panose="020B0604020202020204" pitchFamily="34" charset="0"/>
                <a:cs typeface="Arial" panose="020B0604020202020204" pitchFamily="34" charset="0"/>
              </a:rPr>
              <a:t>,</a:t>
            </a:r>
            <a:r>
              <a:rPr lang="en-US" sz="1000" b="1" dirty="0">
                <a:effectLst/>
                <a:latin typeface="Arial" panose="020B0604020202020204" pitchFamily="34" charset="0"/>
                <a:ea typeface="Arial" panose="020B0604020202020204" pitchFamily="34" charset="0"/>
                <a:cs typeface="Arial" panose="020B0604020202020204" pitchFamily="34" charset="0"/>
              </a:rPr>
              <a:t> </a:t>
            </a:r>
            <a:r>
              <a:rPr lang="en-US" sz="1000" dirty="0">
                <a:effectLst/>
                <a:latin typeface="Arial" panose="020B0604020202020204" pitchFamily="34" charset="0"/>
                <a:ea typeface="Arial" panose="020B0604020202020204" pitchFamily="34" charset="0"/>
                <a:cs typeface="Arial" panose="020B0604020202020204" pitchFamily="34" charset="0"/>
              </a:rPr>
              <a:t>as the basis for discussion.</a:t>
            </a:r>
          </a:p>
          <a:p>
            <a:pPr marL="347472" marR="0" lvl="1" indent="-347472" algn="just">
              <a:lnSpc>
                <a:spcPts val="1400"/>
              </a:lnSpc>
              <a:spcBef>
                <a:spcPts val="600"/>
              </a:spcBef>
              <a:spcAft>
                <a:spcPts val="0"/>
              </a:spcAft>
              <a:buSzPts val="1000"/>
              <a:buFont typeface="Arial" panose="020B0604020202020204" pitchFamily="34" charset="0"/>
              <a:buChar char="•"/>
            </a:pPr>
            <a:r>
              <a:rPr lang="en-US" sz="1000" dirty="0">
                <a:effectLst/>
                <a:latin typeface="Arial" panose="020B0604020202020204" pitchFamily="34" charset="0"/>
                <a:ea typeface="Arial" panose="020B0604020202020204" pitchFamily="34" charset="0"/>
                <a:cs typeface="Arial" panose="020B0604020202020204" pitchFamily="34" charset="0"/>
              </a:rPr>
              <a:t>We will walk through the revised drafts in sections and will take comments on the requirements together with the related application material as noted in the Issues Paper.</a:t>
            </a:r>
          </a:p>
          <a:p>
            <a:pPr marL="347472" marR="0" lvl="1" indent="-347472" algn="just">
              <a:lnSpc>
                <a:spcPts val="1400"/>
              </a:lnSpc>
              <a:spcBef>
                <a:spcPts val="600"/>
              </a:spcBef>
              <a:spcAft>
                <a:spcPts val="0"/>
              </a:spcAft>
              <a:buSzPts val="1000"/>
              <a:buFont typeface="Arial" panose="020B0604020202020204" pitchFamily="34" charset="0"/>
              <a:buChar char="•"/>
            </a:pPr>
            <a:r>
              <a:rPr lang="en-US" sz="1000" dirty="0">
                <a:effectLst/>
                <a:latin typeface="Arial" panose="020B0604020202020204" pitchFamily="34" charset="0"/>
                <a:ea typeface="Arial" panose="020B0604020202020204" pitchFamily="34" charset="0"/>
                <a:cs typeface="Arial" panose="020B0604020202020204" pitchFamily="34" charset="0"/>
              </a:rPr>
              <a:t>In walking through the revised drafts, we will refer to the explanation of changes to requirements and related application material as described in </a:t>
            </a:r>
            <a:r>
              <a:rPr lang="en-US" sz="1000" b="1" dirty="0">
                <a:effectLst/>
                <a:latin typeface="Arial" panose="020B0604020202020204" pitchFamily="34" charset="0"/>
                <a:ea typeface="Arial" panose="020B0604020202020204" pitchFamily="34" charset="0"/>
                <a:cs typeface="Arial" panose="020B0604020202020204" pitchFamily="34" charset="0"/>
              </a:rPr>
              <a:t>Agenda Item 3-E</a:t>
            </a:r>
            <a:r>
              <a:rPr lang="en-US" sz="1000" dirty="0">
                <a:effectLst/>
                <a:latin typeface="Arial" panose="020B0604020202020204" pitchFamily="34" charset="0"/>
                <a:ea typeface="Arial" panose="020B0604020202020204" pitchFamily="34" charset="0"/>
                <a:cs typeface="Arial" panose="020B0604020202020204" pitchFamily="34" charset="0"/>
              </a:rPr>
              <a:t>.</a:t>
            </a: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27530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ts val="1400"/>
              </a:lnSpc>
              <a:spcBef>
                <a:spcPts val="600"/>
              </a:spcBef>
              <a:spcAft>
                <a:spcPts val="0"/>
              </a:spcAft>
              <a:buFont typeface="Arial" panose="020B0604020202020204" pitchFamily="34" charset="0"/>
              <a:buNone/>
            </a:pPr>
            <a:r>
              <a:rPr lang="en-US" sz="1000" dirty="0">
                <a:latin typeface="Arial" panose="020B0604020202020204" pitchFamily="34" charset="0"/>
                <a:cs typeface="Arial" panose="020B0604020202020204" pitchFamily="34" charset="0"/>
              </a:rPr>
              <a:t>Public interest issues addressed in the standard include:</a:t>
            </a:r>
          </a:p>
          <a:p>
            <a:pPr marL="347472" lvl="0" indent="-347472" algn="just">
              <a:lnSpc>
                <a:spcPts val="1400"/>
              </a:lnSpc>
              <a:spcBef>
                <a:spcPts val="600"/>
              </a:spcBef>
              <a:spcAft>
                <a:spcPts val="0"/>
              </a:spcAft>
              <a:buFont typeface="Arial" panose="020B0604020202020204" pitchFamily="34" charset="0"/>
              <a:buChar char="•"/>
            </a:pPr>
            <a:r>
              <a:rPr lang="en-US" sz="1000" dirty="0">
                <a:latin typeface="Arial" panose="020B0604020202020204" pitchFamily="34" charset="0"/>
                <a:cs typeface="Arial" panose="020B0604020202020204" pitchFamily="34" charset="0"/>
              </a:rPr>
              <a:t>The appropriateness of the criteria established by firms to determine which engagements are subject to an EQ review, with a view that insufficient focus is being placed on entities of particular public interest that are not listed entities.</a:t>
            </a:r>
          </a:p>
          <a:p>
            <a:pPr marL="690372" lvl="1" indent="-347472" algn="just">
              <a:lnSpc>
                <a:spcPts val="1400"/>
              </a:lnSpc>
              <a:spcBef>
                <a:spcPts val="600"/>
              </a:spcBef>
              <a:spcAft>
                <a:spcPts val="0"/>
              </a:spcAft>
              <a:buFont typeface="Courier New" panose="02070309020205020404" pitchFamily="49" charset="0"/>
              <a:buChar char="o"/>
            </a:pPr>
            <a:r>
              <a:rPr lang="en-US" sz="1000" dirty="0">
                <a:latin typeface="Arial" panose="020B0604020202020204" pitchFamily="34" charset="0"/>
                <a:cs typeface="Arial" panose="020B0604020202020204" pitchFamily="34" charset="0"/>
              </a:rPr>
              <a:t>Proposed ISQM 1 extends the requirements beyond audits of listed entities.</a:t>
            </a:r>
          </a:p>
          <a:p>
            <a:pPr marL="347472" lvl="0" indent="-347472" algn="just">
              <a:lnSpc>
                <a:spcPts val="1400"/>
              </a:lnSpc>
              <a:spcBef>
                <a:spcPts val="600"/>
              </a:spcBef>
              <a:spcAft>
                <a:spcPts val="0"/>
              </a:spcAft>
              <a:buFont typeface="Arial" panose="020B0604020202020204" pitchFamily="34" charset="0"/>
              <a:buChar char="•"/>
            </a:pPr>
            <a:r>
              <a:rPr lang="en-US" sz="1000" dirty="0">
                <a:latin typeface="Arial" panose="020B0604020202020204" pitchFamily="34" charset="0"/>
                <a:cs typeface="Arial" panose="020B0604020202020204" pitchFamily="34" charset="0"/>
              </a:rPr>
              <a:t>The selection of the EQ reviewer, including the qualifications, experience and objectivity of the individual selected to perform the EQ review, and consideration of the reviewer’s own inspection results.</a:t>
            </a:r>
          </a:p>
          <a:p>
            <a:pPr marL="690372" marR="0" lvl="1" indent="-347472"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latin typeface="Arial" panose="020B0604020202020204" pitchFamily="34" charset="0"/>
                <a:ea typeface="+mn-ea"/>
                <a:cs typeface="Arial" panose="020B0604020202020204" pitchFamily="34" charset="0"/>
              </a:rPr>
              <a:t>Proposed ISQM 2 includes a cooling-off requirement to address threats to objectivity of the EQ reviewer.</a:t>
            </a:r>
          </a:p>
          <a:p>
            <a:pPr marL="347472" lvl="0" indent="-347472" algn="just">
              <a:lnSpc>
                <a:spcPts val="1400"/>
              </a:lnSpc>
              <a:spcBef>
                <a:spcPts val="600"/>
              </a:spcBef>
              <a:spcAft>
                <a:spcPts val="0"/>
              </a:spcAft>
              <a:buFont typeface="Arial" panose="020B0604020202020204" pitchFamily="34" charset="0"/>
              <a:buChar char="•"/>
            </a:pPr>
            <a:r>
              <a:rPr lang="en-US" sz="1000" dirty="0">
                <a:latin typeface="Arial" panose="020B0604020202020204" pitchFamily="34" charset="0"/>
                <a:cs typeface="Arial" panose="020B0604020202020204" pitchFamily="34" charset="0"/>
              </a:rPr>
              <a:t>The timing of the performance of the EQ review, specifically with respect to when the EQ reviewer becomes involved in the EQ review and the time allocated to the EQ reviewer for the performance of the review.</a:t>
            </a:r>
          </a:p>
          <a:p>
            <a:pPr marL="690372" marR="0" lvl="1" indent="-347472"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latin typeface="Arial" panose="020B0604020202020204" pitchFamily="34" charset="0"/>
                <a:ea typeface="+mn-ea"/>
                <a:cs typeface="Arial" panose="020B0604020202020204" pitchFamily="34" charset="0"/>
              </a:rPr>
              <a:t>Proposed ISQM 2 requires the EQ reviewer’s involvement at appropriate points in time during the engagement (i.e., planning, performing and reporting) to provide an appropriate basis for an objective evaluation of the significant judgments made by the engagement team and the conclusions reached thereon.</a:t>
            </a:r>
          </a:p>
          <a:p>
            <a:pPr marL="347472" lvl="0" indent="-347472" algn="just">
              <a:lnSpc>
                <a:spcPts val="1400"/>
              </a:lnSpc>
              <a:spcBef>
                <a:spcPts val="600"/>
              </a:spcBef>
              <a:spcAft>
                <a:spcPts val="0"/>
              </a:spcAft>
              <a:buFont typeface="Arial" panose="020B0604020202020204" pitchFamily="34" charset="0"/>
              <a:buChar char="•"/>
            </a:pPr>
            <a:r>
              <a:rPr lang="en-US" sz="1000" dirty="0">
                <a:latin typeface="Arial" panose="020B0604020202020204" pitchFamily="34" charset="0"/>
                <a:cs typeface="Arial" panose="020B0604020202020204" pitchFamily="34" charset="0"/>
              </a:rPr>
              <a:t>The depth and the focus of the review, specifically highlighting a perception that, in some cases, the EQ reviewer paid insufficient attention to the assessment of and response to areas of significant risk or significant judgments made by the engagement partner and the engagement team, including how, and in which areas of the audit, the engagement team utilized ADMs (audit delivery models).</a:t>
            </a:r>
          </a:p>
          <a:p>
            <a:pPr marL="690372" marR="0" lvl="1" indent="-347472"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kern="1200" dirty="0">
                <a:solidFill>
                  <a:schemeClr val="tx1"/>
                </a:solidFill>
                <a:latin typeface="Arial" panose="020B0604020202020204" pitchFamily="34" charset="0"/>
                <a:ea typeface="+mn-ea"/>
                <a:cs typeface="Arial" panose="020B0604020202020204" pitchFamily="34" charset="0"/>
              </a:rPr>
              <a:t>Proposed ISQM 2 includes:</a:t>
            </a:r>
          </a:p>
          <a:p>
            <a:pPr marL="1042416" lvl="0" indent="-347472" algn="just">
              <a:lnSpc>
                <a:spcPts val="1400"/>
              </a:lnSpc>
              <a:spcBef>
                <a:spcPts val="600"/>
              </a:spcBef>
              <a:spcAft>
                <a:spcPts val="0"/>
              </a:spcAft>
              <a:buFont typeface="Wingdings" panose="05000000000000000000" pitchFamily="2" charset="2"/>
              <a:buChar char="§"/>
            </a:pPr>
            <a:r>
              <a:rPr lang="en-US" sz="1000" dirty="0">
                <a:latin typeface="Arial" panose="020B0604020202020204" pitchFamily="34" charset="0"/>
                <a:cs typeface="Arial" panose="020B0604020202020204" pitchFamily="34" charset="0"/>
              </a:rPr>
              <a:t>New requirement to read and obtain understanding of information communicated by the firm related to the firm’s monitoring and remediation process (i.e., identified deficiencies that may relate to, or affect, the areas involving significant judgments made by the engagement team).</a:t>
            </a:r>
          </a:p>
          <a:p>
            <a:pPr marL="1042416" lvl="0" indent="-347472" algn="just">
              <a:lnSpc>
                <a:spcPts val="1400"/>
              </a:lnSpc>
              <a:spcBef>
                <a:spcPts val="600"/>
              </a:spcBef>
              <a:spcAft>
                <a:spcPts val="0"/>
              </a:spcAft>
              <a:buFont typeface="Wingdings" panose="05000000000000000000" pitchFamily="2" charset="2"/>
              <a:buChar char="§"/>
            </a:pPr>
            <a:r>
              <a:rPr lang="en-US" sz="1000" dirty="0">
                <a:latin typeface="Arial" panose="020B0604020202020204" pitchFamily="34" charset="0"/>
                <a:cs typeface="Arial" panose="020B0604020202020204" pitchFamily="34" charset="0"/>
              </a:rPr>
              <a:t>Enhanced application material on identifying significant judgments made by the engagement team and conclusions reached thereon.</a:t>
            </a:r>
          </a:p>
          <a:p>
            <a:pPr marL="1042416" lvl="0" indent="-347472" algn="just">
              <a:lnSpc>
                <a:spcPts val="1400"/>
              </a:lnSpc>
              <a:spcBef>
                <a:spcPts val="600"/>
              </a:spcBef>
              <a:spcAft>
                <a:spcPts val="0"/>
              </a:spcAft>
              <a:buFont typeface="Wingdings" panose="05000000000000000000" pitchFamily="2" charset="2"/>
              <a:buChar char="§"/>
            </a:pPr>
            <a:r>
              <a:rPr lang="en-US" sz="1000" dirty="0">
                <a:latin typeface="Arial" panose="020B0604020202020204" pitchFamily="34" charset="0"/>
                <a:cs typeface="Arial" panose="020B0604020202020204" pitchFamily="34" charset="0"/>
              </a:rPr>
              <a:t>New requirement to evaluate engagement team’s basis for making significant judgments, including, when applicable to the type of engagement, the exercise of professional skepticism by the engagement team, and whether conclusions reached by the engagement team are appropriate.</a:t>
            </a:r>
          </a:p>
          <a:p>
            <a:pPr marL="1042416" lvl="0" indent="-347472" algn="just">
              <a:lnSpc>
                <a:spcPts val="1400"/>
              </a:lnSpc>
              <a:spcBef>
                <a:spcPts val="600"/>
              </a:spcBef>
              <a:spcAft>
                <a:spcPts val="0"/>
              </a:spcAft>
              <a:buFont typeface="Wingdings" panose="05000000000000000000" pitchFamily="2" charset="2"/>
              <a:buChar char="§"/>
            </a:pPr>
            <a:r>
              <a:rPr lang="en-US" sz="1000" dirty="0">
                <a:latin typeface="Arial" panose="020B0604020202020204" pitchFamily="34" charset="0"/>
                <a:cs typeface="Arial" panose="020B0604020202020204" pitchFamily="34" charset="0"/>
              </a:rPr>
              <a:t>New requirement if there are concerns that the engagement team’s significant judgments are not appropriate, including actions to take in such cases.</a:t>
            </a:r>
          </a:p>
          <a:p>
            <a:pPr marL="1042416" lvl="0" indent="-347472" algn="just">
              <a:lnSpc>
                <a:spcPts val="1400"/>
              </a:lnSpc>
              <a:spcBef>
                <a:spcPts val="600"/>
              </a:spcBef>
              <a:spcAft>
                <a:spcPts val="0"/>
              </a:spcAft>
              <a:buFont typeface="Wingdings" panose="05000000000000000000" pitchFamily="2" charset="2"/>
              <a:buChar char="§"/>
            </a:pPr>
            <a:r>
              <a:rPr lang="en-US" sz="1000" dirty="0">
                <a:latin typeface="Arial" panose="020B0604020202020204" pitchFamily="34" charset="0"/>
                <a:cs typeface="Arial" panose="020B0604020202020204" pitchFamily="34" charset="0"/>
              </a:rPr>
              <a:t>New requirement for the EQ reviewer to perform a stand-back determination of whether the performance requirements of proposed ISQM 2 have been fulfilled, and whether the EQ review is complete.</a:t>
            </a:r>
          </a:p>
          <a:p>
            <a:pPr marL="347472" lvl="0" indent="-347472" algn="just">
              <a:lnSpc>
                <a:spcPts val="1400"/>
              </a:lnSpc>
              <a:spcBef>
                <a:spcPts val="600"/>
              </a:spcBef>
              <a:spcAft>
                <a:spcPts val="0"/>
              </a:spcAft>
              <a:buFont typeface="Arial" panose="020B0604020202020204" pitchFamily="34" charset="0"/>
              <a:buChar char="•"/>
            </a:pPr>
            <a:r>
              <a:rPr lang="en-US" sz="1000" dirty="0">
                <a:latin typeface="Arial" panose="020B0604020202020204" pitchFamily="34" charset="0"/>
                <a:cs typeface="Arial" panose="020B0604020202020204" pitchFamily="34" charset="0"/>
              </a:rPr>
              <a:t>The robustness of the documentation of the review, including citing the documents reviewed, the issues raised as part of the review and the disposition of those issues.</a:t>
            </a:r>
          </a:p>
          <a:p>
            <a:pPr marL="690372"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latin typeface="Arial" panose="020B0604020202020204" pitchFamily="34" charset="0"/>
                <a:ea typeface="+mn-ea"/>
                <a:cs typeface="Arial" panose="020B0604020202020204" pitchFamily="34" charset="0"/>
              </a:rPr>
              <a:t>Proposed ISQM 2 includes:</a:t>
            </a:r>
          </a:p>
          <a:p>
            <a:pPr marL="1042416" lvl="0" indent="-347472" algn="just" defTabSz="342900" rtl="0" eaLnBrk="1" latinLnBrk="0" hangingPunct="1">
              <a:lnSpc>
                <a:spcPts val="1400"/>
              </a:lnSpc>
              <a:spcBef>
                <a:spcPts val="600"/>
              </a:spcBef>
              <a:spcAft>
                <a:spcPts val="0"/>
              </a:spcAft>
              <a:buFont typeface="Wingdings" panose="05000000000000000000" pitchFamily="2" charset="2"/>
              <a:buChar char="§"/>
            </a:pPr>
            <a:r>
              <a:rPr lang="en-US" sz="1000" kern="1200" dirty="0">
                <a:solidFill>
                  <a:schemeClr val="tx1"/>
                </a:solidFill>
                <a:latin typeface="Arial" panose="020B0604020202020204" pitchFamily="34" charset="0"/>
                <a:ea typeface="+mn-ea"/>
                <a:cs typeface="Arial" panose="020B0604020202020204" pitchFamily="34" charset="0"/>
              </a:rPr>
              <a:t>Requirement for EQ review documentation to be sufficient to enable an experienced practitioner, having no previous connection with the engagement, to understand the nature, timing and extent of the procedures performed by the EQ reviewer.</a:t>
            </a:r>
          </a:p>
          <a:p>
            <a:pPr marL="1042416" lvl="0" indent="-347472" algn="just" defTabSz="342900" rtl="0" eaLnBrk="1" latinLnBrk="0" hangingPunct="1">
              <a:lnSpc>
                <a:spcPts val="1400"/>
              </a:lnSpc>
              <a:spcBef>
                <a:spcPts val="600"/>
              </a:spcBef>
              <a:spcAft>
                <a:spcPts val="0"/>
              </a:spcAft>
              <a:buFont typeface="Wingdings" panose="05000000000000000000" pitchFamily="2" charset="2"/>
              <a:buChar char="§"/>
            </a:pPr>
            <a:r>
              <a:rPr lang="en-US" sz="1000" kern="1200" dirty="0">
                <a:solidFill>
                  <a:schemeClr val="tx1"/>
                </a:solidFill>
                <a:latin typeface="Arial" panose="020B0604020202020204" pitchFamily="34" charset="0"/>
                <a:ea typeface="+mn-ea"/>
                <a:cs typeface="Arial" panose="020B0604020202020204" pitchFamily="34" charset="0"/>
              </a:rPr>
              <a:t>Requirement for EQ review documentation to be included with the engagement documentation.</a:t>
            </a:r>
          </a:p>
          <a:p>
            <a:pPr marL="1042416" lvl="0" indent="-347472" algn="just" defTabSz="342900" rtl="0" eaLnBrk="1" latinLnBrk="0" hangingPunct="1">
              <a:lnSpc>
                <a:spcPts val="1400"/>
              </a:lnSpc>
              <a:spcBef>
                <a:spcPts val="600"/>
              </a:spcBef>
              <a:spcAft>
                <a:spcPts val="0"/>
              </a:spcAft>
              <a:buFont typeface="Wingdings" panose="05000000000000000000" pitchFamily="2" charset="2"/>
              <a:buChar char="§"/>
            </a:pPr>
            <a:r>
              <a:rPr lang="en-US" sz="1000" kern="1200" dirty="0">
                <a:solidFill>
                  <a:schemeClr val="tx1"/>
                </a:solidFill>
                <a:latin typeface="Arial" panose="020B0604020202020204" pitchFamily="34" charset="0"/>
                <a:ea typeface="+mn-ea"/>
                <a:cs typeface="Arial" panose="020B0604020202020204" pitchFamily="34" charset="0"/>
              </a:rPr>
              <a:t>Explicit requirement to document: Identification of the EQ reviewer and assistants; Identification of the engagement documentation reviewed; EQ reviewer’s stand-back determination; and Date of completion of the EQ review.</a:t>
            </a:r>
          </a:p>
          <a:p>
            <a:pPr marL="1042416" lvl="0" indent="-347472" algn="just" defTabSz="342900" rtl="0" eaLnBrk="1" latinLnBrk="0" hangingPunct="1">
              <a:lnSpc>
                <a:spcPts val="1400"/>
              </a:lnSpc>
              <a:spcBef>
                <a:spcPts val="600"/>
              </a:spcBef>
              <a:spcAft>
                <a:spcPts val="0"/>
              </a:spcAft>
              <a:buFont typeface="Wingdings" panose="05000000000000000000" pitchFamily="2" charset="2"/>
              <a:buChar char="§"/>
            </a:pPr>
            <a:r>
              <a:rPr lang="en-US" sz="1000" kern="1200" dirty="0">
                <a:solidFill>
                  <a:schemeClr val="tx1"/>
                </a:solidFill>
                <a:latin typeface="Arial" panose="020B0604020202020204" pitchFamily="34" charset="0"/>
                <a:ea typeface="+mn-ea"/>
                <a:cs typeface="Arial" panose="020B0604020202020204" pitchFamily="34" charset="0"/>
              </a:rPr>
              <a:t>New application material on the form, content and extent of the documentation, and how the EQ review may be documented.</a:t>
            </a: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1961095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marR="0" lvl="0" indent="-347472"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i="0" dirty="0">
                <a:latin typeface="Arial" panose="020B0604020202020204" pitchFamily="34" charset="0"/>
                <a:cs typeface="Arial" panose="020B0604020202020204" pitchFamily="34" charset="0"/>
              </a:rPr>
              <a:t>There was also broad support with some concerns with respect to proposals related to:</a:t>
            </a:r>
          </a:p>
          <a:p>
            <a:pPr marL="694944" lvl="0" indent="-347472" algn="just">
              <a:lnSpc>
                <a:spcPts val="1400"/>
              </a:lnSpc>
              <a:spcBef>
                <a:spcPts val="600"/>
              </a:spcBef>
              <a:buFont typeface="Courier New" panose="02070309020205020404" pitchFamily="49" charset="0"/>
              <a:buChar char="o"/>
            </a:pPr>
            <a:r>
              <a:rPr lang="en-US" sz="1000" b="0" dirty="0">
                <a:latin typeface="Arial" panose="020B0604020202020204" pitchFamily="34" charset="0"/>
                <a:cs typeface="Arial" panose="020B0604020202020204" pitchFamily="34" charset="0"/>
              </a:rPr>
              <a:t>(To mitigate concerns about departing from the original objective of the project),</a:t>
            </a:r>
            <a:r>
              <a:rPr lang="en-US" sz="1000" b="1" dirty="0">
                <a:latin typeface="Arial" panose="020B0604020202020204" pitchFamily="34" charset="0"/>
                <a:cs typeface="Arial" panose="020B0604020202020204" pitchFamily="34" charset="0"/>
              </a:rPr>
              <a:t> refocusing the scope of the guidance in the ED on objectivity to EQ reviewers, including other “appropriate reviewers” as described in the IESBA Code</a:t>
            </a:r>
            <a:r>
              <a:rPr lang="en-US" sz="1000" dirty="0">
                <a:latin typeface="Arial" panose="020B0604020202020204" pitchFamily="34" charset="0"/>
                <a:cs typeface="Arial" panose="020B0604020202020204" pitchFamily="34" charset="0"/>
              </a:rPr>
              <a:t>. This would still recognize that there may be a broader range of individuals a firm may appoint as appropriate reviewers and that objectivity considerations should apply to them as appropriate.</a:t>
            </a:r>
          </a:p>
          <a:p>
            <a:pPr marL="694944" lvl="0" indent="-347472" algn="just">
              <a:lnSpc>
                <a:spcPts val="1400"/>
              </a:lnSpc>
              <a:spcBef>
                <a:spcPts val="600"/>
              </a:spcBef>
              <a:buFont typeface="Courier New" panose="02070309020205020404" pitchFamily="49" charset="0"/>
              <a:buChar char="o"/>
            </a:pPr>
            <a:r>
              <a:rPr lang="en-US" sz="1000" b="1" dirty="0">
                <a:latin typeface="Arial" panose="020B0604020202020204" pitchFamily="34" charset="0"/>
                <a:cs typeface="Arial" panose="020B0604020202020204" pitchFamily="34" charset="0"/>
              </a:rPr>
              <a:t>Relocating the guidance to a new section in the IESBA Code: Section 325, </a:t>
            </a:r>
            <a:r>
              <a:rPr lang="en-US" sz="1000" b="1" i="1" dirty="0">
                <a:latin typeface="Arial" panose="020B0604020202020204" pitchFamily="34" charset="0"/>
                <a:cs typeface="Arial" panose="020B0604020202020204" pitchFamily="34" charset="0"/>
              </a:rPr>
              <a:t>Objectivity of an Engagement Quality Reviewer and Other Appropriate Reviewers.</a:t>
            </a:r>
            <a:endParaRPr lang="en-US" sz="1000" b="1" dirty="0">
              <a:latin typeface="Arial" panose="020B0604020202020204" pitchFamily="34" charset="0"/>
              <a:cs typeface="Arial" panose="020B0604020202020204" pitchFamily="34" charset="0"/>
            </a:endParaRPr>
          </a:p>
          <a:p>
            <a:pPr marL="694944" lvl="0" indent="-347472" algn="just">
              <a:lnSpc>
                <a:spcPts val="1400"/>
              </a:lnSpc>
              <a:spcBef>
                <a:spcPts val="600"/>
              </a:spcBef>
              <a:buFont typeface="Courier New" panose="02070309020205020404" pitchFamily="49" charset="0"/>
              <a:buChar char="o"/>
            </a:pPr>
            <a:r>
              <a:rPr lang="en-US" sz="1000" b="1" dirty="0">
                <a:latin typeface="Arial" panose="020B0604020202020204" pitchFamily="34" charset="0"/>
                <a:cs typeface="Arial" panose="020B0604020202020204" pitchFamily="34" charset="0"/>
              </a:rPr>
              <a:t>Adding appropriate cross-referencing in Sections 325 and 540 of IESBA Code to proposed ISQM 2’s cooling-off provision</a:t>
            </a:r>
          </a:p>
          <a:p>
            <a:pPr marL="347472" lvl="0" indent="0" algn="l">
              <a:lnSpc>
                <a:spcPts val="1400"/>
              </a:lnSpc>
              <a:spcBef>
                <a:spcPts val="600"/>
              </a:spcBef>
              <a:buFont typeface="Courier New" panose="02070309020205020404" pitchFamily="49" charset="0"/>
              <a:buNone/>
            </a:pPr>
            <a:r>
              <a:rPr lang="en-US" sz="1000" b="1" dirty="0">
                <a:latin typeface="Arial" panose="020B0604020202020204" pitchFamily="34" charset="0"/>
                <a:cs typeface="Arial" panose="020B0604020202020204" pitchFamily="34" charset="0"/>
              </a:rPr>
              <a:t>	</a:t>
            </a:r>
            <a:r>
              <a:rPr lang="en-US" sz="1000" b="0" i="1" u="none" dirty="0">
                <a:latin typeface="Arial" panose="020B0604020202020204" pitchFamily="34" charset="0"/>
                <a:cs typeface="Arial" panose="020B0604020202020204" pitchFamily="34" charset="0"/>
              </a:rPr>
              <a:t>Within Section 325, OBJECTIVITY OF AN ENGAGEMENT QUALITY REVIEWER AND OTHER 	APPROPRIATE REVIEWERS:</a:t>
            </a:r>
          </a:p>
          <a:p>
            <a:pPr marL="1033272" lvl="0" indent="-347472" algn="just">
              <a:lnSpc>
                <a:spcPts val="1400"/>
              </a:lnSpc>
              <a:spcBef>
                <a:spcPts val="600"/>
              </a:spcBef>
              <a:buFontTx/>
              <a:buChar char="-"/>
            </a:pPr>
            <a:r>
              <a:rPr lang="en-US" sz="1000" dirty="0">
                <a:latin typeface="Arial" panose="020B0604020202020204" pitchFamily="34" charset="0"/>
                <a:cs typeface="Arial" panose="020B0604020202020204" pitchFamily="34" charset="0"/>
              </a:rPr>
              <a:t>Indicating that an EQ reviewer is an example of an appropriate reviewer, as such, the application material in Section 325 also applies to appropriate reviewers.</a:t>
            </a:r>
          </a:p>
          <a:p>
            <a:pPr marL="1033272" lvl="0" indent="-347472" algn="just" defTabSz="342900" rtl="0" eaLnBrk="1" latinLnBrk="0" hangingPunct="1">
              <a:lnSpc>
                <a:spcPts val="1400"/>
              </a:lnSpc>
              <a:spcBef>
                <a:spcPts val="600"/>
              </a:spcBef>
              <a:buFontTx/>
              <a:buChar char="-"/>
            </a:pPr>
            <a:r>
              <a:rPr lang="en-US" sz="1000" kern="1200" dirty="0">
                <a:solidFill>
                  <a:schemeClr val="tx1"/>
                </a:solidFill>
                <a:latin typeface="Arial" panose="020B0604020202020204" pitchFamily="34" charset="0"/>
                <a:ea typeface="+mn-ea"/>
                <a:cs typeface="Arial" panose="020B0604020202020204" pitchFamily="34" charset="0"/>
              </a:rPr>
              <a:t>Adding the definition of an EQ reviewer in accordance with proposed ISQM 2.</a:t>
            </a:r>
          </a:p>
          <a:p>
            <a:pPr marL="1033272" lvl="0" indent="-347472" algn="just" defTabSz="342900" rtl="0" eaLnBrk="1" latinLnBrk="0" hangingPunct="1">
              <a:lnSpc>
                <a:spcPts val="1400"/>
              </a:lnSpc>
              <a:spcBef>
                <a:spcPts val="600"/>
              </a:spcBef>
              <a:buFontTx/>
              <a:buChar char="-"/>
            </a:pPr>
            <a:r>
              <a:rPr lang="en-US" sz="1000" kern="1200" dirty="0">
                <a:solidFill>
                  <a:schemeClr val="tx1"/>
                </a:solidFill>
                <a:latin typeface="Arial" panose="020B0604020202020204" pitchFamily="34" charset="0"/>
                <a:ea typeface="+mn-ea"/>
                <a:cs typeface="Arial" panose="020B0604020202020204" pitchFamily="34" charset="0"/>
              </a:rPr>
              <a:t>Explicitly indicating that proposed ISQM 2 requires firms to establish policies or procedures that specify, as a condition for eligibility, a two-year cooling-off period.</a:t>
            </a:r>
          </a:p>
          <a:p>
            <a:pPr marL="1033272" lvl="0" indent="-347472" algn="just" defTabSz="342900" rtl="0" eaLnBrk="1" latinLnBrk="0" hangingPunct="1">
              <a:lnSpc>
                <a:spcPts val="1400"/>
              </a:lnSpc>
              <a:spcBef>
                <a:spcPts val="600"/>
              </a:spcBef>
              <a:buFontTx/>
              <a:buChar char="-"/>
            </a:pPr>
            <a:r>
              <a:rPr lang="en-US" sz="1000" kern="1200" dirty="0">
                <a:solidFill>
                  <a:schemeClr val="tx1"/>
                </a:solidFill>
                <a:latin typeface="Arial" panose="020B0604020202020204" pitchFamily="34" charset="0"/>
                <a:ea typeface="+mn-ea"/>
                <a:cs typeface="Arial" panose="020B0604020202020204" pitchFamily="34" charset="0"/>
              </a:rPr>
              <a:t>Clarifying that the cooling-off requirement in proposed ISQM 2 is distinct from, and does not amend or override, the partner rotation requirements in Section 540, which are designed to address threats to independence created by long association with an audit client.</a:t>
            </a:r>
          </a:p>
          <a:p>
            <a:pPr marL="685800" lvl="0" indent="0" algn="l" defTabSz="342900" rtl="0" eaLnBrk="1" latinLnBrk="0" hangingPunct="1">
              <a:lnSpc>
                <a:spcPts val="1400"/>
              </a:lnSpc>
              <a:spcBef>
                <a:spcPts val="600"/>
              </a:spcBef>
              <a:buFontTx/>
              <a:buNone/>
            </a:pPr>
            <a:r>
              <a:rPr lang="en-US" sz="1000" b="0" i="1" u="none" dirty="0">
                <a:latin typeface="Arial" panose="020B0604020202020204" pitchFamily="34" charset="0"/>
                <a:cs typeface="Arial" panose="020B0604020202020204" pitchFamily="34" charset="0"/>
              </a:rPr>
              <a:t>Within Section 540, LONG ASSOCIATION OF PERSONNEL (INCLUDING PARTNER ROTATION) WITH AN AUDIT CLIENT:</a:t>
            </a:r>
            <a:endParaRPr lang="en-US" sz="1000" b="0" i="1" u="none" kern="1200" dirty="0">
              <a:solidFill>
                <a:schemeClr val="tx1"/>
              </a:solidFill>
              <a:latin typeface="Arial" panose="020B0604020202020204" pitchFamily="34" charset="0"/>
              <a:ea typeface="+mn-ea"/>
              <a:cs typeface="Arial" panose="020B0604020202020204" pitchFamily="34" charset="0"/>
            </a:endParaRPr>
          </a:p>
          <a:p>
            <a:pPr marL="1033272" marR="0" lvl="0" indent="-347472" algn="just" defTabSz="342900" rtl="0" eaLnBrk="1" latinLnBrk="0" hangingPunct="1">
              <a:lnSpc>
                <a:spcPts val="1400"/>
              </a:lnSpc>
              <a:spcBef>
                <a:spcPts val="600"/>
              </a:spcBef>
              <a:spcAft>
                <a:spcPts val="0"/>
              </a:spcAft>
              <a:buFontTx/>
              <a:buChar char="-"/>
            </a:pPr>
            <a:r>
              <a:rPr lang="en-US" sz="1000" kern="1200" dirty="0">
                <a:solidFill>
                  <a:schemeClr val="tx1"/>
                </a:solidFill>
                <a:latin typeface="Arial" panose="020B0604020202020204" pitchFamily="34" charset="0"/>
                <a:ea typeface="+mn-ea"/>
                <a:cs typeface="Arial" panose="020B0604020202020204" pitchFamily="34" charset="0"/>
              </a:rPr>
              <a:t>Explicitly stating that an individual who has acted as the engagement partner and has met the cooling-off requirement in Section 540 of the Code will meet the two-year cooling-off requirement specified in proposed ISQM 2 before being appointed as the EQ reviewer.</a:t>
            </a:r>
          </a:p>
          <a:p>
            <a:pPr marL="1033272" marR="0" lvl="0" indent="-347472" algn="just" defTabSz="342900" rtl="0" eaLnBrk="1" latinLnBrk="0" hangingPunct="1">
              <a:lnSpc>
                <a:spcPts val="1400"/>
              </a:lnSpc>
              <a:spcBef>
                <a:spcPts val="600"/>
              </a:spcBef>
              <a:spcAft>
                <a:spcPts val="0"/>
              </a:spcAft>
              <a:buFontTx/>
              <a:buChar char="-"/>
            </a:pPr>
            <a:r>
              <a:rPr lang="en-US" sz="1000" kern="1200" dirty="0">
                <a:solidFill>
                  <a:schemeClr val="tx1"/>
                </a:solidFill>
                <a:latin typeface="Arial" panose="020B0604020202020204" pitchFamily="34" charset="0"/>
                <a:ea typeface="+mn-ea"/>
                <a:cs typeface="Arial" panose="020B0604020202020204" pitchFamily="34" charset="0"/>
              </a:rPr>
              <a:t>Explicitly stating that even if an individual who has acted as the engagement partner has met the cooling-off requirement in proposed ISQM 2 before being appointed as the EQ reviewer, the partner rotation requirements in Section 540 remain applicable depending on the roles and length of time the individual has served on the audit engagement.</a:t>
            </a:r>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3450983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a:lnSpc>
                <a:spcPts val="1400"/>
              </a:lnSpc>
              <a:spcBef>
                <a:spcPts val="600"/>
              </a:spcBef>
              <a:spcAft>
                <a:spcPts val="0"/>
              </a:spcAft>
              <a:buFont typeface="Symbol" panose="05050102010706020507" pitchFamily="18" charset="2"/>
              <a:buNone/>
            </a:pPr>
            <a:r>
              <a:rPr lang="en-US" sz="1000" b="1" dirty="0">
                <a:effectLst/>
                <a:latin typeface="Arial" panose="020B0604020202020204" pitchFamily="34" charset="0"/>
                <a:ea typeface="Calibri" panose="020F0502020204030204" pitchFamily="34" charset="0"/>
                <a:cs typeface="Arial" panose="020B0604020202020204" pitchFamily="34" charset="0"/>
              </a:rPr>
              <a:t>Requirement - Paragraph 34(f)</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742950" marR="0" lvl="1" indent="-285750" algn="just">
              <a:lnSpc>
                <a:spcPts val="1400"/>
              </a:lnSpc>
              <a:spcBef>
                <a:spcPts val="600"/>
              </a:spcBef>
              <a:spcAft>
                <a:spcPts val="0"/>
              </a:spcAft>
              <a:buFont typeface="Courier New" panose="02070309020205020404" pitchFamily="49" charset="0"/>
              <a:buChar char="o"/>
            </a:pPr>
            <a:r>
              <a:rPr lang="en-US" sz="1000" b="1" dirty="0">
                <a:effectLst/>
                <a:latin typeface="Arial" panose="020B0604020202020204" pitchFamily="34" charset="0"/>
                <a:ea typeface="Calibri" panose="020F0502020204030204" pitchFamily="34" charset="0"/>
                <a:cs typeface="Arial" panose="020B0604020202020204" pitchFamily="34" charset="0"/>
              </a:rPr>
              <a:t>Replaced the words “addressing / requiring” to “address / require</a:t>
            </a:r>
            <a:r>
              <a:rPr lang="en-US" sz="1000" b="0" dirty="0">
                <a:effectLst/>
                <a:latin typeface="Arial" panose="020B0604020202020204" pitchFamily="34" charset="0"/>
                <a:ea typeface="Calibri" panose="020F0502020204030204" pitchFamily="34" charset="0"/>
                <a:cs typeface="Arial" panose="020B0604020202020204" pitchFamily="34" charset="0"/>
              </a:rPr>
              <a:t>.</a:t>
            </a:r>
            <a:r>
              <a:rPr lang="en-US" sz="1000" b="1" dirty="0">
                <a:effectLst/>
                <a:latin typeface="Arial" panose="020B0604020202020204" pitchFamily="34" charset="0"/>
                <a:ea typeface="Calibri" panose="020F0502020204030204" pitchFamily="34" charset="0"/>
                <a:cs typeface="Arial" panose="020B0604020202020204" pitchFamily="34" charset="0"/>
              </a:rPr>
              <a:t>”</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lgn="just">
              <a:lnSpc>
                <a:spcPts val="1400"/>
              </a:lnSpc>
              <a:spcBef>
                <a:spcPts val="600"/>
              </a:spcBef>
              <a:spcAft>
                <a:spcPts val="0"/>
              </a:spcAft>
              <a:buFont typeface="Courier New" panose="02070309020205020404" pitchFamily="49" charset="0"/>
              <a:buChar char="o"/>
            </a:pPr>
            <a:r>
              <a:rPr lang="en-US" sz="1000" b="1" dirty="0">
                <a:effectLst/>
                <a:latin typeface="Arial" panose="020B0604020202020204" pitchFamily="34" charset="0"/>
                <a:ea typeface="Calibri" panose="020F0502020204030204" pitchFamily="34" charset="0"/>
                <a:cs typeface="Arial" panose="020B0604020202020204" pitchFamily="34" charset="0"/>
              </a:rPr>
              <a:t>Changed “assessed quality risks” to “address one or more quality risk(s)” </a:t>
            </a:r>
            <a:r>
              <a:rPr lang="en-US" sz="1000" dirty="0">
                <a:effectLst/>
                <a:latin typeface="Arial" panose="020B0604020202020204" pitchFamily="34" charset="0"/>
                <a:ea typeface="Calibri" panose="020F0502020204030204" pitchFamily="34" charset="0"/>
                <a:cs typeface="Arial" panose="020B0604020202020204" pitchFamily="34" charset="0"/>
              </a:rPr>
              <a:t>to align with the definition of the term “response” in proposed ISQM 1.</a:t>
            </a:r>
          </a:p>
          <a:p>
            <a:pPr marL="0" marR="0" algn="just">
              <a:lnSpc>
                <a:spcPts val="1400"/>
              </a:lnSpc>
              <a:spcBef>
                <a:spcPts val="600"/>
              </a:spcBef>
              <a:spcAft>
                <a:spcPts val="0"/>
              </a:spcAft>
            </a:pPr>
            <a:r>
              <a:rPr lang="en-US" sz="1000" b="1" i="0" dirty="0">
                <a:effectLst/>
                <a:latin typeface="Arial" panose="020B0604020202020204" pitchFamily="34" charset="0"/>
                <a:ea typeface="Calibri" panose="020F0502020204030204" pitchFamily="34" charset="0"/>
                <a:cs typeface="Arial" panose="020B0604020202020204" pitchFamily="34" charset="0"/>
              </a:rPr>
              <a:t>Application Material - Paragraph A134</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742950" marR="0" lvl="1" indent="-285750" algn="just">
              <a:lnSpc>
                <a:spcPts val="1400"/>
              </a:lnSpc>
              <a:spcBef>
                <a:spcPts val="600"/>
              </a:spcBef>
              <a:spcAft>
                <a:spcPts val="0"/>
              </a:spcAft>
              <a:buFont typeface="Courier New" panose="02070309020205020404" pitchFamily="49" charset="0"/>
              <a:buChar char="o"/>
            </a:pPr>
            <a:r>
              <a:rPr lang="en-US" sz="1000" b="1" dirty="0">
                <a:effectLst/>
                <a:latin typeface="Arial" panose="020B0604020202020204" pitchFamily="34" charset="0"/>
                <a:ea typeface="Calibri" panose="020F0502020204030204" pitchFamily="34" charset="0"/>
                <a:cs typeface="Arial" panose="020B0604020202020204" pitchFamily="34" charset="0"/>
              </a:rPr>
              <a:t>Replaced the term “factors” and the term “conditions and circumstances”</a:t>
            </a:r>
            <a:r>
              <a:rPr lang="en-US" sz="1000" dirty="0">
                <a:effectLst/>
                <a:latin typeface="Arial" panose="020B0604020202020204" pitchFamily="34" charset="0"/>
                <a:ea typeface="Calibri" panose="020F0502020204030204" pitchFamily="34" charset="0"/>
                <a:cs typeface="Arial" panose="020B0604020202020204" pitchFamily="34" charset="0"/>
              </a:rPr>
              <a:t> </a:t>
            </a:r>
            <a:r>
              <a:rPr lang="en-US" sz="1000" b="1" dirty="0">
                <a:effectLst/>
                <a:latin typeface="Arial" panose="020B0604020202020204" pitchFamily="34" charset="0"/>
                <a:ea typeface="Calibri" panose="020F0502020204030204" pitchFamily="34" charset="0"/>
                <a:cs typeface="Arial" panose="020B0604020202020204" pitchFamily="34" charset="0"/>
              </a:rPr>
              <a:t>with “conditions, events, circumstances, actions or inactions” to align with full term used in proposed ISQM 1 </a:t>
            </a:r>
            <a:r>
              <a:rPr lang="en-US" sz="1000" dirty="0">
                <a:effectLst/>
                <a:latin typeface="Arial" panose="020B0604020202020204" pitchFamily="34" charset="0"/>
                <a:ea typeface="Calibri" panose="020F0502020204030204" pitchFamily="34" charset="0"/>
                <a:cs typeface="Arial" panose="020B0604020202020204" pitchFamily="34" charset="0"/>
              </a:rPr>
              <a:t>when referring to such conditions, events, circumstances, actions or inactions that may adversely affect the achievement of the quality objectives.</a:t>
            </a:r>
          </a:p>
          <a:p>
            <a:pPr marL="742950" marR="0" lvl="1" indent="-28575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that in designing and implementing responses to one or more quality risk(s), the firm may determine that an EQ review is an appropriate response that is </a:t>
            </a:r>
            <a:r>
              <a:rPr lang="en-US" sz="1000" b="1" i="1" dirty="0">
                <a:effectLst/>
                <a:latin typeface="Arial" panose="020B0604020202020204" pitchFamily="34" charset="0"/>
                <a:ea typeface="Calibri" panose="020F0502020204030204" pitchFamily="34" charset="0"/>
                <a:cs typeface="Arial" panose="020B0604020202020204" pitchFamily="34" charset="0"/>
              </a:rPr>
              <a:t>based on, and responsive to, the reasons for the assessments given to the quality risks</a:t>
            </a:r>
            <a:r>
              <a:rPr lang="en-US" sz="1000" b="1" dirty="0">
                <a:effectLst/>
                <a:latin typeface="Arial" panose="020B0604020202020204" pitchFamily="34" charset="0"/>
                <a:ea typeface="Calibri" panose="020F0502020204030204" pitchFamily="34" charset="0"/>
                <a:cs typeface="Arial" panose="020B0604020202020204" pitchFamily="34" charset="0"/>
              </a:rPr>
              <a:t> </a:t>
            </a:r>
            <a:r>
              <a:rPr lang="en-US" sz="1000" dirty="0">
                <a:effectLst/>
                <a:latin typeface="Arial" panose="020B0604020202020204" pitchFamily="34" charset="0"/>
                <a:ea typeface="Calibri" panose="020F0502020204030204" pitchFamily="34" charset="0"/>
                <a:cs typeface="Arial" panose="020B0604020202020204" pitchFamily="34" charset="0"/>
              </a:rPr>
              <a:t>arising from certain </a:t>
            </a:r>
            <a:r>
              <a:rPr lang="en-US" sz="1000" b="1" i="1" dirty="0">
                <a:effectLst/>
                <a:latin typeface="Arial" panose="020B0604020202020204" pitchFamily="34" charset="0"/>
                <a:ea typeface="Calibri" panose="020F0502020204030204" pitchFamily="34" charset="0"/>
                <a:cs typeface="Arial" panose="020B0604020202020204" pitchFamily="34" charset="0"/>
              </a:rPr>
              <a:t>conditions, events, circumstances, actions or inactions</a:t>
            </a:r>
            <a:r>
              <a:rPr lang="en-US" sz="1000" dirty="0">
                <a:effectLst/>
                <a:latin typeface="Arial" panose="020B0604020202020204" pitchFamily="34" charset="0"/>
                <a:ea typeface="Calibri" panose="020F0502020204030204" pitchFamily="34" charset="0"/>
                <a:cs typeface="Arial" panose="020B0604020202020204" pitchFamily="34" charset="0"/>
              </a:rPr>
              <a:t>.</a:t>
            </a:r>
          </a:p>
          <a:p>
            <a:pPr marL="0" marR="0" algn="just">
              <a:lnSpc>
                <a:spcPts val="1400"/>
              </a:lnSpc>
              <a:spcBef>
                <a:spcPts val="600"/>
              </a:spcBef>
              <a:spcAft>
                <a:spcPts val="0"/>
              </a:spcAft>
            </a:pPr>
            <a:r>
              <a:rPr lang="en-US" sz="1000" b="1" i="0" dirty="0">
                <a:effectLst/>
                <a:latin typeface="Arial" panose="020B0604020202020204" pitchFamily="34" charset="0"/>
                <a:ea typeface="Calibri" panose="020F0502020204030204" pitchFamily="34" charset="0"/>
                <a:cs typeface="Arial" panose="020B0604020202020204" pitchFamily="34" charset="0"/>
              </a:rPr>
              <a:t>Application Material – Boxed Example in Paragraph A134</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742950" marR="0" lvl="1" indent="-285750" algn="just">
              <a:lnSpc>
                <a:spcPts val="1400"/>
              </a:lnSpc>
              <a:spcBef>
                <a:spcPts val="600"/>
              </a:spcBef>
              <a:spcAft>
                <a:spcPts val="0"/>
              </a:spcAft>
              <a:buFont typeface="Courier New" panose="02070309020205020404" pitchFamily="49" charset="0"/>
              <a:buChar char="o"/>
            </a:pPr>
            <a:r>
              <a:rPr lang="en-US" sz="1000" b="1" dirty="0">
                <a:effectLst/>
                <a:latin typeface="Arial" panose="020B0604020202020204" pitchFamily="34" charset="0"/>
                <a:ea typeface="Calibri" panose="020F0502020204030204" pitchFamily="34" charset="0"/>
                <a:cs typeface="Arial" panose="020B0604020202020204" pitchFamily="34" charset="0"/>
              </a:rPr>
              <a:t>Deleted the term “conditions and circumstances”</a:t>
            </a:r>
            <a:r>
              <a:rPr lang="en-US" sz="1000" dirty="0">
                <a:effectLst/>
                <a:latin typeface="Arial" panose="020B0604020202020204" pitchFamily="34" charset="0"/>
                <a:ea typeface="Calibri" panose="020F0502020204030204" pitchFamily="34" charset="0"/>
                <a:cs typeface="Arial" panose="020B0604020202020204" pitchFamily="34" charset="0"/>
              </a:rPr>
              <a:t> from the two lead-ins that describe the nature and circumstances of the engagements performed by the firm to align with the wording used in proposed ISQM 1.</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a:t>
            </a:r>
            <a:r>
              <a:rPr lang="en-US" sz="1000" b="1" dirty="0">
                <a:effectLst/>
                <a:latin typeface="Arial" panose="020B0604020202020204" pitchFamily="34" charset="0"/>
                <a:ea typeface="Calibri" panose="020F0502020204030204" pitchFamily="34" charset="0"/>
                <a:cs typeface="Arial" panose="020B0604020202020204" pitchFamily="34" charset="0"/>
              </a:rPr>
              <a:t>removed the reference to “emerging technologies” </a:t>
            </a:r>
            <a:r>
              <a:rPr lang="en-US" sz="1000" dirty="0">
                <a:effectLst/>
                <a:latin typeface="Arial" panose="020B0604020202020204" pitchFamily="34" charset="0"/>
                <a:ea typeface="Calibri" panose="020F0502020204030204" pitchFamily="34" charset="0"/>
                <a:cs typeface="Arial" panose="020B0604020202020204" pitchFamily="34" charset="0"/>
              </a:rPr>
              <a:t>as an appropriate response for such engagements that involve emerging technologies may likely be the use of a subject matter expert than an EQ review.</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a:t>
            </a:r>
            <a:r>
              <a:rPr lang="en-US" sz="1000" b="1" dirty="0">
                <a:effectLst/>
                <a:latin typeface="Arial" panose="020B0604020202020204" pitchFamily="34" charset="0"/>
                <a:ea typeface="Calibri" panose="020F0502020204030204" pitchFamily="34" charset="0"/>
                <a:cs typeface="Arial" panose="020B0604020202020204" pitchFamily="34" charset="0"/>
              </a:rPr>
              <a:t>added a new lead-in clarifying that the last three bullets in the boxed example are entities other than listed entities, which may have public interest considerations or public accountability characteristics.</a:t>
            </a:r>
          </a:p>
          <a:p>
            <a:pPr marL="0" marR="0" algn="just">
              <a:lnSpc>
                <a:spcPts val="1400"/>
              </a:lnSpc>
              <a:spcBef>
                <a:spcPts val="600"/>
              </a:spcBef>
              <a:spcAft>
                <a:spcPts val="0"/>
              </a:spcAft>
            </a:pPr>
            <a:r>
              <a:rPr lang="en-US" sz="1000" b="1" i="0" dirty="0">
                <a:effectLst/>
                <a:latin typeface="Arial" panose="020B0604020202020204" pitchFamily="34" charset="0"/>
                <a:ea typeface="Calibri" panose="020F0502020204030204" pitchFamily="34" charset="0"/>
                <a:cs typeface="Arial" panose="020B0604020202020204" pitchFamily="34" charset="0"/>
              </a:rPr>
              <a:t>Application Material - Paragraph A135</a:t>
            </a:r>
          </a:p>
          <a:p>
            <a:pPr marL="342900" marR="0" lvl="0" indent="-342900" algn="just">
              <a:lnSpc>
                <a:spcPts val="1400"/>
              </a:lnSpc>
              <a:spcBef>
                <a:spcPts val="600"/>
              </a:spcBef>
              <a:spcAft>
                <a:spcPts val="0"/>
              </a:spcAft>
              <a:buFont typeface="Symbol" panose="05050102010706020507" pitchFamily="18" charset="2"/>
              <a:buChar char=""/>
            </a:pPr>
            <a:r>
              <a:rPr lang="en-US" sz="1000" b="1" dirty="0">
                <a:effectLst/>
                <a:latin typeface="Arial" panose="020B0604020202020204" pitchFamily="34" charset="0"/>
                <a:ea typeface="Calibri" panose="020F0502020204030204" pitchFamily="34" charset="0"/>
                <a:cs typeface="Arial" panose="020B0604020202020204" pitchFamily="34" charset="0"/>
              </a:rPr>
              <a:t>To improve the flow of the application material, moved paragraph before paragraph A136</a:t>
            </a:r>
            <a:r>
              <a:rPr lang="en-US" sz="1000" dirty="0">
                <a:effectLst/>
                <a:latin typeface="Arial" panose="020B0604020202020204" pitchFamily="34" charset="0"/>
                <a:ea typeface="Calibri" panose="020F0502020204030204" pitchFamily="34" charset="0"/>
                <a:cs typeface="Arial" panose="020B0604020202020204" pitchFamily="34" charset="0"/>
              </a:rPr>
              <a:t>.</a:t>
            </a:r>
          </a:p>
          <a:p>
            <a:pPr marL="694944" marR="0" lvl="1" indent="-347472" algn="just" defTabSz="342900" rtl="0" eaLnBrk="1" latinLnBrk="0" hangingPunct="1">
              <a:lnSpc>
                <a:spcPts val="1400"/>
              </a:lnSpc>
              <a:spcBef>
                <a:spcPts val="600"/>
              </a:spcBef>
              <a:spcAft>
                <a:spcPts val="0"/>
              </a:spcAft>
              <a:buFont typeface="Courier New" panose="02070309020205020404" pitchFamily="49" charset="0"/>
              <a:buChar char="o"/>
            </a:pPr>
            <a:r>
              <a:rPr lang="en-US" sz="1000" b="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The Task Force determined that it is more logical to discuss responses other than an EQ review before discussing circumstances when the firm may determine that there are no audits or other engagements for which an EQ review or another form of engagement review is an appropriate response to address the quality risk(s).</a:t>
            </a:r>
          </a:p>
          <a:p>
            <a:pPr marL="0" marR="0" algn="just">
              <a:lnSpc>
                <a:spcPts val="1400"/>
              </a:lnSpc>
              <a:spcBef>
                <a:spcPts val="600"/>
              </a:spcBef>
              <a:spcAft>
                <a:spcPts val="0"/>
              </a:spcAft>
            </a:pPr>
            <a:r>
              <a:rPr lang="en-US" sz="1000" b="1" i="0" dirty="0">
                <a:effectLst/>
                <a:latin typeface="Arial" panose="020B0604020202020204" pitchFamily="34" charset="0"/>
                <a:ea typeface="Calibri" panose="020F0502020204030204" pitchFamily="34" charset="0"/>
                <a:cs typeface="Arial" panose="020B0604020202020204" pitchFamily="34" charset="0"/>
              </a:rPr>
              <a:t>Application Material - Paragraph A137</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1" indent="-347472" algn="just">
              <a:lnSpc>
                <a:spcPts val="1400"/>
              </a:lnSpc>
              <a:spcBef>
                <a:spcPts val="600"/>
              </a:spcBef>
              <a:spcAft>
                <a:spcPts val="0"/>
              </a:spcAft>
              <a:buFont typeface="Courier New" panose="02070309020205020404" pitchFamily="49" charset="0"/>
              <a:buChar char="o"/>
            </a:pPr>
            <a:r>
              <a:rPr lang="en-US" sz="1000" b="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Clarified</a:t>
            </a: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1000" b="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that the firm may identify and assess quality risks specific to public sector entities</a:t>
            </a: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 and therefore may determine that an EQ review is an appropriate response.</a:t>
            </a:r>
          </a:p>
          <a:p>
            <a:pPr marL="694944" marR="0" lvl="1" indent="-347472"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Added a fourth sentence clarifying that when a public sector entity has additional reporting requirements, </a:t>
            </a:r>
            <a:r>
              <a:rPr lang="en-US" sz="1000" b="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the firm may also consider the importance to users of that reporting in identifying and assessing quality risks and determining whether an EQ review is an appropriate response</a:t>
            </a: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a:t>
            </a:r>
            <a:r>
              <a:rPr lang="en-US" sz="1000" b="1" dirty="0">
                <a:effectLst/>
                <a:latin typeface="Arial" panose="020B0604020202020204" pitchFamily="34" charset="0"/>
                <a:ea typeface="Calibri" panose="020F0502020204030204" pitchFamily="34" charset="0"/>
                <a:cs typeface="Arial" panose="020B0604020202020204" pitchFamily="34" charset="0"/>
              </a:rPr>
              <a:t>deleted the word “larger” before public sector</a:t>
            </a:r>
            <a:r>
              <a:rPr lang="en-US" sz="1000" dirty="0">
                <a:effectLst/>
                <a:latin typeface="Arial" panose="020B0604020202020204" pitchFamily="34" charset="0"/>
                <a:ea typeface="Calibri" panose="020F0502020204030204" pitchFamily="34" charset="0"/>
                <a:cs typeface="Arial" panose="020B0604020202020204" pitchFamily="34" charset="0"/>
              </a:rPr>
              <a:t> to avoid any implication that the guidance only applies to “larger” public sector entities.</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Further clarified that the firm may identify and assess quality risk(s) for public sector entities </a:t>
            </a:r>
            <a:r>
              <a:rPr lang="en-US" sz="1000" b="1" dirty="0">
                <a:effectLst/>
                <a:latin typeface="Arial" panose="020B0604020202020204" pitchFamily="34" charset="0"/>
                <a:ea typeface="Calibri" panose="020F0502020204030204" pitchFamily="34" charset="0"/>
                <a:cs typeface="Arial" panose="020B0604020202020204" pitchFamily="34" charset="0"/>
              </a:rPr>
              <a:t>due to their size and complexity, the range of their stakeholders or the nature of the services they provide</a:t>
            </a:r>
            <a:r>
              <a:rPr lang="en-US" sz="1000" dirty="0">
                <a:effectLst/>
                <a:latin typeface="Arial" panose="020B0604020202020204" pitchFamily="34" charset="0"/>
                <a:ea typeface="Calibri" panose="020F0502020204030204" pitchFamily="34" charset="0"/>
                <a:cs typeface="Arial" panose="020B0604020202020204" pitchFamily="34" charset="0"/>
              </a:rPr>
              <a:t>. Consequently, deleted the last part of the second sentence.</a:t>
            </a:r>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dirty="0"/>
          </a:p>
        </p:txBody>
      </p:sp>
    </p:spTree>
    <p:extLst>
      <p:ext uri="{BB962C8B-B14F-4D97-AF65-F5344CB8AC3E}">
        <p14:creationId xmlns:p14="http://schemas.microsoft.com/office/powerpoint/2010/main" val="196276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just">
              <a:lnSpc>
                <a:spcPts val="1400"/>
              </a:lnSpc>
              <a:spcBef>
                <a:spcPts val="600"/>
              </a:spcBef>
              <a:spcAft>
                <a:spcPts val="0"/>
              </a:spcAft>
              <a:buFont typeface="Arial" panose="020B0604020202020204" pitchFamily="34" charset="0"/>
              <a:buNone/>
            </a:pPr>
            <a:r>
              <a:rPr lang="en-US" sz="1000" b="1" kern="1200" dirty="0">
                <a:solidFill>
                  <a:schemeClr val="tx1"/>
                </a:solidFill>
                <a:effectLst/>
                <a:latin typeface="Arial" panose="020B0604020202020204" pitchFamily="34" charset="0"/>
                <a:ea typeface="+mn-ea"/>
                <a:cs typeface="Arial" panose="020B0604020202020204" pitchFamily="34" charset="0"/>
              </a:rPr>
              <a:t>BATCH 1 – Paragraphs 1-16 and related application material</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Scope of this ISQM</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Added a new sentence at the end of paragraph to align with the matters covered in the “scope” of the standard in proposed ISQM 1 and ISA 220 (Revised).</a:t>
            </a:r>
            <a:r>
              <a:rPr lang="en-US" sz="1000" i="1" dirty="0">
                <a:effectLst/>
                <a:latin typeface="Arial" panose="020B0604020202020204" pitchFamily="34" charset="0"/>
                <a:ea typeface="Calibri" panose="020F0502020204030204" pitchFamily="34" charset="0"/>
                <a:cs typeface="Arial" panose="020B0604020202020204" pitchFamily="34" charset="0"/>
              </a:rPr>
              <a:t> </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The Firm’s System of Quality Management and Role of Engagement Quality Reviews</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5</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lvl="0" indent="-347345" algn="just" defTabSz="342900" rtl="0" eaLnBrk="1" latinLnBrk="0" hangingPunct="1">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Deleted the word “assessed” when referring to the term “quality risks” to align with the deletion in proposed ISQM 1.</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6</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lvl="0" indent="-347345" algn="just" defTabSz="342900" rtl="0" eaLnBrk="1" latinLnBrk="0" hangingPunct="1">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Made changes to the lead-in to align with the wording in proposed ISA 220 (Revised).</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7</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Changed the wording in paragraph 7 to add a reference to paragraph 15 in proposed ISQM 1, and to align with the term used in the last sentence of that same paragraph (i.e., …when applicable to the </a:t>
            </a:r>
            <a:r>
              <a:rPr lang="en-US" sz="1000" i="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type</a:t>
            </a: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 (emphasis added) of engagement, exercising professional skepticism). The terminology change is also consistent with the requirement in paragraph 25(c)(i) of proposed ISQM 2.</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Effective Date</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11</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defTabSz="342900" rtl="0" eaLnBrk="1" latinLnBrk="0" hangingPunct="1">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Replaced the word “and” with “or” in paragraph 11(a) to align with the wording used in proposed ISQM 1.</a:t>
            </a:r>
          </a:p>
          <a:p>
            <a:pPr marL="694944" marR="0" lvl="0" indent="-342900" algn="just" defTabSz="342900" rtl="0" eaLnBrk="1" latinLnBrk="0" hangingPunct="1">
              <a:lnSpc>
                <a:spcPts val="1400"/>
              </a:lnSpc>
              <a:spcBef>
                <a:spcPts val="600"/>
              </a:spcBef>
              <a:spcAft>
                <a:spcPts val="0"/>
              </a:spcAft>
              <a:buFont typeface="Courier New" panose="02070309020205020404" pitchFamily="49" charset="0"/>
              <a:buChar char="o"/>
            </a:pPr>
            <a:r>
              <a:rPr lang="en-US" sz="1000"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Added the proposed effective date (i.e., December 15, 2022)</a:t>
            </a:r>
            <a:r>
              <a:rPr lang="en-US" sz="1000" dirty="0">
                <a:effectLst/>
                <a:latin typeface="Arial" panose="020B0604020202020204" pitchFamily="34" charset="0"/>
                <a:ea typeface="Calibri" panose="020F0502020204030204" pitchFamily="34" charset="0"/>
                <a:cs typeface="Arial" panose="020B0604020202020204" pitchFamily="34" charset="0"/>
              </a:rPr>
              <a:t>.</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Definitions</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13</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the term “</a:t>
            </a:r>
            <a:r>
              <a:rPr lang="en-US" sz="1000" i="1" dirty="0">
                <a:effectLst/>
                <a:latin typeface="Arial" panose="020B0604020202020204" pitchFamily="34" charset="0"/>
                <a:ea typeface="Calibri" panose="020F0502020204030204" pitchFamily="34" charset="0"/>
                <a:cs typeface="Arial" panose="020B0604020202020204" pitchFamily="34" charset="0"/>
              </a:rPr>
              <a:t>an</a:t>
            </a:r>
            <a:r>
              <a:rPr lang="en-US" sz="1000" dirty="0">
                <a:effectLst/>
                <a:latin typeface="Arial" panose="020B0604020202020204" pitchFamily="34" charset="0"/>
                <a:ea typeface="Calibri" panose="020F0502020204030204" pitchFamily="34" charset="0"/>
                <a:cs typeface="Arial" panose="020B0604020202020204" pitchFamily="34" charset="0"/>
              </a:rPr>
              <a:t> engagement quality review” with “</a:t>
            </a:r>
            <a:r>
              <a:rPr lang="en-US" sz="1000" i="1" dirty="0">
                <a:effectLst/>
                <a:latin typeface="Arial" panose="020B0604020202020204" pitchFamily="34" charset="0"/>
                <a:ea typeface="Calibri" panose="020F0502020204030204" pitchFamily="34" charset="0"/>
                <a:cs typeface="Arial" panose="020B0604020202020204" pitchFamily="34" charset="0"/>
              </a:rPr>
              <a:t>the</a:t>
            </a:r>
            <a:r>
              <a:rPr lang="en-US" sz="1000" dirty="0">
                <a:effectLst/>
                <a:latin typeface="Arial" panose="020B0604020202020204" pitchFamily="34" charset="0"/>
                <a:ea typeface="Calibri" panose="020F0502020204030204" pitchFamily="34" charset="0"/>
                <a:cs typeface="Arial" panose="020B0604020202020204" pitchFamily="34" charset="0"/>
              </a:rPr>
              <a:t> engagement quality review” in paragraph 13(c) to align with the wording used in paragraph 12(k) of proposed ISA 220 (Revised) (i.e., “</a:t>
            </a:r>
            <a:r>
              <a:rPr lang="en-US" sz="1000" i="1" dirty="0">
                <a:effectLst/>
                <a:latin typeface="Arial" panose="020B0604020202020204" pitchFamily="34" charset="0"/>
                <a:ea typeface="Calibri" panose="020F0502020204030204" pitchFamily="34" charset="0"/>
                <a:cs typeface="Arial" panose="020B0604020202020204" pitchFamily="34" charset="0"/>
              </a:rPr>
              <a:t>the</a:t>
            </a:r>
            <a:r>
              <a:rPr lang="en-US" sz="1000" dirty="0">
                <a:effectLst/>
                <a:latin typeface="Arial" panose="020B0604020202020204" pitchFamily="34" charset="0"/>
                <a:ea typeface="Calibri" panose="020F0502020204030204" pitchFamily="34" charset="0"/>
                <a:cs typeface="Arial" panose="020B0604020202020204" pitchFamily="34" charset="0"/>
              </a:rPr>
              <a:t> audit engagement”).</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Added a reference to paragraphs A12-A15 as relevant application material to the definition of “relevant ethical requirements” in paragraph 13(c). This approach is aligned with proposed ISQM 1 that includes application material (i.e., paragraphs A23–A25) to its definition of “relevant ethical requirements” (i.e., paragraph 16(t)). In the case of proposed ISQM 2, paragraphs A12-A15 also provide examples of relevant ethical requirements to individual professional accountants, such as an EQ reviewer.</a:t>
            </a:r>
          </a:p>
          <a:p>
            <a:pPr marL="347472" indent="-347472" algn="just">
              <a:lnSpc>
                <a:spcPts val="1400"/>
              </a:lnSpc>
              <a:spcBef>
                <a:spcPts val="600"/>
              </a:spcBef>
              <a:spcAft>
                <a:spcPts val="0"/>
              </a:spcAft>
              <a:buFont typeface="Arial" panose="020B0604020202020204" pitchFamily="34" charset="0"/>
              <a:buNone/>
            </a:pPr>
            <a:r>
              <a:rPr lang="en-US" sz="1000" b="1" kern="1200" dirty="0">
                <a:solidFill>
                  <a:schemeClr val="tx1"/>
                </a:solidFill>
                <a:effectLst/>
                <a:latin typeface="Arial" panose="020B0604020202020204" pitchFamily="34" charset="0"/>
                <a:ea typeface="+mn-ea"/>
                <a:cs typeface="Arial" panose="020B0604020202020204" pitchFamily="34" charset="0"/>
              </a:rPr>
              <a:t>BATCH 2 – Paragraphs 17-23 and related 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Appointment and Eligibility of EQ Reviewers</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17</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Board comments, changed the first sentence of paragraph A3 because a firm may have more than one individual responsible for appointing EQ reviewers for similar types of engagements (i.e., not necessarily for different types of engagements).</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18</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the words “external individual(s)” with “individual(s) external to the firm” in paragraph A4 to align with wording used in paragraph A22 of proposed ISQM 1 (i.e., individuals external to the firm).</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paragraph A4 that an external EQ reviewer may be a partner or an employee of another firm, structure or organization within the firm’s network or a service provider to align with the wording used in paragraph A19 of proposed ISQM 1 that describes how networks and the firms within the network may be structured.</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Further clarified in paragraph A4 that when using such an individual external to the firm, provisions in proposed ISQM 1 addressing network requirements or network services or service providers apply.</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18(a)</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deleted the words “related to the nature and circumstances of the engagement or the entity” in the second sentence of paragraph A5 as the matters outlined in the bullets that follow do not necessarily relate to the nature and circumstances of the engagement or the entity.</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the term “factors” in paragraph A6 with “conditions, events, circumstances, actions or inactions” to align with the full term used in paragraph 25(a) of proposed ISQM 1 when referring to such conditions, events, circumstances, actions or inactions that may adversely affect the achievement of the quality objectives.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Changed “assessed quality risks” to “address one or more quality risk(s)” in paragraph A6 to align with the changes in paragraph 34(f)(iii) of proposed ISQM 1 as noted above.</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Added “engagement-level” when referring to “findings,” and deleted “in-process or completed” when referring to “inspection of engagements” in paragraph A7 to align with the wording used in paragraph A17 of proposed ISQM 1.</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18(b)</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editorial suggestions, changes were made to paragraph A12.</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consultation with IESBA Representatives and Staff, made changes in paragraph A15 to align with the proposed revisions to the IESBA Code relating to the objectivity of EQ reviewers, now broadened to cover “appropriate reviewers” as described in the IESBA Code.</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20(a)</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Deleted the words “either internal or external” when referring to the term “individual” or “individuals” in paragraph A19. This aligns with the broader reference in proposed ISQM 1 to “individual” or “individuals” as being internal or external to the firm.</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20(b)</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the words “external individual” with “individual external to the firm” in paragraph A21 to align with wording used in paragraph A22 of proposed ISQM 1 (i.e., individuals external to the firm).</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21(b)</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Requirement</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lvl="0" indent="-34290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Deleted the words “work of” in paragraph 21(b) of proposed ISQM 2 to align with the wording used in paragraph 31(b) of proposed ISQM 1 and the construct used in proposed ISA 220 (Revised).</a:t>
            </a:r>
          </a:p>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b="1" kern="1200" dirty="0">
                <a:solidFill>
                  <a:schemeClr val="tx1"/>
                </a:solidFill>
                <a:effectLst/>
                <a:latin typeface="Arial" panose="020B0604020202020204" pitchFamily="34" charset="0"/>
                <a:ea typeface="+mn-ea"/>
                <a:cs typeface="Arial" panose="020B0604020202020204" pitchFamily="34" charset="0"/>
              </a:rPr>
              <a:t>BATCH 3 – Paragraphs 24-27 and related application material</a:t>
            </a:r>
            <a:endParaRPr lang="en-US" sz="1000" b="1"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Performance of the EQ Review</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944"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Added a footnote to paragraph A49 of proposed ISQM 1 in the first bullet in paragraph A30 to clarify that the reasons for the assessments given to quality risks may affect the nature and extent of the EQ reviewer’s procedures.</a:t>
            </a:r>
          </a:p>
          <a:p>
            <a:pPr marL="694944"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“findings arising from the firm’s monitoring activities” with “identified deficiencies and the remedial actions to address the identified deficiencies related to the firm’s monitoring and remediation process” in the second bullet in paragraph A30 to align with the matters to be communicated by the firm in accordance with paragraph 47 of proposed ISQM 1.</a:t>
            </a:r>
          </a:p>
          <a:p>
            <a:pPr marL="694944"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“other information relevant to the engagement” with “findings relevant to the engagement” in the fifth bullet in paragraph A30 to align with the definition of the term “findings (in relation to a system of quality management)” in paragraph 16(h) of proposed ISQM 1.</a:t>
            </a:r>
          </a:p>
          <a:p>
            <a:pPr marL="694944"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the sixth bullet in paragraph A30 that it is the information obtained from the firm’s acceptance and continuance of client relationships and specific engagements that influences the nature and extent of the EQ reviewer’s procedures. In addition, deleted the words “which may indicate new risks to achieving quality for an engagement” as it may be construed as identifying and assessing quality risks at the engagement level.</a:t>
            </a:r>
          </a:p>
          <a:p>
            <a:pPr marL="694944"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Replaced “consideration of, and responses to, risks of material misstatement in the engagement” with “identification and assessment of, and responses to, risks of material misstatement in the engagement” in the seventh bullet in paragraph A30 to align with the wording used in ISA 315 (Revised 2019).</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25(a)(ii)</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Requirement</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742950" marR="0" lvl="1" indent="-28575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paragraph 25(a)(ii) that the EQ reviewer shall read, and obtain an understanding of, information communicated by the firm related to the firm’s monitoring and remediation process, in particular identified deficiencies that may relate to, or affect, the areas involving significant judgments made by the engagement team. This is aligned with the wording used in paragraph 39(a) of proposed ISA 220 (Revised) (i.e., </a:t>
            </a:r>
            <a:r>
              <a:rPr lang="en-US" sz="1000" spc="-20" dirty="0">
                <a:effectLst/>
                <a:latin typeface="Arial" panose="020B0604020202020204" pitchFamily="34" charset="0"/>
                <a:ea typeface="Calibri" panose="020F0502020204030204" pitchFamily="34" charset="0"/>
                <a:cs typeface="Arial" panose="020B0604020202020204" pitchFamily="34" charset="0"/>
              </a:rPr>
              <a:t>firm’s monitoring and remediation process)</a:t>
            </a:r>
            <a:r>
              <a:rPr lang="en-US" sz="1000" dirty="0">
                <a:effectLst/>
                <a:latin typeface="Arial" panose="020B0604020202020204" pitchFamily="34" charset="0"/>
                <a:ea typeface="Calibri" panose="020F0502020204030204" pitchFamily="34" charset="0"/>
                <a:cs typeface="Arial" panose="020B0604020202020204" pitchFamily="34" charset="0"/>
              </a:rPr>
              <a:t>.</a:t>
            </a: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742950" marR="0" lvl="1" indent="-285750"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the third sentence of paragraph A34 that a deficiency identified by the firm may relate to significant judgments made by engagement teams.</a:t>
            </a: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Board comments, clarified in the last sentence of paragraph A34 that when such information (i.e., deficiency) is expected to be relevant to the significant judgments made on the engagement, it may provide the EQ reviewer with a basis for discussions with the engagement team in accordance with paragraph 25(b).</a:t>
            </a: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25(b)</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Requirement and 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deleted the word “concluding” in paragraph 25(b) and in the relevant application material in paragraphs A29 and A34 as it could be read as concluding or ending the engagement. It was noted that drawing conclusions is part of the planning, performing and reporting stages of the engagement.</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25(c)</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buFont typeface="Arial" panose="020B0604020202020204" pitchFamily="34" charset="0"/>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deleted the words “based on information obtained in paragraphs 25(a) and 25(b)” in the first bullet of paragraph A39 as it is viewed as duplicative of the requirement in paragraph 25(c). It was noted that “remaining alert” in this case may not necessarily be limited to the information obtained in paragraphs 25(a) and 25(b).</a:t>
            </a:r>
          </a:p>
          <a:p>
            <a:pPr marL="347345" marR="0" indent="-347345" algn="just">
              <a:lnSpc>
                <a:spcPts val="1400"/>
              </a:lnSpc>
              <a:spcBef>
                <a:spcPts val="600"/>
              </a:spcBef>
              <a:spcAft>
                <a:spcPts val="0"/>
              </a:spcAft>
              <a:buFont typeface="Arial" panose="020B0604020202020204" pitchFamily="34" charset="0"/>
              <a:buChar char="•"/>
            </a:pPr>
            <a:r>
              <a:rPr lang="en-US" sz="1000" dirty="0">
                <a:effectLst/>
                <a:latin typeface="Arial" panose="020B0604020202020204" pitchFamily="34" charset="0"/>
                <a:ea typeface="Calibri" panose="020F0502020204030204" pitchFamily="34" charset="0"/>
                <a:cs typeface="Arial" panose="020B0604020202020204" pitchFamily="34" charset="0"/>
              </a:rPr>
              <a:t>To be consistent with the order of a similar application material in ED-600, moved paragraph A31Cb (now renumbered as paragraph A42) before paragraph A31Ca (now renumbered as paragraph A43).</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25(e)</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paragraph A45 that proposed ISQM 1 addresses consultation on difficult or contentious matters and differences of opinion within the engagement team, or between the engagement team and the EQ reviewer or individuals performing activities within the firm’s system of quality management (e.g., assistant EQ reviewers or personnel responding to a consultation). This is aligned with paragraphs 31(d) and 31(e) of proposed ISQM 1.</a:t>
            </a: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25(f)</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In response to a Board comment, aligned the last sentence of paragraph A46 with the requirement in paragraph 25(f) by clarifying that the discussion with the engagement team, and review of such engagement documentation, may assist the EQ reviewer’s evaluation of the </a:t>
            </a:r>
            <a:r>
              <a:rPr lang="en-US" sz="1000" i="1" dirty="0">
                <a:effectLst/>
                <a:latin typeface="Arial" panose="020B0604020202020204" pitchFamily="34" charset="0"/>
                <a:ea typeface="Calibri" panose="020F0502020204030204" pitchFamily="34" charset="0"/>
                <a:cs typeface="Arial" panose="020B0604020202020204" pitchFamily="34" charset="0"/>
              </a:rPr>
              <a:t>basis for the engagement partner’s determination that the engagement partner’s involvement has been sufficient and appropriate </a:t>
            </a:r>
            <a:r>
              <a:rPr lang="en-US" sz="1000" dirty="0">
                <a:effectLst/>
                <a:latin typeface="Arial" panose="020B0604020202020204" pitchFamily="34" charset="0"/>
                <a:ea typeface="Calibri" panose="020F0502020204030204" pitchFamily="34" charset="0"/>
                <a:cs typeface="Arial" panose="020B0604020202020204" pitchFamily="34" charset="0"/>
              </a:rPr>
              <a:t>(emphasis added).</a:t>
            </a:r>
          </a:p>
          <a:p>
            <a:pPr marL="0" marR="0" algn="just">
              <a:lnSpc>
                <a:spcPts val="1400"/>
              </a:lnSpc>
              <a:spcBef>
                <a:spcPts val="600"/>
              </a:spcBef>
              <a:spcAft>
                <a:spcPts val="0"/>
              </a:spcAft>
            </a:pPr>
            <a:r>
              <a:rPr lang="en-US" sz="1000" b="1" kern="1200" dirty="0">
                <a:solidFill>
                  <a:schemeClr val="tx1"/>
                </a:solidFill>
                <a:effectLst/>
                <a:latin typeface="Arial" panose="020B0604020202020204" pitchFamily="34" charset="0"/>
                <a:ea typeface="+mn-ea"/>
                <a:cs typeface="Arial" panose="020B0604020202020204" pitchFamily="34" charset="0"/>
              </a:rPr>
              <a:t>BATCH 4 – Paragraphs 28-30 and related application material</a:t>
            </a:r>
            <a:endParaRPr lang="en-US" sz="1000" b="1"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Documentation</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7345" marR="0" indent="-347345" algn="just">
              <a:lnSpc>
                <a:spcPts val="1400"/>
              </a:lnSpc>
              <a:spcBef>
                <a:spcPts val="600"/>
              </a:spcBef>
              <a:spcAft>
                <a:spcPts val="0"/>
              </a:spcAft>
            </a:pPr>
            <a:r>
              <a:rPr lang="en-US" sz="1000" b="1" dirty="0">
                <a:effectLst/>
                <a:latin typeface="Arial" panose="020B0604020202020204" pitchFamily="34" charset="0"/>
                <a:ea typeface="Calibri" panose="020F0502020204030204" pitchFamily="34" charset="0"/>
                <a:cs typeface="Arial" panose="020B0604020202020204" pitchFamily="34" charset="0"/>
              </a:rPr>
              <a:t>Paragraph 28</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ts val="1400"/>
              </a:lnSpc>
              <a:spcBef>
                <a:spcPts val="600"/>
              </a:spcBef>
              <a:spcAft>
                <a:spcPts val="0"/>
              </a:spcAft>
            </a:pPr>
            <a:r>
              <a:rPr lang="en-US" sz="1000" i="1" dirty="0">
                <a:effectLst/>
                <a:latin typeface="Arial" panose="020B0604020202020204" pitchFamily="34" charset="0"/>
                <a:ea typeface="Calibri" panose="020F0502020204030204" pitchFamily="34" charset="0"/>
                <a:cs typeface="Arial" panose="020B0604020202020204" pitchFamily="34" charset="0"/>
              </a:rPr>
              <a:t>Application Material</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ts val="1400"/>
              </a:lnSpc>
              <a:spcBef>
                <a:spcPts val="600"/>
              </a:spcBef>
              <a:spcAft>
                <a:spcPts val="0"/>
              </a:spcAft>
              <a:buFont typeface="Symbol" panose="05050102010706020507" pitchFamily="18" charset="2"/>
              <a:buChar char=""/>
            </a:pPr>
            <a:r>
              <a:rPr lang="en-US" sz="1000" dirty="0">
                <a:effectLst/>
                <a:latin typeface="Arial" panose="020B0604020202020204" pitchFamily="34" charset="0"/>
                <a:ea typeface="Calibri" panose="020F0502020204030204" pitchFamily="34" charset="0"/>
                <a:cs typeface="Arial" panose="020B0604020202020204" pitchFamily="34" charset="0"/>
              </a:rPr>
              <a:t>Changes arising from the cross-review of drafts of the three quality management standards:</a:t>
            </a:r>
          </a:p>
          <a:p>
            <a:pPr marL="694690" marR="0" indent="-347345" algn="just">
              <a:lnSpc>
                <a:spcPts val="1400"/>
              </a:lnSpc>
              <a:spcBef>
                <a:spcPts val="600"/>
              </a:spcBef>
              <a:spcAft>
                <a:spcPts val="0"/>
              </a:spcAft>
              <a:buFont typeface="Courier New" panose="02070309020205020404" pitchFamily="49" charset="0"/>
              <a:buChar char="o"/>
            </a:pPr>
            <a:r>
              <a:rPr lang="en-US" sz="1000" dirty="0">
                <a:effectLst/>
                <a:latin typeface="Arial" panose="020B0604020202020204" pitchFamily="34" charset="0"/>
                <a:ea typeface="Calibri" panose="020F0502020204030204" pitchFamily="34" charset="0"/>
                <a:cs typeface="Arial" panose="020B0604020202020204" pitchFamily="34" charset="0"/>
              </a:rPr>
              <a:t>Clarified in paragraph A50 that paragraphs 57 to 60 of proposed ISQM 1 address the firm’s documentation of its system of quality management. Hence, an EQ review is subject to the documentation requirements in proposed ISQM 1.</a:t>
            </a:r>
            <a:endParaRPr lang="en-US" sz="1000" b="1"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3463076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a:lnSpc>
                <a:spcPts val="1400"/>
              </a:lnSpc>
              <a:spcBef>
                <a:spcPts val="600"/>
              </a:spcBef>
              <a:spcAft>
                <a:spcPts val="0"/>
              </a:spcAft>
              <a:buSzPts val="1000"/>
              <a:buFont typeface="+mj-lt"/>
              <a:buNone/>
            </a:pPr>
            <a:r>
              <a:rPr lang="en-US" sz="1000" b="0" dirty="0">
                <a:solidFill>
                  <a:srgbClr val="FFFFFF"/>
                </a:solidFill>
                <a:effectLst/>
                <a:latin typeface="Arial" panose="020B0604020202020204" pitchFamily="34" charset="0"/>
                <a:ea typeface="Arial" panose="020B0604020202020204" pitchFamily="34" charset="0"/>
                <a:cs typeface="Arial" panose="020B0604020202020204" pitchFamily="34" charset="0"/>
              </a:rPr>
              <a:t>Following the virtual Board session on September 16, 2020, </a:t>
            </a: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the Task Force will:</a:t>
            </a:r>
          </a:p>
          <a:p>
            <a:pPr marL="347472" marR="0" lvl="0" indent="-347472" algn="just" defTabSz="342900" rtl="0" eaLnBrk="1" latinLnBrk="0" hangingPunct="1">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Update the drafts to address Board members’ comments and to align with the changes in proposed ISQM 1 and ISA 220 (Revised).</a:t>
            </a:r>
          </a:p>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Align with the proposed revisions to the IESBA Code addressing the objectivity of appropriate reviewers arising from the IESBA’s discussion at its September 2020 meeting.</a:t>
            </a:r>
          </a:p>
          <a:p>
            <a:pPr marL="0" marR="0" lvl="0" indent="0" algn="just">
              <a:lnSpc>
                <a:spcPts val="1400"/>
              </a:lnSpc>
              <a:spcBef>
                <a:spcPts val="600"/>
              </a:spcBef>
              <a:spcAft>
                <a:spcPts val="0"/>
              </a:spcAft>
              <a:buSzPts val="1000"/>
              <a:buFont typeface="Arial" panose="020B0604020202020204" pitchFamily="34" charset="0"/>
              <a:buNone/>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T</a:t>
            </a:r>
            <a:r>
              <a:rPr lang="en-US" sz="1000" b="0" dirty="0">
                <a:effectLst/>
                <a:latin typeface="Arial" panose="020B0604020202020204" pitchFamily="34" charset="0"/>
                <a:ea typeface="Arial" panose="020B0604020202020204" pitchFamily="34" charset="0"/>
                <a:cs typeface="Arial" panose="020B0604020202020204" pitchFamily="34" charset="0"/>
              </a:rPr>
              <a:t>hereafter, the final drafts will be presented for approval at the virtual Board sessions on:</a:t>
            </a:r>
            <a:endParaRPr lang="en-US" sz="1000" b="1" dirty="0">
              <a:effectLst/>
              <a:latin typeface="Arial" panose="020B0604020202020204" pitchFamily="34" charset="0"/>
              <a:ea typeface="Arial" panose="020B0604020202020204" pitchFamily="34" charset="0"/>
              <a:cs typeface="Arial" panose="020B0604020202020204" pitchFamily="34" charset="0"/>
            </a:endParaRPr>
          </a:p>
          <a:p>
            <a:pPr marL="347472" marR="0" lvl="0" indent="-347472" algn="just" defTabSz="342900" rtl="0" eaLnBrk="1" latinLnBrk="0" hangingPunct="1">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September 21, with respect to proposed ISQM 2.</a:t>
            </a:r>
          </a:p>
          <a:p>
            <a:pPr marL="347472" marR="0" lvl="0" indent="-347472" algn="just" defTabSz="342900" rtl="0" eaLnBrk="1" latinLnBrk="0" hangingPunct="1">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September 23, with respect to the scope of engagements subject to an EQ review in proposed ISQM 1, as part of the approval of that standard.</a:t>
            </a: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4217155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At 10am today (September 16, Wednesday), we will have a Task Force meeting to discuss Board members’ comments from this plenary session.</a:t>
            </a:r>
          </a:p>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We then plan to post the turn-around drafts for the Board by 10am on September 18, Friday.</a:t>
            </a:r>
          </a:p>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This will be followed by two consultation sessions on the same day (September 18, Friday).</a:t>
            </a:r>
          </a:p>
          <a:p>
            <a:pPr marL="694944" marR="0" lvl="0" indent="-347472" algn="just">
              <a:lnSpc>
                <a:spcPts val="1400"/>
              </a:lnSpc>
              <a:spcBef>
                <a:spcPts val="600"/>
              </a:spcBef>
              <a:spcAft>
                <a:spcPts val="0"/>
              </a:spcAft>
              <a:buSzPts val="1000"/>
              <a:buFont typeface="Courier New" panose="02070309020205020404" pitchFamily="49" charset="0"/>
              <a:buChar char="o"/>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Consultation session 1 will be at 12pm-2pm EDT for those in Europe and Northern America.</a:t>
            </a:r>
          </a:p>
          <a:p>
            <a:pPr marL="694944" marR="0" lvl="0" indent="-347472" algn="just">
              <a:lnSpc>
                <a:spcPts val="1400"/>
              </a:lnSpc>
              <a:spcBef>
                <a:spcPts val="600"/>
              </a:spcBef>
              <a:spcAft>
                <a:spcPts val="0"/>
              </a:spcAft>
              <a:buSzPts val="1000"/>
              <a:buFont typeface="Courier New" panose="02070309020205020404" pitchFamily="49" charset="0"/>
              <a:buChar char="o"/>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Consultation session 2 will be at 6pm-8pm EDT for those in Asia and the Pacific.</a:t>
            </a:r>
          </a:p>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Thereafter, the Task Force will debrief on comments received at those consultations by 10am on September 19, Saturday.</a:t>
            </a:r>
          </a:p>
          <a:p>
            <a:pPr marL="347472" marR="0" lvl="0" indent="-347472" algn="just">
              <a:lnSpc>
                <a:spcPts val="1400"/>
              </a:lnSpc>
              <a:spcBef>
                <a:spcPts val="600"/>
              </a:spcBef>
              <a:spcAft>
                <a:spcPts val="0"/>
              </a:spcAft>
              <a:buSzPts val="1000"/>
              <a:buFont typeface="Arial" panose="020B0604020202020204" pitchFamily="34" charset="0"/>
              <a:buChar char="•"/>
            </a:pPr>
            <a:r>
              <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rPr>
              <a:t>We look forward to the proposed ISQM 2’s Board approval on September 21, Monday.</a:t>
            </a: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1824230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Summarize key messages.</a:t>
            </a:r>
          </a:p>
          <a:p>
            <a:pPr marL="0" indent="0">
              <a:lnSpc>
                <a:spcPts val="1400"/>
              </a:lnSpc>
              <a:spcBef>
                <a:spcPts val="600"/>
              </a:spcBef>
              <a:buFont typeface="Arial" panose="020B0604020202020204" pitchFamily="34" charset="0"/>
              <a:buNone/>
            </a:pPr>
            <a:endParaRPr lang="en-US" sz="1000" dirty="0">
              <a:latin typeface="Arial" panose="020B0604020202020204" pitchFamily="34" charset="0"/>
              <a:cs typeface="Arial" panose="020B0604020202020204" pitchFamily="34" charset="0"/>
            </a:endParaRPr>
          </a:p>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Acknowledge efforts.</a:t>
            </a:r>
          </a:p>
          <a:p>
            <a:pPr marL="0" indent="0">
              <a:lnSpc>
                <a:spcPts val="1400"/>
              </a:lnSpc>
              <a:spcBef>
                <a:spcPts val="600"/>
              </a:spcBef>
              <a:buFont typeface="Arial" panose="020B0604020202020204" pitchFamily="34" charset="0"/>
              <a:buNone/>
            </a:pPr>
            <a:endParaRPr lang="en-US" sz="1000" dirty="0">
              <a:latin typeface="Arial" panose="020B0604020202020204" pitchFamily="34" charset="0"/>
              <a:cs typeface="Arial" panose="020B0604020202020204" pitchFamily="34" charset="0"/>
            </a:endParaRPr>
          </a:p>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Commitment to coordinate and meet the dates agreed upon in the work programme.</a:t>
            </a: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9</a:t>
            </a:fld>
            <a:endParaRPr lang="en-US" dirty="0"/>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8112211" cy="867000"/>
          </a:xfrm>
        </p:spPr>
        <p:txBody>
          <a:bodyPr anchor="ctr">
            <a:normAutofit/>
          </a:bodyPr>
          <a:lstStyle/>
          <a:p>
            <a:r>
              <a:rPr lang="en-US" sz="2800" b="1" dirty="0"/>
              <a:t>Proposed ISQM 2, </a:t>
            </a:r>
            <a:r>
              <a:rPr lang="en-US" sz="2800" b="1" i="1" dirty="0"/>
              <a:t>Engagement Quality Reviews</a:t>
            </a:r>
            <a:endParaRPr lang="en-US" sz="2800" b="1" dirty="0"/>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Imran Vanker, IAASB Member and Task Force Chair</a:t>
            </a:r>
          </a:p>
          <a:p>
            <a:pPr>
              <a:spcBef>
                <a:spcPts val="600"/>
              </a:spcBef>
            </a:pPr>
            <a:r>
              <a:rPr lang="en-US" sz="1600" b="1" dirty="0"/>
              <a:t>IAASB Meeting</a:t>
            </a:r>
          </a:p>
          <a:p>
            <a:pPr>
              <a:spcBef>
                <a:spcPts val="600"/>
              </a:spcBef>
            </a:pPr>
            <a:r>
              <a:rPr lang="en-US" sz="1600" b="1" dirty="0"/>
              <a:t>September 16, 2020</a:t>
            </a:r>
          </a:p>
          <a:p>
            <a:pPr>
              <a:spcBef>
                <a:spcPts val="600"/>
              </a:spcBef>
            </a:pPr>
            <a:r>
              <a:rPr lang="en-US" sz="1600" b="1" dirty="0"/>
              <a:t>Agenda Item 3</a:t>
            </a:r>
          </a:p>
        </p:txBody>
      </p:sp>
      <p:sp>
        <p:nvSpPr>
          <p:cNvPr id="4" name="Slide Number Placeholder 5">
            <a:extLst>
              <a:ext uri="{FF2B5EF4-FFF2-40B4-BE49-F238E27FC236}">
                <a16:creationId xmlns:a16="http://schemas.microsoft.com/office/drawing/2014/main" id="{3664150A-AB4F-49F1-8611-9C1057D8B77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6989456" cy="3222677"/>
          </a:xfrm>
          <a:prstGeom prst="rect">
            <a:avLst/>
          </a:prstGeom>
          <a:noFill/>
          <a:ln>
            <a:noFill/>
          </a:ln>
        </p:spPr>
        <p:txBody>
          <a:bodyPr wrap="square" rtlCol="0">
            <a:spAutoFit/>
          </a:bodyPr>
          <a:lstStyle/>
          <a:p>
            <a:pPr>
              <a:lnSpc>
                <a:spcPts val="2400"/>
              </a:lnSpc>
              <a:spcBef>
                <a:spcPts val="600"/>
              </a:spcBef>
            </a:pPr>
            <a:r>
              <a:rPr lang="en-CA" sz="2000" b="1" dirty="0">
                <a:solidFill>
                  <a:schemeClr val="tx1">
                    <a:lumMod val="65000"/>
                    <a:lumOff val="35000"/>
                  </a:schemeClr>
                </a:solidFill>
                <a:latin typeface="Arial" panose="020B0604020202020204" pitchFamily="34" charset="0"/>
                <a:cs typeface="Arial" panose="020B0604020202020204" pitchFamily="34" charset="0"/>
              </a:rPr>
              <a:t>Objectives</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The objectives of this session are to approve the scope of engagements subject to an EQ review and proposed ISQM 2</a:t>
            </a:r>
          </a:p>
          <a:p>
            <a:pPr>
              <a:lnSpc>
                <a:spcPts val="2400"/>
              </a:lnSpc>
              <a:spcBef>
                <a:spcPts val="600"/>
              </a:spcBef>
            </a:pPr>
            <a:r>
              <a:rPr lang="en-US" sz="2000" b="1" dirty="0">
                <a:solidFill>
                  <a:schemeClr val="tx1">
                    <a:lumMod val="65000"/>
                    <a:lumOff val="35000"/>
                  </a:schemeClr>
                </a:solidFill>
                <a:latin typeface="Arial" panose="020B0604020202020204" pitchFamily="34" charset="0"/>
                <a:cs typeface="Arial" panose="020B0604020202020204" pitchFamily="34" charset="0"/>
              </a:rPr>
              <a:t>Structure of Board Discussion</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Engagements subject to an EQ review in proposed ISQM 1 </a:t>
            </a:r>
            <a:r>
              <a:rPr lang="en-US" sz="1800" b="1" dirty="0">
                <a:solidFill>
                  <a:schemeClr val="tx1">
                    <a:lumMod val="65000"/>
                    <a:lumOff val="35000"/>
                  </a:schemeClr>
                </a:solidFill>
                <a:latin typeface="Arial" panose="020B0604020202020204" pitchFamily="34" charset="0"/>
                <a:cs typeface="Arial" panose="020B0604020202020204" pitchFamily="34" charset="0"/>
              </a:rPr>
              <a:t>(Agenda Item 3-C)</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Proposed ISQM 2 </a:t>
            </a:r>
            <a:r>
              <a:rPr lang="en-US" sz="1800" b="1" dirty="0">
                <a:solidFill>
                  <a:schemeClr val="tx1">
                    <a:lumMod val="65000"/>
                    <a:lumOff val="35000"/>
                  </a:schemeClr>
                </a:solidFill>
                <a:latin typeface="Arial" panose="020B0604020202020204" pitchFamily="34" charset="0"/>
                <a:cs typeface="Arial" panose="020B0604020202020204" pitchFamily="34" charset="0"/>
              </a:rPr>
              <a:t>(Agenda Item 3-D)</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Explanation of changes to requirements and related application material </a:t>
            </a:r>
            <a:r>
              <a:rPr lang="en-US" sz="1800" b="1" dirty="0">
                <a:solidFill>
                  <a:schemeClr val="tx1">
                    <a:lumMod val="65000"/>
                    <a:lumOff val="35000"/>
                  </a:schemeClr>
                </a:solidFill>
                <a:latin typeface="Arial" panose="020B0604020202020204" pitchFamily="34" charset="0"/>
                <a:cs typeface="Arial" panose="020B0604020202020204" pitchFamily="34" charset="0"/>
              </a:rPr>
              <a:t>(Agenda Item 3-E)</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Objective and Structure of Board Discussion</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a:t>
            </a:fld>
            <a:endParaRPr lang="en-US" sz="675" dirty="0">
              <a:solidFill>
                <a:srgbClr val="808080"/>
              </a:solidFill>
              <a:latin typeface="Arial" panose="020B0604020202020204" pitchFamily="34" charset="0"/>
            </a:endParaRPr>
          </a:p>
        </p:txBody>
      </p:sp>
      <p:pic>
        <p:nvPicPr>
          <p:cNvPr id="18" name="Graphic 17" descr="Handshake">
            <a:extLst>
              <a:ext uri="{FF2B5EF4-FFF2-40B4-BE49-F238E27FC236}">
                <a16:creationId xmlns:a16="http://schemas.microsoft.com/office/drawing/2014/main" id="{B82738DC-5A41-4A90-8762-7DD73EAFE4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4873" y="853493"/>
            <a:ext cx="1624664" cy="1624664"/>
          </a:xfrm>
          <a:prstGeom prst="rect">
            <a:avLst/>
          </a:prstGeom>
        </p:spPr>
      </p:pic>
      <p:pic>
        <p:nvPicPr>
          <p:cNvPr id="20" name="Graphic 19" descr="Customer review">
            <a:extLst>
              <a:ext uri="{FF2B5EF4-FFF2-40B4-BE49-F238E27FC236}">
                <a16:creationId xmlns:a16="http://schemas.microsoft.com/office/drawing/2014/main" id="{A4F7114E-52B1-4A56-850D-F2E3E4D1D1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84872" y="2571750"/>
            <a:ext cx="1624664" cy="1504419"/>
          </a:xfrm>
          <a:prstGeom prst="rect">
            <a:avLst/>
          </a:prstGeom>
        </p:spPr>
      </p:pic>
    </p:spTree>
    <p:extLst>
      <p:ext uri="{BB962C8B-B14F-4D97-AF65-F5344CB8AC3E}">
        <p14:creationId xmlns:p14="http://schemas.microsoft.com/office/powerpoint/2010/main" val="157650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50596" y="802213"/>
            <a:ext cx="4532184" cy="4093428"/>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b="1" dirty="0">
                <a:solidFill>
                  <a:schemeClr val="tx1">
                    <a:lumMod val="65000"/>
                    <a:lumOff val="35000"/>
                  </a:schemeClr>
                </a:solidFill>
                <a:latin typeface="Arial" panose="020B0604020202020204" pitchFamily="34" charset="0"/>
                <a:cs typeface="Arial" panose="020B0604020202020204" pitchFamily="34" charset="0"/>
              </a:rPr>
              <a:t>Appropriateness of firm’s criteria to determine which engagements are subject to an EQ review</a:t>
            </a:r>
          </a:p>
          <a:p>
            <a:pPr marL="342900" indent="-342900">
              <a:lnSpc>
                <a:spcPts val="2400"/>
              </a:lnSpc>
              <a:spcBef>
                <a:spcPts val="600"/>
              </a:spcBef>
              <a:buFont typeface="Arial" panose="020B0604020202020204" pitchFamily="34" charset="0"/>
              <a:buChar char="•"/>
            </a:pPr>
            <a:r>
              <a:rPr lang="en-US" sz="2000" b="1" dirty="0">
                <a:solidFill>
                  <a:schemeClr val="tx1">
                    <a:lumMod val="65000"/>
                    <a:lumOff val="35000"/>
                  </a:schemeClr>
                </a:solidFill>
                <a:latin typeface="Arial" panose="020B0604020202020204" pitchFamily="34" charset="0"/>
                <a:cs typeface="Arial" panose="020B0604020202020204" pitchFamily="34" charset="0"/>
              </a:rPr>
              <a:t>Selection of the EQ reviewer, including qualifications, experience and objectivity</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Timing of performance of the EQ review </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Depth and focus of the review</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Robustness of the documentation of the review</a:t>
            </a:r>
            <a:endParaRPr lang="en-CA" sz="20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Public Interest Issues Addressed in the Standard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3</a:t>
            </a:fld>
            <a:endParaRPr lang="en-US" sz="675" dirty="0">
              <a:solidFill>
                <a:srgbClr val="808080"/>
              </a:solidFill>
              <a:latin typeface="Arial" panose="020B0604020202020204" pitchFamily="34" charset="0"/>
            </a:endParaRPr>
          </a:p>
        </p:txBody>
      </p:sp>
      <p:sp>
        <p:nvSpPr>
          <p:cNvPr id="7" name="Arrow: Left 6">
            <a:extLst>
              <a:ext uri="{FF2B5EF4-FFF2-40B4-BE49-F238E27FC236}">
                <a16:creationId xmlns:a16="http://schemas.microsoft.com/office/drawing/2014/main" id="{6FB0F057-861D-4818-A32B-BE349B1F9DFC}"/>
              </a:ext>
            </a:extLst>
          </p:cNvPr>
          <p:cNvSpPr/>
          <p:nvPr/>
        </p:nvSpPr>
        <p:spPr>
          <a:xfrm>
            <a:off x="4914900" y="854901"/>
            <a:ext cx="3846384" cy="952261"/>
          </a:xfrm>
          <a:prstGeom prst="leftArrow">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Extended requirements beyond audits of financial statements</a:t>
            </a:r>
          </a:p>
        </p:txBody>
      </p:sp>
      <p:sp>
        <p:nvSpPr>
          <p:cNvPr id="9" name="Arrow: Left 8">
            <a:extLst>
              <a:ext uri="{FF2B5EF4-FFF2-40B4-BE49-F238E27FC236}">
                <a16:creationId xmlns:a16="http://schemas.microsoft.com/office/drawing/2014/main" id="{B3A623E8-CED6-48F0-BE91-92A036096922}"/>
              </a:ext>
            </a:extLst>
          </p:cNvPr>
          <p:cNvSpPr/>
          <p:nvPr/>
        </p:nvSpPr>
        <p:spPr>
          <a:xfrm>
            <a:off x="4381500" y="1604201"/>
            <a:ext cx="4379784" cy="952261"/>
          </a:xfrm>
          <a:prstGeom prst="leftArrow">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Cooling-off requirement to address threats to objectivity of the EQ reviewer</a:t>
            </a:r>
          </a:p>
        </p:txBody>
      </p:sp>
      <p:sp>
        <p:nvSpPr>
          <p:cNvPr id="13" name="Arrow: Left 12">
            <a:extLst>
              <a:ext uri="{FF2B5EF4-FFF2-40B4-BE49-F238E27FC236}">
                <a16:creationId xmlns:a16="http://schemas.microsoft.com/office/drawing/2014/main" id="{8CE3032B-C8D3-4079-B649-00BDA4B4A138}"/>
              </a:ext>
            </a:extLst>
          </p:cNvPr>
          <p:cNvSpPr/>
          <p:nvPr/>
        </p:nvSpPr>
        <p:spPr>
          <a:xfrm>
            <a:off x="4914900" y="2366201"/>
            <a:ext cx="3846384" cy="952261"/>
          </a:xfrm>
          <a:prstGeom prst="leftArrow">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EQ reviewer involvement at appropriate points in time during the engagement</a:t>
            </a:r>
          </a:p>
        </p:txBody>
      </p:sp>
      <p:sp>
        <p:nvSpPr>
          <p:cNvPr id="15" name="Arrow: Left 14">
            <a:extLst>
              <a:ext uri="{FF2B5EF4-FFF2-40B4-BE49-F238E27FC236}">
                <a16:creationId xmlns:a16="http://schemas.microsoft.com/office/drawing/2014/main" id="{F1A3D2EB-E9C7-47D8-9AA3-6DAAF0C27C42}"/>
              </a:ext>
            </a:extLst>
          </p:cNvPr>
          <p:cNvSpPr/>
          <p:nvPr/>
        </p:nvSpPr>
        <p:spPr>
          <a:xfrm>
            <a:off x="4902200" y="3852101"/>
            <a:ext cx="3846384" cy="952261"/>
          </a:xfrm>
          <a:prstGeom prst="leftArrow">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Enhanced requirements for documentation of the EQ review</a:t>
            </a:r>
          </a:p>
        </p:txBody>
      </p:sp>
      <p:sp>
        <p:nvSpPr>
          <p:cNvPr id="17" name="Arrow: Left 16">
            <a:extLst>
              <a:ext uri="{FF2B5EF4-FFF2-40B4-BE49-F238E27FC236}">
                <a16:creationId xmlns:a16="http://schemas.microsoft.com/office/drawing/2014/main" id="{9A8F05A9-2A7E-4EE0-A453-D0652C20673B}"/>
              </a:ext>
            </a:extLst>
          </p:cNvPr>
          <p:cNvSpPr/>
          <p:nvPr/>
        </p:nvSpPr>
        <p:spPr>
          <a:xfrm>
            <a:off x="4381500" y="3102801"/>
            <a:ext cx="4379784" cy="952261"/>
          </a:xfrm>
          <a:prstGeom prst="leftArrow">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Enhanced requirements for performance of the EQ review </a:t>
            </a:r>
          </a:p>
        </p:txBody>
      </p:sp>
    </p:spTree>
    <p:extLst>
      <p:ext uri="{BB962C8B-B14F-4D97-AF65-F5344CB8AC3E}">
        <p14:creationId xmlns:p14="http://schemas.microsoft.com/office/powerpoint/2010/main" val="1941758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73900" y="1078776"/>
            <a:ext cx="4941363" cy="707886"/>
          </a:xfrm>
          <a:prstGeom prst="rect">
            <a:avLst/>
          </a:prstGeom>
          <a:noFill/>
          <a:ln>
            <a:noFill/>
          </a:ln>
        </p:spPr>
        <p:txBody>
          <a:bodyPr wrap="square" rtlCol="0">
            <a:spAutoFit/>
          </a:bodyPr>
          <a:lstStyle/>
          <a:p>
            <a:pPr>
              <a:lnSpc>
                <a:spcPts val="2400"/>
              </a:lnSpc>
              <a:spcBef>
                <a:spcPts val="600"/>
              </a:spcBef>
            </a:pPr>
            <a:r>
              <a:rPr lang="en-US" sz="2000" dirty="0">
                <a:solidFill>
                  <a:schemeClr val="tx1">
                    <a:lumMod val="65000"/>
                    <a:lumOff val="35000"/>
                  </a:schemeClr>
                </a:solidFill>
                <a:latin typeface="Arial" panose="020B0604020202020204" pitchFamily="34" charset="0"/>
                <a:cs typeface="Arial" panose="020B0604020202020204" pitchFamily="34" charset="0"/>
              </a:rPr>
              <a:t>IESBA EQR Task Force’s key proposals include:</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IESBA Coordination Update on EQ Reviewer Objectivity</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4</a:t>
            </a:fld>
            <a:endParaRPr lang="en-US" sz="675" dirty="0">
              <a:solidFill>
                <a:srgbClr val="808080"/>
              </a:solidFill>
              <a:latin typeface="Arial" panose="020B0604020202020204" pitchFamily="34" charset="0"/>
            </a:endParaRPr>
          </a:p>
        </p:txBody>
      </p:sp>
      <p:sp>
        <p:nvSpPr>
          <p:cNvPr id="6" name="Rectangle 5">
            <a:extLst>
              <a:ext uri="{FF2B5EF4-FFF2-40B4-BE49-F238E27FC236}">
                <a16:creationId xmlns:a16="http://schemas.microsoft.com/office/drawing/2014/main" id="{D31DC3D3-E50C-4B8B-8B4D-075A10CED271}"/>
              </a:ext>
            </a:extLst>
          </p:cNvPr>
          <p:cNvSpPr/>
          <p:nvPr/>
        </p:nvSpPr>
        <p:spPr>
          <a:xfrm>
            <a:off x="589934" y="1852150"/>
            <a:ext cx="3982065" cy="1430594"/>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Retaining decision not to prescribe “cooling-off” in IESBA Code, taking a principles-based approach</a:t>
            </a:r>
            <a:endParaRPr lang="en-US" sz="3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220B907C-70AA-4560-8FDD-B88698E4729C}"/>
              </a:ext>
            </a:extLst>
          </p:cNvPr>
          <p:cNvSpPr/>
          <p:nvPr/>
        </p:nvSpPr>
        <p:spPr>
          <a:xfrm>
            <a:off x="4673515" y="1842390"/>
            <a:ext cx="3982065" cy="1430594"/>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Refocusing the scope to EQ reviewers, including other “appropriate reviewers”</a:t>
            </a:r>
          </a:p>
        </p:txBody>
      </p:sp>
      <p:sp>
        <p:nvSpPr>
          <p:cNvPr id="9" name="Rectangle 8">
            <a:extLst>
              <a:ext uri="{FF2B5EF4-FFF2-40B4-BE49-F238E27FC236}">
                <a16:creationId xmlns:a16="http://schemas.microsoft.com/office/drawing/2014/main" id="{E92AFCE4-74DF-48D5-AB88-FFDEDA0070B0}"/>
              </a:ext>
            </a:extLst>
          </p:cNvPr>
          <p:cNvSpPr/>
          <p:nvPr/>
        </p:nvSpPr>
        <p:spPr>
          <a:xfrm>
            <a:off x="572185" y="3349767"/>
            <a:ext cx="3982065" cy="1430594"/>
          </a:xfrm>
          <a:prstGeom prst="rect">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Introducing a new section in IESBA Code (Section 325)</a:t>
            </a:r>
          </a:p>
        </p:txBody>
      </p:sp>
      <p:sp>
        <p:nvSpPr>
          <p:cNvPr id="11" name="Rectangle 10">
            <a:extLst>
              <a:ext uri="{FF2B5EF4-FFF2-40B4-BE49-F238E27FC236}">
                <a16:creationId xmlns:a16="http://schemas.microsoft.com/office/drawing/2014/main" id="{51BDAAD3-F76E-463F-9F56-DDBD100A1C9D}"/>
              </a:ext>
            </a:extLst>
          </p:cNvPr>
          <p:cNvSpPr/>
          <p:nvPr/>
        </p:nvSpPr>
        <p:spPr>
          <a:xfrm>
            <a:off x="4670703" y="3341561"/>
            <a:ext cx="3982065" cy="1430594"/>
          </a:xfrm>
          <a:prstGeom prst="rect">
            <a:avLst/>
          </a:prstGeom>
          <a:solidFill>
            <a:schemeClr val="accent3"/>
          </a:solidFill>
          <a:ln>
            <a:solidFill>
              <a:schemeClr val="accent3"/>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Cross-referencing in Sections 325 and 540 of IESBA Code to proposed ISQM 2’s cooling-off provision</a:t>
            </a:r>
          </a:p>
        </p:txBody>
      </p:sp>
      <p:pic>
        <p:nvPicPr>
          <p:cNvPr id="4" name="Graphic 3" descr="Lightbulb and gear">
            <a:extLst>
              <a:ext uri="{FF2B5EF4-FFF2-40B4-BE49-F238E27FC236}">
                <a16:creationId xmlns:a16="http://schemas.microsoft.com/office/drawing/2014/main" id="{16BBAD63-590C-4636-8049-6B38D750C2C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7897684" y="868019"/>
            <a:ext cx="914400" cy="914400"/>
          </a:xfrm>
          <a:prstGeom prst="rect">
            <a:avLst/>
          </a:prstGeom>
        </p:spPr>
      </p:pic>
      <p:sp>
        <p:nvSpPr>
          <p:cNvPr id="16" name="Arrow: Left 15">
            <a:extLst>
              <a:ext uri="{FF2B5EF4-FFF2-40B4-BE49-F238E27FC236}">
                <a16:creationId xmlns:a16="http://schemas.microsoft.com/office/drawing/2014/main" id="{650EC932-3CD3-4415-88F3-99181EF2BA4E}"/>
              </a:ext>
            </a:extLst>
          </p:cNvPr>
          <p:cNvSpPr/>
          <p:nvPr/>
        </p:nvSpPr>
        <p:spPr>
          <a:xfrm>
            <a:off x="5036083" y="849089"/>
            <a:ext cx="2857497" cy="952261"/>
          </a:xfrm>
          <a:prstGeom prst="leftArrow">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Further aligned with proposed ISQM 2</a:t>
            </a:r>
          </a:p>
        </p:txBody>
      </p:sp>
    </p:spTree>
    <p:extLst>
      <p:ext uri="{BB962C8B-B14F-4D97-AF65-F5344CB8AC3E}">
        <p14:creationId xmlns:p14="http://schemas.microsoft.com/office/powerpoint/2010/main" val="3230390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53701" y="952935"/>
            <a:ext cx="8497006" cy="1423927"/>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52044" lvl="1">
              <a:lnSpc>
                <a:spcPts val="2400"/>
              </a:lnSpc>
              <a:spcBef>
                <a:spcPts val="600"/>
              </a:spcBef>
              <a:spcAft>
                <a:spcPts val="0"/>
              </a:spcAft>
              <a:buFont typeface="+mj-lt"/>
              <a:buAutoNum type="arabicPeriod"/>
            </a:pPr>
            <a:r>
              <a:rPr lang="en-US" dirty="0">
                <a:solidFill>
                  <a:schemeClr val="tx1">
                    <a:lumMod val="65000"/>
                    <a:lumOff val="35000"/>
                  </a:schemeClr>
                </a:solidFill>
                <a:latin typeface="Arial" panose="020B0604020202020204" pitchFamily="34" charset="0"/>
                <a:cs typeface="Arial" panose="020B0604020202020204" pitchFamily="34" charset="0"/>
              </a:rPr>
              <a:t>The IAASB is asked for its views on the changes to the requirements and related application material with respect to the following:</a:t>
            </a:r>
          </a:p>
          <a:p>
            <a:pPr lvl="1">
              <a:lnSpc>
                <a:spcPts val="2400"/>
              </a:lnSpc>
              <a:spcBef>
                <a:spcPts val="600"/>
              </a:spcBef>
              <a:spcAft>
                <a:spcPts val="0"/>
              </a:spcAft>
              <a:buNone/>
            </a:pPr>
            <a:r>
              <a:rPr lang="en-US" sz="1800" dirty="0">
                <a:solidFill>
                  <a:schemeClr val="tx1">
                    <a:lumMod val="65000"/>
                    <a:lumOff val="35000"/>
                  </a:schemeClr>
                </a:solidFill>
                <a:latin typeface="Arial" panose="020B0604020202020204" pitchFamily="34" charset="0"/>
                <a:cs typeface="Arial" panose="020B0604020202020204" pitchFamily="34" charset="0"/>
              </a:rPr>
              <a:t>(a)	Engagements subject to an EQ review in proposed ISQM 1 (as presented in </a:t>
            </a:r>
            <a:r>
              <a:rPr lang="en-US" sz="1800" b="1" dirty="0">
                <a:solidFill>
                  <a:schemeClr val="tx1">
                    <a:lumMod val="65000"/>
                    <a:lumOff val="35000"/>
                  </a:schemeClr>
                </a:solidFill>
                <a:latin typeface="Arial" panose="020B0604020202020204" pitchFamily="34" charset="0"/>
                <a:cs typeface="Arial" panose="020B0604020202020204" pitchFamily="34" charset="0"/>
              </a:rPr>
              <a:t>Agenda Item 3-C</a:t>
            </a:r>
            <a:r>
              <a:rPr lang="en-US" sz="1800"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Matters for IAASB Consideration</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5</a:t>
            </a:fld>
            <a:endParaRPr lang="en-US" sz="675" dirty="0">
              <a:solidFill>
                <a:srgbClr val="808080"/>
              </a:solidFill>
              <a:latin typeface="Arial" panose="020B0604020202020204" pitchFamily="34" charset="0"/>
            </a:endParaRPr>
          </a:p>
        </p:txBody>
      </p:sp>
      <p:sp>
        <p:nvSpPr>
          <p:cNvPr id="12" name="Rectangle 11">
            <a:extLst>
              <a:ext uri="{FF2B5EF4-FFF2-40B4-BE49-F238E27FC236}">
                <a16:creationId xmlns:a16="http://schemas.microsoft.com/office/drawing/2014/main" id="{81B32D6E-3E58-40D7-9CD4-173D0929601E}"/>
              </a:ext>
            </a:extLst>
          </p:cNvPr>
          <p:cNvSpPr/>
          <p:nvPr/>
        </p:nvSpPr>
        <p:spPr>
          <a:xfrm>
            <a:off x="960772" y="2483115"/>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Requirement</a:t>
            </a:r>
          </a:p>
        </p:txBody>
      </p:sp>
      <p:sp>
        <p:nvSpPr>
          <p:cNvPr id="16" name="Rectangle 15">
            <a:extLst>
              <a:ext uri="{FF2B5EF4-FFF2-40B4-BE49-F238E27FC236}">
                <a16:creationId xmlns:a16="http://schemas.microsoft.com/office/drawing/2014/main" id="{1A25ABBB-78B8-43A9-A9DF-E50CF27B9135}"/>
              </a:ext>
            </a:extLst>
          </p:cNvPr>
          <p:cNvSpPr/>
          <p:nvPr/>
        </p:nvSpPr>
        <p:spPr>
          <a:xfrm>
            <a:off x="4162719" y="2483112"/>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Application Material</a:t>
            </a:r>
          </a:p>
        </p:txBody>
      </p:sp>
      <p:sp>
        <p:nvSpPr>
          <p:cNvPr id="17" name="Rectangle 16">
            <a:extLst>
              <a:ext uri="{FF2B5EF4-FFF2-40B4-BE49-F238E27FC236}">
                <a16:creationId xmlns:a16="http://schemas.microsoft.com/office/drawing/2014/main" id="{DBBD1755-873D-45E0-9A01-72159D744911}"/>
              </a:ext>
            </a:extLst>
          </p:cNvPr>
          <p:cNvSpPr/>
          <p:nvPr/>
        </p:nvSpPr>
        <p:spPr>
          <a:xfrm>
            <a:off x="949140" y="2946125"/>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 34(f)</a:t>
            </a:r>
          </a:p>
        </p:txBody>
      </p:sp>
      <p:sp>
        <p:nvSpPr>
          <p:cNvPr id="18" name="Rectangle 17">
            <a:extLst>
              <a:ext uri="{FF2B5EF4-FFF2-40B4-BE49-F238E27FC236}">
                <a16:creationId xmlns:a16="http://schemas.microsoft.com/office/drawing/2014/main" id="{09A63EF5-4187-4B3B-9A91-FD127442F94A}"/>
              </a:ext>
            </a:extLst>
          </p:cNvPr>
          <p:cNvSpPr/>
          <p:nvPr/>
        </p:nvSpPr>
        <p:spPr>
          <a:xfrm>
            <a:off x="4164339" y="2946126"/>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A133-A137</a:t>
            </a:r>
          </a:p>
        </p:txBody>
      </p:sp>
    </p:spTree>
    <p:extLst>
      <p:ext uri="{BB962C8B-B14F-4D97-AF65-F5344CB8AC3E}">
        <p14:creationId xmlns:p14="http://schemas.microsoft.com/office/powerpoint/2010/main" val="3683735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40449" y="952935"/>
            <a:ext cx="8497006" cy="1423927"/>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52044" lvl="1">
              <a:lnSpc>
                <a:spcPts val="2400"/>
              </a:lnSpc>
              <a:spcBef>
                <a:spcPts val="600"/>
              </a:spcBef>
              <a:spcAft>
                <a:spcPts val="0"/>
              </a:spcAft>
              <a:buFont typeface="+mj-lt"/>
              <a:buAutoNum type="arabicPeriod"/>
            </a:pPr>
            <a:r>
              <a:rPr lang="en-US" dirty="0">
                <a:solidFill>
                  <a:schemeClr val="tx1">
                    <a:lumMod val="65000"/>
                    <a:lumOff val="35000"/>
                  </a:schemeClr>
                </a:solidFill>
                <a:latin typeface="Arial" panose="020B0604020202020204" pitchFamily="34" charset="0"/>
                <a:cs typeface="Arial" panose="020B0604020202020204" pitchFamily="34" charset="0"/>
              </a:rPr>
              <a:t>The IAASB is asked for its views on the changes to the requirements and related application material with respect to the following:</a:t>
            </a:r>
          </a:p>
          <a:p>
            <a:pPr lvl="1">
              <a:lnSpc>
                <a:spcPts val="2400"/>
              </a:lnSpc>
              <a:spcBef>
                <a:spcPts val="600"/>
              </a:spcBef>
              <a:spcAft>
                <a:spcPts val="0"/>
              </a:spcAft>
              <a:buNone/>
            </a:pPr>
            <a:r>
              <a:rPr lang="en-US" sz="1800" dirty="0">
                <a:solidFill>
                  <a:schemeClr val="tx1">
                    <a:lumMod val="65000"/>
                    <a:lumOff val="35000"/>
                  </a:schemeClr>
                </a:solidFill>
                <a:latin typeface="Arial" panose="020B0604020202020204" pitchFamily="34" charset="0"/>
                <a:cs typeface="Arial" panose="020B0604020202020204" pitchFamily="34" charset="0"/>
              </a:rPr>
              <a:t>(b)	Proposed ISQM 2 (as presented in </a:t>
            </a:r>
            <a:r>
              <a:rPr lang="en-US" sz="1800" b="1" dirty="0">
                <a:solidFill>
                  <a:schemeClr val="tx1">
                    <a:lumMod val="65000"/>
                    <a:lumOff val="35000"/>
                  </a:schemeClr>
                </a:solidFill>
                <a:latin typeface="Arial" panose="020B0604020202020204" pitchFamily="34" charset="0"/>
                <a:cs typeface="Arial" panose="020B0604020202020204" pitchFamily="34" charset="0"/>
              </a:rPr>
              <a:t>Agenda Item 3-D</a:t>
            </a:r>
            <a:r>
              <a:rPr lang="en-US" sz="1800"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Matters for IAASB Consideration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6</a:t>
            </a:fld>
            <a:endParaRPr lang="en-US" sz="675" dirty="0">
              <a:solidFill>
                <a:srgbClr val="808080"/>
              </a:solidFill>
              <a:latin typeface="Arial" panose="020B0604020202020204" pitchFamily="34" charset="0"/>
            </a:endParaRPr>
          </a:p>
        </p:txBody>
      </p:sp>
      <p:sp>
        <p:nvSpPr>
          <p:cNvPr id="12" name="Rectangle 11">
            <a:extLst>
              <a:ext uri="{FF2B5EF4-FFF2-40B4-BE49-F238E27FC236}">
                <a16:creationId xmlns:a16="http://schemas.microsoft.com/office/drawing/2014/main" id="{81B32D6E-3E58-40D7-9CD4-173D0929601E}"/>
              </a:ext>
            </a:extLst>
          </p:cNvPr>
          <p:cNvSpPr/>
          <p:nvPr/>
        </p:nvSpPr>
        <p:spPr>
          <a:xfrm>
            <a:off x="960772" y="2483115"/>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Requirement</a:t>
            </a:r>
          </a:p>
        </p:txBody>
      </p:sp>
      <p:sp>
        <p:nvSpPr>
          <p:cNvPr id="16" name="Rectangle 15">
            <a:extLst>
              <a:ext uri="{FF2B5EF4-FFF2-40B4-BE49-F238E27FC236}">
                <a16:creationId xmlns:a16="http://schemas.microsoft.com/office/drawing/2014/main" id="{1A25ABBB-78B8-43A9-A9DF-E50CF27B9135}"/>
              </a:ext>
            </a:extLst>
          </p:cNvPr>
          <p:cNvSpPr/>
          <p:nvPr/>
        </p:nvSpPr>
        <p:spPr>
          <a:xfrm>
            <a:off x="4162719" y="2483112"/>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Application Material</a:t>
            </a:r>
          </a:p>
        </p:txBody>
      </p:sp>
      <p:sp>
        <p:nvSpPr>
          <p:cNvPr id="17" name="Rectangle 16">
            <a:extLst>
              <a:ext uri="{FF2B5EF4-FFF2-40B4-BE49-F238E27FC236}">
                <a16:creationId xmlns:a16="http://schemas.microsoft.com/office/drawing/2014/main" id="{DBBD1755-873D-45E0-9A01-72159D744911}"/>
              </a:ext>
            </a:extLst>
          </p:cNvPr>
          <p:cNvSpPr/>
          <p:nvPr/>
        </p:nvSpPr>
        <p:spPr>
          <a:xfrm>
            <a:off x="962392" y="2946125"/>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1-16</a:t>
            </a:r>
          </a:p>
        </p:txBody>
      </p:sp>
      <p:sp>
        <p:nvSpPr>
          <p:cNvPr id="18" name="Rectangle 17">
            <a:extLst>
              <a:ext uri="{FF2B5EF4-FFF2-40B4-BE49-F238E27FC236}">
                <a16:creationId xmlns:a16="http://schemas.microsoft.com/office/drawing/2014/main" id="{09A63EF5-4187-4B3B-9A91-FD127442F94A}"/>
              </a:ext>
            </a:extLst>
          </p:cNvPr>
          <p:cNvSpPr/>
          <p:nvPr/>
        </p:nvSpPr>
        <p:spPr>
          <a:xfrm>
            <a:off x="4164339" y="2946126"/>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a:t>
            </a:r>
          </a:p>
        </p:txBody>
      </p:sp>
      <p:sp>
        <p:nvSpPr>
          <p:cNvPr id="19" name="Rectangle 18">
            <a:extLst>
              <a:ext uri="{FF2B5EF4-FFF2-40B4-BE49-F238E27FC236}">
                <a16:creationId xmlns:a16="http://schemas.microsoft.com/office/drawing/2014/main" id="{3B2C54EC-C8B6-49F5-AC97-17ADDC1AA6EA}"/>
              </a:ext>
            </a:extLst>
          </p:cNvPr>
          <p:cNvSpPr/>
          <p:nvPr/>
        </p:nvSpPr>
        <p:spPr>
          <a:xfrm>
            <a:off x="964664" y="3400671"/>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17-23</a:t>
            </a:r>
          </a:p>
        </p:txBody>
      </p:sp>
      <p:sp>
        <p:nvSpPr>
          <p:cNvPr id="23" name="Rectangle 22">
            <a:extLst>
              <a:ext uri="{FF2B5EF4-FFF2-40B4-BE49-F238E27FC236}">
                <a16:creationId xmlns:a16="http://schemas.microsoft.com/office/drawing/2014/main" id="{E76154EE-D57C-4791-AA7E-2EA43CF602BF}"/>
              </a:ext>
            </a:extLst>
          </p:cNvPr>
          <p:cNvSpPr/>
          <p:nvPr/>
        </p:nvSpPr>
        <p:spPr>
          <a:xfrm>
            <a:off x="4166611" y="3392203"/>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A1-A24</a:t>
            </a:r>
          </a:p>
        </p:txBody>
      </p:sp>
      <p:sp>
        <p:nvSpPr>
          <p:cNvPr id="24" name="Rectangle 23">
            <a:extLst>
              <a:ext uri="{FF2B5EF4-FFF2-40B4-BE49-F238E27FC236}">
                <a16:creationId xmlns:a16="http://schemas.microsoft.com/office/drawing/2014/main" id="{4B48388E-5654-4AD4-8412-A0510AF43855}"/>
              </a:ext>
            </a:extLst>
          </p:cNvPr>
          <p:cNvSpPr/>
          <p:nvPr/>
        </p:nvSpPr>
        <p:spPr>
          <a:xfrm>
            <a:off x="961759" y="3861764"/>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24-27</a:t>
            </a:r>
          </a:p>
        </p:txBody>
      </p:sp>
      <p:sp>
        <p:nvSpPr>
          <p:cNvPr id="25" name="Rectangle 24">
            <a:extLst>
              <a:ext uri="{FF2B5EF4-FFF2-40B4-BE49-F238E27FC236}">
                <a16:creationId xmlns:a16="http://schemas.microsoft.com/office/drawing/2014/main" id="{27509906-E5F8-4C90-8CCE-33FDFD1D7E71}"/>
              </a:ext>
            </a:extLst>
          </p:cNvPr>
          <p:cNvSpPr/>
          <p:nvPr/>
        </p:nvSpPr>
        <p:spPr>
          <a:xfrm>
            <a:off x="4163702" y="3850275"/>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A25-A49</a:t>
            </a:r>
          </a:p>
        </p:txBody>
      </p:sp>
      <p:sp>
        <p:nvSpPr>
          <p:cNvPr id="26" name="Rectangle 25">
            <a:extLst>
              <a:ext uri="{FF2B5EF4-FFF2-40B4-BE49-F238E27FC236}">
                <a16:creationId xmlns:a16="http://schemas.microsoft.com/office/drawing/2014/main" id="{A71BD623-321C-404C-941E-8C5D2FCE764B}"/>
              </a:ext>
            </a:extLst>
          </p:cNvPr>
          <p:cNvSpPr/>
          <p:nvPr/>
        </p:nvSpPr>
        <p:spPr>
          <a:xfrm>
            <a:off x="964031" y="4304480"/>
            <a:ext cx="3213027" cy="461353"/>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28-30</a:t>
            </a:r>
          </a:p>
        </p:txBody>
      </p:sp>
      <p:sp>
        <p:nvSpPr>
          <p:cNvPr id="27" name="Rectangle 26">
            <a:extLst>
              <a:ext uri="{FF2B5EF4-FFF2-40B4-BE49-F238E27FC236}">
                <a16:creationId xmlns:a16="http://schemas.microsoft.com/office/drawing/2014/main" id="{4F324FE7-3EE7-44F6-A1CF-E3BBA73EEC0E}"/>
              </a:ext>
            </a:extLst>
          </p:cNvPr>
          <p:cNvSpPr/>
          <p:nvPr/>
        </p:nvSpPr>
        <p:spPr>
          <a:xfrm>
            <a:off x="4165974" y="4305983"/>
            <a:ext cx="4511039" cy="461379"/>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Paragraphs A50-A53</a:t>
            </a:r>
          </a:p>
        </p:txBody>
      </p:sp>
    </p:spTree>
    <p:extLst>
      <p:ext uri="{BB962C8B-B14F-4D97-AF65-F5344CB8AC3E}">
        <p14:creationId xmlns:p14="http://schemas.microsoft.com/office/powerpoint/2010/main" val="222020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1362824" y="853494"/>
            <a:ext cx="7323976" cy="3607398"/>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Update drafts to address Board members’ comments</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Align drafts with the changes in proposed ISQM 1, ISA 220 (Revised) and in the proposed revisions to the IESBA Code</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Present final drafts for approval at the virtual Board sessions on:</a:t>
            </a:r>
          </a:p>
          <a:p>
            <a:pPr marL="694944" lvl="1" indent="-342900">
              <a:lnSpc>
                <a:spcPts val="2400"/>
              </a:lnSpc>
              <a:spcBef>
                <a:spcPts val="600"/>
              </a:spcBef>
              <a:buFont typeface="Courier New" panose="02070309020205020404" pitchFamily="49" charset="0"/>
              <a:buChar char="o"/>
            </a:pPr>
            <a:r>
              <a:rPr lang="en-US" sz="1800" dirty="0">
                <a:solidFill>
                  <a:schemeClr val="tx1">
                    <a:lumMod val="65000"/>
                    <a:lumOff val="35000"/>
                  </a:schemeClr>
                </a:solidFill>
                <a:latin typeface="Arial" panose="020B0604020202020204" pitchFamily="34" charset="0"/>
                <a:cs typeface="Arial" panose="020B0604020202020204" pitchFamily="34" charset="0"/>
              </a:rPr>
              <a:t>September 21</a:t>
            </a:r>
            <a:r>
              <a:rPr lang="en-US" sz="1800" baseline="30000" dirty="0">
                <a:solidFill>
                  <a:schemeClr val="tx1">
                    <a:lumMod val="65000"/>
                    <a:lumOff val="35000"/>
                  </a:schemeClr>
                </a:solidFill>
                <a:latin typeface="Arial" panose="020B0604020202020204" pitchFamily="34" charset="0"/>
                <a:cs typeface="Arial" panose="020B0604020202020204" pitchFamily="34" charset="0"/>
              </a:rPr>
              <a:t> </a:t>
            </a:r>
            <a:r>
              <a:rPr lang="en-US" sz="1800" dirty="0">
                <a:solidFill>
                  <a:schemeClr val="tx1">
                    <a:lumMod val="65000"/>
                    <a:lumOff val="35000"/>
                  </a:schemeClr>
                </a:solidFill>
                <a:latin typeface="Arial" panose="020B0604020202020204" pitchFamily="34" charset="0"/>
                <a:cs typeface="Arial" panose="020B0604020202020204" pitchFamily="34" charset="0"/>
              </a:rPr>
              <a:t>(Monday), for proposed ISQM 2</a:t>
            </a:r>
          </a:p>
          <a:p>
            <a:pPr marL="694944" lvl="1" indent="-342900">
              <a:lnSpc>
                <a:spcPts val="2400"/>
              </a:lnSpc>
              <a:spcBef>
                <a:spcPts val="600"/>
              </a:spcBef>
              <a:buFont typeface="Courier New" panose="02070309020205020404" pitchFamily="49" charset="0"/>
              <a:buChar char="o"/>
            </a:pPr>
            <a:r>
              <a:rPr lang="en-US" sz="1800" dirty="0">
                <a:solidFill>
                  <a:schemeClr val="tx1">
                    <a:lumMod val="65000"/>
                    <a:lumOff val="35000"/>
                  </a:schemeClr>
                </a:solidFill>
                <a:latin typeface="Arial" panose="020B0604020202020204" pitchFamily="34" charset="0"/>
                <a:cs typeface="Arial" panose="020B0604020202020204" pitchFamily="34" charset="0"/>
              </a:rPr>
              <a:t>September 23 (Wednesday), for engagements subject to an EQ review in proposed ISQM 1</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Way Forward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7</a:t>
            </a:fld>
            <a:endParaRPr lang="en-US" sz="675" dirty="0">
              <a:solidFill>
                <a:srgbClr val="808080"/>
              </a:solidFill>
              <a:latin typeface="Arial" panose="020B0604020202020204" pitchFamily="34" charset="0"/>
            </a:endParaRPr>
          </a:p>
        </p:txBody>
      </p:sp>
      <p:pic>
        <p:nvPicPr>
          <p:cNvPr id="4" name="Graphic 3" descr="Share">
            <a:extLst>
              <a:ext uri="{FF2B5EF4-FFF2-40B4-BE49-F238E27FC236}">
                <a16:creationId xmlns:a16="http://schemas.microsoft.com/office/drawing/2014/main" id="{491F7F25-EE1B-456B-93C2-1A836D1D27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190" y="847696"/>
            <a:ext cx="914400" cy="914400"/>
          </a:xfrm>
          <a:prstGeom prst="rect">
            <a:avLst/>
          </a:prstGeom>
        </p:spPr>
      </p:pic>
      <p:pic>
        <p:nvPicPr>
          <p:cNvPr id="6" name="Graphic 5" descr="Share">
            <a:extLst>
              <a:ext uri="{FF2B5EF4-FFF2-40B4-BE49-F238E27FC236}">
                <a16:creationId xmlns:a16="http://schemas.microsoft.com/office/drawing/2014/main" id="{CC8BE0CE-8B4B-412C-AFAE-A21A900EEE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0563" y="1715717"/>
            <a:ext cx="914400" cy="914400"/>
          </a:xfrm>
          <a:prstGeom prst="rect">
            <a:avLst/>
          </a:prstGeom>
        </p:spPr>
      </p:pic>
      <p:pic>
        <p:nvPicPr>
          <p:cNvPr id="8" name="Graphic 7" descr="Share">
            <a:extLst>
              <a:ext uri="{FF2B5EF4-FFF2-40B4-BE49-F238E27FC236}">
                <a16:creationId xmlns:a16="http://schemas.microsoft.com/office/drawing/2014/main" id="{ABF33B77-601B-40DC-BFEA-D0CFE4CC40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198" y="2557226"/>
            <a:ext cx="914400" cy="914400"/>
          </a:xfrm>
          <a:prstGeom prst="rect">
            <a:avLst/>
          </a:prstGeom>
        </p:spPr>
      </p:pic>
    </p:spTree>
    <p:extLst>
      <p:ext uri="{BB962C8B-B14F-4D97-AF65-F5344CB8AC3E}">
        <p14:creationId xmlns:p14="http://schemas.microsoft.com/office/powerpoint/2010/main" val="252260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42406" y="853496"/>
            <a:ext cx="8046220" cy="4632037"/>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16 (Wednesday)  – Task Force meeting</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18 (Friday) – Posting of final drafts</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18 (Friday) – Consultation sessions</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19 (Saturday) – Task Force debrief of consultations</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21 (Monday) – Board approval</a:t>
            </a: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Timeline</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8</a:t>
            </a:fld>
            <a:endParaRPr lang="en-US" sz="675" dirty="0">
              <a:solidFill>
                <a:srgbClr val="808080"/>
              </a:solidFill>
              <a:latin typeface="Arial" panose="020B0604020202020204" pitchFamily="34" charset="0"/>
            </a:endParaRPr>
          </a:p>
        </p:txBody>
      </p:sp>
      <p:pic>
        <p:nvPicPr>
          <p:cNvPr id="4" name="Graphic 3" descr="Alarm Ringing">
            <a:extLst>
              <a:ext uri="{FF2B5EF4-FFF2-40B4-BE49-F238E27FC236}">
                <a16:creationId xmlns:a16="http://schemas.microsoft.com/office/drawing/2014/main" id="{F311E7E1-9BE4-4C30-9711-541AC282AB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7443" y="831312"/>
            <a:ext cx="914400" cy="914400"/>
          </a:xfrm>
          <a:prstGeom prst="rect">
            <a:avLst/>
          </a:prstGeom>
        </p:spPr>
      </p:pic>
      <p:pic>
        <p:nvPicPr>
          <p:cNvPr id="7" name="Graphic 6" descr="Meeting">
            <a:extLst>
              <a:ext uri="{FF2B5EF4-FFF2-40B4-BE49-F238E27FC236}">
                <a16:creationId xmlns:a16="http://schemas.microsoft.com/office/drawing/2014/main" id="{BF1B84E2-BB5C-4A02-AB87-0010A2A954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7321" y="2095605"/>
            <a:ext cx="914400" cy="914400"/>
          </a:xfrm>
          <a:prstGeom prst="rect">
            <a:avLst/>
          </a:prstGeom>
        </p:spPr>
      </p:pic>
      <p:pic>
        <p:nvPicPr>
          <p:cNvPr id="9" name="Graphic 8" descr="Clipboard Badge">
            <a:extLst>
              <a:ext uri="{FF2B5EF4-FFF2-40B4-BE49-F238E27FC236}">
                <a16:creationId xmlns:a16="http://schemas.microsoft.com/office/drawing/2014/main" id="{482E7C5D-4284-4CAE-96E8-570102D53B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37443" y="3489450"/>
            <a:ext cx="914400" cy="914400"/>
          </a:xfrm>
          <a:prstGeom prst="rect">
            <a:avLst/>
          </a:prstGeom>
        </p:spPr>
      </p:pic>
    </p:spTree>
    <p:extLst>
      <p:ext uri="{BB962C8B-B14F-4D97-AF65-F5344CB8AC3E}">
        <p14:creationId xmlns:p14="http://schemas.microsoft.com/office/powerpoint/2010/main" val="3090754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3A5B861-F232-4025-86B2-CEB63A0AD3B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9</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9248</TotalTime>
  <Words>4707</Words>
  <Application>Microsoft Office PowerPoint</Application>
  <PresentationFormat>On-screen Show (16:9)</PresentationFormat>
  <Paragraphs>266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Narrow</vt:lpstr>
      <vt:lpstr>Calibri</vt:lpstr>
      <vt:lpstr>Courier New</vt:lpstr>
      <vt:lpstr>Symbol</vt:lpstr>
      <vt:lpstr>Wingdings</vt:lpstr>
      <vt:lpstr>Office Theme</vt:lpstr>
      <vt:lpstr>Proposed ISQM 2, Engagement Quality Reviews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Jane Talatala</cp:lastModifiedBy>
  <cp:revision>1402</cp:revision>
  <cp:lastPrinted>2020-02-25T20:42:08Z</cp:lastPrinted>
  <dcterms:created xsi:type="dcterms:W3CDTF">2016-11-09T14:56:20Z</dcterms:created>
  <dcterms:modified xsi:type="dcterms:W3CDTF">2020-09-11T18:21:51Z</dcterms:modified>
</cp:coreProperties>
</file>