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2"/>
  </p:notesMasterIdLst>
  <p:sldIdLst>
    <p:sldId id="449" r:id="rId5"/>
    <p:sldId id="366" r:id="rId6"/>
    <p:sldId id="408" r:id="rId7"/>
    <p:sldId id="447" r:id="rId8"/>
    <p:sldId id="452" r:id="rId9"/>
    <p:sldId id="422" r:id="rId10"/>
    <p:sldId id="451" r:id="rId11"/>
    <p:sldId id="453" r:id="rId12"/>
    <p:sldId id="454" r:id="rId13"/>
    <p:sldId id="455" r:id="rId14"/>
    <p:sldId id="466" r:id="rId15"/>
    <p:sldId id="456" r:id="rId16"/>
    <p:sldId id="457" r:id="rId17"/>
    <p:sldId id="458" r:id="rId18"/>
    <p:sldId id="467" r:id="rId19"/>
    <p:sldId id="459" r:id="rId20"/>
    <p:sldId id="460" r:id="rId21"/>
    <p:sldId id="461" r:id="rId22"/>
    <p:sldId id="462" r:id="rId23"/>
    <p:sldId id="468" r:id="rId24"/>
    <p:sldId id="463" r:id="rId25"/>
    <p:sldId id="464" r:id="rId26"/>
    <p:sldId id="465" r:id="rId27"/>
    <p:sldId id="469" r:id="rId28"/>
    <p:sldId id="448" r:id="rId29"/>
    <p:sldId id="393" r:id="rId30"/>
    <p:sldId id="294" r:id="rId31"/>
  </p:sldIdLst>
  <p:sldSz cx="12192000" cy="6858000"/>
  <p:notesSz cx="6797675" cy="987425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20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ek Grabowski" initials="MG" lastIdx="24" clrIdx="0">
    <p:extLst>
      <p:ext uri="{19B8F6BF-5375-455C-9EA6-DF929625EA0E}">
        <p15:presenceInfo xmlns:p15="http://schemas.microsoft.com/office/powerpoint/2012/main" userId="S::M.Grabowski@frc.org.uk::776b50aa-4428-4d28-8fa1-1e8000cbd154" providerId="AD"/>
      </p:ext>
    </p:extLst>
  </p:cmAuthor>
  <p:cmAuthor id="2" name="Pauline Irwin" initials="PI" lastIdx="8" clrIdx="1">
    <p:extLst>
      <p:ext uri="{19B8F6BF-5375-455C-9EA6-DF929625EA0E}">
        <p15:presenceInfo xmlns:p15="http://schemas.microsoft.com/office/powerpoint/2012/main" userId="Pauline Irw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4C0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autoAdjust="0"/>
    <p:restoredTop sz="78266" autoAdjust="0"/>
  </p:normalViewPr>
  <p:slideViewPr>
    <p:cSldViewPr snapToGrid="0" showGuides="1">
      <p:cViewPr varScale="1">
        <p:scale>
          <a:sx n="49" d="100"/>
          <a:sy n="49" d="100"/>
        </p:scale>
        <p:origin x="1188" y="44"/>
      </p:cViewPr>
      <p:guideLst>
        <p:guide orient="horz" pos="2160"/>
        <p:guide pos="2207"/>
      </p:guideLst>
    </p:cSldViewPr>
  </p:slideViewPr>
  <p:notesTextViewPr>
    <p:cViewPr>
      <p:scale>
        <a:sx n="1" d="1"/>
        <a:sy n="1" d="1"/>
      </p:scale>
      <p:origin x="0" y="0"/>
    </p:cViewPr>
  </p:notesTextViewPr>
  <p:notesViewPr>
    <p:cSldViewPr snapToGrid="0">
      <p:cViewPr varScale="1">
        <p:scale>
          <a:sx n="60" d="100"/>
          <a:sy n="60" d="100"/>
        </p:scale>
        <p:origin x="3274"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400" cy="49576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49688" y="1"/>
            <a:ext cx="2946400" cy="495765"/>
          </a:xfrm>
          <a:prstGeom prst="rect">
            <a:avLst/>
          </a:prstGeom>
        </p:spPr>
        <p:txBody>
          <a:bodyPr vert="horz" lIns="91440" tIns="45720" rIns="91440" bIns="45720" rtlCol="0"/>
          <a:lstStyle>
            <a:lvl1pPr algn="r">
              <a:defRPr sz="1200"/>
            </a:lvl1pPr>
          </a:lstStyle>
          <a:p>
            <a:fld id="{3002CE1A-B037-4479-976B-9CF538C18F87}" type="datetimeFigureOut">
              <a:rPr lang="en-US" smtClean="0"/>
              <a:t>12/10/2019</a:t>
            </a:fld>
            <a:endParaRPr lang="en-US" dirty="0"/>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52398"/>
            <a:ext cx="5438775" cy="38871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485"/>
            <a:ext cx="2946400" cy="49576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49688" y="9378485"/>
            <a:ext cx="2946400" cy="495765"/>
          </a:xfrm>
          <a:prstGeom prst="rect">
            <a:avLst/>
          </a:prstGeom>
        </p:spPr>
        <p:txBody>
          <a:bodyPr vert="horz" lIns="91440" tIns="45720" rIns="91440" bIns="45720" rtlCol="0" anchor="b"/>
          <a:lstStyle>
            <a:lvl1pPr algn="r">
              <a:defRPr sz="1200"/>
            </a:lvl1pPr>
          </a:lstStyle>
          <a:p>
            <a:fld id="{88F61214-B916-4CCA-9541-0FEB1C228969}" type="slidenum">
              <a:rPr lang="en-US" smtClean="0"/>
              <a:t>‹#›</a:t>
            </a:fld>
            <a:endParaRPr lang="en-US" dirty="0"/>
          </a:p>
        </p:txBody>
      </p:sp>
    </p:spTree>
    <p:extLst>
      <p:ext uri="{BB962C8B-B14F-4D97-AF65-F5344CB8AC3E}">
        <p14:creationId xmlns:p14="http://schemas.microsoft.com/office/powerpoint/2010/main" val="3489482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8F61214-B916-4CCA-9541-0FEB1C228969}" type="slidenum">
              <a:rPr lang="en-US" smtClean="0"/>
              <a:t>1</a:t>
            </a:fld>
            <a:endParaRPr lang="en-US" dirty="0"/>
          </a:p>
        </p:txBody>
      </p:sp>
    </p:spTree>
    <p:extLst>
      <p:ext uri="{BB962C8B-B14F-4D97-AF65-F5344CB8AC3E}">
        <p14:creationId xmlns:p14="http://schemas.microsoft.com/office/powerpoint/2010/main" val="2446767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3</a:t>
            </a:fld>
            <a:endParaRPr lang="en-US" dirty="0"/>
          </a:p>
        </p:txBody>
      </p:sp>
    </p:spTree>
    <p:extLst>
      <p:ext uri="{BB962C8B-B14F-4D97-AF65-F5344CB8AC3E}">
        <p14:creationId xmlns:p14="http://schemas.microsoft.com/office/powerpoint/2010/main" val="333071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4</a:t>
            </a:fld>
            <a:endParaRPr lang="en-US" dirty="0"/>
          </a:p>
        </p:txBody>
      </p:sp>
    </p:spTree>
    <p:extLst>
      <p:ext uri="{BB962C8B-B14F-4D97-AF65-F5344CB8AC3E}">
        <p14:creationId xmlns:p14="http://schemas.microsoft.com/office/powerpoint/2010/main" val="4184869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5</a:t>
            </a:fld>
            <a:endParaRPr lang="en-US" dirty="0"/>
          </a:p>
        </p:txBody>
      </p:sp>
    </p:spTree>
    <p:extLst>
      <p:ext uri="{BB962C8B-B14F-4D97-AF65-F5344CB8AC3E}">
        <p14:creationId xmlns:p14="http://schemas.microsoft.com/office/powerpoint/2010/main" val="1638765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8</a:t>
            </a:fld>
            <a:endParaRPr lang="en-US" dirty="0"/>
          </a:p>
        </p:txBody>
      </p:sp>
    </p:spTree>
    <p:extLst>
      <p:ext uri="{BB962C8B-B14F-4D97-AF65-F5344CB8AC3E}">
        <p14:creationId xmlns:p14="http://schemas.microsoft.com/office/powerpoint/2010/main" val="3642004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9</a:t>
            </a:fld>
            <a:endParaRPr lang="en-US" dirty="0"/>
          </a:p>
        </p:txBody>
      </p:sp>
    </p:spTree>
    <p:extLst>
      <p:ext uri="{BB962C8B-B14F-4D97-AF65-F5344CB8AC3E}">
        <p14:creationId xmlns:p14="http://schemas.microsoft.com/office/powerpoint/2010/main" val="794737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10</a:t>
            </a:fld>
            <a:endParaRPr lang="en-US" dirty="0"/>
          </a:p>
        </p:txBody>
      </p:sp>
    </p:spTree>
    <p:extLst>
      <p:ext uri="{BB962C8B-B14F-4D97-AF65-F5344CB8AC3E}">
        <p14:creationId xmlns:p14="http://schemas.microsoft.com/office/powerpoint/2010/main" val="4072489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12</a:t>
            </a:fld>
            <a:endParaRPr lang="en-US" dirty="0"/>
          </a:p>
        </p:txBody>
      </p:sp>
    </p:spTree>
    <p:extLst>
      <p:ext uri="{BB962C8B-B14F-4D97-AF65-F5344CB8AC3E}">
        <p14:creationId xmlns:p14="http://schemas.microsoft.com/office/powerpoint/2010/main" val="603417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13</a:t>
            </a:fld>
            <a:endParaRPr lang="en-US" dirty="0"/>
          </a:p>
        </p:txBody>
      </p:sp>
    </p:spTree>
    <p:extLst>
      <p:ext uri="{BB962C8B-B14F-4D97-AF65-F5344CB8AC3E}">
        <p14:creationId xmlns:p14="http://schemas.microsoft.com/office/powerpoint/2010/main" val="2392121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14</a:t>
            </a:fld>
            <a:endParaRPr lang="en-US" dirty="0"/>
          </a:p>
        </p:txBody>
      </p:sp>
    </p:spTree>
    <p:extLst>
      <p:ext uri="{BB962C8B-B14F-4D97-AF65-F5344CB8AC3E}">
        <p14:creationId xmlns:p14="http://schemas.microsoft.com/office/powerpoint/2010/main" val="2796149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16</a:t>
            </a:fld>
            <a:endParaRPr lang="en-US" dirty="0"/>
          </a:p>
        </p:txBody>
      </p:sp>
    </p:spTree>
    <p:extLst>
      <p:ext uri="{BB962C8B-B14F-4D97-AF65-F5344CB8AC3E}">
        <p14:creationId xmlns:p14="http://schemas.microsoft.com/office/powerpoint/2010/main" val="876764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17</a:t>
            </a:fld>
            <a:endParaRPr lang="en-US" dirty="0"/>
          </a:p>
        </p:txBody>
      </p:sp>
    </p:spTree>
    <p:extLst>
      <p:ext uri="{BB962C8B-B14F-4D97-AF65-F5344CB8AC3E}">
        <p14:creationId xmlns:p14="http://schemas.microsoft.com/office/powerpoint/2010/main" val="158299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18</a:t>
            </a:fld>
            <a:endParaRPr lang="en-US" dirty="0"/>
          </a:p>
        </p:txBody>
      </p:sp>
    </p:spTree>
    <p:extLst>
      <p:ext uri="{BB962C8B-B14F-4D97-AF65-F5344CB8AC3E}">
        <p14:creationId xmlns:p14="http://schemas.microsoft.com/office/powerpoint/2010/main" val="3981641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19</a:t>
            </a:fld>
            <a:endParaRPr lang="en-US" dirty="0"/>
          </a:p>
        </p:txBody>
      </p:sp>
    </p:spTree>
    <p:extLst>
      <p:ext uri="{BB962C8B-B14F-4D97-AF65-F5344CB8AC3E}">
        <p14:creationId xmlns:p14="http://schemas.microsoft.com/office/powerpoint/2010/main" val="3034231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21</a:t>
            </a:fld>
            <a:endParaRPr lang="en-US" dirty="0"/>
          </a:p>
        </p:txBody>
      </p:sp>
    </p:spTree>
    <p:extLst>
      <p:ext uri="{BB962C8B-B14F-4D97-AF65-F5344CB8AC3E}">
        <p14:creationId xmlns:p14="http://schemas.microsoft.com/office/powerpoint/2010/main" val="2546441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22</a:t>
            </a:fld>
            <a:endParaRPr lang="en-US" dirty="0"/>
          </a:p>
        </p:txBody>
      </p:sp>
    </p:spTree>
    <p:extLst>
      <p:ext uri="{BB962C8B-B14F-4D97-AF65-F5344CB8AC3E}">
        <p14:creationId xmlns:p14="http://schemas.microsoft.com/office/powerpoint/2010/main" val="1139900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23</a:t>
            </a:fld>
            <a:endParaRPr lang="en-US" dirty="0"/>
          </a:p>
        </p:txBody>
      </p:sp>
    </p:spTree>
    <p:extLst>
      <p:ext uri="{BB962C8B-B14F-4D97-AF65-F5344CB8AC3E}">
        <p14:creationId xmlns:p14="http://schemas.microsoft.com/office/powerpoint/2010/main" val="3512423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25</a:t>
            </a:fld>
            <a:endParaRPr lang="en-US" dirty="0"/>
          </a:p>
        </p:txBody>
      </p:sp>
    </p:spTree>
    <p:extLst>
      <p:ext uri="{BB962C8B-B14F-4D97-AF65-F5344CB8AC3E}">
        <p14:creationId xmlns:p14="http://schemas.microsoft.com/office/powerpoint/2010/main" val="2388130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26</a:t>
            </a:fld>
            <a:endParaRPr lang="en-US" dirty="0"/>
          </a:p>
        </p:txBody>
      </p:sp>
    </p:spTree>
    <p:extLst>
      <p:ext uri="{BB962C8B-B14F-4D97-AF65-F5344CB8AC3E}">
        <p14:creationId xmlns:p14="http://schemas.microsoft.com/office/powerpoint/2010/main" val="2965134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27</a:t>
            </a:fld>
            <a:endParaRPr lang="en-US" dirty="0"/>
          </a:p>
        </p:txBody>
      </p:sp>
    </p:spTree>
    <p:extLst>
      <p:ext uri="{BB962C8B-B14F-4D97-AF65-F5344CB8AC3E}">
        <p14:creationId xmlns:p14="http://schemas.microsoft.com/office/powerpoint/2010/main" val="582964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57403" y="5699752"/>
            <a:ext cx="2881505"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Page topper.jpg"/>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1"/>
            <a:ext cx="12192000" cy="3196799"/>
          </a:xfrm>
          <a:prstGeom prst="rect">
            <a:avLst/>
          </a:prstGeom>
        </p:spPr>
      </p:pic>
    </p:spTree>
    <p:extLst>
      <p:ext uri="{BB962C8B-B14F-4D97-AF65-F5344CB8AC3E}">
        <p14:creationId xmlns:p14="http://schemas.microsoft.com/office/powerpoint/2010/main" val="352099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 y="1"/>
            <a:ext cx="12208933" cy="3200400"/>
          </a:xfrm>
          <a:prstGeom prst="rect">
            <a:avLst/>
          </a:prstGeom>
        </p:spPr>
      </p:pic>
    </p:spTree>
    <p:extLst>
      <p:ext uri="{BB962C8B-B14F-4D97-AF65-F5344CB8AC3E}">
        <p14:creationId xmlns:p14="http://schemas.microsoft.com/office/powerpoint/2010/main" val="14510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50" indent="-228600">
              <a:defRPr>
                <a:solidFill>
                  <a:srgbClr val="808080"/>
                </a:solidFill>
                <a:latin typeface="Arial" panose="020B0604020202020204" pitchFamily="34" charset="0"/>
                <a:cs typeface="Arial" panose="020B0604020202020204" pitchFamily="34" charset="0"/>
              </a:defRPr>
            </a:lvl4pPr>
            <a:lvl5pPr marL="1084263" indent="-22860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14767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4"/>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Tree>
    <p:extLst>
      <p:ext uri="{BB962C8B-B14F-4D97-AF65-F5344CB8AC3E}">
        <p14:creationId xmlns:p14="http://schemas.microsoft.com/office/powerpoint/2010/main" val="29022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4"/>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012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89"/>
            <a:ext cx="5386917"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350689"/>
            <a:ext cx="5389033"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88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44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597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939174" y="2240324"/>
            <a:ext cx="5998518" cy="91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3" y="5009183"/>
            <a:ext cx="1685141" cy="369332"/>
          </a:xfrm>
          <a:prstGeom prst="rect">
            <a:avLst/>
          </a:prstGeom>
        </p:spPr>
        <p:txBody>
          <a:bodyPr wrap="none">
            <a:spAutoFit/>
          </a:bodyPr>
          <a:lstStyle/>
          <a:p>
            <a:pPr defTabSz="457200"/>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8"/>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1333" y="5658033"/>
            <a:ext cx="1019144" cy="255514"/>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49697" y="5658033"/>
            <a:ext cx="771637" cy="255514"/>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622621" y="5658033"/>
            <a:ext cx="1019144" cy="255514"/>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40985" y="5619933"/>
            <a:ext cx="1019144" cy="310111"/>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659349" y="5658033"/>
            <a:ext cx="1019144" cy="255514"/>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47508" y="5658033"/>
            <a:ext cx="1019144" cy="255514"/>
          </a:xfrm>
          <a:prstGeom prst="rect">
            <a:avLst/>
          </a:prstGeom>
        </p:spPr>
      </p:pic>
      <p:sp>
        <p:nvSpPr>
          <p:cNvPr id="11" name="Rectangle 10"/>
          <p:cNvSpPr/>
          <p:nvPr userDrawn="1"/>
        </p:nvSpPr>
        <p:spPr>
          <a:xfrm>
            <a:off x="931334" y="6144038"/>
            <a:ext cx="10837333" cy="276999"/>
          </a:xfrm>
          <a:prstGeom prst="rect">
            <a:avLst/>
          </a:prstGeom>
        </p:spPr>
        <p:txBody>
          <a:bodyPr wrap="square">
            <a:spAutoFit/>
          </a:bodyPr>
          <a:lstStyle/>
          <a:p>
            <a:pPr defTabSz="457200"/>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290093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500"/>
                                        <p:tgtEl>
                                          <p:spTgt spid="4"/>
                                        </p:tgtEl>
                                      </p:cBhvr>
                                    </p:animEffect>
                                  </p:childTnLst>
                                </p:cTn>
                              </p:par>
                              <p:par>
                                <p:cTn id="11" presetID="10" presetClass="entr" presetSubtype="0" fill="hold"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500"/>
                                        <p:tgtEl>
                                          <p:spTgt spid="6"/>
                                        </p:tgtEl>
                                      </p:cBhvr>
                                    </p:animEffect>
                                  </p:childTnLst>
                                </p:cTn>
                              </p:par>
                              <p:par>
                                <p:cTn id="14" presetID="10" presetClass="entr" presetSubtype="0" fill="hold" nodeType="withEffect">
                                  <p:stCondLst>
                                    <p:cond delay="2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500"/>
                                        <p:tgtEl>
                                          <p:spTgt spid="8"/>
                                        </p:tgtEl>
                                      </p:cBhvr>
                                    </p:animEffect>
                                  </p:childTnLst>
                                </p:cTn>
                              </p:par>
                              <p:par>
                                <p:cTn id="17" presetID="10" presetClass="entr" presetSubtype="0" fill="hold" nodeType="withEffect">
                                  <p:stCondLst>
                                    <p:cond delay="32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500"/>
                                        <p:tgtEl>
                                          <p:spTgt spid="9"/>
                                        </p:tgtEl>
                                      </p:cBhvr>
                                    </p:animEffect>
                                  </p:childTnLst>
                                </p:cTn>
                              </p:par>
                              <p:par>
                                <p:cTn id="20" presetID="10" presetClass="entr" presetSubtype="0" fill="hold" nodeType="withEffect">
                                  <p:stCondLst>
                                    <p:cond delay="4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564078"/>
            <a:ext cx="10058400" cy="533400"/>
          </a:xfrm>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5" name="Slide Number Placeholder 5">
            <a:extLst>
              <a:ext uri="{FF2B5EF4-FFF2-40B4-BE49-F238E27FC236}">
                <a16:creationId xmlns:a16="http://schemas.microsoft.com/office/drawing/2014/main" id="{4DFB4106-AFAF-4C3F-96BE-EEC27417FA4F}"/>
              </a:ext>
            </a:extLst>
          </p:cNvPr>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72960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B6452E12-8942-4E20-BAB3-AECBD9FCC915}"/>
              </a:ext>
            </a:extLst>
          </p:cNvPr>
          <p:cNvSpPr txBox="1">
            <a:spLocks/>
          </p:cNvSpPr>
          <p:nvPr userDrawn="1"/>
        </p:nvSpPr>
        <p:spPr>
          <a:xfrm>
            <a:off x="7905136" y="6511060"/>
            <a:ext cx="3677264" cy="304412"/>
          </a:xfrm>
          <a:prstGeom prst="rect">
            <a:avLst/>
          </a:prstGeom>
        </p:spPr>
        <p:txBody>
          <a:bodyPr vert="horz" lIns="0" tIns="0" rIns="0" bIns="0" rtlCol="0" anchor="ctr"/>
          <a:lstStyle>
            <a:defPPr>
              <a:defRPr lang="nl-NL"/>
            </a:defPPr>
            <a:lvl1pPr marL="0" marR="0" indent="0" algn="r" defTabSz="457200" rtl="0" eaLnBrk="1" fontAlgn="auto" latinLnBrk="0" hangingPunct="1">
              <a:lnSpc>
                <a:spcPct val="100000"/>
              </a:lnSpc>
              <a:spcBef>
                <a:spcPts val="0"/>
              </a:spcBef>
              <a:spcAft>
                <a:spcPts val="0"/>
              </a:spcAft>
              <a:buClrTx/>
              <a:buSzTx/>
              <a:buFontTx/>
              <a:buNone/>
              <a:tabLst/>
              <a:defRPr sz="900" kern="1200">
                <a:solidFill>
                  <a:srgbClr val="808080"/>
                </a:solidFill>
                <a:latin typeface="Arial Narrow"/>
                <a:ea typeface="+mn-ea"/>
                <a:cs typeface="Arial Narrow"/>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77499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6"/>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2" name="Title Placeholder 1"/>
          <p:cNvSpPr>
            <a:spLocks noGrp="1"/>
          </p:cNvSpPr>
          <p:nvPr>
            <p:ph type="title"/>
          </p:nvPr>
        </p:nvSpPr>
        <p:spPr>
          <a:xfrm>
            <a:off x="609600" y="569916"/>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0"/>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0"/>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0"/>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200"/>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200"/>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7"/>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11" name="Picture 10" descr="IAASB Logo with FullNam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1916" y="178653"/>
            <a:ext cx="1746545" cy="313929"/>
          </a:xfrm>
          <a:prstGeom prst="rect">
            <a:avLst/>
          </a:prstGeom>
        </p:spPr>
      </p:pic>
    </p:spTree>
    <p:extLst>
      <p:ext uri="{BB962C8B-B14F-4D97-AF65-F5344CB8AC3E}">
        <p14:creationId xmlns:p14="http://schemas.microsoft.com/office/powerpoint/2010/main" val="3796374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1" y="3424964"/>
            <a:ext cx="10524509" cy="1870049"/>
          </a:xfrm>
        </p:spPr>
        <p:txBody>
          <a:bodyPr>
            <a:normAutofit/>
          </a:bodyPr>
          <a:lstStyle/>
          <a:p>
            <a:r>
              <a:rPr lang="en-GB" sz="2800" b="1" dirty="0"/>
              <a:t>N</a:t>
            </a:r>
            <a:r>
              <a:rPr lang="en-US" sz="2800" b="1" dirty="0"/>
              <a:t>on-authoritative EER assurance guidance</a:t>
            </a:r>
            <a:r>
              <a:rPr lang="en-US" sz="2800" dirty="0"/>
              <a:t>: </a:t>
            </a:r>
            <a:br>
              <a:rPr lang="en-US" sz="2800" dirty="0"/>
            </a:br>
            <a:r>
              <a:rPr lang="en-US" sz="2800" i="1" dirty="0"/>
              <a:t>Special Considerations in Performing Assurance Engagements on Extended External Reporting </a:t>
            </a:r>
            <a:endParaRPr lang="en-US" sz="2800" dirty="0"/>
          </a:p>
        </p:txBody>
      </p:sp>
      <p:sp>
        <p:nvSpPr>
          <p:cNvPr id="3" name="Subtitle 2">
            <a:extLst>
              <a:ext uri="{FF2B5EF4-FFF2-40B4-BE49-F238E27FC236}">
                <a16:creationId xmlns:a16="http://schemas.microsoft.com/office/drawing/2014/main" id="{059798CF-04D5-4809-86A7-C2BE240E0318}"/>
              </a:ext>
            </a:extLst>
          </p:cNvPr>
          <p:cNvSpPr>
            <a:spLocks noGrp="1"/>
          </p:cNvSpPr>
          <p:nvPr>
            <p:ph type="subTitle" idx="1"/>
          </p:nvPr>
        </p:nvSpPr>
        <p:spPr>
          <a:xfrm>
            <a:off x="914401" y="5050368"/>
            <a:ext cx="6310489" cy="1225964"/>
          </a:xfrm>
        </p:spPr>
        <p:txBody>
          <a:bodyPr/>
          <a:lstStyle/>
          <a:p>
            <a:pPr>
              <a:lnSpc>
                <a:spcPct val="114000"/>
              </a:lnSpc>
            </a:pPr>
            <a:r>
              <a:rPr lang="en-GB" dirty="0"/>
              <a:t>Marek Grabowski, EER Task Force Chair &amp; IAASB Member</a:t>
            </a:r>
            <a:br>
              <a:rPr lang="en-GB" dirty="0"/>
            </a:br>
            <a:r>
              <a:rPr lang="en-GB" dirty="0"/>
              <a:t>IAASB Meeting – New York, USA</a:t>
            </a:r>
            <a:br>
              <a:rPr lang="en-GB" dirty="0"/>
            </a:br>
            <a:r>
              <a:rPr lang="en-GB" dirty="0"/>
              <a:t>Agenda Item 5</a:t>
            </a:r>
            <a:br>
              <a:rPr lang="en-GB" dirty="0"/>
            </a:br>
            <a:r>
              <a:rPr lang="en-GB" dirty="0"/>
              <a:t>December 10</a:t>
            </a:r>
            <a:r>
              <a:rPr lang="en-GB" baseline="30000" dirty="0"/>
              <a:t>th</a:t>
            </a:r>
            <a:r>
              <a:rPr lang="en-GB" dirty="0"/>
              <a:t>, 2019</a:t>
            </a:r>
          </a:p>
        </p:txBody>
      </p:sp>
    </p:spTree>
    <p:extLst>
      <p:ext uri="{BB962C8B-B14F-4D97-AF65-F5344CB8AC3E}">
        <p14:creationId xmlns:p14="http://schemas.microsoft.com/office/powerpoint/2010/main" val="2804668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10086-32C4-443B-8BFC-73E1441289C4}"/>
              </a:ext>
            </a:extLst>
          </p:cNvPr>
          <p:cNvSpPr>
            <a:spLocks noGrp="1"/>
          </p:cNvSpPr>
          <p:nvPr>
            <p:ph type="title"/>
          </p:nvPr>
        </p:nvSpPr>
        <p:spPr/>
        <p:txBody>
          <a:bodyPr/>
          <a:lstStyle/>
          <a:p>
            <a:r>
              <a:rPr lang="en-GB" dirty="0"/>
              <a:t>Agenda for Today</a:t>
            </a:r>
          </a:p>
        </p:txBody>
      </p:sp>
      <p:sp>
        <p:nvSpPr>
          <p:cNvPr id="11" name="Content Placeholder 10">
            <a:extLst>
              <a:ext uri="{FF2B5EF4-FFF2-40B4-BE49-F238E27FC236}">
                <a16:creationId xmlns:a16="http://schemas.microsoft.com/office/drawing/2014/main" id="{45735BCD-2A73-4A89-9D7C-8BE0FBD10F11}"/>
              </a:ext>
            </a:extLst>
          </p:cNvPr>
          <p:cNvSpPr>
            <a:spLocks noGrp="1"/>
          </p:cNvSpPr>
          <p:nvPr>
            <p:ph idx="1"/>
          </p:nvPr>
        </p:nvSpPr>
        <p:spPr>
          <a:xfrm>
            <a:off x="2015998" y="2344366"/>
            <a:ext cx="9949023" cy="4620457"/>
          </a:xfrm>
        </p:spPr>
        <p:txBody>
          <a:bodyPr/>
          <a:lstStyle/>
          <a:p>
            <a:pPr marL="0" indent="0">
              <a:buNone/>
            </a:pPr>
            <a:r>
              <a:rPr lang="en-GB" dirty="0"/>
              <a:t>11:30 – 11:45 	November Teleconference feedback and Task Force actions to address</a:t>
            </a:r>
          </a:p>
          <a:p>
            <a:pPr marL="0" indent="0">
              <a:buNone/>
            </a:pPr>
            <a:r>
              <a:rPr lang="en-GB" dirty="0"/>
              <a:t>11:45 – 13:00	</a:t>
            </a:r>
            <a:r>
              <a:rPr lang="en-GB" dirty="0">
                <a:solidFill>
                  <a:schemeClr val="bg1">
                    <a:lumMod val="50000"/>
                  </a:schemeClr>
                </a:solidFill>
              </a:rPr>
              <a:t>Guidance - chapter by chapter - to answer the 3 questions posed</a:t>
            </a:r>
            <a:endParaRPr lang="en-GB" dirty="0"/>
          </a:p>
          <a:p>
            <a:pPr marL="0" indent="0">
              <a:buNone/>
            </a:pPr>
            <a:r>
              <a:rPr lang="en-GB" dirty="0"/>
              <a:t>13:00 – 14:00	Lunch</a:t>
            </a:r>
          </a:p>
          <a:p>
            <a:pPr marL="0" indent="0">
              <a:buNone/>
            </a:pPr>
            <a:r>
              <a:rPr lang="en-GB" dirty="0"/>
              <a:t>14:00 – 15:15   </a:t>
            </a:r>
            <a:r>
              <a:rPr lang="en-GB" dirty="0">
                <a:solidFill>
                  <a:schemeClr val="bg1">
                    <a:lumMod val="50000"/>
                  </a:schemeClr>
                </a:solidFill>
              </a:rPr>
              <a:t>Guidance - chapter by chapter (</a:t>
            </a:r>
            <a:r>
              <a:rPr lang="en-GB" i="1" dirty="0">
                <a:solidFill>
                  <a:schemeClr val="bg1">
                    <a:lumMod val="50000"/>
                  </a:schemeClr>
                </a:solidFill>
              </a:rPr>
              <a:t>cont</a:t>
            </a:r>
            <a:r>
              <a:rPr lang="en-GB" dirty="0">
                <a:solidFill>
                  <a:schemeClr val="bg1">
                    <a:lumMod val="50000"/>
                  </a:schemeClr>
                </a:solidFill>
              </a:rPr>
              <a:t>) - to answer the 3 questions posed</a:t>
            </a:r>
          </a:p>
          <a:p>
            <a:pPr marL="0" indent="0">
              <a:buNone/>
            </a:pPr>
            <a:r>
              <a:rPr lang="en-GB" dirty="0"/>
              <a:t>15:15 – 15: 30  Next steps </a:t>
            </a:r>
          </a:p>
        </p:txBody>
      </p:sp>
      <p:sp>
        <p:nvSpPr>
          <p:cNvPr id="5" name="Slide Number Placeholder 4">
            <a:extLst>
              <a:ext uri="{FF2B5EF4-FFF2-40B4-BE49-F238E27FC236}">
                <a16:creationId xmlns:a16="http://schemas.microsoft.com/office/drawing/2014/main" id="{597D92EA-4812-41EA-971D-0272CA0F8F8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
        <p:nvSpPr>
          <p:cNvPr id="12" name="Trapezoid 11">
            <a:extLst>
              <a:ext uri="{FF2B5EF4-FFF2-40B4-BE49-F238E27FC236}">
                <a16:creationId xmlns:a16="http://schemas.microsoft.com/office/drawing/2014/main" id="{44F74279-D628-451E-AFB3-C6DD6944992E}"/>
              </a:ext>
            </a:extLst>
          </p:cNvPr>
          <p:cNvSpPr/>
          <p:nvPr/>
        </p:nvSpPr>
        <p:spPr>
          <a:xfrm rot="5400000">
            <a:off x="-348856" y="2793650"/>
            <a:ext cx="3381017" cy="1270699"/>
          </a:xfrm>
          <a:prstGeom prst="trapezoid">
            <a:avLst>
              <a:gd name="adj" fmla="val 54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13" name="Graphic 12" descr="Clock">
            <a:extLst>
              <a:ext uri="{FF2B5EF4-FFF2-40B4-BE49-F238E27FC236}">
                <a16:creationId xmlns:a16="http://schemas.microsoft.com/office/drawing/2014/main" id="{4B4236A7-3859-4EB5-A987-BB2D25DAA2F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298" y="2643483"/>
            <a:ext cx="1192710" cy="1192710"/>
          </a:xfrm>
          <a:prstGeom prst="rect">
            <a:avLst/>
          </a:prstGeom>
        </p:spPr>
      </p:pic>
    </p:spTree>
    <p:extLst>
      <p:ext uri="{BB962C8B-B14F-4D97-AF65-F5344CB8AC3E}">
        <p14:creationId xmlns:p14="http://schemas.microsoft.com/office/powerpoint/2010/main" val="255933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What we heard at the November IAASB Teleconference</a:t>
            </a:r>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r>
              <a:rPr lang="en-GB" dirty="0">
                <a:solidFill>
                  <a:schemeClr val="bg1">
                    <a:lumMod val="50000"/>
                  </a:schemeClr>
                </a:solidFill>
              </a:rPr>
              <a:t>Support for:</a:t>
            </a:r>
          </a:p>
          <a:p>
            <a:pPr lvl="1"/>
            <a:r>
              <a:rPr lang="en-GB" dirty="0">
                <a:solidFill>
                  <a:schemeClr val="bg1">
                    <a:lumMod val="50000"/>
                  </a:schemeClr>
                </a:solidFill>
              </a:rPr>
              <a:t>Restructured Guidance, although a few questions raised regarding the placement of the chapters on Qualitative and Future-Orientated Information at the end, and the positioning of Chapter 7</a:t>
            </a:r>
          </a:p>
          <a:p>
            <a:pPr lvl="1"/>
            <a:r>
              <a:rPr lang="en-GB" dirty="0">
                <a:solidFill>
                  <a:schemeClr val="bg1">
                    <a:lumMod val="50000"/>
                  </a:schemeClr>
                </a:solidFill>
              </a:rPr>
              <a:t>Terminology ‘Entity’s process to identify reporting topics’; and use of the term ‘aspects’ in place of ‘qualities’ and ‘elements’</a:t>
            </a:r>
          </a:p>
          <a:p>
            <a:pPr lvl="1"/>
            <a:r>
              <a:rPr lang="en-GB" dirty="0">
                <a:solidFill>
                  <a:schemeClr val="bg1">
                    <a:lumMod val="50000"/>
                  </a:schemeClr>
                </a:solidFill>
              </a:rPr>
              <a:t>Linkages from the Guidance to the Standard and to Supplements A and B, and between chapters</a:t>
            </a:r>
          </a:p>
          <a:p>
            <a:pPr lvl="1"/>
            <a:r>
              <a:rPr lang="en-GB" dirty="0">
                <a:solidFill>
                  <a:schemeClr val="bg1">
                    <a:lumMod val="50000"/>
                  </a:schemeClr>
                </a:solidFill>
              </a:rPr>
              <a:t>The proposed way forward, with the request for opportunity to see the full suite of Guidance and Supplements</a:t>
            </a:r>
          </a:p>
          <a:p>
            <a:r>
              <a:rPr lang="en-GB" dirty="0">
                <a:solidFill>
                  <a:schemeClr val="bg1">
                    <a:lumMod val="50000"/>
                  </a:schemeClr>
                </a:solidFill>
              </a:rPr>
              <a:t>Mixed views on the use of icons and the referencing system used</a:t>
            </a:r>
          </a:p>
          <a:p>
            <a:r>
              <a:rPr lang="en-GB" dirty="0">
                <a:solidFill>
                  <a:schemeClr val="bg1">
                    <a:lumMod val="50000"/>
                  </a:schemeClr>
                </a:solidFill>
              </a:rPr>
              <a:t>A question as to whether important contextual information could be lost in moving material to Supplement A, because practitioners may not refer to the Supplement</a:t>
            </a:r>
          </a:p>
          <a:p>
            <a:r>
              <a:rPr lang="en-GB" dirty="0">
                <a:solidFill>
                  <a:schemeClr val="bg1">
                    <a:lumMod val="50000"/>
                  </a:schemeClr>
                </a:solidFill>
              </a:rPr>
              <a:t>A few detailed comments on the language used – further clarify or explain</a:t>
            </a:r>
          </a:p>
          <a:p>
            <a:r>
              <a:rPr lang="en-GB" dirty="0">
                <a:solidFill>
                  <a:schemeClr val="bg1">
                    <a:lumMod val="50000"/>
                  </a:schemeClr>
                </a:solidFill>
              </a:rPr>
              <a:t>Comments on redrafted Chapters 1, 4 and 8 have been taken into account when finalizing the updated draft Guidance</a:t>
            </a:r>
          </a:p>
          <a:p>
            <a:pPr lvl="1"/>
            <a:endParaRPr lang="en-GB" dirty="0">
              <a:solidFill>
                <a:schemeClr val="bg1">
                  <a:lumMod val="50000"/>
                </a:schemeClr>
              </a:solidFill>
            </a:endParaRPr>
          </a:p>
          <a:p>
            <a:pPr marL="0" indent="0">
              <a:buNone/>
            </a:pPr>
            <a:endParaRPr lang="en-US" dirty="0">
              <a:solidFill>
                <a:schemeClr val="bg1">
                  <a:lumMod val="50000"/>
                </a:schemeClr>
              </a:solidFill>
            </a:endParaRPr>
          </a:p>
          <a:p>
            <a:pPr marL="228600" lvl="1" indent="0">
              <a:buNone/>
            </a:pPr>
            <a:endParaRPr lang="en-GB" dirty="0">
              <a:solidFill>
                <a:schemeClr val="bg1">
                  <a:lumMod val="50000"/>
                </a:schemeClr>
              </a:solidFill>
            </a:endParaRP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090098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A058-1C12-4EA8-A1C7-E4018A52338B}"/>
              </a:ext>
            </a:extLst>
          </p:cNvPr>
          <p:cNvSpPr>
            <a:spLocks noGrp="1"/>
          </p:cNvSpPr>
          <p:nvPr>
            <p:ph type="title"/>
          </p:nvPr>
        </p:nvSpPr>
        <p:spPr>
          <a:xfrm>
            <a:off x="609600" y="606809"/>
            <a:ext cx="10972800" cy="538500"/>
          </a:xfrm>
        </p:spPr>
        <p:txBody>
          <a:bodyPr/>
          <a:lstStyle/>
          <a:p>
            <a:r>
              <a:rPr lang="en-US" sz="1800" dirty="0"/>
              <a:t>What We Heard From the Project Advisory Panel and Task Force Proposals</a:t>
            </a:r>
          </a:p>
        </p:txBody>
      </p:sp>
      <p:graphicFrame>
        <p:nvGraphicFramePr>
          <p:cNvPr id="6" name="Table 6">
            <a:extLst>
              <a:ext uri="{FF2B5EF4-FFF2-40B4-BE49-F238E27FC236}">
                <a16:creationId xmlns:a16="http://schemas.microsoft.com/office/drawing/2014/main" id="{1E937516-6D7D-41C4-8281-3D85ABA6CEB9}"/>
              </a:ext>
            </a:extLst>
          </p:cNvPr>
          <p:cNvGraphicFramePr>
            <a:graphicFrameLocks noGrp="1"/>
          </p:cNvGraphicFramePr>
          <p:nvPr>
            <p:ph sz="half" idx="1"/>
          </p:nvPr>
        </p:nvGraphicFramePr>
        <p:xfrm>
          <a:off x="730010" y="1461968"/>
          <a:ext cx="5264391" cy="10162891"/>
        </p:xfrm>
        <a:graphic>
          <a:graphicData uri="http://schemas.openxmlformats.org/drawingml/2006/table">
            <a:tbl>
              <a:tblPr firstRow="1" bandRow="1">
                <a:tableStyleId>{5C22544A-7EE6-4342-B048-85BDC9FD1C3A}</a:tableStyleId>
              </a:tblPr>
              <a:tblGrid>
                <a:gridCol w="5264391">
                  <a:extLst>
                    <a:ext uri="{9D8B030D-6E8A-4147-A177-3AD203B41FA5}">
                      <a16:colId xmlns:a16="http://schemas.microsoft.com/office/drawing/2014/main" val="2805985988"/>
                    </a:ext>
                  </a:extLst>
                </a:gridCol>
              </a:tblGrid>
              <a:tr h="4200849">
                <a:tc>
                  <a:txBody>
                    <a:bodyPr/>
                    <a:lstStyle/>
                    <a:p>
                      <a:pPr marL="285750" lvl="0" indent="-285750">
                        <a:buFont typeface="Arial" panose="020B0604020202020204" pitchFamily="34" charset="0"/>
                        <a:buChar char="•"/>
                      </a:pPr>
                      <a:r>
                        <a:rPr lang="en-US" sz="1600" b="0" dirty="0">
                          <a:solidFill>
                            <a:srgbClr val="808080"/>
                          </a:solidFill>
                          <a:latin typeface="Arial" panose="020B0604020202020204" pitchFamily="34" charset="0"/>
                          <a:cs typeface="Arial" panose="020B0604020202020204" pitchFamily="34" charset="0"/>
                        </a:rPr>
                        <a:t>Generally positive response to reordered and redrafted Guidance</a:t>
                      </a:r>
                    </a:p>
                    <a:p>
                      <a:pPr marL="0" lvl="0" indent="0">
                        <a:buFont typeface="Arial" panose="020B0604020202020204" pitchFamily="34" charset="0"/>
                        <a:buNone/>
                      </a:pPr>
                      <a:endParaRPr lang="en-US" sz="1600" b="0" dirty="0">
                        <a:solidFill>
                          <a:srgbClr val="808080"/>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600" b="0" dirty="0">
                          <a:solidFill>
                            <a:srgbClr val="808080"/>
                          </a:solidFill>
                          <a:latin typeface="Arial" panose="020B0604020202020204" pitchFamily="34" charset="0"/>
                          <a:cs typeface="Arial" panose="020B0604020202020204" pitchFamily="34" charset="0"/>
                        </a:rPr>
                        <a:t>Ordering of Chapters 12 and 13 questioned</a:t>
                      </a:r>
                    </a:p>
                    <a:p>
                      <a:pPr marL="0" lvl="0" indent="0">
                        <a:buFont typeface="Arial" panose="020B0604020202020204" pitchFamily="34" charset="0"/>
                        <a:buNone/>
                      </a:pPr>
                      <a:endParaRPr lang="en-US" sz="1600" b="0" dirty="0">
                        <a:solidFill>
                          <a:srgbClr val="808080"/>
                        </a:solidFill>
                        <a:latin typeface="Arial" panose="020B0604020202020204" pitchFamily="34" charset="0"/>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a:solidFill>
                            <a:srgbClr val="808080"/>
                          </a:solidFill>
                          <a:latin typeface="Arial" panose="020B0604020202020204" pitchFamily="34" charset="0"/>
                          <a:ea typeface="+mn-ea"/>
                          <a:cs typeface="Arial" panose="020B0604020202020204" pitchFamily="34" charset="0"/>
                        </a:rPr>
                        <a:t>Two members regretted that the new term ‘</a:t>
                      </a:r>
                      <a:r>
                        <a:rPr lang="en-US" sz="1600" b="0" i="1" kern="1200" dirty="0">
                          <a:solidFill>
                            <a:srgbClr val="808080"/>
                          </a:solidFill>
                          <a:latin typeface="Arial" panose="020B0604020202020204" pitchFamily="34" charset="0"/>
                          <a:ea typeface="+mn-ea"/>
                          <a:cs typeface="Arial" panose="020B0604020202020204" pitchFamily="34" charset="0"/>
                        </a:rPr>
                        <a:t>Entity’s process to identify reporting topics</a:t>
                      </a:r>
                      <a:r>
                        <a:rPr lang="en-US" sz="1600" b="0" kern="1200" dirty="0">
                          <a:solidFill>
                            <a:srgbClr val="808080"/>
                          </a:solidFill>
                          <a:latin typeface="Arial" panose="020B0604020202020204" pitchFamily="34" charset="0"/>
                          <a:ea typeface="+mn-ea"/>
                          <a:cs typeface="Arial" panose="020B0604020202020204" pitchFamily="34" charset="0"/>
                        </a:rPr>
                        <a:t>’ does not include the word ‘material’, given that the process addresses </a:t>
                      </a:r>
                      <a:r>
                        <a:rPr lang="en-GB" sz="1600" b="0" kern="1200" dirty="0">
                          <a:solidFill>
                            <a:srgbClr val="808080"/>
                          </a:solidFill>
                          <a:latin typeface="Arial" panose="020B0604020202020204" pitchFamily="34" charset="0"/>
                          <a:ea typeface="+mn-ea"/>
                          <a:cs typeface="Arial" panose="020B0604020202020204" pitchFamily="34" charset="0"/>
                        </a:rPr>
                        <a:t>a process not simply to choose topics, but to choose the topics that are </a:t>
                      </a:r>
                      <a:r>
                        <a:rPr lang="en-GB" sz="1600" b="0" i="1" u="sng" kern="1200" dirty="0">
                          <a:solidFill>
                            <a:srgbClr val="808080"/>
                          </a:solidFill>
                          <a:latin typeface="Arial" panose="020B0604020202020204" pitchFamily="34" charset="0"/>
                          <a:ea typeface="+mn-ea"/>
                          <a:cs typeface="Arial" panose="020B0604020202020204" pitchFamily="34" charset="0"/>
                        </a:rPr>
                        <a:t>material</a:t>
                      </a:r>
                      <a:r>
                        <a:rPr lang="en-GB" sz="1600" b="0" kern="1200" dirty="0">
                          <a:solidFill>
                            <a:srgbClr val="808080"/>
                          </a:solidFill>
                          <a:latin typeface="Arial" panose="020B0604020202020204" pitchFamily="34" charset="0"/>
                          <a:ea typeface="+mn-ea"/>
                          <a:cs typeface="Arial" panose="020B0604020202020204" pitchFamily="34" charset="0"/>
                        </a:rPr>
                        <a:t> to the organisation’s performance</a:t>
                      </a:r>
                      <a:endParaRPr lang="en-US" sz="1600" b="0" kern="1200" dirty="0">
                        <a:solidFill>
                          <a:srgbClr val="808080"/>
                        </a:solidFill>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dirty="0">
                        <a:solidFill>
                          <a:srgbClr val="808080"/>
                        </a:solidFill>
                        <a:latin typeface="Arial" panose="020B0604020202020204" pitchFamily="34" charset="0"/>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solidFill>
                            <a:srgbClr val="808080"/>
                          </a:solidFill>
                          <a:latin typeface="Arial" panose="020B0604020202020204" pitchFamily="34" charset="0"/>
                          <a:cs typeface="Arial" panose="020B0604020202020204" pitchFamily="34" charset="0"/>
                        </a:rPr>
                        <a:t>Some terminology could use different words (‘boundary’; ‘entities’ as used in paragraphs 218 and 218A), or be defined or checked for consistent use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dirty="0">
                        <a:solidFill>
                          <a:srgbClr val="808080"/>
                        </a:solidFill>
                        <a:latin typeface="Arial" panose="020B0604020202020204" pitchFamily="34" charset="0"/>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solidFill>
                            <a:srgbClr val="808080"/>
                          </a:solidFill>
                          <a:latin typeface="Arial" panose="020B0604020202020204" pitchFamily="34" charset="0"/>
                          <a:cs typeface="Arial" panose="020B0604020202020204" pitchFamily="34" charset="0"/>
                        </a:rPr>
                        <a:t>Some detailed points on particular paragraphs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dirty="0">
                        <a:solidFill>
                          <a:srgbClr val="808080"/>
                        </a:solidFill>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0" dirty="0">
                        <a:solidFill>
                          <a:srgbClr val="808080"/>
                        </a:solidFill>
                        <a:latin typeface="Arial" panose="020B0604020202020204" pitchFamily="34" charset="0"/>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dirty="0">
                        <a:solidFill>
                          <a:srgbClr val="808080"/>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600" b="0" dirty="0">
                        <a:solidFill>
                          <a:srgbClr val="808080"/>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endParaRPr lang="en-US" sz="1600" b="0" dirty="0">
                        <a:solidFill>
                          <a:srgbClr val="808080"/>
                        </a:solidFill>
                        <a:latin typeface="Arial" panose="020B0604020202020204" pitchFamily="34" charset="0"/>
                        <a:cs typeface="Arial" panose="020B0604020202020204" pitchFamily="34" charset="0"/>
                      </a:endParaRPr>
                    </a:p>
                  </a:txBody>
                  <a:tcPr marL="46906" marR="46906">
                    <a:noFill/>
                  </a:tcPr>
                </a:tc>
                <a:extLst>
                  <a:ext uri="{0D108BD9-81ED-4DB2-BD59-A6C34878D82A}">
                    <a16:rowId xmlns:a16="http://schemas.microsoft.com/office/drawing/2014/main" val="1224812687"/>
                  </a:ext>
                </a:extLst>
              </a:tr>
              <a:tr h="4706971">
                <a:tc>
                  <a:txBody>
                    <a:bodyPr/>
                    <a:lstStyle/>
                    <a:p>
                      <a:pPr marL="0" lvl="0" indent="0">
                        <a:buFont typeface="Arial" panose="020B0604020202020204" pitchFamily="34" charset="0"/>
                        <a:buNone/>
                      </a:pPr>
                      <a:endParaRPr lang="en-US" sz="1600" b="0" dirty="0">
                        <a:solidFill>
                          <a:srgbClr val="808080"/>
                        </a:solidFill>
                        <a:latin typeface="Arial" panose="020B0604020202020204" pitchFamily="34" charset="0"/>
                        <a:cs typeface="Arial" panose="020B0604020202020204" pitchFamily="34" charset="0"/>
                      </a:endParaRPr>
                    </a:p>
                  </a:txBody>
                  <a:tcPr marL="46906" marR="46906">
                    <a:noFill/>
                  </a:tcPr>
                </a:tc>
                <a:extLst>
                  <a:ext uri="{0D108BD9-81ED-4DB2-BD59-A6C34878D82A}">
                    <a16:rowId xmlns:a16="http://schemas.microsoft.com/office/drawing/2014/main" val="2659226080"/>
                  </a:ext>
                </a:extLst>
              </a:tr>
            </a:tbl>
          </a:graphicData>
        </a:graphic>
      </p:graphicFrame>
      <p:sp>
        <p:nvSpPr>
          <p:cNvPr id="9" name="Content Placeholder 8">
            <a:extLst>
              <a:ext uri="{FF2B5EF4-FFF2-40B4-BE49-F238E27FC236}">
                <a16:creationId xmlns:a16="http://schemas.microsoft.com/office/drawing/2014/main" id="{F5F5F4F1-13CC-4B36-A707-F55D9B3D3FB1}"/>
              </a:ext>
            </a:extLst>
          </p:cNvPr>
          <p:cNvSpPr>
            <a:spLocks noGrp="1"/>
          </p:cNvSpPr>
          <p:nvPr>
            <p:ph sz="half" idx="2"/>
          </p:nvPr>
        </p:nvSpPr>
        <p:spPr>
          <a:solidFill>
            <a:schemeClr val="accent1"/>
          </a:solidFill>
        </p:spPr>
        <p:txBody>
          <a:bodyPr/>
          <a:lstStyle/>
          <a:p>
            <a:r>
              <a:rPr lang="en-US" dirty="0">
                <a:solidFill>
                  <a:schemeClr val="bg1"/>
                </a:solidFill>
              </a:rPr>
              <a:t>Consider separating into Part A: the assurance process and Part B: considerations outside of the assurance process, and for specific subject matter information (Chapters 2, 3, 12, 13)</a:t>
            </a:r>
          </a:p>
          <a:p>
            <a:r>
              <a:rPr lang="en-US" dirty="0">
                <a:solidFill>
                  <a:schemeClr val="bg1"/>
                </a:solidFill>
              </a:rPr>
              <a:t>Point about inclusion of material topics to be clarified in Chapter 10 and linked to Chapter 7</a:t>
            </a:r>
          </a:p>
          <a:p>
            <a:r>
              <a:rPr lang="en-US" dirty="0">
                <a:solidFill>
                  <a:schemeClr val="bg1"/>
                </a:solidFill>
              </a:rPr>
              <a:t>Propose ‘perimeter’ in place of ‘boundary’; ‘stakeholders’ in place of ‘entities’ in paragraphs 218 and 218A </a:t>
            </a:r>
          </a:p>
          <a:p>
            <a:r>
              <a:rPr lang="en-US" dirty="0">
                <a:solidFill>
                  <a:schemeClr val="bg1"/>
                </a:solidFill>
              </a:rPr>
              <a:t>Examples to be checked for consistency of presentation</a:t>
            </a:r>
          </a:p>
          <a:p>
            <a:pPr marL="457200" indent="-457200">
              <a:buFont typeface="Arial"/>
              <a:buAutoNum type="arabicPeriod"/>
            </a:pPr>
            <a:endParaRPr lang="en-US" dirty="0">
              <a:solidFill>
                <a:schemeClr val="bg1"/>
              </a:solidFill>
            </a:endParaRPr>
          </a:p>
          <a:p>
            <a:pPr marL="457200" lvl="0" indent="-457200">
              <a:buFont typeface="Arial"/>
              <a:buAutoNum type="arabicPeriod"/>
            </a:pPr>
            <a:endParaRPr lang="en-US" dirty="0">
              <a:solidFill>
                <a:schemeClr val="bg1"/>
              </a:solidFill>
            </a:endParaRPr>
          </a:p>
          <a:p>
            <a:pPr marL="457200" lvl="0" indent="-457200">
              <a:buFont typeface="Arial"/>
              <a:buAutoNum type="arabicPeriod"/>
            </a:pPr>
            <a:endParaRPr lang="en-US" dirty="0">
              <a:solidFill>
                <a:schemeClr val="bg1"/>
              </a:solidFill>
            </a:endParaRPr>
          </a:p>
          <a:p>
            <a:endParaRPr lang="en-US" dirty="0"/>
          </a:p>
        </p:txBody>
      </p:sp>
      <p:sp>
        <p:nvSpPr>
          <p:cNvPr id="5" name="Slide Number Placeholder 4">
            <a:extLst>
              <a:ext uri="{FF2B5EF4-FFF2-40B4-BE49-F238E27FC236}">
                <a16:creationId xmlns:a16="http://schemas.microsoft.com/office/drawing/2014/main" id="{993C3DB9-FC57-41A1-B280-2B4B66663D48}"/>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806245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1: </a:t>
            </a:r>
            <a:r>
              <a:rPr lang="en-GB" i="1" dirty="0"/>
              <a:t>Introduction</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pPr lvl="0"/>
            <a:r>
              <a:rPr lang="en-US" dirty="0">
                <a:solidFill>
                  <a:schemeClr val="bg1">
                    <a:lumMod val="50000"/>
                  </a:schemeClr>
                </a:solidFill>
              </a:rPr>
              <a:t>General support expressed at November teleconference, in particular, for Diagram 1 to replace Chapter 2 of the phase 1 guidance</a:t>
            </a:r>
          </a:p>
          <a:p>
            <a:pPr lvl="0"/>
            <a:r>
              <a:rPr lang="en-US" dirty="0">
                <a:solidFill>
                  <a:schemeClr val="bg1">
                    <a:lumMod val="50000"/>
                  </a:schemeClr>
                </a:solidFill>
              </a:rPr>
              <a:t>Task Force proposed to include a question on consultation on the use of icons and the proposed approach to referencing, due to mixed views expressed</a:t>
            </a:r>
          </a:p>
          <a:p>
            <a:pPr lvl="0"/>
            <a:r>
              <a:rPr lang="en-US" dirty="0">
                <a:solidFill>
                  <a:schemeClr val="bg1">
                    <a:lumMod val="50000"/>
                  </a:schemeClr>
                </a:solidFill>
              </a:rPr>
              <a:t>TF comments on structure and order of the content:</a:t>
            </a:r>
          </a:p>
          <a:p>
            <a:pPr lvl="1"/>
            <a:r>
              <a:rPr lang="en-US" dirty="0">
                <a:solidFill>
                  <a:schemeClr val="bg1">
                    <a:lumMod val="50000"/>
                  </a:schemeClr>
                </a:solidFill>
              </a:rPr>
              <a:t>Public interest considerations generally included in Explanatory Memorandum</a:t>
            </a:r>
          </a:p>
          <a:p>
            <a:pPr lvl="1"/>
            <a:r>
              <a:rPr lang="en-US" dirty="0">
                <a:solidFill>
                  <a:schemeClr val="bg1">
                    <a:lumMod val="50000"/>
                  </a:schemeClr>
                </a:solidFill>
              </a:rPr>
              <a:t>Possible alternative approaches to structuring the introduction and other parts of the Guidance:</a:t>
            </a:r>
          </a:p>
          <a:p>
            <a:pPr lvl="2"/>
            <a:r>
              <a:rPr lang="en-US" sz="1800" dirty="0">
                <a:solidFill>
                  <a:schemeClr val="bg1">
                    <a:lumMod val="50000"/>
                  </a:schemeClr>
                </a:solidFill>
              </a:rPr>
              <a:t>Introduction and sections or parts</a:t>
            </a:r>
          </a:p>
          <a:p>
            <a:pPr lvl="2"/>
            <a:r>
              <a:rPr lang="en-US" sz="1800" dirty="0">
                <a:solidFill>
                  <a:schemeClr val="bg1">
                    <a:lumMod val="50000"/>
                  </a:schemeClr>
                </a:solidFill>
              </a:rPr>
              <a:t>Each chapter could be a section, or chapters could be divided into two parts - Part A (assurance process) - Part B (other elements that support the assurance process)</a:t>
            </a:r>
          </a:p>
          <a:p>
            <a:pPr lvl="2"/>
            <a:endParaRPr lang="en-US" sz="1800" dirty="0">
              <a:solidFill>
                <a:schemeClr val="bg1">
                  <a:lumMod val="50000"/>
                </a:schemeClr>
              </a:solidFill>
            </a:endParaRPr>
          </a:p>
          <a:p>
            <a:pPr lvl="1"/>
            <a:endParaRPr lang="en-GB" dirty="0">
              <a:solidFill>
                <a:schemeClr val="bg1">
                  <a:lumMod val="50000"/>
                </a:schemeClr>
              </a:solidFill>
            </a:endParaRPr>
          </a:p>
          <a:p>
            <a:pPr marL="0" indent="0">
              <a:buNone/>
            </a:pPr>
            <a:endParaRPr lang="en-US" dirty="0">
              <a:solidFill>
                <a:schemeClr val="bg1">
                  <a:lumMod val="50000"/>
                </a:schemeClr>
              </a:solidFill>
            </a:endParaRPr>
          </a:p>
          <a:p>
            <a:pPr marL="228600" lvl="1" indent="0">
              <a:buNone/>
            </a:pPr>
            <a:endParaRPr lang="en-GB" dirty="0">
              <a:solidFill>
                <a:schemeClr val="bg1">
                  <a:lumMod val="50000"/>
                </a:schemeClr>
              </a:solidFill>
            </a:endParaRP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252768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FFA8-FCFA-4B8A-961F-9FD2244493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06B6197-170C-44B1-B084-E50CE71225D9}"/>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3200" dirty="0"/>
              <a:t>Comments: General and on Chapter 1</a:t>
            </a:r>
          </a:p>
        </p:txBody>
      </p:sp>
      <p:sp>
        <p:nvSpPr>
          <p:cNvPr id="4" name="Subtitle 3">
            <a:extLst>
              <a:ext uri="{FF2B5EF4-FFF2-40B4-BE49-F238E27FC236}">
                <a16:creationId xmlns:a16="http://schemas.microsoft.com/office/drawing/2014/main" id="{0A36CF0B-1EC6-4C44-A8A4-ED53ABECB752}"/>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A551220-EE18-4D7C-A060-F1527EEF862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61715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A058-1C12-4EA8-A1C7-E4018A52338B}"/>
              </a:ext>
            </a:extLst>
          </p:cNvPr>
          <p:cNvSpPr>
            <a:spLocks noGrp="1"/>
          </p:cNvSpPr>
          <p:nvPr>
            <p:ph type="title"/>
          </p:nvPr>
        </p:nvSpPr>
        <p:spPr/>
        <p:txBody>
          <a:bodyPr/>
          <a:lstStyle/>
          <a:p>
            <a:r>
              <a:rPr lang="en-GB" dirty="0"/>
              <a:t>Questions for the  Board on each Chapter</a:t>
            </a:r>
            <a:endParaRPr lang="en-US" dirty="0"/>
          </a:p>
        </p:txBody>
      </p:sp>
      <p:graphicFrame>
        <p:nvGraphicFramePr>
          <p:cNvPr id="6" name="Table 6">
            <a:extLst>
              <a:ext uri="{FF2B5EF4-FFF2-40B4-BE49-F238E27FC236}">
                <a16:creationId xmlns:a16="http://schemas.microsoft.com/office/drawing/2014/main" id="{1E937516-6D7D-41C4-8281-3D85ABA6CEB9}"/>
              </a:ext>
            </a:extLst>
          </p:cNvPr>
          <p:cNvGraphicFramePr>
            <a:graphicFrameLocks noGrp="1"/>
          </p:cNvGraphicFramePr>
          <p:nvPr>
            <p:ph idx="1"/>
            <p:extLst>
              <p:ext uri="{D42A27DB-BD31-4B8C-83A1-F6EECF244321}">
                <p14:modId xmlns:p14="http://schemas.microsoft.com/office/powerpoint/2010/main" val="1349479604"/>
              </p:ext>
            </p:extLst>
          </p:nvPr>
        </p:nvGraphicFramePr>
        <p:xfrm>
          <a:off x="609600" y="1600200"/>
          <a:ext cx="10972800" cy="4012660"/>
        </p:xfrm>
        <a:graphic>
          <a:graphicData uri="http://schemas.openxmlformats.org/drawingml/2006/table">
            <a:tbl>
              <a:tblPr firstRow="1" bandRow="1">
                <a:tableStyleId>{5C22544A-7EE6-4342-B048-85BDC9FD1C3A}</a:tableStyleId>
              </a:tblPr>
              <a:tblGrid>
                <a:gridCol w="10972800">
                  <a:extLst>
                    <a:ext uri="{9D8B030D-6E8A-4147-A177-3AD203B41FA5}">
                      <a16:colId xmlns:a16="http://schemas.microsoft.com/office/drawing/2014/main" val="2805985988"/>
                    </a:ext>
                  </a:extLst>
                </a:gridCol>
              </a:tblGrid>
              <a:tr h="4012660">
                <a:tc>
                  <a:txBody>
                    <a:bodyPr/>
                    <a:lstStyle/>
                    <a:p>
                      <a:pPr marL="457200" lvl="0" indent="-457200">
                        <a:buFont typeface="Arial"/>
                        <a:buAutoNum type="arabicPeriod"/>
                      </a:pPr>
                      <a:r>
                        <a:rPr lang="en-US" sz="2000" dirty="0">
                          <a:solidFill>
                            <a:schemeClr val="bg1"/>
                          </a:solidFill>
                          <a:latin typeface="Arial" panose="020B0604020202020204" pitchFamily="34" charset="0"/>
                          <a:cs typeface="Arial" panose="020B0604020202020204" pitchFamily="34" charset="0"/>
                        </a:rPr>
                        <a:t>Has the Task Force appropriately responded to the phase 1 public consultation, the feedback given at the September 2019 IAASB meeting and the November 2019 IAASB Teleconference?</a:t>
                      </a:r>
                    </a:p>
                    <a:p>
                      <a:pPr marL="457200" lvl="0" indent="-457200">
                        <a:buFont typeface="Arial"/>
                        <a:buAutoNum type="arabicPeriod"/>
                      </a:pPr>
                      <a:endParaRPr lang="en-US" sz="2000" dirty="0">
                        <a:solidFill>
                          <a:schemeClr val="bg1"/>
                        </a:solidFill>
                        <a:latin typeface="Arial" panose="020B0604020202020204" pitchFamily="34" charset="0"/>
                        <a:cs typeface="Arial" panose="020B0604020202020204" pitchFamily="34" charset="0"/>
                      </a:endParaRPr>
                    </a:p>
                    <a:p>
                      <a:pPr marL="457200" lvl="0" indent="-457200">
                        <a:buFont typeface="Arial"/>
                        <a:buAutoNum type="arabicPeriod"/>
                      </a:pPr>
                      <a:endParaRPr lang="en-US" sz="2000" dirty="0">
                        <a:solidFill>
                          <a:schemeClr val="bg1"/>
                        </a:solidFill>
                        <a:latin typeface="Arial" panose="020B0604020202020204" pitchFamily="34" charset="0"/>
                        <a:cs typeface="Arial" panose="020B0604020202020204" pitchFamily="34" charset="0"/>
                      </a:endParaRPr>
                    </a:p>
                    <a:p>
                      <a:pPr marL="457200" lvl="0" indent="-457200">
                        <a:buFont typeface="Arial"/>
                        <a:buAutoNum type="arabicPeriod"/>
                      </a:pPr>
                      <a:r>
                        <a:rPr lang="en-US" sz="2000" dirty="0">
                          <a:solidFill>
                            <a:schemeClr val="bg1"/>
                          </a:solidFill>
                          <a:latin typeface="Arial" panose="020B0604020202020204" pitchFamily="34" charset="0"/>
                          <a:cs typeface="Arial" panose="020B0604020202020204" pitchFamily="34" charset="0"/>
                        </a:rPr>
                        <a:t>Is the updated draft Guidance effective in assisting practitioners to address the issues related to each of the ten key challenges identified?</a:t>
                      </a:r>
                    </a:p>
                    <a:p>
                      <a:pPr marL="457200" lvl="0" indent="-457200">
                        <a:buFont typeface="Arial"/>
                        <a:buAutoNum type="arabicPeriod"/>
                      </a:pPr>
                      <a:endParaRPr lang="en-US" sz="2000" dirty="0">
                        <a:solidFill>
                          <a:schemeClr val="bg1"/>
                        </a:solidFill>
                        <a:latin typeface="Arial" panose="020B0604020202020204" pitchFamily="34" charset="0"/>
                        <a:cs typeface="Arial" panose="020B0604020202020204" pitchFamily="34" charset="0"/>
                      </a:endParaRPr>
                    </a:p>
                    <a:p>
                      <a:pPr marL="457200" lvl="0" indent="-457200">
                        <a:buFont typeface="Arial"/>
                        <a:buAutoNum type="arabicPeriod"/>
                      </a:pPr>
                      <a:endParaRPr lang="en-US" sz="2000" dirty="0">
                        <a:solidFill>
                          <a:schemeClr val="bg1"/>
                        </a:solidFill>
                        <a:latin typeface="Arial" panose="020B0604020202020204" pitchFamily="34" charset="0"/>
                        <a:cs typeface="Arial" panose="020B0604020202020204" pitchFamily="34" charset="0"/>
                      </a:endParaRPr>
                    </a:p>
                    <a:p>
                      <a:pPr marL="457200" lvl="0" indent="-457200">
                        <a:buFont typeface="Arial"/>
                        <a:buAutoNum type="arabicPeriod"/>
                      </a:pPr>
                      <a:r>
                        <a:rPr lang="en-US" sz="2000" dirty="0">
                          <a:solidFill>
                            <a:schemeClr val="bg1"/>
                          </a:solidFill>
                          <a:latin typeface="Arial" panose="020B0604020202020204" pitchFamily="34" charset="0"/>
                          <a:cs typeface="Arial" panose="020B0604020202020204" pitchFamily="34" charset="0"/>
                        </a:rPr>
                        <a:t>Are further revisions needed to the draft Guidance before it is published for public consultation?</a:t>
                      </a:r>
                    </a:p>
                    <a:p>
                      <a:endParaRPr lang="en-US" dirty="0"/>
                    </a:p>
                  </a:txBody>
                  <a:tcPr/>
                </a:tc>
                <a:extLst>
                  <a:ext uri="{0D108BD9-81ED-4DB2-BD59-A6C34878D82A}">
                    <a16:rowId xmlns:a16="http://schemas.microsoft.com/office/drawing/2014/main" val="1224812687"/>
                  </a:ext>
                </a:extLst>
              </a:tr>
            </a:tbl>
          </a:graphicData>
        </a:graphic>
      </p:graphicFrame>
      <p:sp>
        <p:nvSpPr>
          <p:cNvPr id="4" name="Subtitle 3">
            <a:extLst>
              <a:ext uri="{FF2B5EF4-FFF2-40B4-BE49-F238E27FC236}">
                <a16:creationId xmlns:a16="http://schemas.microsoft.com/office/drawing/2014/main" id="{6C5C1C67-9BF8-4187-B3C9-945AFD4A76DC}"/>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93C3DB9-FC57-41A1-B280-2B4B66663D48}"/>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322655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2: </a:t>
            </a:r>
            <a:r>
              <a:rPr lang="en-US" i="1" dirty="0"/>
              <a:t>Applying Appropriate Competence and Capabilities</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r>
              <a:rPr lang="en-US" dirty="0">
                <a:solidFill>
                  <a:schemeClr val="bg1">
                    <a:lumMod val="50000"/>
                  </a:schemeClr>
                </a:solidFill>
              </a:rPr>
              <a:t>Re-ordered to earlier in the Guidance as it covers the competence and capabilities needed throughout an EER assurance engagement</a:t>
            </a:r>
          </a:p>
          <a:p>
            <a:r>
              <a:rPr lang="en-US" dirty="0">
                <a:solidFill>
                  <a:schemeClr val="bg1">
                    <a:lumMod val="50000"/>
                  </a:schemeClr>
                </a:solidFill>
              </a:rPr>
              <a:t>‘Cube’ diagram simplified by splitting into two separate diagrams to illustrate:</a:t>
            </a:r>
          </a:p>
          <a:p>
            <a:pPr lvl="1"/>
            <a:r>
              <a:rPr lang="en-US" dirty="0">
                <a:solidFill>
                  <a:schemeClr val="bg1">
                    <a:lumMod val="50000"/>
                  </a:schemeClr>
                </a:solidFill>
              </a:rPr>
              <a:t>Different levels of assurance competence and subject matter competence, and the corresponding supervision, direction and review that may be needed, and</a:t>
            </a:r>
          </a:p>
          <a:p>
            <a:pPr lvl="1"/>
            <a:r>
              <a:rPr lang="en-US" dirty="0">
                <a:solidFill>
                  <a:schemeClr val="bg1">
                    <a:lumMod val="50000"/>
                  </a:schemeClr>
                </a:solidFill>
              </a:rPr>
              <a:t>The complexity of the underlying subject matter, its significance, and the risk of material misstatement of the subject matter information, and what that may mean to the level of direction, supervision and review</a:t>
            </a:r>
          </a:p>
          <a:p>
            <a:pPr lvl="1"/>
            <a:endParaRPr lang="en-GB" dirty="0">
              <a:solidFill>
                <a:schemeClr val="bg1">
                  <a:lumMod val="50000"/>
                </a:schemeClr>
              </a:solidFill>
            </a:endParaRPr>
          </a:p>
          <a:p>
            <a:pPr marL="0" indent="0">
              <a:buNone/>
            </a:pPr>
            <a:endParaRPr lang="en-US" dirty="0">
              <a:solidFill>
                <a:schemeClr val="bg1">
                  <a:lumMod val="50000"/>
                </a:schemeClr>
              </a:solidFill>
            </a:endParaRPr>
          </a:p>
          <a:p>
            <a:pPr marL="228600" lvl="1" indent="0">
              <a:buNone/>
            </a:pPr>
            <a:endParaRPr lang="en-GB" dirty="0">
              <a:solidFill>
                <a:schemeClr val="bg1">
                  <a:lumMod val="50000"/>
                </a:schemeClr>
              </a:solidFill>
            </a:endParaRP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61998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3: </a:t>
            </a:r>
            <a:r>
              <a:rPr lang="en-US" i="1" dirty="0"/>
              <a:t>Exercising Professional Skepticism and Professional Judgment</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pPr marL="285750" indent="-285750">
              <a:buFont typeface="Arial" panose="020B0604020202020204" pitchFamily="34" charset="0"/>
              <a:buChar char="•"/>
            </a:pPr>
            <a:endParaRPr lang="en-US" dirty="0">
              <a:solidFill>
                <a:srgbClr val="808080"/>
              </a:solidFill>
            </a:endParaRPr>
          </a:p>
          <a:p>
            <a:pPr marL="285750" indent="-285750">
              <a:buFont typeface="Arial" panose="020B0604020202020204" pitchFamily="34" charset="0"/>
              <a:buChar char="•"/>
            </a:pPr>
            <a:r>
              <a:rPr lang="en-US" dirty="0">
                <a:solidFill>
                  <a:srgbClr val="808080"/>
                </a:solidFill>
              </a:rPr>
              <a:t>Re-ordered to earlier in the Guidance as it covers behaviors that may be needed throughout the performance of an EER assurance engagement </a:t>
            </a:r>
          </a:p>
          <a:p>
            <a:pPr marL="285750" indent="-285750">
              <a:buFont typeface="Arial" panose="020B0604020202020204" pitchFamily="34" charset="0"/>
              <a:buChar char="•"/>
            </a:pPr>
            <a:r>
              <a:rPr lang="en-US" dirty="0">
                <a:solidFill>
                  <a:srgbClr val="808080"/>
                </a:solidFill>
              </a:rPr>
              <a:t>Although more conceptual than other chapters, the Task Force considers it important for context; it has therefore been retained in the Guidance</a:t>
            </a:r>
          </a:p>
          <a:p>
            <a:pPr marL="285750" indent="-285750">
              <a:buFont typeface="Arial" panose="020B0604020202020204" pitchFamily="34" charset="0"/>
              <a:buChar char="•"/>
            </a:pPr>
            <a:r>
              <a:rPr lang="en-US" dirty="0">
                <a:solidFill>
                  <a:srgbClr val="808080"/>
                </a:solidFill>
              </a:rPr>
              <a:t>Its practical application is in the examples throughout the rest of the Guidance, highlighted by the use of the icons  </a:t>
            </a:r>
          </a:p>
          <a:p>
            <a:pPr marL="285750" indent="-285750">
              <a:buFont typeface="Arial" panose="020B0604020202020204" pitchFamily="34" charset="0"/>
              <a:buChar char="•"/>
            </a:pPr>
            <a:r>
              <a:rPr lang="en-US" dirty="0">
                <a:solidFill>
                  <a:srgbClr val="808080"/>
                </a:solidFill>
              </a:rPr>
              <a:t>At present, icons used only against examples, but could be used against paragraphs throughout the Guidance where the concepts are discussed</a:t>
            </a:r>
          </a:p>
          <a:p>
            <a:pPr marL="285750" indent="-285750">
              <a:buFont typeface="Arial" panose="020B0604020202020204" pitchFamily="34" charset="0"/>
              <a:buChar char="•"/>
            </a:pPr>
            <a:endParaRPr lang="en-US" dirty="0">
              <a:solidFill>
                <a:srgbClr val="808080"/>
              </a:solidFill>
            </a:endParaRPr>
          </a:p>
          <a:p>
            <a:pPr marL="285750" indent="-285750">
              <a:buFont typeface="Arial" panose="020B0604020202020204" pitchFamily="34" charset="0"/>
              <a:buChar char="•"/>
            </a:pPr>
            <a:endParaRPr lang="en-US" dirty="0">
              <a:solidFill>
                <a:srgbClr val="808080"/>
              </a:solidFill>
            </a:endParaRPr>
          </a:p>
          <a:p>
            <a:pPr marL="228600" lvl="1" indent="0">
              <a:buNone/>
            </a:pPr>
            <a:endParaRPr lang="en-GB" dirty="0">
              <a:solidFill>
                <a:schemeClr val="bg1">
                  <a:lumMod val="50000"/>
                </a:schemeClr>
              </a:solidFill>
            </a:endParaRP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pic>
        <p:nvPicPr>
          <p:cNvPr id="6" name="Picture 5">
            <a:extLst>
              <a:ext uri="{FF2B5EF4-FFF2-40B4-BE49-F238E27FC236}">
                <a16:creationId xmlns:a16="http://schemas.microsoft.com/office/drawing/2014/main" id="{AE013B4A-ACE9-4B1E-AC6E-B8570FC2772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5136" y="4766851"/>
            <a:ext cx="511810" cy="539114"/>
          </a:xfrm>
          <a:prstGeom prst="rect">
            <a:avLst/>
          </a:prstGeom>
          <a:noFill/>
          <a:ln>
            <a:noFill/>
          </a:ln>
        </p:spPr>
      </p:pic>
      <p:pic>
        <p:nvPicPr>
          <p:cNvPr id="7" name="Picture 6">
            <a:extLst>
              <a:ext uri="{FF2B5EF4-FFF2-40B4-BE49-F238E27FC236}">
                <a16:creationId xmlns:a16="http://schemas.microsoft.com/office/drawing/2014/main" id="{5A8E59E6-65D1-4B87-9CE2-3B72B8D36D2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70518" y="4766850"/>
            <a:ext cx="511810" cy="539115"/>
          </a:xfrm>
          <a:prstGeom prst="rect">
            <a:avLst/>
          </a:prstGeom>
          <a:noFill/>
          <a:ln>
            <a:noFill/>
          </a:ln>
        </p:spPr>
      </p:pic>
    </p:spTree>
    <p:extLst>
      <p:ext uri="{BB962C8B-B14F-4D97-AF65-F5344CB8AC3E}">
        <p14:creationId xmlns:p14="http://schemas.microsoft.com/office/powerpoint/2010/main" val="1996200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4: </a:t>
            </a:r>
            <a:r>
              <a:rPr lang="en-US" i="1" dirty="0"/>
              <a:t>Determining the Preconditions and Agreeing Scope</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pPr lvl="0"/>
            <a:r>
              <a:rPr lang="en-US" dirty="0">
                <a:solidFill>
                  <a:schemeClr val="bg1">
                    <a:lumMod val="50000"/>
                  </a:schemeClr>
                </a:solidFill>
              </a:rPr>
              <a:t>Diagram simplified to take account of comments received at November teleconference</a:t>
            </a:r>
          </a:p>
          <a:p>
            <a:pPr lvl="0"/>
            <a:r>
              <a:rPr lang="en-US" dirty="0">
                <a:solidFill>
                  <a:schemeClr val="bg1">
                    <a:lumMod val="50000"/>
                  </a:schemeClr>
                </a:solidFill>
              </a:rPr>
              <a:t>Paragraph 76 simplified and integrated with paragraph 74 – rational purpose considerations are now together</a:t>
            </a:r>
          </a:p>
          <a:p>
            <a:pPr lvl="0"/>
            <a:r>
              <a:rPr lang="en-US" dirty="0">
                <a:solidFill>
                  <a:schemeClr val="bg1">
                    <a:lumMod val="50000"/>
                  </a:schemeClr>
                </a:solidFill>
              </a:rPr>
              <a:t>Difference between ‘hierarchy’ of financial reporting criteria, and criteria in EER frameworks; clarification </a:t>
            </a:r>
            <a:r>
              <a:rPr lang="en-US" dirty="0">
                <a:solidFill>
                  <a:srgbClr val="808080"/>
                </a:solidFill>
              </a:rPr>
              <a:t>in Guidance on the difference between using:</a:t>
            </a:r>
          </a:p>
          <a:p>
            <a:pPr lvl="1"/>
            <a:r>
              <a:rPr lang="en-US" dirty="0">
                <a:solidFill>
                  <a:schemeClr val="bg1">
                    <a:lumMod val="50000"/>
                  </a:schemeClr>
                </a:solidFill>
              </a:rPr>
              <a:t>Established framework criteria, without further development, </a:t>
            </a:r>
          </a:p>
          <a:p>
            <a:pPr lvl="1"/>
            <a:r>
              <a:rPr lang="en-US" dirty="0">
                <a:solidFill>
                  <a:schemeClr val="bg1">
                    <a:lumMod val="50000"/>
                  </a:schemeClr>
                </a:solidFill>
              </a:rPr>
              <a:t>Established framework criteria needing further development</a:t>
            </a:r>
          </a:p>
          <a:p>
            <a:pPr lvl="1"/>
            <a:r>
              <a:rPr lang="en-US" dirty="0">
                <a:solidFill>
                  <a:schemeClr val="bg1">
                    <a:lumMod val="50000"/>
                  </a:schemeClr>
                </a:solidFill>
              </a:rPr>
              <a:t>Criteria developed or selected by the entity itself</a:t>
            </a:r>
          </a:p>
          <a:p>
            <a:r>
              <a:rPr lang="en-US" dirty="0">
                <a:solidFill>
                  <a:schemeClr val="bg1">
                    <a:lumMod val="50000"/>
                  </a:schemeClr>
                </a:solidFill>
              </a:rPr>
              <a:t>Examples to clarify how a ‘rolling program’ of assurance might work, and to distinguish it from rotation of assurance procedures</a:t>
            </a:r>
          </a:p>
          <a:p>
            <a:r>
              <a:rPr lang="en-US" dirty="0">
                <a:solidFill>
                  <a:schemeClr val="bg1">
                    <a:lumMod val="50000"/>
                  </a:schemeClr>
                </a:solidFill>
              </a:rPr>
              <a:t>Update on IESBA review of  paragraphs on </a:t>
            </a:r>
            <a:r>
              <a:rPr lang="en-US">
                <a:solidFill>
                  <a:schemeClr val="bg1">
                    <a:lumMod val="50000"/>
                  </a:schemeClr>
                </a:solidFill>
              </a:rPr>
              <a:t>independence considerations</a:t>
            </a:r>
            <a:endParaRPr lang="en-US" dirty="0">
              <a:solidFill>
                <a:schemeClr val="bg1">
                  <a:lumMod val="50000"/>
                </a:schemeClr>
              </a:solidFill>
            </a:endParaRPr>
          </a:p>
          <a:p>
            <a:endParaRPr lang="en-US" dirty="0">
              <a:solidFill>
                <a:schemeClr val="bg1">
                  <a:lumMod val="50000"/>
                </a:schemeClr>
              </a:solidFill>
            </a:endParaRPr>
          </a:p>
          <a:p>
            <a:pPr marL="228600" lvl="1" indent="0">
              <a:buNone/>
            </a:pPr>
            <a:endParaRPr lang="en-GB" dirty="0">
              <a:solidFill>
                <a:schemeClr val="bg1">
                  <a:lumMod val="50000"/>
                </a:schemeClr>
              </a:solidFill>
            </a:endParaRP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438480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FFA8-FCFA-4B8A-961F-9FD2244493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06B6197-170C-44B1-B084-E50CE71225D9}"/>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3200" dirty="0"/>
              <a:t>Comments on Chapters 2, 3, 4</a:t>
            </a:r>
          </a:p>
        </p:txBody>
      </p:sp>
      <p:sp>
        <p:nvSpPr>
          <p:cNvPr id="4" name="Subtitle 3">
            <a:extLst>
              <a:ext uri="{FF2B5EF4-FFF2-40B4-BE49-F238E27FC236}">
                <a16:creationId xmlns:a16="http://schemas.microsoft.com/office/drawing/2014/main" id="{0A36CF0B-1EC6-4C44-A8A4-ED53ABECB752}"/>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A551220-EE18-4D7C-A060-F1527EEF862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113877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5: </a:t>
            </a:r>
            <a:r>
              <a:rPr lang="en-US" i="1" dirty="0"/>
              <a:t>Determining the Suitability and Availability of Criteria</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r>
              <a:rPr lang="en-US" dirty="0">
                <a:solidFill>
                  <a:schemeClr val="bg1">
                    <a:lumMod val="50000"/>
                  </a:schemeClr>
                </a:solidFill>
              </a:rPr>
              <a:t>Material has been reordered to earlier in the Guidance to follow the chapter on determining the preconditions</a:t>
            </a:r>
          </a:p>
          <a:p>
            <a:r>
              <a:rPr lang="en-US" dirty="0">
                <a:solidFill>
                  <a:schemeClr val="bg1">
                    <a:lumMod val="50000"/>
                  </a:schemeClr>
                </a:solidFill>
              </a:rPr>
              <a:t>Guid</a:t>
            </a:r>
            <a:r>
              <a:rPr lang="en-US" dirty="0">
                <a:solidFill>
                  <a:srgbClr val="808080"/>
                </a:solidFill>
              </a:rPr>
              <a:t>ance has been updated to:</a:t>
            </a:r>
          </a:p>
          <a:p>
            <a:pPr lvl="1"/>
            <a:r>
              <a:rPr lang="en-US" dirty="0">
                <a:solidFill>
                  <a:schemeClr val="bg1">
                    <a:lumMod val="50000"/>
                  </a:schemeClr>
                </a:solidFill>
              </a:rPr>
              <a:t>Deal with determining the suitability of the criteria during the planning stage of the engagement; and</a:t>
            </a:r>
          </a:p>
          <a:p>
            <a:pPr lvl="1"/>
            <a:r>
              <a:rPr lang="en-US" dirty="0">
                <a:solidFill>
                  <a:schemeClr val="bg1">
                    <a:lumMod val="50000"/>
                  </a:schemeClr>
                </a:solidFill>
              </a:rPr>
              <a:t>Provide guidance </a:t>
            </a:r>
            <a:r>
              <a:rPr lang="en-US" sz="2000" dirty="0">
                <a:solidFill>
                  <a:srgbClr val="808080"/>
                </a:solidFill>
              </a:rPr>
              <a:t>on the considering whether the criteria will be made available</a:t>
            </a:r>
          </a:p>
          <a:p>
            <a:pPr lvl="0"/>
            <a:r>
              <a:rPr lang="en-US" dirty="0">
                <a:solidFill>
                  <a:schemeClr val="bg1">
                    <a:lumMod val="50000"/>
                  </a:schemeClr>
                </a:solidFill>
              </a:rPr>
              <a:t>This chapter and Chapter 6 provide general guidance, respectively, on determining the suitability of the criteria and in understanding the entity’s system of internal control before the particular aspects of these considerations are addressed in relation to the entity’s process to identify reporting topics, covered in Chapter 7</a:t>
            </a:r>
          </a:p>
          <a:p>
            <a:pPr marL="228600" lvl="1" indent="0">
              <a:spcBef>
                <a:spcPts val="1200"/>
              </a:spcBef>
              <a:buNone/>
            </a:pPr>
            <a:endParaRPr lang="en-GB" sz="2000" dirty="0">
              <a:solidFill>
                <a:srgbClr val="808080"/>
              </a:solidFill>
            </a:endParaRP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493468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6: </a:t>
            </a:r>
            <a:r>
              <a:rPr lang="en-US" i="1" dirty="0"/>
              <a:t>Considering the System of Internal Control</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r>
              <a:rPr lang="en-US" dirty="0">
                <a:solidFill>
                  <a:schemeClr val="bg1">
                    <a:lumMod val="50000"/>
                  </a:schemeClr>
                </a:solidFill>
              </a:rPr>
              <a:t>Focuses on providing guidance on the practitioner’s understanding of the entity’s system of internal control during planning an EER assurance engagement</a:t>
            </a:r>
          </a:p>
          <a:p>
            <a:r>
              <a:rPr lang="en-US" dirty="0">
                <a:solidFill>
                  <a:schemeClr val="bg1">
                    <a:lumMod val="50000"/>
                  </a:schemeClr>
                </a:solidFill>
              </a:rPr>
              <a:t>Additional guidance is provided to address considerations when:</a:t>
            </a:r>
          </a:p>
          <a:p>
            <a:pPr lvl="1"/>
            <a:r>
              <a:rPr lang="en-US" dirty="0">
                <a:solidFill>
                  <a:schemeClr val="bg1">
                    <a:lumMod val="50000"/>
                  </a:schemeClr>
                </a:solidFill>
              </a:rPr>
              <a:t>The entity’s system of internal control may still be developing; </a:t>
            </a:r>
          </a:p>
          <a:p>
            <a:pPr lvl="1"/>
            <a:r>
              <a:rPr lang="en-US" dirty="0">
                <a:solidFill>
                  <a:schemeClr val="bg1">
                    <a:lumMod val="50000"/>
                  </a:schemeClr>
                </a:solidFill>
              </a:rPr>
              <a:t>Information is obtained from external sources; and </a:t>
            </a:r>
          </a:p>
          <a:p>
            <a:pPr lvl="1"/>
            <a:r>
              <a:rPr lang="en-US" dirty="0">
                <a:solidFill>
                  <a:schemeClr val="bg1">
                    <a:lumMod val="50000"/>
                  </a:schemeClr>
                </a:solidFill>
              </a:rPr>
              <a:t>An entity uses new technologies to record or process </a:t>
            </a:r>
            <a:r>
              <a:rPr lang="en-US" sz="2000" dirty="0">
                <a:solidFill>
                  <a:schemeClr val="bg1">
                    <a:lumMod val="50000"/>
                  </a:schemeClr>
                </a:solidFill>
              </a:rPr>
              <a:t>the subject matter information </a:t>
            </a:r>
          </a:p>
          <a:p>
            <a:r>
              <a:rPr lang="en-US" dirty="0">
                <a:solidFill>
                  <a:schemeClr val="bg1">
                    <a:lumMod val="50000"/>
                  </a:schemeClr>
                </a:solidFill>
              </a:rPr>
              <a:t>Improved linkage between Chapter 5, this chapter, and Chapter 7 </a:t>
            </a:r>
            <a:r>
              <a:rPr lang="en-US" i="1" dirty="0">
                <a:solidFill>
                  <a:schemeClr val="bg1">
                    <a:lumMod val="50000"/>
                  </a:schemeClr>
                </a:solidFill>
              </a:rPr>
              <a:t>Considering the Entity’s Process to Identify Reporting Topics</a:t>
            </a: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73321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7: </a:t>
            </a:r>
            <a:r>
              <a:rPr lang="en-US" i="1" dirty="0"/>
              <a:t>Considering the Entity’s Process to Identify Reporting Topics</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pPr lvl="0"/>
            <a:r>
              <a:rPr lang="en-US" dirty="0">
                <a:solidFill>
                  <a:schemeClr val="bg1">
                    <a:lumMod val="50000"/>
                  </a:schemeClr>
                </a:solidFill>
              </a:rPr>
              <a:t>Moved to earlier in the guidance to improve the linkage between this chapter and the previous two chapters </a:t>
            </a:r>
          </a:p>
          <a:p>
            <a:pPr lvl="0"/>
            <a:r>
              <a:rPr lang="en-US" dirty="0">
                <a:solidFill>
                  <a:schemeClr val="bg1">
                    <a:lumMod val="50000"/>
                  </a:schemeClr>
                </a:solidFill>
              </a:rPr>
              <a:t>The process described has been renamed ‘The entity’s process to identify reporting topics’ to better reflect the process, which is performed to both develop and apply the criteria </a:t>
            </a:r>
          </a:p>
          <a:p>
            <a:pPr lvl="0"/>
            <a:r>
              <a:rPr lang="en-US" dirty="0">
                <a:solidFill>
                  <a:schemeClr val="bg1">
                    <a:lumMod val="50000"/>
                  </a:schemeClr>
                </a:solidFill>
              </a:rPr>
              <a:t>Clarification that there is not a requirement to review the entity’s process, but obtaining an understanding may provide the practitioner with some evidence as to whether the criteria are suitable</a:t>
            </a:r>
          </a:p>
          <a:p>
            <a:pPr lvl="0"/>
            <a:r>
              <a:rPr lang="en-US" dirty="0">
                <a:solidFill>
                  <a:schemeClr val="bg1">
                    <a:lumMod val="50000"/>
                  </a:schemeClr>
                </a:solidFill>
              </a:rPr>
              <a:t>Clarification that there is not generally a requirement to disclose the entity’s process to identify reporting topics, but:</a:t>
            </a:r>
          </a:p>
          <a:p>
            <a:pPr lvl="1"/>
            <a:r>
              <a:rPr lang="en-US" dirty="0">
                <a:solidFill>
                  <a:schemeClr val="bg1">
                    <a:lumMod val="50000"/>
                  </a:schemeClr>
                </a:solidFill>
              </a:rPr>
              <a:t>Some frameworks may require it; and </a:t>
            </a:r>
          </a:p>
          <a:p>
            <a:pPr lvl="1"/>
            <a:r>
              <a:rPr lang="en-US" dirty="0">
                <a:solidFill>
                  <a:schemeClr val="bg1">
                    <a:lumMod val="50000"/>
                  </a:schemeClr>
                </a:solidFill>
              </a:rPr>
              <a:t>Even when there is no such requirement, users may find it helpful if it were disclosed</a:t>
            </a: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712210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FFA8-FCFA-4B8A-961F-9FD2244493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06B6197-170C-44B1-B084-E50CE71225D9}"/>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3200" dirty="0"/>
              <a:t>Comments on Chapters 5, 6, 7</a:t>
            </a:r>
          </a:p>
        </p:txBody>
      </p:sp>
      <p:sp>
        <p:nvSpPr>
          <p:cNvPr id="4" name="Subtitle 3">
            <a:extLst>
              <a:ext uri="{FF2B5EF4-FFF2-40B4-BE49-F238E27FC236}">
                <a16:creationId xmlns:a16="http://schemas.microsoft.com/office/drawing/2014/main" id="{0A36CF0B-1EC6-4C44-A8A4-ED53ABECB752}"/>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A551220-EE18-4D7C-A060-F1527EEF862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435834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C656-468C-435D-83D9-20B9FADC765C}"/>
              </a:ext>
            </a:extLst>
          </p:cNvPr>
          <p:cNvSpPr>
            <a:spLocks noGrp="1"/>
          </p:cNvSpPr>
          <p:nvPr>
            <p:ph type="title"/>
          </p:nvPr>
        </p:nvSpPr>
        <p:spPr>
          <a:xfrm>
            <a:off x="408372" y="535066"/>
            <a:ext cx="10051495" cy="533400"/>
          </a:xfrm>
        </p:spPr>
        <p:txBody>
          <a:bodyPr/>
          <a:lstStyle/>
          <a:p>
            <a:r>
              <a:rPr lang="en-GB" dirty="0"/>
              <a:t>Chapter 8: </a:t>
            </a:r>
            <a:r>
              <a:rPr lang="en-US" i="1" dirty="0"/>
              <a:t>Using Assertions</a:t>
            </a:r>
            <a:endParaRPr lang="en-GB" dirty="0"/>
          </a:p>
        </p:txBody>
      </p:sp>
      <p:sp>
        <p:nvSpPr>
          <p:cNvPr id="3" name="Content Placeholder 2">
            <a:extLst>
              <a:ext uri="{FF2B5EF4-FFF2-40B4-BE49-F238E27FC236}">
                <a16:creationId xmlns:a16="http://schemas.microsoft.com/office/drawing/2014/main" id="{AC51FA5E-07F1-4D7C-A7CB-2B259274D0F0}"/>
              </a:ext>
            </a:extLst>
          </p:cNvPr>
          <p:cNvSpPr>
            <a:spLocks noGrp="1"/>
          </p:cNvSpPr>
          <p:nvPr>
            <p:ph idx="1"/>
          </p:nvPr>
        </p:nvSpPr>
        <p:spPr>
          <a:xfrm>
            <a:off x="609600" y="1096918"/>
            <a:ext cx="10972800" cy="5226016"/>
          </a:xfrm>
        </p:spPr>
        <p:txBody>
          <a:bodyPr/>
          <a:lstStyle/>
          <a:p>
            <a:pPr lvl="0"/>
            <a:endParaRPr lang="en-US" dirty="0">
              <a:solidFill>
                <a:schemeClr val="bg1">
                  <a:lumMod val="50000"/>
                </a:schemeClr>
              </a:solidFill>
            </a:endParaRPr>
          </a:p>
          <a:p>
            <a:pPr marL="285750" indent="-285750">
              <a:buFont typeface="Arial" panose="020B0604020202020204" pitchFamily="34" charset="0"/>
              <a:buChar char="•"/>
            </a:pPr>
            <a:r>
              <a:rPr lang="en-US" dirty="0">
                <a:solidFill>
                  <a:srgbClr val="808080"/>
                </a:solidFill>
              </a:rPr>
              <a:t>The guidance has been simplified and enhanced to more clearly explain how categories of assertions may be used to identify the types of potential misstatements that might arise, by reference to the categories of assertions included in the ISAs and ISAE 3410 </a:t>
            </a:r>
          </a:p>
          <a:p>
            <a:pPr marL="285750" indent="-285750">
              <a:buFont typeface="Arial" panose="020B0604020202020204" pitchFamily="34" charset="0"/>
              <a:buChar char="•"/>
            </a:pPr>
            <a:r>
              <a:rPr lang="en-US" dirty="0">
                <a:solidFill>
                  <a:srgbClr val="808080"/>
                </a:solidFill>
              </a:rPr>
              <a:t>The TF believes the guidance needs to be somewhat theoretical in explaining this, but it is essential explanation that should not be moved to Supplement A</a:t>
            </a:r>
          </a:p>
          <a:p>
            <a:pPr marL="285750" indent="-285750">
              <a:buFont typeface="Arial" panose="020B0604020202020204" pitchFamily="34" charset="0"/>
              <a:buChar char="•"/>
            </a:pPr>
            <a:r>
              <a:rPr lang="en-US" dirty="0">
                <a:solidFill>
                  <a:srgbClr val="808080"/>
                </a:solidFill>
              </a:rPr>
              <a:t>Examples added to illustrate the relationship between categories of assertions and potential types of misstatements</a:t>
            </a:r>
          </a:p>
          <a:p>
            <a:pPr marL="285750" indent="-285750">
              <a:buFont typeface="Arial" panose="020B0604020202020204" pitchFamily="34" charset="0"/>
              <a:buChar char="•"/>
            </a:pPr>
            <a:r>
              <a:rPr lang="en-US" dirty="0">
                <a:solidFill>
                  <a:srgbClr val="808080"/>
                </a:solidFill>
              </a:rPr>
              <a:t>Longer example on using assertions under development for Supplement B</a:t>
            </a:r>
          </a:p>
          <a:p>
            <a:pPr lvl="1"/>
            <a:endParaRPr lang="en-GB" dirty="0">
              <a:solidFill>
                <a:schemeClr val="bg1">
                  <a:lumMod val="50000"/>
                </a:schemeClr>
              </a:solidFill>
            </a:endParaRPr>
          </a:p>
        </p:txBody>
      </p:sp>
      <p:sp>
        <p:nvSpPr>
          <p:cNvPr id="4" name="Subtitle 3">
            <a:extLst>
              <a:ext uri="{FF2B5EF4-FFF2-40B4-BE49-F238E27FC236}">
                <a16:creationId xmlns:a16="http://schemas.microsoft.com/office/drawing/2014/main" id="{7E17404B-B730-4936-B508-15AE9BA4267F}"/>
              </a:ext>
            </a:extLst>
          </p:cNvPr>
          <p:cNvSpPr>
            <a:spLocks noGrp="1"/>
          </p:cNvSpPr>
          <p:nvPr>
            <p:ph type="subTitle" idx="10"/>
          </p:nvPr>
        </p:nvSpPr>
        <p:spPr/>
        <p:txBody>
          <a:bodyPr/>
          <a:lstStyle/>
          <a:p>
            <a:endParaRPr lang="en-GB" dirty="0"/>
          </a:p>
        </p:txBody>
      </p:sp>
      <p:sp>
        <p:nvSpPr>
          <p:cNvPr id="5" name="Slide Number Placeholder 4">
            <a:extLst>
              <a:ext uri="{FF2B5EF4-FFF2-40B4-BE49-F238E27FC236}">
                <a16:creationId xmlns:a16="http://schemas.microsoft.com/office/drawing/2014/main" id="{0C6AB1E5-FAEE-4F42-A2FE-917AF191B41E}"/>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724550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A251-5412-4424-80F0-45F398F94FE5}"/>
              </a:ext>
            </a:extLst>
          </p:cNvPr>
          <p:cNvSpPr>
            <a:spLocks noGrp="1"/>
          </p:cNvSpPr>
          <p:nvPr>
            <p:ph type="title"/>
          </p:nvPr>
        </p:nvSpPr>
        <p:spPr/>
        <p:txBody>
          <a:bodyPr/>
          <a:lstStyle/>
          <a:p>
            <a:r>
              <a:rPr lang="en-US" dirty="0"/>
              <a:t>Chapter 9: </a:t>
            </a:r>
            <a:r>
              <a:rPr lang="en-US" i="1" dirty="0"/>
              <a:t>Performance Materiality</a:t>
            </a:r>
            <a:endParaRPr lang="en-US" dirty="0"/>
          </a:p>
        </p:txBody>
      </p:sp>
      <p:sp>
        <p:nvSpPr>
          <p:cNvPr id="3" name="Content Placeholder 2">
            <a:extLst>
              <a:ext uri="{FF2B5EF4-FFF2-40B4-BE49-F238E27FC236}">
                <a16:creationId xmlns:a16="http://schemas.microsoft.com/office/drawing/2014/main" id="{5C51CF4D-1514-4C39-BD17-873C091B88F2}"/>
              </a:ext>
            </a:extLst>
          </p:cNvPr>
          <p:cNvSpPr>
            <a:spLocks noGrp="1"/>
          </p:cNvSpPr>
          <p:nvPr>
            <p:ph idx="1"/>
          </p:nvPr>
        </p:nvSpPr>
        <p:spPr/>
        <p:txBody>
          <a:bodyPr/>
          <a:lstStyle/>
          <a:p>
            <a:pPr lvl="0"/>
            <a:r>
              <a:rPr lang="en-US" dirty="0">
                <a:solidFill>
                  <a:srgbClr val="808080"/>
                </a:solidFill>
              </a:rPr>
              <a:t>Agenda Item 5-A.1 Section I includes proposed guidance to be included in Chapter 9 of the non-authoritative Guidance to cover:</a:t>
            </a:r>
          </a:p>
          <a:p>
            <a:pPr lvl="1"/>
            <a:r>
              <a:rPr lang="en-US" dirty="0">
                <a:solidFill>
                  <a:srgbClr val="808080"/>
                </a:solidFill>
              </a:rPr>
              <a:t>Nature of aggregation risk and how it arises in designing and performing procedures</a:t>
            </a:r>
          </a:p>
          <a:p>
            <a:pPr lvl="1"/>
            <a:r>
              <a:rPr lang="en-US" dirty="0">
                <a:solidFill>
                  <a:srgbClr val="808080"/>
                </a:solidFill>
              </a:rPr>
              <a:t>Mitigating aggregation risk in designing and performing assurance procedures</a:t>
            </a:r>
          </a:p>
          <a:p>
            <a:r>
              <a:rPr lang="en-GB" dirty="0">
                <a:solidFill>
                  <a:srgbClr val="808080"/>
                </a:solidFill>
              </a:rPr>
              <a:t>Additional terminology used, and proposed to be included in Appendix 1 to the Guidance, is set out in Appendix 1 to </a:t>
            </a:r>
            <a:r>
              <a:rPr lang="en-US" dirty="0">
                <a:solidFill>
                  <a:srgbClr val="808080"/>
                </a:solidFill>
              </a:rPr>
              <a:t>Agenda Item 5-A.1 </a:t>
            </a:r>
          </a:p>
          <a:p>
            <a:r>
              <a:rPr lang="en-US" dirty="0">
                <a:solidFill>
                  <a:srgbClr val="808080"/>
                </a:solidFill>
              </a:rPr>
              <a:t>Section II of Agenda Item 5-A.1 is proposed additional material to be included in Supplement A; the Board is not asked to comment during the meeting, but detailed written comments after the meeting are welcomed</a:t>
            </a:r>
          </a:p>
          <a:p>
            <a:pPr marL="0" indent="0">
              <a:buNone/>
            </a:pPr>
            <a:endParaRPr lang="en-US" dirty="0"/>
          </a:p>
          <a:p>
            <a:pPr lvl="0"/>
            <a:endParaRPr lang="en-US" dirty="0">
              <a:solidFill>
                <a:srgbClr val="808080"/>
              </a:solidFill>
            </a:endParaRPr>
          </a:p>
          <a:p>
            <a:pPr lvl="0"/>
            <a:endParaRPr lang="en-US" dirty="0">
              <a:solidFill>
                <a:srgbClr val="808080"/>
              </a:solidFill>
            </a:endParaRPr>
          </a:p>
          <a:p>
            <a:pPr lvl="0"/>
            <a:endParaRPr lang="en-US" dirty="0">
              <a:solidFill>
                <a:srgbClr val="808080"/>
              </a:solidFill>
            </a:endParaRPr>
          </a:p>
        </p:txBody>
      </p:sp>
      <p:sp>
        <p:nvSpPr>
          <p:cNvPr id="4" name="Subtitle 3">
            <a:extLst>
              <a:ext uri="{FF2B5EF4-FFF2-40B4-BE49-F238E27FC236}">
                <a16:creationId xmlns:a16="http://schemas.microsoft.com/office/drawing/2014/main" id="{BE13DE99-3BB4-473A-B551-77963FDA71B4}"/>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4BD09211-EAAA-4E61-8474-D3E52DD5ACC6}"/>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151027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A251-5412-4424-80F0-45F398F94FE5}"/>
              </a:ext>
            </a:extLst>
          </p:cNvPr>
          <p:cNvSpPr>
            <a:spLocks noGrp="1"/>
          </p:cNvSpPr>
          <p:nvPr>
            <p:ph type="title"/>
          </p:nvPr>
        </p:nvSpPr>
        <p:spPr/>
        <p:txBody>
          <a:bodyPr/>
          <a:lstStyle/>
          <a:p>
            <a:r>
              <a:rPr lang="en-US" dirty="0"/>
              <a:t>Chapter 9: </a:t>
            </a:r>
            <a:r>
              <a:rPr lang="en-US" i="1" dirty="0"/>
              <a:t>Obtaining Evidence</a:t>
            </a:r>
            <a:endParaRPr lang="en-US" dirty="0"/>
          </a:p>
        </p:txBody>
      </p:sp>
      <p:sp>
        <p:nvSpPr>
          <p:cNvPr id="3" name="Content Placeholder 2">
            <a:extLst>
              <a:ext uri="{FF2B5EF4-FFF2-40B4-BE49-F238E27FC236}">
                <a16:creationId xmlns:a16="http://schemas.microsoft.com/office/drawing/2014/main" id="{5C51CF4D-1514-4C39-BD17-873C091B88F2}"/>
              </a:ext>
            </a:extLst>
          </p:cNvPr>
          <p:cNvSpPr>
            <a:spLocks noGrp="1"/>
          </p:cNvSpPr>
          <p:nvPr>
            <p:ph idx="1"/>
          </p:nvPr>
        </p:nvSpPr>
        <p:spPr/>
        <p:txBody>
          <a:bodyPr/>
          <a:lstStyle/>
          <a:p>
            <a:r>
              <a:rPr lang="en-US" dirty="0">
                <a:solidFill>
                  <a:srgbClr val="808080"/>
                </a:solidFill>
              </a:rPr>
              <a:t>The thought process is now presented as three separate parts:</a:t>
            </a:r>
          </a:p>
          <a:p>
            <a:pPr lvl="1"/>
            <a:r>
              <a:rPr lang="en-US" dirty="0">
                <a:solidFill>
                  <a:srgbClr val="808080"/>
                </a:solidFill>
              </a:rPr>
              <a:t>Considerations when determining what evidence is needed and available;</a:t>
            </a:r>
          </a:p>
          <a:p>
            <a:pPr lvl="1"/>
            <a:r>
              <a:rPr lang="en-US" dirty="0">
                <a:solidFill>
                  <a:srgbClr val="808080"/>
                </a:solidFill>
              </a:rPr>
              <a:t>Questions the practitioner may ask when designing and performing procedures; and</a:t>
            </a:r>
          </a:p>
          <a:p>
            <a:pPr lvl="1"/>
            <a:r>
              <a:rPr lang="en-US" dirty="0">
                <a:solidFill>
                  <a:srgbClr val="808080"/>
                </a:solidFill>
              </a:rPr>
              <a:t>Considerations when evaluating the sufficiency and appropriateness of evidence obtained</a:t>
            </a:r>
          </a:p>
          <a:p>
            <a:r>
              <a:rPr lang="en-US" dirty="0">
                <a:solidFill>
                  <a:srgbClr val="808080"/>
                </a:solidFill>
              </a:rPr>
              <a:t>This chapter to include guidance on performance materiality (presented as Agenda Item 5-A.1 and on previous slide)</a:t>
            </a:r>
          </a:p>
          <a:p>
            <a:r>
              <a:rPr lang="en-US" dirty="0">
                <a:solidFill>
                  <a:srgbClr val="808080"/>
                </a:solidFill>
              </a:rPr>
              <a:t>Guidance on ‘other information’ has been moved to Chapter 12</a:t>
            </a:r>
          </a:p>
          <a:p>
            <a:pPr marL="0" indent="0">
              <a:buNone/>
            </a:pPr>
            <a:endParaRPr lang="en-US" dirty="0"/>
          </a:p>
          <a:p>
            <a:pPr lvl="0"/>
            <a:endParaRPr lang="en-US" dirty="0">
              <a:solidFill>
                <a:srgbClr val="808080"/>
              </a:solidFill>
            </a:endParaRPr>
          </a:p>
          <a:p>
            <a:pPr lvl="0"/>
            <a:endParaRPr lang="en-US" dirty="0">
              <a:solidFill>
                <a:srgbClr val="808080"/>
              </a:solidFill>
            </a:endParaRPr>
          </a:p>
          <a:p>
            <a:pPr lvl="0"/>
            <a:endParaRPr lang="en-US" dirty="0">
              <a:solidFill>
                <a:srgbClr val="808080"/>
              </a:solidFill>
            </a:endParaRPr>
          </a:p>
        </p:txBody>
      </p:sp>
      <p:sp>
        <p:nvSpPr>
          <p:cNvPr id="4" name="Subtitle 3">
            <a:extLst>
              <a:ext uri="{FF2B5EF4-FFF2-40B4-BE49-F238E27FC236}">
                <a16:creationId xmlns:a16="http://schemas.microsoft.com/office/drawing/2014/main" id="{BE13DE99-3BB4-473A-B551-77963FDA71B4}"/>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4BD09211-EAAA-4E61-8474-D3E52DD5ACC6}"/>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310331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A251-5412-4424-80F0-45F398F94FE5}"/>
              </a:ext>
            </a:extLst>
          </p:cNvPr>
          <p:cNvSpPr>
            <a:spLocks noGrp="1"/>
          </p:cNvSpPr>
          <p:nvPr>
            <p:ph type="title"/>
          </p:nvPr>
        </p:nvSpPr>
        <p:spPr/>
        <p:txBody>
          <a:bodyPr/>
          <a:lstStyle/>
          <a:p>
            <a:r>
              <a:rPr lang="en-GB" dirty="0"/>
              <a:t>Chapter 10: </a:t>
            </a:r>
            <a:r>
              <a:rPr lang="en-US" i="1" dirty="0"/>
              <a:t>Considering the Materiality of Misstatements</a:t>
            </a:r>
            <a:endParaRPr lang="en-US" dirty="0"/>
          </a:p>
        </p:txBody>
      </p:sp>
      <p:sp>
        <p:nvSpPr>
          <p:cNvPr id="3" name="Content Placeholder 2">
            <a:extLst>
              <a:ext uri="{FF2B5EF4-FFF2-40B4-BE49-F238E27FC236}">
                <a16:creationId xmlns:a16="http://schemas.microsoft.com/office/drawing/2014/main" id="{5C51CF4D-1514-4C39-BD17-873C091B88F2}"/>
              </a:ext>
            </a:extLst>
          </p:cNvPr>
          <p:cNvSpPr>
            <a:spLocks noGrp="1"/>
          </p:cNvSpPr>
          <p:nvPr>
            <p:ph idx="1"/>
          </p:nvPr>
        </p:nvSpPr>
        <p:spPr/>
        <p:txBody>
          <a:bodyPr/>
          <a:lstStyle/>
          <a:p>
            <a:endParaRPr lang="en-US" dirty="0">
              <a:solidFill>
                <a:srgbClr val="808080"/>
              </a:solidFill>
            </a:endParaRPr>
          </a:p>
          <a:p>
            <a:pPr marL="285750" indent="-285750">
              <a:buFont typeface="Arial"/>
              <a:buChar char="•"/>
            </a:pPr>
            <a:r>
              <a:rPr lang="en-US" dirty="0">
                <a:solidFill>
                  <a:srgbClr val="808080"/>
                </a:solidFill>
              </a:rPr>
              <a:t>Reordered to earlier in the document as the material in this chapter provides guidance on considering the materiality of misstatements in a general context</a:t>
            </a:r>
          </a:p>
          <a:p>
            <a:pPr marL="285750" indent="-285750">
              <a:buFont typeface="Arial"/>
              <a:buChar char="•"/>
            </a:pPr>
            <a:r>
              <a:rPr lang="en-US" dirty="0">
                <a:solidFill>
                  <a:srgbClr val="808080"/>
                </a:solidFill>
              </a:rPr>
              <a:t>Additional guidance given on:</a:t>
            </a:r>
          </a:p>
          <a:p>
            <a:pPr lvl="1"/>
            <a:r>
              <a:rPr lang="en-US" dirty="0">
                <a:solidFill>
                  <a:srgbClr val="808080"/>
                </a:solidFill>
              </a:rPr>
              <a:t>The meaning of ‘clearly trivial’; and</a:t>
            </a:r>
          </a:p>
          <a:p>
            <a:pPr lvl="1"/>
            <a:r>
              <a:rPr lang="en-US" dirty="0">
                <a:solidFill>
                  <a:srgbClr val="808080"/>
                </a:solidFill>
              </a:rPr>
              <a:t>How to evaluate misstatements when the scope of an assurance engagement includes a number of indicators</a:t>
            </a:r>
            <a:r>
              <a:rPr lang="en-US" sz="2000" dirty="0">
                <a:solidFill>
                  <a:srgbClr val="808080"/>
                </a:solidFill>
              </a:rPr>
              <a:t>, each relating to a different underlying subject matter</a:t>
            </a:r>
          </a:p>
          <a:p>
            <a:pPr marL="285750" indent="-285750">
              <a:buFont typeface="Arial"/>
              <a:buChar char="•"/>
            </a:pPr>
            <a:r>
              <a:rPr lang="en-US" dirty="0">
                <a:solidFill>
                  <a:srgbClr val="808080"/>
                </a:solidFill>
              </a:rPr>
              <a:t>Linkage is made from this chapter to Chapter 12, where the aggregation of misstatements in the context of qualitative subject matter information is discussed</a:t>
            </a:r>
          </a:p>
          <a:p>
            <a:pPr marL="0" indent="0">
              <a:buFont typeface="Arial"/>
              <a:buNone/>
            </a:pPr>
            <a:endParaRPr lang="en-US" dirty="0">
              <a:solidFill>
                <a:srgbClr val="808080"/>
              </a:solidFill>
            </a:endParaRPr>
          </a:p>
          <a:p>
            <a:pPr lvl="0"/>
            <a:endParaRPr lang="en-US" dirty="0">
              <a:solidFill>
                <a:srgbClr val="808080"/>
              </a:solidFill>
            </a:endParaRPr>
          </a:p>
          <a:p>
            <a:pPr lvl="0"/>
            <a:endParaRPr lang="en-US" dirty="0">
              <a:solidFill>
                <a:srgbClr val="808080"/>
              </a:solidFill>
            </a:endParaRPr>
          </a:p>
          <a:p>
            <a:pPr lvl="0"/>
            <a:endParaRPr lang="en-US" dirty="0">
              <a:solidFill>
                <a:srgbClr val="808080"/>
              </a:solidFill>
            </a:endParaRPr>
          </a:p>
        </p:txBody>
      </p:sp>
      <p:sp>
        <p:nvSpPr>
          <p:cNvPr id="4" name="Subtitle 3">
            <a:extLst>
              <a:ext uri="{FF2B5EF4-FFF2-40B4-BE49-F238E27FC236}">
                <a16:creationId xmlns:a16="http://schemas.microsoft.com/office/drawing/2014/main" id="{BE13DE99-3BB4-473A-B551-77963FDA71B4}"/>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4BD09211-EAAA-4E61-8474-D3E52DD5ACC6}"/>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64413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FFA8-FCFA-4B8A-961F-9FD2244493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06B6197-170C-44B1-B084-E50CE71225D9}"/>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3200" dirty="0"/>
              <a:t>Comments on Chapters 8, 9 (including performance materiality), 10</a:t>
            </a:r>
          </a:p>
        </p:txBody>
      </p:sp>
      <p:sp>
        <p:nvSpPr>
          <p:cNvPr id="4" name="Subtitle 3">
            <a:extLst>
              <a:ext uri="{FF2B5EF4-FFF2-40B4-BE49-F238E27FC236}">
                <a16:creationId xmlns:a16="http://schemas.microsoft.com/office/drawing/2014/main" id="{0A36CF0B-1EC6-4C44-A8A4-ED53ABECB752}"/>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A551220-EE18-4D7C-A060-F1527EEF862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390658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A251-5412-4424-80F0-45F398F94FE5}"/>
              </a:ext>
            </a:extLst>
          </p:cNvPr>
          <p:cNvSpPr>
            <a:spLocks noGrp="1"/>
          </p:cNvSpPr>
          <p:nvPr>
            <p:ph type="title"/>
          </p:nvPr>
        </p:nvSpPr>
        <p:spPr/>
        <p:txBody>
          <a:bodyPr/>
          <a:lstStyle/>
          <a:p>
            <a:r>
              <a:rPr lang="en-GB" dirty="0"/>
              <a:t>Chapter 11: </a:t>
            </a:r>
            <a:r>
              <a:rPr lang="en-US" i="1" dirty="0"/>
              <a:t>Preparing the Assurance Report</a:t>
            </a:r>
            <a:endParaRPr lang="en-US" dirty="0"/>
          </a:p>
        </p:txBody>
      </p:sp>
      <p:sp>
        <p:nvSpPr>
          <p:cNvPr id="3" name="Content Placeholder 2">
            <a:extLst>
              <a:ext uri="{FF2B5EF4-FFF2-40B4-BE49-F238E27FC236}">
                <a16:creationId xmlns:a16="http://schemas.microsoft.com/office/drawing/2014/main" id="{5C51CF4D-1514-4C39-BD17-873C091B88F2}"/>
              </a:ext>
            </a:extLst>
          </p:cNvPr>
          <p:cNvSpPr>
            <a:spLocks noGrp="1"/>
          </p:cNvSpPr>
          <p:nvPr>
            <p:ph idx="1"/>
          </p:nvPr>
        </p:nvSpPr>
        <p:spPr/>
        <p:txBody>
          <a:bodyPr/>
          <a:lstStyle/>
          <a:p>
            <a:r>
              <a:rPr lang="en-US" dirty="0">
                <a:solidFill>
                  <a:srgbClr val="808080"/>
                </a:solidFill>
              </a:rPr>
              <a:t>Reordered to earlier in the document </a:t>
            </a:r>
          </a:p>
          <a:p>
            <a:pPr marL="285750" lvl="0" indent="-285750">
              <a:buFont typeface="Arial"/>
              <a:buChar char="•"/>
            </a:pPr>
            <a:r>
              <a:rPr lang="en-US" dirty="0">
                <a:solidFill>
                  <a:srgbClr val="808080"/>
                </a:solidFill>
              </a:rPr>
              <a:t>Additional examples included to illustrate how a practitioner may communicate effectively in the assurance report when:</a:t>
            </a:r>
          </a:p>
          <a:p>
            <a:pPr lvl="1"/>
            <a:r>
              <a:rPr lang="en-US" dirty="0">
                <a:solidFill>
                  <a:srgbClr val="808080"/>
                </a:solidFill>
              </a:rPr>
              <a:t>Multiple reporting frameworks have been used by the entity to prepare the EER subject matter information; </a:t>
            </a:r>
          </a:p>
          <a:p>
            <a:pPr lvl="1"/>
            <a:r>
              <a:rPr lang="en-US" dirty="0">
                <a:solidFill>
                  <a:srgbClr val="808080"/>
                </a:solidFill>
              </a:rPr>
              <a:t>Different conclusions (limited assurance or reasonable assurance) are given on different aspects of the EER subject matter information in one report; and when</a:t>
            </a:r>
          </a:p>
          <a:p>
            <a:pPr lvl="1"/>
            <a:r>
              <a:rPr lang="en-US" dirty="0">
                <a:solidFill>
                  <a:srgbClr val="808080"/>
                </a:solidFill>
              </a:rPr>
              <a:t>Practitioners might be performing the engagement under ISAE 3000 (Revised) and another assurance standard</a:t>
            </a:r>
          </a:p>
          <a:p>
            <a:pPr marL="0" indent="0">
              <a:buFont typeface="Arial"/>
              <a:buNone/>
            </a:pPr>
            <a:endParaRPr lang="en-US" dirty="0">
              <a:solidFill>
                <a:srgbClr val="808080"/>
              </a:solidFill>
            </a:endParaRPr>
          </a:p>
          <a:p>
            <a:pPr lvl="0"/>
            <a:endParaRPr lang="en-US" dirty="0">
              <a:solidFill>
                <a:srgbClr val="808080"/>
              </a:solidFill>
            </a:endParaRPr>
          </a:p>
          <a:p>
            <a:pPr lvl="0"/>
            <a:endParaRPr lang="en-US" dirty="0">
              <a:solidFill>
                <a:srgbClr val="808080"/>
              </a:solidFill>
            </a:endParaRPr>
          </a:p>
          <a:p>
            <a:pPr lvl="0"/>
            <a:endParaRPr lang="en-US" dirty="0">
              <a:solidFill>
                <a:srgbClr val="808080"/>
              </a:solidFill>
            </a:endParaRPr>
          </a:p>
        </p:txBody>
      </p:sp>
      <p:sp>
        <p:nvSpPr>
          <p:cNvPr id="4" name="Subtitle 3">
            <a:extLst>
              <a:ext uri="{FF2B5EF4-FFF2-40B4-BE49-F238E27FC236}">
                <a16:creationId xmlns:a16="http://schemas.microsoft.com/office/drawing/2014/main" id="{BE13DE99-3BB4-473A-B551-77963FDA71B4}"/>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4BD09211-EAAA-4E61-8474-D3E52DD5ACC6}"/>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312356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A251-5412-4424-80F0-45F398F94FE5}"/>
              </a:ext>
            </a:extLst>
          </p:cNvPr>
          <p:cNvSpPr>
            <a:spLocks noGrp="1"/>
          </p:cNvSpPr>
          <p:nvPr>
            <p:ph type="title"/>
          </p:nvPr>
        </p:nvSpPr>
        <p:spPr/>
        <p:txBody>
          <a:bodyPr/>
          <a:lstStyle/>
          <a:p>
            <a:r>
              <a:rPr lang="en-GB" dirty="0"/>
              <a:t>Chapter 12: </a:t>
            </a:r>
            <a:r>
              <a:rPr lang="en-US" i="1" dirty="0"/>
              <a:t>Addressing Qualitative EER Information</a:t>
            </a:r>
            <a:endParaRPr lang="en-US" dirty="0"/>
          </a:p>
        </p:txBody>
      </p:sp>
      <p:sp>
        <p:nvSpPr>
          <p:cNvPr id="3" name="Content Placeholder 2">
            <a:extLst>
              <a:ext uri="{FF2B5EF4-FFF2-40B4-BE49-F238E27FC236}">
                <a16:creationId xmlns:a16="http://schemas.microsoft.com/office/drawing/2014/main" id="{5C51CF4D-1514-4C39-BD17-873C091B88F2}"/>
              </a:ext>
            </a:extLst>
          </p:cNvPr>
          <p:cNvSpPr>
            <a:spLocks noGrp="1"/>
          </p:cNvSpPr>
          <p:nvPr>
            <p:ph idx="1"/>
          </p:nvPr>
        </p:nvSpPr>
        <p:spPr>
          <a:xfrm>
            <a:off x="140970" y="1543013"/>
            <a:ext cx="10972800" cy="4629187"/>
          </a:xfrm>
        </p:spPr>
        <p:txBody>
          <a:bodyPr/>
          <a:lstStyle/>
          <a:p>
            <a:r>
              <a:rPr lang="en-US" dirty="0">
                <a:solidFill>
                  <a:srgbClr val="808080"/>
                </a:solidFill>
              </a:rPr>
              <a:t>Reordered to later in the Guidance because chapter covers more than obtaining evidence, and includes:</a:t>
            </a:r>
          </a:p>
          <a:p>
            <a:pPr lvl="1"/>
            <a:r>
              <a:rPr lang="en-US" dirty="0">
                <a:solidFill>
                  <a:srgbClr val="808080"/>
                </a:solidFill>
              </a:rPr>
              <a:t>determining the suitability of criteria;</a:t>
            </a:r>
          </a:p>
          <a:p>
            <a:pPr lvl="1"/>
            <a:r>
              <a:rPr lang="en-US" dirty="0">
                <a:solidFill>
                  <a:srgbClr val="808080"/>
                </a:solidFill>
              </a:rPr>
              <a:t>evaluating misstatements; and </a:t>
            </a:r>
          </a:p>
          <a:p>
            <a:pPr lvl="1"/>
            <a:r>
              <a:rPr lang="en-US" dirty="0">
                <a:solidFill>
                  <a:srgbClr val="808080"/>
                </a:solidFill>
              </a:rPr>
              <a:t>assurance report considerations</a:t>
            </a:r>
          </a:p>
          <a:p>
            <a:pPr marL="285750" indent="-285750">
              <a:buFont typeface="Arial" panose="020B0604020202020204" pitchFamily="34" charset="0"/>
              <a:buChar char="•"/>
            </a:pPr>
            <a:r>
              <a:rPr lang="en-US" dirty="0">
                <a:solidFill>
                  <a:srgbClr val="808080"/>
                </a:solidFill>
              </a:rPr>
              <a:t>Title amended accordingly, and to better reflect that the information being addressed is subject matter information that cannot be expressed in quantified terms, which is clarified in this chapter</a:t>
            </a:r>
          </a:p>
          <a:p>
            <a:pPr marL="285750" indent="-285750">
              <a:buFont typeface="Arial" panose="020B0604020202020204" pitchFamily="34" charset="0"/>
              <a:buChar char="•"/>
            </a:pPr>
            <a:r>
              <a:rPr lang="en-US" dirty="0">
                <a:solidFill>
                  <a:srgbClr val="808080"/>
                </a:solidFill>
              </a:rPr>
              <a:t>The Guidance clarifies what is meant by ‘other information’ and how it is treated when it is included in an EER report </a:t>
            </a:r>
          </a:p>
          <a:p>
            <a:pPr marL="285750" indent="-285750">
              <a:buFont typeface="Arial" panose="020B0604020202020204" pitchFamily="34" charset="0"/>
              <a:buChar char="•"/>
            </a:pPr>
            <a:r>
              <a:rPr lang="en-US" dirty="0">
                <a:solidFill>
                  <a:srgbClr val="808080"/>
                </a:solidFill>
              </a:rPr>
              <a:t>The long example of how ‘other information’ might be addressed has been moved to Supplement B</a:t>
            </a:r>
          </a:p>
          <a:p>
            <a:pPr marL="0" indent="0">
              <a:buFont typeface="Arial"/>
              <a:buNone/>
            </a:pPr>
            <a:endParaRPr lang="en-US" dirty="0">
              <a:solidFill>
                <a:srgbClr val="808080"/>
              </a:solidFill>
            </a:endParaRPr>
          </a:p>
          <a:p>
            <a:pPr lvl="0"/>
            <a:endParaRPr lang="en-US" dirty="0">
              <a:solidFill>
                <a:srgbClr val="808080"/>
              </a:solidFill>
            </a:endParaRPr>
          </a:p>
          <a:p>
            <a:pPr lvl="0"/>
            <a:endParaRPr lang="en-US" dirty="0">
              <a:solidFill>
                <a:srgbClr val="808080"/>
              </a:solidFill>
            </a:endParaRPr>
          </a:p>
          <a:p>
            <a:pPr lvl="0"/>
            <a:endParaRPr lang="en-US" dirty="0">
              <a:solidFill>
                <a:srgbClr val="808080"/>
              </a:solidFill>
            </a:endParaRPr>
          </a:p>
        </p:txBody>
      </p:sp>
      <p:sp>
        <p:nvSpPr>
          <p:cNvPr id="4" name="Subtitle 3">
            <a:extLst>
              <a:ext uri="{FF2B5EF4-FFF2-40B4-BE49-F238E27FC236}">
                <a16:creationId xmlns:a16="http://schemas.microsoft.com/office/drawing/2014/main" id="{BE13DE99-3BB4-473A-B551-77963FDA71B4}"/>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4BD09211-EAAA-4E61-8474-D3E52DD5ACC6}"/>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328787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A251-5412-4424-80F0-45F398F94FE5}"/>
              </a:ext>
            </a:extLst>
          </p:cNvPr>
          <p:cNvSpPr>
            <a:spLocks noGrp="1"/>
          </p:cNvSpPr>
          <p:nvPr>
            <p:ph type="title"/>
          </p:nvPr>
        </p:nvSpPr>
        <p:spPr/>
        <p:txBody>
          <a:bodyPr/>
          <a:lstStyle/>
          <a:p>
            <a:r>
              <a:rPr lang="en-GB" dirty="0"/>
              <a:t>Chapter 13: </a:t>
            </a:r>
            <a:r>
              <a:rPr lang="en-US" i="1" dirty="0"/>
              <a:t>Addressing Future-Orientated EER Information</a:t>
            </a:r>
            <a:endParaRPr lang="en-US" dirty="0"/>
          </a:p>
        </p:txBody>
      </p:sp>
      <p:sp>
        <p:nvSpPr>
          <p:cNvPr id="3" name="Content Placeholder 2">
            <a:extLst>
              <a:ext uri="{FF2B5EF4-FFF2-40B4-BE49-F238E27FC236}">
                <a16:creationId xmlns:a16="http://schemas.microsoft.com/office/drawing/2014/main" id="{5C51CF4D-1514-4C39-BD17-873C091B88F2}"/>
              </a:ext>
            </a:extLst>
          </p:cNvPr>
          <p:cNvSpPr>
            <a:spLocks noGrp="1"/>
          </p:cNvSpPr>
          <p:nvPr>
            <p:ph idx="1"/>
          </p:nvPr>
        </p:nvSpPr>
        <p:spPr>
          <a:xfrm>
            <a:off x="140970" y="1543013"/>
            <a:ext cx="10972800" cy="4629187"/>
          </a:xfrm>
        </p:spPr>
        <p:txBody>
          <a:bodyPr/>
          <a:lstStyle/>
          <a:p>
            <a:pPr marL="285750" indent="-285750">
              <a:buFont typeface="Arial" panose="020B0604020202020204" pitchFamily="34" charset="0"/>
              <a:buChar char="•"/>
            </a:pPr>
            <a:r>
              <a:rPr lang="en-US" dirty="0">
                <a:solidFill>
                  <a:srgbClr val="808080"/>
                </a:solidFill>
              </a:rPr>
              <a:t>As for Chapter 12, this chapter re-ordered to later in the Guidance because chapter covers more than obtaining evidence, and includes:</a:t>
            </a:r>
          </a:p>
          <a:p>
            <a:pPr lvl="1"/>
            <a:r>
              <a:rPr lang="en-US" dirty="0">
                <a:solidFill>
                  <a:srgbClr val="808080"/>
                </a:solidFill>
              </a:rPr>
              <a:t>determining the suitability of criteria;</a:t>
            </a:r>
          </a:p>
          <a:p>
            <a:pPr lvl="1"/>
            <a:r>
              <a:rPr lang="en-US" dirty="0">
                <a:solidFill>
                  <a:srgbClr val="808080"/>
                </a:solidFill>
              </a:rPr>
              <a:t>evaluating misstatements; and </a:t>
            </a:r>
          </a:p>
          <a:p>
            <a:pPr lvl="1"/>
            <a:r>
              <a:rPr lang="en-US" dirty="0">
                <a:solidFill>
                  <a:srgbClr val="808080"/>
                </a:solidFill>
              </a:rPr>
              <a:t>assurance report considerations</a:t>
            </a:r>
          </a:p>
          <a:p>
            <a:pPr marL="285750" indent="-285750">
              <a:buFont typeface="Arial" panose="020B0604020202020204" pitchFamily="34" charset="0"/>
              <a:buChar char="•"/>
            </a:pPr>
            <a:r>
              <a:rPr lang="en-US" dirty="0">
                <a:solidFill>
                  <a:srgbClr val="808080"/>
                </a:solidFill>
              </a:rPr>
              <a:t>Longer example including considerations for addressing qualitative and future-orientated information under development for Supplement B</a:t>
            </a:r>
          </a:p>
          <a:p>
            <a:pPr marL="0" indent="0">
              <a:buFont typeface="Arial"/>
              <a:buNone/>
            </a:pPr>
            <a:endParaRPr lang="en-US" dirty="0">
              <a:solidFill>
                <a:srgbClr val="808080"/>
              </a:solidFill>
            </a:endParaRPr>
          </a:p>
          <a:p>
            <a:pPr lvl="0"/>
            <a:endParaRPr lang="en-US" dirty="0">
              <a:solidFill>
                <a:srgbClr val="808080"/>
              </a:solidFill>
            </a:endParaRPr>
          </a:p>
          <a:p>
            <a:pPr lvl="0"/>
            <a:endParaRPr lang="en-US" dirty="0">
              <a:solidFill>
                <a:srgbClr val="808080"/>
              </a:solidFill>
            </a:endParaRPr>
          </a:p>
          <a:p>
            <a:pPr lvl="0"/>
            <a:endParaRPr lang="en-US" dirty="0">
              <a:solidFill>
                <a:srgbClr val="808080"/>
              </a:solidFill>
            </a:endParaRPr>
          </a:p>
        </p:txBody>
      </p:sp>
      <p:sp>
        <p:nvSpPr>
          <p:cNvPr id="4" name="Subtitle 3">
            <a:extLst>
              <a:ext uri="{FF2B5EF4-FFF2-40B4-BE49-F238E27FC236}">
                <a16:creationId xmlns:a16="http://schemas.microsoft.com/office/drawing/2014/main" id="{BE13DE99-3BB4-473A-B551-77963FDA71B4}"/>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4BD09211-EAAA-4E61-8474-D3E52DD5ACC6}"/>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987557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FFA8-FCFA-4B8A-961F-9FD2244493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06B6197-170C-44B1-B084-E50CE71225D9}"/>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3200" dirty="0"/>
              <a:t>Comments on 11, 12, 13</a:t>
            </a:r>
          </a:p>
        </p:txBody>
      </p:sp>
      <p:sp>
        <p:nvSpPr>
          <p:cNvPr id="4" name="Subtitle 3">
            <a:extLst>
              <a:ext uri="{FF2B5EF4-FFF2-40B4-BE49-F238E27FC236}">
                <a16:creationId xmlns:a16="http://schemas.microsoft.com/office/drawing/2014/main" id="{0A36CF0B-1EC6-4C44-A8A4-ED53ABECB752}"/>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A551220-EE18-4D7C-A060-F1527EEF862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040690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B3BA-F5E0-401D-8FA5-55B2570474BE}"/>
              </a:ext>
            </a:extLst>
          </p:cNvPr>
          <p:cNvSpPr>
            <a:spLocks noGrp="1"/>
          </p:cNvSpPr>
          <p:nvPr>
            <p:ph type="title"/>
          </p:nvPr>
        </p:nvSpPr>
        <p:spPr/>
        <p:txBody>
          <a:bodyPr/>
          <a:lstStyle/>
          <a:p>
            <a:r>
              <a:rPr lang="en-GB" dirty="0"/>
              <a:t>Next steps</a:t>
            </a:r>
          </a:p>
        </p:txBody>
      </p:sp>
      <p:sp>
        <p:nvSpPr>
          <p:cNvPr id="3" name="Content Placeholder 2">
            <a:extLst>
              <a:ext uri="{FF2B5EF4-FFF2-40B4-BE49-F238E27FC236}">
                <a16:creationId xmlns:a16="http://schemas.microsoft.com/office/drawing/2014/main" id="{FA38DC83-829C-4113-9716-2046EB058008}"/>
              </a:ext>
            </a:extLst>
          </p:cNvPr>
          <p:cNvSpPr>
            <a:spLocks noGrp="1"/>
          </p:cNvSpPr>
          <p:nvPr>
            <p:ph idx="1"/>
          </p:nvPr>
        </p:nvSpPr>
        <p:spPr>
          <a:xfrm>
            <a:off x="609600" y="1108416"/>
            <a:ext cx="10972800" cy="4792785"/>
          </a:xfrm>
        </p:spPr>
        <p:txBody>
          <a:bodyPr/>
          <a:lstStyle/>
          <a:p>
            <a:pPr lvl="0"/>
            <a:r>
              <a:rPr lang="en-US" dirty="0"/>
              <a:t>Opportunity to provide written comments on Supplements A and B by the end of the first week in January 2020</a:t>
            </a:r>
          </a:p>
          <a:p>
            <a:pPr lvl="0"/>
            <a:r>
              <a:rPr lang="en-US" dirty="0"/>
              <a:t>A number of individual Board members and technical advisors will be asked to provide detailed input on the Supplements during the same period</a:t>
            </a:r>
          </a:p>
          <a:p>
            <a:pPr lvl="0"/>
            <a:r>
              <a:rPr lang="en-US" dirty="0"/>
              <a:t>Finalization of the Guidance and Supplements, together with the Explanatory Memorandum in late January, with the aim of publishing the “Public Consultation on Proposed Guidance” in February 2020 (</a:t>
            </a:r>
            <a:r>
              <a:rPr lang="en-US" i="1" dirty="0"/>
              <a:t>note: the text of the Guidance is ‘closed’ as voted on; only minor alignments and formatting permitted</a:t>
            </a:r>
            <a:r>
              <a:rPr lang="en-US" dirty="0"/>
              <a:t>)</a:t>
            </a:r>
          </a:p>
          <a:p>
            <a:pPr lvl="0"/>
            <a:r>
              <a:rPr lang="en-US" dirty="0"/>
              <a:t>The intention is to publish the Supplements alongside the proposed Guidance, and to invite respondents to comment not only on the Guidance but also on the Supplements, should they wish to do so</a:t>
            </a:r>
          </a:p>
          <a:p>
            <a:pPr lvl="0"/>
            <a:endParaRPr lang="en-US" dirty="0"/>
          </a:p>
        </p:txBody>
      </p:sp>
      <p:sp>
        <p:nvSpPr>
          <p:cNvPr id="4" name="Slide Number Placeholder 3">
            <a:extLst>
              <a:ext uri="{FF2B5EF4-FFF2-40B4-BE49-F238E27FC236}">
                <a16:creationId xmlns:a16="http://schemas.microsoft.com/office/drawing/2014/main" id="{7CB96C77-A685-49DF-8DC6-391CB5895AFB}"/>
              </a:ext>
            </a:extLst>
          </p:cNvPr>
          <p:cNvSpPr>
            <a:spLocks noGrp="1"/>
          </p:cNvSpPr>
          <p:nvPr>
            <p:ph type="sldNum" sz="quarter" idx="12"/>
          </p:nvPr>
        </p:nvSpPr>
        <p:spPr/>
        <p:txBody>
          <a:bodyPr/>
          <a:lstStyle/>
          <a:p>
            <a:r>
              <a:rPr lang="en-US" dirty="0"/>
              <a:t>Page </a:t>
            </a:r>
            <a:fld id="{95158037-59F0-9C4B-B231-1C776117AADA}" type="slidenum">
              <a:rPr lang="en-US" smtClean="0"/>
              <a:pPr/>
              <a:t>25</a:t>
            </a:fld>
            <a:endParaRPr lang="en-US" dirty="0"/>
          </a:p>
        </p:txBody>
      </p:sp>
      <p:graphicFrame>
        <p:nvGraphicFramePr>
          <p:cNvPr id="5" name="Table 5">
            <a:extLst>
              <a:ext uri="{FF2B5EF4-FFF2-40B4-BE49-F238E27FC236}">
                <a16:creationId xmlns:a16="http://schemas.microsoft.com/office/drawing/2014/main" id="{12196C72-0F6B-4E6B-B213-7240CCA83690}"/>
              </a:ext>
            </a:extLst>
          </p:cNvPr>
          <p:cNvGraphicFramePr>
            <a:graphicFrameLocks noGrp="1"/>
          </p:cNvGraphicFramePr>
          <p:nvPr>
            <p:extLst>
              <p:ext uri="{D42A27DB-BD31-4B8C-83A1-F6EECF244321}">
                <p14:modId xmlns:p14="http://schemas.microsoft.com/office/powerpoint/2010/main" val="3543065215"/>
              </p:ext>
            </p:extLst>
          </p:nvPr>
        </p:nvGraphicFramePr>
        <p:xfrm>
          <a:off x="2152245" y="4976661"/>
          <a:ext cx="7723759" cy="1311423"/>
        </p:xfrm>
        <a:graphic>
          <a:graphicData uri="http://schemas.openxmlformats.org/drawingml/2006/table">
            <a:tbl>
              <a:tblPr firstRow="1" bandRow="1">
                <a:tableStyleId>{5C22544A-7EE6-4342-B048-85BDC9FD1C3A}</a:tableStyleId>
              </a:tblPr>
              <a:tblGrid>
                <a:gridCol w="7723759">
                  <a:extLst>
                    <a:ext uri="{9D8B030D-6E8A-4147-A177-3AD203B41FA5}">
                      <a16:colId xmlns:a16="http://schemas.microsoft.com/office/drawing/2014/main" val="4049145203"/>
                    </a:ext>
                  </a:extLst>
                </a:gridCol>
              </a:tblGrid>
              <a:tr h="1311423">
                <a:tc>
                  <a:txBody>
                    <a:bodyPr/>
                    <a:lstStyle/>
                    <a:p>
                      <a:r>
                        <a:rPr lang="en-US" sz="1800" b="0" kern="1200" dirty="0">
                          <a:solidFill>
                            <a:schemeClr val="lt1"/>
                          </a:solidFill>
                          <a:effectLst/>
                          <a:latin typeface="Arial" panose="020B0604020202020204" pitchFamily="34" charset="0"/>
                          <a:ea typeface="+mn-ea"/>
                          <a:cs typeface="Arial" panose="020B0604020202020204" pitchFamily="34" charset="0"/>
                        </a:rPr>
                        <a:t>The IAASB is asked for its views on:</a:t>
                      </a:r>
                    </a:p>
                    <a:p>
                      <a:endParaRPr lang="en-US" sz="1800" b="0" kern="1200" dirty="0">
                        <a:solidFill>
                          <a:schemeClr val="lt1"/>
                        </a:solidFill>
                        <a:effectLst/>
                        <a:latin typeface="Arial" panose="020B0604020202020204" pitchFamily="34" charset="0"/>
                        <a:ea typeface="+mn-ea"/>
                        <a:cs typeface="Arial" panose="020B0604020202020204" pitchFamily="34" charset="0"/>
                      </a:endParaRPr>
                    </a:p>
                    <a:p>
                      <a:pPr lvl="0"/>
                      <a:r>
                        <a:rPr lang="en-US" sz="1800" b="0" kern="1200" dirty="0">
                          <a:solidFill>
                            <a:schemeClr val="lt1"/>
                          </a:solidFill>
                          <a:effectLst/>
                          <a:latin typeface="Arial" panose="020B0604020202020204" pitchFamily="34" charset="0"/>
                          <a:ea typeface="+mn-ea"/>
                          <a:cs typeface="Arial" panose="020B0604020202020204" pitchFamily="34" charset="0"/>
                        </a:rPr>
                        <a:t>The proposed next steps for finalizing the EER Guidance for public consultation</a:t>
                      </a:r>
                    </a:p>
                  </a:txBody>
                  <a:tcPr/>
                </a:tc>
                <a:extLst>
                  <a:ext uri="{0D108BD9-81ED-4DB2-BD59-A6C34878D82A}">
                    <a16:rowId xmlns:a16="http://schemas.microsoft.com/office/drawing/2014/main" val="3256699578"/>
                  </a:ext>
                </a:extLst>
              </a:tr>
            </a:tbl>
          </a:graphicData>
        </a:graphic>
      </p:graphicFrame>
    </p:spTree>
    <p:extLst>
      <p:ext uri="{BB962C8B-B14F-4D97-AF65-F5344CB8AC3E}">
        <p14:creationId xmlns:p14="http://schemas.microsoft.com/office/powerpoint/2010/main" val="1628612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5B64B-DA1D-4475-AC13-F3E4AD8D1665}"/>
              </a:ext>
            </a:extLst>
          </p:cNvPr>
          <p:cNvSpPr>
            <a:spLocks noGrp="1"/>
          </p:cNvSpPr>
          <p:nvPr>
            <p:ph type="ctrTitle"/>
          </p:nvPr>
        </p:nvSpPr>
        <p:spPr/>
        <p:txBody>
          <a:bodyPr/>
          <a:lstStyle/>
          <a:p>
            <a:r>
              <a:rPr lang="en-GB" dirty="0"/>
              <a:t>Closing Remarks</a:t>
            </a:r>
          </a:p>
        </p:txBody>
      </p:sp>
      <p:sp>
        <p:nvSpPr>
          <p:cNvPr id="3" name="Subtitle 2">
            <a:extLst>
              <a:ext uri="{FF2B5EF4-FFF2-40B4-BE49-F238E27FC236}">
                <a16:creationId xmlns:a16="http://schemas.microsoft.com/office/drawing/2014/main" id="{62470AED-A636-4D1B-80D7-9C28B2E7E634}"/>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717839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2346"/>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IAASB_PowerPoint_template_2016_update" id="{84781494-0989-47EE-A3A7-2D255A13323B}" vid="{1A50CD82-07D8-4D3F-9AC1-AB2CFB482A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5534F253E5CD469705343EDC065E1C" ma:contentTypeVersion="8" ma:contentTypeDescription="Create a new document." ma:contentTypeScope="" ma:versionID="9e44815aebb7a0568bea1cee5818ffa4">
  <xsd:schema xmlns:xsd="http://www.w3.org/2001/XMLSchema" xmlns:xs="http://www.w3.org/2001/XMLSchema" xmlns:p="http://schemas.microsoft.com/office/2006/metadata/properties" xmlns:ns3="0a6679bd-afbc-4e9d-9586-e8b9cae1c10d" targetNamespace="http://schemas.microsoft.com/office/2006/metadata/properties" ma:root="true" ma:fieldsID="7518f889024894246abbaf025907505f" ns3:_="">
    <xsd:import namespace="0a6679bd-afbc-4e9d-9586-e8b9cae1c10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EventHashCode" minOccurs="0"/>
                <xsd:element ref="ns3:MediaServiceGenerationTim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679bd-afbc-4e9d-9586-e8b9cae1c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6D26280-66E5-4D0C-B5CC-108AF8DF31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679bd-afbc-4e9d-9586-e8b9cae1c1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942C01-F927-49E4-ADEA-64AE2045DD00}">
  <ds:schemaRefs>
    <ds:schemaRef ds:uri="http://schemas.microsoft.com/sharepoint/v3/contenttype/forms"/>
  </ds:schemaRefs>
</ds:datastoreItem>
</file>

<file path=customXml/itemProps3.xml><?xml version="1.0" encoding="utf-8"?>
<ds:datastoreItem xmlns:ds="http://schemas.openxmlformats.org/officeDocument/2006/customXml" ds:itemID="{2D70DD39-67A7-4FFF-9684-E7B707E1BA2A}">
  <ds:schemaRefs>
    <ds:schemaRef ds:uri="0a6679bd-afbc-4e9d-9586-e8b9cae1c10d"/>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15349</TotalTime>
  <Words>2161</Words>
  <Application>Microsoft Office PowerPoint</Application>
  <PresentationFormat>Widescreen</PresentationFormat>
  <Paragraphs>246</Paragraphs>
  <Slides>27</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Arial Narrow</vt:lpstr>
      <vt:lpstr>Calibri</vt:lpstr>
      <vt:lpstr>Office Theme</vt:lpstr>
      <vt:lpstr>Non-authoritative EER assurance guidance:  Special Considerations in Performing Assurance Engagements on Extended External Reporting </vt:lpstr>
      <vt:lpstr>Agenda for Today</vt:lpstr>
      <vt:lpstr>What we heard at the November IAASB Teleconference</vt:lpstr>
      <vt:lpstr>What We Heard From the Project Advisory Panel and Task Force Proposals</vt:lpstr>
      <vt:lpstr>Chapter 1: Introduction</vt:lpstr>
      <vt:lpstr>PowerPoint Presentation</vt:lpstr>
      <vt:lpstr>Questions for the  Board on each Chapter</vt:lpstr>
      <vt:lpstr>Chapter 2: Applying Appropriate Competence and Capabilities</vt:lpstr>
      <vt:lpstr>Chapter 3: Exercising Professional Skepticism and Professional Judgment</vt:lpstr>
      <vt:lpstr>Chapter 4: Determining the Preconditions and Agreeing Scope</vt:lpstr>
      <vt:lpstr>PowerPoint Presentation</vt:lpstr>
      <vt:lpstr>Chapter 5: Determining the Suitability and Availability of Criteria</vt:lpstr>
      <vt:lpstr>Chapter 6: Considering the System of Internal Control</vt:lpstr>
      <vt:lpstr>Chapter 7: Considering the Entity’s Process to Identify Reporting Topics</vt:lpstr>
      <vt:lpstr>PowerPoint Presentation</vt:lpstr>
      <vt:lpstr>Chapter 8: Using Assertions</vt:lpstr>
      <vt:lpstr>Chapter 9: Performance Materiality</vt:lpstr>
      <vt:lpstr>Chapter 9: Obtaining Evidence</vt:lpstr>
      <vt:lpstr>Chapter 10: Considering the Materiality of Misstatements</vt:lpstr>
      <vt:lpstr>PowerPoint Presentation</vt:lpstr>
      <vt:lpstr>Chapter 11: Preparing the Assurance Report</vt:lpstr>
      <vt:lpstr>Chapter 12: Addressing Qualitative EER Information</vt:lpstr>
      <vt:lpstr>Chapter 13: Addressing Future-Orientated EER Information</vt:lpstr>
      <vt:lpstr>PowerPoint Presentation</vt:lpstr>
      <vt:lpstr>Next steps</vt:lpstr>
      <vt:lpstr>Closing Remarks</vt:lpstr>
      <vt:lpstr>PowerPoint Presentation</vt:lpstr>
    </vt:vector>
  </TitlesOfParts>
  <Company>NBA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Jan Thijs Drupsteen</dc:creator>
  <cp:lastModifiedBy>Marek Grabowski</cp:lastModifiedBy>
  <cp:revision>559</cp:revision>
  <cp:lastPrinted>2019-08-31T01:10:46Z</cp:lastPrinted>
  <dcterms:created xsi:type="dcterms:W3CDTF">2017-11-13T09:28:46Z</dcterms:created>
  <dcterms:modified xsi:type="dcterms:W3CDTF">2019-12-10T13:12:09Z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0x010100765534F253E5CD469705343EDC065E1C</vt:lpwstr>
  </property>
</Properties>
</file>